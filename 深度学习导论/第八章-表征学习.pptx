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5"/>
  </p:notesMasterIdLst>
  <p:handoutMasterIdLst>
    <p:handoutMasterId r:id="rId76"/>
  </p:handoutMasterIdLst>
  <p:sldIdLst>
    <p:sldId id="274" r:id="rId2"/>
    <p:sldId id="811" r:id="rId3"/>
    <p:sldId id="719" r:id="rId4"/>
    <p:sldId id="812" r:id="rId5"/>
    <p:sldId id="813" r:id="rId6"/>
    <p:sldId id="814" r:id="rId7"/>
    <p:sldId id="815" r:id="rId8"/>
    <p:sldId id="816" r:id="rId9"/>
    <p:sldId id="950" r:id="rId10"/>
    <p:sldId id="951" r:id="rId11"/>
    <p:sldId id="955" r:id="rId12"/>
    <p:sldId id="959" r:id="rId13"/>
    <p:sldId id="960" r:id="rId14"/>
    <p:sldId id="956" r:id="rId15"/>
    <p:sldId id="957" r:id="rId16"/>
    <p:sldId id="958" r:id="rId17"/>
    <p:sldId id="961" r:id="rId18"/>
    <p:sldId id="962" r:id="rId19"/>
    <p:sldId id="931" r:id="rId20"/>
    <p:sldId id="932" r:id="rId21"/>
    <p:sldId id="933" r:id="rId22"/>
    <p:sldId id="934" r:id="rId23"/>
    <p:sldId id="935" r:id="rId24"/>
    <p:sldId id="936" r:id="rId25"/>
    <p:sldId id="937" r:id="rId26"/>
    <p:sldId id="938" r:id="rId27"/>
    <p:sldId id="939" r:id="rId28"/>
    <p:sldId id="964" r:id="rId29"/>
    <p:sldId id="963" r:id="rId30"/>
    <p:sldId id="817" r:id="rId31"/>
    <p:sldId id="818" r:id="rId32"/>
    <p:sldId id="819" r:id="rId33"/>
    <p:sldId id="820" r:id="rId34"/>
    <p:sldId id="822" r:id="rId35"/>
    <p:sldId id="900" r:id="rId36"/>
    <p:sldId id="823" r:id="rId37"/>
    <p:sldId id="828" r:id="rId38"/>
    <p:sldId id="824" r:id="rId39"/>
    <p:sldId id="825" r:id="rId40"/>
    <p:sldId id="826" r:id="rId41"/>
    <p:sldId id="827" r:id="rId42"/>
    <p:sldId id="829" r:id="rId43"/>
    <p:sldId id="952" r:id="rId44"/>
    <p:sldId id="830" r:id="rId45"/>
    <p:sldId id="831" r:id="rId46"/>
    <p:sldId id="832" r:id="rId47"/>
    <p:sldId id="821" r:id="rId48"/>
    <p:sldId id="833" r:id="rId49"/>
    <p:sldId id="834" r:id="rId50"/>
    <p:sldId id="905" r:id="rId51"/>
    <p:sldId id="835" r:id="rId52"/>
    <p:sldId id="836" r:id="rId53"/>
    <p:sldId id="909" r:id="rId54"/>
    <p:sldId id="910" r:id="rId55"/>
    <p:sldId id="911" r:id="rId56"/>
    <p:sldId id="913" r:id="rId57"/>
    <p:sldId id="914" r:id="rId58"/>
    <p:sldId id="915" r:id="rId59"/>
    <p:sldId id="943" r:id="rId60"/>
    <p:sldId id="944" r:id="rId61"/>
    <p:sldId id="945" r:id="rId62"/>
    <p:sldId id="946" r:id="rId63"/>
    <p:sldId id="947" r:id="rId64"/>
    <p:sldId id="948" r:id="rId65"/>
    <p:sldId id="949" r:id="rId66"/>
    <p:sldId id="917" r:id="rId67"/>
    <p:sldId id="926" r:id="rId68"/>
    <p:sldId id="928" r:id="rId69"/>
    <p:sldId id="925" r:id="rId70"/>
    <p:sldId id="929" r:id="rId71"/>
    <p:sldId id="940" r:id="rId72"/>
    <p:sldId id="941" r:id="rId73"/>
    <p:sldId id="942" r:id="rId7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204B"/>
    <a:srgbClr val="142B68"/>
    <a:srgbClr val="FF3300"/>
    <a:srgbClr val="0000FF"/>
    <a:srgbClr val="142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23" autoAdjust="0"/>
    <p:restoredTop sz="79622" autoAdjust="0"/>
  </p:normalViewPr>
  <p:slideViewPr>
    <p:cSldViewPr snapToGrid="0" showGuides="1">
      <p:cViewPr varScale="1">
        <p:scale>
          <a:sx n="90" d="100"/>
          <a:sy n="90" d="100"/>
        </p:scale>
        <p:origin x="1140" y="84"/>
      </p:cViewPr>
      <p:guideLst>
        <p:guide orient="horz" pos="2188"/>
        <p:guide pos="385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2026-04-22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0B4CC9-83B5-9E47-A806-853A90D7F7A0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01F51-E497-1449-8DC9-60B7BE2806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B8AEB2-C67E-8C47-A16B-D74EB7CD360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8352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3994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0770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6882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7603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980588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014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2444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前面我们介绍了很多 </a:t>
            </a:r>
            <a:r>
              <a:rPr lang="en" altLang="zh-CN" dirty="0"/>
              <a:t>pretext </a:t>
            </a:r>
            <a:r>
              <a:rPr lang="zh-CN" altLang="en-US" dirty="0"/>
              <a:t>任务，比如预测相对位置、做拼图、颜色恢复等等。这些任务的共同特点是：我们先人为设计一个“游戏规则”，再让模型去完成这个游戏。这样做当然有用，因为模型在玩这些游戏的过程中，确实能学到一些纹理、边缘、局部结构，甚至物体部件之间的关系。但是问题也很明显：</a:t>
            </a:r>
            <a:r>
              <a:rPr lang="zh-CN" altLang="en-US" b="1" dirty="0"/>
              <a:t>模型学会的，很多时候只是“怎么把这个游戏玩好”，却不一定真正学会“怎么把世界区分清楚”。</a:t>
            </a:r>
            <a:endParaRPr lang="en-US" altLang="zh-CN" b="1" dirty="0"/>
          </a:p>
          <a:p>
            <a:endParaRPr kumimoji="1" lang="en-US" altLang="zh-CN" b="1" dirty="0"/>
          </a:p>
          <a:p>
            <a:r>
              <a:rPr lang="zh-CN" altLang="en-US" dirty="0"/>
              <a:t>于是大家就开始想：我们真正需要的表征，到底应该具备什么性质？答案其实很自然，就是在特征空间里，</a:t>
            </a:r>
            <a:r>
              <a:rPr lang="zh-CN" altLang="en-US" b="1" dirty="0"/>
              <a:t>相似的东西应该靠近，不相似的东西应该远离。</a:t>
            </a:r>
            <a:r>
              <a:rPr lang="zh-CN" altLang="en-US" dirty="0"/>
              <a:t> 这就是对比学习的核心思想。</a:t>
            </a:r>
          </a:p>
          <a:p>
            <a:r>
              <a:rPr lang="zh-CN" altLang="en-US" dirty="0"/>
              <a:t>大家看右边这张图。中间这个圆可以理解成特征空间，周围每个点是图像经过神经网络编码之后得到的 </a:t>
            </a:r>
            <a:r>
              <a:rPr lang="en" altLang="zh-CN" dirty="0"/>
              <a:t>embedding</a:t>
            </a:r>
            <a:r>
              <a:rPr lang="zh-CN" altLang="en" dirty="0"/>
              <a:t>，</a:t>
            </a:r>
            <a:r>
              <a:rPr lang="zh-CN" altLang="en-US" dirty="0"/>
              <a:t>也就是特征向量。对于同一个对象的不同视图，比如同一只小狗经过裁剪、旋转、颜色扰动之后得到的几张图片，我们希望它们在特征空间里彼此靠近，因为它们本质上还是同一个语义对象，这叫正样本，也就是 </a:t>
            </a:r>
            <a:r>
              <a:rPr lang="en" altLang="zh-CN" dirty="0"/>
              <a:t>positives</a:t>
            </a:r>
            <a:r>
              <a:rPr lang="zh-CN" altLang="en" dirty="0"/>
              <a:t>。</a:t>
            </a:r>
            <a:r>
              <a:rPr lang="zh-CN" altLang="en-US" dirty="0"/>
              <a:t>而对于其他对象，比如猫，或者另一类狗，甚至背景差异很大的图像，我们希望它们离当前样本更远，这就是负样本，也就是 </a:t>
            </a:r>
            <a:r>
              <a:rPr lang="en" altLang="zh-CN" dirty="0"/>
              <a:t>negatives</a:t>
            </a:r>
            <a:r>
              <a:rPr lang="zh-CN" altLang="en" dirty="0"/>
              <a:t>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29188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63780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37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46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47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49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59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69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70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72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01F51-E497-1449-8DC9-60B7BE2806BF}" type="slidenum">
              <a:rPr kumimoji="1" lang="zh-CN" altLang="en-US" smtClean="0"/>
              <a:t>73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C5A40-E76B-A240-8908-23C20EDAB14D}" type="datetimeFigureOut">
              <a:rPr kumimoji="1" lang="zh-CN" altLang="en-US" smtClean="0"/>
              <a:t>2026-04-22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9F6F1-9992-7C4B-8CB3-1C53008B38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5610"/>
            <a:ext cx="12192000" cy="6858000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rgbClr val="02164B"/>
                </a:solidFill>
              </a:ln>
              <a:solidFill>
                <a:srgbClr val="01164B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4648611"/>
            <a:ext cx="12192000" cy="1163111"/>
          </a:xfrm>
          <a:prstGeom prst="rect">
            <a:avLst/>
          </a:prstGeom>
          <a:solidFill>
            <a:srgbClr val="5184BF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6" name="组 5"/>
          <p:cNvGrpSpPr/>
          <p:nvPr/>
        </p:nvGrpSpPr>
        <p:grpSpPr>
          <a:xfrm>
            <a:off x="1311910" y="1971254"/>
            <a:ext cx="10098603" cy="2755756"/>
            <a:chOff x="-3312885" y="995824"/>
            <a:chExt cx="10098603" cy="2755756"/>
          </a:xfrm>
        </p:grpSpPr>
        <p:sp>
          <p:nvSpPr>
            <p:cNvPr id="17" name="标题 1"/>
            <p:cNvSpPr txBox="1"/>
            <p:nvPr/>
          </p:nvSpPr>
          <p:spPr>
            <a:xfrm>
              <a:off x="-3312885" y="995824"/>
              <a:ext cx="9572891" cy="112277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5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第八章：表征学习</a:t>
              </a:r>
            </a:p>
          </p:txBody>
        </p:sp>
        <p:sp>
          <p:nvSpPr>
            <p:cNvPr id="19" name="标题 1"/>
            <p:cNvSpPr txBox="1"/>
            <p:nvPr/>
          </p:nvSpPr>
          <p:spPr>
            <a:xfrm>
              <a:off x="5712822" y="2980471"/>
              <a:ext cx="1072896" cy="77110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zh-CN" altLang="en-US" sz="15000" b="1" dirty="0">
                <a:solidFill>
                  <a:schemeClr val="bg1"/>
                </a:solidFill>
                <a:effectLst>
                  <a:outerShdw blurRad="50800" dist="76200" dir="2700000" algn="tl" rotWithShape="0">
                    <a:schemeClr val="bg1">
                      <a:alpha val="40000"/>
                    </a:schemeClr>
                  </a:outerShdw>
                </a:effectLst>
                <a:latin typeface="Xingkai SC" charset="-122"/>
                <a:ea typeface="Xingkai SC" charset="-122"/>
                <a:cs typeface="Xingkai SC" charset="-122"/>
              </a:endParaRPr>
            </a:p>
          </p:txBody>
        </p:sp>
        <p:sp>
          <p:nvSpPr>
            <p:cNvPr id="20" name="标题 1"/>
            <p:cNvSpPr txBox="1"/>
            <p:nvPr/>
          </p:nvSpPr>
          <p:spPr>
            <a:xfrm>
              <a:off x="4169664" y="2379501"/>
              <a:ext cx="1072896" cy="771109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br>
                <a:rPr lang="en-US" altLang="zh-CN" sz="15000" b="1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762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Xingkai SC" charset="-122"/>
                  <a:ea typeface="Xingkai SC" charset="-122"/>
                  <a:cs typeface="Xingkai SC" charset="-122"/>
                </a:rPr>
              </a:br>
              <a:r>
                <a:rPr lang="en-US" altLang="zh-CN" sz="15000" b="1" dirty="0">
                  <a:solidFill>
                    <a:schemeClr val="accent1">
                      <a:lumMod val="75000"/>
                    </a:schemeClr>
                  </a:solidFill>
                  <a:effectLst>
                    <a:outerShdw blurRad="50800" dist="76200" dir="2700000" algn="tl" rotWithShape="0">
                      <a:schemeClr val="bg1">
                        <a:alpha val="40000"/>
                      </a:schemeClr>
                    </a:outerShdw>
                  </a:effectLst>
                  <a:latin typeface="Xingkai SC" charset="-122"/>
                  <a:ea typeface="Xingkai SC" charset="-122"/>
                  <a:cs typeface="Xingkai SC" charset="-122"/>
                </a:rPr>
                <a:t>      </a:t>
              </a:r>
              <a:endParaRPr lang="zh-CN" altLang="en-US" sz="15000" b="1" dirty="0">
                <a:solidFill>
                  <a:schemeClr val="bg1"/>
                </a:solidFill>
                <a:effectLst>
                  <a:outerShdw blurRad="50800" dist="76200" dir="2700000" algn="tl" rotWithShape="0">
                    <a:schemeClr val="bg1">
                      <a:alpha val="40000"/>
                    </a:schemeClr>
                  </a:outerShdw>
                </a:effectLst>
                <a:latin typeface="Xingkai SC" charset="-122"/>
                <a:ea typeface="Xingkai SC" charset="-122"/>
                <a:cs typeface="Xingkai SC" charset="-122"/>
              </a:endParaRPr>
            </a:p>
          </p:txBody>
        </p:sp>
      </p:grpSp>
      <p:pic>
        <p:nvPicPr>
          <p:cNvPr id="2" name="Picture 4" descr="浙江大学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22" y="185775"/>
            <a:ext cx="1856758" cy="53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本框 10"/>
          <p:cNvSpPr txBox="1"/>
          <p:nvPr/>
        </p:nvSpPr>
        <p:spPr>
          <a:xfrm>
            <a:off x="2455675" y="4956824"/>
            <a:ext cx="76006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spc="-5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/>
              </a:rPr>
              <a:t>主讲教师：王文冠</a:t>
            </a:r>
            <a:endParaRPr lang="en-US" altLang="zh-CN" sz="2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229601" y="254358"/>
            <a:ext cx="3674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spc="-55" dirty="0">
                <a:solidFill>
                  <a:schemeClr val="bg1"/>
                </a:solidFill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课程</a:t>
            </a:r>
            <a:r>
              <a:rPr lang="zh-CN" altLang="en-US" sz="2400" spc="-55">
                <a:solidFill>
                  <a:schemeClr val="bg1"/>
                </a:solidFill>
                <a:latin typeface="Calibri" panose="020F0502020204030204"/>
                <a:ea typeface="黑体" panose="02010609060101010101" pitchFamily="49" charset="-122"/>
                <a:cs typeface="Calibri" panose="020F0502020204030204"/>
              </a:rPr>
              <a:t>名称：深度学习导论</a:t>
            </a:r>
            <a:endParaRPr lang="en-US" altLang="zh-CN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3126463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312897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19701" y="3187514"/>
            <a:ext cx="11892190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一、图像的表征学习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19702" y="552382"/>
            <a:ext cx="3346705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什么是表征？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48640" y="1436916"/>
            <a:ext cx="11132848" cy="688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是对数据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的编码，是对原始数据的映射</a:t>
            </a:r>
          </a:p>
        </p:txBody>
      </p:sp>
      <p:sp>
        <p:nvSpPr>
          <p:cNvPr id="5" name="矩形 4"/>
          <p:cNvSpPr/>
          <p:nvPr/>
        </p:nvSpPr>
        <p:spPr>
          <a:xfrm>
            <a:off x="545396" y="2297342"/>
            <a:ext cx="11132847" cy="33553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 bwMode="auto">
          <a:xfrm>
            <a:off x="545396" y="5857407"/>
            <a:ext cx="11132848" cy="688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好的表征使得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“语义相似”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“几何接近”</a:t>
            </a:r>
          </a:p>
        </p:txBody>
      </p:sp>
      <p:pic>
        <p:nvPicPr>
          <p:cNvPr id="26" name="图片 25" descr="小狗在草地上&#10;&#10;AI 生成的内容可能不正确。"/>
          <p:cNvPicPr>
            <a:picLocks noChangeAspect="1"/>
          </p:cNvPicPr>
          <p:nvPr/>
        </p:nvPicPr>
        <p:blipFill>
          <a:blip r:embed="rId3"/>
          <a:srcRect l="11779" r="10256"/>
          <a:stretch>
            <a:fillRect/>
          </a:stretch>
        </p:blipFill>
        <p:spPr>
          <a:xfrm>
            <a:off x="1249609" y="2408481"/>
            <a:ext cx="1815793" cy="1576096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4"/>
          <a:srcRect l="1965" t="14985" r="50202" b="17882"/>
          <a:stretch>
            <a:fillRect/>
          </a:stretch>
        </p:blipFill>
        <p:spPr>
          <a:xfrm>
            <a:off x="1249610" y="4086953"/>
            <a:ext cx="1815793" cy="1527634"/>
          </a:xfrm>
          <a:prstGeom prst="rect">
            <a:avLst/>
          </a:prstGeom>
        </p:spPr>
      </p:pic>
      <p:sp>
        <p:nvSpPr>
          <p:cNvPr id="30" name="文本框 29"/>
          <p:cNvSpPr txBox="1"/>
          <p:nvPr/>
        </p:nvSpPr>
        <p:spPr>
          <a:xfrm>
            <a:off x="4988597" y="4834144"/>
            <a:ext cx="1815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表征向量空间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3466407" y="3363773"/>
            <a:ext cx="12864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表征提取</a:t>
            </a:r>
          </a:p>
        </p:txBody>
      </p:sp>
      <p:cxnSp>
        <p:nvCxnSpPr>
          <p:cNvPr id="38" name="直接箭头连接符 37"/>
          <p:cNvCxnSpPr/>
          <p:nvPr/>
        </p:nvCxnSpPr>
        <p:spPr>
          <a:xfrm flipV="1">
            <a:off x="4887884" y="3122576"/>
            <a:ext cx="0" cy="162399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4887884" y="4713317"/>
            <a:ext cx="209480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椭圆 46"/>
          <p:cNvSpPr/>
          <p:nvPr/>
        </p:nvSpPr>
        <p:spPr>
          <a:xfrm>
            <a:off x="5435059" y="3562979"/>
            <a:ext cx="152558" cy="1701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663738" y="3399485"/>
            <a:ext cx="152558" cy="1701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4" name="图片 53" descr="汽车停在路上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400696"/>
            <a:ext cx="2472750" cy="1546438"/>
          </a:xfrm>
          <a:prstGeom prst="rect">
            <a:avLst/>
          </a:prstGeom>
        </p:spPr>
      </p:pic>
      <p:pic>
        <p:nvPicPr>
          <p:cNvPr id="57" name="图片 56" descr="火车在轨道上&#10;&#10;AI 生成的内容可能不正确。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0" y="4027672"/>
            <a:ext cx="2472749" cy="1546438"/>
          </a:xfrm>
          <a:prstGeom prst="rect">
            <a:avLst/>
          </a:prstGeom>
        </p:spPr>
      </p:pic>
      <p:cxnSp>
        <p:nvCxnSpPr>
          <p:cNvPr id="61" name="直接箭头连接符 60"/>
          <p:cNvCxnSpPr>
            <a:stCxn id="26" idx="3"/>
            <a:endCxn id="51" idx="2"/>
          </p:cNvCxnSpPr>
          <p:nvPr/>
        </p:nvCxnSpPr>
        <p:spPr>
          <a:xfrm>
            <a:off x="3065402" y="3196529"/>
            <a:ext cx="2598336" cy="2880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7" name="直接箭头连接符 1026"/>
          <p:cNvCxnSpPr>
            <a:stCxn id="29" idx="3"/>
            <a:endCxn id="47" idx="3"/>
          </p:cNvCxnSpPr>
          <p:nvPr/>
        </p:nvCxnSpPr>
        <p:spPr>
          <a:xfrm flipV="1">
            <a:off x="3065403" y="3708191"/>
            <a:ext cx="2391998" cy="11425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1" name="直接箭头连接符 1030"/>
          <p:cNvCxnSpPr>
            <a:stCxn id="54" idx="1"/>
            <a:endCxn id="1037" idx="7"/>
          </p:cNvCxnSpPr>
          <p:nvPr/>
        </p:nvCxnSpPr>
        <p:spPr>
          <a:xfrm flipH="1">
            <a:off x="6432267" y="3173915"/>
            <a:ext cx="2163093" cy="9292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箭头连接符 1033"/>
          <p:cNvCxnSpPr>
            <a:stCxn id="57" idx="1"/>
            <a:endCxn id="1038" idx="6"/>
          </p:cNvCxnSpPr>
          <p:nvPr/>
        </p:nvCxnSpPr>
        <p:spPr>
          <a:xfrm flipH="1" flipV="1">
            <a:off x="6607167" y="4388675"/>
            <a:ext cx="1988193" cy="41221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7" name="椭圆 1036"/>
          <p:cNvSpPr/>
          <p:nvPr/>
        </p:nvSpPr>
        <p:spPr>
          <a:xfrm>
            <a:off x="6302051" y="4078258"/>
            <a:ext cx="152558" cy="1701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8" name="椭圆 1037"/>
          <p:cNvSpPr/>
          <p:nvPr/>
        </p:nvSpPr>
        <p:spPr>
          <a:xfrm>
            <a:off x="6454609" y="4303612"/>
            <a:ext cx="152558" cy="1701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45" name="表格 1044"/>
          <p:cNvGraphicFramePr>
            <a:graphicFrameLocks noGrp="1"/>
          </p:cNvGraphicFramePr>
          <p:nvPr/>
        </p:nvGraphicFramePr>
        <p:xfrm>
          <a:off x="4616929" y="2445788"/>
          <a:ext cx="3630676" cy="4320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8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-0.9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1.8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…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2.7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-1.3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50" name="直接连接符 1049"/>
          <p:cNvCxnSpPr>
            <a:stCxn id="51" idx="1"/>
          </p:cNvCxnSpPr>
          <p:nvPr/>
        </p:nvCxnSpPr>
        <p:spPr>
          <a:xfrm flipH="1" flipV="1">
            <a:off x="4680065" y="2877836"/>
            <a:ext cx="1006015" cy="546563"/>
          </a:xfrm>
          <a:prstGeom prst="line">
            <a:avLst/>
          </a:prstGeom>
          <a:ln w="28575">
            <a:prstDash val="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51" name="直接连接符 1050"/>
          <p:cNvCxnSpPr>
            <a:stCxn id="51" idx="7"/>
          </p:cNvCxnSpPr>
          <p:nvPr/>
        </p:nvCxnSpPr>
        <p:spPr>
          <a:xfrm flipV="1">
            <a:off x="5793954" y="2863057"/>
            <a:ext cx="2352519" cy="561342"/>
          </a:xfrm>
          <a:prstGeom prst="line">
            <a:avLst/>
          </a:prstGeom>
          <a:ln w="28575">
            <a:prstDash val="dash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19702" y="552382"/>
            <a:ext cx="6556621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传统表征提取模式：特征工程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15886" y="1396539"/>
            <a:ext cx="5652654" cy="5178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62504" y="1396539"/>
            <a:ext cx="5585488" cy="517882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Picture 2" descr="Image result for sift featur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851" y="1474451"/>
            <a:ext cx="4230076" cy="2212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图片 18" descr="图示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52" y="1453499"/>
            <a:ext cx="5393916" cy="2321202"/>
          </a:xfrm>
          <a:prstGeom prst="rect">
            <a:avLst/>
          </a:prstGeom>
        </p:spPr>
      </p:pic>
      <p:pic>
        <p:nvPicPr>
          <p:cNvPr id="21" name="图片 20" descr="图形用户界面, 文本, 应用程序, Word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206" y="3888867"/>
            <a:ext cx="5444062" cy="2572335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6908371" y="3687108"/>
            <a:ext cx="4613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Scale-Invariant Feature Transform (SIFT)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683432" y="6177711"/>
            <a:ext cx="4863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Histogram of Oriented Gradients (HOG)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6" name="图片 5" descr="C:\Users\zdb\AppData\Roaming\Tencent\Users\438773865\QQ\WinTemp\RichOle\U$DT254](OLNGQ}PO47Y3CH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462" y="4359645"/>
            <a:ext cx="5302418" cy="170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48640" y="1869178"/>
            <a:ext cx="11132848" cy="261138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特征工程的缺陷：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需要人工设计特征模式，需要领域经验，设计成本高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只能表达局部语义，难以捕捉复杂语义，难以建模非线性结构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泛化能力弱，需要对任务针对性的设计特征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119702" y="552382"/>
            <a:ext cx="6556621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传统表征提取模式：特征工程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90204" y="1524715"/>
            <a:ext cx="11132848" cy="688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数据驱动代替人工设计，用模型来学习表征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119702" y="552382"/>
            <a:ext cx="4668429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现代范式：表征学习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5" name="图片 4" descr="背景图案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43" y="2663656"/>
            <a:ext cx="2186777" cy="2186777"/>
          </a:xfrm>
          <a:prstGeom prst="rect">
            <a:avLst/>
          </a:prstGeom>
        </p:spPr>
      </p:pic>
      <p:pic>
        <p:nvPicPr>
          <p:cNvPr id="6" name="图片 5" descr="小狗在草地上&#10;&#10;AI 生成的内容可能不正确。"/>
          <p:cNvPicPr>
            <a:picLocks noChangeAspect="1"/>
          </p:cNvPicPr>
          <p:nvPr/>
        </p:nvPicPr>
        <p:blipFill>
          <a:blip r:embed="rId4"/>
          <a:srcRect l="11779" r="10256"/>
          <a:stretch>
            <a:fillRect/>
          </a:stretch>
        </p:blipFill>
        <p:spPr>
          <a:xfrm>
            <a:off x="1235804" y="2910807"/>
            <a:ext cx="1815793" cy="1576096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3325091" y="3757044"/>
            <a:ext cx="75645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6869082" y="3757044"/>
            <a:ext cx="75645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7867932" y="3559696"/>
          <a:ext cx="3630676" cy="4320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8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86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-0.9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1.8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…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2.7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-1.3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466883" y="4600066"/>
            <a:ext cx="1286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原始数据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96940" y="4867058"/>
            <a:ext cx="164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Encoder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040039" y="4109184"/>
            <a:ext cx="1286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z=f(x)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590204" y="5577719"/>
            <a:ext cx="11132848" cy="688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常见范式：监督学习（依赖下游任务标注）、</a:t>
            </a:r>
            <a:r>
              <a:rPr lang="zh-CN" altLang="en-US" sz="2400" b="1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自监督学习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（依赖数据自身特性）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315886" y="552382"/>
            <a:ext cx="11712630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为什么需要表征学习？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3330" y="1479666"/>
            <a:ext cx="3325091" cy="4825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328155" y="1711351"/>
            <a:ext cx="24582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降低数据维度</a:t>
            </a:r>
          </a:p>
        </p:txBody>
      </p:sp>
      <p:pic>
        <p:nvPicPr>
          <p:cNvPr id="1026" name="Picture 2" descr="OpenCV 图像的矩阵表示_opencv 图像矩阵-CSDN博客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023"/>
          <a:stretch>
            <a:fillRect/>
          </a:stretch>
        </p:blipFill>
        <p:spPr bwMode="auto">
          <a:xfrm>
            <a:off x="762888" y="2453466"/>
            <a:ext cx="2903021" cy="214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接箭头连接符 1"/>
          <p:cNvCxnSpPr/>
          <p:nvPr/>
        </p:nvCxnSpPr>
        <p:spPr>
          <a:xfrm>
            <a:off x="2402378" y="4774011"/>
            <a:ext cx="0" cy="62376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图片包含 图形用户界面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197" y="5539091"/>
            <a:ext cx="3053355" cy="49801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283825" y="1479666"/>
            <a:ext cx="7445433" cy="27099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362799" y="1526686"/>
            <a:ext cx="2428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捕获数据语义</a:t>
            </a:r>
          </a:p>
        </p:txBody>
      </p:sp>
      <p:pic>
        <p:nvPicPr>
          <p:cNvPr id="12" name="图片 11" descr="图表, 折线图&#10;&#10;AI 生成的内容可能不正确。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8579" y="1896017"/>
            <a:ext cx="7167569" cy="2202157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4283825" y="4366953"/>
            <a:ext cx="7445433" cy="19386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362799" y="4413973"/>
            <a:ext cx="2428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③ 提升泛化能力</a:t>
            </a:r>
          </a:p>
        </p:txBody>
      </p:sp>
      <p:sp>
        <p:nvSpPr>
          <p:cNvPr id="16" name="矩形 15"/>
          <p:cNvSpPr/>
          <p:nvPr/>
        </p:nvSpPr>
        <p:spPr>
          <a:xfrm>
            <a:off x="4706293" y="4856402"/>
            <a:ext cx="1122218" cy="134994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人工设计表征</a:t>
            </a:r>
          </a:p>
        </p:txBody>
      </p:sp>
      <p:sp>
        <p:nvSpPr>
          <p:cNvPr id="22" name="矩形 21"/>
          <p:cNvSpPr/>
          <p:nvPr/>
        </p:nvSpPr>
        <p:spPr>
          <a:xfrm>
            <a:off x="6985465" y="4856401"/>
            <a:ext cx="1828798" cy="380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下游任务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985465" y="5345849"/>
            <a:ext cx="1828798" cy="380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下游任务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985465" y="5825733"/>
            <a:ext cx="1828798" cy="3806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下游任务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5979621" y="5555717"/>
            <a:ext cx="804951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5979621" y="6020480"/>
            <a:ext cx="804951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5979621" y="5079120"/>
            <a:ext cx="804951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0238508" y="4856402"/>
            <a:ext cx="1122218" cy="134994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</a:p>
        </p:txBody>
      </p:sp>
      <p:cxnSp>
        <p:nvCxnSpPr>
          <p:cNvPr id="37" name="直接箭头连接符 36"/>
          <p:cNvCxnSpPr/>
          <p:nvPr/>
        </p:nvCxnSpPr>
        <p:spPr>
          <a:xfrm flipH="1">
            <a:off x="9005454" y="5079120"/>
            <a:ext cx="1014153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H="1">
            <a:off x="9005454" y="5539091"/>
            <a:ext cx="1014153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H="1">
            <a:off x="9005454" y="6017267"/>
            <a:ext cx="1014153" cy="0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形 4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8442" y="4883808"/>
            <a:ext cx="504000" cy="360000"/>
          </a:xfrm>
          <a:prstGeom prst="rect">
            <a:avLst/>
          </a:prstGeom>
        </p:spPr>
      </p:pic>
      <p:pic>
        <p:nvPicPr>
          <p:cNvPr id="48" name="图形 47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13915" y="5852314"/>
            <a:ext cx="360000" cy="360000"/>
          </a:xfrm>
          <a:prstGeom prst="rect">
            <a:avLst/>
          </a:prstGeom>
        </p:spPr>
      </p:pic>
      <p:pic>
        <p:nvPicPr>
          <p:cNvPr id="49" name="图形 48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13915" y="5391811"/>
            <a:ext cx="360000" cy="360000"/>
          </a:xfrm>
          <a:prstGeom prst="rect">
            <a:avLst/>
          </a:prstGeom>
        </p:spPr>
      </p:pic>
      <p:pic>
        <p:nvPicPr>
          <p:cNvPr id="51" name="图形 5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5813" y="4927480"/>
            <a:ext cx="504000" cy="360000"/>
          </a:xfrm>
          <a:prstGeom prst="rect">
            <a:avLst/>
          </a:prstGeom>
        </p:spPr>
      </p:pic>
      <p:pic>
        <p:nvPicPr>
          <p:cNvPr id="52" name="图形 51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5813" y="5351376"/>
            <a:ext cx="504000" cy="360000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5813" y="5854598"/>
            <a:ext cx="504000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315886" y="552382"/>
            <a:ext cx="11712630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如何评估表征的好坏？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73330" y="1479666"/>
            <a:ext cx="5300750" cy="4825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65412" y="1611599"/>
            <a:ext cx="46708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Linear Probing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在下游任务上，用学好的表征和标签来训练一个线性分类器，用分类效果来评判表征的语义表达能力</a:t>
            </a:r>
          </a:p>
        </p:txBody>
      </p:sp>
      <p:sp>
        <p:nvSpPr>
          <p:cNvPr id="8" name="矩形 7"/>
          <p:cNvSpPr/>
          <p:nvPr/>
        </p:nvSpPr>
        <p:spPr>
          <a:xfrm>
            <a:off x="6217921" y="1479666"/>
            <a:ext cx="5511338" cy="4825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24355" y="1642377"/>
            <a:ext cx="4989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可视化观察聚类效果：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可以对高维表征进行降维可视化，观察是否形成自然的聚类，类间是否分离，类内是否紧凑（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PCA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T-SNE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算法）</a:t>
            </a:r>
          </a:p>
        </p:txBody>
      </p:sp>
      <p:sp>
        <p:nvSpPr>
          <p:cNvPr id="4" name="梯形 3"/>
          <p:cNvSpPr/>
          <p:nvPr/>
        </p:nvSpPr>
        <p:spPr>
          <a:xfrm>
            <a:off x="2186247" y="4876485"/>
            <a:ext cx="1828800" cy="739832"/>
          </a:xfrm>
          <a:prstGeom prst="trapezoi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Encoder</a:t>
            </a:r>
            <a:endParaRPr lang="zh-CN" altLang="en-US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03612" y="4035723"/>
            <a:ext cx="2385753" cy="3806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Linear Classifier</a:t>
            </a:r>
            <a:endParaRPr lang="zh-CN" altLang="en-US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3084021" y="3499659"/>
            <a:ext cx="0" cy="44057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2943398" y="3063900"/>
            <a:ext cx="413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V="1">
            <a:off x="3092333" y="4416340"/>
            <a:ext cx="0" cy="44057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001589" y="5616317"/>
            <a:ext cx="4135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 descr="图标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622" y="4713242"/>
            <a:ext cx="394846" cy="394846"/>
          </a:xfrm>
          <a:prstGeom prst="rect">
            <a:avLst/>
          </a:prstGeom>
        </p:spPr>
      </p:pic>
      <p:pic>
        <p:nvPicPr>
          <p:cNvPr id="29" name="图片 28" descr="图表, 散点图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744" y="2935038"/>
            <a:ext cx="3596242" cy="29382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315886" y="552382"/>
            <a:ext cx="11712630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有监督表征学习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vs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无监督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/</a:t>
            </a:r>
            <a:r>
              <a:rPr lang="en-US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自监督学习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 descr="小狗在草地上&#10;&#10;AI 生成的内容可能不正确。"/>
          <p:cNvPicPr>
            <a:picLocks noChangeAspect="1"/>
          </p:cNvPicPr>
          <p:nvPr/>
        </p:nvPicPr>
        <p:blipFill>
          <a:blip r:embed="rId3"/>
          <a:srcRect l="11780" r="19036"/>
          <a:stretch>
            <a:fillRect/>
          </a:stretch>
        </p:blipFill>
        <p:spPr>
          <a:xfrm>
            <a:off x="1827841" y="1473057"/>
            <a:ext cx="1611305" cy="1576096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3699164" y="2385505"/>
            <a:ext cx="118595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8940337" y="2385505"/>
            <a:ext cx="111113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086004" y="2169481"/>
          <a:ext cx="3614653" cy="4320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6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-0.9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1.8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…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2.7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-1.3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951793" y="3162424"/>
            <a:ext cx="1657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原始数据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99413" y="1891773"/>
            <a:ext cx="164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Encoder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75639" y="2669087"/>
            <a:ext cx="2002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z=f(x)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81013" y="1891773"/>
            <a:ext cx="164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Classifier g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501746" y="2127255"/>
            <a:ext cx="12226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Dog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501746" y="2793092"/>
            <a:ext cx="1222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标签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540327" y="3769789"/>
            <a:ext cx="11043730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96508" y="1369251"/>
            <a:ext cx="5318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有监督表征学习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96508" y="4090775"/>
            <a:ext cx="5318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无监督表征学习</a:t>
            </a:r>
          </a:p>
        </p:txBody>
      </p:sp>
      <p:pic>
        <p:nvPicPr>
          <p:cNvPr id="28" name="图片 27" descr="小狗在草地上&#10;&#10;AI 生成的内容可能不正确。"/>
          <p:cNvPicPr>
            <a:picLocks noChangeAspect="1"/>
          </p:cNvPicPr>
          <p:nvPr/>
        </p:nvPicPr>
        <p:blipFill>
          <a:blip r:embed="rId3"/>
          <a:srcRect l="11780" r="19036"/>
          <a:stretch>
            <a:fillRect/>
          </a:stretch>
        </p:blipFill>
        <p:spPr>
          <a:xfrm>
            <a:off x="2037103" y="3909491"/>
            <a:ext cx="818543" cy="800657"/>
          </a:xfrm>
          <a:prstGeom prst="rect">
            <a:avLst/>
          </a:prstGeom>
        </p:spPr>
      </p:pic>
      <p:cxnSp>
        <p:nvCxnSpPr>
          <p:cNvPr id="29" name="直接箭头连接符 28"/>
          <p:cNvCxnSpPr/>
          <p:nvPr/>
        </p:nvCxnSpPr>
        <p:spPr>
          <a:xfrm flipV="1">
            <a:off x="3920987" y="5206570"/>
            <a:ext cx="964127" cy="46824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V="1">
            <a:off x="8967260" y="4562058"/>
            <a:ext cx="1187637" cy="6445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表格 30"/>
          <p:cNvGraphicFramePr>
            <a:graphicFrameLocks noGrp="1"/>
          </p:cNvGraphicFramePr>
          <p:nvPr/>
        </p:nvGraphicFramePr>
        <p:xfrm>
          <a:off x="5086004" y="4990546"/>
          <a:ext cx="3614653" cy="43204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16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63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-0.9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1.8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-1.6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…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2.7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-1.3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文本框 31"/>
          <p:cNvSpPr txBox="1"/>
          <p:nvPr/>
        </p:nvSpPr>
        <p:spPr>
          <a:xfrm>
            <a:off x="1989492" y="6195328"/>
            <a:ext cx="1657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原始数据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599413" y="3977341"/>
            <a:ext cx="164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Encoder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175639" y="5490152"/>
            <a:ext cx="2002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z=f(x)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8700657" y="4067679"/>
            <a:ext cx="164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Classifier g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117802" y="6195328"/>
            <a:ext cx="1417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自监督标签</a:t>
            </a:r>
          </a:p>
        </p:txBody>
      </p:sp>
      <p:pic>
        <p:nvPicPr>
          <p:cNvPr id="41" name="图片 40" descr="小狗在草地上&#10;&#10;AI 生成的内容可能不正确。"/>
          <p:cNvPicPr>
            <a:picLocks noChangeAspect="1"/>
          </p:cNvPicPr>
          <p:nvPr/>
        </p:nvPicPr>
        <p:blipFill>
          <a:blip r:embed="rId3"/>
          <a:srcRect l="11780" r="19036"/>
          <a:stretch>
            <a:fillRect/>
          </a:stretch>
        </p:blipFill>
        <p:spPr>
          <a:xfrm rot="5400000">
            <a:off x="2289040" y="4271501"/>
            <a:ext cx="818543" cy="800657"/>
          </a:xfrm>
          <a:prstGeom prst="rect">
            <a:avLst/>
          </a:prstGeom>
        </p:spPr>
      </p:pic>
      <p:pic>
        <p:nvPicPr>
          <p:cNvPr id="43" name="图片 42" descr="小狗在草地上&#10;&#10;AI 生成的内容可能不正确。"/>
          <p:cNvPicPr>
            <a:picLocks noChangeAspect="1"/>
          </p:cNvPicPr>
          <p:nvPr/>
        </p:nvPicPr>
        <p:blipFill>
          <a:blip r:embed="rId3"/>
          <a:srcRect l="11780" r="19036"/>
          <a:stretch>
            <a:fillRect/>
          </a:stretch>
        </p:blipFill>
        <p:spPr>
          <a:xfrm rot="10800000">
            <a:off x="2579980" y="4798333"/>
            <a:ext cx="818543" cy="800657"/>
          </a:xfrm>
          <a:prstGeom prst="rect">
            <a:avLst/>
          </a:prstGeom>
        </p:spPr>
      </p:pic>
      <p:pic>
        <p:nvPicPr>
          <p:cNvPr id="40" name="图片 39" descr="小狗在草地上&#10;&#10;AI 生成的内容可能不正确。"/>
          <p:cNvPicPr>
            <a:picLocks noChangeAspect="1"/>
          </p:cNvPicPr>
          <p:nvPr/>
        </p:nvPicPr>
        <p:blipFill>
          <a:blip r:embed="rId3"/>
          <a:srcRect l="11780" r="19036"/>
          <a:stretch>
            <a:fillRect/>
          </a:stretch>
        </p:blipFill>
        <p:spPr>
          <a:xfrm rot="16200000">
            <a:off x="2819613" y="5333151"/>
            <a:ext cx="818543" cy="800657"/>
          </a:xfrm>
          <a:prstGeom prst="rect">
            <a:avLst/>
          </a:prstGeom>
        </p:spPr>
      </p:pic>
      <p:cxnSp>
        <p:nvCxnSpPr>
          <p:cNvPr id="47" name="直接箭头连接符 46"/>
          <p:cNvCxnSpPr/>
          <p:nvPr/>
        </p:nvCxnSpPr>
        <p:spPr>
          <a:xfrm>
            <a:off x="3629213" y="4469301"/>
            <a:ext cx="1220925" cy="5944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/>
          <p:cNvSpPr txBox="1"/>
          <p:nvPr/>
        </p:nvSpPr>
        <p:spPr>
          <a:xfrm>
            <a:off x="9163879" y="5061330"/>
            <a:ext cx="8746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/>
              <a:t>…</a:t>
            </a:r>
            <a:endParaRPr lang="zh-CN" altLang="en-US" sz="2000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10348492" y="4181830"/>
            <a:ext cx="853711" cy="1884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0°</a:t>
            </a:r>
          </a:p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90°</a:t>
            </a:r>
          </a:p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180°</a:t>
            </a:r>
          </a:p>
          <a:p>
            <a:pPr algn="ctr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270°</a:t>
            </a:r>
          </a:p>
        </p:txBody>
      </p:sp>
      <p:cxnSp>
        <p:nvCxnSpPr>
          <p:cNvPr id="59" name="直接箭头连接符 58"/>
          <p:cNvCxnSpPr/>
          <p:nvPr/>
        </p:nvCxnSpPr>
        <p:spPr>
          <a:xfrm>
            <a:off x="8901547" y="5324207"/>
            <a:ext cx="1216255" cy="4852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3791017" y="5047124"/>
            <a:ext cx="8746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dirty="0"/>
              <a:t>…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315886" y="552382"/>
            <a:ext cx="11712630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有监督表征学习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vs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r>
              <a:rPr lang="en-US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无监督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/</a:t>
            </a:r>
            <a:r>
              <a:rPr lang="en-US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自监督学习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170333" y="5774631"/>
            <a:ext cx="10003735" cy="7012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/>
              <a:t>本节主要专注于无监督</a:t>
            </a:r>
            <a:r>
              <a:rPr kumimoji="1" lang="en-US" altLang="zh-CN" sz="2400" b="1" dirty="0"/>
              <a:t>/</a:t>
            </a:r>
            <a:r>
              <a:rPr kumimoji="1" lang="zh-CN" altLang="en-US" sz="2400" b="1" dirty="0"/>
              <a:t>自监督表征学习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848855"/>
              </p:ext>
            </p:extLst>
          </p:nvPr>
        </p:nvGraphicFramePr>
        <p:xfrm>
          <a:off x="1170333" y="1535599"/>
          <a:ext cx="10003735" cy="394378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986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10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4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87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比较维度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有监督表征学习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无监督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/>
                        <a:t>自监督表征学习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7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核心思想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利用人工标注的标签，引导模型学习与任务相关的表征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从数据本身的结构与分布中，自动发现有意义的表征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7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典型方法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交叉熵</a:t>
                      </a:r>
                      <a:r>
                        <a:rPr lang="en-US" altLang="zh-CN" sz="2000" dirty="0"/>
                        <a:t>/</a:t>
                      </a:r>
                      <a:r>
                        <a:rPr lang="zh-CN" altLang="en-US" sz="2000" dirty="0"/>
                        <a:t>回归损失驱动的端到端学习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对比学习、掩码建模、生成式模型</a:t>
                      </a:r>
                      <a:r>
                        <a:rPr lang="en-US" altLang="zh-CN" sz="2000" dirty="0"/>
                        <a:t>……</a:t>
                      </a:r>
                      <a:endParaRPr lang="zh-CN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7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优势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任务针对性强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数据成本低；泛化性、迁移性强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7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局限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标注成本高；容易过拟合特定任务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训练目标未必反应特定任务语义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什么是 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Pretext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任务？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64305" y="3655554"/>
            <a:ext cx="11387215" cy="1512793"/>
            <a:chOff x="742605" y="3456772"/>
            <a:chExt cx="10789920" cy="1170432"/>
          </a:xfrm>
        </p:grpSpPr>
        <p:sp>
          <p:nvSpPr>
            <p:cNvPr id="46" name="Shape 5"/>
            <p:cNvSpPr/>
            <p:nvPr/>
          </p:nvSpPr>
          <p:spPr>
            <a:xfrm>
              <a:off x="742605" y="3456772"/>
              <a:ext cx="1737360" cy="1170432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7E3F4"/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Text 6"/>
            <p:cNvSpPr/>
            <p:nvPr/>
          </p:nvSpPr>
          <p:spPr>
            <a:xfrm>
              <a:off x="834045" y="3657940"/>
              <a:ext cx="1554480" cy="219456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原始图像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Text 7"/>
            <p:cNvSpPr/>
            <p:nvPr/>
          </p:nvSpPr>
          <p:spPr>
            <a:xfrm>
              <a:off x="852333" y="3987124"/>
              <a:ext cx="1517904" cy="365760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50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未标注数据</a:t>
              </a:r>
              <a:endParaRPr lang="en-US" sz="11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Shape 8"/>
            <p:cNvSpPr/>
            <p:nvPr/>
          </p:nvSpPr>
          <p:spPr>
            <a:xfrm>
              <a:off x="3074325" y="3456772"/>
              <a:ext cx="1737360" cy="1170432"/>
            </a:xfrm>
            <a:prstGeom prst="roundRect">
              <a:avLst>
                <a:gd name="adj" fmla="val 6250"/>
              </a:avLst>
            </a:prstGeom>
            <a:solidFill>
              <a:srgbClr val="EAF2FF"/>
            </a:solidFill>
            <a:ln w="12700">
              <a:solidFill>
                <a:srgbClr val="D7E3F4"/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Text 9"/>
            <p:cNvSpPr/>
            <p:nvPr/>
          </p:nvSpPr>
          <p:spPr>
            <a:xfrm>
              <a:off x="3165765" y="3657940"/>
              <a:ext cx="1554480" cy="219456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自动变换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Text 10"/>
            <p:cNvSpPr/>
            <p:nvPr/>
          </p:nvSpPr>
          <p:spPr>
            <a:xfrm>
              <a:off x="3184053" y="3987124"/>
              <a:ext cx="1517904" cy="365760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50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旋转 / 打乱 / 灰度化 / 取 patch</a:t>
              </a:r>
              <a:endParaRPr lang="en-US" sz="11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Shape 11"/>
            <p:cNvSpPr/>
            <p:nvPr/>
          </p:nvSpPr>
          <p:spPr>
            <a:xfrm>
              <a:off x="5406045" y="3456772"/>
              <a:ext cx="1737360" cy="1170432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7E3F4"/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Text 12"/>
            <p:cNvSpPr/>
            <p:nvPr/>
          </p:nvSpPr>
          <p:spPr>
            <a:xfrm>
              <a:off x="5497485" y="3657940"/>
              <a:ext cx="1554480" cy="219456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伪标签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Text 13"/>
            <p:cNvSpPr/>
            <p:nvPr/>
          </p:nvSpPr>
          <p:spPr>
            <a:xfrm>
              <a:off x="5515773" y="3987124"/>
              <a:ext cx="1517904" cy="365760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50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角度 / 排列 / 相对位置 / 颜色</a:t>
              </a:r>
              <a:endParaRPr lang="en-US" sz="11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Shape 14"/>
            <p:cNvSpPr/>
            <p:nvPr/>
          </p:nvSpPr>
          <p:spPr>
            <a:xfrm>
              <a:off x="7737765" y="3456772"/>
              <a:ext cx="1737360" cy="1170432"/>
            </a:xfrm>
            <a:prstGeom prst="roundRect">
              <a:avLst>
                <a:gd name="adj" fmla="val 6250"/>
              </a:avLst>
            </a:prstGeom>
            <a:solidFill>
              <a:srgbClr val="EAF2FF"/>
            </a:solidFill>
            <a:ln w="12700">
              <a:solidFill>
                <a:srgbClr val="D7E3F4"/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Text 15"/>
            <p:cNvSpPr/>
            <p:nvPr/>
          </p:nvSpPr>
          <p:spPr>
            <a:xfrm>
              <a:off x="7829205" y="3657940"/>
              <a:ext cx="1554480" cy="219456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预训练模型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Text 16"/>
            <p:cNvSpPr/>
            <p:nvPr/>
          </p:nvSpPr>
          <p:spPr>
            <a:xfrm>
              <a:off x="7847493" y="3987124"/>
              <a:ext cx="1517904" cy="365760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50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学习视觉表示</a:t>
              </a:r>
              <a:endParaRPr lang="en-US" sz="11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Shape 17"/>
            <p:cNvSpPr/>
            <p:nvPr/>
          </p:nvSpPr>
          <p:spPr>
            <a:xfrm>
              <a:off x="10069485" y="3456772"/>
              <a:ext cx="1463040" cy="1170432"/>
            </a:xfrm>
            <a:prstGeom prst="roundRect">
              <a:avLst>
                <a:gd name="adj" fmla="val 6250"/>
              </a:avLst>
            </a:prstGeom>
            <a:solidFill>
              <a:srgbClr val="FFFFFF"/>
            </a:solidFill>
            <a:ln w="12700">
              <a:solidFill>
                <a:srgbClr val="D7E3F4"/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Text 18"/>
            <p:cNvSpPr/>
            <p:nvPr/>
          </p:nvSpPr>
          <p:spPr>
            <a:xfrm>
              <a:off x="10160925" y="3657940"/>
              <a:ext cx="1280160" cy="219456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600" b="1" dirty="0">
                  <a:solidFill>
                    <a:srgbClr val="0F172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下游任务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Text 19"/>
            <p:cNvSpPr/>
            <p:nvPr/>
          </p:nvSpPr>
          <p:spPr>
            <a:xfrm>
              <a:off x="10179213" y="3987124"/>
              <a:ext cx="1243584" cy="365760"/>
            </a:xfrm>
            <a:prstGeom prst="rect">
              <a:avLst/>
            </a:prstGeom>
            <a:noFill/>
          </p:spPr>
          <p:txBody>
            <a:bodyPr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50" dirty="0">
                  <a:solidFill>
                    <a:srgbClr val="47556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分类 / 检测</a:t>
              </a:r>
              <a:endParaRPr lang="en-US" sz="11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Shape 20"/>
            <p:cNvSpPr/>
            <p:nvPr/>
          </p:nvSpPr>
          <p:spPr>
            <a:xfrm>
              <a:off x="2556441" y="3767668"/>
              <a:ext cx="502920" cy="384048"/>
            </a:xfrm>
            <a:prstGeom prst="chevron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Shape 21"/>
            <p:cNvSpPr/>
            <p:nvPr/>
          </p:nvSpPr>
          <p:spPr>
            <a:xfrm>
              <a:off x="4888161" y="3767668"/>
              <a:ext cx="502920" cy="384048"/>
            </a:xfrm>
            <a:prstGeom prst="chevron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Shape 22"/>
            <p:cNvSpPr/>
            <p:nvPr/>
          </p:nvSpPr>
          <p:spPr>
            <a:xfrm>
              <a:off x="7219881" y="3767668"/>
              <a:ext cx="502920" cy="384048"/>
            </a:xfrm>
            <a:prstGeom prst="chevron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Shape 23"/>
            <p:cNvSpPr/>
            <p:nvPr/>
          </p:nvSpPr>
          <p:spPr>
            <a:xfrm>
              <a:off x="9551601" y="3767668"/>
              <a:ext cx="502920" cy="384048"/>
            </a:xfrm>
            <a:prstGeom prst="chevron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矩形 1"/>
          <p:cNvSpPr/>
          <p:nvPr/>
        </p:nvSpPr>
        <p:spPr bwMode="auto">
          <a:xfrm>
            <a:off x="337802" y="1689653"/>
            <a:ext cx="11413718" cy="125677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核心思想：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摒弃人工标注，以数据自身属性为“伪标签”，通过解决人为设计的代理任务，间接习得数据的语义特征。</a:t>
            </a:r>
          </a:p>
        </p:txBody>
      </p:sp>
    </p:spTree>
    <p:extLst>
      <p:ext uri="{BB962C8B-B14F-4D97-AF65-F5344CB8AC3E}">
        <p14:creationId xmlns:p14="http://schemas.microsoft.com/office/powerpoint/2010/main" val="2998704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Pretext 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任务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---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旋转预测（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Rotation Prediction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2524" y="1637603"/>
            <a:ext cx="11132847" cy="47869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5067" y="1887406"/>
            <a:ext cx="3117464" cy="378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训练方式：把一张自然图像随机旋转为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180°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270°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，再让模型预测旋转角度（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分类问题）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模型通常需要识别主体轮廓、部件朝向与场景重力方向，才能判断角度</a:t>
            </a:r>
          </a:p>
        </p:txBody>
      </p:sp>
      <p:pic>
        <p:nvPicPr>
          <p:cNvPr id="25" name="图片 24" descr="图示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531" y="1779340"/>
            <a:ext cx="7756945" cy="441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33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784"/>
            <a:ext cx="11662756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Pretext 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任务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---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旋转预测（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Rotation Prediction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2524" y="1637603"/>
            <a:ext cx="11132847" cy="47869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72524" y="1887406"/>
                <a:ext cx="6481783" cy="4254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Step 1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：定义旋转变换集合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设定四个固定的旋转角度：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0°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90°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180°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270°</a:t>
                </a: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这四个角度对应四个类别标签：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∈{0,1,2,3}</m:t>
                    </m:r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Step 2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：构建训练样本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对于无监督数据集中的每个图像，使用四种旋转构造四个样本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Step 3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：训练神经网络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前向传播：样本经过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encoder f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和一个分类器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（四分类）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反向传播：最小化交叉损失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3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log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𝑓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𝑦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)) </m:t>
                        </m:r>
                      </m:e>
                    </m:nary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Step 4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probing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测试或下游任务迁移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524" y="1887406"/>
                <a:ext cx="6481783" cy="4254754"/>
              </a:xfrm>
              <a:prstGeom prst="rect">
                <a:avLst/>
              </a:prstGeom>
              <a:blipFill>
                <a:blip r:embed="rId3"/>
                <a:stretch>
                  <a:fillRect l="-587" r="-3914" b="-38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圆角矩形 6">
            <a:extLst>
              <a:ext uri="{FF2B5EF4-FFF2-40B4-BE49-F238E27FC236}">
                <a16:creationId xmlns:a16="http://schemas.microsoft.com/office/drawing/2014/main" id="{654F0368-D171-4541-862A-F5B42699ADF4}"/>
              </a:ext>
            </a:extLst>
          </p:cNvPr>
          <p:cNvSpPr/>
          <p:nvPr/>
        </p:nvSpPr>
        <p:spPr>
          <a:xfrm>
            <a:off x="7205295" y="4990520"/>
            <a:ext cx="1730928" cy="9102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数据层</a:t>
            </a:r>
            <a:endParaRPr kumimoji="1" lang="en-US" altLang="zh-CN" b="1" dirty="0"/>
          </a:p>
          <a:p>
            <a:pPr algn="ctr"/>
            <a:r>
              <a:rPr kumimoji="1" lang="zh-CN" altLang="en-US" dirty="0"/>
              <a:t>构造</a:t>
            </a:r>
            <a:r>
              <a:rPr kumimoji="1" lang="en-US" altLang="zh-CN" dirty="0"/>
              <a:t>pretext</a:t>
            </a:r>
            <a:r>
              <a:rPr kumimoji="1" lang="zh-CN" altLang="en-US" dirty="0"/>
              <a:t>数据集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84E36CC0-6625-3043-ABBC-946C3B4E39DC}"/>
              </a:ext>
            </a:extLst>
          </p:cNvPr>
          <p:cNvSpPr/>
          <p:nvPr/>
        </p:nvSpPr>
        <p:spPr>
          <a:xfrm>
            <a:off x="7205295" y="3540009"/>
            <a:ext cx="1730928" cy="9102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模型层</a:t>
            </a:r>
            <a:endParaRPr kumimoji="1" lang="en-US" altLang="zh-CN" b="1" dirty="0"/>
          </a:p>
          <a:p>
            <a:pPr algn="ctr"/>
            <a:r>
              <a:rPr kumimoji="1" lang="zh-CN" altLang="en-US" dirty="0"/>
              <a:t>常规</a:t>
            </a:r>
            <a:r>
              <a:rPr kumimoji="1" lang="en-US" altLang="zh-CN" dirty="0"/>
              <a:t>Backbone</a:t>
            </a:r>
            <a:r>
              <a:rPr kumimoji="1" lang="zh-CN" altLang="en-US" dirty="0"/>
              <a:t>（如</a:t>
            </a:r>
            <a:r>
              <a:rPr kumimoji="1" lang="en-US" altLang="zh-CN" dirty="0" err="1"/>
              <a:t>RestNet</a:t>
            </a:r>
            <a:r>
              <a:rPr kumimoji="1" lang="zh-CN" altLang="en-US" dirty="0"/>
              <a:t>）</a:t>
            </a:r>
          </a:p>
        </p:txBody>
      </p:sp>
      <p:sp>
        <p:nvSpPr>
          <p:cNvPr id="10" name="下箭头 9">
            <a:extLst>
              <a:ext uri="{FF2B5EF4-FFF2-40B4-BE49-F238E27FC236}">
                <a16:creationId xmlns:a16="http://schemas.microsoft.com/office/drawing/2014/main" id="{4A005D5C-1CE1-444D-8A7C-B33387F83EFA}"/>
              </a:ext>
            </a:extLst>
          </p:cNvPr>
          <p:cNvSpPr/>
          <p:nvPr/>
        </p:nvSpPr>
        <p:spPr>
          <a:xfrm rot="10800000">
            <a:off x="7731315" y="4570017"/>
            <a:ext cx="522256" cy="2397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22C22391-9438-2E4D-918A-3612A07A3CEB}"/>
              </a:ext>
            </a:extLst>
          </p:cNvPr>
          <p:cNvSpPr/>
          <p:nvPr/>
        </p:nvSpPr>
        <p:spPr>
          <a:xfrm>
            <a:off x="7205294" y="2127241"/>
            <a:ext cx="1730928" cy="91021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训练</a:t>
            </a:r>
            <a:endParaRPr kumimoji="1" lang="en-US" altLang="zh-CN" b="1" dirty="0"/>
          </a:p>
          <a:p>
            <a:pPr algn="ctr"/>
            <a:r>
              <a:rPr kumimoji="1" lang="zh-CN" altLang="en-US" dirty="0"/>
              <a:t>使用构造的标签训练</a:t>
            </a:r>
          </a:p>
        </p:txBody>
      </p:sp>
      <p:sp>
        <p:nvSpPr>
          <p:cNvPr id="12" name="下箭头 11">
            <a:extLst>
              <a:ext uri="{FF2B5EF4-FFF2-40B4-BE49-F238E27FC236}">
                <a16:creationId xmlns:a16="http://schemas.microsoft.com/office/drawing/2014/main" id="{E207F114-C7CC-FE47-9443-101A7F10A362}"/>
              </a:ext>
            </a:extLst>
          </p:cNvPr>
          <p:cNvSpPr/>
          <p:nvPr/>
        </p:nvSpPr>
        <p:spPr>
          <a:xfrm rot="10800000">
            <a:off x="7731314" y="3157249"/>
            <a:ext cx="522256" cy="2397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7F7595C4-CB3A-7C43-B896-E4633F7CE159}"/>
              </a:ext>
            </a:extLst>
          </p:cNvPr>
          <p:cNvSpPr/>
          <p:nvPr/>
        </p:nvSpPr>
        <p:spPr>
          <a:xfrm>
            <a:off x="9716005" y="4990520"/>
            <a:ext cx="1730928" cy="91021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数据层</a:t>
            </a:r>
            <a:endParaRPr kumimoji="1" lang="en-US" altLang="zh-CN" b="1" dirty="0"/>
          </a:p>
          <a:p>
            <a:pPr algn="ctr"/>
            <a:r>
              <a:rPr kumimoji="1" lang="zh-CN" altLang="en-US" dirty="0"/>
              <a:t>下游任务数据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2796B80B-054F-FB4C-AC85-458B47E9BED3}"/>
              </a:ext>
            </a:extLst>
          </p:cNvPr>
          <p:cNvSpPr/>
          <p:nvPr/>
        </p:nvSpPr>
        <p:spPr>
          <a:xfrm>
            <a:off x="9716005" y="3540009"/>
            <a:ext cx="1730928" cy="91021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模型层</a:t>
            </a:r>
          </a:p>
          <a:p>
            <a:pPr algn="ctr"/>
            <a:r>
              <a:rPr kumimoji="1" lang="zh-CN" altLang="en-US" dirty="0"/>
              <a:t>微调已经训练的</a:t>
            </a:r>
            <a:r>
              <a:rPr kumimoji="1" lang="en-US" altLang="zh-CN" dirty="0"/>
              <a:t>Backbone</a:t>
            </a:r>
            <a:endParaRPr kumimoji="1" lang="zh-CN" altLang="en-US" dirty="0"/>
          </a:p>
        </p:txBody>
      </p:sp>
      <p:sp>
        <p:nvSpPr>
          <p:cNvPr id="15" name="下箭头 14">
            <a:extLst>
              <a:ext uri="{FF2B5EF4-FFF2-40B4-BE49-F238E27FC236}">
                <a16:creationId xmlns:a16="http://schemas.microsoft.com/office/drawing/2014/main" id="{76619514-54DC-CA4B-B665-A8D9E6791CE1}"/>
              </a:ext>
            </a:extLst>
          </p:cNvPr>
          <p:cNvSpPr/>
          <p:nvPr/>
        </p:nvSpPr>
        <p:spPr>
          <a:xfrm rot="10800000">
            <a:off x="10242025" y="4570017"/>
            <a:ext cx="522256" cy="2397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4868F16-236F-CA47-ADE9-0E1115209223}"/>
              </a:ext>
            </a:extLst>
          </p:cNvPr>
          <p:cNvSpPr/>
          <p:nvPr/>
        </p:nvSpPr>
        <p:spPr>
          <a:xfrm>
            <a:off x="9716004" y="2127241"/>
            <a:ext cx="1730928" cy="91021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训练</a:t>
            </a:r>
            <a:endParaRPr kumimoji="1" lang="en-US" altLang="zh-CN" b="1" dirty="0"/>
          </a:p>
          <a:p>
            <a:pPr algn="ctr"/>
            <a:r>
              <a:rPr kumimoji="1" lang="zh-CN" altLang="en-US" dirty="0"/>
              <a:t>使用下游任务标签训练</a:t>
            </a:r>
          </a:p>
        </p:txBody>
      </p:sp>
      <p:sp>
        <p:nvSpPr>
          <p:cNvPr id="17" name="下箭头 16">
            <a:extLst>
              <a:ext uri="{FF2B5EF4-FFF2-40B4-BE49-F238E27FC236}">
                <a16:creationId xmlns:a16="http://schemas.microsoft.com/office/drawing/2014/main" id="{3AD47A86-38CC-064A-B81D-FB70E1FDCE04}"/>
              </a:ext>
            </a:extLst>
          </p:cNvPr>
          <p:cNvSpPr/>
          <p:nvPr/>
        </p:nvSpPr>
        <p:spPr>
          <a:xfrm rot="10800000">
            <a:off x="10242024" y="3157249"/>
            <a:ext cx="522256" cy="2397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5FDACCF1-68F3-464B-8DEE-4D8C87E69040}"/>
              </a:ext>
            </a:extLst>
          </p:cNvPr>
          <p:cNvCxnSpPr>
            <a:stCxn id="9" idx="3"/>
            <a:endCxn id="14" idx="1"/>
          </p:cNvCxnSpPr>
          <p:nvPr/>
        </p:nvCxnSpPr>
        <p:spPr>
          <a:xfrm>
            <a:off x="8936223" y="3995118"/>
            <a:ext cx="779782" cy="0"/>
          </a:xfrm>
          <a:prstGeom prst="straightConnector1">
            <a:avLst/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B3534973-3C36-E74D-8634-856692A52E09}"/>
              </a:ext>
            </a:extLst>
          </p:cNvPr>
          <p:cNvSpPr txBox="1"/>
          <p:nvPr/>
        </p:nvSpPr>
        <p:spPr>
          <a:xfrm>
            <a:off x="9087211" y="3340929"/>
            <a:ext cx="639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迁移</a:t>
            </a:r>
          </a:p>
        </p:txBody>
      </p:sp>
    </p:spTree>
    <p:extLst>
      <p:ext uri="{BB962C8B-B14F-4D97-AF65-F5344CB8AC3E}">
        <p14:creationId xmlns:p14="http://schemas.microsoft.com/office/powerpoint/2010/main" val="1788225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Pretext 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任务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---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相对位置预测（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Context Prediction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2524" y="1637603"/>
            <a:ext cx="11132847" cy="47869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1024" y="1749763"/>
            <a:ext cx="10688452" cy="458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从同一张图像中采样两个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，让模型预测第二个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相对第一个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patch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位于哪个方向（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分类）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931024" y="5842487"/>
            <a:ext cx="7220989" cy="46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如果认识这个物体，那判断相对位置应该很简单</a:t>
            </a:r>
          </a:p>
        </p:txBody>
      </p:sp>
      <p:pic>
        <p:nvPicPr>
          <p:cNvPr id="28" name="图片 27" descr="猫的照片上写着字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263" y="2278440"/>
            <a:ext cx="4850478" cy="3961999"/>
          </a:xfrm>
          <a:prstGeom prst="rect">
            <a:avLst/>
          </a:prstGeom>
        </p:spPr>
      </p:pic>
      <p:pic>
        <p:nvPicPr>
          <p:cNvPr id="30" name="图片 29" descr="图形用户界面, 应用程序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910" y="2198777"/>
            <a:ext cx="4157652" cy="369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882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Pretext 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任务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---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拼图游戏（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Jigsaw Puzzle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2524" y="1637603"/>
            <a:ext cx="11132847" cy="47869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4522" y="1696210"/>
            <a:ext cx="10754954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对图片进行分块并打乱，训练模型进行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permutation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的分类（排列空间从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9!=362,880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，选择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帮助模型学习局部之间的空间关系，以及从局部推断全局物体结构的能力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电脑屏幕截图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76" y="2576585"/>
            <a:ext cx="11046952" cy="3767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9226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Pretext 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任务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---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着色（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Colorization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2524" y="1637603"/>
            <a:ext cx="11132847" cy="47869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4522" y="1754401"/>
            <a:ext cx="10199717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把彩色图变成灰度图，再让模型恢复颜色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颜色往往依赖语义：天空通常偏蓝，植被偏绿，皮肤、道路、海面也各有统计规律；着色任务使模型关注纹理与材质、区域类别与场景上下文、同一物体内部的颜色连续性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日程表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17" y="3348213"/>
            <a:ext cx="10273565" cy="274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53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不同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Pretext 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任务的效果比较</a:t>
            </a:r>
            <a:endParaRPr lang="en-US" altLang="zh-CN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2524" y="1637603"/>
            <a:ext cx="11132847" cy="47869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表格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145" y="1854634"/>
            <a:ext cx="8376458" cy="3941863"/>
          </a:xfrm>
          <a:prstGeom prst="rect">
            <a:avLst/>
          </a:prstGeom>
        </p:spPr>
      </p:pic>
      <p:sp>
        <p:nvSpPr>
          <p:cNvPr id="4" name="Text 3"/>
          <p:cNvSpPr/>
          <p:nvPr/>
        </p:nvSpPr>
        <p:spPr>
          <a:xfrm>
            <a:off x="2405148" y="5853476"/>
            <a:ext cx="7395557" cy="320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不同的无监督方法在</a:t>
            </a:r>
            <a:r>
              <a:rPr lang="en-US" altLang="zh-CN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ImageNet-1000</a:t>
            </a:r>
            <a:r>
              <a:rPr lang="zh-CN" altLang="en-US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分类任务上的效果（冻结表征</a:t>
            </a:r>
            <a:r>
              <a:rPr lang="en-US" altLang="zh-CN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+MLP</a:t>
            </a:r>
            <a:r>
              <a:rPr lang="zh-CN" altLang="en-US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1695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Pretext 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任务的局限性</a:t>
            </a:r>
            <a:endParaRPr lang="en-US" altLang="zh-CN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2524" y="1637603"/>
            <a:ext cx="11132847" cy="47869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27"/>
          <p:cNvSpPr/>
          <p:nvPr/>
        </p:nvSpPr>
        <p:spPr>
          <a:xfrm>
            <a:off x="1371877" y="5058710"/>
            <a:ext cx="99669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28"/>
          <p:cNvSpPr/>
          <p:nvPr/>
        </p:nvSpPr>
        <p:spPr>
          <a:xfrm>
            <a:off x="1573045" y="4857542"/>
            <a:ext cx="164592" cy="16459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29"/>
          <p:cNvSpPr/>
          <p:nvPr/>
        </p:nvSpPr>
        <p:spPr>
          <a:xfrm>
            <a:off x="1243861" y="4437649"/>
            <a:ext cx="831164" cy="2911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2016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30"/>
          <p:cNvSpPr/>
          <p:nvPr/>
        </p:nvSpPr>
        <p:spPr>
          <a:xfrm>
            <a:off x="1253005" y="5210339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Jigsaw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31"/>
          <p:cNvSpPr/>
          <p:nvPr/>
        </p:nvSpPr>
        <p:spPr>
          <a:xfrm>
            <a:off x="1230145" y="5567879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空间关系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32"/>
          <p:cNvSpPr/>
          <p:nvPr/>
        </p:nvSpPr>
        <p:spPr>
          <a:xfrm>
            <a:off x="3127525" y="4857542"/>
            <a:ext cx="164592" cy="16459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33"/>
          <p:cNvSpPr/>
          <p:nvPr/>
        </p:nvSpPr>
        <p:spPr>
          <a:xfrm>
            <a:off x="2845001" y="4451000"/>
            <a:ext cx="713232" cy="264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2016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34"/>
          <p:cNvSpPr/>
          <p:nvPr/>
        </p:nvSpPr>
        <p:spPr>
          <a:xfrm>
            <a:off x="2496281" y="5212295"/>
            <a:ext cx="1410671" cy="1828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Colorization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35"/>
          <p:cNvSpPr/>
          <p:nvPr/>
        </p:nvSpPr>
        <p:spPr>
          <a:xfrm>
            <a:off x="2752621" y="5567879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语义颜色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36"/>
          <p:cNvSpPr/>
          <p:nvPr/>
        </p:nvSpPr>
        <p:spPr>
          <a:xfrm>
            <a:off x="4773445" y="4857542"/>
            <a:ext cx="164592" cy="164592"/>
          </a:xfrm>
          <a:prstGeom prst="ellipse">
            <a:avLst/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37"/>
          <p:cNvSpPr/>
          <p:nvPr/>
        </p:nvSpPr>
        <p:spPr>
          <a:xfrm>
            <a:off x="4490921" y="4451000"/>
            <a:ext cx="713232" cy="264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2018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38"/>
          <p:cNvSpPr/>
          <p:nvPr/>
        </p:nvSpPr>
        <p:spPr>
          <a:xfrm>
            <a:off x="4449454" y="5237858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RotNet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39"/>
          <p:cNvSpPr/>
          <p:nvPr/>
        </p:nvSpPr>
        <p:spPr>
          <a:xfrm>
            <a:off x="4430238" y="5563309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角度标签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40"/>
          <p:cNvSpPr/>
          <p:nvPr/>
        </p:nvSpPr>
        <p:spPr>
          <a:xfrm>
            <a:off x="6510805" y="4857542"/>
            <a:ext cx="164592" cy="164592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41"/>
          <p:cNvSpPr/>
          <p:nvPr/>
        </p:nvSpPr>
        <p:spPr>
          <a:xfrm>
            <a:off x="6274617" y="4451000"/>
            <a:ext cx="641636" cy="2644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2020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42"/>
          <p:cNvSpPr/>
          <p:nvPr/>
        </p:nvSpPr>
        <p:spPr>
          <a:xfrm>
            <a:off x="5719783" y="5210384"/>
            <a:ext cx="1783080" cy="1462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SimCLR / BYOL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43"/>
          <p:cNvSpPr/>
          <p:nvPr/>
        </p:nvSpPr>
        <p:spPr>
          <a:xfrm>
            <a:off x="6002259" y="5563309"/>
            <a:ext cx="1218128" cy="1371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视角一致性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Shape 44"/>
          <p:cNvSpPr/>
          <p:nvPr/>
        </p:nvSpPr>
        <p:spPr>
          <a:xfrm>
            <a:off x="8293885" y="4857542"/>
            <a:ext cx="164592" cy="164592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45"/>
          <p:cNvSpPr/>
          <p:nvPr/>
        </p:nvSpPr>
        <p:spPr>
          <a:xfrm>
            <a:off x="8010420" y="4477703"/>
            <a:ext cx="731520" cy="2510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2021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46"/>
          <p:cNvSpPr/>
          <p:nvPr/>
        </p:nvSpPr>
        <p:spPr>
          <a:xfrm>
            <a:off x="7992133" y="5210339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DINO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 47"/>
          <p:cNvSpPr/>
          <p:nvPr/>
        </p:nvSpPr>
        <p:spPr>
          <a:xfrm>
            <a:off x="7748211" y="5435576"/>
            <a:ext cx="1255939" cy="36741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教师-学生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Shape 48"/>
          <p:cNvSpPr/>
          <p:nvPr/>
        </p:nvSpPr>
        <p:spPr>
          <a:xfrm>
            <a:off x="10076965" y="4857542"/>
            <a:ext cx="164592" cy="164592"/>
          </a:xfrm>
          <a:prstGeom prst="ellipse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 49"/>
          <p:cNvSpPr/>
          <p:nvPr/>
        </p:nvSpPr>
        <p:spPr>
          <a:xfrm>
            <a:off x="9811789" y="4477703"/>
            <a:ext cx="713232" cy="25109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2022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Text 50"/>
          <p:cNvSpPr/>
          <p:nvPr/>
        </p:nvSpPr>
        <p:spPr>
          <a:xfrm>
            <a:off x="9742522" y="521239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rgbClr val="1118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MAE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 51"/>
          <p:cNvSpPr/>
          <p:nvPr/>
        </p:nvSpPr>
        <p:spPr>
          <a:xfrm>
            <a:off x="9711205" y="5494721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Noto Sans CJK SC" pitchFamily="34" charset="-120"/>
              </a:rPr>
              <a:t>掩码重建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24451" y="1774082"/>
            <a:ext cx="10743097" cy="2473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局限性：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泛化性有限：模型可能学会“如何解这道题”，却不一定得到对下游任务最有用的通用表示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可能出现学习捷径：例如通过边缘连续性、颜色分布或相机伪影取巧，而不是理解高层语义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自监督学习的发展：</a:t>
            </a:r>
          </a:p>
        </p:txBody>
      </p:sp>
    </p:spTree>
    <p:extLst>
      <p:ext uri="{BB962C8B-B14F-4D97-AF65-F5344CB8AC3E}">
        <p14:creationId xmlns:p14="http://schemas.microsoft.com/office/powerpoint/2010/main" val="1128473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3126463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312897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19701" y="3187514"/>
            <a:ext cx="11892190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二、对比学习：从依赖标签到实例判别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37802" y="1468138"/>
            <a:ext cx="11516396" cy="12003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GB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Pretext </a:t>
            </a:r>
            <a:r>
              <a:rPr lang="zh-CN" altLang="en-GB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教会了模型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“如何玩游戏”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，但我们真正需要的是模型能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“区分谁是谁”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对比学习：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在特征空间中，拉近同类事物，推远不同事物，让模型学会区分万物。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对比学习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026" name="Picture 2" descr="【自监督】系列（二）-代理任务（Pretext Task）-CSDN博客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843" y="2930114"/>
            <a:ext cx="3725842" cy="327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【笔记】 SCL （Supervised Contrastive Learning）论文分析：“监督对比学习“，相比”自监督对比学习“，从 ...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7" t="3936" r="7825" b="10724"/>
          <a:stretch>
            <a:fillRect/>
          </a:stretch>
        </p:blipFill>
        <p:spPr bwMode="auto">
          <a:xfrm>
            <a:off x="6334539" y="2930114"/>
            <a:ext cx="4045648" cy="3275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右箭头 4"/>
          <p:cNvSpPr/>
          <p:nvPr/>
        </p:nvSpPr>
        <p:spPr>
          <a:xfrm>
            <a:off x="4571998" y="4311311"/>
            <a:ext cx="1653209" cy="555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70062" y="4048389"/>
            <a:ext cx="12105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/>
              <a:t>回归本质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395144" y="3967460"/>
            <a:ext cx="14590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</a:rPr>
              <a:t>拉近本源</a:t>
            </a:r>
            <a:endParaRPr kumimoji="1" lang="en-US" altLang="zh-CN" sz="2400" b="1" dirty="0">
              <a:solidFill>
                <a:srgbClr val="FF0000"/>
              </a:solidFill>
            </a:endParaRPr>
          </a:p>
          <a:p>
            <a:r>
              <a:rPr kumimoji="1" lang="zh-CN" altLang="en-US" sz="2400" b="1" dirty="0">
                <a:solidFill>
                  <a:srgbClr val="FF0000"/>
                </a:solidFill>
              </a:rPr>
              <a:t>推开异源</a:t>
            </a:r>
            <a:endParaRPr kumimoji="1" lang="en-US" altLang="zh-CN" sz="2400" b="1" dirty="0">
              <a:solidFill>
                <a:srgbClr val="FF0000"/>
              </a:solidFill>
            </a:endParaRPr>
          </a:p>
          <a:p>
            <a:r>
              <a:rPr kumimoji="1" lang="zh-CN" altLang="en-US" sz="2400" b="1" dirty="0">
                <a:solidFill>
                  <a:srgbClr val="FF0000"/>
                </a:solidFill>
              </a:rPr>
              <a:t>直击语义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37802" y="1613910"/>
            <a:ext cx="11516396" cy="12003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监督对比学习：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需要人工标注哪些属于同类事物，哪些属于不同类事物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成本太高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自监督对比学习：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通过数据变换自动构建正负样本对用于模型训练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-&gt;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lunch!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对比学习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2" r="1710"/>
          <a:stretch>
            <a:fillRect/>
          </a:stretch>
        </p:blipFill>
        <p:spPr bwMode="auto">
          <a:xfrm>
            <a:off x="337802" y="3223867"/>
            <a:ext cx="5440146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" r="1763"/>
          <a:stretch>
            <a:fillRect/>
          </a:stretch>
        </p:blipFill>
        <p:spPr bwMode="auto">
          <a:xfrm>
            <a:off x="6096000" y="3223867"/>
            <a:ext cx="5758198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37802" y="1388626"/>
            <a:ext cx="11516396" cy="10895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en-US" altLang="zh-CN" sz="2400" b="1" dirty="0" err="1"/>
              <a:t>SimCLR</a:t>
            </a:r>
            <a:r>
              <a:rPr lang="en-US" altLang="zh-CN" sz="2400" b="1" dirty="0"/>
              <a:t> </a:t>
            </a:r>
            <a:r>
              <a:rPr lang="zh-CN" altLang="en-US" sz="2400" b="1" dirty="0"/>
              <a:t>框架</a:t>
            </a:r>
            <a:r>
              <a:rPr lang="en-US" altLang="zh-CN" sz="2400" b="1" dirty="0"/>
              <a:t>: </a:t>
            </a:r>
            <a:r>
              <a:rPr lang="zh-CN" altLang="en-US" sz="2400" dirty="0"/>
              <a:t>对每张图施加两种不同的数据增强，形成一对互为“正样本”的分身。模型的目标就是识别出这些分身属于同一母体，并同时排斥 </a:t>
            </a:r>
            <a:r>
              <a:rPr lang="en-GB" altLang="zh-CN" sz="2400" dirty="0"/>
              <a:t>batch </a:t>
            </a:r>
            <a:r>
              <a:rPr lang="zh-CN" altLang="en-US" sz="2400" dirty="0"/>
              <a:t>内的所有其他图片。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SimCLR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37802" y="2584174"/>
            <a:ext cx="9496450" cy="4125689"/>
            <a:chOff x="337802" y="2684020"/>
            <a:chExt cx="8898963" cy="4025843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989"/>
            <a:stretch>
              <a:fillRect/>
            </a:stretch>
          </p:blipFill>
          <p:spPr bwMode="auto">
            <a:xfrm>
              <a:off x="337802" y="2684020"/>
              <a:ext cx="8898963" cy="3978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13415" y="5901372"/>
              <a:ext cx="2223350" cy="808491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9834252" y="3502680"/>
            <a:ext cx="18674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rgbClr val="FF0000"/>
                </a:solidFill>
              </a:rPr>
              <a:t>展示出自监督特征仅用 </a:t>
            </a:r>
            <a:r>
              <a:rPr lang="en-US" altLang="zh-CN" sz="2000" b="1" dirty="0">
                <a:solidFill>
                  <a:srgbClr val="FF0000"/>
                </a:solidFill>
              </a:rPr>
              <a:t>1% </a:t>
            </a:r>
            <a:r>
              <a:rPr lang="zh-CN" altLang="en-US" sz="2000" dirty="0">
                <a:solidFill>
                  <a:srgbClr val="FF0000"/>
                </a:solidFill>
              </a:rPr>
              <a:t>标签微调就能超越 </a:t>
            </a:r>
            <a:r>
              <a:rPr lang="en-GB" altLang="zh-CN" sz="2000" dirty="0" err="1">
                <a:solidFill>
                  <a:srgbClr val="FF0000"/>
                </a:solidFill>
              </a:rPr>
              <a:t>AlexNet</a:t>
            </a:r>
            <a:r>
              <a:rPr lang="en-GB" altLang="zh-CN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的惊人潜力！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919313" y="5696753"/>
            <a:ext cx="38298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i="1" dirty="0"/>
              <a:t>A Simple Framework for Contrastive Learning of Visual Representations. ICML2020.</a:t>
            </a:r>
            <a:endParaRPr kumimoji="1" lang="zh-CN" altLang="en-US" i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37802" y="1388626"/>
            <a:ext cx="11516396" cy="10895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b="1" dirty="0"/>
              <a:t>数据增强（</a:t>
            </a:r>
            <a:r>
              <a:rPr lang="en-GB" altLang="zh-CN" sz="2400" b="1" dirty="0"/>
              <a:t>Data augmentation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 </a:t>
            </a:r>
            <a:r>
              <a:rPr lang="zh-CN" altLang="en-US" sz="2400" dirty="0"/>
              <a:t>在保留数据原本含义的前提下，通过旋转、翻转等方式对现有数据进行变换，从而创造出更多新样本。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SimCLR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01" y="2684019"/>
            <a:ext cx="8283665" cy="368014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759687" y="3173361"/>
            <a:ext cx="3094511" cy="2296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</a:rPr>
              <a:t>关键发现：</a:t>
            </a:r>
            <a:endParaRPr kumimoji="1" lang="en-US" altLang="zh-CN" sz="2000" b="1" dirty="0">
              <a:solidFill>
                <a:srgbClr val="FF0000"/>
              </a:solidFill>
            </a:endParaRPr>
          </a:p>
          <a:p>
            <a:pPr algn="just">
              <a:lnSpc>
                <a:spcPct val="125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-</a:t>
            </a:r>
            <a:r>
              <a:rPr lang="zh-CN" altLang="en-US" sz="2000" dirty="0">
                <a:solidFill>
                  <a:srgbClr val="FF0000"/>
                </a:solidFill>
              </a:rPr>
              <a:t> 数据增强组合对自监督学习质量起决定性作用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just">
              <a:lnSpc>
                <a:spcPct val="125000"/>
              </a:lnSpc>
            </a:pPr>
            <a:r>
              <a:rPr kumimoji="1" lang="en-US" altLang="zh-CN" sz="2000" dirty="0">
                <a:solidFill>
                  <a:srgbClr val="FF0000"/>
                </a:solidFill>
              </a:rPr>
              <a:t>-</a:t>
            </a:r>
            <a:r>
              <a:rPr kumimoji="1" lang="zh-CN" altLang="en-US" sz="2000" dirty="0">
                <a:solidFill>
                  <a:srgbClr val="FF0000"/>
                </a:solidFill>
              </a:rPr>
              <a:t> </a:t>
            </a:r>
            <a:r>
              <a:rPr lang="zh-CN" altLang="en-US" sz="2000" dirty="0">
                <a:solidFill>
                  <a:srgbClr val="FF0000"/>
                </a:solidFill>
              </a:rPr>
              <a:t>单纯的随机裁剪往往效果不佳（模型作弊），必须与 “颜色抖动” 结合使用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37802" y="1388626"/>
            <a:ext cx="11516396" cy="10895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b="1" dirty="0"/>
              <a:t>基础编码器（</a:t>
            </a:r>
            <a:r>
              <a:rPr lang="en-GB" altLang="zh-CN" sz="2400" b="1" dirty="0"/>
              <a:t>Base Encoder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: </a:t>
            </a:r>
            <a:r>
              <a:rPr lang="zh-CN" altLang="en-US" sz="2400" dirty="0"/>
              <a:t>通常采用经典的卷积神经网络（如 </a:t>
            </a:r>
            <a:r>
              <a:rPr lang="en-GB" altLang="zh-CN" sz="2400" dirty="0" err="1"/>
              <a:t>ResNet</a:t>
            </a:r>
            <a:r>
              <a:rPr lang="zh-CN" altLang="en-GB" sz="2400" dirty="0"/>
              <a:t>），</a:t>
            </a:r>
            <a:r>
              <a:rPr lang="zh-CN" altLang="en-US" sz="2400" dirty="0"/>
              <a:t>作为模型的“主干”负责将原始图像转化为高维特征向量，旨在捕捉图像中核心的语义内容。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SimCLR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022" y="2684020"/>
            <a:ext cx="7109920" cy="3003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5058" y="2827042"/>
            <a:ext cx="4061920" cy="286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37802" y="1388626"/>
            <a:ext cx="11516396" cy="108953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b="1" dirty="0"/>
              <a:t>投影头（</a:t>
            </a:r>
            <a:r>
              <a:rPr lang="en-GB" altLang="zh-CN" sz="2400" b="1" dirty="0"/>
              <a:t>Projector</a:t>
            </a:r>
            <a:r>
              <a:rPr lang="zh-CN" altLang="en-US" sz="2400" b="1" dirty="0"/>
              <a:t>）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 </a:t>
            </a:r>
            <a:r>
              <a:rPr lang="zh-CN" altLang="en-US" sz="2400" dirty="0"/>
              <a:t>专门负责吸收和过滤掉那些对对比任务有用、但对通用识别没用的冗余信息（颜色、位置），保护前面的编码器能学到更纯净、更本质的语义特征。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SimCLR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7170" name="Picture 2" descr="论文阅读笔记（6）---SimCLR_simclr使用-CSDN博客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35"/>
          <a:stretch>
            <a:fillRect/>
          </a:stretch>
        </p:blipFill>
        <p:spPr bwMode="auto">
          <a:xfrm>
            <a:off x="1419607" y="2684020"/>
            <a:ext cx="9505186" cy="3897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7089913" y="3273287"/>
            <a:ext cx="1736035" cy="609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37802" y="1627386"/>
            <a:ext cx="11516396" cy="1208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b="1" dirty="0"/>
              <a:t>对比损失（</a:t>
            </a:r>
            <a:r>
              <a:rPr lang="en-GB" altLang="zh-CN" sz="2400" b="1" dirty="0"/>
              <a:t>NT-</a:t>
            </a:r>
            <a:r>
              <a:rPr lang="en-GB" altLang="zh-CN" sz="2400" b="1" dirty="0" err="1"/>
              <a:t>Xent</a:t>
            </a:r>
            <a:r>
              <a:rPr lang="en-GB" altLang="zh-CN" sz="2400" b="1" dirty="0"/>
              <a:t> </a:t>
            </a:r>
            <a:r>
              <a:rPr lang="zh-CN" altLang="en-US" sz="2400" b="1" dirty="0"/>
              <a:t>损失）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 </a:t>
            </a:r>
            <a:r>
              <a:rPr lang="zh-CN" altLang="en-US" sz="2400" dirty="0"/>
              <a:t>最大化同一图像不同增强视图（正样本对）之间的相似度，同时最小化不同图像（负样本对）之间的相似度。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SimCLR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407" y="4517635"/>
            <a:ext cx="7024790" cy="140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407" y="3212117"/>
            <a:ext cx="7024791" cy="982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02" y="3258804"/>
            <a:ext cx="4178300" cy="88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0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02" y="5131837"/>
            <a:ext cx="4178300" cy="74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37801" y="1442348"/>
            <a:ext cx="11516396" cy="120857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b="1" dirty="0"/>
              <a:t>下游任务应用</a:t>
            </a:r>
            <a:r>
              <a:rPr lang="en-US" altLang="zh-CN" sz="2400" b="1" dirty="0"/>
              <a:t>:</a:t>
            </a:r>
            <a:r>
              <a:rPr lang="zh-CN" altLang="en-US" sz="2400" b="1" dirty="0"/>
              <a:t> </a:t>
            </a:r>
            <a:r>
              <a:rPr lang="zh-CN" altLang="en-US" sz="2400" dirty="0"/>
              <a:t>经过 </a:t>
            </a:r>
            <a:r>
              <a:rPr lang="en-US" altLang="zh-CN" sz="2400" dirty="0" err="1"/>
              <a:t>SimCLR</a:t>
            </a:r>
            <a:r>
              <a:rPr lang="en-US" altLang="zh-CN" sz="2400" dirty="0"/>
              <a:t> </a:t>
            </a:r>
            <a:r>
              <a:rPr lang="zh-CN" altLang="en-US" sz="2400" dirty="0"/>
              <a:t>训练之后的模型可以用于迁移学习。为此，使用来自基础编码器的表示，这些表示可以很好地应用于像 </a:t>
            </a:r>
            <a:r>
              <a:rPr lang="en-GB" altLang="zh-CN" sz="2400" dirty="0"/>
              <a:t>ImageNet</a:t>
            </a:r>
            <a:r>
              <a:rPr lang="zh-CN" altLang="en-US" sz="2400" dirty="0"/>
              <a:t> 分类这样的下游任务。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SimCLR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801" y="2833725"/>
            <a:ext cx="6381051" cy="353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478" y="2833725"/>
            <a:ext cx="4858719" cy="353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37801" y="1442347"/>
            <a:ext cx="11516396" cy="150914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/>
              <a:t>需要更多负样本的另一种解决方案</a:t>
            </a:r>
            <a:r>
              <a:rPr lang="en-US" altLang="zh-CN" sz="2400" b="1" dirty="0"/>
              <a:t>:</a:t>
            </a:r>
            <a:r>
              <a:rPr lang="zh-CN" altLang="en-US" sz="2400" dirty="0"/>
              <a:t>引入样本队列记住负样本的特征；使用非对称更新的方式，让其中一个</a:t>
            </a:r>
            <a:r>
              <a:rPr lang="en-US" altLang="zh-CN" sz="2400" dirty="0"/>
              <a:t>Encoder</a:t>
            </a:r>
            <a:r>
              <a:rPr lang="zh-CN" altLang="en-US" sz="2400" dirty="0"/>
              <a:t>以动量的形式进行更新</a:t>
            </a:r>
            <a:endParaRPr lang="en-US" altLang="zh-CN" sz="2400" dirty="0"/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FF0000"/>
                </a:solidFill>
              </a:rPr>
              <a:t>注：</a:t>
            </a:r>
            <a:r>
              <a:rPr lang="en-US" altLang="zh-CN" sz="2400" dirty="0" err="1">
                <a:solidFill>
                  <a:srgbClr val="FF0000"/>
                </a:solidFill>
              </a:rPr>
              <a:t>SimCLR</a:t>
            </a:r>
            <a:r>
              <a:rPr lang="zh-CN" altLang="en-US" sz="2400" dirty="0">
                <a:solidFill>
                  <a:srgbClr val="FF0000"/>
                </a:solidFill>
              </a:rPr>
              <a:t>发表更晚消融更全面，发现算力充足不如直接开大</a:t>
            </a:r>
            <a:r>
              <a:rPr lang="en-US" altLang="zh-CN" sz="2400" dirty="0">
                <a:solidFill>
                  <a:srgbClr val="FF0000"/>
                </a:solidFill>
              </a:rPr>
              <a:t>Batch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MoCo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——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动量更新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Encoder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934807B-9B67-C04B-B39B-B906189C5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338" y="3015048"/>
            <a:ext cx="4038600" cy="329057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49ED6EE-CF82-7F46-A4C9-2CBFABF69AA3}"/>
              </a:ext>
            </a:extLst>
          </p:cNvPr>
          <p:cNvSpPr txBox="1"/>
          <p:nvPr/>
        </p:nvSpPr>
        <p:spPr>
          <a:xfrm>
            <a:off x="6255567" y="4120512"/>
            <a:ext cx="5355771" cy="968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/>
              <a:t>2. </a:t>
            </a:r>
            <a:r>
              <a:rPr kumimoji="1" lang="zh-CN" altLang="en-US" sz="2000" dirty="0"/>
              <a:t>让右侧的</a:t>
            </a:r>
            <a:r>
              <a:rPr kumimoji="1" lang="en-US" altLang="zh-CN" sz="2000" dirty="0"/>
              <a:t>Encoder</a:t>
            </a:r>
            <a:r>
              <a:rPr kumimoji="1" lang="zh-CN" altLang="en-US" sz="2000" dirty="0"/>
              <a:t>以</a:t>
            </a:r>
            <a:r>
              <a:rPr kumimoji="1" lang="en-US" altLang="zh-CN" sz="2000" dirty="0"/>
              <a:t>Exponential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Moving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Average</a:t>
            </a:r>
            <a:r>
              <a:rPr kumimoji="1" lang="zh-CN" altLang="en-US" sz="2000" dirty="0"/>
              <a:t>的方式逐步更新：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556908F-CCA0-8749-AE3C-2DDF5113B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298" y="5089239"/>
            <a:ext cx="3871686" cy="6537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A7D029-5D3E-514F-B0F4-E1A16F8A2735}"/>
                  </a:ext>
                </a:extLst>
              </p:cNvPr>
              <p:cNvSpPr txBox="1"/>
              <p:nvPr/>
            </p:nvSpPr>
            <p:spPr>
              <a:xfrm>
                <a:off x="4659086" y="5010705"/>
                <a:ext cx="3773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8A7D029-5D3E-514F-B0F4-E1A16F8A2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086" y="5010705"/>
                <a:ext cx="37737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2852CF8-EEA9-B049-9380-450AD15DDA9D}"/>
                  </a:ext>
                </a:extLst>
              </p:cNvPr>
              <p:cNvSpPr txBox="1"/>
              <p:nvPr/>
            </p:nvSpPr>
            <p:spPr>
              <a:xfrm>
                <a:off x="2300513" y="5034858"/>
                <a:ext cx="377371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kumimoji="1"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2852CF8-EEA9-B049-9380-450AD15DD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513" y="5034858"/>
                <a:ext cx="377371" cy="390748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7CB4BDAD-51EE-FE42-943B-B3064C5309D8}"/>
              </a:ext>
            </a:extLst>
          </p:cNvPr>
          <p:cNvSpPr txBox="1"/>
          <p:nvPr/>
        </p:nvSpPr>
        <p:spPr>
          <a:xfrm>
            <a:off x="6255568" y="3411303"/>
            <a:ext cx="5355771" cy="507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/>
              <a:t>1. </a:t>
            </a:r>
            <a:r>
              <a:rPr kumimoji="1" lang="zh-CN" altLang="en-US" sz="2000" dirty="0"/>
              <a:t>引入一个队列记住</a:t>
            </a:r>
            <a:r>
              <a:rPr kumimoji="1" lang="en-US" altLang="zh-CN" sz="2000" dirty="0"/>
              <a:t>mini-batch</a:t>
            </a:r>
            <a:r>
              <a:rPr kumimoji="1" lang="zh-CN" altLang="en-US" sz="2000" dirty="0"/>
              <a:t>的负样本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6CFD53-4C85-4F43-B513-C8071A5ECCA9}"/>
              </a:ext>
            </a:extLst>
          </p:cNvPr>
          <p:cNvSpPr txBox="1"/>
          <p:nvPr/>
        </p:nvSpPr>
        <p:spPr>
          <a:xfrm>
            <a:off x="6255566" y="5777230"/>
            <a:ext cx="5355771" cy="507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000" dirty="0"/>
              <a:t>3. </a:t>
            </a:r>
            <a:r>
              <a:rPr kumimoji="1" lang="zh-CN" altLang="en-US" sz="2000" dirty="0"/>
              <a:t>把当前的</a:t>
            </a:r>
            <a:r>
              <a:rPr kumimoji="1" lang="en-US" altLang="zh-CN" sz="2000" dirty="0"/>
              <a:t>key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feature</a:t>
            </a:r>
            <a:r>
              <a:rPr kumimoji="1" lang="zh-CN" altLang="en-US" sz="2000" dirty="0"/>
              <a:t>压入队列中</a:t>
            </a:r>
          </a:p>
        </p:txBody>
      </p:sp>
    </p:spTree>
    <p:extLst>
      <p:ext uri="{BB962C8B-B14F-4D97-AF65-F5344CB8AC3E}">
        <p14:creationId xmlns:p14="http://schemas.microsoft.com/office/powerpoint/2010/main" val="13030452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对比学习家族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BE4FDFC-7C67-A240-8ACA-8EB9926DB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3027"/>
            <a:ext cx="12192000" cy="430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927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3126463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312897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19701" y="3187514"/>
            <a:ext cx="11892190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三、单词的表征学习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48640" y="1869178"/>
            <a:ext cx="11132848" cy="334290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在传统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NLP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中，每个单词可以被看作离散的符号，这些符号可以被表示为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One-hot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向量形式：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该向量的维度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词表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Vocabulary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中词汇的数量（如，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500000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One-hot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向量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67942" y="3079410"/>
            <a:ext cx="48966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火车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[0, 0, 0, 0, 0, 1, 0, 0]</a:t>
            </a:r>
          </a:p>
          <a:p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高铁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[0, 0, 0, 1, 0, 0, 0, 0]</a:t>
            </a:r>
            <a:endParaRPr lang="zh-CN" altLang="en-US" sz="24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48640" y="1869178"/>
            <a:ext cx="11132848" cy="256981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当我们想要搜索“去杭州的火车”时，也隐含了我们想搜索“去杭州的高铁”，但是在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One-hot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表征下“火车”和“高铁”是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——One-hot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向量无法体现语义相似度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从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One-hot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到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Embedding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059382" y="3316185"/>
            <a:ext cx="46274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火车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[0, 0, 0, 0, 0, 1, 0, 0]</a:t>
            </a:r>
          </a:p>
          <a:p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高铁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[0, 0, 0, 1, 0, 0, 0, 0]</a:t>
            </a:r>
            <a:endParaRPr lang="zh-CN" altLang="en-US" sz="24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548640" y="4962697"/>
            <a:ext cx="11132848" cy="73152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解决方案：通过表征学习得到能够包含词汇语义的表征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48640" y="1869178"/>
            <a:ext cx="11132848" cy="688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一个词的含义是由经常出现在它附近的词语决定的</a:t>
            </a: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通过上下文表示单词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7" name="图片 6" descr="图形用户界面, 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087" y="2809164"/>
            <a:ext cx="10379825" cy="240826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Word2vec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5" name="图片 4" descr="表格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699" y="1718944"/>
            <a:ext cx="6566058" cy="326499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609800" y="5435201"/>
            <a:ext cx="5983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Word2vec (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Mikolov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et al. 2013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ICLR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Workshop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Word2vec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算法的思想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605776" y="1346234"/>
            <a:ext cx="11132848" cy="73152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统计语言模型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最大化文本语料的概率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885927" y="2241225"/>
                <a:ext cx="10572546" cy="41687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什么叫做一个句子的概率呢？假设</a:t>
                </a:r>
                <a14:m>
                  <m:oMath xmlns:m="http://schemas.openxmlformats.org/officeDocument/2006/math">
                    <m:r>
                      <a:rPr lang="zh-CN" altLang="en-US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 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𝑊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=(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 err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 err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</m:sub>
                    </m:sSub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en-GB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表示由 </a:t>
                </a:r>
                <a:r>
                  <a:rPr lang="en-GB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 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个词 </a:t>
                </a:r>
                <a:r>
                  <a:rPr lang="en-US" altLang="zh-CN" sz="2000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GB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GB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 err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 err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按顺序构成的一个句子，则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GB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GB" altLang="zh-CN" sz="2000" i="1" dirty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 err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 err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的联合概率为：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𝑝</m:t>
                      </m:r>
                      <m:r>
                        <a:rPr lang="en-GB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GB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𝑊</m:t>
                      </m:r>
                      <m:r>
                        <a:rPr lang="en-GB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)=</m:t>
                      </m:r>
                      <m:r>
                        <a:rPr lang="en-GB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𝑝</m:t>
                      </m:r>
                      <m:r>
                        <a:rPr lang="en-GB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GB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​,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GB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​,…,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sub>
                      </m:sSub>
                      <m:r>
                        <a:rPr lang="en-GB" altLang="zh-CN" sz="20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​)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𝑊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被称为语言模型，即用来计算这个句子概率的模型。利用</a:t>
                </a:r>
                <a:r>
                  <a:rPr lang="en-GB" altLang="zh-CN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Bayes</a:t>
                </a: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公式，上式可以被链式地分解为：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𝑝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𝑊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)=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𝑝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𝑝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∣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𝑝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3</m:t>
                          </m:r>
                        </m:sub>
                      </m:sSub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∣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)⋯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𝑝</m:t>
                      </m:r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(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</m:sub>
                      </m:sSub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∣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1</m:t>
                          </m:r>
                        </m:sub>
                      </m:sSub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2</m:t>
                          </m:r>
                        </m:sub>
                      </m:sSub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,…,</m:t>
                      </m:r>
                      <m:sSub>
                        <m:sSub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𝑤</m:t>
                          </m:r>
                        </m:e>
                        <m:sub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𝑇</m:t>
                          </m:r>
                          <m:r>
                            <a:rPr lang="en-GB" altLang="zh-CN" sz="2000" i="1" dirty="0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−1</m:t>
                          </m:r>
                        </m:sub>
                      </m:sSub>
                      <m:r>
                        <a:rPr lang="en-GB" altLang="zh-CN" sz="200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)</m:t>
                      </m:r>
                    </m:oMath>
                  </m:oMathPara>
                </a14:m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其中的条件概率</a:t>
                </a:r>
                <a14:m>
                  <m:oMath xmlns:m="http://schemas.openxmlformats.org/officeDocument/2006/math"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  <m:d>
                      <m:dPr>
                        <m:ctrlP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  <m:d>
                      <m:dPr>
                        <m:sepChr m:val="∣"/>
                        <m:ctrlP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  <m:d>
                      <m:dPr>
                        <m:sepChr m:val="∣"/>
                        <m:ctrlP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3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1</m:t>
                            </m:r>
                          </m:sub>
                        </m:sSub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𝑤</m:t>
                            </m:r>
                          </m:e>
                          <m:sub>
                            <m:r>
                              <a:rPr lang="en-GB" altLang="zh-CN" sz="2000" i="1" dirty="0" smtClean="0">
                                <a:latin typeface="Cambria Math" panose="02040503050406030204" pitchFamily="18" charset="0"/>
                                <a:ea typeface="微软雅黑" panose="020B0503020204020204" pitchFamily="34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 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</m:sub>
                    </m:sSub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∣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Pr>
                      <m:e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𝑤</m:t>
                        </m:r>
                      </m:e>
                      <m:sub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𝑇</m:t>
                        </m:r>
                        <m:r>
                          <a:rPr lang="en-GB" altLang="zh-CN" sz="2000" i="1" dirty="0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−1</m:t>
                        </m:r>
                      </m:sub>
                    </m:sSub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就是语言模型的参数，若这些参数已经全部算得，那么给定一个句子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𝑊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，就可以很快地计算出相应地概率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𝑝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(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𝑊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了。</a:t>
                </a:r>
                <a:endParaRPr lang="en-US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927" y="2241225"/>
                <a:ext cx="10572546" cy="4168705"/>
              </a:xfrm>
              <a:prstGeom prst="rect">
                <a:avLst/>
              </a:prstGeom>
              <a:blipFill rotWithShape="1">
                <a:blip r:embed="rId3"/>
                <a:stretch>
                  <a:fillRect l="-1" t="-7" r="-193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617912" y="2241225"/>
            <a:ext cx="11132848" cy="443999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86656" y="6225264"/>
            <a:ext cx="366979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词表为</a:t>
            </a:r>
            <a:r>
              <a:rPr kumimoji="1" lang="en-US" altLang="zh-CN" b="1" dirty="0">
                <a:solidFill>
                  <a:srgbClr val="FF0000"/>
                </a:solidFill>
              </a:rPr>
              <a:t>N</a:t>
            </a:r>
            <a:r>
              <a:rPr kumimoji="1" lang="zh-CN" altLang="en-US" b="1" dirty="0">
                <a:solidFill>
                  <a:srgbClr val="FF0000"/>
                </a:solidFill>
              </a:rPr>
              <a:t>次共有</a:t>
            </a:r>
            <a:r>
              <a:rPr kumimoji="1" lang="en-US" altLang="zh-CN" b="1" dirty="0">
                <a:solidFill>
                  <a:srgbClr val="FF0000"/>
                </a:solidFill>
              </a:rPr>
              <a:t>N^T</a:t>
            </a:r>
            <a:r>
              <a:rPr kumimoji="1" lang="zh-CN" altLang="en-US" b="1" dirty="0">
                <a:solidFill>
                  <a:srgbClr val="FF0000"/>
                </a:solidFill>
              </a:rPr>
              <a:t>的可能性！！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Word2vec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算法的思想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48640" y="1869177"/>
            <a:ext cx="11132848" cy="414923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前提：有一个大的语料库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词表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Vocabulary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中每个单词由一个向量表示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对于文本中的每个位置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，有一个中心词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和上下文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的向量相似度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，来计算当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中心词是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时上下文是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（或当上下文是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时中心词是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调整单词的向量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，使得语料库中上述概率最大化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Word2vec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算法的思想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6" name="图片 5" descr="图示&#10;&#10;AI 生成的内容可能不正确。"/>
          <p:cNvPicPr>
            <a:picLocks noChangeAspect="1"/>
          </p:cNvPicPr>
          <p:nvPr/>
        </p:nvPicPr>
        <p:blipFill>
          <a:blip r:embed="rId3"/>
          <a:srcRect l="53071"/>
          <a:stretch>
            <a:fillRect/>
          </a:stretch>
        </p:blipFill>
        <p:spPr>
          <a:xfrm>
            <a:off x="1288473" y="2346270"/>
            <a:ext cx="3466408" cy="4283898"/>
          </a:xfrm>
          <a:prstGeom prst="rect">
            <a:avLst/>
          </a:prstGeom>
        </p:spPr>
      </p:pic>
      <p:pic>
        <p:nvPicPr>
          <p:cNvPr id="4" name="图片 3" descr="图示&#10;&#10;AI 生成的内容可能不正确。"/>
          <p:cNvPicPr>
            <a:picLocks noChangeAspect="1"/>
          </p:cNvPicPr>
          <p:nvPr/>
        </p:nvPicPr>
        <p:blipFill>
          <a:blip r:embed="rId3"/>
          <a:srcRect r="51243"/>
          <a:stretch>
            <a:fillRect/>
          </a:stretch>
        </p:blipFill>
        <p:spPr>
          <a:xfrm>
            <a:off x="5408817" y="2346270"/>
            <a:ext cx="3601460" cy="428389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605776" y="1346234"/>
            <a:ext cx="11132848" cy="73152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两种变体：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Skip-gram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（中心词预测上下文）；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CBOW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（上下文预测中心词）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46439" y="5936286"/>
            <a:ext cx="3021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下面以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Skip-gram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为例介绍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（避免高频词淹没）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Word2vec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算法的思想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5" name="图片 4" descr="图示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897" y="1845426"/>
            <a:ext cx="7979443" cy="384048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73329" y="1654232"/>
            <a:ext cx="10956175" cy="440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Word2vec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算法的思想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 descr="图示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597" y="1828800"/>
            <a:ext cx="8734560" cy="378372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73329" y="1654232"/>
            <a:ext cx="10956175" cy="440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Word2vec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算法的目标函数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5" name="图片 4" descr="图示, 文本&#10;&#10;AI 生成的内容可能不正确。"/>
          <p:cNvPicPr>
            <a:picLocks noChangeAspect="1"/>
          </p:cNvPicPr>
          <p:nvPr/>
        </p:nvPicPr>
        <p:blipFill>
          <a:blip r:embed="rId3"/>
          <a:srcRect t="1393" b="58156"/>
          <a:stretch>
            <a:fillRect/>
          </a:stretch>
        </p:blipFill>
        <p:spPr>
          <a:xfrm>
            <a:off x="1140417" y="2000243"/>
            <a:ext cx="7869005" cy="1528510"/>
          </a:xfrm>
          <a:prstGeom prst="rect">
            <a:avLst/>
          </a:prstGeom>
        </p:spPr>
      </p:pic>
      <p:pic>
        <p:nvPicPr>
          <p:cNvPr id="6" name="图片 5" descr="图示, 文本&#10;&#10;AI 生成的内容可能不正确。"/>
          <p:cNvPicPr>
            <a:picLocks noChangeAspect="1"/>
          </p:cNvPicPr>
          <p:nvPr/>
        </p:nvPicPr>
        <p:blipFill>
          <a:blip r:embed="rId3"/>
          <a:srcRect t="65101"/>
          <a:stretch>
            <a:fillRect/>
          </a:stretch>
        </p:blipFill>
        <p:spPr>
          <a:xfrm>
            <a:off x="1140416" y="4385732"/>
            <a:ext cx="7869005" cy="131870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70916" y="2263619"/>
            <a:ext cx="3150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：单词在文本中的位置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：上下文窗口的大小，如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zh-CN" altLang="en-US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3329" y="1654232"/>
            <a:ext cx="10956175" cy="44057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4729942" y="3610230"/>
            <a:ext cx="0" cy="623764"/>
          </a:xfrm>
          <a:prstGeom prst="straightConnector1">
            <a:avLst/>
          </a:prstGeom>
          <a:ln w="762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074918" y="3666038"/>
            <a:ext cx="325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平均，得到损失函数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Word2vec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算法的目标函数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958733" y="1867202"/>
                <a:ext cx="10404765" cy="19687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问题：如何计算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？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Tx/>
                  <a:buChar char="-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对于每个单词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，用一个中心词向量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和一个上下文向量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来表示</a:t>
                </a: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Tx/>
                  <a:buChar char="-"/>
                </a:pPr>
                <a:endPara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>
                  <a:buFontTx/>
                  <a:buChar char="-"/>
                </a:pP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则该概率可以用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softmax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函数计算：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33" y="1867202"/>
                <a:ext cx="10404765" cy="1968744"/>
              </a:xfrm>
              <a:prstGeom prst="rect">
                <a:avLst/>
              </a:prstGeom>
              <a:blipFill rotWithShape="1">
                <a:blip r:embed="rId3"/>
                <a:stretch>
                  <a:fillRect l="-5" t="-15" r="2" b="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673329" y="1654233"/>
            <a:ext cx="10956175" cy="426443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514864" y="4575152"/>
            <a:ext cx="3848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表示词表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Vocabulary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中的所有单词</a:t>
            </a:r>
          </a:p>
        </p:txBody>
      </p:sp>
      <p:pic>
        <p:nvPicPr>
          <p:cNvPr id="4" name="图片 3" descr="图片包含 文本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208" y="4169129"/>
            <a:ext cx="3848634" cy="104837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514864" y="3805080"/>
            <a:ext cx="38486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中心词向量和上下文向量分开更加灵活，有利于模型优化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Word2vec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算法的优化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——Negative Sampling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8733" y="1850576"/>
            <a:ext cx="10404765" cy="2722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对于每一个上下文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，需要计算其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与词表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中所有单词的相似度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，复杂度极高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如何解决？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无需计算词表中所有单词，采样负样本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多分类 → 多个二分类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73329" y="1654232"/>
            <a:ext cx="10956175" cy="46513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7589678" y="3685497"/>
                <a:ext cx="3848634" cy="14804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sSup>
                      <m:sSupPr>
                        <m:ctrlP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0.75</m:t>
                        </m:r>
                      </m:sup>
                    </m:sSup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表示</m:t>
                    </m:r>
                  </m:oMath>
                </a14:m>
                <a:r>
                  <a:rPr lang="zh-CN" altLang="en-US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单词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zh-CN" altLang="en-US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在语料库中出现的频率，降低常用词被采样的概率</a:t>
                </a:r>
                <a:endParaRPr lang="en-US" altLang="zh-CN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endParaRPr lang="en-US" altLang="zh-CN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一般取</a:t>
                </a:r>
                <a:r>
                  <a:rPr lang="en-US" altLang="zh-CN" dirty="0">
                    <a:solidFill>
                      <a:srgbClr val="7030A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5~20</a:t>
                </a:r>
                <a:endParaRPr lang="zh-CN" altLang="en-US" dirty="0">
                  <a:solidFill>
                    <a:srgbClr val="7030A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9678" y="3685497"/>
                <a:ext cx="3848634" cy="1480405"/>
              </a:xfrm>
              <a:prstGeom prst="rect">
                <a:avLst/>
              </a:prstGeom>
              <a:blipFill rotWithShape="1">
                <a:blip r:embed="rId3"/>
                <a:stretch>
                  <a:fillRect l="-4" t="-40" r="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示, 示意图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656" y="4650163"/>
            <a:ext cx="5714286" cy="852381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65968" y="5604680"/>
            <a:ext cx="9099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鼓励真实的上下文其向量相似度与中心词高，其他的负样本向量相似度与中心词低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Word2vec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算法的优化</a:t>
            </a:r>
            <a:r>
              <a:rPr lang="en-US" altLang="zh-CN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——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层次</a:t>
            </a:r>
            <a:r>
              <a:rPr lang="en-US" altLang="zh-CN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Softmax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58733" y="1850576"/>
            <a:ext cx="5322797" cy="44867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另一个解决方案：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多分类 → 多个二分类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构建二叉树，每个叶子节点对应词表中的一个单词，非叶子节点为二分类器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转化为中心词向量从根节点一直到叶子节点二分类概率的连乘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优化：使用基于词频的</a:t>
            </a:r>
            <a:r>
              <a:rPr lang="en-US" altLang="zh-CN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Huffman</a:t>
            </a:r>
            <a:r>
              <a:rPr lang="zh-CN" altLang="en-US" sz="2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树，高词频对应更短的路径，加快速度</a:t>
            </a:r>
            <a:endParaRPr lang="en-US" altLang="zh-CN" sz="24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73329" y="1654232"/>
            <a:ext cx="10956175" cy="48459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t="13804"/>
          <a:stretch>
            <a:fillRect/>
          </a:stretch>
        </p:blipFill>
        <p:spPr>
          <a:xfrm>
            <a:off x="6636516" y="1935062"/>
            <a:ext cx="4840710" cy="417253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从局部上下文预测到全局统计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05776" y="1570677"/>
            <a:ext cx="11132848" cy="73152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语义关系是否可以直接从“全局统计结构”中恢复？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GloVe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 descr="文本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634" y="2846481"/>
            <a:ext cx="9447131" cy="200250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950622" y="5250171"/>
            <a:ext cx="5983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GloVe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(Pennington et al. 2014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EMNLP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从局部上下文预测到全局统计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605776" y="1570677"/>
            <a:ext cx="11132848" cy="73152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现象：单词共现矩阵（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co-occurrence matrix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）蕴含了相似度语义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 descr="表格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74" y="2947323"/>
            <a:ext cx="5000211" cy="2340000"/>
          </a:xfrm>
          <a:prstGeom prst="rect">
            <a:avLst/>
          </a:prstGeom>
        </p:spPr>
      </p:pic>
      <p:pic>
        <p:nvPicPr>
          <p:cNvPr id="7" name="图片 6" descr="表格&#10;&#10;AI 生成的内容可能不正确。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517" y="2947323"/>
            <a:ext cx="5130481" cy="23400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05776" y="2527069"/>
            <a:ext cx="11132847" cy="321702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spc="-1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GloVe</a:t>
            </a: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算法的思想与目标函数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5776" y="1745672"/>
            <a:ext cx="11132847" cy="444730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 descr="图示, 示意图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403" y="2397667"/>
            <a:ext cx="4104540" cy="744808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09104" y="1867202"/>
            <a:ext cx="10404765" cy="416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核心思想：学习表征向量使单词之间的向量相似度拟合共现次数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目标函数：最小化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：共现矩阵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：中心词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：上下文词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：可学习的单词向量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对词频进行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log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缩小频率差距；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：偏置项，提高拟合的灵活性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Tx/>
              <a:buChar char="-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是权重参数，平衡高频词和低频词的训练比重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605776" y="1433131"/>
            <a:ext cx="11132848" cy="57854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woman – man + king = queen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表征的线性结构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8" name="图片 7" descr="图表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4911" y="2211185"/>
            <a:ext cx="5894577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3126463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312897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19701" y="3187916"/>
            <a:ext cx="11892190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四、文本数据的自监督学习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5000" y="2168398"/>
            <a:ext cx="1204763" cy="432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120015" y="553085"/>
            <a:ext cx="830643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RNN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基本概念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415203" y="6392198"/>
            <a:ext cx="5259405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/>
              <a:t>注：本节课我们不关注具体架构细节</a:t>
            </a:r>
          </a:p>
        </p:txBody>
      </p:sp>
      <p:sp>
        <p:nvSpPr>
          <p:cNvPr id="5" name="矩形 4"/>
          <p:cNvSpPr/>
          <p:nvPr/>
        </p:nvSpPr>
        <p:spPr>
          <a:xfrm>
            <a:off x="673330" y="1479666"/>
            <a:ext cx="5300750" cy="4825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43280" y="1788795"/>
            <a:ext cx="4970145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RNN (Recurrent Neural Networks)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需要针对序列数据的上下文连续建模能力</a:t>
            </a:r>
          </a:p>
          <a:p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当前时刻的输出同时取决于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当前输入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前一时刻的隐藏状态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，递归传递历史信息</a:t>
            </a:r>
          </a:p>
        </p:txBody>
      </p:sp>
      <p:sp>
        <p:nvSpPr>
          <p:cNvPr id="8" name="矩形 7"/>
          <p:cNvSpPr/>
          <p:nvPr/>
        </p:nvSpPr>
        <p:spPr>
          <a:xfrm>
            <a:off x="6217921" y="1479666"/>
            <a:ext cx="5511338" cy="48259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24355" y="1642377"/>
            <a:ext cx="4989020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 (Long Short-Term Memory)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针对长序列数据，普通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梯度会指数级衰减或膨胀，导致遗忘久远历史信息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遗忘门、输入门和输出门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改进了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的隐藏状态传递方式。进而可以有选择地保留关键信息，丢弃无关内容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27170"/>
            <a:ext cx="4970145" cy="135001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3360" y="3815080"/>
            <a:ext cx="4710430" cy="177482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5396" y="1410160"/>
            <a:ext cx="11132847" cy="51234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5000" y="2168398"/>
            <a:ext cx="1204763" cy="432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120015" y="553085"/>
            <a:ext cx="9898628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可扩展序列建模基座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809625" y="1692910"/>
            <a:ext cx="6793865" cy="4557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555" tIns="56860" rIns="115555" bIns="56860"/>
          <a:lstStyle>
            <a:lvl1pPr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rgbClr val="000066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300" b="1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 RNN/CNN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序列建模并行性、长程依赖差</a:t>
            </a:r>
            <a:endParaRPr lang="zh-CN" altLang="en-US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" panose="02020603050405020304" pitchFamily="18" charset="0"/>
            </a:endParaRPr>
          </a:p>
          <a:p>
            <a:pPr indent="0"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endParaRPr lang="en-US" altLang="zh-CN" sz="2400" b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" panose="02020603050405020304" pitchFamily="18" charset="0"/>
            </a:endParaRPr>
          </a:p>
          <a:p>
            <a:pPr marL="430530" indent="-430530">
              <a:buClr>
                <a:srgbClr val="142C68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4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Self-Attention+</a:t>
            </a:r>
            <a:r>
              <a:rPr lang="zh-CN" altLang="en-US" sz="24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并行训练</a:t>
            </a:r>
            <a:r>
              <a:rPr lang="en-US" altLang="zh-CN" sz="24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 → “</a:t>
            </a:r>
            <a:r>
              <a:rPr lang="zh-CN" altLang="en-US" sz="24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规模化预训练</a:t>
            </a:r>
            <a:r>
              <a:rPr lang="en-US" altLang="zh-CN" sz="240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”</a:t>
            </a:r>
          </a:p>
          <a:p>
            <a:pPr lvl="1">
              <a:buClr>
                <a:srgbClr val="142C68"/>
              </a:buClr>
              <a:buFont typeface="Wingdings" panose="05000000000000000000" charset="0"/>
              <a:buChar char="Ø"/>
              <a:defRPr/>
            </a:pPr>
            <a:r>
              <a:rPr lang="zh-CN" altLang="en-US" sz="208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突破并行瓶颈：</a:t>
            </a:r>
            <a:r>
              <a:rPr lang="zh-CN" altLang="en-US" sz="208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允许序列中所有位置同时计算。</a:t>
            </a:r>
          </a:p>
          <a:p>
            <a:pPr lvl="1">
              <a:buClr>
                <a:srgbClr val="142C68"/>
              </a:buClr>
              <a:buFont typeface="Wingdings" panose="05000000000000000000" charset="0"/>
              <a:buChar char="Ø"/>
              <a:defRPr/>
            </a:pPr>
            <a:r>
              <a:rPr lang="zh-CN" altLang="en-US" sz="208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解决长程依赖：</a:t>
            </a:r>
            <a:r>
              <a:rPr lang="zh-CN" altLang="en-US" sz="208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任意两个词的距离都被视为</a:t>
            </a:r>
            <a:r>
              <a:rPr lang="en-US" altLang="zh-CN" sz="208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 1.</a:t>
            </a:r>
            <a:endParaRPr lang="zh-CN" altLang="en-US" sz="2080" b="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" panose="02020603050405020304" pitchFamily="18" charset="0"/>
            </a:endParaRPr>
          </a:p>
          <a:p>
            <a:pPr lvl="1">
              <a:buClr>
                <a:srgbClr val="142C68"/>
              </a:buClr>
              <a:buFont typeface="Wingdings" panose="05000000000000000000" charset="0"/>
              <a:buChar char="Ø"/>
              <a:defRPr/>
            </a:pPr>
            <a:r>
              <a:rPr lang="zh-CN" altLang="en-US" sz="208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开启</a:t>
            </a:r>
            <a:r>
              <a:rPr lang="en-US" altLang="zh-CN" sz="208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Scaling Law</a:t>
            </a:r>
            <a:r>
              <a:rPr lang="zh-CN" altLang="en-US" sz="208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：</a:t>
            </a:r>
            <a:r>
              <a:rPr lang="zh-CN" altLang="en-US" sz="2080" b="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使得利用海量数据训练超大参数模型成为可能。</a:t>
            </a:r>
            <a:endParaRPr lang="en-US" altLang="zh-CN" sz="2400" b="0" dirty="0" err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" panose="02020603050405020304" pitchFamily="18" charset="0"/>
            </a:endParaRPr>
          </a:p>
          <a:p>
            <a:pPr marL="430530" indent="-430530">
              <a:buClr>
                <a:srgbClr val="142C68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Attention Is All You Need</a:t>
            </a:r>
          </a:p>
          <a:p>
            <a:pPr marL="914400" lvl="1" indent="-457200">
              <a:buClr>
                <a:srgbClr val="142C68"/>
              </a:buClr>
              <a:buFont typeface="Wingdings" panose="05000000000000000000" charset="0"/>
              <a:buChar char="Ø"/>
              <a:defRPr/>
            </a:pPr>
            <a:r>
              <a:rPr lang="zh-CN" altLang="en-US" sz="208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核心思想</a:t>
            </a:r>
            <a:r>
              <a:rPr lang="zh-CN" altLang="en-US" sz="208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：不再需要复杂的循环神经网络或卷积神经网络来提取表征。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0" y="1524000"/>
            <a:ext cx="3223260" cy="48958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799763" y="6022628"/>
            <a:ext cx="5259405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/>
              <a:t>注：本节课我们不关注具体架构细节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4" y="553085"/>
            <a:ext cx="1181798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ELMo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548640" y="1436916"/>
            <a:ext cx="11132848" cy="688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Word2Vec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为每个词赋予唯一向量，无法解决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一词多义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，下游依赖大量人工标注。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02030" y="2397125"/>
            <a:ext cx="9347366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indent="0">
              <a:buFont typeface="Wingdings" panose="05000000000000000000" charset="0"/>
              <a:buNone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ELMo (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Embeddings from Language Models)</a:t>
            </a:r>
          </a:p>
          <a:p>
            <a:pPr marL="0" lvl="2" indent="0">
              <a:buFont typeface="Wingdings" panose="05000000000000000000" charset="0"/>
              <a:buChar char="Ø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训练两个独立方向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（左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右和右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左），将同一词在两组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顶层产生的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隐藏状态与原始词向量拼接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，形成随上下文动态变化的深层语境化表征</a:t>
            </a:r>
          </a:p>
        </p:txBody>
      </p:sp>
      <p:sp>
        <p:nvSpPr>
          <p:cNvPr id="32" name="矩形 31"/>
          <p:cNvSpPr/>
          <p:nvPr/>
        </p:nvSpPr>
        <p:spPr>
          <a:xfrm>
            <a:off x="545465" y="2286000"/>
            <a:ext cx="11132820" cy="4247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710" y="3566795"/>
            <a:ext cx="4561205" cy="20154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45565" y="5675630"/>
            <a:ext cx="9366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局限：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由于两个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独立训练、参数不共享，上下文信息仅在最后阶段进行浅层拼接，无法实现词语间的深层双向交互与融合。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5" y="553085"/>
            <a:ext cx="886777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</a:p>
        </p:txBody>
      </p:sp>
      <p:sp>
        <p:nvSpPr>
          <p:cNvPr id="2" name="矩形 1"/>
          <p:cNvSpPr/>
          <p:nvPr/>
        </p:nvSpPr>
        <p:spPr>
          <a:xfrm>
            <a:off x="545465" y="1508125"/>
            <a:ext cx="11132820" cy="147828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895350" y="1577975"/>
            <a:ext cx="10527665" cy="1306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555" tIns="56860" rIns="115555" bIns="56860"/>
          <a:lstStyle>
            <a:lvl1pPr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rgbClr val="000066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300" b="1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buClr>
                <a:srgbClr val="000000"/>
              </a:buClr>
              <a:buNone/>
              <a:defRPr/>
            </a:pPr>
            <a:r>
              <a:rPr lang="en-US" altLang="zh-CN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BERT (Bidirectional Encoder Representations from Transformers) </a:t>
            </a:r>
            <a:r>
              <a:rPr lang="zh-CN" altLang="en-US" sz="24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旨在通过自注意力使每一层都同时编码两侧上下文，实现更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深层的双向理解</a:t>
            </a:r>
          </a:p>
        </p:txBody>
      </p:sp>
      <p:pic>
        <p:nvPicPr>
          <p:cNvPr id="1032" name="Picture 8" descr="CS224N笔记(十三):ELMO, GPT与BERT - 知乎">
            <a:extLst>
              <a:ext uri="{FF2B5EF4-FFF2-40B4-BE49-F238E27FC236}">
                <a16:creationId xmlns:a16="http://schemas.microsoft.com/office/drawing/2014/main" id="{637ABB00-F966-A94F-89B0-716F6519F4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59" t="-405" r="12824" b="56859"/>
          <a:stretch/>
        </p:blipFill>
        <p:spPr bwMode="auto">
          <a:xfrm>
            <a:off x="1436914" y="3600212"/>
            <a:ext cx="5536719" cy="2560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8" descr="CS224N笔记(十三):ELMO, GPT与BERT - 知乎">
            <a:extLst>
              <a:ext uri="{FF2B5EF4-FFF2-40B4-BE49-F238E27FC236}">
                <a16:creationId xmlns:a16="http://schemas.microsoft.com/office/drawing/2014/main" id="{C459548E-6B38-4D42-9718-1A0F9EAFC0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49" r="48429"/>
          <a:stretch/>
        </p:blipFill>
        <p:spPr bwMode="auto">
          <a:xfrm>
            <a:off x="7426574" y="3600212"/>
            <a:ext cx="3328512" cy="272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6337E01-BC92-7345-92E8-2DA37A25A39A}"/>
              </a:ext>
            </a:extLst>
          </p:cNvPr>
          <p:cNvSpPr txBox="1"/>
          <p:nvPr/>
        </p:nvSpPr>
        <p:spPr>
          <a:xfrm>
            <a:off x="3033486" y="6161053"/>
            <a:ext cx="2351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早期</a:t>
            </a:r>
            <a:r>
              <a:rPr kumimoji="1" lang="en-US" altLang="zh-CN" dirty="0"/>
              <a:t>LSTM-</a:t>
            </a:r>
            <a:r>
              <a:rPr kumimoji="1" lang="zh-CN" altLang="en-US" dirty="0"/>
              <a:t>序列预测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57C6D9-3FA7-BA4A-A2E2-F27EA4C53A0F}"/>
              </a:ext>
            </a:extLst>
          </p:cNvPr>
          <p:cNvSpPr txBox="1"/>
          <p:nvPr/>
        </p:nvSpPr>
        <p:spPr>
          <a:xfrm>
            <a:off x="7772399" y="6179495"/>
            <a:ext cx="2772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Transformer-</a:t>
            </a:r>
            <a:r>
              <a:rPr kumimoji="1" lang="zh-CN" altLang="en-US" dirty="0"/>
              <a:t>双向全连接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（更兼容预训练）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4" y="553085"/>
            <a:ext cx="1181798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548640" y="1436916"/>
            <a:ext cx="11132848" cy="688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去噪自编码：随机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掩码，利用上下文重建（完形填空！）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02030" y="2397125"/>
            <a:ext cx="993076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indent="0">
              <a:buFont typeface="Wingdings" panose="05000000000000000000" charset="0"/>
              <a:buChar char="Ø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随机选择输入序列中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15%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进行遮挡处理，迫使模型利用被遮挡位置左右的所有可见上下文来预测原始词汇</a:t>
            </a:r>
          </a:p>
        </p:txBody>
      </p:sp>
      <p:sp>
        <p:nvSpPr>
          <p:cNvPr id="32" name="矩形 31"/>
          <p:cNvSpPr/>
          <p:nvPr/>
        </p:nvSpPr>
        <p:spPr>
          <a:xfrm>
            <a:off x="545465" y="2286000"/>
            <a:ext cx="11132820" cy="4247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88110" y="5793105"/>
            <a:ext cx="94164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通过去噪自编码机制，强制模型深度整合上下文进行语义推理，而非依赖单侧序列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875" y="3420110"/>
            <a:ext cx="2410460" cy="2001520"/>
          </a:xfrm>
          <a:prstGeom prst="rect">
            <a:avLst/>
          </a:prstGeom>
        </p:spPr>
      </p:pic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571585" y="3466465"/>
          <a:ext cx="6475730" cy="194665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62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5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8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05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spc="12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被选中比例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spc="12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处理方式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800" spc="12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目的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80%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选中</a:t>
                      </a:r>
                      <a:r>
                        <a:rPr lang="en-US" altLang="zh-CN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token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替换为</a:t>
                      </a:r>
                      <a:r>
                        <a:rPr lang="en-US" altLang="zh-CN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 [MASK]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主要训练信号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10%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选中</a:t>
                      </a:r>
                      <a:r>
                        <a:rPr lang="en-US" altLang="zh-CN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token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替换为随机</a:t>
                      </a:r>
                      <a:r>
                        <a:rPr lang="en-US" altLang="zh-CN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token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防止模型只学</a:t>
                      </a:r>
                      <a:r>
                        <a:rPr lang="en-US" altLang="zh-CN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mask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10%</a:t>
                      </a:r>
                    </a:p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选中</a:t>
                      </a:r>
                      <a:r>
                        <a:rPr lang="en-US" altLang="zh-CN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token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保持不变</a:t>
                      </a: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500" dirty="0">
                          <a:latin typeface="等线" panose="02010600030101010101" charset="-122"/>
                          <a:ea typeface="Arial" panose="020B0604020202020204" pitchFamily="34" charset="0"/>
                        </a:rPr>
                        <a:t>保持与微调阶段表征对齐</a:t>
                      </a:r>
                    </a:p>
                  </a:txBody>
                  <a:tcPr marL="25400" marR="25400" marT="6350" marB="63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4" y="553085"/>
            <a:ext cx="1181798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核心机制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548640" y="1436916"/>
            <a:ext cx="11132848" cy="688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双向掩码预测：每个被遮挡位置基于双向上下文输出词表概率分布</a:t>
            </a:r>
          </a:p>
        </p:txBody>
      </p:sp>
      <p:sp>
        <p:nvSpPr>
          <p:cNvPr id="6" name="矩形 5"/>
          <p:cNvSpPr/>
          <p:nvPr/>
        </p:nvSpPr>
        <p:spPr>
          <a:xfrm>
            <a:off x="545465" y="2380615"/>
            <a:ext cx="11132820" cy="41529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02030" y="2536825"/>
            <a:ext cx="9918065" cy="892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lvl="2" indent="0">
              <a:buFont typeface="Wingdings" panose="05000000000000000000" charset="0"/>
              <a:buChar char="Ø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Transformer Encoder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输出层，被遮挡位置对应的隐藏向量经简单分类头映射到词表空间，通过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softmax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分布预测原始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0" y="4394200"/>
            <a:ext cx="5740400" cy="5632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7514748" y="3748997"/>
            <a:ext cx="384863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rgbClr val="7030A0"/>
                </a:solidFill>
                <a:latin typeface="Cambria Math" panose="02040503050406030204" pitchFamily="18" charset="0"/>
                <a:ea typeface="华康行楷体 W5" panose="03000509000000000000" charset="-122"/>
                <a:cs typeface="Cambria Math" panose="02040503050406030204" pitchFamily="18" charset="0"/>
              </a:rPr>
              <a:t>M 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是被遮挡位置的索引集合，</a:t>
            </a:r>
            <a:r>
              <a:rPr lang="en-US" altLang="zh-CN" b="1" i="1" dirty="0">
                <a:solidFill>
                  <a:srgbClr val="7030A0"/>
                </a:solidFill>
                <a:latin typeface="Cambria Math" panose="02040503050406030204" pitchFamily="18" charset="0"/>
                <a:ea typeface="微软雅黑" panose="020B0503020204020204" pitchFamily="34" charset="-122"/>
                <a:cs typeface="Cambria Math" panose="02040503050406030204" pitchFamily="18" charset="0"/>
              </a:rPr>
              <a:t>x</a:t>
            </a:r>
            <a:r>
              <a:rPr lang="en-US" altLang="zh-CN" b="1" dirty="0">
                <a:solidFill>
                  <a:srgbClr val="7030A0"/>
                </a:solidFill>
                <a:latin typeface="Cambria Math" panose="02040503050406030204" pitchFamily="18" charset="0"/>
                <a:ea typeface="微软雅黑" panose="020B0503020204020204" pitchFamily="34" charset="-122"/>
                <a:cs typeface="Cambria Math" panose="02040503050406030204" pitchFamily="18" charset="0"/>
              </a:rPr>
              <a:t>\</a:t>
            </a:r>
            <a:r>
              <a:rPr lang="en-US" altLang="zh-CN" b="1" i="1" dirty="0">
                <a:solidFill>
                  <a:srgbClr val="7030A0"/>
                </a:solidFill>
                <a:latin typeface="Cambria Math" panose="02040503050406030204" pitchFamily="18" charset="0"/>
                <a:ea typeface="华康行楷体 W5" panose="03000509000000000000" charset="-122"/>
                <a:cs typeface="Cambria Math" panose="02040503050406030204" pitchFamily="18" charset="0"/>
                <a:sym typeface="+mn-ea"/>
              </a:rPr>
              <a:t>M 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为其余可见token</a:t>
            </a:r>
            <a:r>
              <a:rPr lang="en-US" altLang="zh-CN" b="1" i="1" dirty="0">
                <a:solidFill>
                  <a:srgbClr val="7030A0"/>
                </a:solidFill>
                <a:latin typeface="Cambria Math" panose="02040503050406030204" pitchFamily="18" charset="0"/>
                <a:ea typeface="华康行楷体 W5" panose="03000509000000000000" charset="-122"/>
                <a:cs typeface="Cambria Math" panose="02040503050406030204" pitchFamily="18" charset="0"/>
                <a:sym typeface="+mn-ea"/>
              </a:rPr>
              <a:t> </a:t>
            </a:r>
            <a:endParaRPr lang="zh-CN" altLang="en-US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36065" y="5586730"/>
            <a:ext cx="66554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SzPct val="75000"/>
              <a:buFont typeface="Wingdings" panose="05000000000000000000" charset="0"/>
              <a:buChar char="l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单向生成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双向去噪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，为深度语义理解表征奠定基础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4" y="553085"/>
            <a:ext cx="1181798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优势与应用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24230" y="1815465"/>
            <a:ext cx="9918065" cy="892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lvl="2" indent="0">
              <a:buFont typeface="Wingdings" panose="05000000000000000000" charset="0"/>
              <a:buChar char="Ø"/>
            </a:pPr>
            <a:r>
              <a:rPr lang="en-US" altLang="zh-CN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优势：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通过双向去噪自编码预训练，在多项语言理解基准上显著超越此前的静态词向量与单向模型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95730" y="5586730"/>
            <a:ext cx="93465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SzPct val="75000"/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通过为不同理解任务设计简单的输出层（如分类头或起止位置预测），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表征可直接支持情感分析、语义推理、问答抽取与实体识别等任务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565" y="3133090"/>
            <a:ext cx="10008235" cy="202819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4" y="553085"/>
            <a:ext cx="1181798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BERT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48640" y="2123440"/>
            <a:ext cx="11132820" cy="2611120"/>
            <a:chOff x="864" y="5260"/>
            <a:chExt cx="17532" cy="4112"/>
          </a:xfrm>
        </p:grpSpPr>
        <p:sp>
          <p:nvSpPr>
            <p:cNvPr id="4" name="矩形 3"/>
            <p:cNvSpPr/>
            <p:nvPr/>
          </p:nvSpPr>
          <p:spPr bwMode="auto">
            <a:xfrm>
              <a:off x="864" y="5260"/>
              <a:ext cx="17532" cy="411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925" y="5773"/>
              <a:ext cx="15697" cy="140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lvl="2" indent="0" fontAlgn="auto">
                <a:lnSpc>
                  <a:spcPct val="130000"/>
                </a:lnSpc>
                <a:spcBef>
                  <a:spcPts val="1500"/>
                </a:spcBef>
                <a:buFont typeface="Wingdings" panose="05000000000000000000" charset="0"/>
                <a:buChar char="Ø"/>
              </a:pP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训练规模保守，模型潜力尚未激发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en-US" altLang="zh-CN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Scaling Law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lvl="2" indent="0" fontAlgn="auto">
                <a:lnSpc>
                  <a:spcPct val="130000"/>
                </a:lnSpc>
                <a:spcBef>
                  <a:spcPts val="1500"/>
                </a:spcBef>
                <a:buFont typeface="Wingdings" panose="05000000000000000000" charset="0"/>
                <a:buChar char="Ø"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引入的句级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NSP (Next Sentence Prediction)</a:t>
              </a: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辅助任务以及输入格式可能分散核心掩码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r>
                <a:rPr lang="zh-CN" altLang="en-US" sz="24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消融实验探究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4" y="553085"/>
            <a:ext cx="1181798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RoBERTa——Scaling Law</a:t>
            </a:r>
          </a:p>
        </p:txBody>
      </p:sp>
      <p:sp>
        <p:nvSpPr>
          <p:cNvPr id="32" name="矩形 31"/>
          <p:cNvSpPr/>
          <p:nvPr/>
        </p:nvSpPr>
        <p:spPr>
          <a:xfrm>
            <a:off x="545396" y="1410160"/>
            <a:ext cx="11132847" cy="51234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5000" y="2168398"/>
            <a:ext cx="1204763" cy="432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050925" y="1604010"/>
            <a:ext cx="9206230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555" tIns="56860" rIns="115555" bIns="56860"/>
          <a:lstStyle>
            <a:lvl1pPr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rgbClr val="000066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300" b="1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RoBERTa (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R</a:t>
            </a: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obustly 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o</a:t>
            </a: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ptimized 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BERT a</a:t>
            </a: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pproach) 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在保持</a:t>
            </a: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BERT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架构完全不变的前提下，改变了训练规模：</a:t>
            </a:r>
          </a:p>
          <a:p>
            <a:pPr marL="800100" lvl="1" indent="-342900">
              <a:buClr>
                <a:srgbClr val="000000"/>
              </a:buClr>
              <a:buSzPct val="75000"/>
              <a:buFont typeface="Wingdings" panose="05000000000000000000" charset="0"/>
              <a:buChar char="l"/>
              <a:defRPr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训练数据：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16GB → 160GB</a:t>
            </a:r>
          </a:p>
          <a:p>
            <a:pPr marL="800100" lvl="1" indent="-342900">
              <a:buClr>
                <a:srgbClr val="000000"/>
              </a:buClr>
              <a:buSzPct val="75000"/>
              <a:buFont typeface="Wingdings" panose="05000000000000000000" charset="0"/>
              <a:buChar char="l"/>
              <a:defRPr/>
            </a:pPr>
            <a:r>
              <a:rPr lang="zh-CN" altLang="en-US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步数：</a:t>
            </a:r>
            <a:r>
              <a:rPr lang="en-US" altLang="zh-CN" sz="20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100K → 500K</a:t>
            </a:r>
            <a:endParaRPr lang="zh-CN" altLang="en-US" sz="22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" panose="02020603050405020304" pitchFamily="18" charset="0"/>
            </a:endParaRPr>
          </a:p>
          <a:p>
            <a:pPr indent="0"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endParaRPr lang="zh-CN" altLang="en-US" sz="2200" b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4340" y="3479800"/>
            <a:ext cx="6243320" cy="17678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1395730" y="5586730"/>
            <a:ext cx="93465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SzPct val="75000"/>
              <a:buFont typeface="Wingdings" panose="05000000000000000000" charset="0"/>
              <a:buNone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Scaling Law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架构不变的情况下，仅通过扩大数据规模、增加训练步数，可收获明显性能提升。说明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训练充分性比架构创新更能决定预训练模型上限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4" y="553085"/>
            <a:ext cx="1181798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RoBERTa——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消融探究</a:t>
            </a:r>
          </a:p>
        </p:txBody>
      </p:sp>
      <p:sp>
        <p:nvSpPr>
          <p:cNvPr id="32" name="矩形 31"/>
          <p:cNvSpPr/>
          <p:nvPr/>
        </p:nvSpPr>
        <p:spPr>
          <a:xfrm>
            <a:off x="545396" y="1410160"/>
            <a:ext cx="11132847" cy="51234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5000" y="2168398"/>
            <a:ext cx="1204763" cy="432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611630" y="1756410"/>
            <a:ext cx="9917430" cy="99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555" tIns="56860" rIns="115555" bIns="56860"/>
          <a:lstStyle>
            <a:lvl1pPr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rgbClr val="000066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300" b="1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>
              <a:buClr>
                <a:srgbClr val="C00000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RoBERTa 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移除</a:t>
            </a: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NSP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辅助任务，改变输入格式，进行了消融实验探究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95730" y="5586730"/>
            <a:ext cx="93465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SzPct val="75000"/>
              <a:buFont typeface="Wingdings" panose="05000000000000000000" charset="0"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聚焦学习目标：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预训练任务的设计应聚焦于核心表征学习目标，冗余的辅助任务不仅非必需，还可能干扰模型对深层语义结构的捕捉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045" y="2575560"/>
            <a:ext cx="7058660" cy="254889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5" y="553085"/>
            <a:ext cx="886777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NTP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回归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从理解到生成</a:t>
            </a:r>
          </a:p>
        </p:txBody>
      </p:sp>
      <p:sp>
        <p:nvSpPr>
          <p:cNvPr id="2" name="矩形 1"/>
          <p:cNvSpPr/>
          <p:nvPr/>
        </p:nvSpPr>
        <p:spPr>
          <a:xfrm>
            <a:off x="545465" y="1304925"/>
            <a:ext cx="11132820" cy="1020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895350" y="1374775"/>
            <a:ext cx="10527665" cy="951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555" tIns="56860" rIns="115555" bIns="56860"/>
          <a:lstStyle>
            <a:lvl1pPr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rgbClr val="000066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300" b="1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buClr>
                <a:srgbClr val="000000"/>
              </a:buClr>
              <a:buFont typeface="Wingdings" panose="05000000000000000000" charset="0"/>
              <a:buChar char="Ø"/>
              <a:defRPr/>
            </a:pP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BERT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双向去噪</a:t>
            </a: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——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理解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路线</a:t>
            </a:r>
          </a:p>
          <a:p>
            <a:pPr>
              <a:buClr>
                <a:srgbClr val="000000"/>
              </a:buClr>
              <a:buFont typeface="Wingdings" panose="05000000000000000000" charset="0"/>
              <a:buChar char="Ø"/>
              <a:defRPr/>
            </a:pP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NTP (Next Token Prediction)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单向预测下一个</a:t>
            </a: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token——</a:t>
            </a:r>
            <a:r>
              <a:rPr lang="zh-CN" altLang="en-US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生成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路线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220" y="3454400"/>
            <a:ext cx="4455795" cy="21443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50" y="4180840"/>
            <a:ext cx="5147945" cy="44069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002030" y="2447925"/>
            <a:ext cx="993076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indent="0">
              <a:buFont typeface="Wingdings" panose="05000000000000000000" charset="0"/>
              <a:buNone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NTP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将序列建模为条件概率的连乘积，模型只能依赖左侧已生成内容来推断后续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，这种单向约束使其在生成流畅文本上具有先天优势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95730" y="5828030"/>
            <a:ext cx="88125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SzPct val="75000"/>
              <a:buFont typeface="Wingdings" panose="05000000000000000000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确立了自回归生成的训练范式，为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系列将技术路线从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理解转变为生成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奠定了目标函数基础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5" y="553085"/>
            <a:ext cx="886777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</a:t>
            </a:r>
          </a:p>
        </p:txBody>
      </p:sp>
      <p:sp>
        <p:nvSpPr>
          <p:cNvPr id="2" name="矩形 1"/>
          <p:cNvSpPr/>
          <p:nvPr/>
        </p:nvSpPr>
        <p:spPr>
          <a:xfrm>
            <a:off x="545465" y="1355725"/>
            <a:ext cx="11132820" cy="6921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920750" y="1476375"/>
            <a:ext cx="10527665" cy="62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555" tIns="56860" rIns="115555" bIns="56860"/>
          <a:lstStyle>
            <a:lvl1pPr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rgbClr val="000066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300" b="1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NTP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的规模化与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能力涌现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：</a:t>
            </a: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GPT (Generative Pre-trained Transformer)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系列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123950" y="2200910"/>
            <a:ext cx="9817735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2" indent="-342900">
              <a:buFont typeface="Wingdings" panose="05000000000000000000" charset="0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GPT-1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GPT-3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OpenAI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坚持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decoder-only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自回归架构，通过参数与数据规模的指数级扩展，证明规模化本身足以驱动性能从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需要微调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提升至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上下文即学习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95730" y="5480050"/>
            <a:ext cx="92563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SzPct val="75000"/>
              <a:buFont typeface="Wingdings" panose="05000000000000000000" charset="0"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NTP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从学术验证推向工程化规模化，以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175B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参数宣告大模型时代来临，并催生了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以提示驱动模型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的新交互范式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730" y="3667125"/>
            <a:ext cx="9484360" cy="145351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5" y="553085"/>
            <a:ext cx="886777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ChatGPT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71550" y="1438910"/>
            <a:ext cx="981773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2" indent="-342900">
              <a:buFont typeface="Wingdings" panose="05000000000000000000" charset="0"/>
              <a:buChar char="Ø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GPT-3.5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基础上引入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RLHF (Reinforcement Learning from Human Feedback)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，将模型输出与人类偏好对齐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32890" y="4904740"/>
            <a:ext cx="925639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SzPct val="75000"/>
              <a:buFont typeface="Wingdings" panose="05000000000000000000" charset="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ChatGPT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证明，在规模化预训练之后，对齐技术是激发生成模型实用价值的一个里程碑，为后续大模型产品化确立了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预训练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对齐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的标准路径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435610" y="2734945"/>
            <a:ext cx="11176000" cy="1711325"/>
            <a:chOff x="686" y="4567"/>
            <a:chExt cx="17600" cy="269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" y="4760"/>
              <a:ext cx="17600" cy="250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60" y="4567"/>
              <a:ext cx="812" cy="79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5" y="553085"/>
            <a:ext cx="886777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Chinchilla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355090" y="5831840"/>
            <a:ext cx="940816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SzPct val="75000"/>
              <a:buFont typeface="Wingdings" panose="05000000000000000000" charset="0"/>
              <a:buNone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在相同计算预算下，主流大模型严重训练不足。缩小模型规模并等比例增加数据量，可获得更优的下游性能</a:t>
            </a:r>
          </a:p>
        </p:txBody>
      </p:sp>
      <p:sp>
        <p:nvSpPr>
          <p:cNvPr id="2" name="矩形 1"/>
          <p:cNvSpPr/>
          <p:nvPr/>
        </p:nvSpPr>
        <p:spPr>
          <a:xfrm>
            <a:off x="545465" y="1355725"/>
            <a:ext cx="11132820" cy="6921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920750" y="1476375"/>
            <a:ext cx="10527665" cy="62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5555" tIns="56860" rIns="115555" bIns="56860"/>
          <a:lstStyle>
            <a:lvl1pPr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 b="1">
                <a:solidFill>
                  <a:srgbClr val="000066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 b="1">
                <a:solidFill>
                  <a:srgbClr val="0000CC"/>
                </a:solidFill>
                <a:latin typeface="楷体_GB2312" pitchFamily="49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  <a:defRPr sz="2300" b="1">
                <a:solidFill>
                  <a:srgbClr val="003399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3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indent="0"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基于</a:t>
            </a: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Scaling Law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，</a:t>
            </a:r>
            <a:r>
              <a:rPr lang="en-US" altLang="zh-CN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GPT-3</a:t>
            </a:r>
            <a:r>
              <a:rPr lang="zh-CN" altLang="en-US" sz="2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后大模型普遍进行盲目扩参。性能提升唯一解法？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23950" y="2200910"/>
            <a:ext cx="9817735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2" indent="-342900">
              <a:buFont typeface="Wingdings" panose="05000000000000000000" charset="0"/>
              <a:buChar char="Ø"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Chinchilla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以与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Gopher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相同的计算预算、仅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1/4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的参数和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4.7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倍的数据，在广泛下游任务上全面超越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Gopher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GPT-3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Jurassic-1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MT-NLG 530B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170" y="3179445"/>
            <a:ext cx="7467600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5" y="553085"/>
            <a:ext cx="886777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Chinchilla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最优配比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564640" y="5831205"/>
            <a:ext cx="875855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buSzPct val="75000"/>
              <a:buFont typeface="Wingdings" panose="05000000000000000000" charset="0"/>
              <a:buNone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模型规模与数据规模应随计算预算近似等比例扩展，约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20:1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token-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参数比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成为计算最优训练的核心约束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23950" y="1553210"/>
            <a:ext cx="9639300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2" indent="-342900">
              <a:buFont typeface="Wingdings" panose="05000000000000000000" charset="0"/>
              <a:buChar char="Ø"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Chinchilla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通过对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400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余个模型（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70M~16B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参数）的训练曲线进行三种独立拟合，发现计算最优条件下模型规模与训练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数应近似等比例增长。推翻了此前结论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扩参远快于扩数据</a:t>
            </a: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395" y="3589020"/>
            <a:ext cx="6595110" cy="13131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950" y="2577465"/>
            <a:ext cx="3743325" cy="307657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5" y="553085"/>
            <a:ext cx="886777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Chinchilla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启示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23950" y="1362710"/>
            <a:ext cx="9639300" cy="970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2" indent="-342900" fontAlgn="auto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Chinchilla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表明，在固定计算预算下追求更大模型导致严重欠训练</a:t>
            </a:r>
          </a:p>
          <a:p>
            <a:pPr marL="342900" lvl="2" indent="-342900" fontAlgn="auto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预训练的竞争指标应该从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参数量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转变为</a:t>
            </a:r>
            <a:r>
              <a:rPr lang="zh-CN" altLang="en-US" sz="2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单位计算量的性能效率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" y="2733675"/>
            <a:ext cx="7004685" cy="37274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506335" y="3006090"/>
            <a:ext cx="36074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图中标注了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Chinchilla(70B)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Gopher(280B)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GPT-3(175B)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</a:t>
            </a: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MT-NLG(530B)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的位置</a:t>
            </a:r>
          </a:p>
          <a:p>
            <a:endParaRPr lang="zh-CN" altLang="en-US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显示当前主流大模型均显著偏离最优前沿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20015" y="553085"/>
            <a:ext cx="8867775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Chinchilla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工程优势与伦理挑战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548640" y="1436916"/>
            <a:ext cx="11132848" cy="68892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Chinchilla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不仅以更小模型获得更强性能，还显著降低了推理与微调的计算开销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02030" y="2397125"/>
            <a:ext cx="9347366" cy="3130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2" indent="0" fontAlgn="auto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工程优势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3" indent="0" fontAlgn="auto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更优的模型并不一定需要更大的部署开销</a:t>
            </a:r>
          </a:p>
          <a:p>
            <a:pPr marL="457200" lvl="3" indent="0" fontAlgn="auto">
              <a:lnSpc>
                <a:spcPct val="130000"/>
              </a:lnSpc>
              <a:buFont typeface="Wingdings" panose="05000000000000000000" charset="0"/>
              <a:buNone/>
            </a:pP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2" indent="0" fontAlgn="auto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伦理挑战</a:t>
            </a:r>
          </a:p>
          <a:p>
            <a:pPr marL="457200" lvl="3" indent="0" fontAlgn="auto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更大规模的数据将不可避免地包含有毒信息、社会偏见与私人信息。随着训练数据量级不断提高，数据集的质量控制、训练-测试重叠检测以及伦理审查变得至关重要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340822" y="552382"/>
            <a:ext cx="11662756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图像与文本自监督学习的区别</a:t>
            </a:r>
            <a:endParaRPr lang="en-US" altLang="zh-CN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80489" y="1417984"/>
            <a:ext cx="5490224" cy="49461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0489" y="1510177"/>
            <a:ext cx="5490223" cy="1296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语言 </a:t>
            </a:r>
            <a:r>
              <a:rPr lang="en-GB" altLang="zh-CN" b="1" dirty="0"/>
              <a:t>NLP</a:t>
            </a:r>
            <a:r>
              <a:rPr lang="zh-CN" altLang="en-GB" b="1" dirty="0"/>
              <a:t>：</a:t>
            </a:r>
            <a:r>
              <a:rPr lang="zh-CN" altLang="en-US" b="1" dirty="0"/>
              <a:t>离散符号与天然序列</a:t>
            </a:r>
            <a:br>
              <a:rPr lang="zh-CN" altLang="en-US" dirty="0"/>
            </a:br>
            <a:r>
              <a:rPr lang="zh-CN" altLang="en-US" dirty="0"/>
              <a:t>文本由</a:t>
            </a:r>
            <a:r>
              <a:rPr lang="zh-CN" altLang="en-US" b="1" dirty="0"/>
              <a:t>离散</a:t>
            </a:r>
            <a:r>
              <a:rPr lang="zh-CN" altLang="en-US" dirty="0"/>
              <a:t> </a:t>
            </a:r>
            <a:r>
              <a:rPr lang="en-GB" altLang="zh-CN" dirty="0"/>
              <a:t>Token </a:t>
            </a:r>
            <a:r>
              <a:rPr lang="zh-CN" altLang="en-US" dirty="0"/>
              <a:t>组成，天然具备顺序、句法和上下文依赖，模型可直接通过掩码预测学习深层语义。</a:t>
            </a: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6288066" y="1417984"/>
            <a:ext cx="5490224" cy="494617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88066" y="1510177"/>
            <a:ext cx="5490224" cy="12965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图像 </a:t>
            </a:r>
            <a:r>
              <a:rPr lang="en-US" altLang="zh-CN" b="1" dirty="0"/>
              <a:t>CV</a:t>
            </a:r>
            <a:r>
              <a:rPr lang="zh-CN" altLang="en-GB" b="1" dirty="0"/>
              <a:t>：</a:t>
            </a:r>
            <a:r>
              <a:rPr lang="zh-CN" altLang="en-US" b="1" dirty="0"/>
              <a:t>连续信号与语义鸿沟</a:t>
            </a:r>
            <a:br>
              <a:rPr lang="zh-CN" altLang="en-US" dirty="0"/>
            </a:br>
            <a:r>
              <a:rPr lang="zh-CN" altLang="en-US" dirty="0"/>
              <a:t>图像是</a:t>
            </a:r>
            <a:r>
              <a:rPr lang="zh-CN" altLang="en-US" b="1" dirty="0"/>
              <a:t>连续</a:t>
            </a:r>
            <a:r>
              <a:rPr lang="zh-CN" altLang="en-US" dirty="0"/>
              <a:t>像素信号，局部像素相似性并不代表语义理解，所以我们考虑了构造</a:t>
            </a:r>
            <a:r>
              <a:rPr lang="zh-CN" altLang="en-US" b="1" dirty="0"/>
              <a:t>代理任务</a:t>
            </a:r>
            <a:r>
              <a:rPr lang="zh-CN" altLang="en-US" dirty="0"/>
              <a:t>来帮助表征学习。</a:t>
            </a:r>
            <a:endParaRPr lang="en-US" altLang="zh-CN" dirty="0"/>
          </a:p>
        </p:txBody>
      </p:sp>
      <p:pic>
        <p:nvPicPr>
          <p:cNvPr id="18434" name="Picture 2" descr="抛弃自回归，连接一致性Diffusion和LLM！UCSD上交新作热度紧追AF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62" t="9325" r="2515"/>
          <a:stretch>
            <a:fillRect/>
          </a:stretch>
        </p:blipFill>
        <p:spPr bwMode="auto">
          <a:xfrm>
            <a:off x="1263670" y="2845709"/>
            <a:ext cx="3723860" cy="3518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0"/>
          <p:cNvPicPr>
            <a:picLocks noChangeAspect="1"/>
          </p:cNvPicPr>
          <p:nvPr/>
        </p:nvPicPr>
        <p:blipFill>
          <a:blip r:embed="rId4"/>
          <a:srcRect l="417" r="12130"/>
          <a:stretch>
            <a:fillRect/>
          </a:stretch>
        </p:blipFill>
        <p:spPr>
          <a:xfrm>
            <a:off x="6846886" y="3041970"/>
            <a:ext cx="4372584" cy="312492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0194246C-AF09-8A49-982A-97CD436B6E23}"/>
              </a:ext>
            </a:extLst>
          </p:cNvPr>
          <p:cNvSpPr txBox="1"/>
          <p:nvPr/>
        </p:nvSpPr>
        <p:spPr>
          <a:xfrm>
            <a:off x="1917291" y="3521740"/>
            <a:ext cx="7964128" cy="5847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zh-CN" altLang="en-US" sz="3200" b="1" dirty="0"/>
              <a:t>但是</a:t>
            </a:r>
            <a:r>
              <a:rPr kumimoji="1" lang="en-US" altLang="zh-CN" sz="3200" b="1" dirty="0"/>
              <a:t>……</a:t>
            </a:r>
            <a:r>
              <a:rPr kumimoji="1" lang="zh-CN" altLang="en-US" sz="3200" b="1" dirty="0"/>
              <a:t>图像能不能也像文本那样学习呢？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120015" y="552683"/>
            <a:ext cx="9639300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图像掩码重建（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Masked Image Modeling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" name="矩形 1"/>
          <p:cNvSpPr/>
          <p:nvPr/>
        </p:nvSpPr>
        <p:spPr>
          <a:xfrm>
            <a:off x="545438" y="2971488"/>
            <a:ext cx="11132847" cy="354586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5000" y="4500782"/>
            <a:ext cx="1204763" cy="432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45465" y="1324784"/>
            <a:ext cx="11132820" cy="146299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/>
              <a:t>核心思想：基于掩码的重建与理解 </a:t>
            </a:r>
            <a:r>
              <a:rPr lang="en-US" altLang="zh-CN" sz="2400" b="1" dirty="0"/>
              <a:t>-&gt; </a:t>
            </a:r>
            <a:r>
              <a:rPr lang="zh-CN" altLang="en-US" sz="2400" b="1" dirty="0"/>
              <a:t>“通过残缺理解整体”</a:t>
            </a:r>
            <a:endParaRPr lang="en-US" altLang="zh-CN" sz="2400" b="1" dirty="0"/>
          </a:p>
          <a:p>
            <a:pPr>
              <a:lnSpc>
                <a:spcPct val="125000"/>
              </a:lnSpc>
            </a:pPr>
            <a:r>
              <a:rPr lang="zh-CN" altLang="en-US" sz="2400" dirty="0"/>
              <a:t>通过遮挡图像</a:t>
            </a:r>
            <a:r>
              <a:rPr lang="en-US" altLang="zh-CN" sz="2400" dirty="0"/>
              <a:t>75%</a:t>
            </a:r>
            <a:r>
              <a:rPr lang="zh-CN" altLang="en-US" sz="2400" dirty="0"/>
              <a:t>的区域，迫使模型利用仅存的可见部分去重建全局内容，从而跳出局部纹理的局限，真正习得物体结构与语义关联。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17557" y="3291280"/>
            <a:ext cx="46290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b="1" dirty="0"/>
              <a:t>BERT</a:t>
            </a:r>
            <a:r>
              <a:rPr lang="zh-CN" altLang="en-GB" b="1" dirty="0"/>
              <a:t>：</a:t>
            </a:r>
            <a:r>
              <a:rPr lang="en-GB" altLang="zh-CN" dirty="0"/>
              <a:t>mask 15% token → </a:t>
            </a:r>
            <a:r>
              <a:rPr lang="zh-CN" altLang="en-US" dirty="0"/>
              <a:t>预测缺失词 </a:t>
            </a:r>
            <a:endParaRPr lang="en-US" altLang="zh-CN" dirty="0"/>
          </a:p>
          <a:p>
            <a:r>
              <a:rPr lang="en-GB" altLang="zh-CN" b="1" dirty="0"/>
              <a:t>MIM</a:t>
            </a:r>
            <a:r>
              <a:rPr lang="zh-CN" altLang="en-GB" b="1" dirty="0"/>
              <a:t>：</a:t>
            </a:r>
            <a:r>
              <a:rPr lang="en-GB" altLang="zh-CN" dirty="0"/>
              <a:t>mask 75% patches → </a:t>
            </a:r>
            <a:r>
              <a:rPr lang="zh-CN" altLang="en-US" dirty="0"/>
              <a:t>重建缺失图像块</a:t>
            </a:r>
            <a:endParaRPr kumimoji="1" lang="zh-CN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0" t="1913" r="2324"/>
          <a:stretch>
            <a:fillRect/>
          </a:stretch>
        </p:blipFill>
        <p:spPr bwMode="auto">
          <a:xfrm>
            <a:off x="595000" y="3045489"/>
            <a:ext cx="6243122" cy="339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8428" y="4121322"/>
            <a:ext cx="4308572" cy="2322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120015" y="553085"/>
            <a:ext cx="9639300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</a:t>
            </a:r>
          </a:p>
        </p:txBody>
      </p:sp>
      <p:sp>
        <p:nvSpPr>
          <p:cNvPr id="4" name="矩形 3"/>
          <p:cNvSpPr/>
          <p:nvPr/>
        </p:nvSpPr>
        <p:spPr bwMode="auto">
          <a:xfrm>
            <a:off x="373186" y="1908311"/>
            <a:ext cx="6252901" cy="151074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2400" b="1" dirty="0"/>
              <a:t>计算聚焦策略：</a:t>
            </a:r>
            <a:r>
              <a:rPr lang="zh-CN" altLang="en-US" sz="2400" dirty="0"/>
              <a:t>利用 </a:t>
            </a:r>
            <a:r>
              <a:rPr lang="en-US" altLang="zh-CN" sz="2400" dirty="0"/>
              <a:t>75%</a:t>
            </a:r>
            <a:r>
              <a:rPr lang="zh-CN" altLang="en-US" sz="2400" dirty="0"/>
              <a:t> 的高比例遮挡，让 </a:t>
            </a:r>
            <a:r>
              <a:rPr lang="en-GB" altLang="zh-CN" sz="2400" dirty="0"/>
              <a:t>Encoder</a:t>
            </a:r>
            <a:r>
              <a:rPr lang="zh-CN" altLang="en-US" sz="2400" dirty="0"/>
              <a:t> 仅处理 </a:t>
            </a:r>
            <a:r>
              <a:rPr lang="en-US" altLang="zh-CN" sz="2400" dirty="0"/>
              <a:t>25%</a:t>
            </a:r>
            <a:r>
              <a:rPr lang="zh-CN" altLang="en-US" sz="2400" dirty="0"/>
              <a:t> 的可见图块，将计算资源集中在对核心语义的理解上，避免算力浪费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373185" y="3720538"/>
            <a:ext cx="6252901" cy="151074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CN" altLang="en-US" sz="2400" b="1" dirty="0"/>
              <a:t>非对称高效架构：</a:t>
            </a:r>
            <a:r>
              <a:rPr lang="zh-CN" altLang="en-US" sz="2400" dirty="0"/>
              <a:t>重型 </a:t>
            </a:r>
            <a:r>
              <a:rPr lang="en-GB" altLang="zh-CN" sz="2400" dirty="0"/>
              <a:t>Encoder</a:t>
            </a:r>
            <a:r>
              <a:rPr lang="zh-CN" altLang="en-US" sz="2400" dirty="0"/>
              <a:t> 学习强表征，轻型 </a:t>
            </a:r>
            <a:r>
              <a:rPr lang="en-GB" altLang="zh-CN" sz="2400" dirty="0"/>
              <a:t>Decoder</a:t>
            </a:r>
            <a:r>
              <a:rPr lang="zh-CN" altLang="en-US" sz="2400" dirty="0"/>
              <a:t> 仅负责像素重建，解耦了学习与重建，将训练速度提升了 </a:t>
            </a:r>
            <a:r>
              <a:rPr lang="en-US" altLang="zh-CN" sz="2400" dirty="0"/>
              <a:t>3-5</a:t>
            </a:r>
            <a:r>
              <a:rPr lang="zh-CN" altLang="en-US" sz="2400" dirty="0"/>
              <a:t> 倍。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357" y="1736031"/>
            <a:ext cx="5302664" cy="349525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49777" y="5584499"/>
            <a:ext cx="79095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说明了：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高比例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Mask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" panose="02020603050405020304" pitchFamily="18" charset="0"/>
              </a:rPr>
              <a:t> 不仅能够学习到更强的表征，还能提高效率！</a:t>
            </a:r>
            <a:endParaRPr kumimoji="1"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304799" y="552683"/>
            <a:ext cx="10137913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图像序列预测（</a:t>
            </a: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Image Sequence Prediction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 </a:t>
            </a:r>
            <a:endParaRPr lang="en-GB" altLang="zh-CN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545465" y="1532325"/>
            <a:ext cx="11132820" cy="93110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altLang="zh-CN" sz="2400" b="1" dirty="0" err="1"/>
              <a:t>iGPT</a:t>
            </a:r>
            <a:r>
              <a:rPr lang="zh-CN" altLang="en-US" sz="2400" b="1" dirty="0"/>
              <a:t>：</a:t>
            </a:r>
            <a:r>
              <a:rPr lang="zh-CN" altLang="en-US" sz="2400" dirty="0"/>
              <a:t>将图像展平为像素序列，类比文本生成逻辑，采用 </a:t>
            </a:r>
            <a:r>
              <a:rPr lang="en-GB" altLang="zh-CN" sz="2400" dirty="0"/>
              <a:t>Transformer Decoder</a:t>
            </a:r>
            <a:r>
              <a:rPr lang="zh-CN" altLang="en-US" sz="2400" dirty="0"/>
              <a:t> 架构，通过</a:t>
            </a:r>
            <a:r>
              <a:rPr lang="zh-CN" altLang="en-US" sz="2400" b="1" dirty="0"/>
              <a:t>自回归</a:t>
            </a:r>
            <a:r>
              <a:rPr lang="zh-CN" altLang="en-US" sz="2400" dirty="0"/>
              <a:t>方式依据前序像素预测下一像素，实现图像序列的生成式建模。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2" name="矩形 1051"/>
          <p:cNvSpPr/>
          <p:nvPr/>
        </p:nvSpPr>
        <p:spPr>
          <a:xfrm>
            <a:off x="545465" y="2775169"/>
            <a:ext cx="11132820" cy="369189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3076794"/>
            <a:ext cx="10267315" cy="24777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64359" y="5666252"/>
            <a:ext cx="9930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dirty="0">
                <a:solidFill>
                  <a:srgbClr val="FF0000"/>
                </a:solidFill>
              </a:rPr>
              <a:t>问题：</a:t>
            </a:r>
            <a:r>
              <a:rPr lang="zh-CN" altLang="en-US" sz="2000" dirty="0">
                <a:solidFill>
                  <a:srgbClr val="FF0000"/>
                </a:solidFill>
              </a:rPr>
              <a:t>计算量极大（序列太长），且像素级的自回归预测在视觉上不如掩码重建有效！</a:t>
            </a:r>
            <a:endParaRPr kumimoji="1"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120015" y="553085"/>
            <a:ext cx="9639300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en-US" altLang="zh-CN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SimMIM</a:t>
            </a:r>
          </a:p>
        </p:txBody>
      </p:sp>
      <p:sp>
        <p:nvSpPr>
          <p:cNvPr id="2" name="矩形 1"/>
          <p:cNvSpPr/>
          <p:nvPr/>
        </p:nvSpPr>
        <p:spPr>
          <a:xfrm>
            <a:off x="545396" y="2600553"/>
            <a:ext cx="11132847" cy="39330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665" y="2674471"/>
            <a:ext cx="7899455" cy="378522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 bwMode="auto">
          <a:xfrm>
            <a:off x="545464" y="1324784"/>
            <a:ext cx="11274079" cy="99434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直接对图像块进行随机掩码并通过轻量预测头回归原始像素值。这种无需离散化或复杂结构的方案，不仅大幅降低了计算成本，还能适配 </a:t>
            </a:r>
            <a:r>
              <a:rPr lang="en-GB" altLang="zh-CN" sz="2400" dirty="0" err="1"/>
              <a:t>ViT</a:t>
            </a:r>
            <a:r>
              <a:rPr lang="zh-CN" altLang="en-GB" sz="2400" dirty="0"/>
              <a:t>、</a:t>
            </a:r>
            <a:r>
              <a:rPr lang="en-GB" altLang="zh-CN" sz="2400" dirty="0"/>
              <a:t>Swin</a:t>
            </a:r>
            <a:r>
              <a:rPr lang="zh-CN" altLang="en-US" sz="2400" dirty="0"/>
              <a:t> 等多种骨干网络。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3126463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312897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object 5"/>
          <p:cNvSpPr txBox="1"/>
          <p:nvPr/>
        </p:nvSpPr>
        <p:spPr>
          <a:xfrm>
            <a:off x="119701" y="3187514"/>
            <a:ext cx="11892190" cy="566822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spc="-1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自监督表征学习总结</a:t>
            </a:r>
            <a:endParaRPr lang="en-US" sz="3600" b="1" spc="-1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337801" y="553085"/>
            <a:ext cx="9421514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广泛应用</a:t>
            </a:r>
          </a:p>
        </p:txBody>
      </p:sp>
      <p:sp>
        <p:nvSpPr>
          <p:cNvPr id="7" name="矩形 6"/>
          <p:cNvSpPr/>
          <p:nvPr/>
        </p:nvSpPr>
        <p:spPr>
          <a:xfrm>
            <a:off x="595000" y="2168398"/>
            <a:ext cx="1204763" cy="432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37801" y="1442348"/>
            <a:ext cx="11516396" cy="103580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</a:pPr>
            <a:r>
              <a:rPr lang="zh-CN" altLang="en-US" sz="2400" b="1" dirty="0"/>
              <a:t>自监督学习的核心就在于表征学习</a:t>
            </a:r>
            <a:r>
              <a:rPr lang="zh-CN" altLang="en-US" sz="2400" dirty="0"/>
              <a:t>，即不依赖人工标注，而是通过从数据内部挖掘结构来自动生成监督信号，从而训练模型提取出能抓住数据本质的通用特征表示。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3" t="5822" r="2824" b="772"/>
          <a:stretch>
            <a:fillRect/>
          </a:stretch>
        </p:blipFill>
        <p:spPr bwMode="auto">
          <a:xfrm>
            <a:off x="336896" y="2718644"/>
            <a:ext cx="3876390" cy="3277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本框 3"/>
          <p:cNvSpPr txBox="1"/>
          <p:nvPr/>
        </p:nvSpPr>
        <p:spPr>
          <a:xfrm>
            <a:off x="336895" y="6114108"/>
            <a:ext cx="3876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FF0000"/>
                </a:solidFill>
              </a:rPr>
              <a:t>视觉领域的爆发</a:t>
            </a:r>
          </a:p>
        </p:txBody>
      </p:sp>
      <p:sp>
        <p:nvSpPr>
          <p:cNvPr id="5" name="右箭头 4"/>
          <p:cNvSpPr/>
          <p:nvPr/>
        </p:nvSpPr>
        <p:spPr>
          <a:xfrm>
            <a:off x="4468540" y="4079379"/>
            <a:ext cx="821637" cy="55590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5364" name="Picture 4" descr="Language Model Training and Inference: From Concept to Cod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431" y="2600553"/>
            <a:ext cx="6408029" cy="3513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/>
          <p:cNvSpPr txBox="1"/>
          <p:nvPr/>
        </p:nvSpPr>
        <p:spPr>
          <a:xfrm>
            <a:off x="5545432" y="6114108"/>
            <a:ext cx="63087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rgbClr val="FF0000"/>
                </a:solidFill>
              </a:rPr>
              <a:t>大模型的核心引擎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0" y="491331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0" y="493839"/>
            <a:ext cx="12192000" cy="688925"/>
          </a:xfrm>
          <a:prstGeom prst="rect">
            <a:avLst/>
          </a:prstGeom>
          <a:solidFill>
            <a:srgbClr val="142C68"/>
          </a:solidFill>
          <a:ln>
            <a:solidFill>
              <a:srgbClr val="142C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object 5"/>
          <p:cNvSpPr txBox="1"/>
          <p:nvPr/>
        </p:nvSpPr>
        <p:spPr>
          <a:xfrm>
            <a:off x="337801" y="553085"/>
            <a:ext cx="9421514" cy="566420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发展历程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697102" y="1276256"/>
            <a:ext cx="11008139" cy="5418666"/>
            <a:chOff x="2035571" y="719666"/>
            <a:chExt cx="11008139" cy="5418666"/>
          </a:xfrm>
        </p:grpSpPr>
        <p:sp>
          <p:nvSpPr>
            <p:cNvPr id="12" name="燕尾形箭头 11"/>
            <p:cNvSpPr/>
            <p:nvPr/>
          </p:nvSpPr>
          <p:spPr>
            <a:xfrm>
              <a:off x="2035571" y="2675097"/>
              <a:ext cx="11008139" cy="1506145"/>
            </a:xfrm>
            <a:prstGeom prst="notchedRightArrow">
              <a:avLst/>
            </a:prstGeom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3" name="任意形状 12"/>
            <p:cNvSpPr/>
            <p:nvPr/>
          </p:nvSpPr>
          <p:spPr>
            <a:xfrm>
              <a:off x="2035571" y="719666"/>
              <a:ext cx="2357437" cy="2167466"/>
            </a:xfrm>
            <a:custGeom>
              <a:avLst/>
              <a:gdLst>
                <a:gd name="csX0" fmla="*/ 0 w 2357437"/>
                <a:gd name="csY0" fmla="*/ 0 h 2167466"/>
                <a:gd name="csX1" fmla="*/ 2357437 w 2357437"/>
                <a:gd name="csY1" fmla="*/ 0 h 2167466"/>
                <a:gd name="csX2" fmla="*/ 2357437 w 2357437"/>
                <a:gd name="csY2" fmla="*/ 2167466 h 2167466"/>
                <a:gd name="csX3" fmla="*/ 0 w 2357437"/>
                <a:gd name="csY3" fmla="*/ 2167466 h 2167466"/>
                <a:gd name="csX4" fmla="*/ 0 w 2357437"/>
                <a:gd name="csY4" fmla="*/ 0 h 2167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57437" h="2167466">
                  <a:moveTo>
                    <a:pt x="0" y="0"/>
                  </a:moveTo>
                  <a:lnTo>
                    <a:pt x="2357437" y="0"/>
                  </a:lnTo>
                  <a:lnTo>
                    <a:pt x="2357437" y="2167466"/>
                  </a:lnTo>
                  <a:lnTo>
                    <a:pt x="0" y="216746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4048" tIns="384048" rIns="384048" bIns="384048" numCol="1" spcCol="1270" anchor="b" anchorCtr="0">
              <a:noAutofit/>
            </a:bodyPr>
            <a:lstStyle/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400" kern="1200"/>
            </a:p>
          </p:txBody>
        </p:sp>
        <p:sp>
          <p:nvSpPr>
            <p:cNvPr id="14" name="椭圆 13"/>
            <p:cNvSpPr/>
            <p:nvPr/>
          </p:nvSpPr>
          <p:spPr>
            <a:xfrm>
              <a:off x="2943357" y="3158066"/>
              <a:ext cx="541866" cy="54186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任意形状 14"/>
            <p:cNvSpPr/>
            <p:nvPr/>
          </p:nvSpPr>
          <p:spPr>
            <a:xfrm>
              <a:off x="4510881" y="3970866"/>
              <a:ext cx="2357437" cy="2167466"/>
            </a:xfrm>
            <a:custGeom>
              <a:avLst/>
              <a:gdLst>
                <a:gd name="csX0" fmla="*/ 0 w 2357437"/>
                <a:gd name="csY0" fmla="*/ 0 h 2167466"/>
                <a:gd name="csX1" fmla="*/ 2357437 w 2357437"/>
                <a:gd name="csY1" fmla="*/ 0 h 2167466"/>
                <a:gd name="csX2" fmla="*/ 2357437 w 2357437"/>
                <a:gd name="csY2" fmla="*/ 2167466 h 2167466"/>
                <a:gd name="csX3" fmla="*/ 0 w 2357437"/>
                <a:gd name="csY3" fmla="*/ 2167466 h 2167466"/>
                <a:gd name="csX4" fmla="*/ 0 w 2357437"/>
                <a:gd name="csY4" fmla="*/ 0 h 2167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57437" h="2167466">
                  <a:moveTo>
                    <a:pt x="0" y="0"/>
                  </a:moveTo>
                  <a:lnTo>
                    <a:pt x="2357437" y="0"/>
                  </a:lnTo>
                  <a:lnTo>
                    <a:pt x="2357437" y="2167466"/>
                  </a:lnTo>
                  <a:lnTo>
                    <a:pt x="0" y="216746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4048" tIns="384048" rIns="384048" bIns="384048" numCol="1" spcCol="1270" anchor="t" anchorCtr="0">
              <a:noAutofit/>
            </a:bodyPr>
            <a:lstStyle/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400" kern="1200"/>
            </a:p>
          </p:txBody>
        </p:sp>
        <p:sp>
          <p:nvSpPr>
            <p:cNvPr id="16" name="椭圆 15"/>
            <p:cNvSpPr/>
            <p:nvPr/>
          </p:nvSpPr>
          <p:spPr>
            <a:xfrm>
              <a:off x="5418666" y="3158066"/>
              <a:ext cx="541866" cy="54186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任意形状 16"/>
            <p:cNvSpPr/>
            <p:nvPr/>
          </p:nvSpPr>
          <p:spPr>
            <a:xfrm>
              <a:off x="6986190" y="719666"/>
              <a:ext cx="2357437" cy="2167466"/>
            </a:xfrm>
            <a:custGeom>
              <a:avLst/>
              <a:gdLst>
                <a:gd name="csX0" fmla="*/ 0 w 2357437"/>
                <a:gd name="csY0" fmla="*/ 0 h 2167466"/>
                <a:gd name="csX1" fmla="*/ 2357437 w 2357437"/>
                <a:gd name="csY1" fmla="*/ 0 h 2167466"/>
                <a:gd name="csX2" fmla="*/ 2357437 w 2357437"/>
                <a:gd name="csY2" fmla="*/ 2167466 h 2167466"/>
                <a:gd name="csX3" fmla="*/ 0 w 2357437"/>
                <a:gd name="csY3" fmla="*/ 2167466 h 2167466"/>
                <a:gd name="csX4" fmla="*/ 0 w 2357437"/>
                <a:gd name="csY4" fmla="*/ 0 h 216746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57437" h="2167466">
                  <a:moveTo>
                    <a:pt x="0" y="0"/>
                  </a:moveTo>
                  <a:lnTo>
                    <a:pt x="2357437" y="0"/>
                  </a:lnTo>
                  <a:lnTo>
                    <a:pt x="2357437" y="2167466"/>
                  </a:lnTo>
                  <a:lnTo>
                    <a:pt x="0" y="2167466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84048" tIns="384048" rIns="384048" bIns="384048" numCol="1" spcCol="1270" anchor="b" anchorCtr="0">
              <a:noAutofit/>
            </a:bodyPr>
            <a:lstStyle/>
            <a:p>
              <a:pPr marL="0" lvl="0" indent="0" algn="ctr" defTabSz="2400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400" kern="1200"/>
            </a:p>
          </p:txBody>
        </p:sp>
        <p:sp>
          <p:nvSpPr>
            <p:cNvPr id="18" name="椭圆 17"/>
            <p:cNvSpPr/>
            <p:nvPr/>
          </p:nvSpPr>
          <p:spPr>
            <a:xfrm>
              <a:off x="7893976" y="3158066"/>
              <a:ext cx="541866" cy="541866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9" name="椭圆 18"/>
          <p:cNvSpPr/>
          <p:nvPr/>
        </p:nvSpPr>
        <p:spPr>
          <a:xfrm>
            <a:off x="9030817" y="3714656"/>
            <a:ext cx="541866" cy="541866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0" name="文本框 19"/>
          <p:cNvSpPr txBox="1"/>
          <p:nvPr/>
        </p:nvSpPr>
        <p:spPr>
          <a:xfrm>
            <a:off x="724872" y="1763262"/>
            <a:ext cx="3383095" cy="1680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400" b="1" dirty="0"/>
              <a:t>早期 </a:t>
            </a:r>
            <a:r>
              <a:rPr lang="en-US" altLang="zh-CN" sz="2400" b="1" dirty="0"/>
              <a:t>(2015-2018)</a:t>
            </a:r>
          </a:p>
          <a:p>
            <a:pPr>
              <a:lnSpc>
                <a:spcPct val="125000"/>
              </a:lnSpc>
            </a:pPr>
            <a:r>
              <a:rPr kumimoji="1" lang="zh-CN" altLang="en-US" sz="2000" b="1" dirty="0"/>
              <a:t>核心：</a:t>
            </a:r>
            <a:r>
              <a:rPr lang="zh-CN" altLang="en-US" sz="2000" dirty="0"/>
              <a:t>设计各种手工</a:t>
            </a:r>
            <a:r>
              <a:rPr lang="en-US" altLang="zh-CN" sz="2000" dirty="0"/>
              <a:t> </a:t>
            </a:r>
            <a:r>
              <a:rPr lang="en-GB" altLang="zh-CN" sz="2000" dirty="0"/>
              <a:t>Pretext </a:t>
            </a:r>
            <a:r>
              <a:rPr lang="zh-CN" altLang="en-US" sz="2000" dirty="0"/>
              <a:t>任务帮助模型理解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kumimoji="1" lang="zh-CN" altLang="en-US" sz="2000" b="1" dirty="0"/>
              <a:t>代表方法</a:t>
            </a:r>
            <a:r>
              <a:rPr kumimoji="1" lang="zh-CN" altLang="en-US" sz="2000" dirty="0"/>
              <a:t>：</a:t>
            </a:r>
            <a:r>
              <a:rPr lang="en-GB" altLang="zh-CN" sz="2000" dirty="0"/>
              <a:t>Rotation, Jigsaw</a:t>
            </a:r>
            <a:endParaRPr kumimoji="1" lang="en-US" altLang="zh-CN" sz="2000" dirty="0"/>
          </a:p>
        </p:txBody>
      </p:sp>
      <p:sp>
        <p:nvSpPr>
          <p:cNvPr id="21" name="文本框 20"/>
          <p:cNvSpPr txBox="1"/>
          <p:nvPr/>
        </p:nvSpPr>
        <p:spPr>
          <a:xfrm>
            <a:off x="2659582" y="4493383"/>
            <a:ext cx="3383095" cy="1680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400" b="1" dirty="0"/>
              <a:t>爆发期 </a:t>
            </a:r>
            <a:r>
              <a:rPr lang="en-US" altLang="zh-CN" sz="2400" b="1" dirty="0"/>
              <a:t>(2019-2020)</a:t>
            </a:r>
          </a:p>
          <a:p>
            <a:pPr>
              <a:lnSpc>
                <a:spcPct val="125000"/>
              </a:lnSpc>
            </a:pPr>
            <a:r>
              <a:rPr kumimoji="1" lang="zh-CN" altLang="en-US" sz="2000" b="1" dirty="0"/>
              <a:t>核心：</a:t>
            </a:r>
            <a:r>
              <a:rPr lang="zh-CN" altLang="en-US" sz="2000" dirty="0"/>
              <a:t>对比学习，实例判别，从本质上学习核心特征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kumimoji="1" lang="zh-CN" altLang="en-US" sz="2000" b="1" dirty="0"/>
              <a:t>代表方法</a:t>
            </a:r>
            <a:r>
              <a:rPr kumimoji="1" lang="zh-CN" altLang="en-US" sz="2000" dirty="0"/>
              <a:t>：</a:t>
            </a:r>
            <a:r>
              <a:rPr lang="en-GB" altLang="zh-CN" sz="2000" dirty="0" err="1"/>
              <a:t>SimCLR</a:t>
            </a:r>
            <a:r>
              <a:rPr lang="en-US" altLang="zh-CN" sz="2000" dirty="0"/>
              <a:t>, </a:t>
            </a:r>
            <a:r>
              <a:rPr lang="en-GB" altLang="zh-CN" sz="2000" dirty="0"/>
              <a:t> MoCo</a:t>
            </a:r>
            <a:endParaRPr kumimoji="1" lang="en-US" altLang="zh-CN" sz="2000" dirty="0"/>
          </a:p>
        </p:txBody>
      </p:sp>
      <p:sp>
        <p:nvSpPr>
          <p:cNvPr id="23" name="文本框 22"/>
          <p:cNvSpPr txBox="1"/>
          <p:nvPr/>
        </p:nvSpPr>
        <p:spPr>
          <a:xfrm>
            <a:off x="5161395" y="1797335"/>
            <a:ext cx="3532031" cy="1680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400" b="1" dirty="0"/>
              <a:t>融合期 </a:t>
            </a:r>
            <a:r>
              <a:rPr lang="en-US" altLang="zh-CN" sz="2400" b="1" dirty="0"/>
              <a:t>(2021-2022)</a:t>
            </a:r>
          </a:p>
          <a:p>
            <a:pPr>
              <a:lnSpc>
                <a:spcPct val="125000"/>
              </a:lnSpc>
            </a:pPr>
            <a:r>
              <a:rPr kumimoji="1" lang="zh-CN" altLang="en-US" sz="2000" b="1" dirty="0"/>
              <a:t>核心：</a:t>
            </a:r>
            <a:r>
              <a:rPr lang="zh-CN" altLang="en-US" sz="2000" dirty="0"/>
              <a:t>遮蔽图像建模（</a:t>
            </a:r>
            <a:r>
              <a:rPr lang="en-GB" altLang="zh-CN" sz="2000" dirty="0"/>
              <a:t>MIM</a:t>
            </a:r>
            <a:r>
              <a:rPr lang="zh-CN" altLang="en-GB" sz="2000" dirty="0"/>
              <a:t>），</a:t>
            </a:r>
            <a:r>
              <a:rPr lang="zh-CN" altLang="en-US" sz="2000" dirty="0"/>
              <a:t>视觉与 </a:t>
            </a:r>
            <a:r>
              <a:rPr lang="en-GB" altLang="zh-CN" sz="2000" dirty="0"/>
              <a:t>NLP </a:t>
            </a:r>
            <a:r>
              <a:rPr lang="zh-CN" altLang="en-US" sz="2000" dirty="0"/>
              <a:t>架构大统一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kumimoji="1" lang="zh-CN" altLang="en-US" sz="2000" b="1" dirty="0"/>
              <a:t>代表方法</a:t>
            </a:r>
            <a:r>
              <a:rPr kumimoji="1" lang="zh-CN" altLang="en-US" sz="2000" dirty="0"/>
              <a:t>：</a:t>
            </a:r>
            <a:r>
              <a:rPr lang="en-GB" altLang="zh-CN" sz="2000" dirty="0"/>
              <a:t>MAE, </a:t>
            </a:r>
            <a:r>
              <a:rPr lang="en-GB" altLang="zh-CN" sz="2000" dirty="0" err="1"/>
              <a:t>BEiT</a:t>
            </a:r>
            <a:endParaRPr kumimoji="1" lang="en-US" altLang="zh-CN" sz="2000" dirty="0"/>
          </a:p>
        </p:txBody>
      </p:sp>
      <p:sp>
        <p:nvSpPr>
          <p:cNvPr id="24" name="文本框 23"/>
          <p:cNvSpPr txBox="1"/>
          <p:nvPr/>
        </p:nvSpPr>
        <p:spPr>
          <a:xfrm>
            <a:off x="7535734" y="4499067"/>
            <a:ext cx="3532031" cy="1680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kumimoji="1" lang="zh-CN" altLang="en-US" sz="2400" b="1" dirty="0"/>
              <a:t>现代 </a:t>
            </a:r>
            <a:r>
              <a:rPr lang="en-US" altLang="zh-CN" sz="2400" b="1" dirty="0"/>
              <a:t>(2023-Present)</a:t>
            </a:r>
          </a:p>
          <a:p>
            <a:pPr>
              <a:lnSpc>
                <a:spcPct val="125000"/>
              </a:lnSpc>
            </a:pPr>
            <a:r>
              <a:rPr kumimoji="1" lang="zh-CN" altLang="en-US" sz="2000" b="1" dirty="0"/>
              <a:t>核心：</a:t>
            </a:r>
            <a:r>
              <a:rPr lang="zh-CN" altLang="en-US" sz="2000" dirty="0"/>
              <a:t>多模态表征，通向通用人工智能（</a:t>
            </a:r>
            <a:r>
              <a:rPr lang="en-GB" altLang="zh-CN" sz="2000" dirty="0"/>
              <a:t>AGI</a:t>
            </a:r>
            <a:r>
              <a:rPr lang="zh-CN" altLang="en-GB" sz="2000" dirty="0"/>
              <a:t>）</a:t>
            </a:r>
            <a:endParaRPr lang="en-US" altLang="zh-CN" sz="2000" dirty="0"/>
          </a:p>
          <a:p>
            <a:pPr>
              <a:lnSpc>
                <a:spcPct val="125000"/>
              </a:lnSpc>
            </a:pPr>
            <a:r>
              <a:rPr kumimoji="1" lang="zh-CN" altLang="en-US" sz="2000" b="1" dirty="0"/>
              <a:t>代表方法</a:t>
            </a:r>
            <a:r>
              <a:rPr kumimoji="1" lang="zh-CN" altLang="en-US" sz="2000" dirty="0"/>
              <a:t>：</a:t>
            </a:r>
            <a:r>
              <a:rPr lang="en-GB" altLang="zh-CN" sz="2000" dirty="0"/>
              <a:t>LLM, VLM</a:t>
            </a:r>
            <a:endParaRPr kumimoji="1" lang="en-US" altLang="zh-C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4767</Words>
  <Application>Microsoft Office PowerPoint</Application>
  <PresentationFormat>宽屏</PresentationFormat>
  <Paragraphs>514</Paragraphs>
  <Slides>73</Slides>
  <Notes>68</Notes>
  <HiddenSlides>2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3" baseType="lpstr">
      <vt:lpstr>Xingkai SC</vt:lpstr>
      <vt:lpstr>等线</vt:lpstr>
      <vt:lpstr>等线 Light</vt:lpstr>
      <vt:lpstr>黑体</vt:lpstr>
      <vt:lpstr>微软雅黑</vt:lpstr>
      <vt:lpstr>Arial</vt:lpstr>
      <vt:lpstr>Calibri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Yunwei</cp:lastModifiedBy>
  <cp:revision>1275</cp:revision>
  <dcterms:created xsi:type="dcterms:W3CDTF">2023-11-05T01:38:00Z</dcterms:created>
  <dcterms:modified xsi:type="dcterms:W3CDTF">2026-04-22T09:17:25Z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2E219B558A924DF9919F6215BA26F667_13</vt:lpwstr>
  </property>
  <property fmtid="{D5CDD505-2E9C-101B-9397-08002B2CF9AE}" pid="3" name="KSOProductBuildVer">
    <vt:lpwstr>2052-12.1.0.23542</vt:lpwstr>
  </property>
</Properties>
</file>