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3"/>
  </p:notesMasterIdLst>
  <p:sldIdLst>
    <p:sldId id="274" r:id="rId2"/>
    <p:sldId id="3302" r:id="rId3"/>
    <p:sldId id="2007578508" r:id="rId4"/>
    <p:sldId id="2007578507" r:id="rId5"/>
    <p:sldId id="3303" r:id="rId6"/>
    <p:sldId id="3305" r:id="rId7"/>
    <p:sldId id="3307" r:id="rId8"/>
    <p:sldId id="3304" r:id="rId9"/>
    <p:sldId id="2007578494" r:id="rId10"/>
    <p:sldId id="2007578495" r:id="rId11"/>
    <p:sldId id="2007578496" r:id="rId12"/>
    <p:sldId id="2007578493" r:id="rId13"/>
    <p:sldId id="3306" r:id="rId14"/>
    <p:sldId id="3310" r:id="rId15"/>
    <p:sldId id="3312" r:id="rId16"/>
    <p:sldId id="3313" r:id="rId17"/>
    <p:sldId id="3314" r:id="rId18"/>
    <p:sldId id="3315" r:id="rId19"/>
    <p:sldId id="3316" r:id="rId20"/>
    <p:sldId id="3331" r:id="rId21"/>
    <p:sldId id="3318" r:id="rId22"/>
    <p:sldId id="3319" r:id="rId23"/>
    <p:sldId id="3394" r:id="rId24"/>
    <p:sldId id="3396" r:id="rId25"/>
    <p:sldId id="3395" r:id="rId26"/>
    <p:sldId id="2007578497" r:id="rId27"/>
    <p:sldId id="2007578499" r:id="rId28"/>
    <p:sldId id="3321" r:id="rId29"/>
    <p:sldId id="2007578498" r:id="rId30"/>
    <p:sldId id="3322" r:id="rId31"/>
    <p:sldId id="3308" r:id="rId32"/>
    <p:sldId id="2007578500" r:id="rId33"/>
    <p:sldId id="2007578501" r:id="rId34"/>
    <p:sldId id="3324" r:id="rId35"/>
    <p:sldId id="2007578509" r:id="rId36"/>
    <p:sldId id="3309" r:id="rId37"/>
    <p:sldId id="2007578502" r:id="rId38"/>
    <p:sldId id="3332" r:id="rId39"/>
    <p:sldId id="3334" r:id="rId40"/>
    <p:sldId id="3333" r:id="rId41"/>
    <p:sldId id="3337" r:id="rId42"/>
    <p:sldId id="3338" r:id="rId43"/>
    <p:sldId id="3339" r:id="rId44"/>
    <p:sldId id="3383" r:id="rId45"/>
    <p:sldId id="2007578503" r:id="rId46"/>
    <p:sldId id="3384" r:id="rId47"/>
    <p:sldId id="2007578505" r:id="rId48"/>
    <p:sldId id="3340" r:id="rId49"/>
    <p:sldId id="2007578525" r:id="rId50"/>
    <p:sldId id="2007578510" r:id="rId51"/>
    <p:sldId id="3341" r:id="rId52"/>
    <p:sldId id="2007578516" r:id="rId53"/>
    <p:sldId id="2007578518" r:id="rId54"/>
    <p:sldId id="2007578517" r:id="rId55"/>
    <p:sldId id="2007578519" r:id="rId56"/>
    <p:sldId id="2007578520" r:id="rId57"/>
    <p:sldId id="2007578521" r:id="rId58"/>
    <p:sldId id="2007578522" r:id="rId59"/>
    <p:sldId id="2007578523" r:id="rId60"/>
    <p:sldId id="3344" r:id="rId61"/>
    <p:sldId id="2007578506" r:id="rId62"/>
    <p:sldId id="3376" r:id="rId63"/>
    <p:sldId id="3343" r:id="rId64"/>
    <p:sldId id="2007578513" r:id="rId65"/>
    <p:sldId id="2007578524" r:id="rId66"/>
    <p:sldId id="2007578514" r:id="rId67"/>
    <p:sldId id="2007578512" r:id="rId68"/>
    <p:sldId id="3347" r:id="rId69"/>
    <p:sldId id="2007578515" r:id="rId70"/>
    <p:sldId id="3352" r:id="rId71"/>
    <p:sldId id="3355" r:id="rId72"/>
    <p:sldId id="3356" r:id="rId73"/>
    <p:sldId id="3357" r:id="rId74"/>
    <p:sldId id="3358" r:id="rId75"/>
    <p:sldId id="3359" r:id="rId76"/>
    <p:sldId id="3361" r:id="rId77"/>
    <p:sldId id="3362" r:id="rId78"/>
    <p:sldId id="3365" r:id="rId79"/>
    <p:sldId id="3366" r:id="rId80"/>
    <p:sldId id="3391" r:id="rId81"/>
    <p:sldId id="3392" r:id="rId82"/>
    <p:sldId id="3393" r:id="rId83"/>
    <p:sldId id="3390" r:id="rId84"/>
    <p:sldId id="3367" r:id="rId85"/>
    <p:sldId id="3368" r:id="rId86"/>
    <p:sldId id="3378" r:id="rId87"/>
    <p:sldId id="2007578526" r:id="rId88"/>
    <p:sldId id="3369" r:id="rId89"/>
    <p:sldId id="3370" r:id="rId90"/>
    <p:sldId id="3372" r:id="rId91"/>
    <p:sldId id="3371" r:id="rId92"/>
    <p:sldId id="3373" r:id="rId93"/>
    <p:sldId id="3374" r:id="rId94"/>
    <p:sldId id="3379" r:id="rId95"/>
    <p:sldId id="3380" r:id="rId96"/>
    <p:sldId id="3382" r:id="rId97"/>
    <p:sldId id="3381" r:id="rId98"/>
    <p:sldId id="3388" r:id="rId99"/>
    <p:sldId id="3387" r:id="rId100"/>
    <p:sldId id="3389" r:id="rId101"/>
    <p:sldId id="3386" r:id="rId10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3"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42C68"/>
    <a:srgbClr val="40404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7" autoAdjust="0"/>
    <p:restoredTop sz="92350" autoAdjust="0"/>
  </p:normalViewPr>
  <p:slideViewPr>
    <p:cSldViewPr snapToGrid="0">
      <p:cViewPr varScale="1">
        <p:scale>
          <a:sx n="76" d="100"/>
          <a:sy n="76" d="100"/>
        </p:scale>
        <p:origin x="840" y="58"/>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38F73C6-CAF0-4F5F-90A8-7D38D47DA6A7}" type="doc">
      <dgm:prSet loTypeId="urn:microsoft.com/office/officeart/2005/8/layout/process4" loCatId="process" qsTypeId="urn:microsoft.com/office/officeart/2005/8/quickstyle/simple1" qsCatId="simple" csTypeId="urn:microsoft.com/office/officeart/2005/8/colors/colorful4#1" csCatId="colorful" phldr="1"/>
      <dgm:spPr/>
      <dgm:t>
        <a:bodyPr/>
        <a:lstStyle/>
        <a:p>
          <a:endParaRPr lang="zh-TW" altLang="en-US"/>
        </a:p>
      </dgm:t>
    </dgm:pt>
    <dgm:pt modelId="{9B088B17-FAF7-4E68-8951-4553CB1D1B43}">
      <dgm:prSet phldrT="[文字]" custT="1"/>
      <dgm:spPr/>
      <dgm:t>
        <a:bodyPr/>
        <a:lstStyle/>
        <a:p>
          <a:r>
            <a:rPr lang="en-US" altLang="zh-TW" sz="3200" dirty="0">
              <a:latin typeface="Times New Roman" panose="02020603050405020304" charset="0"/>
              <a:cs typeface="Times New Roman" panose="02020603050405020304" charset="0"/>
            </a:rPr>
            <a:t>Step 1: define a set of function              </a:t>
          </a:r>
          <a:endParaRPr lang="zh-TW" altLang="en-US" sz="3200" dirty="0">
            <a:latin typeface="Times New Roman" panose="02020603050405020304" charset="0"/>
            <a:cs typeface="Times New Roman" panose="02020603050405020304" charset="0"/>
          </a:endParaRPr>
        </a:p>
      </dgm:t>
    </dgm:pt>
    <dgm:pt modelId="{6D3AE3D4-D523-41E8-92C1-C24D394989AC}" type="parTrans" cxnId="{B3C4566F-6345-4982-AC70-9237EABB9DCA}">
      <dgm:prSet/>
      <dgm:spPr/>
      <dgm:t>
        <a:bodyPr/>
        <a:lstStyle/>
        <a:p>
          <a:endParaRPr lang="zh-TW" altLang="en-US"/>
        </a:p>
      </dgm:t>
    </dgm:pt>
    <dgm:pt modelId="{B9092FDF-71F5-4CDE-B867-D02BF5D059AB}" type="sibTrans" cxnId="{B3C4566F-6345-4982-AC70-9237EABB9DCA}">
      <dgm:prSet/>
      <dgm:spPr/>
      <dgm:t>
        <a:bodyPr/>
        <a:lstStyle/>
        <a:p>
          <a:endParaRPr lang="zh-TW" altLang="en-US"/>
        </a:p>
      </dgm:t>
    </dgm:pt>
    <dgm:pt modelId="{C045E27F-CC6D-44E4-921E-043A45D69E29}">
      <dgm:prSet phldrT="[文字]" custT="1"/>
      <dgm:spPr/>
      <dgm:t>
        <a:bodyPr/>
        <a:lstStyle/>
        <a:p>
          <a:r>
            <a:rPr lang="en-US" altLang="zh-TW" sz="3200" dirty="0">
              <a:latin typeface="Times New Roman" panose="02020603050405020304" charset="0"/>
              <a:cs typeface="Times New Roman" panose="02020603050405020304" charset="0"/>
            </a:rPr>
            <a:t>Step 2: goodness of function</a:t>
          </a:r>
          <a:endParaRPr lang="zh-TW" altLang="en-US" sz="3200" dirty="0">
            <a:latin typeface="Times New Roman" panose="02020603050405020304" charset="0"/>
            <a:cs typeface="Times New Roman" panose="02020603050405020304" charset="0"/>
          </a:endParaRPr>
        </a:p>
      </dgm:t>
    </dgm:pt>
    <dgm:pt modelId="{AE92E503-D95A-45BB-B593-6A6A2342715E}" type="parTrans" cxnId="{0A39D95E-F8A0-4CD2-A57A-9BA16AD4935E}">
      <dgm:prSet/>
      <dgm:spPr/>
      <dgm:t>
        <a:bodyPr/>
        <a:lstStyle/>
        <a:p>
          <a:endParaRPr lang="zh-TW" altLang="en-US"/>
        </a:p>
      </dgm:t>
    </dgm:pt>
    <dgm:pt modelId="{3F87110D-8A08-4156-B984-FAC40F2BCBC7}" type="sibTrans" cxnId="{0A39D95E-F8A0-4CD2-A57A-9BA16AD4935E}">
      <dgm:prSet/>
      <dgm:spPr/>
      <dgm:t>
        <a:bodyPr/>
        <a:lstStyle/>
        <a:p>
          <a:endParaRPr lang="zh-TW" altLang="en-US"/>
        </a:p>
      </dgm:t>
    </dgm:pt>
    <dgm:pt modelId="{6E633C15-BDBA-46FE-B4C2-DD22AAB1629D}">
      <dgm:prSet phldrT="[文字]" custT="1"/>
      <dgm:spPr/>
      <dgm:t>
        <a:bodyPr/>
        <a:lstStyle/>
        <a:p>
          <a:r>
            <a:rPr lang="en-US" altLang="zh-TW" sz="3200" dirty="0">
              <a:latin typeface="Times New Roman" panose="02020603050405020304" charset="0"/>
              <a:cs typeface="Times New Roman" panose="02020603050405020304" charset="0"/>
            </a:rPr>
            <a:t>Step 3: pick the best function</a:t>
          </a:r>
          <a:endParaRPr lang="zh-TW" altLang="en-US" sz="3200" dirty="0">
            <a:latin typeface="Times New Roman" panose="02020603050405020304" charset="0"/>
            <a:cs typeface="Times New Roman" panose="02020603050405020304" charset="0"/>
          </a:endParaRPr>
        </a:p>
      </dgm:t>
    </dgm:pt>
    <dgm:pt modelId="{44F827EE-A0CA-427C-A76A-65840A148D57}" type="parTrans" cxnId="{EAAB4069-9C34-465D-9CDC-BDFBB741B3D5}">
      <dgm:prSet/>
      <dgm:spPr/>
      <dgm:t>
        <a:bodyPr/>
        <a:lstStyle/>
        <a:p>
          <a:endParaRPr lang="zh-TW" altLang="en-US"/>
        </a:p>
      </dgm:t>
    </dgm:pt>
    <dgm:pt modelId="{D3E3BF7C-F9D5-48DE-9454-9501EE53C243}" type="sibTrans" cxnId="{EAAB4069-9C34-465D-9CDC-BDFBB741B3D5}">
      <dgm:prSet/>
      <dgm:spPr/>
      <dgm:t>
        <a:bodyPr/>
        <a:lstStyle/>
        <a:p>
          <a:endParaRPr lang="zh-TW" altLang="en-US"/>
        </a:p>
      </dgm:t>
    </dgm:pt>
    <dgm:pt modelId="{3662EEEA-979E-495A-8E71-C48CDB0BB455}" type="pres">
      <dgm:prSet presAssocID="{338F73C6-CAF0-4F5F-90A8-7D38D47DA6A7}" presName="Name0" presStyleCnt="0">
        <dgm:presLayoutVars>
          <dgm:dir/>
          <dgm:animLvl val="lvl"/>
          <dgm:resizeHandles val="exact"/>
        </dgm:presLayoutVars>
      </dgm:prSet>
      <dgm:spPr/>
    </dgm:pt>
    <dgm:pt modelId="{46DE4021-BA95-4917-9551-43ECCA844D9D}" type="pres">
      <dgm:prSet presAssocID="{6E633C15-BDBA-46FE-B4C2-DD22AAB1629D}" presName="boxAndChildren" presStyleCnt="0"/>
      <dgm:spPr/>
    </dgm:pt>
    <dgm:pt modelId="{EF8DF8C9-B159-41BE-98D5-D6757343F54B}" type="pres">
      <dgm:prSet presAssocID="{6E633C15-BDBA-46FE-B4C2-DD22AAB1629D}" presName="parentTextBox" presStyleLbl="node1" presStyleIdx="0" presStyleCnt="3"/>
      <dgm:spPr/>
    </dgm:pt>
    <dgm:pt modelId="{2E2479ED-070F-46E7-A901-5DF6B12590CE}" type="pres">
      <dgm:prSet presAssocID="{3F87110D-8A08-4156-B984-FAC40F2BCBC7}" presName="sp" presStyleCnt="0"/>
      <dgm:spPr/>
    </dgm:pt>
    <dgm:pt modelId="{9358B299-9DEA-47B3-B2EE-E0A727AAA3FA}" type="pres">
      <dgm:prSet presAssocID="{C045E27F-CC6D-44E4-921E-043A45D69E29}" presName="arrowAndChildren" presStyleCnt="0"/>
      <dgm:spPr/>
    </dgm:pt>
    <dgm:pt modelId="{CC79D3D5-9A8A-4191-83E2-7CDB53064805}" type="pres">
      <dgm:prSet presAssocID="{C045E27F-CC6D-44E4-921E-043A45D69E29}" presName="parentTextArrow" presStyleLbl="node1" presStyleIdx="1" presStyleCnt="3"/>
      <dgm:spPr/>
    </dgm:pt>
    <dgm:pt modelId="{40B0FF22-FC78-493D-8859-CAE7EB10C43C}" type="pres">
      <dgm:prSet presAssocID="{B9092FDF-71F5-4CDE-B867-D02BF5D059AB}" presName="sp" presStyleCnt="0"/>
      <dgm:spPr/>
    </dgm:pt>
    <dgm:pt modelId="{41BE1B0E-E5A0-49EF-838D-5B9F9C8C3E34}" type="pres">
      <dgm:prSet presAssocID="{9B088B17-FAF7-4E68-8951-4553CB1D1B43}" presName="arrowAndChildren" presStyleCnt="0"/>
      <dgm:spPr/>
    </dgm:pt>
    <dgm:pt modelId="{EF76621B-300A-4B85-A68D-21B3AA638756}" type="pres">
      <dgm:prSet presAssocID="{9B088B17-FAF7-4E68-8951-4553CB1D1B43}" presName="parentTextArrow" presStyleLbl="node1" presStyleIdx="2" presStyleCnt="3"/>
      <dgm:spPr/>
    </dgm:pt>
  </dgm:ptLst>
  <dgm:cxnLst>
    <dgm:cxn modelId="{83551410-9C8B-4AD5-ADAE-8750CE3008C5}" type="presOf" srcId="{C045E27F-CC6D-44E4-921E-043A45D69E29}" destId="{CC79D3D5-9A8A-4191-83E2-7CDB53064805}" srcOrd="0" destOrd="0" presId="urn:microsoft.com/office/officeart/2005/8/layout/process4"/>
    <dgm:cxn modelId="{84D2D816-9049-48AA-A235-00BD0B0664D3}" type="presOf" srcId="{338F73C6-CAF0-4F5F-90A8-7D38D47DA6A7}" destId="{3662EEEA-979E-495A-8E71-C48CDB0BB455}" srcOrd="0" destOrd="0" presId="urn:microsoft.com/office/officeart/2005/8/layout/process4"/>
    <dgm:cxn modelId="{0A39D95E-F8A0-4CD2-A57A-9BA16AD4935E}" srcId="{338F73C6-CAF0-4F5F-90A8-7D38D47DA6A7}" destId="{C045E27F-CC6D-44E4-921E-043A45D69E29}" srcOrd="1" destOrd="0" parTransId="{AE92E503-D95A-45BB-B593-6A6A2342715E}" sibTransId="{3F87110D-8A08-4156-B984-FAC40F2BCBC7}"/>
    <dgm:cxn modelId="{EAAB4069-9C34-465D-9CDC-BDFBB741B3D5}" srcId="{338F73C6-CAF0-4F5F-90A8-7D38D47DA6A7}" destId="{6E633C15-BDBA-46FE-B4C2-DD22AAB1629D}" srcOrd="2" destOrd="0" parTransId="{44F827EE-A0CA-427C-A76A-65840A148D57}" sibTransId="{D3E3BF7C-F9D5-48DE-9454-9501EE53C243}"/>
    <dgm:cxn modelId="{B3C4566F-6345-4982-AC70-9237EABB9DCA}" srcId="{338F73C6-CAF0-4F5F-90A8-7D38D47DA6A7}" destId="{9B088B17-FAF7-4E68-8951-4553CB1D1B43}" srcOrd="0" destOrd="0" parTransId="{6D3AE3D4-D523-41E8-92C1-C24D394989AC}" sibTransId="{B9092FDF-71F5-4CDE-B867-D02BF5D059AB}"/>
    <dgm:cxn modelId="{9CE803D7-AE64-4EB8-A192-170E790D6E60}" type="presOf" srcId="{6E633C15-BDBA-46FE-B4C2-DD22AAB1629D}" destId="{EF8DF8C9-B159-41BE-98D5-D6757343F54B}" srcOrd="0" destOrd="0" presId="urn:microsoft.com/office/officeart/2005/8/layout/process4"/>
    <dgm:cxn modelId="{C3527FF7-07A8-47A7-9D09-825751C8AA63}" type="presOf" srcId="{9B088B17-FAF7-4E68-8951-4553CB1D1B43}" destId="{EF76621B-300A-4B85-A68D-21B3AA638756}" srcOrd="0" destOrd="0" presId="urn:microsoft.com/office/officeart/2005/8/layout/process4"/>
    <dgm:cxn modelId="{E63EA712-993E-4224-80D6-71483BB6FAB4}" type="presParOf" srcId="{3662EEEA-979E-495A-8E71-C48CDB0BB455}" destId="{46DE4021-BA95-4917-9551-43ECCA844D9D}" srcOrd="0" destOrd="0" presId="urn:microsoft.com/office/officeart/2005/8/layout/process4"/>
    <dgm:cxn modelId="{FEE5C02A-7918-442F-8EC4-D6A5DDF1D982}" type="presParOf" srcId="{46DE4021-BA95-4917-9551-43ECCA844D9D}" destId="{EF8DF8C9-B159-41BE-98D5-D6757343F54B}" srcOrd="0" destOrd="0" presId="urn:microsoft.com/office/officeart/2005/8/layout/process4"/>
    <dgm:cxn modelId="{7614C11F-C4E3-4111-AD69-DC941D9C34DB}" type="presParOf" srcId="{3662EEEA-979E-495A-8E71-C48CDB0BB455}" destId="{2E2479ED-070F-46E7-A901-5DF6B12590CE}" srcOrd="1" destOrd="0" presId="urn:microsoft.com/office/officeart/2005/8/layout/process4"/>
    <dgm:cxn modelId="{B0C40299-7B97-492D-8D12-6962D39FAF30}" type="presParOf" srcId="{3662EEEA-979E-495A-8E71-C48CDB0BB455}" destId="{9358B299-9DEA-47B3-B2EE-E0A727AAA3FA}" srcOrd="2" destOrd="0" presId="urn:microsoft.com/office/officeart/2005/8/layout/process4"/>
    <dgm:cxn modelId="{66554407-914A-4792-BD15-F939F91C47FF}" type="presParOf" srcId="{9358B299-9DEA-47B3-B2EE-E0A727AAA3FA}" destId="{CC79D3D5-9A8A-4191-83E2-7CDB53064805}" srcOrd="0" destOrd="0" presId="urn:microsoft.com/office/officeart/2005/8/layout/process4"/>
    <dgm:cxn modelId="{D0772681-AEC8-4697-A7CE-1CC93E6256BD}" type="presParOf" srcId="{3662EEEA-979E-495A-8E71-C48CDB0BB455}" destId="{40B0FF22-FC78-493D-8859-CAE7EB10C43C}" srcOrd="3" destOrd="0" presId="urn:microsoft.com/office/officeart/2005/8/layout/process4"/>
    <dgm:cxn modelId="{A5CF7E92-94FF-496A-A800-4F5255DC648F}" type="presParOf" srcId="{3662EEEA-979E-495A-8E71-C48CDB0BB455}" destId="{41BE1B0E-E5A0-49EF-838D-5B9F9C8C3E34}" srcOrd="4" destOrd="0" presId="urn:microsoft.com/office/officeart/2005/8/layout/process4"/>
    <dgm:cxn modelId="{542379FA-9C25-496A-9FAC-0329192A74A1}" type="presParOf" srcId="{41BE1B0E-E5A0-49EF-838D-5B9F9C8C3E34}" destId="{EF76621B-300A-4B85-A68D-21B3AA63875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8F73C6-CAF0-4F5F-90A8-7D38D47DA6A7}" type="doc">
      <dgm:prSet loTypeId="urn:microsoft.com/office/officeart/2005/8/layout/process4" loCatId="process" qsTypeId="urn:microsoft.com/office/officeart/2005/8/quickstyle/simple1" qsCatId="simple" csTypeId="urn:microsoft.com/office/officeart/2005/8/colors/colorful4#1" csCatId="colorful" phldr="1"/>
      <dgm:spPr/>
      <dgm:t>
        <a:bodyPr/>
        <a:lstStyle/>
        <a:p>
          <a:endParaRPr lang="zh-TW" altLang="en-US"/>
        </a:p>
      </dgm:t>
    </dgm:pt>
    <dgm:pt modelId="{9B088B17-FAF7-4E68-8951-4553CB1D1B43}">
      <dgm:prSet phldrT="[文字]" custT="1"/>
      <dgm:spPr/>
      <dgm:t>
        <a:bodyPr/>
        <a:lstStyle/>
        <a:p>
          <a:r>
            <a:rPr lang="en-US" altLang="zh-TW" sz="3200" dirty="0">
              <a:latin typeface="Times New Roman" panose="02020603050405020304" charset="0"/>
              <a:cs typeface="Times New Roman" panose="02020603050405020304" charset="0"/>
            </a:rPr>
            <a:t>Step 1: define a set of function              </a:t>
          </a:r>
          <a:endParaRPr lang="zh-TW" altLang="en-US" sz="3200" dirty="0">
            <a:latin typeface="Times New Roman" panose="02020603050405020304" charset="0"/>
            <a:cs typeface="Times New Roman" panose="02020603050405020304" charset="0"/>
          </a:endParaRPr>
        </a:p>
      </dgm:t>
    </dgm:pt>
    <dgm:pt modelId="{6D3AE3D4-D523-41E8-92C1-C24D394989AC}" type="parTrans" cxnId="{B3C4566F-6345-4982-AC70-9237EABB9DCA}">
      <dgm:prSet/>
      <dgm:spPr/>
      <dgm:t>
        <a:bodyPr/>
        <a:lstStyle/>
        <a:p>
          <a:endParaRPr lang="zh-TW" altLang="en-US"/>
        </a:p>
      </dgm:t>
    </dgm:pt>
    <dgm:pt modelId="{B9092FDF-71F5-4CDE-B867-D02BF5D059AB}" type="sibTrans" cxnId="{B3C4566F-6345-4982-AC70-9237EABB9DCA}">
      <dgm:prSet/>
      <dgm:spPr/>
      <dgm:t>
        <a:bodyPr/>
        <a:lstStyle/>
        <a:p>
          <a:endParaRPr lang="zh-TW" altLang="en-US"/>
        </a:p>
      </dgm:t>
    </dgm:pt>
    <dgm:pt modelId="{C045E27F-CC6D-44E4-921E-043A45D69E29}">
      <dgm:prSet phldrT="[文字]" custT="1"/>
      <dgm:spPr/>
      <dgm:t>
        <a:bodyPr/>
        <a:lstStyle/>
        <a:p>
          <a:r>
            <a:rPr lang="en-US" altLang="zh-TW" sz="3200" dirty="0">
              <a:latin typeface="Times New Roman" panose="02020603050405020304" charset="0"/>
              <a:cs typeface="Times New Roman" panose="02020603050405020304" charset="0"/>
            </a:rPr>
            <a:t>Step 2: goodness of function</a:t>
          </a:r>
          <a:endParaRPr lang="zh-TW" altLang="en-US" sz="3200" dirty="0">
            <a:latin typeface="Times New Roman" panose="02020603050405020304" charset="0"/>
            <a:cs typeface="Times New Roman" panose="02020603050405020304" charset="0"/>
          </a:endParaRPr>
        </a:p>
      </dgm:t>
    </dgm:pt>
    <dgm:pt modelId="{AE92E503-D95A-45BB-B593-6A6A2342715E}" type="parTrans" cxnId="{0A39D95E-F8A0-4CD2-A57A-9BA16AD4935E}">
      <dgm:prSet/>
      <dgm:spPr/>
      <dgm:t>
        <a:bodyPr/>
        <a:lstStyle/>
        <a:p>
          <a:endParaRPr lang="zh-TW" altLang="en-US"/>
        </a:p>
      </dgm:t>
    </dgm:pt>
    <dgm:pt modelId="{3F87110D-8A08-4156-B984-FAC40F2BCBC7}" type="sibTrans" cxnId="{0A39D95E-F8A0-4CD2-A57A-9BA16AD4935E}">
      <dgm:prSet/>
      <dgm:spPr/>
      <dgm:t>
        <a:bodyPr/>
        <a:lstStyle/>
        <a:p>
          <a:endParaRPr lang="zh-TW" altLang="en-US"/>
        </a:p>
      </dgm:t>
    </dgm:pt>
    <dgm:pt modelId="{6E633C15-BDBA-46FE-B4C2-DD22AAB1629D}">
      <dgm:prSet phldrT="[文字]" custT="1"/>
      <dgm:spPr/>
      <dgm:t>
        <a:bodyPr/>
        <a:lstStyle/>
        <a:p>
          <a:r>
            <a:rPr lang="en-US" altLang="zh-TW" sz="3200" dirty="0">
              <a:latin typeface="Times New Roman" panose="02020603050405020304" charset="0"/>
              <a:cs typeface="Times New Roman" panose="02020603050405020304" charset="0"/>
            </a:rPr>
            <a:t>Step 3: pick the best function</a:t>
          </a:r>
          <a:endParaRPr lang="zh-TW" altLang="en-US" sz="3200" dirty="0">
            <a:latin typeface="Times New Roman" panose="02020603050405020304" charset="0"/>
            <a:cs typeface="Times New Roman" panose="02020603050405020304" charset="0"/>
          </a:endParaRPr>
        </a:p>
      </dgm:t>
    </dgm:pt>
    <dgm:pt modelId="{44F827EE-A0CA-427C-A76A-65840A148D57}" type="parTrans" cxnId="{EAAB4069-9C34-465D-9CDC-BDFBB741B3D5}">
      <dgm:prSet/>
      <dgm:spPr/>
      <dgm:t>
        <a:bodyPr/>
        <a:lstStyle/>
        <a:p>
          <a:endParaRPr lang="zh-TW" altLang="en-US"/>
        </a:p>
      </dgm:t>
    </dgm:pt>
    <dgm:pt modelId="{D3E3BF7C-F9D5-48DE-9454-9501EE53C243}" type="sibTrans" cxnId="{EAAB4069-9C34-465D-9CDC-BDFBB741B3D5}">
      <dgm:prSet/>
      <dgm:spPr/>
      <dgm:t>
        <a:bodyPr/>
        <a:lstStyle/>
        <a:p>
          <a:endParaRPr lang="zh-TW" altLang="en-US"/>
        </a:p>
      </dgm:t>
    </dgm:pt>
    <dgm:pt modelId="{3662EEEA-979E-495A-8E71-C48CDB0BB455}" type="pres">
      <dgm:prSet presAssocID="{338F73C6-CAF0-4F5F-90A8-7D38D47DA6A7}" presName="Name0" presStyleCnt="0">
        <dgm:presLayoutVars>
          <dgm:dir/>
          <dgm:animLvl val="lvl"/>
          <dgm:resizeHandles val="exact"/>
        </dgm:presLayoutVars>
      </dgm:prSet>
      <dgm:spPr/>
    </dgm:pt>
    <dgm:pt modelId="{46DE4021-BA95-4917-9551-43ECCA844D9D}" type="pres">
      <dgm:prSet presAssocID="{6E633C15-BDBA-46FE-B4C2-DD22AAB1629D}" presName="boxAndChildren" presStyleCnt="0"/>
      <dgm:spPr/>
    </dgm:pt>
    <dgm:pt modelId="{EF8DF8C9-B159-41BE-98D5-D6757343F54B}" type="pres">
      <dgm:prSet presAssocID="{6E633C15-BDBA-46FE-B4C2-DD22AAB1629D}" presName="parentTextBox" presStyleLbl="node1" presStyleIdx="0" presStyleCnt="3"/>
      <dgm:spPr/>
    </dgm:pt>
    <dgm:pt modelId="{2E2479ED-070F-46E7-A901-5DF6B12590CE}" type="pres">
      <dgm:prSet presAssocID="{3F87110D-8A08-4156-B984-FAC40F2BCBC7}" presName="sp" presStyleCnt="0"/>
      <dgm:spPr/>
    </dgm:pt>
    <dgm:pt modelId="{9358B299-9DEA-47B3-B2EE-E0A727AAA3FA}" type="pres">
      <dgm:prSet presAssocID="{C045E27F-CC6D-44E4-921E-043A45D69E29}" presName="arrowAndChildren" presStyleCnt="0"/>
      <dgm:spPr/>
    </dgm:pt>
    <dgm:pt modelId="{CC79D3D5-9A8A-4191-83E2-7CDB53064805}" type="pres">
      <dgm:prSet presAssocID="{C045E27F-CC6D-44E4-921E-043A45D69E29}" presName="parentTextArrow" presStyleLbl="node1" presStyleIdx="1" presStyleCnt="3"/>
      <dgm:spPr/>
    </dgm:pt>
    <dgm:pt modelId="{40B0FF22-FC78-493D-8859-CAE7EB10C43C}" type="pres">
      <dgm:prSet presAssocID="{B9092FDF-71F5-4CDE-B867-D02BF5D059AB}" presName="sp" presStyleCnt="0"/>
      <dgm:spPr/>
    </dgm:pt>
    <dgm:pt modelId="{41BE1B0E-E5A0-49EF-838D-5B9F9C8C3E34}" type="pres">
      <dgm:prSet presAssocID="{9B088B17-FAF7-4E68-8951-4553CB1D1B43}" presName="arrowAndChildren" presStyleCnt="0"/>
      <dgm:spPr/>
    </dgm:pt>
    <dgm:pt modelId="{EF76621B-300A-4B85-A68D-21B3AA638756}" type="pres">
      <dgm:prSet presAssocID="{9B088B17-FAF7-4E68-8951-4553CB1D1B43}" presName="parentTextArrow" presStyleLbl="node1" presStyleIdx="2" presStyleCnt="3"/>
      <dgm:spPr/>
    </dgm:pt>
  </dgm:ptLst>
  <dgm:cxnLst>
    <dgm:cxn modelId="{83551410-9C8B-4AD5-ADAE-8750CE3008C5}" type="presOf" srcId="{C045E27F-CC6D-44E4-921E-043A45D69E29}" destId="{CC79D3D5-9A8A-4191-83E2-7CDB53064805}" srcOrd="0" destOrd="0" presId="urn:microsoft.com/office/officeart/2005/8/layout/process4"/>
    <dgm:cxn modelId="{84D2D816-9049-48AA-A235-00BD0B0664D3}" type="presOf" srcId="{338F73C6-CAF0-4F5F-90A8-7D38D47DA6A7}" destId="{3662EEEA-979E-495A-8E71-C48CDB0BB455}" srcOrd="0" destOrd="0" presId="urn:microsoft.com/office/officeart/2005/8/layout/process4"/>
    <dgm:cxn modelId="{0A39D95E-F8A0-4CD2-A57A-9BA16AD4935E}" srcId="{338F73C6-CAF0-4F5F-90A8-7D38D47DA6A7}" destId="{C045E27F-CC6D-44E4-921E-043A45D69E29}" srcOrd="1" destOrd="0" parTransId="{AE92E503-D95A-45BB-B593-6A6A2342715E}" sibTransId="{3F87110D-8A08-4156-B984-FAC40F2BCBC7}"/>
    <dgm:cxn modelId="{EAAB4069-9C34-465D-9CDC-BDFBB741B3D5}" srcId="{338F73C6-CAF0-4F5F-90A8-7D38D47DA6A7}" destId="{6E633C15-BDBA-46FE-B4C2-DD22AAB1629D}" srcOrd="2" destOrd="0" parTransId="{44F827EE-A0CA-427C-A76A-65840A148D57}" sibTransId="{D3E3BF7C-F9D5-48DE-9454-9501EE53C243}"/>
    <dgm:cxn modelId="{B3C4566F-6345-4982-AC70-9237EABB9DCA}" srcId="{338F73C6-CAF0-4F5F-90A8-7D38D47DA6A7}" destId="{9B088B17-FAF7-4E68-8951-4553CB1D1B43}" srcOrd="0" destOrd="0" parTransId="{6D3AE3D4-D523-41E8-92C1-C24D394989AC}" sibTransId="{B9092FDF-71F5-4CDE-B867-D02BF5D059AB}"/>
    <dgm:cxn modelId="{9CE803D7-AE64-4EB8-A192-170E790D6E60}" type="presOf" srcId="{6E633C15-BDBA-46FE-B4C2-DD22AAB1629D}" destId="{EF8DF8C9-B159-41BE-98D5-D6757343F54B}" srcOrd="0" destOrd="0" presId="urn:microsoft.com/office/officeart/2005/8/layout/process4"/>
    <dgm:cxn modelId="{C3527FF7-07A8-47A7-9D09-825751C8AA63}" type="presOf" srcId="{9B088B17-FAF7-4E68-8951-4553CB1D1B43}" destId="{EF76621B-300A-4B85-A68D-21B3AA638756}" srcOrd="0" destOrd="0" presId="urn:microsoft.com/office/officeart/2005/8/layout/process4"/>
    <dgm:cxn modelId="{E63EA712-993E-4224-80D6-71483BB6FAB4}" type="presParOf" srcId="{3662EEEA-979E-495A-8E71-C48CDB0BB455}" destId="{46DE4021-BA95-4917-9551-43ECCA844D9D}" srcOrd="0" destOrd="0" presId="urn:microsoft.com/office/officeart/2005/8/layout/process4"/>
    <dgm:cxn modelId="{FEE5C02A-7918-442F-8EC4-D6A5DDF1D982}" type="presParOf" srcId="{46DE4021-BA95-4917-9551-43ECCA844D9D}" destId="{EF8DF8C9-B159-41BE-98D5-D6757343F54B}" srcOrd="0" destOrd="0" presId="urn:microsoft.com/office/officeart/2005/8/layout/process4"/>
    <dgm:cxn modelId="{7614C11F-C4E3-4111-AD69-DC941D9C34DB}" type="presParOf" srcId="{3662EEEA-979E-495A-8E71-C48CDB0BB455}" destId="{2E2479ED-070F-46E7-A901-5DF6B12590CE}" srcOrd="1" destOrd="0" presId="urn:microsoft.com/office/officeart/2005/8/layout/process4"/>
    <dgm:cxn modelId="{B0C40299-7B97-492D-8D12-6962D39FAF30}" type="presParOf" srcId="{3662EEEA-979E-495A-8E71-C48CDB0BB455}" destId="{9358B299-9DEA-47B3-B2EE-E0A727AAA3FA}" srcOrd="2" destOrd="0" presId="urn:microsoft.com/office/officeart/2005/8/layout/process4"/>
    <dgm:cxn modelId="{66554407-914A-4792-BD15-F939F91C47FF}" type="presParOf" srcId="{9358B299-9DEA-47B3-B2EE-E0A727AAA3FA}" destId="{CC79D3D5-9A8A-4191-83E2-7CDB53064805}" srcOrd="0" destOrd="0" presId="urn:microsoft.com/office/officeart/2005/8/layout/process4"/>
    <dgm:cxn modelId="{D0772681-AEC8-4697-A7CE-1CC93E6256BD}" type="presParOf" srcId="{3662EEEA-979E-495A-8E71-C48CDB0BB455}" destId="{40B0FF22-FC78-493D-8859-CAE7EB10C43C}" srcOrd="3" destOrd="0" presId="urn:microsoft.com/office/officeart/2005/8/layout/process4"/>
    <dgm:cxn modelId="{A5CF7E92-94FF-496A-A800-4F5255DC648F}" type="presParOf" srcId="{3662EEEA-979E-495A-8E71-C48CDB0BB455}" destId="{41BE1B0E-E5A0-49EF-838D-5B9F9C8C3E34}" srcOrd="4" destOrd="0" presId="urn:microsoft.com/office/officeart/2005/8/layout/process4"/>
    <dgm:cxn modelId="{542379FA-9C25-496A-9FAC-0329192A74A1}" type="presParOf" srcId="{41BE1B0E-E5A0-49EF-838D-5B9F9C8C3E34}" destId="{EF76621B-300A-4B85-A68D-21B3AA63875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8F73C6-CAF0-4F5F-90A8-7D38D47DA6A7}" type="doc">
      <dgm:prSet loTypeId="urn:microsoft.com/office/officeart/2005/8/layout/process4" loCatId="process" qsTypeId="urn:microsoft.com/office/officeart/2005/8/quickstyle/simple1" qsCatId="simple" csTypeId="urn:microsoft.com/office/officeart/2005/8/colors/colorful4#1" csCatId="colorful" phldr="1"/>
      <dgm:spPr/>
      <dgm:t>
        <a:bodyPr/>
        <a:lstStyle/>
        <a:p>
          <a:endParaRPr lang="zh-TW" altLang="en-US"/>
        </a:p>
      </dgm:t>
    </dgm:pt>
    <dgm:pt modelId="{9B088B17-FAF7-4E68-8951-4553CB1D1B43}">
      <dgm:prSet phldrT="[文字]" custT="1"/>
      <dgm:spPr/>
      <dgm:t>
        <a:bodyPr/>
        <a:lstStyle/>
        <a:p>
          <a:r>
            <a:rPr lang="en-US" altLang="zh-TW" sz="3200" dirty="0">
              <a:latin typeface="Times New Roman" panose="02020603050405020304" charset="0"/>
              <a:cs typeface="Times New Roman" panose="02020603050405020304" charset="0"/>
            </a:rPr>
            <a:t>Step 1: define a set of function              </a:t>
          </a:r>
          <a:endParaRPr lang="zh-TW" altLang="en-US" sz="3200" dirty="0">
            <a:latin typeface="Times New Roman" panose="02020603050405020304" charset="0"/>
            <a:cs typeface="Times New Roman" panose="02020603050405020304" charset="0"/>
          </a:endParaRPr>
        </a:p>
      </dgm:t>
    </dgm:pt>
    <dgm:pt modelId="{6D3AE3D4-D523-41E8-92C1-C24D394989AC}" type="parTrans" cxnId="{B3C4566F-6345-4982-AC70-9237EABB9DCA}">
      <dgm:prSet/>
      <dgm:spPr/>
      <dgm:t>
        <a:bodyPr/>
        <a:lstStyle/>
        <a:p>
          <a:endParaRPr lang="zh-TW" altLang="en-US"/>
        </a:p>
      </dgm:t>
    </dgm:pt>
    <dgm:pt modelId="{B9092FDF-71F5-4CDE-B867-D02BF5D059AB}" type="sibTrans" cxnId="{B3C4566F-6345-4982-AC70-9237EABB9DCA}">
      <dgm:prSet/>
      <dgm:spPr/>
      <dgm:t>
        <a:bodyPr/>
        <a:lstStyle/>
        <a:p>
          <a:endParaRPr lang="zh-TW" altLang="en-US"/>
        </a:p>
      </dgm:t>
    </dgm:pt>
    <dgm:pt modelId="{C045E27F-CC6D-44E4-921E-043A45D69E29}">
      <dgm:prSet phldrT="[文字]" custT="1"/>
      <dgm:spPr/>
      <dgm:t>
        <a:bodyPr/>
        <a:lstStyle/>
        <a:p>
          <a:r>
            <a:rPr lang="en-US" altLang="zh-TW" sz="3200" dirty="0">
              <a:latin typeface="Times New Roman" panose="02020603050405020304" charset="0"/>
              <a:cs typeface="Times New Roman" panose="02020603050405020304" charset="0"/>
            </a:rPr>
            <a:t>Step 2: goodness of function</a:t>
          </a:r>
          <a:endParaRPr lang="zh-TW" altLang="en-US" sz="3200" dirty="0">
            <a:latin typeface="Times New Roman" panose="02020603050405020304" charset="0"/>
            <a:cs typeface="Times New Roman" panose="02020603050405020304" charset="0"/>
          </a:endParaRPr>
        </a:p>
      </dgm:t>
    </dgm:pt>
    <dgm:pt modelId="{AE92E503-D95A-45BB-B593-6A6A2342715E}" type="parTrans" cxnId="{0A39D95E-F8A0-4CD2-A57A-9BA16AD4935E}">
      <dgm:prSet/>
      <dgm:spPr/>
      <dgm:t>
        <a:bodyPr/>
        <a:lstStyle/>
        <a:p>
          <a:endParaRPr lang="zh-TW" altLang="en-US"/>
        </a:p>
      </dgm:t>
    </dgm:pt>
    <dgm:pt modelId="{3F87110D-8A08-4156-B984-FAC40F2BCBC7}" type="sibTrans" cxnId="{0A39D95E-F8A0-4CD2-A57A-9BA16AD4935E}">
      <dgm:prSet/>
      <dgm:spPr/>
      <dgm:t>
        <a:bodyPr/>
        <a:lstStyle/>
        <a:p>
          <a:endParaRPr lang="zh-TW" altLang="en-US"/>
        </a:p>
      </dgm:t>
    </dgm:pt>
    <dgm:pt modelId="{6E633C15-BDBA-46FE-B4C2-DD22AAB1629D}">
      <dgm:prSet phldrT="[文字]" custT="1"/>
      <dgm:spPr/>
      <dgm:t>
        <a:bodyPr/>
        <a:lstStyle/>
        <a:p>
          <a:r>
            <a:rPr lang="en-US" altLang="zh-TW" sz="3200" dirty="0">
              <a:latin typeface="Times New Roman" panose="02020603050405020304" charset="0"/>
              <a:cs typeface="Times New Roman" panose="02020603050405020304" charset="0"/>
            </a:rPr>
            <a:t>Step 3: pick the best function</a:t>
          </a:r>
          <a:endParaRPr lang="zh-TW" altLang="en-US" sz="3200" dirty="0">
            <a:latin typeface="Times New Roman" panose="02020603050405020304" charset="0"/>
            <a:cs typeface="Times New Roman" panose="02020603050405020304" charset="0"/>
          </a:endParaRPr>
        </a:p>
      </dgm:t>
    </dgm:pt>
    <dgm:pt modelId="{44F827EE-A0CA-427C-A76A-65840A148D57}" type="parTrans" cxnId="{EAAB4069-9C34-465D-9CDC-BDFBB741B3D5}">
      <dgm:prSet/>
      <dgm:spPr/>
      <dgm:t>
        <a:bodyPr/>
        <a:lstStyle/>
        <a:p>
          <a:endParaRPr lang="zh-TW" altLang="en-US"/>
        </a:p>
      </dgm:t>
    </dgm:pt>
    <dgm:pt modelId="{D3E3BF7C-F9D5-48DE-9454-9501EE53C243}" type="sibTrans" cxnId="{EAAB4069-9C34-465D-9CDC-BDFBB741B3D5}">
      <dgm:prSet/>
      <dgm:spPr/>
      <dgm:t>
        <a:bodyPr/>
        <a:lstStyle/>
        <a:p>
          <a:endParaRPr lang="zh-TW" altLang="en-US"/>
        </a:p>
      </dgm:t>
    </dgm:pt>
    <dgm:pt modelId="{3662EEEA-979E-495A-8E71-C48CDB0BB455}" type="pres">
      <dgm:prSet presAssocID="{338F73C6-CAF0-4F5F-90A8-7D38D47DA6A7}" presName="Name0" presStyleCnt="0">
        <dgm:presLayoutVars>
          <dgm:dir/>
          <dgm:animLvl val="lvl"/>
          <dgm:resizeHandles val="exact"/>
        </dgm:presLayoutVars>
      </dgm:prSet>
      <dgm:spPr/>
    </dgm:pt>
    <dgm:pt modelId="{46DE4021-BA95-4917-9551-43ECCA844D9D}" type="pres">
      <dgm:prSet presAssocID="{6E633C15-BDBA-46FE-B4C2-DD22AAB1629D}" presName="boxAndChildren" presStyleCnt="0"/>
      <dgm:spPr/>
    </dgm:pt>
    <dgm:pt modelId="{EF8DF8C9-B159-41BE-98D5-D6757343F54B}" type="pres">
      <dgm:prSet presAssocID="{6E633C15-BDBA-46FE-B4C2-DD22AAB1629D}" presName="parentTextBox" presStyleLbl="node1" presStyleIdx="0" presStyleCnt="3"/>
      <dgm:spPr/>
    </dgm:pt>
    <dgm:pt modelId="{2E2479ED-070F-46E7-A901-5DF6B12590CE}" type="pres">
      <dgm:prSet presAssocID="{3F87110D-8A08-4156-B984-FAC40F2BCBC7}" presName="sp" presStyleCnt="0"/>
      <dgm:spPr/>
    </dgm:pt>
    <dgm:pt modelId="{9358B299-9DEA-47B3-B2EE-E0A727AAA3FA}" type="pres">
      <dgm:prSet presAssocID="{C045E27F-CC6D-44E4-921E-043A45D69E29}" presName="arrowAndChildren" presStyleCnt="0"/>
      <dgm:spPr/>
    </dgm:pt>
    <dgm:pt modelId="{CC79D3D5-9A8A-4191-83E2-7CDB53064805}" type="pres">
      <dgm:prSet presAssocID="{C045E27F-CC6D-44E4-921E-043A45D69E29}" presName="parentTextArrow" presStyleLbl="node1" presStyleIdx="1" presStyleCnt="3"/>
      <dgm:spPr/>
    </dgm:pt>
    <dgm:pt modelId="{40B0FF22-FC78-493D-8859-CAE7EB10C43C}" type="pres">
      <dgm:prSet presAssocID="{B9092FDF-71F5-4CDE-B867-D02BF5D059AB}" presName="sp" presStyleCnt="0"/>
      <dgm:spPr/>
    </dgm:pt>
    <dgm:pt modelId="{41BE1B0E-E5A0-49EF-838D-5B9F9C8C3E34}" type="pres">
      <dgm:prSet presAssocID="{9B088B17-FAF7-4E68-8951-4553CB1D1B43}" presName="arrowAndChildren" presStyleCnt="0"/>
      <dgm:spPr/>
    </dgm:pt>
    <dgm:pt modelId="{EF76621B-300A-4B85-A68D-21B3AA638756}" type="pres">
      <dgm:prSet presAssocID="{9B088B17-FAF7-4E68-8951-4553CB1D1B43}" presName="parentTextArrow" presStyleLbl="node1" presStyleIdx="2" presStyleCnt="3"/>
      <dgm:spPr/>
    </dgm:pt>
  </dgm:ptLst>
  <dgm:cxnLst>
    <dgm:cxn modelId="{83551410-9C8B-4AD5-ADAE-8750CE3008C5}" type="presOf" srcId="{C045E27F-CC6D-44E4-921E-043A45D69E29}" destId="{CC79D3D5-9A8A-4191-83E2-7CDB53064805}" srcOrd="0" destOrd="0" presId="urn:microsoft.com/office/officeart/2005/8/layout/process4"/>
    <dgm:cxn modelId="{84D2D816-9049-48AA-A235-00BD0B0664D3}" type="presOf" srcId="{338F73C6-CAF0-4F5F-90A8-7D38D47DA6A7}" destId="{3662EEEA-979E-495A-8E71-C48CDB0BB455}" srcOrd="0" destOrd="0" presId="urn:microsoft.com/office/officeart/2005/8/layout/process4"/>
    <dgm:cxn modelId="{0A39D95E-F8A0-4CD2-A57A-9BA16AD4935E}" srcId="{338F73C6-CAF0-4F5F-90A8-7D38D47DA6A7}" destId="{C045E27F-CC6D-44E4-921E-043A45D69E29}" srcOrd="1" destOrd="0" parTransId="{AE92E503-D95A-45BB-B593-6A6A2342715E}" sibTransId="{3F87110D-8A08-4156-B984-FAC40F2BCBC7}"/>
    <dgm:cxn modelId="{EAAB4069-9C34-465D-9CDC-BDFBB741B3D5}" srcId="{338F73C6-CAF0-4F5F-90A8-7D38D47DA6A7}" destId="{6E633C15-BDBA-46FE-B4C2-DD22AAB1629D}" srcOrd="2" destOrd="0" parTransId="{44F827EE-A0CA-427C-A76A-65840A148D57}" sibTransId="{D3E3BF7C-F9D5-48DE-9454-9501EE53C243}"/>
    <dgm:cxn modelId="{B3C4566F-6345-4982-AC70-9237EABB9DCA}" srcId="{338F73C6-CAF0-4F5F-90A8-7D38D47DA6A7}" destId="{9B088B17-FAF7-4E68-8951-4553CB1D1B43}" srcOrd="0" destOrd="0" parTransId="{6D3AE3D4-D523-41E8-92C1-C24D394989AC}" sibTransId="{B9092FDF-71F5-4CDE-B867-D02BF5D059AB}"/>
    <dgm:cxn modelId="{9CE803D7-AE64-4EB8-A192-170E790D6E60}" type="presOf" srcId="{6E633C15-BDBA-46FE-B4C2-DD22AAB1629D}" destId="{EF8DF8C9-B159-41BE-98D5-D6757343F54B}" srcOrd="0" destOrd="0" presId="urn:microsoft.com/office/officeart/2005/8/layout/process4"/>
    <dgm:cxn modelId="{C3527FF7-07A8-47A7-9D09-825751C8AA63}" type="presOf" srcId="{9B088B17-FAF7-4E68-8951-4553CB1D1B43}" destId="{EF76621B-300A-4B85-A68D-21B3AA638756}" srcOrd="0" destOrd="0" presId="urn:microsoft.com/office/officeart/2005/8/layout/process4"/>
    <dgm:cxn modelId="{E63EA712-993E-4224-80D6-71483BB6FAB4}" type="presParOf" srcId="{3662EEEA-979E-495A-8E71-C48CDB0BB455}" destId="{46DE4021-BA95-4917-9551-43ECCA844D9D}" srcOrd="0" destOrd="0" presId="urn:microsoft.com/office/officeart/2005/8/layout/process4"/>
    <dgm:cxn modelId="{FEE5C02A-7918-442F-8EC4-D6A5DDF1D982}" type="presParOf" srcId="{46DE4021-BA95-4917-9551-43ECCA844D9D}" destId="{EF8DF8C9-B159-41BE-98D5-D6757343F54B}" srcOrd="0" destOrd="0" presId="urn:microsoft.com/office/officeart/2005/8/layout/process4"/>
    <dgm:cxn modelId="{7614C11F-C4E3-4111-AD69-DC941D9C34DB}" type="presParOf" srcId="{3662EEEA-979E-495A-8E71-C48CDB0BB455}" destId="{2E2479ED-070F-46E7-A901-5DF6B12590CE}" srcOrd="1" destOrd="0" presId="urn:microsoft.com/office/officeart/2005/8/layout/process4"/>
    <dgm:cxn modelId="{B0C40299-7B97-492D-8D12-6962D39FAF30}" type="presParOf" srcId="{3662EEEA-979E-495A-8E71-C48CDB0BB455}" destId="{9358B299-9DEA-47B3-B2EE-E0A727AAA3FA}" srcOrd="2" destOrd="0" presId="urn:microsoft.com/office/officeart/2005/8/layout/process4"/>
    <dgm:cxn modelId="{66554407-914A-4792-BD15-F939F91C47FF}" type="presParOf" srcId="{9358B299-9DEA-47B3-B2EE-E0A727AAA3FA}" destId="{CC79D3D5-9A8A-4191-83E2-7CDB53064805}" srcOrd="0" destOrd="0" presId="urn:microsoft.com/office/officeart/2005/8/layout/process4"/>
    <dgm:cxn modelId="{D0772681-AEC8-4697-A7CE-1CC93E6256BD}" type="presParOf" srcId="{3662EEEA-979E-495A-8E71-C48CDB0BB455}" destId="{40B0FF22-FC78-493D-8859-CAE7EB10C43C}" srcOrd="3" destOrd="0" presId="urn:microsoft.com/office/officeart/2005/8/layout/process4"/>
    <dgm:cxn modelId="{A5CF7E92-94FF-496A-A800-4F5255DC648F}" type="presParOf" srcId="{3662EEEA-979E-495A-8E71-C48CDB0BB455}" destId="{41BE1B0E-E5A0-49EF-838D-5B9F9C8C3E34}" srcOrd="4" destOrd="0" presId="urn:microsoft.com/office/officeart/2005/8/layout/process4"/>
    <dgm:cxn modelId="{542379FA-9C25-496A-9FAC-0329192A74A1}" type="presParOf" srcId="{41BE1B0E-E5A0-49EF-838D-5B9F9C8C3E34}" destId="{EF76621B-300A-4B85-A68D-21B3AA63875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8F73C6-CAF0-4F5F-90A8-7D38D47DA6A7}" type="doc">
      <dgm:prSet loTypeId="urn:microsoft.com/office/officeart/2005/8/layout/process4" loCatId="process" qsTypeId="urn:microsoft.com/office/officeart/2005/8/quickstyle/simple1" qsCatId="simple" csTypeId="urn:microsoft.com/office/officeart/2005/8/colors/colorful4#1" csCatId="colorful" phldr="1"/>
      <dgm:spPr/>
      <dgm:t>
        <a:bodyPr/>
        <a:lstStyle/>
        <a:p>
          <a:endParaRPr lang="zh-TW" altLang="en-US"/>
        </a:p>
      </dgm:t>
    </dgm:pt>
    <dgm:pt modelId="{9B088B17-FAF7-4E68-8951-4553CB1D1B43}">
      <dgm:prSet phldrT="[文字]" custT="1"/>
      <dgm:spPr/>
      <dgm:t>
        <a:bodyPr/>
        <a:lstStyle/>
        <a:p>
          <a:r>
            <a:rPr lang="en-US" altLang="zh-TW" sz="3200" dirty="0">
              <a:latin typeface="Times New Roman" panose="02020603050405020304" charset="0"/>
              <a:cs typeface="Times New Roman" panose="02020603050405020304" charset="0"/>
            </a:rPr>
            <a:t>Step 1: define a set of function              </a:t>
          </a:r>
          <a:endParaRPr lang="zh-TW" altLang="en-US" sz="3200" dirty="0">
            <a:latin typeface="Times New Roman" panose="02020603050405020304" charset="0"/>
            <a:cs typeface="Times New Roman" panose="02020603050405020304" charset="0"/>
          </a:endParaRPr>
        </a:p>
      </dgm:t>
    </dgm:pt>
    <dgm:pt modelId="{6D3AE3D4-D523-41E8-92C1-C24D394989AC}" type="parTrans" cxnId="{B3C4566F-6345-4982-AC70-9237EABB9DCA}">
      <dgm:prSet/>
      <dgm:spPr/>
      <dgm:t>
        <a:bodyPr/>
        <a:lstStyle/>
        <a:p>
          <a:endParaRPr lang="zh-TW" altLang="en-US"/>
        </a:p>
      </dgm:t>
    </dgm:pt>
    <dgm:pt modelId="{B9092FDF-71F5-4CDE-B867-D02BF5D059AB}" type="sibTrans" cxnId="{B3C4566F-6345-4982-AC70-9237EABB9DCA}">
      <dgm:prSet/>
      <dgm:spPr/>
      <dgm:t>
        <a:bodyPr/>
        <a:lstStyle/>
        <a:p>
          <a:endParaRPr lang="zh-TW" altLang="en-US"/>
        </a:p>
      </dgm:t>
    </dgm:pt>
    <dgm:pt modelId="{C045E27F-CC6D-44E4-921E-043A45D69E29}">
      <dgm:prSet phldrT="[文字]" custT="1"/>
      <dgm:spPr/>
      <dgm:t>
        <a:bodyPr/>
        <a:lstStyle/>
        <a:p>
          <a:r>
            <a:rPr lang="en-US" altLang="zh-TW" sz="3200" dirty="0">
              <a:latin typeface="Times New Roman" panose="02020603050405020304" charset="0"/>
              <a:cs typeface="Times New Roman" panose="02020603050405020304" charset="0"/>
            </a:rPr>
            <a:t>Step 2: goodness of function</a:t>
          </a:r>
          <a:endParaRPr lang="zh-TW" altLang="en-US" sz="3200" dirty="0">
            <a:latin typeface="Times New Roman" panose="02020603050405020304" charset="0"/>
            <a:cs typeface="Times New Roman" panose="02020603050405020304" charset="0"/>
          </a:endParaRPr>
        </a:p>
      </dgm:t>
    </dgm:pt>
    <dgm:pt modelId="{AE92E503-D95A-45BB-B593-6A6A2342715E}" type="parTrans" cxnId="{0A39D95E-F8A0-4CD2-A57A-9BA16AD4935E}">
      <dgm:prSet/>
      <dgm:spPr/>
      <dgm:t>
        <a:bodyPr/>
        <a:lstStyle/>
        <a:p>
          <a:endParaRPr lang="zh-TW" altLang="en-US"/>
        </a:p>
      </dgm:t>
    </dgm:pt>
    <dgm:pt modelId="{3F87110D-8A08-4156-B984-FAC40F2BCBC7}" type="sibTrans" cxnId="{0A39D95E-F8A0-4CD2-A57A-9BA16AD4935E}">
      <dgm:prSet/>
      <dgm:spPr/>
      <dgm:t>
        <a:bodyPr/>
        <a:lstStyle/>
        <a:p>
          <a:endParaRPr lang="zh-TW" altLang="en-US"/>
        </a:p>
      </dgm:t>
    </dgm:pt>
    <dgm:pt modelId="{6E633C15-BDBA-46FE-B4C2-DD22AAB1629D}">
      <dgm:prSet phldrT="[文字]" custT="1"/>
      <dgm:spPr/>
      <dgm:t>
        <a:bodyPr/>
        <a:lstStyle/>
        <a:p>
          <a:r>
            <a:rPr lang="en-US" altLang="zh-TW" sz="3200" dirty="0">
              <a:latin typeface="Times New Roman" panose="02020603050405020304" charset="0"/>
              <a:cs typeface="Times New Roman" panose="02020603050405020304" charset="0"/>
            </a:rPr>
            <a:t>Step 3: pick the best function</a:t>
          </a:r>
          <a:endParaRPr lang="zh-TW" altLang="en-US" sz="3200" dirty="0">
            <a:latin typeface="Times New Roman" panose="02020603050405020304" charset="0"/>
            <a:cs typeface="Times New Roman" panose="02020603050405020304" charset="0"/>
          </a:endParaRPr>
        </a:p>
      </dgm:t>
    </dgm:pt>
    <dgm:pt modelId="{44F827EE-A0CA-427C-A76A-65840A148D57}" type="parTrans" cxnId="{EAAB4069-9C34-465D-9CDC-BDFBB741B3D5}">
      <dgm:prSet/>
      <dgm:spPr/>
      <dgm:t>
        <a:bodyPr/>
        <a:lstStyle/>
        <a:p>
          <a:endParaRPr lang="zh-TW" altLang="en-US"/>
        </a:p>
      </dgm:t>
    </dgm:pt>
    <dgm:pt modelId="{D3E3BF7C-F9D5-48DE-9454-9501EE53C243}" type="sibTrans" cxnId="{EAAB4069-9C34-465D-9CDC-BDFBB741B3D5}">
      <dgm:prSet/>
      <dgm:spPr/>
      <dgm:t>
        <a:bodyPr/>
        <a:lstStyle/>
        <a:p>
          <a:endParaRPr lang="zh-TW" altLang="en-US"/>
        </a:p>
      </dgm:t>
    </dgm:pt>
    <dgm:pt modelId="{3662EEEA-979E-495A-8E71-C48CDB0BB455}" type="pres">
      <dgm:prSet presAssocID="{338F73C6-CAF0-4F5F-90A8-7D38D47DA6A7}" presName="Name0" presStyleCnt="0">
        <dgm:presLayoutVars>
          <dgm:dir/>
          <dgm:animLvl val="lvl"/>
          <dgm:resizeHandles val="exact"/>
        </dgm:presLayoutVars>
      </dgm:prSet>
      <dgm:spPr/>
    </dgm:pt>
    <dgm:pt modelId="{46DE4021-BA95-4917-9551-43ECCA844D9D}" type="pres">
      <dgm:prSet presAssocID="{6E633C15-BDBA-46FE-B4C2-DD22AAB1629D}" presName="boxAndChildren" presStyleCnt="0"/>
      <dgm:spPr/>
    </dgm:pt>
    <dgm:pt modelId="{EF8DF8C9-B159-41BE-98D5-D6757343F54B}" type="pres">
      <dgm:prSet presAssocID="{6E633C15-BDBA-46FE-B4C2-DD22AAB1629D}" presName="parentTextBox" presStyleLbl="node1" presStyleIdx="0" presStyleCnt="3"/>
      <dgm:spPr/>
    </dgm:pt>
    <dgm:pt modelId="{2E2479ED-070F-46E7-A901-5DF6B12590CE}" type="pres">
      <dgm:prSet presAssocID="{3F87110D-8A08-4156-B984-FAC40F2BCBC7}" presName="sp" presStyleCnt="0"/>
      <dgm:spPr/>
    </dgm:pt>
    <dgm:pt modelId="{9358B299-9DEA-47B3-B2EE-E0A727AAA3FA}" type="pres">
      <dgm:prSet presAssocID="{C045E27F-CC6D-44E4-921E-043A45D69E29}" presName="arrowAndChildren" presStyleCnt="0"/>
      <dgm:spPr/>
    </dgm:pt>
    <dgm:pt modelId="{CC79D3D5-9A8A-4191-83E2-7CDB53064805}" type="pres">
      <dgm:prSet presAssocID="{C045E27F-CC6D-44E4-921E-043A45D69E29}" presName="parentTextArrow" presStyleLbl="node1" presStyleIdx="1" presStyleCnt="3"/>
      <dgm:spPr/>
    </dgm:pt>
    <dgm:pt modelId="{40B0FF22-FC78-493D-8859-CAE7EB10C43C}" type="pres">
      <dgm:prSet presAssocID="{B9092FDF-71F5-4CDE-B867-D02BF5D059AB}" presName="sp" presStyleCnt="0"/>
      <dgm:spPr/>
    </dgm:pt>
    <dgm:pt modelId="{41BE1B0E-E5A0-49EF-838D-5B9F9C8C3E34}" type="pres">
      <dgm:prSet presAssocID="{9B088B17-FAF7-4E68-8951-4553CB1D1B43}" presName="arrowAndChildren" presStyleCnt="0"/>
      <dgm:spPr/>
    </dgm:pt>
    <dgm:pt modelId="{EF76621B-300A-4B85-A68D-21B3AA638756}" type="pres">
      <dgm:prSet presAssocID="{9B088B17-FAF7-4E68-8951-4553CB1D1B43}" presName="parentTextArrow" presStyleLbl="node1" presStyleIdx="2" presStyleCnt="3"/>
      <dgm:spPr/>
    </dgm:pt>
  </dgm:ptLst>
  <dgm:cxnLst>
    <dgm:cxn modelId="{83551410-9C8B-4AD5-ADAE-8750CE3008C5}" type="presOf" srcId="{C045E27F-CC6D-44E4-921E-043A45D69E29}" destId="{CC79D3D5-9A8A-4191-83E2-7CDB53064805}" srcOrd="0" destOrd="0" presId="urn:microsoft.com/office/officeart/2005/8/layout/process4"/>
    <dgm:cxn modelId="{84D2D816-9049-48AA-A235-00BD0B0664D3}" type="presOf" srcId="{338F73C6-CAF0-4F5F-90A8-7D38D47DA6A7}" destId="{3662EEEA-979E-495A-8E71-C48CDB0BB455}" srcOrd="0" destOrd="0" presId="urn:microsoft.com/office/officeart/2005/8/layout/process4"/>
    <dgm:cxn modelId="{0A39D95E-F8A0-4CD2-A57A-9BA16AD4935E}" srcId="{338F73C6-CAF0-4F5F-90A8-7D38D47DA6A7}" destId="{C045E27F-CC6D-44E4-921E-043A45D69E29}" srcOrd="1" destOrd="0" parTransId="{AE92E503-D95A-45BB-B593-6A6A2342715E}" sibTransId="{3F87110D-8A08-4156-B984-FAC40F2BCBC7}"/>
    <dgm:cxn modelId="{EAAB4069-9C34-465D-9CDC-BDFBB741B3D5}" srcId="{338F73C6-CAF0-4F5F-90A8-7D38D47DA6A7}" destId="{6E633C15-BDBA-46FE-B4C2-DD22AAB1629D}" srcOrd="2" destOrd="0" parTransId="{44F827EE-A0CA-427C-A76A-65840A148D57}" sibTransId="{D3E3BF7C-F9D5-48DE-9454-9501EE53C243}"/>
    <dgm:cxn modelId="{B3C4566F-6345-4982-AC70-9237EABB9DCA}" srcId="{338F73C6-CAF0-4F5F-90A8-7D38D47DA6A7}" destId="{9B088B17-FAF7-4E68-8951-4553CB1D1B43}" srcOrd="0" destOrd="0" parTransId="{6D3AE3D4-D523-41E8-92C1-C24D394989AC}" sibTransId="{B9092FDF-71F5-4CDE-B867-D02BF5D059AB}"/>
    <dgm:cxn modelId="{9CE803D7-AE64-4EB8-A192-170E790D6E60}" type="presOf" srcId="{6E633C15-BDBA-46FE-B4C2-DD22AAB1629D}" destId="{EF8DF8C9-B159-41BE-98D5-D6757343F54B}" srcOrd="0" destOrd="0" presId="urn:microsoft.com/office/officeart/2005/8/layout/process4"/>
    <dgm:cxn modelId="{C3527FF7-07A8-47A7-9D09-825751C8AA63}" type="presOf" srcId="{9B088B17-FAF7-4E68-8951-4553CB1D1B43}" destId="{EF76621B-300A-4B85-A68D-21B3AA638756}" srcOrd="0" destOrd="0" presId="urn:microsoft.com/office/officeart/2005/8/layout/process4"/>
    <dgm:cxn modelId="{E63EA712-993E-4224-80D6-71483BB6FAB4}" type="presParOf" srcId="{3662EEEA-979E-495A-8E71-C48CDB0BB455}" destId="{46DE4021-BA95-4917-9551-43ECCA844D9D}" srcOrd="0" destOrd="0" presId="urn:microsoft.com/office/officeart/2005/8/layout/process4"/>
    <dgm:cxn modelId="{FEE5C02A-7918-442F-8EC4-D6A5DDF1D982}" type="presParOf" srcId="{46DE4021-BA95-4917-9551-43ECCA844D9D}" destId="{EF8DF8C9-B159-41BE-98D5-D6757343F54B}" srcOrd="0" destOrd="0" presId="urn:microsoft.com/office/officeart/2005/8/layout/process4"/>
    <dgm:cxn modelId="{7614C11F-C4E3-4111-AD69-DC941D9C34DB}" type="presParOf" srcId="{3662EEEA-979E-495A-8E71-C48CDB0BB455}" destId="{2E2479ED-070F-46E7-A901-5DF6B12590CE}" srcOrd="1" destOrd="0" presId="urn:microsoft.com/office/officeart/2005/8/layout/process4"/>
    <dgm:cxn modelId="{B0C40299-7B97-492D-8D12-6962D39FAF30}" type="presParOf" srcId="{3662EEEA-979E-495A-8E71-C48CDB0BB455}" destId="{9358B299-9DEA-47B3-B2EE-E0A727AAA3FA}" srcOrd="2" destOrd="0" presId="urn:microsoft.com/office/officeart/2005/8/layout/process4"/>
    <dgm:cxn modelId="{66554407-914A-4792-BD15-F939F91C47FF}" type="presParOf" srcId="{9358B299-9DEA-47B3-B2EE-E0A727AAA3FA}" destId="{CC79D3D5-9A8A-4191-83E2-7CDB53064805}" srcOrd="0" destOrd="0" presId="urn:microsoft.com/office/officeart/2005/8/layout/process4"/>
    <dgm:cxn modelId="{D0772681-AEC8-4697-A7CE-1CC93E6256BD}" type="presParOf" srcId="{3662EEEA-979E-495A-8E71-C48CDB0BB455}" destId="{40B0FF22-FC78-493D-8859-CAE7EB10C43C}" srcOrd="3" destOrd="0" presId="urn:microsoft.com/office/officeart/2005/8/layout/process4"/>
    <dgm:cxn modelId="{A5CF7E92-94FF-496A-A800-4F5255DC648F}" type="presParOf" srcId="{3662EEEA-979E-495A-8E71-C48CDB0BB455}" destId="{41BE1B0E-E5A0-49EF-838D-5B9F9C8C3E34}" srcOrd="4" destOrd="0" presId="urn:microsoft.com/office/officeart/2005/8/layout/process4"/>
    <dgm:cxn modelId="{542379FA-9C25-496A-9FAC-0329192A74A1}" type="presParOf" srcId="{41BE1B0E-E5A0-49EF-838D-5B9F9C8C3E34}" destId="{EF76621B-300A-4B85-A68D-21B3AA63875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DF8C9-B159-41BE-98D5-D6757343F54B}">
      <dsp:nvSpPr>
        <dsp:cNvPr id="0" name=""/>
        <dsp:cNvSpPr/>
      </dsp:nvSpPr>
      <dsp:spPr>
        <a:xfrm>
          <a:off x="0" y="3275482"/>
          <a:ext cx="7886700" cy="107508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3: pick the best function</a:t>
          </a:r>
          <a:endParaRPr lang="zh-TW" altLang="en-US" sz="3200" kern="1200" dirty="0">
            <a:latin typeface="Times New Roman" panose="02020603050405020304" charset="0"/>
            <a:cs typeface="Times New Roman" panose="02020603050405020304" charset="0"/>
          </a:endParaRPr>
        </a:p>
      </dsp:txBody>
      <dsp:txXfrm>
        <a:off x="0" y="3275482"/>
        <a:ext cx="7886700" cy="1075086"/>
      </dsp:txXfrm>
    </dsp:sp>
    <dsp:sp modelId="{CC79D3D5-9A8A-4191-83E2-7CDB53064805}">
      <dsp:nvSpPr>
        <dsp:cNvPr id="0" name=""/>
        <dsp:cNvSpPr/>
      </dsp:nvSpPr>
      <dsp:spPr>
        <a:xfrm rot="10800000">
          <a:off x="0" y="1638125"/>
          <a:ext cx="7886700" cy="1653482"/>
        </a:xfrm>
        <a:prstGeom prst="upArrowCallou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2: goodness of function</a:t>
          </a:r>
          <a:endParaRPr lang="zh-TW" altLang="en-US" sz="3200" kern="1200" dirty="0">
            <a:latin typeface="Times New Roman" panose="02020603050405020304" charset="0"/>
            <a:cs typeface="Times New Roman" panose="02020603050405020304" charset="0"/>
          </a:endParaRPr>
        </a:p>
      </dsp:txBody>
      <dsp:txXfrm rot="10800000">
        <a:off x="0" y="1638125"/>
        <a:ext cx="7886700" cy="1074383"/>
      </dsp:txXfrm>
    </dsp:sp>
    <dsp:sp modelId="{EF76621B-300A-4B85-A68D-21B3AA638756}">
      <dsp:nvSpPr>
        <dsp:cNvPr id="0" name=""/>
        <dsp:cNvSpPr/>
      </dsp:nvSpPr>
      <dsp:spPr>
        <a:xfrm rot="10800000">
          <a:off x="0" y="769"/>
          <a:ext cx="7886700" cy="1653482"/>
        </a:xfrm>
        <a:prstGeom prst="upArrowCallou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1: define a set of function              </a:t>
          </a:r>
          <a:endParaRPr lang="zh-TW" altLang="en-US" sz="3200" kern="1200" dirty="0">
            <a:latin typeface="Times New Roman" panose="02020603050405020304" charset="0"/>
            <a:cs typeface="Times New Roman" panose="02020603050405020304" charset="0"/>
          </a:endParaRPr>
        </a:p>
      </dsp:txBody>
      <dsp:txXfrm rot="10800000">
        <a:off x="0" y="769"/>
        <a:ext cx="7886700" cy="10743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DF8C9-B159-41BE-98D5-D6757343F54B}">
      <dsp:nvSpPr>
        <dsp:cNvPr id="0" name=""/>
        <dsp:cNvSpPr/>
      </dsp:nvSpPr>
      <dsp:spPr>
        <a:xfrm>
          <a:off x="0" y="3275482"/>
          <a:ext cx="7886700" cy="107508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3: pick the best function</a:t>
          </a:r>
          <a:endParaRPr lang="zh-TW" altLang="en-US" sz="3200" kern="1200" dirty="0">
            <a:latin typeface="Times New Roman" panose="02020603050405020304" charset="0"/>
            <a:cs typeface="Times New Roman" panose="02020603050405020304" charset="0"/>
          </a:endParaRPr>
        </a:p>
      </dsp:txBody>
      <dsp:txXfrm>
        <a:off x="0" y="3275482"/>
        <a:ext cx="7886700" cy="1075086"/>
      </dsp:txXfrm>
    </dsp:sp>
    <dsp:sp modelId="{CC79D3D5-9A8A-4191-83E2-7CDB53064805}">
      <dsp:nvSpPr>
        <dsp:cNvPr id="0" name=""/>
        <dsp:cNvSpPr/>
      </dsp:nvSpPr>
      <dsp:spPr>
        <a:xfrm rot="10800000">
          <a:off x="0" y="1638125"/>
          <a:ext cx="7886700" cy="1653482"/>
        </a:xfrm>
        <a:prstGeom prst="upArrowCallou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2: goodness of function</a:t>
          </a:r>
          <a:endParaRPr lang="zh-TW" altLang="en-US" sz="3200" kern="1200" dirty="0">
            <a:latin typeface="Times New Roman" panose="02020603050405020304" charset="0"/>
            <a:cs typeface="Times New Roman" panose="02020603050405020304" charset="0"/>
          </a:endParaRPr>
        </a:p>
      </dsp:txBody>
      <dsp:txXfrm rot="10800000">
        <a:off x="0" y="1638125"/>
        <a:ext cx="7886700" cy="1074383"/>
      </dsp:txXfrm>
    </dsp:sp>
    <dsp:sp modelId="{EF76621B-300A-4B85-A68D-21B3AA638756}">
      <dsp:nvSpPr>
        <dsp:cNvPr id="0" name=""/>
        <dsp:cNvSpPr/>
      </dsp:nvSpPr>
      <dsp:spPr>
        <a:xfrm rot="10800000">
          <a:off x="0" y="769"/>
          <a:ext cx="7886700" cy="1653482"/>
        </a:xfrm>
        <a:prstGeom prst="upArrowCallou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1: define a set of function              </a:t>
          </a:r>
          <a:endParaRPr lang="zh-TW" altLang="en-US" sz="3200" kern="1200" dirty="0">
            <a:latin typeface="Times New Roman" panose="02020603050405020304" charset="0"/>
            <a:cs typeface="Times New Roman" panose="02020603050405020304" charset="0"/>
          </a:endParaRPr>
        </a:p>
      </dsp:txBody>
      <dsp:txXfrm rot="10800000">
        <a:off x="0" y="769"/>
        <a:ext cx="7886700" cy="10743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DF8C9-B159-41BE-98D5-D6757343F54B}">
      <dsp:nvSpPr>
        <dsp:cNvPr id="0" name=""/>
        <dsp:cNvSpPr/>
      </dsp:nvSpPr>
      <dsp:spPr>
        <a:xfrm>
          <a:off x="0" y="3275482"/>
          <a:ext cx="7886700" cy="107508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3: pick the best function</a:t>
          </a:r>
          <a:endParaRPr lang="zh-TW" altLang="en-US" sz="3200" kern="1200" dirty="0">
            <a:latin typeface="Times New Roman" panose="02020603050405020304" charset="0"/>
            <a:cs typeface="Times New Roman" panose="02020603050405020304" charset="0"/>
          </a:endParaRPr>
        </a:p>
      </dsp:txBody>
      <dsp:txXfrm>
        <a:off x="0" y="3275482"/>
        <a:ext cx="7886700" cy="1075086"/>
      </dsp:txXfrm>
    </dsp:sp>
    <dsp:sp modelId="{CC79D3D5-9A8A-4191-83E2-7CDB53064805}">
      <dsp:nvSpPr>
        <dsp:cNvPr id="0" name=""/>
        <dsp:cNvSpPr/>
      </dsp:nvSpPr>
      <dsp:spPr>
        <a:xfrm rot="10800000">
          <a:off x="0" y="1638125"/>
          <a:ext cx="7886700" cy="1653482"/>
        </a:xfrm>
        <a:prstGeom prst="upArrowCallou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2: goodness of function</a:t>
          </a:r>
          <a:endParaRPr lang="zh-TW" altLang="en-US" sz="3200" kern="1200" dirty="0">
            <a:latin typeface="Times New Roman" panose="02020603050405020304" charset="0"/>
            <a:cs typeface="Times New Roman" panose="02020603050405020304" charset="0"/>
          </a:endParaRPr>
        </a:p>
      </dsp:txBody>
      <dsp:txXfrm rot="10800000">
        <a:off x="0" y="1638125"/>
        <a:ext cx="7886700" cy="1074383"/>
      </dsp:txXfrm>
    </dsp:sp>
    <dsp:sp modelId="{EF76621B-300A-4B85-A68D-21B3AA638756}">
      <dsp:nvSpPr>
        <dsp:cNvPr id="0" name=""/>
        <dsp:cNvSpPr/>
      </dsp:nvSpPr>
      <dsp:spPr>
        <a:xfrm rot="10800000">
          <a:off x="0" y="769"/>
          <a:ext cx="7886700" cy="1653482"/>
        </a:xfrm>
        <a:prstGeom prst="upArrowCallou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1: define a set of function              </a:t>
          </a:r>
          <a:endParaRPr lang="zh-TW" altLang="en-US" sz="3200" kern="1200" dirty="0">
            <a:latin typeface="Times New Roman" panose="02020603050405020304" charset="0"/>
            <a:cs typeface="Times New Roman" panose="02020603050405020304" charset="0"/>
          </a:endParaRPr>
        </a:p>
      </dsp:txBody>
      <dsp:txXfrm rot="10800000">
        <a:off x="0" y="769"/>
        <a:ext cx="7886700" cy="10743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DF8C9-B159-41BE-98D5-D6757343F54B}">
      <dsp:nvSpPr>
        <dsp:cNvPr id="0" name=""/>
        <dsp:cNvSpPr/>
      </dsp:nvSpPr>
      <dsp:spPr>
        <a:xfrm>
          <a:off x="0" y="3275482"/>
          <a:ext cx="7886700" cy="107508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3: pick the best function</a:t>
          </a:r>
          <a:endParaRPr lang="zh-TW" altLang="en-US" sz="3200" kern="1200" dirty="0">
            <a:latin typeface="Times New Roman" panose="02020603050405020304" charset="0"/>
            <a:cs typeface="Times New Roman" panose="02020603050405020304" charset="0"/>
          </a:endParaRPr>
        </a:p>
      </dsp:txBody>
      <dsp:txXfrm>
        <a:off x="0" y="3275482"/>
        <a:ext cx="7886700" cy="1075086"/>
      </dsp:txXfrm>
    </dsp:sp>
    <dsp:sp modelId="{CC79D3D5-9A8A-4191-83E2-7CDB53064805}">
      <dsp:nvSpPr>
        <dsp:cNvPr id="0" name=""/>
        <dsp:cNvSpPr/>
      </dsp:nvSpPr>
      <dsp:spPr>
        <a:xfrm rot="10800000">
          <a:off x="0" y="1638125"/>
          <a:ext cx="7886700" cy="1653482"/>
        </a:xfrm>
        <a:prstGeom prst="upArrowCallou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2: goodness of function</a:t>
          </a:r>
          <a:endParaRPr lang="zh-TW" altLang="en-US" sz="3200" kern="1200" dirty="0">
            <a:latin typeface="Times New Roman" panose="02020603050405020304" charset="0"/>
            <a:cs typeface="Times New Roman" panose="02020603050405020304" charset="0"/>
          </a:endParaRPr>
        </a:p>
      </dsp:txBody>
      <dsp:txXfrm rot="10800000">
        <a:off x="0" y="1638125"/>
        <a:ext cx="7886700" cy="1074383"/>
      </dsp:txXfrm>
    </dsp:sp>
    <dsp:sp modelId="{EF76621B-300A-4B85-A68D-21B3AA638756}">
      <dsp:nvSpPr>
        <dsp:cNvPr id="0" name=""/>
        <dsp:cNvSpPr/>
      </dsp:nvSpPr>
      <dsp:spPr>
        <a:xfrm rot="10800000">
          <a:off x="0" y="769"/>
          <a:ext cx="7886700" cy="1653482"/>
        </a:xfrm>
        <a:prstGeom prst="upArrowCallou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altLang="zh-TW" sz="3200" kern="1200" dirty="0">
              <a:latin typeface="Times New Roman" panose="02020603050405020304" charset="0"/>
              <a:cs typeface="Times New Roman" panose="02020603050405020304" charset="0"/>
            </a:rPr>
            <a:t>Step 1: define a set of function              </a:t>
          </a:r>
          <a:endParaRPr lang="zh-TW" altLang="en-US" sz="3200" kern="1200" dirty="0">
            <a:latin typeface="Times New Roman" panose="02020603050405020304" charset="0"/>
            <a:cs typeface="Times New Roman" panose="02020603050405020304" charset="0"/>
          </a:endParaRPr>
        </a:p>
      </dsp:txBody>
      <dsp:txXfrm rot="10800000">
        <a:off x="0" y="769"/>
        <a:ext cx="7886700" cy="107438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0B4CC9-83B5-9E47-A806-853A90D7F7A0}" type="datetimeFigureOut">
              <a:rPr kumimoji="1" lang="zh-CN" altLang="en-US" smtClean="0"/>
              <a:pPr/>
              <a:t>2026/3/29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01F51-E497-1449-8DC9-60B7BE2806BF}" type="slidenum">
              <a:rPr kumimoji="1" lang="zh-CN" altLang="en-US" smtClean="0"/>
              <a:pPr/>
              <a:t>‹#›</a:t>
            </a:fld>
            <a:endParaRPr kumimoji="1" lang="zh-CN" altLang="en-US"/>
          </a:p>
        </p:txBody>
      </p:sp>
    </p:spTree>
    <p:extLst>
      <p:ext uri="{BB962C8B-B14F-4D97-AF65-F5344CB8AC3E}">
        <p14:creationId xmlns:p14="http://schemas.microsoft.com/office/powerpoint/2010/main" val="1866883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a:t>
            </a:fld>
            <a:endParaRPr kumimoji="1" lang="zh-CN" altLang="en-US"/>
          </a:p>
        </p:txBody>
      </p:sp>
    </p:spTree>
    <p:extLst>
      <p:ext uri="{BB962C8B-B14F-4D97-AF65-F5344CB8AC3E}">
        <p14:creationId xmlns:p14="http://schemas.microsoft.com/office/powerpoint/2010/main" val="1058188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a:t>
            </a:fld>
            <a:endParaRPr kumimoji="1" lang="zh-CN" altLang="en-US"/>
          </a:p>
        </p:txBody>
      </p:sp>
    </p:spTree>
    <p:extLst>
      <p:ext uri="{BB962C8B-B14F-4D97-AF65-F5344CB8AC3E}">
        <p14:creationId xmlns:p14="http://schemas.microsoft.com/office/powerpoint/2010/main" val="1395056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a:t>
            </a:fld>
            <a:endParaRPr kumimoji="1" lang="zh-CN" altLang="en-US"/>
          </a:p>
        </p:txBody>
      </p:sp>
    </p:spTree>
    <p:extLst>
      <p:ext uri="{BB962C8B-B14F-4D97-AF65-F5344CB8AC3E}">
        <p14:creationId xmlns:p14="http://schemas.microsoft.com/office/powerpoint/2010/main" val="2405847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a:t>
            </a:fld>
            <a:endParaRPr kumimoji="1" lang="zh-CN" altLang="en-US"/>
          </a:p>
        </p:txBody>
      </p:sp>
    </p:spTree>
    <p:extLst>
      <p:ext uri="{BB962C8B-B14F-4D97-AF65-F5344CB8AC3E}">
        <p14:creationId xmlns:p14="http://schemas.microsoft.com/office/powerpoint/2010/main" val="4006093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a:t>
            </a:fld>
            <a:endParaRPr kumimoji="1" lang="zh-CN" altLang="en-US"/>
          </a:p>
        </p:txBody>
      </p:sp>
    </p:spTree>
    <p:extLst>
      <p:ext uri="{BB962C8B-B14F-4D97-AF65-F5344CB8AC3E}">
        <p14:creationId xmlns:p14="http://schemas.microsoft.com/office/powerpoint/2010/main" val="3261227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a:t>
            </a:fld>
            <a:endParaRPr kumimoji="1" lang="zh-CN" altLang="en-US"/>
          </a:p>
        </p:txBody>
      </p:sp>
    </p:spTree>
    <p:extLst>
      <p:ext uri="{BB962C8B-B14F-4D97-AF65-F5344CB8AC3E}">
        <p14:creationId xmlns:p14="http://schemas.microsoft.com/office/powerpoint/2010/main" val="2844351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a:t>
            </a:fld>
            <a:endParaRPr kumimoji="1" lang="zh-CN" altLang="en-US"/>
          </a:p>
        </p:txBody>
      </p:sp>
    </p:spTree>
    <p:extLst>
      <p:ext uri="{BB962C8B-B14F-4D97-AF65-F5344CB8AC3E}">
        <p14:creationId xmlns:p14="http://schemas.microsoft.com/office/powerpoint/2010/main" val="3798512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a:t>
            </a:fld>
            <a:endParaRPr kumimoji="1" lang="zh-CN" altLang="en-US"/>
          </a:p>
        </p:txBody>
      </p:sp>
    </p:spTree>
    <p:extLst>
      <p:ext uri="{BB962C8B-B14F-4D97-AF65-F5344CB8AC3E}">
        <p14:creationId xmlns:p14="http://schemas.microsoft.com/office/powerpoint/2010/main" val="3259136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10</a:t>
            </a:fld>
            <a:endParaRPr kumimoji="1" lang="zh-CN" altLang="en-US"/>
          </a:p>
        </p:txBody>
      </p:sp>
    </p:spTree>
    <p:extLst>
      <p:ext uri="{BB962C8B-B14F-4D97-AF65-F5344CB8AC3E}">
        <p14:creationId xmlns:p14="http://schemas.microsoft.com/office/powerpoint/2010/main" val="259573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11</a:t>
            </a:fld>
            <a:endParaRPr kumimoji="1" lang="zh-CN" altLang="en-US"/>
          </a:p>
        </p:txBody>
      </p:sp>
    </p:spTree>
    <p:extLst>
      <p:ext uri="{BB962C8B-B14F-4D97-AF65-F5344CB8AC3E}">
        <p14:creationId xmlns:p14="http://schemas.microsoft.com/office/powerpoint/2010/main" val="3070457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12</a:t>
            </a:fld>
            <a:endParaRPr kumimoji="1" lang="zh-CN" altLang="en-US"/>
          </a:p>
        </p:txBody>
      </p:sp>
    </p:spTree>
    <p:extLst>
      <p:ext uri="{BB962C8B-B14F-4D97-AF65-F5344CB8AC3E}">
        <p14:creationId xmlns:p14="http://schemas.microsoft.com/office/powerpoint/2010/main" val="1882904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13</a:t>
            </a:fld>
            <a:endParaRPr kumimoji="1" lang="zh-CN" altLang="en-US"/>
          </a:p>
        </p:txBody>
      </p:sp>
    </p:spTree>
    <p:extLst>
      <p:ext uri="{BB962C8B-B14F-4D97-AF65-F5344CB8AC3E}">
        <p14:creationId xmlns:p14="http://schemas.microsoft.com/office/powerpoint/2010/main" val="1526356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14</a:t>
            </a:fld>
            <a:endParaRPr kumimoji="1" lang="zh-CN" altLang="en-US"/>
          </a:p>
        </p:txBody>
      </p:sp>
    </p:spTree>
    <p:extLst>
      <p:ext uri="{BB962C8B-B14F-4D97-AF65-F5344CB8AC3E}">
        <p14:creationId xmlns:p14="http://schemas.microsoft.com/office/powerpoint/2010/main" val="880304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15</a:t>
            </a:fld>
            <a:endParaRPr kumimoji="1" lang="zh-CN" altLang="en-US"/>
          </a:p>
        </p:txBody>
      </p:sp>
    </p:spTree>
    <p:extLst>
      <p:ext uri="{BB962C8B-B14F-4D97-AF65-F5344CB8AC3E}">
        <p14:creationId xmlns:p14="http://schemas.microsoft.com/office/powerpoint/2010/main" val="2788964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16</a:t>
            </a:fld>
            <a:endParaRPr kumimoji="1" lang="zh-CN" altLang="en-US"/>
          </a:p>
        </p:txBody>
      </p:sp>
    </p:spTree>
    <p:extLst>
      <p:ext uri="{BB962C8B-B14F-4D97-AF65-F5344CB8AC3E}">
        <p14:creationId xmlns:p14="http://schemas.microsoft.com/office/powerpoint/2010/main" val="1348068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17</a:t>
            </a:fld>
            <a:endParaRPr kumimoji="1" lang="zh-CN" altLang="en-US"/>
          </a:p>
        </p:txBody>
      </p:sp>
    </p:spTree>
    <p:extLst>
      <p:ext uri="{BB962C8B-B14F-4D97-AF65-F5344CB8AC3E}">
        <p14:creationId xmlns:p14="http://schemas.microsoft.com/office/powerpoint/2010/main" val="2867950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18</a:t>
            </a:fld>
            <a:endParaRPr kumimoji="1" lang="zh-CN" altLang="en-US"/>
          </a:p>
        </p:txBody>
      </p:sp>
    </p:spTree>
    <p:extLst>
      <p:ext uri="{BB962C8B-B14F-4D97-AF65-F5344CB8AC3E}">
        <p14:creationId xmlns:p14="http://schemas.microsoft.com/office/powerpoint/2010/main" val="1531815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19</a:t>
            </a:fld>
            <a:endParaRPr kumimoji="1" lang="zh-CN" altLang="en-US"/>
          </a:p>
        </p:txBody>
      </p:sp>
    </p:spTree>
    <p:extLst>
      <p:ext uri="{BB962C8B-B14F-4D97-AF65-F5344CB8AC3E}">
        <p14:creationId xmlns:p14="http://schemas.microsoft.com/office/powerpoint/2010/main" val="1725246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20</a:t>
            </a:fld>
            <a:endParaRPr kumimoji="1" lang="zh-CN" altLang="en-US"/>
          </a:p>
        </p:txBody>
      </p:sp>
    </p:spTree>
    <p:extLst>
      <p:ext uri="{BB962C8B-B14F-4D97-AF65-F5344CB8AC3E}">
        <p14:creationId xmlns:p14="http://schemas.microsoft.com/office/powerpoint/2010/main" val="288639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21</a:t>
            </a:fld>
            <a:endParaRPr kumimoji="1" lang="zh-CN" altLang="en-US"/>
          </a:p>
        </p:txBody>
      </p:sp>
    </p:spTree>
    <p:extLst>
      <p:ext uri="{BB962C8B-B14F-4D97-AF65-F5344CB8AC3E}">
        <p14:creationId xmlns:p14="http://schemas.microsoft.com/office/powerpoint/2010/main" val="2599466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22</a:t>
            </a:fld>
            <a:endParaRPr kumimoji="1" lang="zh-CN" altLang="en-US"/>
          </a:p>
        </p:txBody>
      </p:sp>
    </p:spTree>
    <p:extLst>
      <p:ext uri="{BB962C8B-B14F-4D97-AF65-F5344CB8AC3E}">
        <p14:creationId xmlns:p14="http://schemas.microsoft.com/office/powerpoint/2010/main" val="707228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23</a:t>
            </a:fld>
            <a:endParaRPr kumimoji="1" lang="zh-CN" altLang="en-US"/>
          </a:p>
        </p:txBody>
      </p:sp>
    </p:spTree>
    <p:extLst>
      <p:ext uri="{BB962C8B-B14F-4D97-AF65-F5344CB8AC3E}">
        <p14:creationId xmlns:p14="http://schemas.microsoft.com/office/powerpoint/2010/main" val="45772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24</a:t>
            </a:fld>
            <a:endParaRPr kumimoji="1" lang="zh-CN" altLang="en-US"/>
          </a:p>
        </p:txBody>
      </p:sp>
    </p:spTree>
    <p:extLst>
      <p:ext uri="{BB962C8B-B14F-4D97-AF65-F5344CB8AC3E}">
        <p14:creationId xmlns:p14="http://schemas.microsoft.com/office/powerpoint/2010/main" val="2156266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25</a:t>
            </a:fld>
            <a:endParaRPr kumimoji="1" lang="zh-CN" altLang="en-US"/>
          </a:p>
        </p:txBody>
      </p:sp>
    </p:spTree>
    <p:extLst>
      <p:ext uri="{BB962C8B-B14F-4D97-AF65-F5344CB8AC3E}">
        <p14:creationId xmlns:p14="http://schemas.microsoft.com/office/powerpoint/2010/main" val="9537711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26</a:t>
            </a:fld>
            <a:endParaRPr kumimoji="1" lang="zh-CN" altLang="en-US"/>
          </a:p>
        </p:txBody>
      </p:sp>
    </p:spTree>
    <p:extLst>
      <p:ext uri="{BB962C8B-B14F-4D97-AF65-F5344CB8AC3E}">
        <p14:creationId xmlns:p14="http://schemas.microsoft.com/office/powerpoint/2010/main" val="2829982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27</a:t>
            </a:fld>
            <a:endParaRPr kumimoji="1" lang="zh-CN" altLang="en-US"/>
          </a:p>
        </p:txBody>
      </p:sp>
    </p:spTree>
    <p:extLst>
      <p:ext uri="{BB962C8B-B14F-4D97-AF65-F5344CB8AC3E}">
        <p14:creationId xmlns:p14="http://schemas.microsoft.com/office/powerpoint/2010/main" val="30708806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28</a:t>
            </a:fld>
            <a:endParaRPr kumimoji="1" lang="zh-CN" altLang="en-US"/>
          </a:p>
        </p:txBody>
      </p:sp>
    </p:spTree>
    <p:extLst>
      <p:ext uri="{BB962C8B-B14F-4D97-AF65-F5344CB8AC3E}">
        <p14:creationId xmlns:p14="http://schemas.microsoft.com/office/powerpoint/2010/main" val="11085956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29</a:t>
            </a:fld>
            <a:endParaRPr kumimoji="1" lang="zh-CN" altLang="en-US"/>
          </a:p>
        </p:txBody>
      </p:sp>
    </p:spTree>
    <p:extLst>
      <p:ext uri="{BB962C8B-B14F-4D97-AF65-F5344CB8AC3E}">
        <p14:creationId xmlns:p14="http://schemas.microsoft.com/office/powerpoint/2010/main" val="14550499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30</a:t>
            </a:fld>
            <a:endParaRPr kumimoji="1" lang="zh-CN" altLang="en-US"/>
          </a:p>
        </p:txBody>
      </p:sp>
    </p:spTree>
    <p:extLst>
      <p:ext uri="{BB962C8B-B14F-4D97-AF65-F5344CB8AC3E}">
        <p14:creationId xmlns:p14="http://schemas.microsoft.com/office/powerpoint/2010/main" val="35833252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31</a:t>
            </a:fld>
            <a:endParaRPr kumimoji="1" lang="zh-CN" altLang="en-US"/>
          </a:p>
        </p:txBody>
      </p:sp>
    </p:spTree>
    <p:extLst>
      <p:ext uri="{BB962C8B-B14F-4D97-AF65-F5344CB8AC3E}">
        <p14:creationId xmlns:p14="http://schemas.microsoft.com/office/powerpoint/2010/main" val="9168281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32</a:t>
            </a:fld>
            <a:endParaRPr kumimoji="1" lang="zh-CN" altLang="en-US"/>
          </a:p>
        </p:txBody>
      </p:sp>
    </p:spTree>
    <p:extLst>
      <p:ext uri="{BB962C8B-B14F-4D97-AF65-F5344CB8AC3E}">
        <p14:creationId xmlns:p14="http://schemas.microsoft.com/office/powerpoint/2010/main" val="4687543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33</a:t>
            </a:fld>
            <a:endParaRPr kumimoji="1" lang="zh-CN" altLang="en-US"/>
          </a:p>
        </p:txBody>
      </p:sp>
    </p:spTree>
    <p:extLst>
      <p:ext uri="{BB962C8B-B14F-4D97-AF65-F5344CB8AC3E}">
        <p14:creationId xmlns:p14="http://schemas.microsoft.com/office/powerpoint/2010/main" val="40590462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34</a:t>
            </a:fld>
            <a:endParaRPr kumimoji="1" lang="zh-CN" altLang="en-US"/>
          </a:p>
        </p:txBody>
      </p:sp>
    </p:spTree>
    <p:extLst>
      <p:ext uri="{BB962C8B-B14F-4D97-AF65-F5344CB8AC3E}">
        <p14:creationId xmlns:p14="http://schemas.microsoft.com/office/powerpoint/2010/main" val="3625710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35</a:t>
            </a:fld>
            <a:endParaRPr kumimoji="1" lang="zh-CN" altLang="en-US"/>
          </a:p>
        </p:txBody>
      </p:sp>
    </p:spTree>
    <p:extLst>
      <p:ext uri="{BB962C8B-B14F-4D97-AF65-F5344CB8AC3E}">
        <p14:creationId xmlns:p14="http://schemas.microsoft.com/office/powerpoint/2010/main" val="14086187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36</a:t>
            </a:fld>
            <a:endParaRPr kumimoji="1" lang="zh-CN" altLang="en-US"/>
          </a:p>
        </p:txBody>
      </p:sp>
    </p:spTree>
    <p:extLst>
      <p:ext uri="{BB962C8B-B14F-4D97-AF65-F5344CB8AC3E}">
        <p14:creationId xmlns:p14="http://schemas.microsoft.com/office/powerpoint/2010/main" val="27139794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37</a:t>
            </a:fld>
            <a:endParaRPr kumimoji="1" lang="zh-CN" altLang="en-US"/>
          </a:p>
        </p:txBody>
      </p:sp>
    </p:spTree>
    <p:extLst>
      <p:ext uri="{BB962C8B-B14F-4D97-AF65-F5344CB8AC3E}">
        <p14:creationId xmlns:p14="http://schemas.microsoft.com/office/powerpoint/2010/main" val="1666470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38</a:t>
            </a:fld>
            <a:endParaRPr kumimoji="1" lang="zh-CN" altLang="en-US"/>
          </a:p>
        </p:txBody>
      </p:sp>
    </p:spTree>
    <p:extLst>
      <p:ext uri="{BB962C8B-B14F-4D97-AF65-F5344CB8AC3E}">
        <p14:creationId xmlns:p14="http://schemas.microsoft.com/office/powerpoint/2010/main" val="14666108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39</a:t>
            </a:fld>
            <a:endParaRPr kumimoji="1" lang="zh-CN" altLang="en-US"/>
          </a:p>
        </p:txBody>
      </p:sp>
    </p:spTree>
    <p:extLst>
      <p:ext uri="{BB962C8B-B14F-4D97-AF65-F5344CB8AC3E}">
        <p14:creationId xmlns:p14="http://schemas.microsoft.com/office/powerpoint/2010/main" val="32437350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40</a:t>
            </a:fld>
            <a:endParaRPr kumimoji="1" lang="zh-CN" altLang="en-US"/>
          </a:p>
        </p:txBody>
      </p:sp>
    </p:spTree>
    <p:extLst>
      <p:ext uri="{BB962C8B-B14F-4D97-AF65-F5344CB8AC3E}">
        <p14:creationId xmlns:p14="http://schemas.microsoft.com/office/powerpoint/2010/main" val="8153620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41</a:t>
            </a:fld>
            <a:endParaRPr kumimoji="1" lang="zh-CN" altLang="en-US"/>
          </a:p>
        </p:txBody>
      </p:sp>
    </p:spTree>
    <p:extLst>
      <p:ext uri="{BB962C8B-B14F-4D97-AF65-F5344CB8AC3E}">
        <p14:creationId xmlns:p14="http://schemas.microsoft.com/office/powerpoint/2010/main" val="153679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42</a:t>
            </a:fld>
            <a:endParaRPr kumimoji="1" lang="zh-CN" altLang="en-US"/>
          </a:p>
        </p:txBody>
      </p:sp>
    </p:spTree>
    <p:extLst>
      <p:ext uri="{BB962C8B-B14F-4D97-AF65-F5344CB8AC3E}">
        <p14:creationId xmlns:p14="http://schemas.microsoft.com/office/powerpoint/2010/main" val="2300243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43</a:t>
            </a:fld>
            <a:endParaRPr kumimoji="1" lang="zh-CN" altLang="en-US"/>
          </a:p>
        </p:txBody>
      </p:sp>
    </p:spTree>
    <p:extLst>
      <p:ext uri="{BB962C8B-B14F-4D97-AF65-F5344CB8AC3E}">
        <p14:creationId xmlns:p14="http://schemas.microsoft.com/office/powerpoint/2010/main" val="785917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44</a:t>
            </a:fld>
            <a:endParaRPr kumimoji="1" lang="zh-CN" altLang="en-US"/>
          </a:p>
        </p:txBody>
      </p:sp>
    </p:spTree>
    <p:extLst>
      <p:ext uri="{BB962C8B-B14F-4D97-AF65-F5344CB8AC3E}">
        <p14:creationId xmlns:p14="http://schemas.microsoft.com/office/powerpoint/2010/main" val="26271437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45</a:t>
            </a:fld>
            <a:endParaRPr kumimoji="1" lang="zh-CN" altLang="en-US"/>
          </a:p>
        </p:txBody>
      </p:sp>
    </p:spTree>
    <p:extLst>
      <p:ext uri="{BB962C8B-B14F-4D97-AF65-F5344CB8AC3E}">
        <p14:creationId xmlns:p14="http://schemas.microsoft.com/office/powerpoint/2010/main" val="11246989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46</a:t>
            </a:fld>
            <a:endParaRPr kumimoji="1" lang="zh-CN" altLang="en-US"/>
          </a:p>
        </p:txBody>
      </p:sp>
    </p:spTree>
    <p:extLst>
      <p:ext uri="{BB962C8B-B14F-4D97-AF65-F5344CB8AC3E}">
        <p14:creationId xmlns:p14="http://schemas.microsoft.com/office/powerpoint/2010/main" val="42350880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47</a:t>
            </a:fld>
            <a:endParaRPr kumimoji="1" lang="zh-CN" altLang="en-US"/>
          </a:p>
        </p:txBody>
      </p:sp>
    </p:spTree>
    <p:extLst>
      <p:ext uri="{BB962C8B-B14F-4D97-AF65-F5344CB8AC3E}">
        <p14:creationId xmlns:p14="http://schemas.microsoft.com/office/powerpoint/2010/main" val="17613790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48</a:t>
            </a:fld>
            <a:endParaRPr kumimoji="1" lang="zh-CN" altLang="en-US"/>
          </a:p>
        </p:txBody>
      </p:sp>
    </p:spTree>
    <p:extLst>
      <p:ext uri="{BB962C8B-B14F-4D97-AF65-F5344CB8AC3E}">
        <p14:creationId xmlns:p14="http://schemas.microsoft.com/office/powerpoint/2010/main" val="21062446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49</a:t>
            </a:fld>
            <a:endParaRPr kumimoji="1" lang="zh-CN" altLang="en-US"/>
          </a:p>
        </p:txBody>
      </p:sp>
    </p:spTree>
    <p:extLst>
      <p:ext uri="{BB962C8B-B14F-4D97-AF65-F5344CB8AC3E}">
        <p14:creationId xmlns:p14="http://schemas.microsoft.com/office/powerpoint/2010/main" val="37286359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50</a:t>
            </a:fld>
            <a:endParaRPr kumimoji="1" lang="zh-CN" altLang="en-US"/>
          </a:p>
        </p:txBody>
      </p:sp>
    </p:spTree>
    <p:extLst>
      <p:ext uri="{BB962C8B-B14F-4D97-AF65-F5344CB8AC3E}">
        <p14:creationId xmlns:p14="http://schemas.microsoft.com/office/powerpoint/2010/main" val="42571402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51</a:t>
            </a:fld>
            <a:endParaRPr kumimoji="1" lang="zh-CN" altLang="en-US"/>
          </a:p>
        </p:txBody>
      </p:sp>
    </p:spTree>
    <p:extLst>
      <p:ext uri="{BB962C8B-B14F-4D97-AF65-F5344CB8AC3E}">
        <p14:creationId xmlns:p14="http://schemas.microsoft.com/office/powerpoint/2010/main" val="19626245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52</a:t>
            </a:fld>
            <a:endParaRPr kumimoji="1" lang="zh-CN" altLang="en-US"/>
          </a:p>
        </p:txBody>
      </p:sp>
    </p:spTree>
    <p:extLst>
      <p:ext uri="{BB962C8B-B14F-4D97-AF65-F5344CB8AC3E}">
        <p14:creationId xmlns:p14="http://schemas.microsoft.com/office/powerpoint/2010/main" val="5565786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53</a:t>
            </a:fld>
            <a:endParaRPr kumimoji="1" lang="zh-CN" altLang="en-US"/>
          </a:p>
        </p:txBody>
      </p:sp>
    </p:spTree>
    <p:extLst>
      <p:ext uri="{BB962C8B-B14F-4D97-AF65-F5344CB8AC3E}">
        <p14:creationId xmlns:p14="http://schemas.microsoft.com/office/powerpoint/2010/main" val="26068990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54</a:t>
            </a:fld>
            <a:endParaRPr kumimoji="1" lang="zh-CN" altLang="en-US"/>
          </a:p>
        </p:txBody>
      </p:sp>
    </p:spTree>
    <p:extLst>
      <p:ext uri="{BB962C8B-B14F-4D97-AF65-F5344CB8AC3E}">
        <p14:creationId xmlns:p14="http://schemas.microsoft.com/office/powerpoint/2010/main" val="29533403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55</a:t>
            </a:fld>
            <a:endParaRPr kumimoji="1" lang="zh-CN" altLang="en-US"/>
          </a:p>
        </p:txBody>
      </p:sp>
    </p:spTree>
    <p:extLst>
      <p:ext uri="{BB962C8B-B14F-4D97-AF65-F5344CB8AC3E}">
        <p14:creationId xmlns:p14="http://schemas.microsoft.com/office/powerpoint/2010/main" val="13145275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56</a:t>
            </a:fld>
            <a:endParaRPr kumimoji="1" lang="zh-CN" altLang="en-US"/>
          </a:p>
        </p:txBody>
      </p:sp>
    </p:spTree>
    <p:extLst>
      <p:ext uri="{BB962C8B-B14F-4D97-AF65-F5344CB8AC3E}">
        <p14:creationId xmlns:p14="http://schemas.microsoft.com/office/powerpoint/2010/main" val="3699259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57</a:t>
            </a:fld>
            <a:endParaRPr kumimoji="1" lang="zh-CN" altLang="en-US"/>
          </a:p>
        </p:txBody>
      </p:sp>
    </p:spTree>
    <p:extLst>
      <p:ext uri="{BB962C8B-B14F-4D97-AF65-F5344CB8AC3E}">
        <p14:creationId xmlns:p14="http://schemas.microsoft.com/office/powerpoint/2010/main" val="18021055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58</a:t>
            </a:fld>
            <a:endParaRPr kumimoji="1" lang="zh-CN" altLang="en-US"/>
          </a:p>
        </p:txBody>
      </p:sp>
    </p:spTree>
    <p:extLst>
      <p:ext uri="{BB962C8B-B14F-4D97-AF65-F5344CB8AC3E}">
        <p14:creationId xmlns:p14="http://schemas.microsoft.com/office/powerpoint/2010/main" val="5297481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59</a:t>
            </a:fld>
            <a:endParaRPr kumimoji="1" lang="zh-CN" altLang="en-US"/>
          </a:p>
        </p:txBody>
      </p:sp>
    </p:spTree>
    <p:extLst>
      <p:ext uri="{BB962C8B-B14F-4D97-AF65-F5344CB8AC3E}">
        <p14:creationId xmlns:p14="http://schemas.microsoft.com/office/powerpoint/2010/main" val="40783942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60</a:t>
            </a:fld>
            <a:endParaRPr kumimoji="1" lang="zh-CN" altLang="en-US"/>
          </a:p>
        </p:txBody>
      </p:sp>
    </p:spTree>
    <p:extLst>
      <p:ext uri="{BB962C8B-B14F-4D97-AF65-F5344CB8AC3E}">
        <p14:creationId xmlns:p14="http://schemas.microsoft.com/office/powerpoint/2010/main" val="2973916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61</a:t>
            </a:fld>
            <a:endParaRPr kumimoji="1" lang="zh-CN" altLang="en-US"/>
          </a:p>
        </p:txBody>
      </p:sp>
    </p:spTree>
    <p:extLst>
      <p:ext uri="{BB962C8B-B14F-4D97-AF65-F5344CB8AC3E}">
        <p14:creationId xmlns:p14="http://schemas.microsoft.com/office/powerpoint/2010/main" val="15423582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62</a:t>
            </a:fld>
            <a:endParaRPr kumimoji="1" lang="zh-CN" altLang="en-US"/>
          </a:p>
        </p:txBody>
      </p:sp>
    </p:spTree>
    <p:extLst>
      <p:ext uri="{BB962C8B-B14F-4D97-AF65-F5344CB8AC3E}">
        <p14:creationId xmlns:p14="http://schemas.microsoft.com/office/powerpoint/2010/main" val="25427500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63</a:t>
            </a:fld>
            <a:endParaRPr kumimoji="1" lang="zh-CN" altLang="en-US"/>
          </a:p>
        </p:txBody>
      </p:sp>
    </p:spTree>
    <p:extLst>
      <p:ext uri="{BB962C8B-B14F-4D97-AF65-F5344CB8AC3E}">
        <p14:creationId xmlns:p14="http://schemas.microsoft.com/office/powerpoint/2010/main" val="16996330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64</a:t>
            </a:fld>
            <a:endParaRPr kumimoji="1" lang="zh-CN" altLang="en-US"/>
          </a:p>
        </p:txBody>
      </p:sp>
    </p:spTree>
    <p:extLst>
      <p:ext uri="{BB962C8B-B14F-4D97-AF65-F5344CB8AC3E}">
        <p14:creationId xmlns:p14="http://schemas.microsoft.com/office/powerpoint/2010/main" val="11580567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65</a:t>
            </a:fld>
            <a:endParaRPr kumimoji="1" lang="zh-CN" altLang="en-US"/>
          </a:p>
        </p:txBody>
      </p:sp>
    </p:spTree>
    <p:extLst>
      <p:ext uri="{BB962C8B-B14F-4D97-AF65-F5344CB8AC3E}">
        <p14:creationId xmlns:p14="http://schemas.microsoft.com/office/powerpoint/2010/main" val="17589081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66</a:t>
            </a:fld>
            <a:endParaRPr kumimoji="1" lang="zh-CN" altLang="en-US"/>
          </a:p>
        </p:txBody>
      </p:sp>
    </p:spTree>
    <p:extLst>
      <p:ext uri="{BB962C8B-B14F-4D97-AF65-F5344CB8AC3E}">
        <p14:creationId xmlns:p14="http://schemas.microsoft.com/office/powerpoint/2010/main" val="9016844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67</a:t>
            </a:fld>
            <a:endParaRPr kumimoji="1" lang="zh-CN" altLang="en-US"/>
          </a:p>
        </p:txBody>
      </p:sp>
    </p:spTree>
    <p:extLst>
      <p:ext uri="{BB962C8B-B14F-4D97-AF65-F5344CB8AC3E}">
        <p14:creationId xmlns:p14="http://schemas.microsoft.com/office/powerpoint/2010/main" val="825936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68</a:t>
            </a:fld>
            <a:endParaRPr kumimoji="1" lang="zh-CN" altLang="en-US"/>
          </a:p>
        </p:txBody>
      </p:sp>
    </p:spTree>
    <p:extLst>
      <p:ext uri="{BB962C8B-B14F-4D97-AF65-F5344CB8AC3E}">
        <p14:creationId xmlns:p14="http://schemas.microsoft.com/office/powerpoint/2010/main" val="324057154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69</a:t>
            </a:fld>
            <a:endParaRPr kumimoji="1" lang="zh-CN" altLang="en-US"/>
          </a:p>
        </p:txBody>
      </p:sp>
    </p:spTree>
    <p:extLst>
      <p:ext uri="{BB962C8B-B14F-4D97-AF65-F5344CB8AC3E}">
        <p14:creationId xmlns:p14="http://schemas.microsoft.com/office/powerpoint/2010/main" val="21028047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70</a:t>
            </a:fld>
            <a:endParaRPr kumimoji="1" lang="zh-CN" altLang="en-US"/>
          </a:p>
        </p:txBody>
      </p:sp>
    </p:spTree>
    <p:extLst>
      <p:ext uri="{BB962C8B-B14F-4D97-AF65-F5344CB8AC3E}">
        <p14:creationId xmlns:p14="http://schemas.microsoft.com/office/powerpoint/2010/main" val="205190095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71</a:t>
            </a:fld>
            <a:endParaRPr kumimoji="1" lang="zh-CN" altLang="en-US"/>
          </a:p>
        </p:txBody>
      </p:sp>
    </p:spTree>
    <p:extLst>
      <p:ext uri="{BB962C8B-B14F-4D97-AF65-F5344CB8AC3E}">
        <p14:creationId xmlns:p14="http://schemas.microsoft.com/office/powerpoint/2010/main" val="11081481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72</a:t>
            </a:fld>
            <a:endParaRPr kumimoji="1" lang="zh-CN" altLang="en-US"/>
          </a:p>
        </p:txBody>
      </p:sp>
    </p:spTree>
    <p:extLst>
      <p:ext uri="{BB962C8B-B14F-4D97-AF65-F5344CB8AC3E}">
        <p14:creationId xmlns:p14="http://schemas.microsoft.com/office/powerpoint/2010/main" val="27336135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73</a:t>
            </a:fld>
            <a:endParaRPr kumimoji="1" lang="zh-CN" altLang="en-US"/>
          </a:p>
        </p:txBody>
      </p:sp>
    </p:spTree>
    <p:extLst>
      <p:ext uri="{BB962C8B-B14F-4D97-AF65-F5344CB8AC3E}">
        <p14:creationId xmlns:p14="http://schemas.microsoft.com/office/powerpoint/2010/main" val="6746450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74</a:t>
            </a:fld>
            <a:endParaRPr kumimoji="1" lang="zh-CN" altLang="en-US"/>
          </a:p>
        </p:txBody>
      </p:sp>
    </p:spTree>
    <p:extLst>
      <p:ext uri="{BB962C8B-B14F-4D97-AF65-F5344CB8AC3E}">
        <p14:creationId xmlns:p14="http://schemas.microsoft.com/office/powerpoint/2010/main" val="338853384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75</a:t>
            </a:fld>
            <a:endParaRPr kumimoji="1" lang="zh-CN" altLang="en-US"/>
          </a:p>
        </p:txBody>
      </p:sp>
    </p:spTree>
    <p:extLst>
      <p:ext uri="{BB962C8B-B14F-4D97-AF65-F5344CB8AC3E}">
        <p14:creationId xmlns:p14="http://schemas.microsoft.com/office/powerpoint/2010/main" val="251393788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76</a:t>
            </a:fld>
            <a:endParaRPr kumimoji="1" lang="zh-CN" altLang="en-US"/>
          </a:p>
        </p:txBody>
      </p:sp>
    </p:spTree>
    <p:extLst>
      <p:ext uri="{BB962C8B-B14F-4D97-AF65-F5344CB8AC3E}">
        <p14:creationId xmlns:p14="http://schemas.microsoft.com/office/powerpoint/2010/main" val="20706638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77</a:t>
            </a:fld>
            <a:endParaRPr kumimoji="1" lang="zh-CN" altLang="en-US"/>
          </a:p>
        </p:txBody>
      </p:sp>
    </p:spTree>
    <p:extLst>
      <p:ext uri="{BB962C8B-B14F-4D97-AF65-F5344CB8AC3E}">
        <p14:creationId xmlns:p14="http://schemas.microsoft.com/office/powerpoint/2010/main" val="38543988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78</a:t>
            </a:fld>
            <a:endParaRPr kumimoji="1" lang="zh-CN" altLang="en-US"/>
          </a:p>
        </p:txBody>
      </p:sp>
    </p:spTree>
    <p:extLst>
      <p:ext uri="{BB962C8B-B14F-4D97-AF65-F5344CB8AC3E}">
        <p14:creationId xmlns:p14="http://schemas.microsoft.com/office/powerpoint/2010/main" val="374815658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79</a:t>
            </a:fld>
            <a:endParaRPr kumimoji="1" lang="zh-CN" altLang="en-US"/>
          </a:p>
        </p:txBody>
      </p:sp>
    </p:spTree>
    <p:extLst>
      <p:ext uri="{BB962C8B-B14F-4D97-AF65-F5344CB8AC3E}">
        <p14:creationId xmlns:p14="http://schemas.microsoft.com/office/powerpoint/2010/main" val="278903648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80</a:t>
            </a:fld>
            <a:endParaRPr kumimoji="1" lang="zh-CN" altLang="en-US"/>
          </a:p>
        </p:txBody>
      </p:sp>
    </p:spTree>
    <p:extLst>
      <p:ext uri="{BB962C8B-B14F-4D97-AF65-F5344CB8AC3E}">
        <p14:creationId xmlns:p14="http://schemas.microsoft.com/office/powerpoint/2010/main" val="29742704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81</a:t>
            </a:fld>
            <a:endParaRPr kumimoji="1" lang="zh-CN" altLang="en-US"/>
          </a:p>
        </p:txBody>
      </p:sp>
    </p:spTree>
    <p:extLst>
      <p:ext uri="{BB962C8B-B14F-4D97-AF65-F5344CB8AC3E}">
        <p14:creationId xmlns:p14="http://schemas.microsoft.com/office/powerpoint/2010/main" val="208111107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82</a:t>
            </a:fld>
            <a:endParaRPr kumimoji="1" lang="zh-CN" altLang="en-US"/>
          </a:p>
        </p:txBody>
      </p:sp>
    </p:spTree>
    <p:extLst>
      <p:ext uri="{BB962C8B-B14F-4D97-AF65-F5344CB8AC3E}">
        <p14:creationId xmlns:p14="http://schemas.microsoft.com/office/powerpoint/2010/main" val="35925515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83</a:t>
            </a:fld>
            <a:endParaRPr kumimoji="1" lang="zh-CN" altLang="en-US"/>
          </a:p>
        </p:txBody>
      </p:sp>
    </p:spTree>
    <p:extLst>
      <p:ext uri="{BB962C8B-B14F-4D97-AF65-F5344CB8AC3E}">
        <p14:creationId xmlns:p14="http://schemas.microsoft.com/office/powerpoint/2010/main" val="165568887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84</a:t>
            </a:fld>
            <a:endParaRPr kumimoji="1" lang="zh-CN" altLang="en-US"/>
          </a:p>
        </p:txBody>
      </p:sp>
    </p:spTree>
    <p:extLst>
      <p:ext uri="{BB962C8B-B14F-4D97-AF65-F5344CB8AC3E}">
        <p14:creationId xmlns:p14="http://schemas.microsoft.com/office/powerpoint/2010/main" val="42123758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85</a:t>
            </a:fld>
            <a:endParaRPr kumimoji="1" lang="zh-CN" altLang="en-US"/>
          </a:p>
        </p:txBody>
      </p:sp>
    </p:spTree>
    <p:extLst>
      <p:ext uri="{BB962C8B-B14F-4D97-AF65-F5344CB8AC3E}">
        <p14:creationId xmlns:p14="http://schemas.microsoft.com/office/powerpoint/2010/main" val="1700948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86</a:t>
            </a:fld>
            <a:endParaRPr kumimoji="1" lang="zh-CN" altLang="en-US"/>
          </a:p>
        </p:txBody>
      </p:sp>
    </p:spTree>
    <p:extLst>
      <p:ext uri="{BB962C8B-B14F-4D97-AF65-F5344CB8AC3E}">
        <p14:creationId xmlns:p14="http://schemas.microsoft.com/office/powerpoint/2010/main" val="289300026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87</a:t>
            </a:fld>
            <a:endParaRPr kumimoji="1" lang="zh-CN" altLang="en-US"/>
          </a:p>
        </p:txBody>
      </p:sp>
    </p:spTree>
    <p:extLst>
      <p:ext uri="{BB962C8B-B14F-4D97-AF65-F5344CB8AC3E}">
        <p14:creationId xmlns:p14="http://schemas.microsoft.com/office/powerpoint/2010/main" val="16372682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88</a:t>
            </a:fld>
            <a:endParaRPr kumimoji="1" lang="zh-CN" altLang="en-US"/>
          </a:p>
        </p:txBody>
      </p:sp>
    </p:spTree>
    <p:extLst>
      <p:ext uri="{BB962C8B-B14F-4D97-AF65-F5344CB8AC3E}">
        <p14:creationId xmlns:p14="http://schemas.microsoft.com/office/powerpoint/2010/main" val="87744932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89</a:t>
            </a:fld>
            <a:endParaRPr kumimoji="1" lang="zh-CN" altLang="en-US"/>
          </a:p>
        </p:txBody>
      </p:sp>
    </p:spTree>
    <p:extLst>
      <p:ext uri="{BB962C8B-B14F-4D97-AF65-F5344CB8AC3E}">
        <p14:creationId xmlns:p14="http://schemas.microsoft.com/office/powerpoint/2010/main" val="248022027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90</a:t>
            </a:fld>
            <a:endParaRPr kumimoji="1" lang="zh-CN" altLang="en-US"/>
          </a:p>
        </p:txBody>
      </p:sp>
    </p:spTree>
    <p:extLst>
      <p:ext uri="{BB962C8B-B14F-4D97-AF65-F5344CB8AC3E}">
        <p14:creationId xmlns:p14="http://schemas.microsoft.com/office/powerpoint/2010/main" val="22970414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91</a:t>
            </a:fld>
            <a:endParaRPr kumimoji="1" lang="zh-CN" altLang="en-US"/>
          </a:p>
        </p:txBody>
      </p:sp>
    </p:spTree>
    <p:extLst>
      <p:ext uri="{BB962C8B-B14F-4D97-AF65-F5344CB8AC3E}">
        <p14:creationId xmlns:p14="http://schemas.microsoft.com/office/powerpoint/2010/main" val="3538616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92</a:t>
            </a:fld>
            <a:endParaRPr kumimoji="1" lang="zh-CN" altLang="en-US"/>
          </a:p>
        </p:txBody>
      </p:sp>
    </p:spTree>
    <p:extLst>
      <p:ext uri="{BB962C8B-B14F-4D97-AF65-F5344CB8AC3E}">
        <p14:creationId xmlns:p14="http://schemas.microsoft.com/office/powerpoint/2010/main" val="345521373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93</a:t>
            </a:fld>
            <a:endParaRPr kumimoji="1" lang="zh-CN" altLang="en-US"/>
          </a:p>
        </p:txBody>
      </p:sp>
    </p:spTree>
    <p:extLst>
      <p:ext uri="{BB962C8B-B14F-4D97-AF65-F5344CB8AC3E}">
        <p14:creationId xmlns:p14="http://schemas.microsoft.com/office/powerpoint/2010/main" val="404158169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94</a:t>
            </a:fld>
            <a:endParaRPr kumimoji="1" lang="zh-CN" altLang="en-US"/>
          </a:p>
        </p:txBody>
      </p:sp>
    </p:spTree>
    <p:extLst>
      <p:ext uri="{BB962C8B-B14F-4D97-AF65-F5344CB8AC3E}">
        <p14:creationId xmlns:p14="http://schemas.microsoft.com/office/powerpoint/2010/main" val="34776652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95</a:t>
            </a:fld>
            <a:endParaRPr kumimoji="1" lang="zh-CN" altLang="en-US"/>
          </a:p>
        </p:txBody>
      </p:sp>
    </p:spTree>
    <p:extLst>
      <p:ext uri="{BB962C8B-B14F-4D97-AF65-F5344CB8AC3E}">
        <p14:creationId xmlns:p14="http://schemas.microsoft.com/office/powerpoint/2010/main" val="204438466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96</a:t>
            </a:fld>
            <a:endParaRPr kumimoji="1" lang="zh-CN" altLang="en-US"/>
          </a:p>
        </p:txBody>
      </p:sp>
    </p:spTree>
    <p:extLst>
      <p:ext uri="{BB962C8B-B14F-4D97-AF65-F5344CB8AC3E}">
        <p14:creationId xmlns:p14="http://schemas.microsoft.com/office/powerpoint/2010/main" val="71431192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97</a:t>
            </a:fld>
            <a:endParaRPr kumimoji="1" lang="zh-CN" altLang="en-US"/>
          </a:p>
        </p:txBody>
      </p:sp>
    </p:spTree>
    <p:extLst>
      <p:ext uri="{BB962C8B-B14F-4D97-AF65-F5344CB8AC3E}">
        <p14:creationId xmlns:p14="http://schemas.microsoft.com/office/powerpoint/2010/main" val="210691102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98</a:t>
            </a:fld>
            <a:endParaRPr kumimoji="1" lang="zh-CN" altLang="en-US"/>
          </a:p>
        </p:txBody>
      </p:sp>
    </p:spTree>
    <p:extLst>
      <p:ext uri="{BB962C8B-B14F-4D97-AF65-F5344CB8AC3E}">
        <p14:creationId xmlns:p14="http://schemas.microsoft.com/office/powerpoint/2010/main" val="351578632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99</a:t>
            </a:fld>
            <a:endParaRPr kumimoji="1" lang="zh-CN" altLang="en-US"/>
          </a:p>
        </p:txBody>
      </p:sp>
    </p:spTree>
    <p:extLst>
      <p:ext uri="{BB962C8B-B14F-4D97-AF65-F5344CB8AC3E}">
        <p14:creationId xmlns:p14="http://schemas.microsoft.com/office/powerpoint/2010/main" val="162908671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100</a:t>
            </a:fld>
            <a:endParaRPr kumimoji="1" lang="zh-CN" altLang="en-US"/>
          </a:p>
        </p:txBody>
      </p:sp>
    </p:spTree>
    <p:extLst>
      <p:ext uri="{BB962C8B-B14F-4D97-AF65-F5344CB8AC3E}">
        <p14:creationId xmlns:p14="http://schemas.microsoft.com/office/powerpoint/2010/main" val="215657306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1B8AEB2-C67E-8C47-A16B-D74EB7CD360C}" type="slidenum">
              <a:rPr kumimoji="1" lang="zh-CN" altLang="en-US" smtClean="0"/>
              <a:pPr/>
              <a:t>101</a:t>
            </a:fld>
            <a:endParaRPr kumimoji="1" lang="zh-CN" altLang="en-US"/>
          </a:p>
        </p:txBody>
      </p:sp>
    </p:spTree>
    <p:extLst>
      <p:ext uri="{BB962C8B-B14F-4D97-AF65-F5344CB8AC3E}">
        <p14:creationId xmlns:p14="http://schemas.microsoft.com/office/powerpoint/2010/main" val="625973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C62997-844A-B0C5-5DAF-093CD456F81B}"/>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24B87E6-586C-4716-976D-5E8749FA7F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8E128B39-14B5-305B-D093-B6EBF924E8C9}"/>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5" name="页脚占位符 4">
            <a:extLst>
              <a:ext uri="{FF2B5EF4-FFF2-40B4-BE49-F238E27FC236}">
                <a16:creationId xmlns:a16="http://schemas.microsoft.com/office/drawing/2014/main" id="{53027FD4-FD5F-ABF9-8C5F-0348D3D251E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E355F0B-092E-A7C3-55DE-358BA24DB2B3}"/>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431087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81CFD-CA44-1618-831D-31DC024BBAF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52ED259-9B70-8AC3-F44F-5B04AD2C2071}"/>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7E5385B-C70B-A813-E043-9B11775CF737}"/>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5" name="页脚占位符 4">
            <a:extLst>
              <a:ext uri="{FF2B5EF4-FFF2-40B4-BE49-F238E27FC236}">
                <a16:creationId xmlns:a16="http://schemas.microsoft.com/office/drawing/2014/main" id="{06DBB20F-E413-01D7-B601-6A6C3AAC88C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8D823CD-D4F5-066F-372D-D9E34089C9F7}"/>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2714196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6FCB9C-3D47-E707-D6AD-A1A56CC62BD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A40AFE5C-2ECD-8DA5-EA30-3C065CF38E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2C2AFA-6E15-CDDB-155A-9B65F5B7BD8F}"/>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5" name="页脚占位符 4">
            <a:extLst>
              <a:ext uri="{FF2B5EF4-FFF2-40B4-BE49-F238E27FC236}">
                <a16:creationId xmlns:a16="http://schemas.microsoft.com/office/drawing/2014/main" id="{10F09C6F-4BBA-1C90-6083-66A6D21A6CC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8359A09-8F51-A196-3245-8C8D6869882E}"/>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2723948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E1D45F-A87B-09A7-F064-1BFFDCCB097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6723FEA-9C31-9F63-C8AB-E9AEB71DD65A}"/>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B60A0EDE-0E54-3A5B-AE78-4FCFE502D279}"/>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508A3B4-EC9A-01C2-07AD-378AC56B79B0}"/>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6" name="页脚占位符 5">
            <a:extLst>
              <a:ext uri="{FF2B5EF4-FFF2-40B4-BE49-F238E27FC236}">
                <a16:creationId xmlns:a16="http://schemas.microsoft.com/office/drawing/2014/main" id="{5C4952C9-C7C6-8EC1-17B7-41B8FC664D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D09199E-EC9E-6628-EDA3-8FF8DF175D13}"/>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206996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4970B-9F80-8444-8780-BFB6F38F86BF}"/>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14B7BC8-1610-705F-80C9-30AC61BE3A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EAF5BEC-0D23-1A24-C43A-1691F3ACAC4C}"/>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BE7DE6E-A8BF-F32C-83B5-7238C386F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E082FB93-1191-1D62-38B9-A0262020322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2D1577B-4D89-264B-AB03-6E332026309D}"/>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8" name="页脚占位符 7">
            <a:extLst>
              <a:ext uri="{FF2B5EF4-FFF2-40B4-BE49-F238E27FC236}">
                <a16:creationId xmlns:a16="http://schemas.microsoft.com/office/drawing/2014/main" id="{D2E9974F-8588-1506-75D2-3996B06C966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58B89EF9-5809-F687-ED44-CBD350758E1A}"/>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105898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E07C63-B52E-D092-5BDD-235C00F0A89A}"/>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3363D4F2-FD0F-C083-422F-2F37747C7B1B}"/>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4" name="页脚占位符 3">
            <a:extLst>
              <a:ext uri="{FF2B5EF4-FFF2-40B4-BE49-F238E27FC236}">
                <a16:creationId xmlns:a16="http://schemas.microsoft.com/office/drawing/2014/main" id="{C8CF6B6F-AA75-525C-6FD5-1DC968E4A0B3}"/>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CDF2EE58-1DB2-0053-E3DA-9189FC79296C}"/>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534903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ABFC312-FD41-681A-9A10-F991D13E4ABD}"/>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3" name="页脚占位符 2">
            <a:extLst>
              <a:ext uri="{FF2B5EF4-FFF2-40B4-BE49-F238E27FC236}">
                <a16:creationId xmlns:a16="http://schemas.microsoft.com/office/drawing/2014/main" id="{3AFB022E-25F1-96E7-2340-B9A76018D9A5}"/>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EA4F0333-C0C1-72F3-E6E3-C339D3B5CD4F}"/>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550913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951644-4572-A759-52B3-BBB3D419366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FDE3F83-B9E4-639D-266A-BA65801DE4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157D3DB6-5634-9C79-54D9-0DA7D513F1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2DC69C7-6C70-3887-3A93-C9462DB566A3}"/>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6" name="页脚占位符 5">
            <a:extLst>
              <a:ext uri="{FF2B5EF4-FFF2-40B4-BE49-F238E27FC236}">
                <a16:creationId xmlns:a16="http://schemas.microsoft.com/office/drawing/2014/main" id="{915EE84B-9F2B-7D62-2CA2-B9D7952DF8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35F6A3D-8CF9-0E03-278D-34511DF0692C}"/>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486476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28BAAF-34AB-2E7E-4FA7-F460EEC5A37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BA2F0972-CC97-0890-6333-396656BABC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5379901B-D620-4311-2D54-1CEA27D22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5F4CCD4-EA22-36B6-6B68-7366143CEB13}"/>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6" name="页脚占位符 5">
            <a:extLst>
              <a:ext uri="{FF2B5EF4-FFF2-40B4-BE49-F238E27FC236}">
                <a16:creationId xmlns:a16="http://schemas.microsoft.com/office/drawing/2014/main" id="{519FDB93-05BF-3446-C592-24780CC0BF4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8342260-40ED-DCCC-AA75-71846866457A}"/>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082324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D8158-C7DE-7C6E-EB55-F8D347E1B51A}"/>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24E27CD-52B4-3198-C96E-829F3E7C0320}"/>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B33B0E0-2EB0-0DAB-C7AC-D78936BBFA15}"/>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5" name="页脚占位符 4">
            <a:extLst>
              <a:ext uri="{FF2B5EF4-FFF2-40B4-BE49-F238E27FC236}">
                <a16:creationId xmlns:a16="http://schemas.microsoft.com/office/drawing/2014/main" id="{27934BF2-D396-132E-5A3A-332B4FE553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AC9A066-3524-9E51-F3DD-4DA1690296EE}"/>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1360382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7BC4422-A331-32D6-8FCA-23EE121116AC}"/>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7766CAD-9CD2-6EF1-0277-2278FBD37770}"/>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1786829-7851-E59F-6DD7-A30FCC70FC7D}"/>
              </a:ext>
            </a:extLst>
          </p:cNvPr>
          <p:cNvSpPr>
            <a:spLocks noGrp="1"/>
          </p:cNvSpPr>
          <p:nvPr>
            <p:ph type="dt" sz="half" idx="10"/>
          </p:nvPr>
        </p:nvSpPr>
        <p:spPr/>
        <p:txBody>
          <a:bodyPr/>
          <a:lstStyle/>
          <a:p>
            <a:fld id="{77CC5A40-E76B-A240-8908-23C20EDAB14D}" type="datetimeFigureOut">
              <a:rPr kumimoji="1" lang="zh-CN" altLang="en-US" smtClean="0"/>
              <a:pPr/>
              <a:t>2026/3/29</a:t>
            </a:fld>
            <a:endParaRPr kumimoji="1" lang="zh-CN" altLang="en-US"/>
          </a:p>
        </p:txBody>
      </p:sp>
      <p:sp>
        <p:nvSpPr>
          <p:cNvPr id="5" name="页脚占位符 4">
            <a:extLst>
              <a:ext uri="{FF2B5EF4-FFF2-40B4-BE49-F238E27FC236}">
                <a16:creationId xmlns:a16="http://schemas.microsoft.com/office/drawing/2014/main" id="{1DB46940-EB55-D9ED-EDE6-AA0E711F234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EBF8874-8DAF-56ED-5DCB-C5C28520FF33}"/>
              </a:ext>
            </a:extLst>
          </p:cNvPr>
          <p:cNvSpPr>
            <a:spLocks noGrp="1"/>
          </p:cNvSpPr>
          <p:nvPr>
            <p:ph type="sldNum" sz="quarter" idx="12"/>
          </p:nvPr>
        </p:nvSpPr>
        <p:spPr/>
        <p:txBody>
          <a:body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3412331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9947668-0BDB-10C4-34E3-3B04517F48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9CC2BDD-5F15-10F1-F0DF-00BF6FFEDF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A44310B-6A82-B649-58EF-49A9DE8A86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C5A40-E76B-A240-8908-23C20EDAB14D}" type="datetimeFigureOut">
              <a:rPr kumimoji="1" lang="zh-CN" altLang="en-US" smtClean="0"/>
              <a:pPr/>
              <a:t>2026/3/29</a:t>
            </a:fld>
            <a:endParaRPr kumimoji="1" lang="zh-CN" altLang="en-US"/>
          </a:p>
        </p:txBody>
      </p:sp>
      <p:sp>
        <p:nvSpPr>
          <p:cNvPr id="5" name="页脚占位符 4">
            <a:extLst>
              <a:ext uri="{FF2B5EF4-FFF2-40B4-BE49-F238E27FC236}">
                <a16:creationId xmlns:a16="http://schemas.microsoft.com/office/drawing/2014/main" id="{B1EC8249-FB25-3C0B-7E52-990529C14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AF2233E-8B98-1106-E8CC-5BDDD0C30F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9F6F1-9992-7C4B-8CB3-1C53008B38C3}" type="slidenum">
              <a:rPr kumimoji="1" lang="zh-CN" altLang="en-US" smtClean="0"/>
              <a:pPr/>
              <a:t>‹#›</a:t>
            </a:fld>
            <a:endParaRPr kumimoji="1" lang="zh-CN" altLang="en-US"/>
          </a:p>
        </p:txBody>
      </p:sp>
    </p:spTree>
    <p:extLst>
      <p:ext uri="{BB962C8B-B14F-4D97-AF65-F5344CB8AC3E}">
        <p14:creationId xmlns:p14="http://schemas.microsoft.com/office/powerpoint/2010/main" val="2673908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3.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1010.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10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10.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911.png"/></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15.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6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0.png"/><Relationship Id="rId5" Type="http://schemas.openxmlformats.org/officeDocument/2006/relationships/image" Target="../media/image53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3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00.png"/><Relationship Id="rId5" Type="http://schemas.openxmlformats.org/officeDocument/2006/relationships/image" Target="../media/image46.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40.png"/><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370.png"/><Relationship Id="rId4" Type="http://schemas.openxmlformats.org/officeDocument/2006/relationships/image" Target="../media/image360.png"/></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2.png"/><Relationship Id="rId7"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210.png"/><Relationship Id="rId5" Type="http://schemas.openxmlformats.org/officeDocument/2006/relationships/image" Target="../media/image2111.png"/><Relationship Id="rId4" Type="http://schemas.openxmlformats.org/officeDocument/2006/relationships/image" Target="../media/image2010.png"/></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3" Type="http://schemas.openxmlformats.org/officeDocument/2006/relationships/image" Target="../media/image63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651.png"/><Relationship Id="rId4" Type="http://schemas.openxmlformats.org/officeDocument/2006/relationships/image" Target="../media/image641.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440.png"/><Relationship Id="rId4" Type="http://schemas.openxmlformats.org/officeDocument/2006/relationships/image" Target="../media/image430.png"/></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560.png"/><Relationship Id="rId7" Type="http://schemas.openxmlformats.org/officeDocument/2006/relationships/image" Target="../media/image550.png"/><Relationship Id="rId12"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40.png"/><Relationship Id="rId11" Type="http://schemas.openxmlformats.org/officeDocument/2006/relationships/image" Target="../media/image590.png"/><Relationship Id="rId5" Type="http://schemas.openxmlformats.org/officeDocument/2006/relationships/image" Target="../media/image530.png"/><Relationship Id="rId10" Type="http://schemas.openxmlformats.org/officeDocument/2006/relationships/image" Target="../media/image580.png"/><Relationship Id="rId4" Type="http://schemas.openxmlformats.org/officeDocument/2006/relationships/image" Target="../media/image520.png"/><Relationship Id="rId9" Type="http://schemas.openxmlformats.org/officeDocument/2006/relationships/image" Target="../media/image570.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6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8" Type="http://schemas.openxmlformats.org/officeDocument/2006/relationships/image" Target="../media/image15.png"/><Relationship Id="rId7" Type="http://schemas.openxmlformats.org/officeDocument/2006/relationships/image" Target="../media/image630.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620.png"/><Relationship Id="rId5" Type="http://schemas.openxmlformats.org/officeDocument/2006/relationships/image" Target="../media/image78.png"/><Relationship Id="rId4" Type="http://schemas.openxmlformats.org/officeDocument/2006/relationships/image" Target="../media/image600.png"/></Relationships>
</file>

<file path=ppt/slides/_rels/slide39.xml.rels><?xml version="1.0" encoding="UTF-8" standalone="yes"?>
<Relationships xmlns="http://schemas.openxmlformats.org/package/2006/relationships"><Relationship Id="rId7"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660.png"/><Relationship Id="rId5" Type="http://schemas.openxmlformats.org/officeDocument/2006/relationships/image" Target="../media/image650.png"/><Relationship Id="rId4" Type="http://schemas.openxmlformats.org/officeDocument/2006/relationships/image" Target="../media/image640.png"/></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680.png"/><Relationship Id="rId7" Type="http://schemas.openxmlformats.org/officeDocument/2006/relationships/image" Target="../media/image720.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710.png"/><Relationship Id="rId5" Type="http://schemas.openxmlformats.org/officeDocument/2006/relationships/image" Target="../media/image700.png"/><Relationship Id="rId4" Type="http://schemas.openxmlformats.org/officeDocument/2006/relationships/image" Target="../media/image81.png"/></Relationships>
</file>

<file path=ppt/slides/_rels/slide42.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750.png"/><Relationship Id="rId4" Type="http://schemas.openxmlformats.org/officeDocument/2006/relationships/image" Target="../media/image740.png"/></Relationships>
</file>

<file path=ppt/slides/_rels/slide43.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770.png"/><Relationship Id="rId4" Type="http://schemas.openxmlformats.org/officeDocument/2006/relationships/image" Target="../media/image740.png"/></Relationships>
</file>

<file path=ppt/slides/_rels/slide44.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1.png"/><Relationship Id="rId7" Type="http://schemas.openxmlformats.org/officeDocument/2006/relationships/image" Target="../media/image820.png"/><Relationship Id="rId12" Type="http://schemas.openxmlformats.org/officeDocument/2006/relationships/image" Target="../media/image87.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810.png"/><Relationship Id="rId11" Type="http://schemas.openxmlformats.org/officeDocument/2006/relationships/image" Target="../media/image86.png"/><Relationship Id="rId5" Type="http://schemas.openxmlformats.org/officeDocument/2006/relationships/image" Target="../media/image800.png"/><Relationship Id="rId10" Type="http://schemas.openxmlformats.org/officeDocument/2006/relationships/image" Target="../media/image85.png"/><Relationship Id="rId4" Type="http://schemas.openxmlformats.org/officeDocument/2006/relationships/image" Target="../media/image790.png"/><Relationship Id="rId9" Type="http://schemas.openxmlformats.org/officeDocument/2006/relationships/image" Target="../media/image84.png"/></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74.png"/></Relationships>
</file>

<file path=ppt/slides/_rels/slide46.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71.png"/><Relationship Id="rId7" Type="http://schemas.openxmlformats.org/officeDocument/2006/relationships/image" Target="../media/image900.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890.png"/><Relationship Id="rId5" Type="http://schemas.openxmlformats.org/officeDocument/2006/relationships/image" Target="../media/image800.png"/><Relationship Id="rId4" Type="http://schemas.openxmlformats.org/officeDocument/2006/relationships/image" Target="../media/image880.png"/><Relationship Id="rId9" Type="http://schemas.openxmlformats.org/officeDocument/2006/relationships/image" Target="../media/image87.png"/></Relationships>
</file>

<file path=ppt/slides/_rels/slide47.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3" Type="http://schemas.openxmlformats.org/officeDocument/2006/relationships/image" Target="../media/image71.png"/><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s>
</file>

<file path=ppt/slides/_rels/slide48.xml.rels><?xml version="1.0" encoding="UTF-8" standalone="yes"?>
<Relationships xmlns="http://schemas.openxmlformats.org/package/2006/relationships"><Relationship Id="rId3" Type="http://schemas.openxmlformats.org/officeDocument/2006/relationships/image" Target="../media/image960.png"/><Relationship Id="rId7" Type="http://schemas.openxmlformats.org/officeDocument/2006/relationships/image" Target="../media/image76.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990.png"/><Relationship Id="rId5" Type="http://schemas.openxmlformats.org/officeDocument/2006/relationships/image" Target="../media/image102.png"/><Relationship Id="rId4" Type="http://schemas.openxmlformats.org/officeDocument/2006/relationships/image" Target="../media/image97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104.png"/></Relationships>
</file>

<file path=ppt/slides/_rels/slide52.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77.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80.png"/><Relationship Id="rId4" Type="http://schemas.openxmlformats.org/officeDocument/2006/relationships/image" Target="../media/image107.png"/></Relationships>
</file>

<file path=ppt/slides/_rels/slide5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111.png"/><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8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55.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8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 Id="rId9" Type="http://schemas.openxmlformats.org/officeDocument/2006/relationships/image" Target="../media/image115.png"/></Relationships>
</file>

<file path=ppt/slides/_rels/slide5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8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 Id="rId9" Type="http://schemas.openxmlformats.org/officeDocument/2006/relationships/image" Target="../media/image116.png"/></Relationships>
</file>

<file path=ppt/slides/_rels/slide5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38.png"/><Relationship Id="rId4" Type="http://schemas.openxmlformats.org/officeDocument/2006/relationships/image" Target="../media/image137.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9.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121.png"/><Relationship Id="rId4" Type="http://schemas.openxmlformats.org/officeDocument/2006/relationships/image" Target="../media/image120.png"/></Relationships>
</file>

<file path=ppt/slides/_rels/slide60.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030.png"/><Relationship Id="rId4" Type="http://schemas.openxmlformats.org/officeDocument/2006/relationships/image" Target="../media/image1020.png"/></Relationships>
</file>

<file path=ppt/slides/_rels/slide61.xml.rels><?xml version="1.0" encoding="UTF-8" standalone="yes"?>
<Relationships xmlns="http://schemas.openxmlformats.org/package/2006/relationships"><Relationship Id="rId3" Type="http://schemas.openxmlformats.org/officeDocument/2006/relationships/image" Target="../media/image1060.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07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90.png"/></Relationships>
</file>

<file path=ppt/slides/_rels/slide63.xml.rels><?xml version="1.0" encoding="UTF-8" standalone="yes"?>
<Relationships xmlns="http://schemas.openxmlformats.org/package/2006/relationships"><Relationship Id="rId3" Type="http://schemas.openxmlformats.org/officeDocument/2006/relationships/image" Target="../media/image1081.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080.png"/><Relationship Id="rId4" Type="http://schemas.openxmlformats.org/officeDocument/2006/relationships/image" Target="../media/image1070.png"/></Relationships>
</file>

<file path=ppt/slides/_rels/slide6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113.png"/><Relationship Id="rId4" Type="http://schemas.openxmlformats.org/officeDocument/2006/relationships/image" Target="../media/image1121.png"/></Relationships>
</file>

<file path=ppt/slides/_rels/slide6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tags" Target="../tags/tag5.xml"/><Relationship Id="rId7" Type="http://schemas.openxmlformats.org/officeDocument/2006/relationships/image" Target="../media/image118.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notesSlide" Target="../notesSlides/notesSlide69.xml"/><Relationship Id="rId5" Type="http://schemas.openxmlformats.org/officeDocument/2006/relationships/slideLayout" Target="../slideLayouts/slideLayout1.xml"/><Relationship Id="rId4" Type="http://schemas.openxmlformats.org/officeDocument/2006/relationships/tags" Target="../tags/tag6.xml"/><Relationship Id="rId9" Type="http://schemas.openxmlformats.org/officeDocument/2006/relationships/image" Target="../media/image1171.png"/></Relationships>
</file>

<file path=ppt/slides/_rels/slide70.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260.png"/><Relationship Id="rId18" Type="http://schemas.openxmlformats.org/officeDocument/2006/relationships/image" Target="../media/image131.png"/><Relationship Id="rId3" Type="http://schemas.openxmlformats.org/officeDocument/2006/relationships/image" Target="../media/image1160.png"/><Relationship Id="rId7" Type="http://schemas.openxmlformats.org/officeDocument/2006/relationships/image" Target="../media/image1200.png"/><Relationship Id="rId12" Type="http://schemas.openxmlformats.org/officeDocument/2006/relationships/image" Target="../media/image1250.png"/><Relationship Id="rId17" Type="http://schemas.openxmlformats.org/officeDocument/2006/relationships/image" Target="../media/image130.png"/><Relationship Id="rId2" Type="http://schemas.openxmlformats.org/officeDocument/2006/relationships/notesSlide" Target="../notesSlides/notesSlide70.xml"/><Relationship Id="rId16"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190.png"/><Relationship Id="rId11" Type="http://schemas.openxmlformats.org/officeDocument/2006/relationships/image" Target="../media/image1240.png"/><Relationship Id="rId5" Type="http://schemas.openxmlformats.org/officeDocument/2006/relationships/image" Target="../media/image1180.png"/><Relationship Id="rId15" Type="http://schemas.openxmlformats.org/officeDocument/2006/relationships/image" Target="../media/image1280.png"/><Relationship Id="rId10" Type="http://schemas.openxmlformats.org/officeDocument/2006/relationships/image" Target="../media/image1230.png"/><Relationship Id="rId4" Type="http://schemas.openxmlformats.org/officeDocument/2006/relationships/image" Target="../media/image1170.png"/><Relationship Id="rId9" Type="http://schemas.openxmlformats.org/officeDocument/2006/relationships/image" Target="../media/image1220.png"/><Relationship Id="rId14" Type="http://schemas.openxmlformats.org/officeDocument/2006/relationships/image" Target="../media/image1270.png"/></Relationships>
</file>

<file path=ppt/slides/_rels/slide71.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260.png"/><Relationship Id="rId18" Type="http://schemas.openxmlformats.org/officeDocument/2006/relationships/image" Target="../media/image133.png"/><Relationship Id="rId3" Type="http://schemas.openxmlformats.org/officeDocument/2006/relationships/image" Target="../media/image132.png"/><Relationship Id="rId7" Type="http://schemas.openxmlformats.org/officeDocument/2006/relationships/image" Target="../media/image1200.png"/><Relationship Id="rId12" Type="http://schemas.openxmlformats.org/officeDocument/2006/relationships/image" Target="../media/image1250.png"/><Relationship Id="rId17" Type="http://schemas.openxmlformats.org/officeDocument/2006/relationships/image" Target="../media/image130.png"/><Relationship Id="rId2" Type="http://schemas.openxmlformats.org/officeDocument/2006/relationships/notesSlide" Target="../notesSlides/notesSlide71.xml"/><Relationship Id="rId16"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190.png"/><Relationship Id="rId11" Type="http://schemas.openxmlformats.org/officeDocument/2006/relationships/image" Target="../media/image1240.png"/><Relationship Id="rId5" Type="http://schemas.openxmlformats.org/officeDocument/2006/relationships/image" Target="../media/image1180.png"/><Relationship Id="rId15" Type="http://schemas.openxmlformats.org/officeDocument/2006/relationships/image" Target="../media/image1280.png"/><Relationship Id="rId10" Type="http://schemas.openxmlformats.org/officeDocument/2006/relationships/image" Target="../media/image1230.png"/><Relationship Id="rId19" Type="http://schemas.openxmlformats.org/officeDocument/2006/relationships/image" Target="../media/image134.png"/><Relationship Id="rId4" Type="http://schemas.openxmlformats.org/officeDocument/2006/relationships/image" Target="../media/image1170.png"/><Relationship Id="rId9" Type="http://schemas.openxmlformats.org/officeDocument/2006/relationships/image" Target="../media/image1220.png"/><Relationship Id="rId14" Type="http://schemas.openxmlformats.org/officeDocument/2006/relationships/image" Target="../media/image1270.png"/></Relationships>
</file>

<file path=ppt/slides/_rels/slide72.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260.png"/><Relationship Id="rId18" Type="http://schemas.openxmlformats.org/officeDocument/2006/relationships/image" Target="../media/image136.png"/><Relationship Id="rId3" Type="http://schemas.openxmlformats.org/officeDocument/2006/relationships/image" Target="../media/image1350.png"/><Relationship Id="rId7" Type="http://schemas.openxmlformats.org/officeDocument/2006/relationships/image" Target="../media/image1200.png"/><Relationship Id="rId12" Type="http://schemas.openxmlformats.org/officeDocument/2006/relationships/image" Target="../media/image1250.png"/><Relationship Id="rId17" Type="http://schemas.openxmlformats.org/officeDocument/2006/relationships/image" Target="../media/image130.png"/><Relationship Id="rId2" Type="http://schemas.openxmlformats.org/officeDocument/2006/relationships/notesSlide" Target="../notesSlides/notesSlide72.xml"/><Relationship Id="rId16"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190.png"/><Relationship Id="rId11" Type="http://schemas.openxmlformats.org/officeDocument/2006/relationships/image" Target="../media/image1240.png"/><Relationship Id="rId5" Type="http://schemas.openxmlformats.org/officeDocument/2006/relationships/image" Target="../media/image1180.png"/><Relationship Id="rId15" Type="http://schemas.openxmlformats.org/officeDocument/2006/relationships/image" Target="../media/image1280.png"/><Relationship Id="rId10" Type="http://schemas.openxmlformats.org/officeDocument/2006/relationships/image" Target="../media/image1230.png"/><Relationship Id="rId19" Type="http://schemas.openxmlformats.org/officeDocument/2006/relationships/image" Target="../media/image1370.png"/><Relationship Id="rId4" Type="http://schemas.openxmlformats.org/officeDocument/2006/relationships/image" Target="../media/image1170.png"/><Relationship Id="rId9" Type="http://schemas.openxmlformats.org/officeDocument/2006/relationships/image" Target="../media/image1220.png"/><Relationship Id="rId14" Type="http://schemas.openxmlformats.org/officeDocument/2006/relationships/image" Target="../media/image1270.png"/></Relationships>
</file>

<file path=ppt/slides/_rels/slide73.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260.png"/><Relationship Id="rId18" Type="http://schemas.openxmlformats.org/officeDocument/2006/relationships/image" Target="../media/image139.png"/><Relationship Id="rId3" Type="http://schemas.openxmlformats.org/officeDocument/2006/relationships/image" Target="../media/image1380.png"/><Relationship Id="rId7" Type="http://schemas.openxmlformats.org/officeDocument/2006/relationships/image" Target="../media/image1200.png"/><Relationship Id="rId12" Type="http://schemas.openxmlformats.org/officeDocument/2006/relationships/image" Target="../media/image1250.png"/><Relationship Id="rId17" Type="http://schemas.openxmlformats.org/officeDocument/2006/relationships/image" Target="../media/image130.png"/><Relationship Id="rId2" Type="http://schemas.openxmlformats.org/officeDocument/2006/relationships/notesSlide" Target="../notesSlides/notesSlide73.xml"/><Relationship Id="rId16"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190.png"/><Relationship Id="rId11" Type="http://schemas.openxmlformats.org/officeDocument/2006/relationships/image" Target="../media/image1240.png"/><Relationship Id="rId5" Type="http://schemas.openxmlformats.org/officeDocument/2006/relationships/image" Target="../media/image1180.png"/><Relationship Id="rId15" Type="http://schemas.openxmlformats.org/officeDocument/2006/relationships/image" Target="../media/image1280.png"/><Relationship Id="rId10" Type="http://schemas.openxmlformats.org/officeDocument/2006/relationships/image" Target="../media/image1230.png"/><Relationship Id="rId19" Type="http://schemas.openxmlformats.org/officeDocument/2006/relationships/image" Target="../media/image140.png"/><Relationship Id="rId4" Type="http://schemas.openxmlformats.org/officeDocument/2006/relationships/image" Target="../media/image1170.png"/><Relationship Id="rId9" Type="http://schemas.openxmlformats.org/officeDocument/2006/relationships/image" Target="../media/image1220.png"/><Relationship Id="rId14" Type="http://schemas.openxmlformats.org/officeDocument/2006/relationships/image" Target="../media/image1270.png"/></Relationships>
</file>

<file path=ppt/slides/_rels/slide74.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260.png"/><Relationship Id="rId18" Type="http://schemas.openxmlformats.org/officeDocument/2006/relationships/image" Target="../media/image142.png"/><Relationship Id="rId3" Type="http://schemas.openxmlformats.org/officeDocument/2006/relationships/image" Target="../media/image141.png"/><Relationship Id="rId21" Type="http://schemas.openxmlformats.org/officeDocument/2006/relationships/image" Target="../media/image145.png"/><Relationship Id="rId7" Type="http://schemas.openxmlformats.org/officeDocument/2006/relationships/image" Target="../media/image1200.png"/><Relationship Id="rId12" Type="http://schemas.openxmlformats.org/officeDocument/2006/relationships/image" Target="../media/image1250.png"/><Relationship Id="rId17" Type="http://schemas.openxmlformats.org/officeDocument/2006/relationships/image" Target="../media/image130.png"/><Relationship Id="rId2" Type="http://schemas.openxmlformats.org/officeDocument/2006/relationships/notesSlide" Target="../notesSlides/notesSlide74.xml"/><Relationship Id="rId16" Type="http://schemas.openxmlformats.org/officeDocument/2006/relationships/image" Target="../media/image129.png"/><Relationship Id="rId20" Type="http://schemas.openxmlformats.org/officeDocument/2006/relationships/image" Target="../media/image144.png"/><Relationship Id="rId1" Type="http://schemas.openxmlformats.org/officeDocument/2006/relationships/slideLayout" Target="../slideLayouts/slideLayout1.xml"/><Relationship Id="rId6" Type="http://schemas.openxmlformats.org/officeDocument/2006/relationships/image" Target="../media/image1190.png"/><Relationship Id="rId11" Type="http://schemas.openxmlformats.org/officeDocument/2006/relationships/image" Target="../media/image1240.png"/><Relationship Id="rId5" Type="http://schemas.openxmlformats.org/officeDocument/2006/relationships/image" Target="../media/image1180.png"/><Relationship Id="rId15" Type="http://schemas.openxmlformats.org/officeDocument/2006/relationships/image" Target="../media/image1280.png"/><Relationship Id="rId10" Type="http://schemas.openxmlformats.org/officeDocument/2006/relationships/image" Target="../media/image1230.png"/><Relationship Id="rId19" Type="http://schemas.openxmlformats.org/officeDocument/2006/relationships/image" Target="../media/image143.png"/><Relationship Id="rId4" Type="http://schemas.openxmlformats.org/officeDocument/2006/relationships/image" Target="../media/image1170.png"/><Relationship Id="rId9" Type="http://schemas.openxmlformats.org/officeDocument/2006/relationships/image" Target="../media/image1220.png"/><Relationship Id="rId14" Type="http://schemas.openxmlformats.org/officeDocument/2006/relationships/image" Target="../media/image1270.png"/></Relationships>
</file>

<file path=ppt/slides/_rels/slide75.xml.rels><?xml version="1.0" encoding="UTF-8" standalone="yes"?>
<Relationships xmlns="http://schemas.openxmlformats.org/package/2006/relationships"><Relationship Id="rId8" Type="http://schemas.openxmlformats.org/officeDocument/2006/relationships/image" Target="../media/image1220.png"/><Relationship Id="rId13" Type="http://schemas.openxmlformats.org/officeDocument/2006/relationships/image" Target="../media/image1270.png"/><Relationship Id="rId18" Type="http://schemas.openxmlformats.org/officeDocument/2006/relationships/image" Target="../media/image123.png"/><Relationship Id="rId3" Type="http://schemas.openxmlformats.org/officeDocument/2006/relationships/image" Target="../media/image1170.png"/><Relationship Id="rId7" Type="http://schemas.openxmlformats.org/officeDocument/2006/relationships/image" Target="../media/image1210.png"/><Relationship Id="rId12" Type="http://schemas.openxmlformats.org/officeDocument/2006/relationships/image" Target="../media/image1260.png"/><Relationship Id="rId17" Type="http://schemas.openxmlformats.org/officeDocument/2006/relationships/image" Target="../media/image146.png"/><Relationship Id="rId2" Type="http://schemas.openxmlformats.org/officeDocument/2006/relationships/notesSlide" Target="../notesSlides/notesSlide75.xml"/><Relationship Id="rId16" Type="http://schemas.openxmlformats.org/officeDocument/2006/relationships/image" Target="../media/image130.png"/><Relationship Id="rId1" Type="http://schemas.openxmlformats.org/officeDocument/2006/relationships/slideLayout" Target="../slideLayouts/slideLayout1.xml"/><Relationship Id="rId6" Type="http://schemas.openxmlformats.org/officeDocument/2006/relationships/image" Target="../media/image1200.png"/><Relationship Id="rId11" Type="http://schemas.openxmlformats.org/officeDocument/2006/relationships/image" Target="../media/image1250.png"/><Relationship Id="rId5" Type="http://schemas.openxmlformats.org/officeDocument/2006/relationships/image" Target="../media/image1190.png"/><Relationship Id="rId15" Type="http://schemas.openxmlformats.org/officeDocument/2006/relationships/image" Target="../media/image129.png"/><Relationship Id="rId10" Type="http://schemas.openxmlformats.org/officeDocument/2006/relationships/image" Target="../media/image1240.png"/><Relationship Id="rId4" Type="http://schemas.openxmlformats.org/officeDocument/2006/relationships/image" Target="../media/image1180.png"/><Relationship Id="rId9" Type="http://schemas.openxmlformats.org/officeDocument/2006/relationships/image" Target="../media/image1230.png"/><Relationship Id="rId14" Type="http://schemas.openxmlformats.org/officeDocument/2006/relationships/image" Target="../media/image1280.png"/></Relationships>
</file>

<file path=ppt/slides/_rels/slide76.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52.png"/><Relationship Id="rId18" Type="http://schemas.openxmlformats.org/officeDocument/2006/relationships/image" Target="../media/image157.png"/><Relationship Id="rId3" Type="http://schemas.openxmlformats.org/officeDocument/2006/relationships/image" Target="../media/image147.png"/><Relationship Id="rId7" Type="http://schemas.openxmlformats.org/officeDocument/2006/relationships/image" Target="../media/image1270.png"/><Relationship Id="rId12" Type="http://schemas.openxmlformats.org/officeDocument/2006/relationships/image" Target="../media/image151.png"/><Relationship Id="rId17" Type="http://schemas.openxmlformats.org/officeDocument/2006/relationships/image" Target="../media/image156.png"/><Relationship Id="rId2" Type="http://schemas.openxmlformats.org/officeDocument/2006/relationships/notesSlide" Target="../notesSlides/notesSlide76.xml"/><Relationship Id="rId16" Type="http://schemas.openxmlformats.org/officeDocument/2006/relationships/image" Target="../media/image155.png"/><Relationship Id="rId20" Type="http://schemas.openxmlformats.org/officeDocument/2006/relationships/image" Target="../media/image123.png"/><Relationship Id="rId1" Type="http://schemas.openxmlformats.org/officeDocument/2006/relationships/slideLayout" Target="../slideLayouts/slideLayout1.xml"/><Relationship Id="rId6" Type="http://schemas.openxmlformats.org/officeDocument/2006/relationships/image" Target="../media/image1190.png"/><Relationship Id="rId11" Type="http://schemas.openxmlformats.org/officeDocument/2006/relationships/image" Target="../media/image150.png"/><Relationship Id="rId5" Type="http://schemas.openxmlformats.org/officeDocument/2006/relationships/image" Target="../media/image1180.png"/><Relationship Id="rId15" Type="http://schemas.openxmlformats.org/officeDocument/2006/relationships/image" Target="../media/image154.png"/><Relationship Id="rId10" Type="http://schemas.openxmlformats.org/officeDocument/2006/relationships/image" Target="../media/image149.png"/><Relationship Id="rId19" Type="http://schemas.openxmlformats.org/officeDocument/2006/relationships/image" Target="../media/image158.png"/><Relationship Id="rId4" Type="http://schemas.openxmlformats.org/officeDocument/2006/relationships/image" Target="../media/image1170.png"/><Relationship Id="rId9" Type="http://schemas.openxmlformats.org/officeDocument/2006/relationships/image" Target="../media/image148.png"/><Relationship Id="rId14" Type="http://schemas.openxmlformats.org/officeDocument/2006/relationships/image" Target="../media/image153.png"/></Relationships>
</file>

<file path=ppt/slides/_rels/slide77.xml.rels><?xml version="1.0" encoding="UTF-8" standalone="yes"?>
<Relationships xmlns="http://schemas.openxmlformats.org/package/2006/relationships"><Relationship Id="rId3" Type="http://schemas.openxmlformats.org/officeDocument/2006/relationships/image" Target="../media/image159.png"/><Relationship Id="rId7" Type="http://schemas.openxmlformats.org/officeDocument/2006/relationships/image" Target="../media/image123.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78.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3.png"/><Relationship Id="rId7" Type="http://schemas.openxmlformats.org/officeDocument/2006/relationships/image" Target="../media/image164.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167.png"/><Relationship Id="rId5" Type="http://schemas.openxmlformats.org/officeDocument/2006/relationships/image" Target="../media/image166.png"/><Relationship Id="rId10" Type="http://schemas.openxmlformats.org/officeDocument/2006/relationships/image" Target="../media/image168.png"/><Relationship Id="rId4" Type="http://schemas.openxmlformats.org/officeDocument/2006/relationships/image" Target="../media/image165.png"/><Relationship Id="rId9" Type="http://schemas.openxmlformats.org/officeDocument/2006/relationships/image" Target="../media/image170.png"/></Relationships>
</file>

<file path=ppt/slides/_rels/slide79.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71.png"/><Relationship Id="rId7" Type="http://schemas.openxmlformats.org/officeDocument/2006/relationships/image" Target="../media/image174.png"/><Relationship Id="rId2" Type="http://schemas.openxmlformats.org/officeDocument/2006/relationships/notesSlide" Target="../notesSlides/notesSlide79.xml"/><Relationship Id="rId1" Type="http://schemas.openxmlformats.org/officeDocument/2006/relationships/slideLayout" Target="../slideLayouts/slideLayout1.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120.png"/></Relationships>
</file>

<file path=ppt/slides/_rels/slide80.xml.rels><?xml version="1.0" encoding="UTF-8" standalone="yes"?>
<Relationships xmlns="http://schemas.openxmlformats.org/package/2006/relationships"><Relationship Id="rId3" Type="http://schemas.openxmlformats.org/officeDocument/2006/relationships/image" Target="../media/image176.png"/><Relationship Id="rId7" Type="http://schemas.openxmlformats.org/officeDocument/2006/relationships/image" Target="../media/image180.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_rels/slide81.xml.rels><?xml version="1.0" encoding="UTF-8" standalone="yes"?>
<Relationships xmlns="http://schemas.openxmlformats.org/package/2006/relationships"><Relationship Id="rId3" Type="http://schemas.openxmlformats.org/officeDocument/2006/relationships/image" Target="../media/image181.png"/><Relationship Id="rId7" Type="http://schemas.openxmlformats.org/officeDocument/2006/relationships/image" Target="../media/image183.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180.png"/><Relationship Id="rId5" Type="http://schemas.openxmlformats.org/officeDocument/2006/relationships/image" Target="../media/image182.png"/><Relationship Id="rId4" Type="http://schemas.openxmlformats.org/officeDocument/2006/relationships/image" Target="../media/image177.png"/></Relationships>
</file>

<file path=ppt/slides/_rels/slide82.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image" Target="../media/image184.png"/><Relationship Id="rId7" Type="http://schemas.openxmlformats.org/officeDocument/2006/relationships/image" Target="../media/image187.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77.png"/><Relationship Id="rId9" Type="http://schemas.openxmlformats.org/officeDocument/2006/relationships/image" Target="../media/image189.png"/></Relationships>
</file>

<file path=ppt/slides/_rels/slide83.xml.rels><?xml version="1.0" encoding="UTF-8" standalone="yes"?>
<Relationships xmlns="http://schemas.openxmlformats.org/package/2006/relationships"><Relationship Id="rId3" Type="http://schemas.openxmlformats.org/officeDocument/2006/relationships/image" Target="../media/image1760.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125.png"/></Relationships>
</file>

<file path=ppt/slides/_rels/slide84.xml.rels><?xml version="1.0" encoding="UTF-8" standalone="yes"?>
<Relationships xmlns="http://schemas.openxmlformats.org/package/2006/relationships"><Relationship Id="rId3" Type="http://schemas.openxmlformats.org/officeDocument/2006/relationships/image" Target="../media/image1150.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126.png"/></Relationships>
</file>

<file path=ppt/slides/_rels/slide85.xml.rels><?xml version="1.0" encoding="UTF-8" standalone="yes"?>
<Relationships xmlns="http://schemas.openxmlformats.org/package/2006/relationships"><Relationship Id="rId3" Type="http://schemas.openxmlformats.org/officeDocument/2006/relationships/image" Target="../media/image1901.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127.png"/></Relationships>
</file>

<file path=ppt/slides/_rels/slide86.xml.rels><?xml version="1.0" encoding="UTF-8" standalone="yes"?>
<Relationships xmlns="http://schemas.openxmlformats.org/package/2006/relationships"><Relationship Id="rId3" Type="http://schemas.openxmlformats.org/officeDocument/2006/relationships/image" Target="../media/image1820.pn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1921.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8" Type="http://schemas.openxmlformats.org/officeDocument/2006/relationships/image" Target="../media/image196.png"/><Relationship Id="rId3" Type="http://schemas.openxmlformats.org/officeDocument/2006/relationships/image" Target="../media/image1840.png"/><Relationship Id="rId7" Type="http://schemas.openxmlformats.org/officeDocument/2006/relationships/image" Target="../media/image195.png"/><Relationship Id="rId2" Type="http://schemas.openxmlformats.org/officeDocument/2006/relationships/notesSlide" Target="../notesSlides/notesSlide88.xml"/><Relationship Id="rId1" Type="http://schemas.openxmlformats.org/officeDocument/2006/relationships/slideLayout" Target="../slideLayouts/slideLayout1.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850.png"/></Relationships>
</file>

<file path=ppt/slides/_rels/slide89.xml.rels><?xml version="1.0" encoding="UTF-8" standalone="yes"?>
<Relationships xmlns="http://schemas.openxmlformats.org/package/2006/relationships"><Relationship Id="rId8" Type="http://schemas.openxmlformats.org/officeDocument/2006/relationships/image" Target="../media/image1940.png"/><Relationship Id="rId3" Type="http://schemas.openxmlformats.org/officeDocument/2006/relationships/image" Target="../media/image1900.png"/><Relationship Id="rId7" Type="http://schemas.openxmlformats.org/officeDocument/2006/relationships/image" Target="../media/image1930.png"/><Relationship Id="rId2" Type="http://schemas.openxmlformats.org/officeDocument/2006/relationships/notesSlide" Target="../notesSlides/notesSlide89.xml"/><Relationship Id="rId1" Type="http://schemas.openxmlformats.org/officeDocument/2006/relationships/slideLayout" Target="../slideLayouts/slideLayout1.xml"/><Relationship Id="rId6" Type="http://schemas.openxmlformats.org/officeDocument/2006/relationships/image" Target="../media/image198.png"/><Relationship Id="rId5" Type="http://schemas.openxmlformats.org/officeDocument/2006/relationships/image" Target="../media/image197.png"/><Relationship Id="rId10" Type="http://schemas.openxmlformats.org/officeDocument/2006/relationships/image" Target="../media/image1960.png"/><Relationship Id="rId4" Type="http://schemas.openxmlformats.org/officeDocument/2006/relationships/image" Target="../media/image1850.png"/><Relationship Id="rId9" Type="http://schemas.openxmlformats.org/officeDocument/2006/relationships/image" Target="../media/image1950.png"/></Relationships>
</file>

<file path=ppt/slides/_rels/slide90.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200.png"/></Relationships>
</file>

<file path=ppt/slides/_rels/slide9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91.xml"/><Relationship Id="rId1" Type="http://schemas.openxmlformats.org/officeDocument/2006/relationships/slideLayout" Target="../slideLayouts/slideLayout1.xml"/><Relationship Id="rId4" Type="http://schemas.openxmlformats.org/officeDocument/2006/relationships/image" Target="../media/image1980.png"/></Relationships>
</file>

<file path=ppt/slides/_rels/slide92.xml.rels><?xml version="1.0" encoding="UTF-8" standalone="yes"?>
<Relationships xmlns="http://schemas.openxmlformats.org/package/2006/relationships"><Relationship Id="rId3" Type="http://schemas.openxmlformats.org/officeDocument/2006/relationships/image" Target="../media/image2011.png"/><Relationship Id="rId2" Type="http://schemas.openxmlformats.org/officeDocument/2006/relationships/notesSlide" Target="../notesSlides/notesSlide92.xml"/><Relationship Id="rId1" Type="http://schemas.openxmlformats.org/officeDocument/2006/relationships/slideLayout" Target="../slideLayouts/slideLayout1.xml"/><Relationship Id="rId4" Type="http://schemas.openxmlformats.org/officeDocument/2006/relationships/image" Target="../media/image202.png"/></Relationships>
</file>

<file path=ppt/slides/_rels/slide93.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8" Type="http://schemas.openxmlformats.org/officeDocument/2006/relationships/image" Target="../media/image192.png"/><Relationship Id="rId3" Type="http://schemas.openxmlformats.org/officeDocument/2006/relationships/image" Target="../media/image128.png"/><Relationship Id="rId7" Type="http://schemas.openxmlformats.org/officeDocument/2006/relationships/image" Target="../media/image191.png"/><Relationship Id="rId2" Type="http://schemas.openxmlformats.org/officeDocument/2006/relationships/notesSlide" Target="../notesSlides/notesSlide94.xml"/><Relationship Id="rId1" Type="http://schemas.openxmlformats.org/officeDocument/2006/relationships/slideLayout" Target="../slideLayouts/slideLayout1.xml"/><Relationship Id="rId6" Type="http://schemas.openxmlformats.org/officeDocument/2006/relationships/image" Target="../media/image190.png"/><Relationship Id="rId5" Type="http://schemas.openxmlformats.org/officeDocument/2006/relationships/image" Target="../media/image175.png"/><Relationship Id="rId10" Type="http://schemas.openxmlformats.org/officeDocument/2006/relationships/image" Target="../media/image205.png"/><Relationship Id="rId4" Type="http://schemas.openxmlformats.org/officeDocument/2006/relationships/image" Target="../media/image135.png"/><Relationship Id="rId9" Type="http://schemas.openxmlformats.org/officeDocument/2006/relationships/image" Target="../media/image204.png"/></Relationships>
</file>

<file path=ppt/slides/_rels/slide95.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206.png"/><Relationship Id="rId7" Type="http://schemas.openxmlformats.org/officeDocument/2006/relationships/image" Target="../media/image210.png"/><Relationship Id="rId2" Type="http://schemas.openxmlformats.org/officeDocument/2006/relationships/notesSlide" Target="../notesSlides/notesSlide95.xml"/><Relationship Id="rId1" Type="http://schemas.openxmlformats.org/officeDocument/2006/relationships/slideLayout" Target="../slideLayouts/slideLayout1.xml"/><Relationship Id="rId6" Type="http://schemas.openxmlformats.org/officeDocument/2006/relationships/image" Target="../media/image209.png"/><Relationship Id="rId5" Type="http://schemas.openxmlformats.org/officeDocument/2006/relationships/image" Target="../media/image208.png"/><Relationship Id="rId10" Type="http://schemas.openxmlformats.org/officeDocument/2006/relationships/image" Target="../media/image213.png"/><Relationship Id="rId4" Type="http://schemas.openxmlformats.org/officeDocument/2006/relationships/image" Target="../media/image207.png"/><Relationship Id="rId9" Type="http://schemas.openxmlformats.org/officeDocument/2006/relationships/image" Target="../media/image212.png"/></Relationships>
</file>

<file path=ppt/slides/_rels/slide96.xml.rels><?xml version="1.0" encoding="UTF-8" standalone="yes"?>
<Relationships xmlns="http://schemas.openxmlformats.org/package/2006/relationships"><Relationship Id="rId8" Type="http://schemas.openxmlformats.org/officeDocument/2006/relationships/image" Target="../media/image217.png"/><Relationship Id="rId3" Type="http://schemas.openxmlformats.org/officeDocument/2006/relationships/image" Target="../media/image208.png"/><Relationship Id="rId7" Type="http://schemas.openxmlformats.org/officeDocument/2006/relationships/image" Target="../media/image216.png"/><Relationship Id="rId2" Type="http://schemas.openxmlformats.org/officeDocument/2006/relationships/notesSlide" Target="../notesSlides/notesSlide96.xml"/><Relationship Id="rId1" Type="http://schemas.openxmlformats.org/officeDocument/2006/relationships/slideLayout" Target="../slideLayouts/slideLayout1.xml"/><Relationship Id="rId6" Type="http://schemas.openxmlformats.org/officeDocument/2006/relationships/image" Target="../media/image215.png"/><Relationship Id="rId5" Type="http://schemas.openxmlformats.org/officeDocument/2006/relationships/image" Target="../media/image214.png"/><Relationship Id="rId4" Type="http://schemas.openxmlformats.org/officeDocument/2006/relationships/image" Target="../media/image209.png"/></Relationships>
</file>

<file path=ppt/slides/_rels/slide97.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101.xml"/><Relationship Id="rId1" Type="http://schemas.openxmlformats.org/officeDocument/2006/relationships/slideLayout" Target="../slideLayouts/slideLayout1.xml"/><Relationship Id="rId5" Type="http://schemas.openxmlformats.org/officeDocument/2006/relationships/image" Target="../media/image224.png"/><Relationship Id="rId4" Type="http://schemas.openxmlformats.org/officeDocument/2006/relationships/image" Target="../media/image2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DBA570A-0839-B7BA-53F6-BC6EFFD9B697}"/>
              </a:ext>
            </a:extLst>
          </p:cNvPr>
          <p:cNvSpPr/>
          <p:nvPr/>
        </p:nvSpPr>
        <p:spPr>
          <a:xfrm>
            <a:off x="0" y="5610"/>
            <a:ext cx="12192000" cy="6858000"/>
          </a:xfrm>
          <a:prstGeom prst="rect">
            <a:avLst/>
          </a:prstGeom>
          <a:solidFill>
            <a:srgbClr val="142C68"/>
          </a:solidFill>
          <a:ln>
            <a:solidFill>
              <a:srgbClr val="142C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rgbClr val="02164B"/>
                </a:solidFill>
              </a:ln>
              <a:solidFill>
                <a:srgbClr val="01164B"/>
              </a:solidFill>
            </a:endParaRPr>
          </a:p>
        </p:txBody>
      </p:sp>
      <p:sp>
        <p:nvSpPr>
          <p:cNvPr id="13" name="矩形 12"/>
          <p:cNvSpPr/>
          <p:nvPr/>
        </p:nvSpPr>
        <p:spPr>
          <a:xfrm>
            <a:off x="0" y="4648611"/>
            <a:ext cx="12192000" cy="1163111"/>
          </a:xfrm>
          <a:prstGeom prst="rect">
            <a:avLst/>
          </a:prstGeom>
          <a:solidFill>
            <a:srgbClr val="5184BF">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nvGrpSpPr>
          <p:cNvPr id="6" name="组 5"/>
          <p:cNvGrpSpPr/>
          <p:nvPr/>
        </p:nvGrpSpPr>
        <p:grpSpPr>
          <a:xfrm>
            <a:off x="1311910" y="1971254"/>
            <a:ext cx="10098603" cy="2755756"/>
            <a:chOff x="-3312885" y="995824"/>
            <a:chExt cx="10098603" cy="2755756"/>
          </a:xfrm>
        </p:grpSpPr>
        <p:sp>
          <p:nvSpPr>
            <p:cNvPr id="17" name="标题 1"/>
            <p:cNvSpPr txBox="1">
              <a:spLocks/>
            </p:cNvSpPr>
            <p:nvPr/>
          </p:nvSpPr>
          <p:spPr>
            <a:xfrm>
              <a:off x="-3312885" y="995824"/>
              <a:ext cx="9572891" cy="11227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5400" dirty="0">
                  <a:solidFill>
                    <a:schemeClr val="bg1"/>
                  </a:solidFill>
                  <a:latin typeface="微软雅黑" panose="020B0503020204020204" pitchFamily="34" charset="-122"/>
                  <a:ea typeface="微软雅黑" panose="020B0503020204020204" pitchFamily="34" charset="-122"/>
                </a:rPr>
                <a:t>第四章：神经网络基础（一）</a:t>
              </a:r>
              <a:endParaRPr lang="zh-CN" altLang="en-US" sz="5400" dirty="0">
                <a:solidFill>
                  <a:schemeClr val="bg1"/>
                </a:solidFill>
                <a:latin typeface="微软雅黑" panose="020B0503020204020204" pitchFamily="34" charset="-122"/>
                <a:ea typeface="微软雅黑" panose="020B0503020204020204" pitchFamily="34" charset="-122"/>
                <a:cs typeface="Weibei SC" charset="-122"/>
              </a:endParaRPr>
            </a:p>
          </p:txBody>
        </p:sp>
        <p:sp>
          <p:nvSpPr>
            <p:cNvPr id="19" name="标题 1"/>
            <p:cNvSpPr txBox="1">
              <a:spLocks/>
            </p:cNvSpPr>
            <p:nvPr/>
          </p:nvSpPr>
          <p:spPr>
            <a:xfrm>
              <a:off x="5712822" y="2980471"/>
              <a:ext cx="1072896" cy="7711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zh-CN" altLang="en-US" sz="15000" b="1" dirty="0">
                <a:solidFill>
                  <a:schemeClr val="bg1"/>
                </a:solidFill>
                <a:effectLst>
                  <a:outerShdw blurRad="50800" dist="76200" dir="2700000" algn="tl" rotWithShape="0">
                    <a:schemeClr val="bg1">
                      <a:alpha val="40000"/>
                    </a:schemeClr>
                  </a:outerShdw>
                </a:effectLst>
                <a:latin typeface="Xingkai SC" charset="-122"/>
                <a:ea typeface="Xingkai SC" charset="-122"/>
                <a:cs typeface="Xingkai SC" charset="-122"/>
              </a:endParaRPr>
            </a:p>
          </p:txBody>
        </p:sp>
        <p:sp>
          <p:nvSpPr>
            <p:cNvPr id="20" name="标题 1"/>
            <p:cNvSpPr txBox="1">
              <a:spLocks/>
            </p:cNvSpPr>
            <p:nvPr/>
          </p:nvSpPr>
          <p:spPr>
            <a:xfrm>
              <a:off x="4169664" y="2379501"/>
              <a:ext cx="1072896" cy="7711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altLang="zh-CN" sz="15000" b="1" dirty="0">
                  <a:solidFill>
                    <a:schemeClr val="accent1">
                      <a:lumMod val="75000"/>
                    </a:schemeClr>
                  </a:solidFill>
                  <a:effectLst>
                    <a:outerShdw blurRad="50800" dist="76200" dir="2700000" algn="tl" rotWithShape="0">
                      <a:schemeClr val="bg1">
                        <a:alpha val="40000"/>
                      </a:schemeClr>
                    </a:outerShdw>
                  </a:effectLst>
                  <a:latin typeface="Xingkai SC" charset="-122"/>
                  <a:ea typeface="Xingkai SC" charset="-122"/>
                  <a:cs typeface="Xingkai SC" charset="-122"/>
                </a:rPr>
              </a:br>
              <a:r>
                <a:rPr lang="en-US" altLang="zh-CN" sz="15000" b="1" dirty="0">
                  <a:solidFill>
                    <a:schemeClr val="accent1">
                      <a:lumMod val="75000"/>
                    </a:schemeClr>
                  </a:solidFill>
                  <a:effectLst>
                    <a:outerShdw blurRad="50800" dist="76200" dir="2700000" algn="tl" rotWithShape="0">
                      <a:schemeClr val="bg1">
                        <a:alpha val="40000"/>
                      </a:schemeClr>
                    </a:outerShdw>
                  </a:effectLst>
                  <a:latin typeface="Xingkai SC" charset="-122"/>
                  <a:ea typeface="Xingkai SC" charset="-122"/>
                  <a:cs typeface="Xingkai SC" charset="-122"/>
                </a:rPr>
                <a:t>      </a:t>
              </a:r>
              <a:endParaRPr lang="zh-CN" altLang="en-US" sz="15000" b="1" dirty="0">
                <a:solidFill>
                  <a:schemeClr val="bg1"/>
                </a:solidFill>
                <a:effectLst>
                  <a:outerShdw blurRad="50800" dist="76200" dir="2700000" algn="tl" rotWithShape="0">
                    <a:schemeClr val="bg1">
                      <a:alpha val="40000"/>
                    </a:schemeClr>
                  </a:outerShdw>
                </a:effectLst>
                <a:latin typeface="Xingkai SC" charset="-122"/>
                <a:ea typeface="Xingkai SC" charset="-122"/>
                <a:cs typeface="Xingkai SC" charset="-122"/>
              </a:endParaRPr>
            </a:p>
          </p:txBody>
        </p:sp>
      </p:grpSp>
      <p:pic>
        <p:nvPicPr>
          <p:cNvPr id="2" name="Picture 4" descr="浙江大学">
            <a:extLst>
              <a:ext uri="{FF2B5EF4-FFF2-40B4-BE49-F238E27FC236}">
                <a16:creationId xmlns:a16="http://schemas.microsoft.com/office/drawing/2014/main" id="{A0FEC789-007D-C7E1-D7DF-BB58DBE4B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122" y="185775"/>
            <a:ext cx="1856758" cy="53727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FDF2B7BD-970D-B5F7-FAF7-A88ACF923A2C}"/>
              </a:ext>
            </a:extLst>
          </p:cNvPr>
          <p:cNvSpPr txBox="1"/>
          <p:nvPr/>
        </p:nvSpPr>
        <p:spPr>
          <a:xfrm>
            <a:off x="2455675" y="4956824"/>
            <a:ext cx="7600684" cy="523220"/>
          </a:xfrm>
          <a:prstGeom prst="rect">
            <a:avLst/>
          </a:prstGeom>
          <a:noFill/>
        </p:spPr>
        <p:txBody>
          <a:bodyPr wrap="square" rtlCol="0">
            <a:spAutoFit/>
          </a:bodyPr>
          <a:lstStyle/>
          <a:p>
            <a:pPr algn="ctr"/>
            <a:r>
              <a:rPr lang="zh-CN" altLang="en-US" sz="2800" spc="-55" dirty="0">
                <a:solidFill>
                  <a:schemeClr val="bg1"/>
                </a:solidFill>
                <a:latin typeface="微软雅黑" panose="020B0503020204020204" pitchFamily="34" charset="-122"/>
                <a:ea typeface="微软雅黑" panose="020B0503020204020204" pitchFamily="34" charset="-122"/>
                <a:cs typeface="Calibri"/>
              </a:rPr>
              <a:t>主讲教师：王文冠</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80E0B13B-31D0-80DD-20B3-7C77931F645D}"/>
              </a:ext>
            </a:extLst>
          </p:cNvPr>
          <p:cNvSpPr txBox="1"/>
          <p:nvPr/>
        </p:nvSpPr>
        <p:spPr>
          <a:xfrm>
            <a:off x="8229601" y="254358"/>
            <a:ext cx="3674790" cy="461665"/>
          </a:xfrm>
          <a:prstGeom prst="rect">
            <a:avLst/>
          </a:prstGeom>
          <a:noFill/>
        </p:spPr>
        <p:txBody>
          <a:bodyPr wrap="square" rtlCol="0">
            <a:spAutoFit/>
          </a:bodyPr>
          <a:lstStyle/>
          <a:p>
            <a:pPr algn="ctr"/>
            <a:r>
              <a:rPr lang="zh-CN" altLang="en-US" sz="2400" spc="-55" dirty="0">
                <a:solidFill>
                  <a:schemeClr val="bg1"/>
                </a:solidFill>
                <a:latin typeface="Calibri"/>
                <a:ea typeface="黑体" panose="02010609060101010101" pitchFamily="49" charset="-122"/>
                <a:cs typeface="Calibri"/>
              </a:rPr>
              <a:t>课程</a:t>
            </a:r>
            <a:r>
              <a:rPr lang="zh-CN" altLang="en-US" sz="2400" spc="-55">
                <a:solidFill>
                  <a:schemeClr val="bg1"/>
                </a:solidFill>
                <a:latin typeface="Calibri"/>
                <a:ea typeface="黑体" panose="02010609060101010101" pitchFamily="49" charset="-122"/>
                <a:cs typeface="Calibri"/>
              </a:rPr>
              <a:t>名称：深度学习导论</a:t>
            </a:r>
            <a:endParaRPr lang="en-US" altLang="zh-CN" sz="24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67549"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课程思路</a:t>
            </a:r>
          </a:p>
        </p:txBody>
      </p:sp>
      <p:graphicFrame>
        <p:nvGraphicFramePr>
          <p:cNvPr id="11" name="內容版面配置區 3">
            <a:extLst>
              <a:ext uri="{FF2B5EF4-FFF2-40B4-BE49-F238E27FC236}">
                <a16:creationId xmlns:a16="http://schemas.microsoft.com/office/drawing/2014/main" id="{4A1B2DCA-3AF7-4A34-8A1C-972889B61468}"/>
              </a:ext>
            </a:extLst>
          </p:cNvPr>
          <p:cNvGraphicFramePr/>
          <p:nvPr>
            <p:extLst>
              <p:ext uri="{D42A27DB-BD31-4B8C-83A1-F6EECF244321}">
                <p14:modId xmlns:p14="http://schemas.microsoft.com/office/powerpoint/2010/main" val="1649621141"/>
              </p:ext>
            </p:extLst>
          </p:nvPr>
        </p:nvGraphicFramePr>
        <p:xfrm>
          <a:off x="2060408" y="152225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8442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67549"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课程思路</a:t>
            </a:r>
          </a:p>
        </p:txBody>
      </p:sp>
      <p:graphicFrame>
        <p:nvGraphicFramePr>
          <p:cNvPr id="11" name="內容版面配置區 3">
            <a:extLst>
              <a:ext uri="{FF2B5EF4-FFF2-40B4-BE49-F238E27FC236}">
                <a16:creationId xmlns:a16="http://schemas.microsoft.com/office/drawing/2014/main" id="{4A1B2DCA-3AF7-4A34-8A1C-972889B61468}"/>
              </a:ext>
            </a:extLst>
          </p:cNvPr>
          <p:cNvGraphicFramePr/>
          <p:nvPr>
            <p:extLst>
              <p:ext uri="{D42A27DB-BD31-4B8C-83A1-F6EECF244321}">
                <p14:modId xmlns:p14="http://schemas.microsoft.com/office/powerpoint/2010/main" val="3557521016"/>
              </p:ext>
            </p:extLst>
          </p:nvPr>
        </p:nvGraphicFramePr>
        <p:xfrm>
          <a:off x="2060408" y="152225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矩形 5">
            <a:extLst>
              <a:ext uri="{FF2B5EF4-FFF2-40B4-BE49-F238E27FC236}">
                <a16:creationId xmlns:a16="http://schemas.microsoft.com/office/drawing/2014/main" id="{13A6680B-2EE1-483D-82D2-4F66A6898F12}"/>
              </a:ext>
            </a:extLst>
          </p:cNvPr>
          <p:cNvSpPr/>
          <p:nvPr/>
        </p:nvSpPr>
        <p:spPr>
          <a:xfrm>
            <a:off x="2255568" y="1621354"/>
            <a:ext cx="7551563" cy="83172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116700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67549"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回望神经元</a:t>
            </a:r>
          </a:p>
        </p:txBody>
      </p:sp>
      <p:sp>
        <p:nvSpPr>
          <p:cNvPr id="25" name="矩形 24">
            <a:extLst>
              <a:ext uri="{FF2B5EF4-FFF2-40B4-BE49-F238E27FC236}">
                <a16:creationId xmlns:a16="http://schemas.microsoft.com/office/drawing/2014/main" id="{58DAD1A6-4219-EC46-BF5E-3E6F08EB1B0F}"/>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a:latin typeface="Times New Roman" panose="02020603050405020304" pitchFamily="18" charset="0"/>
                <a:cs typeface="Times New Roman" panose="02020603050405020304" pitchFamily="18" charset="0"/>
              </a:rPr>
              <a:t>1943</a:t>
            </a:r>
            <a:r>
              <a:rPr lang="zh-CN" altLang="en-US" sz="2400">
                <a:latin typeface="Times New Roman" panose="02020603050405020304" pitchFamily="18" charset="0"/>
                <a:cs typeface="Times New Roman" panose="02020603050405020304" pitchFamily="18" charset="0"/>
              </a:rPr>
              <a:t>年，</a:t>
            </a:r>
            <a:r>
              <a:rPr lang="en-US" altLang="zh-CN" sz="2400" b="1">
                <a:solidFill>
                  <a:srgbClr val="C00000"/>
                </a:solidFill>
                <a:latin typeface="Times New Roman" panose="02020603050405020304" pitchFamily="18" charset="0"/>
                <a:cs typeface="Times New Roman" panose="02020603050405020304" pitchFamily="18" charset="0"/>
              </a:rPr>
              <a:t>McCulloch-Pitts</a:t>
            </a:r>
            <a:r>
              <a:rPr lang="zh-CN" altLang="en-US" sz="2400" b="1">
                <a:solidFill>
                  <a:srgbClr val="C00000"/>
                </a:solidFill>
                <a:latin typeface="Times New Roman" panose="02020603050405020304" pitchFamily="18" charset="0"/>
                <a:cs typeface="Times New Roman" panose="02020603050405020304" pitchFamily="18" charset="0"/>
              </a:rPr>
              <a:t>模型</a:t>
            </a:r>
            <a:r>
              <a:rPr lang="zh-CN" altLang="en-US" sz="2400">
                <a:latin typeface="Times New Roman" panose="02020603050405020304" pitchFamily="18" charset="0"/>
                <a:cs typeface="Times New Roman" panose="02020603050405020304" pitchFamily="18" charset="0"/>
              </a:rPr>
              <a:t>提出。构建了</a:t>
            </a:r>
            <a:r>
              <a:rPr lang="zh-CN" altLang="en-US" sz="2400" b="1">
                <a:solidFill>
                  <a:srgbClr val="C00000"/>
                </a:solidFill>
                <a:latin typeface="Times New Roman" panose="02020603050405020304" pitchFamily="18" charset="0"/>
                <a:cs typeface="Times New Roman" panose="02020603050405020304" pitchFamily="18" charset="0"/>
              </a:rPr>
              <a:t>第一个人工神经元的数学模型</a:t>
            </a:r>
            <a:r>
              <a:rPr lang="zh-CN" altLang="en-US" sz="2400">
                <a:latin typeface="Times New Roman" panose="02020603050405020304" pitchFamily="18" charset="0"/>
                <a:cs typeface="Times New Roman" panose="02020603050405020304" pitchFamily="18" charset="0"/>
              </a:rPr>
              <a:t>。</a:t>
            </a:r>
          </a:p>
        </p:txBody>
      </p:sp>
      <p:sp>
        <p:nvSpPr>
          <p:cNvPr id="26" name="文本框 25">
            <a:extLst>
              <a:ext uri="{FF2B5EF4-FFF2-40B4-BE49-F238E27FC236}">
                <a16:creationId xmlns:a16="http://schemas.microsoft.com/office/drawing/2014/main" id="{92068476-5D18-594D-9553-96987E483790}"/>
              </a:ext>
            </a:extLst>
          </p:cNvPr>
          <p:cNvSpPr txBox="1"/>
          <p:nvPr/>
        </p:nvSpPr>
        <p:spPr>
          <a:xfrm>
            <a:off x="589776" y="5407995"/>
            <a:ext cx="11147526" cy="923330"/>
          </a:xfrm>
          <a:prstGeom prst="rect">
            <a:avLst/>
          </a:prstGeom>
          <a:noFill/>
        </p:spPr>
        <p:txBody>
          <a:bodyPr wrap="square">
            <a:spAutoFit/>
          </a:bodyPr>
          <a:lstStyle/>
          <a:p>
            <a:pPr algn="l">
              <a:buNone/>
            </a:pPr>
            <a:endParaRPr lang="zh-CN" altLang="en-US" b="0" i="0" dirty="0">
              <a:solidFill>
                <a:srgbClr val="191B1F"/>
              </a:solidFill>
              <a:effectLst/>
              <a:latin typeface="江城正义体 500W" panose="020B0500000000000000" pitchFamily="34" charset="-122"/>
              <a:ea typeface="江城正义体 500W" panose="020B0500000000000000" pitchFamily="34" charset="-122"/>
            </a:endParaRPr>
          </a:p>
          <a:p>
            <a:pPr algn="l">
              <a:buFont typeface="+mj-lt"/>
              <a:buAutoNum type="arabicPeriod"/>
            </a:pPr>
            <a:r>
              <a:rPr lang="zh-CN" altLang="en-US" b="0" i="0" dirty="0">
                <a:solidFill>
                  <a:srgbClr val="191B1F"/>
                </a:solidFill>
                <a:effectLst/>
                <a:latin typeface="江城正义体 500W" panose="020B0500000000000000" pitchFamily="34" charset="-122"/>
                <a:ea typeface="江城正义体 500W" panose="020B0500000000000000" pitchFamily="34" charset="-122"/>
              </a:rPr>
              <a:t>它接收一组二进制输入（即</a:t>
            </a:r>
            <a:r>
              <a:rPr lang="en-US" altLang="zh-CN" b="0" i="0" dirty="0">
                <a:solidFill>
                  <a:srgbClr val="191B1F"/>
                </a:solidFill>
                <a:effectLst/>
                <a:latin typeface="江城正义体 500W" panose="020B0500000000000000" pitchFamily="34" charset="-122"/>
                <a:ea typeface="江城正义体 500W" panose="020B0500000000000000" pitchFamily="34" charset="-122"/>
              </a:rPr>
              <a:t>0</a:t>
            </a:r>
            <a:r>
              <a:rPr lang="zh-CN" altLang="en-US" b="0" i="0" dirty="0">
                <a:solidFill>
                  <a:srgbClr val="191B1F"/>
                </a:solidFill>
                <a:effectLst/>
                <a:latin typeface="江城正义体 500W" panose="020B0500000000000000" pitchFamily="34" charset="-122"/>
                <a:ea typeface="江城正义体 500W" panose="020B0500000000000000" pitchFamily="34" charset="-122"/>
              </a:rPr>
              <a:t>或</a:t>
            </a:r>
            <a:r>
              <a:rPr lang="en-US" altLang="zh-CN" b="0" i="0" dirty="0">
                <a:solidFill>
                  <a:srgbClr val="191B1F"/>
                </a:solidFill>
                <a:effectLst/>
                <a:latin typeface="江城正义体 500W" panose="020B0500000000000000" pitchFamily="34" charset="-122"/>
                <a:ea typeface="江城正义体 500W" panose="020B0500000000000000" pitchFamily="34" charset="-122"/>
              </a:rPr>
              <a:t>1</a:t>
            </a:r>
            <a:r>
              <a:rPr lang="zh-CN" altLang="en-US" b="0" i="0" dirty="0">
                <a:solidFill>
                  <a:srgbClr val="191B1F"/>
                </a:solidFill>
                <a:effectLst/>
                <a:latin typeface="江城正义体 500W" panose="020B0500000000000000" pitchFamily="34" charset="-122"/>
                <a:ea typeface="江城正义体 500W" panose="020B0500000000000000" pitchFamily="34" charset="-122"/>
              </a:rPr>
              <a:t>）。</a:t>
            </a:r>
          </a:p>
          <a:p>
            <a:pPr algn="l">
              <a:buFont typeface="+mj-lt"/>
              <a:buAutoNum type="arabicPeriod"/>
            </a:pPr>
            <a:r>
              <a:rPr lang="zh-CN" altLang="en-US" b="0" i="0" dirty="0">
                <a:solidFill>
                  <a:srgbClr val="191B1F"/>
                </a:solidFill>
                <a:effectLst/>
                <a:latin typeface="江城正义体 500W" panose="020B0500000000000000" pitchFamily="34" charset="-122"/>
                <a:ea typeface="江城正义体 500W" panose="020B0500000000000000" pitchFamily="34" charset="-122"/>
              </a:rPr>
              <a:t>加权总和然后与一个设定的阈值进行比较。如果总和超过或等于阈值，神经元输出</a:t>
            </a:r>
            <a:r>
              <a:rPr lang="en-US" altLang="zh-CN" b="0" i="0" dirty="0">
                <a:solidFill>
                  <a:srgbClr val="191B1F"/>
                </a:solidFill>
                <a:effectLst/>
                <a:latin typeface="江城正义体 500W" panose="020B0500000000000000" pitchFamily="34" charset="-122"/>
                <a:ea typeface="江城正义体 500W" panose="020B0500000000000000" pitchFamily="34" charset="-122"/>
              </a:rPr>
              <a:t>1</a:t>
            </a:r>
            <a:r>
              <a:rPr lang="zh-CN" altLang="en-US" b="0" i="0" dirty="0">
                <a:solidFill>
                  <a:srgbClr val="191B1F"/>
                </a:solidFill>
                <a:effectLst/>
                <a:latin typeface="江城正义体 500W" panose="020B0500000000000000" pitchFamily="34" charset="-122"/>
                <a:ea typeface="江城正义体 500W" panose="020B0500000000000000" pitchFamily="34" charset="-122"/>
              </a:rPr>
              <a:t>；否则，它输出</a:t>
            </a:r>
            <a:r>
              <a:rPr lang="en-US" altLang="zh-CN" b="0" i="0" dirty="0">
                <a:solidFill>
                  <a:srgbClr val="191B1F"/>
                </a:solidFill>
                <a:effectLst/>
                <a:latin typeface="江城正义体 500W" panose="020B0500000000000000" pitchFamily="34" charset="-122"/>
                <a:ea typeface="江城正义体 500W" panose="020B0500000000000000" pitchFamily="34" charset="-122"/>
              </a:rPr>
              <a:t>0</a:t>
            </a:r>
            <a:r>
              <a:rPr lang="zh-CN" altLang="en-US" b="0" i="0" dirty="0">
                <a:solidFill>
                  <a:srgbClr val="191B1F"/>
                </a:solidFill>
                <a:effectLst/>
                <a:latin typeface="江城正义体 500W" panose="020B0500000000000000" pitchFamily="34" charset="-122"/>
                <a:ea typeface="江城正义体 500W" panose="020B0500000000000000" pitchFamily="34" charset="-122"/>
              </a:rPr>
              <a:t>。</a:t>
            </a:r>
          </a:p>
        </p:txBody>
      </p:sp>
      <p:pic>
        <p:nvPicPr>
          <p:cNvPr id="27" name="图片 26">
            <a:extLst>
              <a:ext uri="{FF2B5EF4-FFF2-40B4-BE49-F238E27FC236}">
                <a16:creationId xmlns:a16="http://schemas.microsoft.com/office/drawing/2014/main" id="{DBC50C39-9466-0541-B2B4-4D92AB2B13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776" y="3309505"/>
            <a:ext cx="3505113" cy="1566992"/>
          </a:xfrm>
          <a:prstGeom prst="rect">
            <a:avLst/>
          </a:prstGeom>
        </p:spPr>
      </p:pic>
      <p:pic>
        <p:nvPicPr>
          <p:cNvPr id="28" name="Picture 2" descr="McCulloch &amp; Pitts Publish the First Mathematical Model of a Neural Network  : History of Information">
            <a:extLst>
              <a:ext uri="{FF2B5EF4-FFF2-40B4-BE49-F238E27FC236}">
                <a16:creationId xmlns:a16="http://schemas.microsoft.com/office/drawing/2014/main" id="{5C4C021B-B85B-EE42-BF37-6E9F020FF8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8713" y="2642363"/>
            <a:ext cx="2655583" cy="279558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a:extLst>
              <a:ext uri="{FF2B5EF4-FFF2-40B4-BE49-F238E27FC236}">
                <a16:creationId xmlns:a16="http://schemas.microsoft.com/office/drawing/2014/main" id="{FD84DF6D-D907-364A-8EE1-7B11F35001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9690" y="2755599"/>
            <a:ext cx="3739083" cy="256015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0" name="爆炸形 2 29">
                <a:extLst>
                  <a:ext uri="{FF2B5EF4-FFF2-40B4-BE49-F238E27FC236}">
                    <a16:creationId xmlns:a16="http://schemas.microsoft.com/office/drawing/2014/main" id="{2517AD16-A40A-9C43-9918-83D3FFE4F066}"/>
                  </a:ext>
                </a:extLst>
              </p:cNvPr>
              <p:cNvSpPr/>
              <p:nvPr/>
            </p:nvSpPr>
            <p:spPr>
              <a:xfrm>
                <a:off x="5590948" y="4653102"/>
                <a:ext cx="4391252" cy="1592452"/>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zh-CN" altLang="en-US" sz="2400" i="1" smtClean="0">
                          <a:solidFill>
                            <a:srgbClr val="C00000"/>
                          </a:solidFill>
                          <a:latin typeface="Cambria Math" panose="02040503050406030204" pitchFamily="18" charset="0"/>
                        </a:rPr>
                        <m:t>固定权重</m:t>
                      </m:r>
                      <m:r>
                        <a:rPr lang="zh-CN" altLang="en-US" sz="2400" b="0" i="1" smtClean="0">
                          <a:solidFill>
                            <a:srgbClr val="C00000"/>
                          </a:solidFill>
                          <a:latin typeface="Cambria Math" panose="02040503050406030204" pitchFamily="18" charset="0"/>
                        </a:rPr>
                        <m:t>，</m:t>
                      </m:r>
                    </m:oMath>
                  </m:oMathPara>
                </a14:m>
                <a:endParaRPr lang="en-US" altLang="zh-CN" sz="2400" b="0" i="1" dirty="0">
                  <a:solidFill>
                    <a:srgbClr val="C0000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2400" i="1">
                          <a:solidFill>
                            <a:srgbClr val="C00000"/>
                          </a:solidFill>
                          <a:latin typeface="Cambria Math" panose="02040503050406030204" pitchFamily="18" charset="0"/>
                        </a:rPr>
                        <m:t>无关学习</m:t>
                      </m:r>
                      <m:r>
                        <a:rPr lang="zh-CN" altLang="en-US" sz="2400" b="0" i="1" smtClean="0">
                          <a:solidFill>
                            <a:srgbClr val="C00000"/>
                          </a:solidFill>
                          <a:latin typeface="Cambria Math" panose="02040503050406030204" pitchFamily="18" charset="0"/>
                        </a:rPr>
                        <m:t>！</m:t>
                      </m:r>
                    </m:oMath>
                  </m:oMathPara>
                </a14:m>
                <a:endParaRPr lang="zh-CN" altLang="en-US" sz="2400" dirty="0">
                  <a:solidFill>
                    <a:srgbClr val="C00000"/>
                  </a:solidFill>
                </a:endParaRPr>
              </a:p>
            </p:txBody>
          </p:sp>
        </mc:Choice>
        <mc:Fallback xmlns="">
          <p:sp>
            <p:nvSpPr>
              <p:cNvPr id="30" name="爆炸形 2 29">
                <a:extLst>
                  <a:ext uri="{FF2B5EF4-FFF2-40B4-BE49-F238E27FC236}">
                    <a16:creationId xmlns:a16="http://schemas.microsoft.com/office/drawing/2014/main" id="{2517AD16-A40A-9C43-9918-83D3FFE4F066}"/>
                  </a:ext>
                </a:extLst>
              </p:cNvPr>
              <p:cNvSpPr>
                <a:spLocks noRot="1" noChangeAspect="1" noMove="1" noResize="1" noEditPoints="1" noAdjustHandles="1" noChangeArrowheads="1" noChangeShapeType="1" noTextEdit="1"/>
              </p:cNvSpPr>
              <p:nvPr/>
            </p:nvSpPr>
            <p:spPr>
              <a:xfrm>
                <a:off x="5590948" y="4653102"/>
                <a:ext cx="4391252" cy="1592452"/>
              </a:xfrm>
              <a:prstGeom prst="irregularSeal2">
                <a:avLst/>
              </a:prstGeom>
              <a:blipFill>
                <a:blip r:embed="rId6"/>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74237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1957</a:t>
            </a:r>
            <a:r>
              <a:rPr lang="zh-CN" altLang="en-US" sz="2400" dirty="0">
                <a:latin typeface="Times New Roman" panose="02020603050405020304" pitchFamily="18" charset="0"/>
                <a:cs typeface="Times New Roman" panose="02020603050405020304" pitchFamily="18" charset="0"/>
              </a:rPr>
              <a:t>年，</a:t>
            </a:r>
            <a:r>
              <a:rPr lang="en-US" altLang="zh-CN" sz="2400" b="1" dirty="0">
                <a:solidFill>
                  <a:srgbClr val="C00000"/>
                </a:solidFill>
                <a:latin typeface="Times New Roman" panose="02020603050405020304" pitchFamily="18" charset="0"/>
                <a:cs typeface="Times New Roman" panose="02020603050405020304" pitchFamily="18" charset="0"/>
              </a:rPr>
              <a:t>Frank Rosenblatt</a:t>
            </a:r>
            <a:r>
              <a:rPr lang="zh-CN" altLang="en-US" sz="2400" b="1" dirty="0">
                <a:solidFill>
                  <a:srgbClr val="C00000"/>
                </a:solidFill>
                <a:latin typeface="Times New Roman" panose="02020603050405020304" pitchFamily="18" charset="0"/>
                <a:cs typeface="Times New Roman" panose="02020603050405020304" pitchFamily="18" charset="0"/>
              </a:rPr>
              <a:t>发明感知机</a:t>
            </a:r>
            <a:r>
              <a:rPr lang="en-US" altLang="zh-CN" sz="2400" b="1" dirty="0">
                <a:solidFill>
                  <a:srgbClr val="C00000"/>
                </a:solidFill>
                <a:latin typeface="Times New Roman" panose="02020603050405020304" pitchFamily="18" charset="0"/>
                <a:cs typeface="Times New Roman" panose="02020603050405020304" pitchFamily="18" charset="0"/>
              </a:rPr>
              <a:t>(Perceptron)</a:t>
            </a:r>
            <a:r>
              <a:rPr lang="zh-CN" altLang="en-US" sz="2400" dirty="0">
                <a:latin typeface="Times New Roman" panose="02020603050405020304" pitchFamily="18" charset="0"/>
                <a:cs typeface="Times New Roman" panose="02020603050405020304" pitchFamily="18" charset="0"/>
              </a:rPr>
              <a:t> ，可以根据错误反馈进行学习。</a:t>
            </a:r>
          </a:p>
        </p:txBody>
      </p:sp>
      <p:pic>
        <p:nvPicPr>
          <p:cNvPr id="30" name="Picture 2" descr="Professor's perceptron paved the way for AI – 60 years too soon | Cornell  Chronicle">
            <a:extLst>
              <a:ext uri="{FF2B5EF4-FFF2-40B4-BE49-F238E27FC236}">
                <a16:creationId xmlns:a16="http://schemas.microsoft.com/office/drawing/2014/main" id="{2CBF9DD1-F200-E241-806A-2DEBCC7CC6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6950" y="2928105"/>
            <a:ext cx="3496323" cy="273575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Principles of Neurodynamics: Perceptrons and the Theory of Brain Mechanisms  by Rosenblatt, Frank | Hardcover | 1962 | Spartan Books | Biblio">
            <a:extLst>
              <a:ext uri="{FF2B5EF4-FFF2-40B4-BE49-F238E27FC236}">
                <a16:creationId xmlns:a16="http://schemas.microsoft.com/office/drawing/2014/main" id="{2FBEB60C-14B1-6647-8429-9A33FA67D3C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01356" y="2942681"/>
            <a:ext cx="2184705" cy="2706604"/>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80EBB21E-F311-C44B-88A8-3F32D8120893}"/>
              </a:ext>
            </a:extLst>
          </p:cNvPr>
          <p:cNvPicPr>
            <a:picLocks noChangeAspect="1"/>
          </p:cNvPicPr>
          <p:nvPr/>
        </p:nvPicPr>
        <p:blipFill>
          <a:blip r:embed="rId5"/>
          <a:stretch>
            <a:fillRect/>
          </a:stretch>
        </p:blipFill>
        <p:spPr>
          <a:xfrm>
            <a:off x="548640" y="3348823"/>
            <a:ext cx="4881773" cy="2461492"/>
          </a:xfrm>
          <a:prstGeom prst="rect">
            <a:avLst/>
          </a:prstGeom>
        </p:spPr>
      </p:pic>
      <p:pic>
        <p:nvPicPr>
          <p:cNvPr id="4" name="图片 3">
            <a:extLst>
              <a:ext uri="{FF2B5EF4-FFF2-40B4-BE49-F238E27FC236}">
                <a16:creationId xmlns:a16="http://schemas.microsoft.com/office/drawing/2014/main" id="{944D5BE5-80F6-4C86-8047-FFB6605250E6}"/>
              </a:ext>
            </a:extLst>
          </p:cNvPr>
          <p:cNvPicPr>
            <a:picLocks noChangeAspect="1"/>
          </p:cNvPicPr>
          <p:nvPr/>
        </p:nvPicPr>
        <p:blipFill rotWithShape="1">
          <a:blip r:embed="rId6"/>
          <a:srcRect r="9165"/>
          <a:stretch/>
        </p:blipFill>
        <p:spPr>
          <a:xfrm>
            <a:off x="268014" y="5862083"/>
            <a:ext cx="2075793" cy="817241"/>
          </a:xfrm>
          <a:prstGeom prst="rect">
            <a:avLst/>
          </a:prstGeom>
        </p:spPr>
      </p:pic>
      <p:pic>
        <p:nvPicPr>
          <p:cNvPr id="6" name="图片 5">
            <a:extLst>
              <a:ext uri="{FF2B5EF4-FFF2-40B4-BE49-F238E27FC236}">
                <a16:creationId xmlns:a16="http://schemas.microsoft.com/office/drawing/2014/main" id="{6BF29582-AE23-4459-BA8E-5EDD2FEAA0BC}"/>
              </a:ext>
            </a:extLst>
          </p:cNvPr>
          <p:cNvPicPr>
            <a:picLocks noChangeAspect="1"/>
          </p:cNvPicPr>
          <p:nvPr/>
        </p:nvPicPr>
        <p:blipFill>
          <a:blip r:embed="rId7"/>
          <a:stretch>
            <a:fillRect/>
          </a:stretch>
        </p:blipFill>
        <p:spPr>
          <a:xfrm>
            <a:off x="2343807" y="5968085"/>
            <a:ext cx="1140372" cy="486744"/>
          </a:xfrm>
          <a:prstGeom prst="rect">
            <a:avLst/>
          </a:prstGeom>
        </p:spPr>
      </p:pic>
      <p:pic>
        <p:nvPicPr>
          <p:cNvPr id="8" name="图片 7">
            <a:extLst>
              <a:ext uri="{FF2B5EF4-FFF2-40B4-BE49-F238E27FC236}">
                <a16:creationId xmlns:a16="http://schemas.microsoft.com/office/drawing/2014/main" id="{E93DE8FE-72CC-43D7-8DC4-C979B88BFD93}"/>
              </a:ext>
            </a:extLst>
          </p:cNvPr>
          <p:cNvPicPr>
            <a:picLocks noChangeAspect="1"/>
          </p:cNvPicPr>
          <p:nvPr/>
        </p:nvPicPr>
        <p:blipFill>
          <a:blip r:embed="rId8"/>
          <a:stretch>
            <a:fillRect/>
          </a:stretch>
        </p:blipFill>
        <p:spPr>
          <a:xfrm>
            <a:off x="3633953" y="5862083"/>
            <a:ext cx="2309101" cy="674968"/>
          </a:xfrm>
          <a:prstGeom prst="rect">
            <a:avLst/>
          </a:prstGeom>
        </p:spPr>
      </p:pic>
      <p:sp>
        <p:nvSpPr>
          <p:cNvPr id="18" name="文本框 17">
            <a:extLst>
              <a:ext uri="{FF2B5EF4-FFF2-40B4-BE49-F238E27FC236}">
                <a16:creationId xmlns:a16="http://schemas.microsoft.com/office/drawing/2014/main" id="{A658DCBE-2D9D-4210-9A9E-2BFEA0492304}"/>
              </a:ext>
            </a:extLst>
          </p:cNvPr>
          <p:cNvSpPr txBox="1"/>
          <p:nvPr/>
        </p:nvSpPr>
        <p:spPr>
          <a:xfrm>
            <a:off x="5993525" y="6106492"/>
            <a:ext cx="6101254" cy="369332"/>
          </a:xfrm>
          <a:prstGeom prst="rect">
            <a:avLst/>
          </a:prstGeom>
          <a:noFill/>
        </p:spPr>
        <p:txBody>
          <a:bodyPr wrap="square">
            <a:spAutoFit/>
          </a:bodyPr>
          <a:lstStyle/>
          <a:p>
            <a:r>
              <a:rPr lang="en-US" altLang="zh-CN" dirty="0">
                <a:solidFill>
                  <a:srgbClr val="191B1F"/>
                </a:solidFill>
                <a:latin typeface="Times New Roman" panose="02020603050405020304" pitchFamily="18" charset="0"/>
                <a:ea typeface="江城正义体 500W" panose="020B0500000000000000" pitchFamily="34" charset="-122"/>
                <a:cs typeface="Times New Roman" panose="02020603050405020304" pitchFamily="18" charset="0"/>
              </a:rPr>
              <a:t>b</a:t>
            </a:r>
            <a:r>
              <a:rPr lang="zh-CN" altLang="en-US" dirty="0">
                <a:solidFill>
                  <a:srgbClr val="191B1F"/>
                </a:solidFill>
                <a:ea typeface="江城正义体 500W" panose="020B0500000000000000" pitchFamily="34" charset="-122"/>
              </a:rPr>
              <a:t>是偏置（</a:t>
            </a:r>
            <a:r>
              <a:rPr lang="en-US" altLang="zh-CN" dirty="0">
                <a:solidFill>
                  <a:srgbClr val="191B1F"/>
                </a:solidFill>
                <a:ea typeface="江城正义体 500W" panose="020B0500000000000000" pitchFamily="34" charset="-122"/>
              </a:rPr>
              <a:t>bias</a:t>
            </a:r>
            <a:r>
              <a:rPr lang="zh-CN" altLang="en-US" dirty="0">
                <a:solidFill>
                  <a:srgbClr val="191B1F"/>
                </a:solidFill>
                <a:ea typeface="江城正义体 500W" panose="020B0500000000000000" pitchFamily="34" charset="-122"/>
              </a:rPr>
              <a:t>），在感知机中也可被视为阈值</a:t>
            </a:r>
            <a:endParaRPr lang="zh-CN" altLang="en-US" dirty="0"/>
          </a:p>
        </p:txBody>
      </p:sp>
    </p:spTree>
    <p:extLst>
      <p:ext uri="{BB962C8B-B14F-4D97-AF65-F5344CB8AC3E}">
        <p14:creationId xmlns:p14="http://schemas.microsoft.com/office/powerpoint/2010/main" val="2090673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1957</a:t>
            </a:r>
            <a:r>
              <a:rPr lang="zh-CN" altLang="en-US" sz="2400" dirty="0">
                <a:latin typeface="Times New Roman" panose="02020603050405020304" pitchFamily="18" charset="0"/>
                <a:cs typeface="Times New Roman" panose="02020603050405020304" pitchFamily="18" charset="0"/>
              </a:rPr>
              <a:t>年，</a:t>
            </a:r>
            <a:r>
              <a:rPr lang="en-US" altLang="zh-CN" sz="2400" b="1" dirty="0">
                <a:solidFill>
                  <a:srgbClr val="C00000"/>
                </a:solidFill>
                <a:latin typeface="Times New Roman" panose="02020603050405020304" pitchFamily="18" charset="0"/>
                <a:cs typeface="Times New Roman" panose="02020603050405020304" pitchFamily="18" charset="0"/>
              </a:rPr>
              <a:t>Frank Rosenblatt</a:t>
            </a:r>
            <a:r>
              <a:rPr lang="zh-CN" altLang="en-US" sz="2400" b="1" dirty="0">
                <a:solidFill>
                  <a:srgbClr val="C00000"/>
                </a:solidFill>
                <a:latin typeface="Times New Roman" panose="02020603050405020304" pitchFamily="18" charset="0"/>
                <a:cs typeface="Times New Roman" panose="02020603050405020304" pitchFamily="18" charset="0"/>
              </a:rPr>
              <a:t>发明感知机</a:t>
            </a:r>
            <a:r>
              <a:rPr lang="en-US" altLang="zh-CN" sz="2400" b="1" dirty="0">
                <a:solidFill>
                  <a:srgbClr val="C00000"/>
                </a:solidFill>
                <a:latin typeface="Times New Roman" panose="02020603050405020304" pitchFamily="18" charset="0"/>
                <a:cs typeface="Times New Roman" panose="02020603050405020304" pitchFamily="18" charset="0"/>
              </a:rPr>
              <a:t>(Perceptron)</a:t>
            </a:r>
            <a:r>
              <a:rPr lang="zh-CN" altLang="en-US" sz="2400" dirty="0">
                <a:latin typeface="Times New Roman" panose="02020603050405020304" pitchFamily="18" charset="0"/>
                <a:cs typeface="Times New Roman" panose="02020603050405020304" pitchFamily="18" charset="0"/>
              </a:rPr>
              <a:t> ，可以根据错误反馈进行学习。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D235B5C-C49A-2843-963D-F1937A8B6AED}"/>
                  </a:ext>
                </a:extLst>
              </p:cNvPr>
              <p:cNvSpPr txBox="1"/>
              <p:nvPr/>
            </p:nvSpPr>
            <p:spPr>
              <a:xfrm>
                <a:off x="5430415" y="2490565"/>
                <a:ext cx="6531429" cy="4339650"/>
              </a:xfrm>
              <a:prstGeom prst="rect">
                <a:avLst/>
              </a:prstGeom>
              <a:noFill/>
            </p:spPr>
            <p:txBody>
              <a:bodyPr wrap="square" rtlCol="0">
                <a:spAutoFit/>
              </a:bodyPr>
              <a:lstStyle/>
              <a:p>
                <a:pPr marL="285750" indent="-285750">
                  <a:buFont typeface="Wingdings" pitchFamily="2" charset="2"/>
                  <a:buChar char="n"/>
                </a:pPr>
                <a:r>
                  <a:rPr kumimoji="1" lang="zh-CN" altLang="en-US" sz="2400" dirty="0"/>
                  <a:t>感知机算法</a:t>
                </a:r>
                <a:endParaRPr kumimoji="1" lang="en-US" altLang="zh-CN" sz="2400" dirty="0"/>
              </a:p>
              <a:p>
                <a:pPr marL="742950" lvl="1" indent="-285750">
                  <a:lnSpc>
                    <a:spcPct val="150000"/>
                  </a:lnSpc>
                  <a:buFont typeface="Wingdings" pitchFamily="2" charset="2"/>
                  <a:buChar char="p"/>
                </a:pPr>
                <a:r>
                  <a:rPr kumimoji="1" lang="zh-CN" altLang="en-US" sz="2400" dirty="0"/>
                  <a:t>初始化</a:t>
                </a:r>
                <a14:m>
                  <m:oMath xmlns:m="http://schemas.openxmlformats.org/officeDocument/2006/math">
                    <m:r>
                      <a:rPr kumimoji="1" lang="en-US" altLang="zh-CN" sz="2400" b="1" i="1" smtClean="0">
                        <a:latin typeface="Cambria Math" panose="02040503050406030204" pitchFamily="18" charset="0"/>
                      </a:rPr>
                      <m:t>𝒘</m:t>
                    </m:r>
                    <m:r>
                      <a:rPr kumimoji="1" lang="en-US" altLang="zh-CN" sz="2400" b="0" i="1" smtClean="0">
                        <a:latin typeface="Cambria Math" panose="02040503050406030204" pitchFamily="18" charset="0"/>
                      </a:rPr>
                      <m:t>=</m:t>
                    </m:r>
                    <m:r>
                      <a:rPr kumimoji="1" lang="en-US" altLang="zh-CN" sz="2400" b="1" i="1" smtClean="0">
                        <a:latin typeface="Cambria Math" panose="02040503050406030204" pitchFamily="18" charset="0"/>
                      </a:rPr>
                      <m:t>𝟎</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r>
                      <a:rPr kumimoji="1" lang="en-US" altLang="zh-CN" sz="2400" b="0" i="1" smtClean="0">
                        <a:latin typeface="Cambria Math" panose="02040503050406030204" pitchFamily="18" charset="0"/>
                      </a:rPr>
                      <m:t>=</m:t>
                    </m:r>
                    <m:r>
                      <a:rPr kumimoji="1" lang="en-US" altLang="zh-CN" sz="2400" b="1" i="1" smtClean="0">
                        <a:latin typeface="Cambria Math" panose="02040503050406030204" pitchFamily="18" charset="0"/>
                      </a:rPr>
                      <m:t>𝟎</m:t>
                    </m:r>
                  </m:oMath>
                </a14:m>
                <a:endParaRPr kumimoji="1" lang="en-US" altLang="zh-CN" sz="2400" b="1" dirty="0"/>
              </a:p>
              <a:p>
                <a:pPr marL="742950" lvl="1" indent="-285750">
                  <a:lnSpc>
                    <a:spcPct val="150000"/>
                  </a:lnSpc>
                  <a:buFont typeface="Wingdings" pitchFamily="2" charset="2"/>
                  <a:buChar char="p"/>
                </a:pPr>
                <a:r>
                  <a:rPr kumimoji="1" lang="zh-CN" altLang="en-US" sz="2400" dirty="0"/>
                  <a:t>遍历训练数据集，找到误分类样本</a:t>
                </a:r>
                <a14:m>
                  <m:oMath xmlns:m="http://schemas.openxmlformats.org/officeDocument/2006/math">
                    <m:d>
                      <m:dPr>
                        <m:ctrlPr>
                          <a:rPr kumimoji="1" lang="en-US" altLang="zh-CN" sz="2400" b="0" i="1" smtClean="0">
                            <a:latin typeface="Cambria Math" panose="02040503050406030204" pitchFamily="18" charset="0"/>
                          </a:rPr>
                        </m:ctrlPr>
                      </m:dPr>
                      <m:e>
                        <m:sSub>
                          <m:sSubPr>
                            <m:ctrlPr>
                              <a:rPr kumimoji="1" lang="en-US" altLang="zh-CN" sz="2400" b="0" i="1" smtClean="0">
                                <a:latin typeface="Cambria Math" panose="02040503050406030204" pitchFamily="18" charset="0"/>
                              </a:rPr>
                            </m:ctrlPr>
                          </m:sSubPr>
                          <m:e>
                            <m:r>
                              <a:rPr kumimoji="1" lang="en-US" altLang="zh-CN" sz="2400" b="1" i="1" smtClean="0">
                                <a:latin typeface="Cambria Math" panose="02040503050406030204" pitchFamily="18" charset="0"/>
                              </a:rPr>
                              <m:t>𝒙</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𝑖</m:t>
                            </m:r>
                          </m:sub>
                        </m:sSub>
                      </m:e>
                    </m:d>
                  </m:oMath>
                </a14:m>
                <a:endParaRPr kumimoji="1" lang="en-US" altLang="zh-CN" sz="2400" dirty="0"/>
              </a:p>
              <a:p>
                <a:pPr lvl="1">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𝑖</m:t>
                          </m:r>
                        </m:sub>
                      </m:sSub>
                      <m:d>
                        <m:dPr>
                          <m:ctrlPr>
                            <a:rPr kumimoji="1" lang="en-US" altLang="zh-CN" sz="2400" b="0" i="1" smtClean="0">
                              <a:latin typeface="Cambria Math" panose="02040503050406030204" pitchFamily="18" charset="0"/>
                            </a:rPr>
                          </m:ctrlPr>
                        </m:dPr>
                        <m:e>
                          <m:sSup>
                            <m:sSupPr>
                              <m:ctrlPr>
                                <a:rPr kumimoji="1" lang="en-US" altLang="zh-CN" sz="2400" b="0" i="1" smtClean="0">
                                  <a:latin typeface="Cambria Math" panose="02040503050406030204" pitchFamily="18" charset="0"/>
                                </a:rPr>
                              </m:ctrlPr>
                            </m:sSupPr>
                            <m:e>
                              <m:r>
                                <a:rPr kumimoji="1" lang="en-US" altLang="zh-CN" sz="2400" b="1" i="1" smtClean="0">
                                  <a:latin typeface="Cambria Math" panose="02040503050406030204" pitchFamily="18" charset="0"/>
                                </a:rPr>
                                <m:t>𝒘</m:t>
                              </m:r>
                            </m:e>
                            <m:sup>
                              <m:r>
                                <a:rPr kumimoji="1" lang="en-US" altLang="zh-CN" sz="2400" b="0" i="1" smtClean="0">
                                  <a:latin typeface="Cambria Math" panose="02040503050406030204" pitchFamily="18" charset="0"/>
                                </a:rPr>
                                <m:t>⊤</m:t>
                              </m:r>
                            </m:sup>
                          </m:sSup>
                          <m:sSub>
                            <m:sSubPr>
                              <m:ctrlPr>
                                <a:rPr kumimoji="1" lang="en-US" altLang="zh-CN" sz="2400" b="0" i="1" smtClean="0">
                                  <a:latin typeface="Cambria Math" panose="02040503050406030204" pitchFamily="18" charset="0"/>
                                </a:rPr>
                              </m:ctrlPr>
                            </m:sSubPr>
                            <m:e>
                              <m:r>
                                <a:rPr kumimoji="1" lang="en-US" altLang="zh-CN" sz="2400" b="1" i="1" smtClean="0">
                                  <a:latin typeface="Cambria Math" panose="02040503050406030204" pitchFamily="18" charset="0"/>
                                </a:rPr>
                                <m:t>𝒙</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e>
                      </m:d>
                      <m:r>
                        <a:rPr kumimoji="1" lang="en-US" altLang="zh-CN" sz="2400" b="0" i="1" smtClean="0">
                          <a:latin typeface="Cambria Math" panose="02040503050406030204" pitchFamily="18" charset="0"/>
                        </a:rPr>
                        <m:t>≤0</m:t>
                      </m:r>
                    </m:oMath>
                  </m:oMathPara>
                </a14:m>
                <a:endParaRPr kumimoji="1" lang="en-US" altLang="zh-CN" sz="2400" dirty="0"/>
              </a:p>
              <a:p>
                <a:pPr marL="742950" lvl="1" indent="-285750">
                  <a:lnSpc>
                    <a:spcPct val="150000"/>
                  </a:lnSpc>
                  <a:buFont typeface="Wingdings" pitchFamily="2" charset="2"/>
                  <a:buChar char="p"/>
                </a:pPr>
                <a:r>
                  <a:rPr kumimoji="1" lang="zh-CN" altLang="en-US" sz="2400" dirty="0"/>
                  <a:t>更新参数</a:t>
                </a:r>
                <a:endParaRPr kumimoji="1" lang="en-US" altLang="zh-CN" sz="2400" dirty="0"/>
              </a:p>
              <a:p>
                <a:pPr lvl="1">
                  <a:lnSpc>
                    <a:spcPct val="150000"/>
                  </a:lnSpc>
                </a:pPr>
                <a14:m>
                  <m:oMathPara xmlns:m="http://schemas.openxmlformats.org/officeDocument/2006/math">
                    <m:oMathParaPr>
                      <m:jc m:val="centerGroup"/>
                    </m:oMathParaPr>
                    <m:oMath xmlns:m="http://schemas.openxmlformats.org/officeDocument/2006/math">
                      <m:r>
                        <a:rPr kumimoji="1" lang="en-US" altLang="zh-CN" sz="2400" b="1" i="1" dirty="0" smtClean="0">
                          <a:latin typeface="Cambria Math" panose="02040503050406030204" pitchFamily="18" charset="0"/>
                        </a:rPr>
                        <m:t>𝒘</m:t>
                      </m:r>
                      <m:r>
                        <a:rPr kumimoji="1" lang="en-US" altLang="zh-CN" sz="2400" b="0" i="1" dirty="0" smtClean="0">
                          <a:latin typeface="Cambria Math" panose="02040503050406030204" pitchFamily="18" charset="0"/>
                        </a:rPr>
                        <m:t>=</m:t>
                      </m:r>
                      <m:r>
                        <a:rPr kumimoji="1" lang="en-US" altLang="zh-CN" sz="2400" b="1" i="1" dirty="0" smtClean="0">
                          <a:latin typeface="Cambria Math" panose="02040503050406030204" pitchFamily="18" charset="0"/>
                        </a:rPr>
                        <m:t>𝒘</m:t>
                      </m:r>
                      <m:r>
                        <a:rPr kumimoji="1" lang="en-US" altLang="zh-CN" sz="2400" b="0" i="1" dirty="0" smtClean="0">
                          <a:latin typeface="Cambria Math" panose="02040503050406030204" pitchFamily="18" charset="0"/>
                        </a:rPr>
                        <m:t>+</m:t>
                      </m:r>
                      <m:r>
                        <a:rPr kumimoji="1" lang="en-US" altLang="zh-CN" sz="2400" b="0" i="1" dirty="0" smtClean="0">
                          <a:latin typeface="Cambria Math" panose="02040503050406030204" pitchFamily="18" charset="0"/>
                        </a:rPr>
                        <m:t>𝜂</m:t>
                      </m:r>
                      <m:sSub>
                        <m:sSubPr>
                          <m:ctrlPr>
                            <a:rPr kumimoji="1" lang="en-US" altLang="zh-CN" sz="2400" b="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𝑦</m:t>
                          </m:r>
                        </m:e>
                        <m:sub>
                          <m:r>
                            <a:rPr kumimoji="1" lang="en-US" altLang="zh-CN" sz="2400" b="0" i="1" dirty="0" smtClean="0">
                              <a:latin typeface="Cambria Math" panose="02040503050406030204" pitchFamily="18" charset="0"/>
                            </a:rPr>
                            <m:t>𝑖</m:t>
                          </m:r>
                        </m:sub>
                      </m:sSub>
                      <m:sSub>
                        <m:sSubPr>
                          <m:ctrlPr>
                            <a:rPr kumimoji="1" lang="en-US" altLang="zh-CN" sz="2400" b="0" i="1" dirty="0" smtClean="0">
                              <a:latin typeface="Cambria Math" panose="02040503050406030204" pitchFamily="18" charset="0"/>
                            </a:rPr>
                          </m:ctrlPr>
                        </m:sSubPr>
                        <m:e>
                          <m:r>
                            <a:rPr kumimoji="1" lang="en-US" altLang="zh-CN" sz="2400" b="1" i="1" dirty="0" smtClean="0">
                              <a:latin typeface="Cambria Math" panose="02040503050406030204" pitchFamily="18" charset="0"/>
                            </a:rPr>
                            <m:t>𝒙</m:t>
                          </m:r>
                        </m:e>
                        <m:sub>
                          <m:r>
                            <a:rPr kumimoji="1" lang="en-US" altLang="zh-CN" sz="2400" b="0" i="1" dirty="0" smtClean="0">
                              <a:latin typeface="Cambria Math" panose="02040503050406030204" pitchFamily="18" charset="0"/>
                            </a:rPr>
                            <m:t>𝑖</m:t>
                          </m:r>
                        </m:sub>
                      </m:sSub>
                      <m:r>
                        <a:rPr kumimoji="1" lang="en-US" altLang="zh-CN" sz="2400" b="0" i="1" dirty="0" smtClean="0">
                          <a:latin typeface="Cambria Math" panose="02040503050406030204" pitchFamily="18" charset="0"/>
                        </a:rPr>
                        <m:t>, </m:t>
                      </m:r>
                      <m:r>
                        <a:rPr kumimoji="1" lang="en-US" altLang="zh-CN" sz="2400" b="0" i="1" dirty="0" smtClean="0">
                          <a:latin typeface="Cambria Math" panose="02040503050406030204" pitchFamily="18" charset="0"/>
                        </a:rPr>
                        <m:t>𝑏</m:t>
                      </m:r>
                      <m:r>
                        <a:rPr kumimoji="1" lang="en-US" altLang="zh-CN" sz="2400" b="0" i="1" dirty="0" smtClean="0">
                          <a:latin typeface="Cambria Math" panose="02040503050406030204" pitchFamily="18" charset="0"/>
                        </a:rPr>
                        <m:t>=</m:t>
                      </m:r>
                      <m:r>
                        <a:rPr kumimoji="1" lang="en-US" altLang="zh-CN" sz="2400" b="0" i="1" dirty="0" smtClean="0">
                          <a:latin typeface="Cambria Math" panose="02040503050406030204" pitchFamily="18" charset="0"/>
                        </a:rPr>
                        <m:t>𝑏</m:t>
                      </m:r>
                      <m:r>
                        <a:rPr kumimoji="1" lang="en-US" altLang="zh-CN" sz="2400" b="0" i="1" dirty="0" smtClean="0">
                          <a:latin typeface="Cambria Math" panose="02040503050406030204" pitchFamily="18" charset="0"/>
                        </a:rPr>
                        <m:t>+</m:t>
                      </m:r>
                      <m:r>
                        <a:rPr kumimoji="1" lang="en-US" altLang="zh-CN" sz="2400" b="0" i="1" dirty="0" smtClean="0">
                          <a:latin typeface="Cambria Math" panose="02040503050406030204" pitchFamily="18" charset="0"/>
                        </a:rPr>
                        <m:t>𝜂</m:t>
                      </m:r>
                      <m:sSub>
                        <m:sSubPr>
                          <m:ctrlPr>
                            <a:rPr kumimoji="1" lang="en-US" altLang="zh-CN" sz="2400" b="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𝑦</m:t>
                          </m:r>
                        </m:e>
                        <m:sub>
                          <m:r>
                            <a:rPr kumimoji="1" lang="en-US" altLang="zh-CN" sz="2400" b="0" i="1" dirty="0" smtClean="0">
                              <a:latin typeface="Cambria Math" panose="02040503050406030204" pitchFamily="18" charset="0"/>
                            </a:rPr>
                            <m:t>𝑖</m:t>
                          </m:r>
                        </m:sub>
                      </m:sSub>
                    </m:oMath>
                  </m:oMathPara>
                </a14:m>
                <a:endParaRPr kumimoji="1" lang="en-US" altLang="zh-CN" sz="2400" dirty="0"/>
              </a:p>
              <a:p>
                <a:pPr marL="1257300" lvl="2" indent="-342900">
                  <a:lnSpc>
                    <a:spcPct val="150000"/>
                  </a:lnSpc>
                  <a:buFont typeface="Arial" panose="020B0604020202020204" pitchFamily="34" charset="0"/>
                  <a:buChar char="•"/>
                </a:pPr>
                <a:r>
                  <a:rPr kumimoji="1" lang="zh-CN" altLang="en-US" sz="2400" dirty="0"/>
                  <a:t>无论</a:t>
                </a:r>
                <a14:m>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d>
                      <m:dPr>
                        <m:begChr m:val="{"/>
                        <m:endChr m:val="}"/>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±1</m:t>
                        </m:r>
                      </m:e>
                    </m:d>
                  </m:oMath>
                </a14:m>
                <a:r>
                  <a:rPr kumimoji="1" lang="zh-CN" altLang="en-US" sz="2400" dirty="0"/>
                  <a:t>更新使得下式变大</a:t>
                </a:r>
                <a:endParaRPr kumimoji="1" lang="en-US" altLang="zh-CN" sz="2400" dirty="0"/>
              </a:p>
              <a:p>
                <a:pPr lvl="2">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𝑖</m:t>
                          </m:r>
                        </m:sub>
                      </m:sSub>
                      <m:d>
                        <m:dPr>
                          <m:ctrlPr>
                            <a:rPr kumimoji="1" lang="en-US" altLang="zh-CN" sz="2400" b="0" i="1" smtClean="0">
                              <a:latin typeface="Cambria Math" panose="02040503050406030204" pitchFamily="18" charset="0"/>
                            </a:rPr>
                          </m:ctrlPr>
                        </m:dPr>
                        <m:e>
                          <m:sSup>
                            <m:sSupPr>
                              <m:ctrlPr>
                                <a:rPr kumimoji="1" lang="en-US" altLang="zh-CN" sz="2400" b="0" i="1" smtClean="0">
                                  <a:latin typeface="Cambria Math" panose="02040503050406030204" pitchFamily="18" charset="0"/>
                                </a:rPr>
                              </m:ctrlPr>
                            </m:sSupPr>
                            <m:e>
                              <m:r>
                                <a:rPr kumimoji="1" lang="en-US" altLang="zh-CN" sz="2400" b="1" i="1" smtClean="0">
                                  <a:latin typeface="Cambria Math" panose="02040503050406030204" pitchFamily="18" charset="0"/>
                                </a:rPr>
                                <m:t>𝒘</m:t>
                              </m:r>
                            </m:e>
                            <m:sup>
                              <m:r>
                                <a:rPr kumimoji="1" lang="en-US" altLang="zh-CN" sz="2400" b="0" i="1" smtClean="0">
                                  <a:latin typeface="Cambria Math" panose="02040503050406030204" pitchFamily="18" charset="0"/>
                                </a:rPr>
                                <m:t>⊤</m:t>
                              </m:r>
                            </m:sup>
                          </m:sSup>
                          <m:sSub>
                            <m:sSubPr>
                              <m:ctrlPr>
                                <a:rPr kumimoji="1" lang="en-US" altLang="zh-CN" sz="2400" b="0" i="1" smtClean="0">
                                  <a:latin typeface="Cambria Math" panose="02040503050406030204" pitchFamily="18" charset="0"/>
                                </a:rPr>
                              </m:ctrlPr>
                            </m:sSubPr>
                            <m:e>
                              <m:r>
                                <a:rPr kumimoji="1" lang="en-US" altLang="zh-CN" sz="2400" b="1" i="1" smtClean="0">
                                  <a:latin typeface="Cambria Math" panose="02040503050406030204" pitchFamily="18" charset="0"/>
                                </a:rPr>
                                <m:t>𝒙</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e>
                      </m:d>
                    </m:oMath>
                  </m:oMathPara>
                </a14:m>
                <a:endParaRPr kumimoji="1" lang="en-US" altLang="zh-CN" sz="2400" dirty="0"/>
              </a:p>
            </p:txBody>
          </p:sp>
        </mc:Choice>
        <mc:Fallback xmlns="">
          <p:sp>
            <p:nvSpPr>
              <p:cNvPr id="3" name="文本框 2">
                <a:extLst>
                  <a:ext uri="{FF2B5EF4-FFF2-40B4-BE49-F238E27FC236}">
                    <a16:creationId xmlns:a16="http://schemas.microsoft.com/office/drawing/2014/main" id="{AD235B5C-C49A-2843-963D-F1937A8B6AED}"/>
                  </a:ext>
                </a:extLst>
              </p:cNvPr>
              <p:cNvSpPr txBox="1">
                <a:spLocks noRot="1" noChangeAspect="1" noMove="1" noResize="1" noEditPoints="1" noAdjustHandles="1" noChangeArrowheads="1" noChangeShapeType="1" noTextEdit="1"/>
              </p:cNvSpPr>
              <p:nvPr/>
            </p:nvSpPr>
            <p:spPr>
              <a:xfrm>
                <a:off x="5430415" y="2490565"/>
                <a:ext cx="6531429" cy="4339650"/>
              </a:xfrm>
              <a:prstGeom prst="rect">
                <a:avLst/>
              </a:prstGeom>
              <a:blipFill>
                <a:blip r:embed="rId3"/>
                <a:stretch>
                  <a:fillRect l="-1307" t="-985"/>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E310D85F-EE48-5749-8982-D234AD0FC88B}"/>
              </a:ext>
            </a:extLst>
          </p:cNvPr>
          <p:cNvPicPr>
            <a:picLocks noChangeAspect="1"/>
          </p:cNvPicPr>
          <p:nvPr/>
        </p:nvPicPr>
        <p:blipFill>
          <a:blip r:embed="rId4"/>
          <a:stretch>
            <a:fillRect/>
          </a:stretch>
        </p:blipFill>
        <p:spPr>
          <a:xfrm>
            <a:off x="548640" y="3348823"/>
            <a:ext cx="4881773" cy="2461492"/>
          </a:xfrm>
          <a:prstGeom prst="rect">
            <a:avLst/>
          </a:prstGeom>
        </p:spPr>
      </p:pic>
      <p:pic>
        <p:nvPicPr>
          <p:cNvPr id="8" name="图片 7">
            <a:extLst>
              <a:ext uri="{FF2B5EF4-FFF2-40B4-BE49-F238E27FC236}">
                <a16:creationId xmlns:a16="http://schemas.microsoft.com/office/drawing/2014/main" id="{5FE9B896-1A7A-4678-8A0A-B4AF37F64E0F}"/>
              </a:ext>
            </a:extLst>
          </p:cNvPr>
          <p:cNvPicPr>
            <a:picLocks noChangeAspect="1"/>
          </p:cNvPicPr>
          <p:nvPr/>
        </p:nvPicPr>
        <p:blipFill rotWithShape="1">
          <a:blip r:embed="rId5"/>
          <a:srcRect r="9165"/>
          <a:stretch/>
        </p:blipFill>
        <p:spPr>
          <a:xfrm>
            <a:off x="268014" y="5862083"/>
            <a:ext cx="2075793" cy="817241"/>
          </a:xfrm>
          <a:prstGeom prst="rect">
            <a:avLst/>
          </a:prstGeom>
        </p:spPr>
      </p:pic>
      <p:pic>
        <p:nvPicPr>
          <p:cNvPr id="9" name="图片 8">
            <a:extLst>
              <a:ext uri="{FF2B5EF4-FFF2-40B4-BE49-F238E27FC236}">
                <a16:creationId xmlns:a16="http://schemas.microsoft.com/office/drawing/2014/main" id="{9F061644-2CF9-46F1-B346-1715138F1192}"/>
              </a:ext>
            </a:extLst>
          </p:cNvPr>
          <p:cNvPicPr>
            <a:picLocks noChangeAspect="1"/>
          </p:cNvPicPr>
          <p:nvPr/>
        </p:nvPicPr>
        <p:blipFill>
          <a:blip r:embed="rId6"/>
          <a:stretch>
            <a:fillRect/>
          </a:stretch>
        </p:blipFill>
        <p:spPr>
          <a:xfrm>
            <a:off x="2343807" y="5968085"/>
            <a:ext cx="1140372" cy="486744"/>
          </a:xfrm>
          <a:prstGeom prst="rect">
            <a:avLst/>
          </a:prstGeom>
        </p:spPr>
      </p:pic>
      <p:pic>
        <p:nvPicPr>
          <p:cNvPr id="11" name="图片 10">
            <a:extLst>
              <a:ext uri="{FF2B5EF4-FFF2-40B4-BE49-F238E27FC236}">
                <a16:creationId xmlns:a16="http://schemas.microsoft.com/office/drawing/2014/main" id="{F7177694-6744-43AF-8FFD-81BFAE5C656F}"/>
              </a:ext>
            </a:extLst>
          </p:cNvPr>
          <p:cNvPicPr>
            <a:picLocks noChangeAspect="1"/>
          </p:cNvPicPr>
          <p:nvPr/>
        </p:nvPicPr>
        <p:blipFill>
          <a:blip r:embed="rId7"/>
          <a:stretch>
            <a:fillRect/>
          </a:stretch>
        </p:blipFill>
        <p:spPr>
          <a:xfrm>
            <a:off x="3633953" y="5862083"/>
            <a:ext cx="2309101" cy="674968"/>
          </a:xfrm>
          <a:prstGeom prst="rect">
            <a:avLst/>
          </a:prstGeom>
        </p:spPr>
      </p:pic>
    </p:spTree>
    <p:extLst>
      <p:ext uri="{BB962C8B-B14F-4D97-AF65-F5344CB8AC3E}">
        <p14:creationId xmlns:p14="http://schemas.microsoft.com/office/powerpoint/2010/main" val="3415640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1957</a:t>
            </a:r>
            <a:r>
              <a:rPr lang="zh-CN" altLang="en-US" sz="2400" dirty="0">
                <a:latin typeface="Times New Roman" panose="02020603050405020304" pitchFamily="18" charset="0"/>
                <a:cs typeface="Times New Roman" panose="02020603050405020304" pitchFamily="18" charset="0"/>
              </a:rPr>
              <a:t>年，</a:t>
            </a:r>
            <a:r>
              <a:rPr lang="en-US" altLang="zh-CN" sz="2400" b="1" dirty="0">
                <a:solidFill>
                  <a:srgbClr val="C00000"/>
                </a:solidFill>
                <a:latin typeface="Times New Roman" panose="02020603050405020304" pitchFamily="18" charset="0"/>
                <a:cs typeface="Times New Roman" panose="02020603050405020304" pitchFamily="18" charset="0"/>
              </a:rPr>
              <a:t>Frank Rosenblatt</a:t>
            </a:r>
            <a:r>
              <a:rPr lang="zh-CN" altLang="en-US" sz="2400" b="1" dirty="0">
                <a:solidFill>
                  <a:srgbClr val="C00000"/>
                </a:solidFill>
                <a:latin typeface="Times New Roman" panose="02020603050405020304" pitchFamily="18" charset="0"/>
                <a:cs typeface="Times New Roman" panose="02020603050405020304" pitchFamily="18" charset="0"/>
              </a:rPr>
              <a:t>发明感知机</a:t>
            </a:r>
            <a:r>
              <a:rPr lang="en-US" altLang="zh-CN" sz="2400" b="1" dirty="0">
                <a:solidFill>
                  <a:srgbClr val="C00000"/>
                </a:solidFill>
                <a:latin typeface="Times New Roman" panose="02020603050405020304" pitchFamily="18" charset="0"/>
                <a:cs typeface="Times New Roman" panose="02020603050405020304" pitchFamily="18" charset="0"/>
              </a:rPr>
              <a:t>(Perceptron)</a:t>
            </a:r>
            <a:r>
              <a:rPr lang="zh-CN" altLang="en-US" sz="2400" dirty="0">
                <a:latin typeface="Times New Roman" panose="02020603050405020304" pitchFamily="18" charset="0"/>
                <a:cs typeface="Times New Roman" panose="02020603050405020304" pitchFamily="18" charset="0"/>
              </a:rPr>
              <a:t> ，可以根据错误反馈进行学习。</a:t>
            </a:r>
          </a:p>
        </p:txBody>
      </p:sp>
      <p:pic>
        <p:nvPicPr>
          <p:cNvPr id="26" name="图片 25">
            <a:extLst>
              <a:ext uri="{FF2B5EF4-FFF2-40B4-BE49-F238E27FC236}">
                <a16:creationId xmlns:a16="http://schemas.microsoft.com/office/drawing/2014/main" id="{78744D62-3EC0-6944-A39F-55B033116B9E}"/>
              </a:ext>
            </a:extLst>
          </p:cNvPr>
          <p:cNvPicPr>
            <a:picLocks noChangeAspect="1"/>
          </p:cNvPicPr>
          <p:nvPr/>
        </p:nvPicPr>
        <p:blipFill>
          <a:blip r:embed="rId3"/>
          <a:stretch>
            <a:fillRect/>
          </a:stretch>
        </p:blipFill>
        <p:spPr>
          <a:xfrm>
            <a:off x="548640" y="3348823"/>
            <a:ext cx="4881773" cy="2461492"/>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D235B5C-C49A-2843-963D-F1937A8B6AED}"/>
                  </a:ext>
                </a:extLst>
              </p:cNvPr>
              <p:cNvSpPr txBox="1"/>
              <p:nvPr/>
            </p:nvSpPr>
            <p:spPr>
              <a:xfrm>
                <a:off x="5430415" y="2490565"/>
                <a:ext cx="6531429" cy="4329262"/>
              </a:xfrm>
              <a:prstGeom prst="rect">
                <a:avLst/>
              </a:prstGeom>
              <a:noFill/>
            </p:spPr>
            <p:txBody>
              <a:bodyPr wrap="square" rtlCol="0">
                <a:spAutoFit/>
              </a:bodyPr>
              <a:lstStyle/>
              <a:p>
                <a:pPr marL="285750" indent="-285750">
                  <a:buFont typeface="Wingdings" pitchFamily="2" charset="2"/>
                  <a:buChar char="n"/>
                </a:pPr>
                <a:r>
                  <a:rPr kumimoji="1" lang="zh-CN" altLang="en-US" sz="2400" dirty="0"/>
                  <a:t>感知机算法</a:t>
                </a:r>
                <a:endParaRPr kumimoji="1" lang="en-US" altLang="zh-CN" sz="2400" dirty="0"/>
              </a:p>
              <a:p>
                <a:pPr marL="742950" lvl="1" indent="-285750">
                  <a:lnSpc>
                    <a:spcPct val="150000"/>
                  </a:lnSpc>
                  <a:buFont typeface="Wingdings" pitchFamily="2" charset="2"/>
                  <a:buChar char="p"/>
                </a:pPr>
                <a:r>
                  <a:rPr kumimoji="1" lang="zh-CN" altLang="en-US" sz="2400" dirty="0"/>
                  <a:t>令</a:t>
                </a:r>
                <a14:m>
                  <m:oMath xmlns:m="http://schemas.openxmlformats.org/officeDocument/2006/math">
                    <m:r>
                      <a:rPr kumimoji="1" lang="en-US" altLang="zh-CN" sz="2400" b="0" i="1" smtClean="0">
                        <a:latin typeface="Cambria Math" panose="02040503050406030204" pitchFamily="18" charset="0"/>
                      </a:rPr>
                      <m:t>𝑀</m:t>
                    </m:r>
                  </m:oMath>
                </a14:m>
                <a:r>
                  <a:rPr kumimoji="1" lang="zh-CN" altLang="en-US" sz="2400" dirty="0"/>
                  <a:t>表示算法错分的样本集合</a:t>
                </a:r>
                <a:endParaRPr kumimoji="1" lang="en-US" altLang="zh-CN" sz="2400" dirty="0"/>
              </a:p>
              <a:p>
                <a:pPr marL="800100" lvl="1" indent="-342900">
                  <a:lnSpc>
                    <a:spcPct val="150000"/>
                  </a:lnSpc>
                  <a:buFont typeface="Wingdings" pitchFamily="2" charset="2"/>
                  <a:buChar char="p"/>
                </a:pPr>
                <a:r>
                  <a:rPr kumimoji="1" lang="zh-CN" altLang="en-US" sz="2400" dirty="0"/>
                  <a:t>等价于近似求解</a:t>
                </a:r>
                <a:endParaRPr kumimoji="1" lang="en-US" altLang="zh-CN" sz="2400" dirty="0"/>
              </a:p>
              <a:p>
                <a:pPr marL="800100" lvl="1" indent="-342900">
                  <a:lnSpc>
                    <a:spcPct val="150000"/>
                  </a:lnSpc>
                  <a:buFont typeface="Wingdings" pitchFamily="2" charset="2"/>
                  <a:buChar char="p"/>
                </a:pPr>
                <a:endParaRPr kumimoji="1" lang="en-US" altLang="zh-CN" sz="2400" dirty="0"/>
              </a:p>
              <a:p>
                <a:pPr marL="800100" lvl="1" indent="-342900">
                  <a:lnSpc>
                    <a:spcPct val="150000"/>
                  </a:lnSpc>
                  <a:buFont typeface="Wingdings" pitchFamily="2" charset="2"/>
                  <a:buChar char="p"/>
                </a:pPr>
                <a:endParaRPr kumimoji="1" lang="en-US" altLang="zh-CN" sz="2400" dirty="0"/>
              </a:p>
              <a:p>
                <a:pPr marL="1257300" lvl="2" indent="-342900">
                  <a:lnSpc>
                    <a:spcPct val="150000"/>
                  </a:lnSpc>
                  <a:buFont typeface="Arial" panose="020B0604020202020204" pitchFamily="34" charset="0"/>
                  <a:buChar char="•"/>
                </a:pPr>
                <a:r>
                  <a:rPr kumimoji="1" lang="zh-CN" altLang="en-US" sz="2400" b="0" dirty="0"/>
                  <a:t>近似</a:t>
                </a:r>
                <a14:m>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ℓ</m:t>
                        </m:r>
                      </m:e>
                      <m:sub>
                        <m:f>
                          <m:fPr>
                            <m:type m:val="lin"/>
                            <m:ctrlPr>
                              <a:rPr kumimoji="1" lang="en-US" altLang="zh-CN" sz="2400" b="0" i="1" smtClean="0">
                                <a:latin typeface="Cambria Math" panose="02040503050406030204" pitchFamily="18" charset="0"/>
                              </a:rPr>
                            </m:ctrlPr>
                          </m:fPr>
                          <m:num>
                            <m:r>
                              <a:rPr kumimoji="1" lang="en-US" altLang="zh-CN" sz="2400" b="0" i="1" smtClean="0">
                                <a:latin typeface="Cambria Math" panose="02040503050406030204" pitchFamily="18" charset="0"/>
                              </a:rPr>
                              <m:t>0</m:t>
                            </m:r>
                          </m:num>
                          <m:den>
                            <m:r>
                              <a:rPr kumimoji="1" lang="en-US" altLang="zh-CN" sz="2400" b="0" i="1" smtClean="0">
                                <a:latin typeface="Cambria Math" panose="02040503050406030204" pitchFamily="18" charset="0"/>
                              </a:rPr>
                              <m:t>1</m:t>
                            </m:r>
                          </m:den>
                        </m:f>
                      </m:sub>
                    </m:sSub>
                    <m:d>
                      <m:dPr>
                        <m:ctrlPr>
                          <a:rPr kumimoji="1" lang="en-US" altLang="zh-CN" sz="2400" b="0" i="1" smtClean="0">
                            <a:latin typeface="Cambria Math" panose="02040503050406030204" pitchFamily="18" charset="0"/>
                          </a:rPr>
                        </m:ctrlPr>
                      </m:dPr>
                      <m:e>
                        <m:r>
                          <a:rPr kumimoji="1" lang="en-US" altLang="zh-CN" sz="2400" b="1" i="1" smtClean="0">
                            <a:latin typeface="Cambria Math" panose="02040503050406030204" pitchFamily="18" charset="0"/>
                          </a:rPr>
                          <m:t>𝒙</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r>
                      <a:rPr kumimoji="1" lang="en-US" altLang="zh-CN" sz="2400" b="0" i="1" smtClean="0">
                        <a:latin typeface="Cambria Math" panose="02040503050406030204" pitchFamily="18" charset="0"/>
                      </a:rPr>
                      <m:t> =</m:t>
                    </m:r>
                    <m:r>
                      <a:rPr kumimoji="1" lang="en-US" altLang="zh-CN" sz="2400" b="0" i="1" smtClean="0">
                        <a:latin typeface="Cambria Math" panose="02040503050406030204" pitchFamily="18" charset="0"/>
                        <a:ea typeface="Cambria Math" panose="02040503050406030204" pitchFamily="18" charset="0"/>
                      </a:rPr>
                      <m:t>𝕀</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i="1" smtClean="0">
                            <a:solidFill>
                              <a:schemeClr val="tx1"/>
                            </a:solidFill>
                            <a:latin typeface="Cambria Math" panose="02040503050406030204" pitchFamily="18" charset="0"/>
                          </a:rPr>
                          <m:t>𝑦</m:t>
                        </m:r>
                        <m:d>
                          <m:dPr>
                            <m:ctrlPr>
                              <a:rPr kumimoji="1" lang="en-US" altLang="zh-CN" sz="2400" i="1">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CN" sz="2400" b="1" i="1">
                                    <a:solidFill>
                                      <a:schemeClr val="tx1"/>
                                    </a:solidFill>
                                    <a:latin typeface="Cambria Math" panose="02040503050406030204" pitchFamily="18" charset="0"/>
                                  </a:rPr>
                                  <m:t>𝒘</m:t>
                                </m:r>
                              </m:e>
                              <m:sup>
                                <m:r>
                                  <a:rPr kumimoji="1" lang="en-US" altLang="zh-CN" sz="2400" i="1">
                                    <a:solidFill>
                                      <a:schemeClr val="tx1"/>
                                    </a:solidFill>
                                    <a:latin typeface="Cambria Math" panose="02040503050406030204" pitchFamily="18" charset="0"/>
                                  </a:rPr>
                                  <m:t>⊤</m:t>
                                </m:r>
                              </m:sup>
                            </m:sSup>
                            <m:r>
                              <a:rPr kumimoji="1" lang="en-US" altLang="zh-CN" sz="2400" b="1" i="1">
                                <a:solidFill>
                                  <a:schemeClr val="tx1"/>
                                </a:solidFill>
                                <a:latin typeface="Cambria Math" panose="02040503050406030204" pitchFamily="18" charset="0"/>
                              </a:rPr>
                              <m:t>𝒙</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𝑏</m:t>
                            </m:r>
                          </m:e>
                        </m:d>
                        <m:r>
                          <a:rPr kumimoji="1" lang="en-US" altLang="zh-CN" sz="2400" b="0" i="1" smtClean="0">
                            <a:latin typeface="Cambria Math" panose="02040503050406030204" pitchFamily="18" charset="0"/>
                          </a:rPr>
                          <m:t>≤0</m:t>
                        </m:r>
                      </m:e>
                    </m:d>
                  </m:oMath>
                </a14:m>
                <a:endParaRPr kumimoji="1" lang="en-US" altLang="zh-CN" sz="2400" dirty="0"/>
              </a:p>
              <a:p>
                <a:pPr marL="800100" lvl="1" indent="-342900">
                  <a:lnSpc>
                    <a:spcPct val="150000"/>
                  </a:lnSpc>
                  <a:buFont typeface="Wingdings" pitchFamily="2" charset="2"/>
                  <a:buChar char="p"/>
                </a:pPr>
                <a:r>
                  <a:rPr kumimoji="1" lang="zh-CN" altLang="en-US" sz="2400" dirty="0"/>
                  <a:t>对于线性可分数据，该算法从理论上被证明会收敛</a:t>
                </a:r>
                <a:endParaRPr kumimoji="1" lang="en-US" altLang="zh-CN" sz="2400" dirty="0"/>
              </a:p>
            </p:txBody>
          </p:sp>
        </mc:Choice>
        <mc:Fallback xmlns="">
          <p:sp>
            <p:nvSpPr>
              <p:cNvPr id="3" name="文本框 2">
                <a:extLst>
                  <a:ext uri="{FF2B5EF4-FFF2-40B4-BE49-F238E27FC236}">
                    <a16:creationId xmlns:a16="http://schemas.microsoft.com/office/drawing/2014/main" id="{AD235B5C-C49A-2843-963D-F1937A8B6AED}"/>
                  </a:ext>
                </a:extLst>
              </p:cNvPr>
              <p:cNvSpPr txBox="1">
                <a:spLocks noRot="1" noChangeAspect="1" noMove="1" noResize="1" noEditPoints="1" noAdjustHandles="1" noChangeArrowheads="1" noChangeShapeType="1" noTextEdit="1"/>
              </p:cNvSpPr>
              <p:nvPr/>
            </p:nvSpPr>
            <p:spPr>
              <a:xfrm>
                <a:off x="5430415" y="2490565"/>
                <a:ext cx="6531429" cy="4329262"/>
              </a:xfrm>
              <a:prstGeom prst="rect">
                <a:avLst/>
              </a:prstGeom>
              <a:blipFill>
                <a:blip r:embed="rId4"/>
                <a:stretch>
                  <a:fillRect l="-1307" t="-986" r="-467" b="-23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01C997F-89DC-4247-B9DA-F52A7150D84D}"/>
                  </a:ext>
                </a:extLst>
              </p:cNvPr>
              <p:cNvSpPr txBox="1"/>
              <p:nvPr/>
            </p:nvSpPr>
            <p:spPr>
              <a:xfrm>
                <a:off x="6148871" y="4247088"/>
                <a:ext cx="5094515" cy="7750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400" i="1" smtClean="0">
                              <a:latin typeface="Cambria Math" panose="02040503050406030204" pitchFamily="18" charset="0"/>
                            </a:rPr>
                          </m:ctrlPr>
                        </m:funcPr>
                        <m:fName>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m:t>
                              </m:r>
                              <m:r>
                                <m:rPr>
                                  <m:sty m:val="p"/>
                                </m:rPr>
                                <a:rPr kumimoji="1" lang="en-US" altLang="zh-CN" sz="2400" b="0" i="0" smtClean="0">
                                  <a:latin typeface="Cambria Math" panose="02040503050406030204" pitchFamily="18" charset="0"/>
                                </a:rPr>
                                <m:t>in</m:t>
                              </m:r>
                            </m:e>
                            <m:lim>
                              <m:r>
                                <a:rPr kumimoji="1" lang="en-US" altLang="zh-CN" sz="2400" b="1" i="1" smtClean="0">
                                  <a:latin typeface="Cambria Math" panose="02040503050406030204" pitchFamily="18" charset="0"/>
                                </a:rPr>
                                <m:t>𝒘</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lim>
                          </m:limLow>
                        </m:fName>
                        <m:e>
                          <m:nary>
                            <m:naryPr>
                              <m:chr m:val="∑"/>
                              <m:limLoc m:val="subSup"/>
                              <m:supHide m:val="on"/>
                              <m:ctrlPr>
                                <a:rPr kumimoji="1" lang="en-US" altLang="zh-CN" sz="2400" i="1">
                                  <a:latin typeface="Cambria Math" panose="02040503050406030204" pitchFamily="18" charset="0"/>
                                </a:rPr>
                              </m:ctrlPr>
                            </m:naryPr>
                            <m:sub>
                              <m:r>
                                <m:rPr>
                                  <m:brk m:alnAt="25"/>
                                </m:rPr>
                                <a:rPr kumimoji="1" lang="en-US" altLang="zh-CN" sz="2400" i="1">
                                  <a:latin typeface="Cambria Math" panose="02040503050406030204" pitchFamily="18" charset="0"/>
                                </a:rPr>
                                <m:t>𝑖</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𝑀</m:t>
                              </m:r>
                            </m:sub>
                            <m:sup/>
                            <m:e>
                              <m:r>
                                <a:rPr kumimoji="1" lang="en-US" altLang="zh-CN" sz="2400" b="0" i="1" smtClean="0">
                                  <a:latin typeface="Cambria Math" panose="02040503050406030204" pitchFamily="18" charset="0"/>
                                </a:rPr>
                                <m:t>−</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b="1" i="1">
                                          <a:latin typeface="Cambria Math" panose="02040503050406030204" pitchFamily="18" charset="0"/>
                                        </a:rPr>
                                        <m:t>𝒘</m:t>
                                      </m:r>
                                    </m:e>
                                    <m:sup>
                                      <m:r>
                                        <a:rPr kumimoji="1" lang="en-US" altLang="zh-CN" sz="2400" i="1">
                                          <a:latin typeface="Cambria Math" panose="02040503050406030204" pitchFamily="18" charset="0"/>
                                        </a:rPr>
                                        <m:t>⊤</m:t>
                                      </m:r>
                                    </m:sup>
                                  </m:sSup>
                                  <m:sSub>
                                    <m:sSubPr>
                                      <m:ctrlPr>
                                        <a:rPr kumimoji="1" lang="en-US" altLang="zh-CN" sz="2400" i="1">
                                          <a:latin typeface="Cambria Math" panose="02040503050406030204" pitchFamily="18" charset="0"/>
                                        </a:rPr>
                                      </m:ctrlPr>
                                    </m:sSubPr>
                                    <m:e>
                                      <m:r>
                                        <a:rPr kumimoji="1" lang="en-US" altLang="zh-CN" sz="2400" b="1" i="1">
                                          <a:latin typeface="Cambria Math" panose="02040503050406030204" pitchFamily="18" charset="0"/>
                                        </a:rPr>
                                        <m:t>𝒙</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nary>
                        </m:e>
                      </m:func>
                    </m:oMath>
                  </m:oMathPara>
                </a14:m>
                <a:endParaRPr lang="zh-CN" altLang="en-US" sz="2400" dirty="0"/>
              </a:p>
            </p:txBody>
          </p:sp>
        </mc:Choice>
        <mc:Fallback xmlns="">
          <p:sp>
            <p:nvSpPr>
              <p:cNvPr id="11" name="文本框 10">
                <a:extLst>
                  <a:ext uri="{FF2B5EF4-FFF2-40B4-BE49-F238E27FC236}">
                    <a16:creationId xmlns:a16="http://schemas.microsoft.com/office/drawing/2014/main" id="{A01C997F-89DC-4247-B9DA-F52A7150D84D}"/>
                  </a:ext>
                </a:extLst>
              </p:cNvPr>
              <p:cNvSpPr txBox="1">
                <a:spLocks noRot="1" noChangeAspect="1" noMove="1" noResize="1" noEditPoints="1" noAdjustHandles="1" noChangeArrowheads="1" noChangeShapeType="1" noTextEdit="1"/>
              </p:cNvSpPr>
              <p:nvPr/>
            </p:nvSpPr>
            <p:spPr>
              <a:xfrm>
                <a:off x="6148871" y="4247088"/>
                <a:ext cx="5094515" cy="775084"/>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9460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1957</a:t>
            </a:r>
            <a:r>
              <a:rPr lang="zh-CN" altLang="en-US" sz="2400" dirty="0">
                <a:latin typeface="Times New Roman" panose="02020603050405020304" pitchFamily="18" charset="0"/>
                <a:cs typeface="Times New Roman" panose="02020603050405020304" pitchFamily="18" charset="0"/>
              </a:rPr>
              <a:t>年，</a:t>
            </a:r>
            <a:r>
              <a:rPr lang="en-US" altLang="zh-CN" sz="2400" b="1" dirty="0">
                <a:solidFill>
                  <a:srgbClr val="C00000"/>
                </a:solidFill>
                <a:latin typeface="Times New Roman" panose="02020603050405020304" pitchFamily="18" charset="0"/>
                <a:cs typeface="Times New Roman" panose="02020603050405020304" pitchFamily="18" charset="0"/>
              </a:rPr>
              <a:t>Frank Rosenblatt</a:t>
            </a:r>
            <a:r>
              <a:rPr lang="zh-CN" altLang="en-US" sz="2400" b="1" dirty="0">
                <a:solidFill>
                  <a:srgbClr val="C00000"/>
                </a:solidFill>
                <a:latin typeface="Times New Roman" panose="02020603050405020304" pitchFamily="18" charset="0"/>
                <a:cs typeface="Times New Roman" panose="02020603050405020304" pitchFamily="18" charset="0"/>
              </a:rPr>
              <a:t>发明感知机</a:t>
            </a:r>
            <a:r>
              <a:rPr lang="en-US" altLang="zh-CN" sz="2400" b="1" dirty="0">
                <a:solidFill>
                  <a:srgbClr val="C00000"/>
                </a:solidFill>
                <a:latin typeface="Times New Roman" panose="02020603050405020304" pitchFamily="18" charset="0"/>
                <a:cs typeface="Times New Roman" panose="02020603050405020304" pitchFamily="18" charset="0"/>
              </a:rPr>
              <a:t>(Perceptron)</a:t>
            </a:r>
            <a:r>
              <a:rPr lang="zh-CN" altLang="en-US" sz="2400" dirty="0">
                <a:latin typeface="Times New Roman" panose="02020603050405020304" pitchFamily="18" charset="0"/>
                <a:cs typeface="Times New Roman" panose="02020603050405020304" pitchFamily="18" charset="0"/>
              </a:rPr>
              <a:t> ，可以根据错误反馈进行学习。</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D235B5C-C49A-2843-963D-F1937A8B6AED}"/>
                  </a:ext>
                </a:extLst>
              </p:cNvPr>
              <p:cNvSpPr txBox="1"/>
              <p:nvPr/>
            </p:nvSpPr>
            <p:spPr>
              <a:xfrm>
                <a:off x="5430416" y="2490565"/>
                <a:ext cx="6251072" cy="3436197"/>
              </a:xfrm>
              <a:prstGeom prst="rect">
                <a:avLst/>
              </a:prstGeom>
              <a:noFill/>
            </p:spPr>
            <p:txBody>
              <a:bodyPr wrap="square" rtlCol="0">
                <a:spAutoFit/>
              </a:bodyPr>
              <a:lstStyle/>
              <a:p>
                <a:pPr marL="285750" indent="-285750">
                  <a:buFont typeface="Wingdings" pitchFamily="2" charset="2"/>
                  <a:buChar char="n"/>
                </a:pPr>
                <a:r>
                  <a:rPr kumimoji="1" lang="zh-CN" altLang="en-US" sz="2400" dirty="0"/>
                  <a:t>其它线性模型：假设空间</a:t>
                </a:r>
                <a:endParaRPr kumimoji="1" lang="en-US" altLang="zh-CN" sz="2400" dirty="0"/>
              </a:p>
              <a:p>
                <a:pPr>
                  <a:lnSpc>
                    <a:spcPct val="150000"/>
                  </a:lnSpc>
                </a:pPr>
                <a14:m>
                  <m:oMathPara xmlns:m="http://schemas.openxmlformats.org/officeDocument/2006/math">
                    <m:oMathParaPr>
                      <m:jc m:val="centerGroup"/>
                    </m:oMathParaPr>
                    <m:oMath xmlns:m="http://schemas.openxmlformats.org/officeDocument/2006/math">
                      <m:d>
                        <m:dPr>
                          <m:begChr m:val="{"/>
                          <m:endChr m:val="}"/>
                          <m:ctrlPr>
                            <a:rPr kumimoji="1" lang="en-US" altLang="zh-CN" sz="2000" i="1">
                              <a:latin typeface="Cambria Math" panose="02040503050406030204" pitchFamily="18" charset="0"/>
                            </a:rPr>
                          </m:ctrlPr>
                        </m:dPr>
                        <m:e>
                          <m:r>
                            <a:rPr kumimoji="1" lang="en-US" altLang="zh-CN" sz="2000" i="1">
                              <a:latin typeface="Cambria Math" panose="02040503050406030204" pitchFamily="18" charset="0"/>
                            </a:rPr>
                            <m:t>h</m:t>
                          </m:r>
                          <m:d>
                            <m:dPr>
                              <m:ctrlPr>
                                <a:rPr kumimoji="1" lang="en-US" altLang="zh-CN" sz="2000" i="1">
                                  <a:latin typeface="Cambria Math" panose="02040503050406030204" pitchFamily="18" charset="0"/>
                                </a:rPr>
                              </m:ctrlPr>
                            </m:dPr>
                            <m:e>
                              <m:r>
                                <a:rPr kumimoji="1" lang="en-US" altLang="zh-CN" sz="2000" b="1" i="1">
                                  <a:latin typeface="Cambria Math" panose="02040503050406030204" pitchFamily="18" charset="0"/>
                                </a:rPr>
                                <m:t>𝒙</m:t>
                              </m:r>
                            </m:e>
                          </m:d>
                          <m:r>
                            <a:rPr kumimoji="1" lang="en-US" altLang="zh-CN" sz="2000" i="1">
                              <a:latin typeface="Cambria Math" panose="02040503050406030204" pitchFamily="18" charset="0"/>
                            </a:rPr>
                            <m:t>=</m:t>
                          </m:r>
                          <m:func>
                            <m:funcPr>
                              <m:ctrlPr>
                                <a:rPr kumimoji="1" lang="en-US" altLang="zh-CN" sz="2000" i="1">
                                  <a:latin typeface="Cambria Math" panose="02040503050406030204" pitchFamily="18" charset="0"/>
                                </a:rPr>
                              </m:ctrlPr>
                            </m:funcPr>
                            <m:fName>
                              <m:r>
                                <m:rPr>
                                  <m:sty m:val="p"/>
                                </m:rPr>
                                <a:rPr kumimoji="1" lang="en-US" altLang="zh-CN" sz="2000">
                                  <a:latin typeface="Cambria Math" panose="02040503050406030204" pitchFamily="18" charset="0"/>
                                </a:rPr>
                                <m:t>sign</m:t>
                              </m:r>
                            </m:fName>
                            <m:e>
                              <m:d>
                                <m:dPr>
                                  <m:ctrlPr>
                                    <a:rPr kumimoji="1" lang="en-US" altLang="zh-CN" sz="2000" i="1">
                                      <a:latin typeface="Cambria Math" panose="02040503050406030204" pitchFamily="18" charset="0"/>
                                    </a:rPr>
                                  </m:ctrlPr>
                                </m:dPr>
                                <m:e>
                                  <m:sSup>
                                    <m:sSupPr>
                                      <m:ctrlPr>
                                        <a:rPr kumimoji="1" lang="en-US" altLang="zh-CN" sz="2000" i="1">
                                          <a:latin typeface="Cambria Math" panose="02040503050406030204" pitchFamily="18" charset="0"/>
                                        </a:rPr>
                                      </m:ctrlPr>
                                    </m:sSupPr>
                                    <m:e>
                                      <m:r>
                                        <a:rPr kumimoji="1" lang="en-US" altLang="zh-CN" sz="2000" b="1" i="1">
                                          <a:latin typeface="Cambria Math" panose="02040503050406030204" pitchFamily="18" charset="0"/>
                                        </a:rPr>
                                        <m:t>𝒘</m:t>
                                      </m:r>
                                    </m:e>
                                    <m:sup>
                                      <m:r>
                                        <a:rPr kumimoji="1" lang="en-US" altLang="zh-CN" sz="2000" i="1">
                                          <a:latin typeface="Cambria Math" panose="02040503050406030204" pitchFamily="18" charset="0"/>
                                        </a:rPr>
                                        <m:t>⊤</m:t>
                                      </m:r>
                                    </m:sup>
                                  </m:sSup>
                                  <m:r>
                                    <a:rPr kumimoji="1" lang="en-US" altLang="zh-CN" sz="2000" b="1" i="1">
                                      <a:latin typeface="Cambria Math" panose="02040503050406030204" pitchFamily="18" charset="0"/>
                                    </a:rPr>
                                    <m:t>𝒙</m:t>
                                  </m:r>
                                  <m:r>
                                    <a:rPr kumimoji="1" lang="en-US" altLang="zh-CN" sz="2000" i="1">
                                      <a:latin typeface="Cambria Math" panose="02040503050406030204" pitchFamily="18" charset="0"/>
                                    </a:rPr>
                                    <m:t>+</m:t>
                                  </m:r>
                                  <m:r>
                                    <a:rPr kumimoji="1" lang="en-US" altLang="zh-CN" sz="2000" i="1">
                                      <a:latin typeface="Cambria Math" panose="02040503050406030204" pitchFamily="18" charset="0"/>
                                    </a:rPr>
                                    <m:t>𝑏</m:t>
                                  </m:r>
                                </m:e>
                              </m:d>
                            </m:e>
                          </m:func>
                        </m:e>
                      </m:d>
                    </m:oMath>
                  </m:oMathPara>
                </a14:m>
                <a:endParaRPr kumimoji="1" lang="en-US" altLang="zh-CN" sz="2000" dirty="0"/>
              </a:p>
              <a:p>
                <a:pPr marL="742950" lvl="1" indent="-285750">
                  <a:lnSpc>
                    <a:spcPct val="150000"/>
                  </a:lnSpc>
                  <a:buFont typeface="Wingdings" pitchFamily="2" charset="2"/>
                  <a:buChar char="p"/>
                </a:pPr>
                <a:r>
                  <a:rPr kumimoji="1" lang="zh-CN" altLang="en-US" sz="2400" dirty="0"/>
                  <a:t>逻辑回归</a:t>
                </a:r>
                <a:r>
                  <a:rPr kumimoji="1" lang="zh-CN" altLang="en-US" sz="1600" dirty="0"/>
                  <a:t>（最小化负对数似然，即最大化似然函数）</a:t>
                </a:r>
                <a:endParaRPr kumimoji="1" lang="en-US" altLang="zh-CN" sz="1600" dirty="0"/>
              </a:p>
              <a:p>
                <a:pPr lvl="1">
                  <a:lnSpc>
                    <a:spcPct val="150000"/>
                  </a:lnSpc>
                </a:pPr>
                <a14:m>
                  <m:oMathPara xmlns:m="http://schemas.openxmlformats.org/officeDocument/2006/math">
                    <m:oMathParaPr>
                      <m:jc m:val="centerGroup"/>
                    </m:oMathParaPr>
                    <m:oMath xmlns:m="http://schemas.openxmlformats.org/officeDocument/2006/math">
                      <m:func>
                        <m:funcPr>
                          <m:ctrlPr>
                            <a:rPr kumimoji="1" lang="en-US" altLang="zh-CN" sz="2000" i="1" smtClean="0">
                              <a:latin typeface="Cambria Math" panose="02040503050406030204" pitchFamily="18" charset="0"/>
                            </a:rPr>
                          </m:ctrlPr>
                        </m:funcPr>
                        <m:fName>
                          <m:limLow>
                            <m:limLowPr>
                              <m:ctrlPr>
                                <a:rPr kumimoji="1" lang="en-US" altLang="zh-CN" sz="2000" i="1">
                                  <a:latin typeface="Cambria Math" panose="02040503050406030204" pitchFamily="18" charset="0"/>
                                </a:rPr>
                              </m:ctrlPr>
                            </m:limLowPr>
                            <m:e>
                              <m:r>
                                <m:rPr>
                                  <m:sty m:val="p"/>
                                </m:rPr>
                                <a:rPr kumimoji="1" lang="en-US" altLang="zh-CN" sz="2000">
                                  <a:latin typeface="Cambria Math" panose="02040503050406030204" pitchFamily="18" charset="0"/>
                                </a:rPr>
                                <m:t>m</m:t>
                              </m:r>
                              <m:r>
                                <m:rPr>
                                  <m:sty m:val="p"/>
                                </m:rPr>
                                <a:rPr kumimoji="1" lang="en-US" altLang="zh-CN" sz="2000" b="0" i="0" smtClean="0">
                                  <a:latin typeface="Cambria Math" panose="02040503050406030204" pitchFamily="18" charset="0"/>
                                </a:rPr>
                                <m:t>in</m:t>
                              </m:r>
                            </m:e>
                            <m:lim>
                              <m:r>
                                <a:rPr kumimoji="1" lang="en-US" altLang="zh-CN" sz="2000" b="1" i="1" smtClean="0">
                                  <a:latin typeface="Cambria Math" panose="02040503050406030204" pitchFamily="18" charset="0"/>
                                </a:rPr>
                                <m:t>𝒘</m:t>
                              </m:r>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𝑏</m:t>
                              </m:r>
                            </m:lim>
                          </m:limLow>
                        </m:fName>
                        <m:e>
                          <m:nary>
                            <m:naryPr>
                              <m:chr m:val="∑"/>
                              <m:limLoc m:val="subSup"/>
                              <m:ctrlPr>
                                <a:rPr kumimoji="1" lang="en-US" altLang="zh-CN" sz="2000" i="1">
                                  <a:latin typeface="Cambria Math" panose="02040503050406030204" pitchFamily="18" charset="0"/>
                                </a:rPr>
                              </m:ctrlPr>
                            </m:naryPr>
                            <m:sub>
                              <m:r>
                                <m:rPr>
                                  <m:brk m:alnAt="25"/>
                                </m:rPr>
                                <a:rPr kumimoji="1" lang="en-US" altLang="zh-CN" sz="2000" i="1">
                                  <a:latin typeface="Cambria Math" panose="02040503050406030204" pitchFamily="18" charset="0"/>
                                </a:rPr>
                                <m:t>𝑖</m:t>
                              </m:r>
                              <m:r>
                                <a:rPr kumimoji="1" lang="en-US" altLang="zh-CN" sz="2000" i="1">
                                  <a:latin typeface="Cambria Math" panose="02040503050406030204" pitchFamily="18" charset="0"/>
                                </a:rPr>
                                <m:t>=1</m:t>
                              </m:r>
                            </m:sub>
                            <m:sup>
                              <m:r>
                                <a:rPr kumimoji="1" lang="en-US" altLang="zh-CN" sz="2000" i="1">
                                  <a:latin typeface="Cambria Math" panose="02040503050406030204" pitchFamily="18" charset="0"/>
                                </a:rPr>
                                <m:t>𝑚</m:t>
                              </m:r>
                            </m:sup>
                            <m:e>
                              <m:func>
                                <m:funcPr>
                                  <m:ctrlPr>
                                    <a:rPr kumimoji="1" lang="en-US" altLang="zh-CN" sz="2000" i="1">
                                      <a:latin typeface="Cambria Math" panose="02040503050406030204" pitchFamily="18" charset="0"/>
                                    </a:rPr>
                                  </m:ctrlPr>
                                </m:funcPr>
                                <m:fName>
                                  <m:r>
                                    <m:rPr>
                                      <m:sty m:val="p"/>
                                    </m:rPr>
                                    <a:rPr kumimoji="1" lang="en-US" altLang="zh-CN" sz="2000">
                                      <a:latin typeface="Cambria Math" panose="02040503050406030204" pitchFamily="18" charset="0"/>
                                    </a:rPr>
                                    <m:t>log</m:t>
                                  </m:r>
                                </m:fName>
                                <m:e>
                                  <m:d>
                                    <m:dPr>
                                      <m:ctrlPr>
                                        <a:rPr kumimoji="1" lang="en-US" altLang="zh-CN" sz="2000" i="1">
                                          <a:latin typeface="Cambria Math" panose="02040503050406030204" pitchFamily="18" charset="0"/>
                                        </a:rPr>
                                      </m:ctrlPr>
                                    </m:dPr>
                                    <m:e>
                                      <m:r>
                                        <a:rPr kumimoji="1" lang="en-US" altLang="zh-CN" sz="2000" i="1">
                                          <a:latin typeface="Cambria Math" panose="02040503050406030204" pitchFamily="18" charset="0"/>
                                        </a:rPr>
                                        <m:t>1+</m:t>
                                      </m:r>
                                      <m:func>
                                        <m:funcPr>
                                          <m:ctrlPr>
                                            <a:rPr kumimoji="1" lang="en-US" altLang="zh-CN" sz="2000" i="1">
                                              <a:latin typeface="Cambria Math" panose="02040503050406030204" pitchFamily="18" charset="0"/>
                                            </a:rPr>
                                          </m:ctrlPr>
                                        </m:funcPr>
                                        <m:fName>
                                          <m:r>
                                            <m:rPr>
                                              <m:sty m:val="p"/>
                                            </m:rPr>
                                            <a:rPr kumimoji="1" lang="en-US" altLang="zh-CN" sz="2000">
                                              <a:latin typeface="Cambria Math" panose="02040503050406030204" pitchFamily="18" charset="0"/>
                                            </a:rPr>
                                            <m:t>exp</m:t>
                                          </m:r>
                                        </m:fName>
                                        <m:e>
                                          <m:r>
                                            <a:rPr kumimoji="1" lang="en-US" altLang="zh-CN" sz="2000" i="1">
                                              <a:latin typeface="Cambria Math" panose="02040503050406030204" pitchFamily="18" charset="0"/>
                                            </a:rPr>
                                            <m:t>(−</m:t>
                                          </m:r>
                                          <m:sSub>
                                            <m:sSubPr>
                                              <m:ctrlPr>
                                                <a:rPr kumimoji="1" lang="en-US" altLang="zh-CN" sz="2000" i="1">
                                                  <a:latin typeface="Cambria Math" panose="02040503050406030204" pitchFamily="18" charset="0"/>
                                                </a:rPr>
                                              </m:ctrlPr>
                                            </m:sSubPr>
                                            <m:e>
                                              <m:r>
                                                <a:rPr kumimoji="1" lang="en-US" altLang="zh-CN" sz="2000" i="1">
                                                  <a:latin typeface="Cambria Math" panose="02040503050406030204" pitchFamily="18" charset="0"/>
                                                </a:rPr>
                                                <m:t>𝑦</m:t>
                                              </m:r>
                                            </m:e>
                                            <m:sub>
                                              <m:r>
                                                <a:rPr kumimoji="1" lang="en-US" altLang="zh-CN" sz="2000" i="1">
                                                  <a:latin typeface="Cambria Math" panose="02040503050406030204" pitchFamily="18" charset="0"/>
                                                </a:rPr>
                                                <m:t>𝑖</m:t>
                                              </m:r>
                                            </m:sub>
                                          </m:sSub>
                                          <m:d>
                                            <m:dPr>
                                              <m:ctrlPr>
                                                <a:rPr kumimoji="1" lang="en-US" altLang="zh-CN" sz="2000" i="1">
                                                  <a:latin typeface="Cambria Math" panose="02040503050406030204" pitchFamily="18" charset="0"/>
                                                </a:rPr>
                                              </m:ctrlPr>
                                            </m:dPr>
                                            <m:e>
                                              <m:sSup>
                                                <m:sSupPr>
                                                  <m:ctrlPr>
                                                    <a:rPr kumimoji="1"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CN" sz="2000" b="1" i="1">
                                                      <a:latin typeface="Cambria Math" panose="02040503050406030204" pitchFamily="18" charset="0"/>
                                                    </a:rPr>
                                                    <m:t>𝒘</m:t>
                                                  </m:r>
                                                </m:e>
                                                <m:sup>
                                                  <m:r>
                                                    <a:rPr kumimoji="1" lang="en-US" altLang="zh-CN" sz="2000" i="1">
                                                      <a:latin typeface="Cambria Math" panose="02040503050406030204" pitchFamily="18" charset="0"/>
                                                    </a:rPr>
                                                    <m:t>⊤</m:t>
                                                  </m:r>
                                                </m:sup>
                                              </m:sSup>
                                              <m:sSub>
                                                <m:sSubPr>
                                                  <m:ctrlPr>
                                                    <a:rPr kumimoji="1" lang="en-US" altLang="zh-CN" sz="2000" i="1">
                                                      <a:latin typeface="Cambria Math" panose="02040503050406030204" pitchFamily="18" charset="0"/>
                                                    </a:rPr>
                                                  </m:ctrlPr>
                                                </m:sSubPr>
                                                <m:e>
                                                  <m:r>
                                                    <a:rPr kumimoji="1" lang="en-US" altLang="zh-CN" sz="2000" b="1" i="1">
                                                      <a:latin typeface="Cambria Math" panose="02040503050406030204" pitchFamily="18" charset="0"/>
                                                    </a:rPr>
                                                    <m:t>𝒙</m:t>
                                                  </m:r>
                                                </m:e>
                                                <m:sub>
                                                  <m:r>
                                                    <a:rPr kumimoji="1" lang="en-US" altLang="zh-CN" sz="2000" i="1">
                                                      <a:latin typeface="Cambria Math" panose="02040503050406030204" pitchFamily="18" charset="0"/>
                                                    </a:rPr>
                                                    <m:t>𝑖</m:t>
                                                  </m:r>
                                                </m:sub>
                                              </m:sSub>
                                              <m:r>
                                                <a:rPr kumimoji="1" lang="en-US" altLang="zh-CN" sz="2000" i="1">
                                                  <a:latin typeface="Cambria Math" panose="02040503050406030204" pitchFamily="18" charset="0"/>
                                                </a:rPr>
                                                <m:t>+</m:t>
                                              </m:r>
                                              <m:r>
                                                <a:rPr kumimoji="1" lang="en-US" altLang="zh-CN" sz="2000" i="1">
                                                  <a:latin typeface="Cambria Math" panose="02040503050406030204" pitchFamily="18" charset="0"/>
                                                </a:rPr>
                                                <m:t>𝑏</m:t>
                                              </m:r>
                                            </m:e>
                                          </m:d>
                                          <m:r>
                                            <a:rPr kumimoji="1" lang="en-US" altLang="zh-CN" sz="2000" i="1">
                                              <a:latin typeface="Cambria Math" panose="02040503050406030204" pitchFamily="18" charset="0"/>
                                            </a:rPr>
                                            <m:t>)</m:t>
                                          </m:r>
                                        </m:e>
                                      </m:func>
                                    </m:e>
                                  </m:d>
                                </m:e>
                              </m:func>
                            </m:e>
                          </m:nary>
                        </m:e>
                      </m:func>
                    </m:oMath>
                  </m:oMathPara>
                </a14:m>
                <a:endParaRPr kumimoji="1" lang="en-US" altLang="zh-CN" sz="2000" dirty="0"/>
              </a:p>
              <a:p>
                <a:pPr marL="742950" lvl="1" indent="-285750">
                  <a:lnSpc>
                    <a:spcPct val="150000"/>
                  </a:lnSpc>
                  <a:buFont typeface="Wingdings" pitchFamily="2" charset="2"/>
                  <a:buChar char="p"/>
                </a:pPr>
                <a:r>
                  <a:rPr kumimoji="1" lang="zh-CN" altLang="en-US" sz="2400" dirty="0"/>
                  <a:t>支持向量机（</a:t>
                </a:r>
                <a:r>
                  <a:rPr lang="zh-CN" altLang="en-US" sz="2400" b="1" i="0" dirty="0">
                    <a:solidFill>
                      <a:srgbClr val="0F1115"/>
                    </a:solidFill>
                    <a:effectLst/>
                    <a:latin typeface="quote-cjk-patch"/>
                  </a:rPr>
                  <a:t>间隔最大化</a:t>
                </a:r>
                <a:r>
                  <a:rPr lang="en-US" altLang="zh-CN" sz="2400" b="1" i="0" dirty="0">
                    <a:solidFill>
                      <a:srgbClr val="0F1115"/>
                    </a:solidFill>
                    <a:effectLst/>
                    <a:latin typeface="quote-cjk-patch"/>
                  </a:rPr>
                  <a:t>+</a:t>
                </a:r>
                <a:r>
                  <a:rPr lang="zh-CN" altLang="en-US" sz="2400" b="1" i="0" dirty="0">
                    <a:solidFill>
                      <a:srgbClr val="0F1115"/>
                    </a:solidFill>
                    <a:effectLst/>
                    <a:latin typeface="quote-cjk-patch"/>
                  </a:rPr>
                  <a:t>合页损失</a:t>
                </a:r>
                <a:r>
                  <a:rPr kumimoji="1" lang="zh-CN" altLang="en-US" sz="2400" dirty="0"/>
                  <a:t>）</a:t>
                </a:r>
                <a:endParaRPr kumimoji="1" lang="en-US" altLang="zh-CN" sz="2400" dirty="0"/>
              </a:p>
              <a:p>
                <a:pPr lvl="1">
                  <a:lnSpc>
                    <a:spcPct val="150000"/>
                  </a:lnSpc>
                </a:pPr>
                <a:endParaRPr kumimoji="1" lang="zh-CN" altLang="en-US" sz="2400" dirty="0"/>
              </a:p>
            </p:txBody>
          </p:sp>
        </mc:Choice>
        <mc:Fallback xmlns="">
          <p:sp>
            <p:nvSpPr>
              <p:cNvPr id="3" name="文本框 2">
                <a:extLst>
                  <a:ext uri="{FF2B5EF4-FFF2-40B4-BE49-F238E27FC236}">
                    <a16:creationId xmlns:a16="http://schemas.microsoft.com/office/drawing/2014/main" id="{AD235B5C-C49A-2843-963D-F1937A8B6AED}"/>
                  </a:ext>
                </a:extLst>
              </p:cNvPr>
              <p:cNvSpPr txBox="1">
                <a:spLocks noRot="1" noChangeAspect="1" noMove="1" noResize="1" noEditPoints="1" noAdjustHandles="1" noChangeArrowheads="1" noChangeShapeType="1" noTextEdit="1"/>
              </p:cNvSpPr>
              <p:nvPr/>
            </p:nvSpPr>
            <p:spPr>
              <a:xfrm>
                <a:off x="5430416" y="2490565"/>
                <a:ext cx="6251072" cy="3436197"/>
              </a:xfrm>
              <a:prstGeom prst="rect">
                <a:avLst/>
              </a:prstGeom>
              <a:blipFill>
                <a:blip r:embed="rId3"/>
                <a:stretch>
                  <a:fillRect l="-1366" t="-12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0DE0E0C-F747-8446-A2F2-4789464C930A}"/>
                  </a:ext>
                </a:extLst>
              </p:cNvPr>
              <p:cNvSpPr txBox="1"/>
              <p:nvPr/>
            </p:nvSpPr>
            <p:spPr>
              <a:xfrm>
                <a:off x="5594260" y="5573325"/>
                <a:ext cx="5923384" cy="7496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000" i="1" smtClean="0">
                              <a:latin typeface="Cambria Math" panose="02040503050406030204" pitchFamily="18" charset="0"/>
                            </a:rPr>
                          </m:ctrlPr>
                        </m:funcPr>
                        <m:fName>
                          <m:limLow>
                            <m:limLowPr>
                              <m:ctrlPr>
                                <a:rPr kumimoji="1" lang="en-US" altLang="zh-CN" sz="2000" i="1">
                                  <a:latin typeface="Cambria Math" panose="02040503050406030204" pitchFamily="18" charset="0"/>
                                </a:rPr>
                              </m:ctrlPr>
                            </m:limLowPr>
                            <m:e>
                              <m:r>
                                <m:rPr>
                                  <m:sty m:val="p"/>
                                </m:rPr>
                                <a:rPr kumimoji="1" lang="en-US" altLang="zh-CN" sz="2000">
                                  <a:latin typeface="Cambria Math" panose="02040503050406030204" pitchFamily="18" charset="0"/>
                                </a:rPr>
                                <m:t>m</m:t>
                              </m:r>
                              <m:r>
                                <m:rPr>
                                  <m:sty m:val="p"/>
                                </m:rPr>
                                <a:rPr kumimoji="1" lang="en-US" altLang="zh-CN" sz="2000" i="1">
                                  <a:latin typeface="Cambria Math" panose="02040503050406030204" pitchFamily="18" charset="0"/>
                                </a:rPr>
                                <m:t>in</m:t>
                              </m:r>
                            </m:e>
                            <m:lim>
                              <m:r>
                                <a:rPr lang="en-US" altLang="zh-CN" sz="2000" b="1" i="1">
                                  <a:latin typeface="Cambria Math" panose="02040503050406030204" pitchFamily="18" charset="0"/>
                                </a:rPr>
                                <m:t>𝒘</m:t>
                              </m:r>
                              <m:r>
                                <a:rPr lang="en-US" altLang="zh-CN" sz="2000" i="1">
                                  <a:latin typeface="Cambria Math" panose="02040503050406030204" pitchFamily="18" charset="0"/>
                                  <a:ea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𝑏</m:t>
                              </m:r>
                            </m:lim>
                          </m:limLow>
                        </m:fName>
                        <m:e>
                          <m:f>
                            <m:fPr>
                              <m:ctrlPr>
                                <a:rPr lang="en-US" altLang="zh-CN" sz="2000" i="1">
                                  <a:latin typeface="Cambria Math" panose="02040503050406030204" pitchFamily="18" charset="0"/>
                                  <a:ea typeface="Cambria Math" panose="02040503050406030204" pitchFamily="18" charset="0"/>
                                </a:rPr>
                              </m:ctrlPr>
                            </m:fPr>
                            <m:num>
                              <m:sSup>
                                <m:sSupPr>
                                  <m:ctrlPr>
                                    <a:rPr kumimoji="1" lang="en-US" altLang="zh-CN" sz="2000" i="1">
                                      <a:latin typeface="Cambria Math" panose="02040503050406030204" pitchFamily="18" charset="0"/>
                                    </a:rPr>
                                  </m:ctrlPr>
                                </m:sSupPr>
                                <m:e>
                                  <m:d>
                                    <m:dPr>
                                      <m:begChr m:val="‖"/>
                                      <m:endChr m:val="‖"/>
                                      <m:ctrlPr>
                                        <a:rPr kumimoji="1" lang="en-US" altLang="zh-CN" sz="2000" i="1">
                                          <a:latin typeface="Cambria Math" panose="02040503050406030204" pitchFamily="18" charset="0"/>
                                        </a:rPr>
                                      </m:ctrlPr>
                                    </m:dPr>
                                    <m:e>
                                      <m:r>
                                        <a:rPr kumimoji="1" lang="en-US" altLang="zh-CN" sz="2000" b="1" i="1">
                                          <a:latin typeface="Cambria Math" panose="02040503050406030204" pitchFamily="18" charset="0"/>
                                        </a:rPr>
                                        <m:t>𝒘</m:t>
                                      </m:r>
                                    </m:e>
                                  </m:d>
                                </m:e>
                                <m:sup>
                                  <m:r>
                                    <a:rPr kumimoji="1" lang="en-US" altLang="zh-CN" sz="2000" i="1">
                                      <a:latin typeface="Cambria Math" panose="02040503050406030204" pitchFamily="18" charset="0"/>
                                    </a:rPr>
                                    <m:t>2</m:t>
                                  </m:r>
                                </m:sup>
                              </m:sSup>
                            </m:num>
                            <m:den>
                              <m:r>
                                <a:rPr lang="en-US" altLang="zh-CN" sz="2000" i="1">
                                  <a:latin typeface="Cambria Math" panose="02040503050406030204" pitchFamily="18" charset="0"/>
                                  <a:ea typeface="Cambria Math" panose="02040503050406030204" pitchFamily="18" charset="0"/>
                                </a:rPr>
                                <m:t>2</m:t>
                              </m:r>
                            </m:den>
                          </m:f>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𝐶</m:t>
                          </m:r>
                          <m:nary>
                            <m:naryPr>
                              <m:chr m:val="∑"/>
                              <m:limLoc m:val="subSup"/>
                              <m:ctrlPr>
                                <a:rPr lang="en-US" altLang="zh-CN" sz="2000" i="1">
                                  <a:latin typeface="Cambria Math" panose="02040503050406030204" pitchFamily="18" charset="0"/>
                                  <a:ea typeface="Cambria Math" panose="02040503050406030204" pitchFamily="18" charset="0"/>
                                </a:rPr>
                              </m:ctrlPr>
                            </m:naryPr>
                            <m:sub>
                              <m:r>
                                <m:rPr>
                                  <m:brk m:alnAt="25"/>
                                </m:rPr>
                                <a:rPr lang="en-US" altLang="zh-CN" sz="2000" i="1">
                                  <a:latin typeface="Cambria Math" panose="02040503050406030204" pitchFamily="18" charset="0"/>
                                  <a:ea typeface="Cambria Math" panose="02040503050406030204" pitchFamily="18" charset="0"/>
                                </a:rPr>
                                <m:t>𝑖</m:t>
                              </m:r>
                              <m:r>
                                <a:rPr lang="en-US" altLang="zh-CN" sz="2000" i="1">
                                  <a:latin typeface="Cambria Math" panose="02040503050406030204" pitchFamily="18" charset="0"/>
                                  <a:ea typeface="Cambria Math" panose="02040503050406030204" pitchFamily="18" charset="0"/>
                                </a:rPr>
                                <m:t>=1</m:t>
                              </m:r>
                            </m:sub>
                            <m:sup>
                              <m:r>
                                <a:rPr lang="en-US" altLang="zh-CN" sz="2000" i="1">
                                  <a:latin typeface="Cambria Math" panose="02040503050406030204" pitchFamily="18" charset="0"/>
                                  <a:ea typeface="Cambria Math" panose="02040503050406030204" pitchFamily="18" charset="0"/>
                                </a:rPr>
                                <m:t>𝑚</m:t>
                              </m:r>
                            </m:sup>
                            <m:e>
                              <m:func>
                                <m:funcPr>
                                  <m:ctrlPr>
                                    <a:rPr lang="en-US" altLang="zh-CN" sz="2000" b="0" i="1" smtClean="0">
                                      <a:latin typeface="Cambria Math" panose="02040503050406030204" pitchFamily="18" charset="0"/>
                                      <a:ea typeface="Cambria Math" panose="02040503050406030204" pitchFamily="18" charset="0"/>
                                    </a:rPr>
                                  </m:ctrlPr>
                                </m:funcPr>
                                <m:fName>
                                  <m:r>
                                    <m:rPr>
                                      <m:sty m:val="p"/>
                                    </m:rPr>
                                    <a:rPr lang="en-US" altLang="zh-CN" sz="2000" b="0" i="0" smtClean="0">
                                      <a:latin typeface="Cambria Math" panose="02040503050406030204" pitchFamily="18" charset="0"/>
                                      <a:ea typeface="Cambria Math" panose="02040503050406030204" pitchFamily="18" charset="0"/>
                                    </a:rPr>
                                    <m:t>max</m:t>
                                  </m:r>
                                </m:fName>
                                <m:e>
                                  <m:d>
                                    <m:dPr>
                                      <m:begChr m:val="{"/>
                                      <m:endChr m:val="}"/>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0,1−</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𝑦</m:t>
                                          </m:r>
                                        </m:e>
                                        <m:sub>
                                          <m:r>
                                            <a:rPr lang="en-US" altLang="zh-CN" sz="2000" b="0" i="1" smtClean="0">
                                              <a:latin typeface="Cambria Math" panose="02040503050406030204" pitchFamily="18" charset="0"/>
                                              <a:ea typeface="Cambria Math" panose="02040503050406030204" pitchFamily="18" charset="0"/>
                                            </a:rPr>
                                            <m:t>𝑖</m:t>
                                          </m:r>
                                        </m:sub>
                                      </m:sSub>
                                      <m:d>
                                        <m:dPr>
                                          <m:ctrlPr>
                                            <a:rPr lang="en-US" altLang="zh-CN" sz="2000" b="0" i="1" smtClean="0">
                                              <a:latin typeface="Cambria Math" panose="02040503050406030204" pitchFamily="18" charset="0"/>
                                              <a:ea typeface="Cambria Math" panose="02040503050406030204" pitchFamily="18" charset="0"/>
                                            </a:rPr>
                                          </m:ctrlPr>
                                        </m:dPr>
                                        <m:e>
                                          <m:sSup>
                                            <m:sSupPr>
                                              <m:ctrlPr>
                                                <a:rPr kumimoji="1"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CN" sz="2000" b="1" i="1">
                                                  <a:latin typeface="Cambria Math" panose="02040503050406030204" pitchFamily="18" charset="0"/>
                                                </a:rPr>
                                                <m:t>𝒘</m:t>
                                              </m:r>
                                            </m:e>
                                            <m:sup>
                                              <m:r>
                                                <a:rPr kumimoji="1" lang="en-US" altLang="zh-CN" sz="2000" i="1">
                                                  <a:latin typeface="Cambria Math" panose="02040503050406030204" pitchFamily="18" charset="0"/>
                                                </a:rPr>
                                                <m:t>⊤</m:t>
                                              </m:r>
                                            </m:sup>
                                          </m:sSup>
                                          <m:sSub>
                                            <m:sSubPr>
                                              <m:ctrlPr>
                                                <a:rPr kumimoji="1" lang="en-US" altLang="zh-CN" sz="2000" b="0" i="1" smtClean="0">
                                                  <a:latin typeface="Cambria Math" panose="02040503050406030204" pitchFamily="18" charset="0"/>
                                                </a:rPr>
                                              </m:ctrlPr>
                                            </m:sSubPr>
                                            <m:e>
                                              <m:r>
                                                <a:rPr kumimoji="1" lang="en-US" altLang="zh-CN" sz="2000" b="1" i="1">
                                                  <a:latin typeface="Cambria Math" panose="02040503050406030204" pitchFamily="18" charset="0"/>
                                                </a:rPr>
                                                <m:t>𝒙</m:t>
                                              </m:r>
                                            </m:e>
                                            <m:sub>
                                              <m:r>
                                                <a:rPr kumimoji="1" lang="en-US" altLang="zh-CN" sz="2000" b="0" i="1" smtClean="0">
                                                  <a:latin typeface="Cambria Math" panose="02040503050406030204" pitchFamily="18" charset="0"/>
                                                </a:rPr>
                                                <m:t>𝑖</m:t>
                                              </m:r>
                                            </m:sub>
                                          </m:sSub>
                                          <m:r>
                                            <a:rPr kumimoji="1" lang="en-US" altLang="zh-CN" sz="2000" i="1">
                                              <a:latin typeface="Cambria Math" panose="02040503050406030204" pitchFamily="18" charset="0"/>
                                            </a:rPr>
                                            <m:t>+</m:t>
                                          </m:r>
                                          <m:r>
                                            <a:rPr kumimoji="1" lang="en-US" altLang="zh-CN" sz="2000" i="1">
                                              <a:latin typeface="Cambria Math" panose="02040503050406030204" pitchFamily="18" charset="0"/>
                                            </a:rPr>
                                            <m:t>𝑏</m:t>
                                          </m:r>
                                        </m:e>
                                      </m:d>
                                    </m:e>
                                  </m:d>
                                </m:e>
                              </m:func>
                            </m:e>
                          </m:nary>
                        </m:e>
                      </m:func>
                    </m:oMath>
                  </m:oMathPara>
                </a14:m>
                <a:endParaRPr lang="zh-CN" altLang="en-US" sz="2000" dirty="0"/>
              </a:p>
            </p:txBody>
          </p:sp>
        </mc:Choice>
        <mc:Fallback xmlns="">
          <p:sp>
            <p:nvSpPr>
              <p:cNvPr id="15" name="文本框 14">
                <a:extLst>
                  <a:ext uri="{FF2B5EF4-FFF2-40B4-BE49-F238E27FC236}">
                    <a16:creationId xmlns:a16="http://schemas.microsoft.com/office/drawing/2014/main" id="{10DE0E0C-F747-8446-A2F2-4789464C930A}"/>
                  </a:ext>
                </a:extLst>
              </p:cNvPr>
              <p:cNvSpPr txBox="1">
                <a:spLocks noRot="1" noChangeAspect="1" noMove="1" noResize="1" noEditPoints="1" noAdjustHandles="1" noChangeArrowheads="1" noChangeShapeType="1" noTextEdit="1"/>
              </p:cNvSpPr>
              <p:nvPr/>
            </p:nvSpPr>
            <p:spPr>
              <a:xfrm>
                <a:off x="5594260" y="5573325"/>
                <a:ext cx="5923384" cy="749629"/>
              </a:xfrm>
              <a:prstGeom prst="rect">
                <a:avLst/>
              </a:prstGeom>
              <a:blipFill>
                <a:blip r:embed="rId4"/>
                <a:stretch>
                  <a:fillRect/>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ECB034BF-443E-3248-8940-691485C2AB9A}"/>
              </a:ext>
            </a:extLst>
          </p:cNvPr>
          <p:cNvPicPr>
            <a:picLocks noChangeAspect="1"/>
          </p:cNvPicPr>
          <p:nvPr/>
        </p:nvPicPr>
        <p:blipFill>
          <a:blip r:embed="rId5"/>
          <a:stretch>
            <a:fillRect/>
          </a:stretch>
        </p:blipFill>
        <p:spPr>
          <a:xfrm>
            <a:off x="548640" y="3348823"/>
            <a:ext cx="4881773" cy="2461492"/>
          </a:xfrm>
          <a:prstGeom prst="rect">
            <a:avLst/>
          </a:prstGeom>
        </p:spPr>
      </p:pic>
      <p:sp>
        <p:nvSpPr>
          <p:cNvPr id="10" name="爆炸形 2 10">
            <a:extLst>
              <a:ext uri="{FF2B5EF4-FFF2-40B4-BE49-F238E27FC236}">
                <a16:creationId xmlns:a16="http://schemas.microsoft.com/office/drawing/2014/main" id="{53197A15-3410-2046-86D4-26BEE34E5B18}"/>
              </a:ext>
            </a:extLst>
          </p:cNvPr>
          <p:cNvSpPr/>
          <p:nvPr/>
        </p:nvSpPr>
        <p:spPr>
          <a:xfrm>
            <a:off x="6457578" y="4566875"/>
            <a:ext cx="4896222"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dirty="0">
                <a:solidFill>
                  <a:srgbClr val="C00000"/>
                </a:solidFill>
              </a:rPr>
              <a:t>无法解决线性不可分问题！</a:t>
            </a:r>
          </a:p>
        </p:txBody>
      </p:sp>
    </p:spTree>
    <p:extLst>
      <p:ext uri="{BB962C8B-B14F-4D97-AF65-F5344CB8AC3E}">
        <p14:creationId xmlns:p14="http://schemas.microsoft.com/office/powerpoint/2010/main" val="1143520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mc:AlternateContent xmlns:mc="http://schemas.openxmlformats.org/markup-compatibility/2006" xmlns:a14="http://schemas.microsoft.com/office/drawing/2010/main">
        <mc:Choice Requires="a14">
          <p:sp>
            <p:nvSpPr>
              <p:cNvPr id="6" name="Object 12">
                <a:extLst>
                  <a:ext uri="{FF2B5EF4-FFF2-40B4-BE49-F238E27FC236}">
                    <a16:creationId xmlns:a16="http://schemas.microsoft.com/office/drawing/2014/main" id="{98580089-1699-4876-B721-35CA4AE1E968}"/>
                  </a:ext>
                </a:extLst>
              </p:cNvPr>
              <p:cNvSpPr txBox="1"/>
              <p:nvPr/>
            </p:nvSpPr>
            <p:spPr bwMode="auto">
              <a:xfrm>
                <a:off x="3081434" y="2831478"/>
                <a:ext cx="6426862" cy="631825"/>
              </a:xfrm>
              <a:prstGeom prst="rect">
                <a:avLst/>
              </a:prstGeom>
              <a:noFill/>
            </p:spPr>
            <p:txBody>
              <a:bodyP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pitchFamily="18" charset="0"/>
                        </a:rPr>
                        <m:t>𝑦</m:t>
                      </m:r>
                      <m:r>
                        <a:rPr lang="zh-CN" altLang="en-US" sz="280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𝑤</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𝑘</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𝑤</m:t>
                          </m:r>
                        </m:e>
                        <m:sub>
                          <m:r>
                            <a:rPr lang="zh-CN" altLang="en-US" sz="2800" i="1">
                              <a:solidFill>
                                <a:srgbClr val="000000"/>
                              </a:solidFill>
                              <a:latin typeface="Cambria Math" panose="02040503050406030204" pitchFamily="18" charset="0"/>
                            </a:rPr>
                            <m:t>𝑘</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𝐾</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𝑤</m:t>
                          </m:r>
                        </m:e>
                        <m:sub>
                          <m:r>
                            <a:rPr lang="zh-CN" altLang="en-US" sz="2800" i="1">
                              <a:solidFill>
                                <a:srgbClr val="000000"/>
                              </a:solidFill>
                              <a:latin typeface="Cambria Math" panose="02040503050406030204" pitchFamily="18" charset="0"/>
                            </a:rPr>
                            <m:t>𝐾</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m:t>
                      </m:r>
                    </m:oMath>
                  </m:oMathPara>
                </a14:m>
                <a:endParaRPr lang="zh-CN" altLang="en-US" sz="2800" dirty="0"/>
              </a:p>
            </p:txBody>
          </p:sp>
        </mc:Choice>
        <mc:Fallback xmlns="">
          <p:sp>
            <p:nvSpPr>
              <p:cNvPr id="6" name="Object 12">
                <a:extLst>
                  <a:ext uri="{FF2B5EF4-FFF2-40B4-BE49-F238E27FC236}">
                    <a16:creationId xmlns:a16="http://schemas.microsoft.com/office/drawing/2014/main" id="{98580089-1699-4876-B721-35CA4AE1E968}"/>
                  </a:ext>
                </a:extLst>
              </p:cNvPr>
              <p:cNvSpPr txBox="1">
                <a:spLocks noRot="1" noChangeAspect="1" noMove="1" noResize="1" noEditPoints="1" noAdjustHandles="1" noChangeArrowheads="1" noChangeShapeType="1" noTextEdit="1"/>
              </p:cNvSpPr>
              <p:nvPr/>
            </p:nvSpPr>
            <p:spPr bwMode="auto">
              <a:xfrm>
                <a:off x="3081434" y="2831478"/>
                <a:ext cx="6426862" cy="631825"/>
              </a:xfrm>
              <a:prstGeom prst="rect">
                <a:avLst/>
              </a:prstGeom>
              <a:blipFill>
                <a:blip r:embed="rId3"/>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BF3EEE62-9876-48C8-9CCD-F725E278452F}"/>
              </a:ext>
            </a:extLst>
          </p:cNvPr>
          <p:cNvSpPr/>
          <p:nvPr/>
        </p:nvSpPr>
        <p:spPr>
          <a:xfrm>
            <a:off x="1668551" y="2847261"/>
            <a:ext cx="622890" cy="26675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a:latin typeface="Times New Roman" panose="02020603050405020304" charset="0"/>
              <a:cs typeface="Times New Roman" panose="02020603050405020304" charset="0"/>
            </a:endParaRPr>
          </a:p>
        </p:txBody>
      </p:sp>
      <p:sp>
        <p:nvSpPr>
          <p:cNvPr id="8" name="矩形 7">
            <a:extLst>
              <a:ext uri="{FF2B5EF4-FFF2-40B4-BE49-F238E27FC236}">
                <a16:creationId xmlns:a16="http://schemas.microsoft.com/office/drawing/2014/main" id="{FF240D25-43D6-49AB-B0BB-81B4F448B943}"/>
              </a:ext>
            </a:extLst>
          </p:cNvPr>
          <p:cNvSpPr/>
          <p:nvPr/>
        </p:nvSpPr>
        <p:spPr>
          <a:xfrm>
            <a:off x="3329440" y="5371865"/>
            <a:ext cx="596697" cy="58427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a:latin typeface="Times New Roman" panose="02020603050405020304" charset="0"/>
              <a:cs typeface="Times New Roman" panose="02020603050405020304" charset="0"/>
            </a:endParaRPr>
          </a:p>
        </p:txBody>
      </p:sp>
      <p:sp>
        <p:nvSpPr>
          <p:cNvPr id="9" name="矩形 8">
            <a:extLst>
              <a:ext uri="{FF2B5EF4-FFF2-40B4-BE49-F238E27FC236}">
                <a16:creationId xmlns:a16="http://schemas.microsoft.com/office/drawing/2014/main" id="{B4CB0435-1965-4A30-B370-56B18E4D45A8}"/>
              </a:ext>
            </a:extLst>
          </p:cNvPr>
          <p:cNvSpPr/>
          <p:nvPr/>
        </p:nvSpPr>
        <p:spPr>
          <a:xfrm>
            <a:off x="655146" y="2759393"/>
            <a:ext cx="596697" cy="31839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a:latin typeface="Times New Roman" panose="02020603050405020304" charset="0"/>
              <a:cs typeface="Times New Roman" panose="02020603050405020304" charset="0"/>
            </a:endParaRPr>
          </a:p>
        </p:txBody>
      </p:sp>
      <p:cxnSp>
        <p:nvCxnSpPr>
          <p:cNvPr id="10" name="直線單箭頭接點 5">
            <a:extLst>
              <a:ext uri="{FF2B5EF4-FFF2-40B4-BE49-F238E27FC236}">
                <a16:creationId xmlns:a16="http://schemas.microsoft.com/office/drawing/2014/main" id="{913AA44A-D84D-4240-AD6E-A264C8D8F750}"/>
              </a:ext>
            </a:extLst>
          </p:cNvPr>
          <p:cNvCxnSpPr/>
          <p:nvPr/>
        </p:nvCxnSpPr>
        <p:spPr>
          <a:xfrm flipV="1">
            <a:off x="1244223" y="4360692"/>
            <a:ext cx="2145559" cy="125331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Object 12">
                <a:extLst>
                  <a:ext uri="{FF2B5EF4-FFF2-40B4-BE49-F238E27FC236}">
                    <a16:creationId xmlns:a16="http://schemas.microsoft.com/office/drawing/2014/main" id="{A8F872DC-70C5-48AE-BD32-54C3F350B2A2}"/>
                  </a:ext>
                </a:extLst>
              </p:cNvPr>
              <p:cNvSpPr txBox="1"/>
              <p:nvPr/>
            </p:nvSpPr>
            <p:spPr bwMode="auto">
              <a:xfrm>
                <a:off x="1697922" y="2867990"/>
                <a:ext cx="493713" cy="595313"/>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𝑤</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1" name="Object 12">
                <a:extLst>
                  <a:ext uri="{FF2B5EF4-FFF2-40B4-BE49-F238E27FC236}">
                    <a16:creationId xmlns:a16="http://schemas.microsoft.com/office/drawing/2014/main" id="{A8F872DC-70C5-48AE-BD32-54C3F350B2A2}"/>
                  </a:ext>
                </a:extLst>
              </p:cNvPr>
              <p:cNvSpPr txBox="1">
                <a:spLocks noRot="1" noChangeAspect="1" noMove="1" noResize="1" noEditPoints="1" noAdjustHandles="1" noChangeArrowheads="1" noChangeShapeType="1" noTextEdit="1"/>
              </p:cNvSpPr>
              <p:nvPr/>
            </p:nvSpPr>
            <p:spPr bwMode="auto">
              <a:xfrm>
                <a:off x="1697922" y="2867990"/>
                <a:ext cx="493713" cy="59531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12">
                <a:extLst>
                  <a:ext uri="{FF2B5EF4-FFF2-40B4-BE49-F238E27FC236}">
                    <a16:creationId xmlns:a16="http://schemas.microsoft.com/office/drawing/2014/main" id="{FBF315CE-FBDF-4A2C-AF7A-3EEE82D93501}"/>
                  </a:ext>
                </a:extLst>
              </p:cNvPr>
              <p:cNvSpPr txBox="1"/>
              <p:nvPr/>
            </p:nvSpPr>
            <p:spPr bwMode="auto">
              <a:xfrm>
                <a:off x="1703345" y="3776933"/>
                <a:ext cx="563562" cy="630238"/>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𝑤</m:t>
                          </m:r>
                        </m:e>
                        <m:sub>
                          <m:r>
                            <a:rPr lang="zh-CN" altLang="en-US" i="1">
                              <a:solidFill>
                                <a:srgbClr val="000000"/>
                              </a:solidFill>
                              <a:latin typeface="Cambria Math" panose="02040503050406030204" pitchFamily="18" charset="0"/>
                            </a:rPr>
                            <m:t>𝑘</m:t>
                          </m:r>
                        </m:sub>
                      </m:sSub>
                    </m:oMath>
                  </m:oMathPara>
                </a14:m>
                <a:endParaRPr lang="zh-CN" altLang="en-US"/>
              </a:p>
            </p:txBody>
          </p:sp>
        </mc:Choice>
        <mc:Fallback xmlns="">
          <p:sp>
            <p:nvSpPr>
              <p:cNvPr id="12" name="Object 12">
                <a:extLst>
                  <a:ext uri="{FF2B5EF4-FFF2-40B4-BE49-F238E27FC236}">
                    <a16:creationId xmlns:a16="http://schemas.microsoft.com/office/drawing/2014/main" id="{FBF315CE-FBDF-4A2C-AF7A-3EEE82D93501}"/>
                  </a:ext>
                </a:extLst>
              </p:cNvPr>
              <p:cNvSpPr txBox="1">
                <a:spLocks noRot="1" noChangeAspect="1" noMove="1" noResize="1" noEditPoints="1" noAdjustHandles="1" noChangeArrowheads="1" noChangeShapeType="1" noTextEdit="1"/>
              </p:cNvSpPr>
              <p:nvPr/>
            </p:nvSpPr>
            <p:spPr bwMode="auto">
              <a:xfrm>
                <a:off x="1703345" y="3776933"/>
                <a:ext cx="563562" cy="63023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82E87420-36AC-49E7-94FC-2F4E3C508AF6}"/>
                  </a:ext>
                </a:extLst>
              </p:cNvPr>
              <p:cNvSpPr txBox="1"/>
              <p:nvPr/>
            </p:nvSpPr>
            <p:spPr bwMode="auto">
              <a:xfrm>
                <a:off x="1718515" y="4829684"/>
                <a:ext cx="598487" cy="595312"/>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𝑤</m:t>
                          </m:r>
                        </m:e>
                        <m:sub>
                          <m:r>
                            <m:rPr>
                              <m:sty m:val="p"/>
                            </m:rPr>
                            <a:rPr lang="zh-CN" altLang="en-US" i="0">
                              <a:solidFill>
                                <a:srgbClr val="000000"/>
                              </a:solidFill>
                              <a:latin typeface="Cambria Math" panose="02040503050406030204" pitchFamily="18" charset="0"/>
                            </a:rPr>
                            <m:t>K</m:t>
                          </m:r>
                        </m:sub>
                      </m:sSub>
                    </m:oMath>
                  </m:oMathPara>
                </a14:m>
                <a:endParaRPr lang="zh-CN" altLang="en-US"/>
              </a:p>
            </p:txBody>
          </p:sp>
        </mc:Choice>
        <mc:Fallback xmlns="">
          <p:sp>
            <p:nvSpPr>
              <p:cNvPr id="13" name="Object 12">
                <a:extLst>
                  <a:ext uri="{FF2B5EF4-FFF2-40B4-BE49-F238E27FC236}">
                    <a16:creationId xmlns:a16="http://schemas.microsoft.com/office/drawing/2014/main" id="{82E87420-36AC-49E7-94FC-2F4E3C508AF6}"/>
                  </a:ext>
                </a:extLst>
              </p:cNvPr>
              <p:cNvSpPr txBox="1">
                <a:spLocks noRot="1" noChangeAspect="1" noMove="1" noResize="1" noEditPoints="1" noAdjustHandles="1" noChangeArrowheads="1" noChangeShapeType="1" noTextEdit="1"/>
              </p:cNvSpPr>
              <p:nvPr/>
            </p:nvSpPr>
            <p:spPr bwMode="auto">
              <a:xfrm>
                <a:off x="1718515" y="4829684"/>
                <a:ext cx="598487" cy="595312"/>
              </a:xfrm>
              <a:prstGeom prst="rect">
                <a:avLst/>
              </a:prstGeom>
              <a:blipFill>
                <a:blip r:embed="rId6"/>
                <a:stretch>
                  <a:fillRect/>
                </a:stretch>
              </a:blipFill>
            </p:spPr>
            <p:txBody>
              <a:bodyPr/>
              <a:lstStyle/>
              <a:p>
                <a:r>
                  <a:rPr lang="zh-CN" altLang="en-US">
                    <a:noFill/>
                  </a:rPr>
                  <a:t> </a:t>
                </a:r>
              </a:p>
            </p:txBody>
          </p:sp>
        </mc:Fallback>
      </mc:AlternateContent>
      <p:cxnSp>
        <p:nvCxnSpPr>
          <p:cNvPr id="14" name="直線單箭頭接點 11">
            <a:extLst>
              <a:ext uri="{FF2B5EF4-FFF2-40B4-BE49-F238E27FC236}">
                <a16:creationId xmlns:a16="http://schemas.microsoft.com/office/drawing/2014/main" id="{2952DF92-4E55-4203-B1D7-EB6574470A53}"/>
              </a:ext>
            </a:extLst>
          </p:cNvPr>
          <p:cNvCxnSpPr/>
          <p:nvPr/>
        </p:nvCxnSpPr>
        <p:spPr>
          <a:xfrm flipV="1">
            <a:off x="3731296" y="4330090"/>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2">
            <a:extLst>
              <a:ext uri="{FF2B5EF4-FFF2-40B4-BE49-F238E27FC236}">
                <a16:creationId xmlns:a16="http://schemas.microsoft.com/office/drawing/2014/main" id="{A93C2FE6-B3D8-4B58-AA53-64498D23803F}"/>
              </a:ext>
            </a:extLst>
          </p:cNvPr>
          <p:cNvCxnSpPr>
            <a:stCxn id="9" idx="3"/>
          </p:cNvCxnSpPr>
          <p:nvPr/>
        </p:nvCxnSpPr>
        <p:spPr>
          <a:xfrm>
            <a:off x="1251843" y="4351363"/>
            <a:ext cx="2137939" cy="93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3">
            <a:extLst>
              <a:ext uri="{FF2B5EF4-FFF2-40B4-BE49-F238E27FC236}">
                <a16:creationId xmlns:a16="http://schemas.microsoft.com/office/drawing/2014/main" id="{CF967852-4C5B-4DD9-8DFE-EFFE3AE317B6}"/>
              </a:ext>
            </a:extLst>
          </p:cNvPr>
          <p:cNvCxnSpPr/>
          <p:nvPr/>
        </p:nvCxnSpPr>
        <p:spPr>
          <a:xfrm>
            <a:off x="1251843" y="3075160"/>
            <a:ext cx="2137939" cy="1285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4">
            <a:extLst>
              <a:ext uri="{FF2B5EF4-FFF2-40B4-BE49-F238E27FC236}">
                <a16:creationId xmlns:a16="http://schemas.microsoft.com/office/drawing/2014/main" id="{45D44246-4647-4334-96F2-E9F2D6C3FE61}"/>
              </a:ext>
            </a:extLst>
          </p:cNvPr>
          <p:cNvSpPr txBox="1"/>
          <p:nvPr/>
        </p:nvSpPr>
        <p:spPr>
          <a:xfrm rot="5400000">
            <a:off x="647948" y="4739827"/>
            <a:ext cx="76925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18" name="Object 12">
                <a:extLst>
                  <a:ext uri="{FF2B5EF4-FFF2-40B4-BE49-F238E27FC236}">
                    <a16:creationId xmlns:a16="http://schemas.microsoft.com/office/drawing/2014/main" id="{E7A8AFD3-4F9A-4DA8-A926-517299B0C514}"/>
                  </a:ext>
                </a:extLst>
              </p:cNvPr>
              <p:cNvSpPr txBox="1"/>
              <p:nvPr/>
            </p:nvSpPr>
            <p:spPr bwMode="auto">
              <a:xfrm>
                <a:off x="736892" y="2716617"/>
                <a:ext cx="495300" cy="630238"/>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18" name="Object 12">
                <a:extLst>
                  <a:ext uri="{FF2B5EF4-FFF2-40B4-BE49-F238E27FC236}">
                    <a16:creationId xmlns:a16="http://schemas.microsoft.com/office/drawing/2014/main" id="{E7A8AFD3-4F9A-4DA8-A926-517299B0C514}"/>
                  </a:ext>
                </a:extLst>
              </p:cNvPr>
              <p:cNvSpPr txBox="1">
                <a:spLocks noRot="1" noChangeAspect="1" noMove="1" noResize="1" noEditPoints="1" noAdjustHandles="1" noChangeArrowheads="1" noChangeShapeType="1" noTextEdit="1"/>
              </p:cNvSpPr>
              <p:nvPr/>
            </p:nvSpPr>
            <p:spPr bwMode="auto">
              <a:xfrm>
                <a:off x="736892" y="2716617"/>
                <a:ext cx="495300" cy="63023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Object 12">
                <a:extLst>
                  <a:ext uri="{FF2B5EF4-FFF2-40B4-BE49-F238E27FC236}">
                    <a16:creationId xmlns:a16="http://schemas.microsoft.com/office/drawing/2014/main" id="{AF616082-CCA4-42DE-9BAE-C3BD62426A05}"/>
                  </a:ext>
                </a:extLst>
              </p:cNvPr>
              <p:cNvSpPr txBox="1"/>
              <p:nvPr/>
            </p:nvSpPr>
            <p:spPr bwMode="auto">
              <a:xfrm>
                <a:off x="736892" y="3932235"/>
                <a:ext cx="495300" cy="665163"/>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m:t>
                          </m:r>
                        </m:sub>
                      </m:sSub>
                    </m:oMath>
                  </m:oMathPara>
                </a14:m>
                <a:endParaRPr lang="zh-CN" altLang="en-US" dirty="0"/>
              </a:p>
            </p:txBody>
          </p:sp>
        </mc:Choice>
        <mc:Fallback xmlns="">
          <p:sp>
            <p:nvSpPr>
              <p:cNvPr id="20" name="Object 12">
                <a:extLst>
                  <a:ext uri="{FF2B5EF4-FFF2-40B4-BE49-F238E27FC236}">
                    <a16:creationId xmlns:a16="http://schemas.microsoft.com/office/drawing/2014/main" id="{AF616082-CCA4-42DE-9BAE-C3BD62426A05}"/>
                  </a:ext>
                </a:extLst>
              </p:cNvPr>
              <p:cNvSpPr txBox="1">
                <a:spLocks noRot="1" noChangeAspect="1" noMove="1" noResize="1" noEditPoints="1" noAdjustHandles="1" noChangeArrowheads="1" noChangeShapeType="1" noTextEdit="1"/>
              </p:cNvSpPr>
              <p:nvPr/>
            </p:nvSpPr>
            <p:spPr bwMode="auto">
              <a:xfrm>
                <a:off x="736892" y="3932235"/>
                <a:ext cx="495300" cy="66516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12">
                <a:extLst>
                  <a:ext uri="{FF2B5EF4-FFF2-40B4-BE49-F238E27FC236}">
                    <a16:creationId xmlns:a16="http://schemas.microsoft.com/office/drawing/2014/main" id="{FFAABF3D-6514-4BAE-90BF-117702B45052}"/>
                  </a:ext>
                </a:extLst>
              </p:cNvPr>
              <p:cNvSpPr txBox="1"/>
              <p:nvPr/>
            </p:nvSpPr>
            <p:spPr bwMode="auto">
              <a:xfrm>
                <a:off x="710823" y="5298892"/>
                <a:ext cx="533400" cy="630238"/>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m:rPr>
                              <m:sty m:val="p"/>
                            </m:rPr>
                            <a:rPr lang="zh-CN" altLang="en-US" i="0">
                              <a:solidFill>
                                <a:srgbClr val="000000"/>
                              </a:solidFill>
                              <a:latin typeface="Cambria Math" panose="02040503050406030204" pitchFamily="18" charset="0"/>
                            </a:rPr>
                            <m:t>K</m:t>
                          </m:r>
                        </m:sub>
                      </m:sSub>
                    </m:oMath>
                  </m:oMathPara>
                </a14:m>
                <a:endParaRPr lang="zh-CN" altLang="en-US" dirty="0"/>
              </a:p>
            </p:txBody>
          </p:sp>
        </mc:Choice>
        <mc:Fallback xmlns="">
          <p:sp>
            <p:nvSpPr>
              <p:cNvPr id="21" name="Object 12">
                <a:extLst>
                  <a:ext uri="{FF2B5EF4-FFF2-40B4-BE49-F238E27FC236}">
                    <a16:creationId xmlns:a16="http://schemas.microsoft.com/office/drawing/2014/main" id="{FFAABF3D-6514-4BAE-90BF-117702B45052}"/>
                  </a:ext>
                </a:extLst>
              </p:cNvPr>
              <p:cNvSpPr txBox="1">
                <a:spLocks noRot="1" noChangeAspect="1" noMove="1" noResize="1" noEditPoints="1" noAdjustHandles="1" noChangeArrowheads="1" noChangeShapeType="1" noTextEdit="1"/>
              </p:cNvSpPr>
              <p:nvPr/>
            </p:nvSpPr>
            <p:spPr bwMode="auto">
              <a:xfrm>
                <a:off x="710823" y="5298892"/>
                <a:ext cx="533400" cy="630238"/>
              </a:xfrm>
              <a:prstGeom prst="rect">
                <a:avLst/>
              </a:prstGeom>
              <a:blipFill>
                <a:blip r:embed="rId9"/>
                <a:stretch>
                  <a:fillRect/>
                </a:stretch>
              </a:blipFill>
            </p:spPr>
            <p:txBody>
              <a:bodyPr/>
              <a:lstStyle/>
              <a:p>
                <a:r>
                  <a:rPr lang="zh-CN" altLang="en-US">
                    <a:noFill/>
                  </a:rPr>
                  <a:t> </a:t>
                </a:r>
              </a:p>
            </p:txBody>
          </p:sp>
        </mc:Fallback>
      </mc:AlternateContent>
      <p:grpSp>
        <p:nvGrpSpPr>
          <p:cNvPr id="22" name="群組 20">
            <a:extLst>
              <a:ext uri="{FF2B5EF4-FFF2-40B4-BE49-F238E27FC236}">
                <a16:creationId xmlns:a16="http://schemas.microsoft.com/office/drawing/2014/main" id="{A0F02E77-4CA4-41C4-B4AB-95E4046EE797}"/>
              </a:ext>
            </a:extLst>
          </p:cNvPr>
          <p:cNvGrpSpPr/>
          <p:nvPr/>
        </p:nvGrpSpPr>
        <p:grpSpPr>
          <a:xfrm>
            <a:off x="3389782" y="4100532"/>
            <a:ext cx="520319" cy="520319"/>
            <a:chOff x="3342651" y="3507082"/>
            <a:chExt cx="520319" cy="520319"/>
          </a:xfrm>
        </p:grpSpPr>
        <p:sp>
          <p:nvSpPr>
            <p:cNvPr id="34" name="矩形 33">
              <a:extLst>
                <a:ext uri="{FF2B5EF4-FFF2-40B4-BE49-F238E27FC236}">
                  <a16:creationId xmlns:a16="http://schemas.microsoft.com/office/drawing/2014/main" id="{43C356B7-2CFA-4AAE-A949-F3FC9F1A70BD}"/>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35" name="Object 12">
                  <a:extLst>
                    <a:ext uri="{FF2B5EF4-FFF2-40B4-BE49-F238E27FC236}">
                      <a16:creationId xmlns:a16="http://schemas.microsoft.com/office/drawing/2014/main" id="{B00BC49D-5B7D-433D-B3DC-3A023BC05299}"/>
                    </a:ext>
                  </a:extLst>
                </p:cNvPr>
                <p:cNvSpPr txBox="1"/>
                <p:nvPr/>
              </p:nvSpPr>
              <p:spPr bwMode="auto">
                <a:xfrm>
                  <a:off x="3435128" y="3545009"/>
                  <a:ext cx="385763" cy="387350"/>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5" name="Object 12">
                  <a:extLst>
                    <a:ext uri="{FF2B5EF4-FFF2-40B4-BE49-F238E27FC236}">
                      <a16:creationId xmlns:a16="http://schemas.microsoft.com/office/drawing/2014/main" id="{B00BC49D-5B7D-433D-B3DC-3A023BC05299}"/>
                    </a:ext>
                  </a:extLst>
                </p:cNvPr>
                <p:cNvSpPr txBox="1">
                  <a:spLocks noRot="1" noChangeAspect="1" noMove="1" noResize="1" noEditPoints="1" noAdjustHandles="1" noChangeArrowheads="1" noChangeShapeType="1" noTextEdit="1"/>
                </p:cNvSpPr>
                <p:nvPr/>
              </p:nvSpPr>
              <p:spPr bwMode="auto">
                <a:xfrm>
                  <a:off x="3435128" y="3545009"/>
                  <a:ext cx="385763" cy="387350"/>
                </a:xfrm>
                <a:prstGeom prst="rect">
                  <a:avLst/>
                </a:prstGeom>
                <a:blipFill>
                  <a:blip r:embed="rId10"/>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3" name="Object 12">
                <a:extLst>
                  <a:ext uri="{FF2B5EF4-FFF2-40B4-BE49-F238E27FC236}">
                    <a16:creationId xmlns:a16="http://schemas.microsoft.com/office/drawing/2014/main" id="{FAA6F19D-6C1D-4800-A737-7F924EEEB250}"/>
                  </a:ext>
                </a:extLst>
              </p:cNvPr>
              <p:cNvSpPr txBox="1"/>
              <p:nvPr/>
            </p:nvSpPr>
            <p:spPr bwMode="auto">
              <a:xfrm>
                <a:off x="3447478" y="5454383"/>
                <a:ext cx="354012" cy="488950"/>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𝑏</m:t>
                      </m:r>
                    </m:oMath>
                  </m:oMathPara>
                </a14:m>
                <a:endParaRPr lang="zh-CN" altLang="en-US"/>
              </a:p>
            </p:txBody>
          </p:sp>
        </mc:Choice>
        <mc:Fallback xmlns="">
          <p:sp>
            <p:nvSpPr>
              <p:cNvPr id="23" name="Object 12">
                <a:extLst>
                  <a:ext uri="{FF2B5EF4-FFF2-40B4-BE49-F238E27FC236}">
                    <a16:creationId xmlns:a16="http://schemas.microsoft.com/office/drawing/2014/main" id="{FAA6F19D-6C1D-4800-A737-7F924EEEB250}"/>
                  </a:ext>
                </a:extLst>
              </p:cNvPr>
              <p:cNvSpPr txBox="1">
                <a:spLocks noRot="1" noChangeAspect="1" noMove="1" noResize="1" noEditPoints="1" noAdjustHandles="1" noChangeArrowheads="1" noChangeShapeType="1" noTextEdit="1"/>
              </p:cNvSpPr>
              <p:nvPr/>
            </p:nvSpPr>
            <p:spPr bwMode="auto">
              <a:xfrm>
                <a:off x="3447478" y="5454383"/>
                <a:ext cx="354012" cy="488950"/>
              </a:xfrm>
              <a:prstGeom prst="rect">
                <a:avLst/>
              </a:prstGeom>
              <a:blipFill>
                <a:blip r:embed="rId11"/>
                <a:stretch>
                  <a:fillRect/>
                </a:stretch>
              </a:blipFill>
            </p:spPr>
            <p:txBody>
              <a:bodyPr/>
              <a:lstStyle/>
              <a:p>
                <a:r>
                  <a:rPr lang="zh-CN" altLang="en-US">
                    <a:noFill/>
                  </a:rPr>
                  <a:t> </a:t>
                </a:r>
              </a:p>
            </p:txBody>
          </p:sp>
        </mc:Fallback>
      </mc:AlternateContent>
      <p:cxnSp>
        <p:nvCxnSpPr>
          <p:cNvPr id="24" name="直線單箭頭接點 24">
            <a:extLst>
              <a:ext uri="{FF2B5EF4-FFF2-40B4-BE49-F238E27FC236}">
                <a16:creationId xmlns:a16="http://schemas.microsoft.com/office/drawing/2014/main" id="{8A736FCD-BFA8-4B68-91B9-E493C2BFD797}"/>
              </a:ext>
            </a:extLst>
          </p:cNvPr>
          <p:cNvCxnSpPr/>
          <p:nvPr/>
        </p:nvCxnSpPr>
        <p:spPr>
          <a:xfrm flipV="1">
            <a:off x="3640989" y="4631295"/>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字方塊 33">
            <a:extLst>
              <a:ext uri="{FF2B5EF4-FFF2-40B4-BE49-F238E27FC236}">
                <a16:creationId xmlns:a16="http://schemas.microsoft.com/office/drawing/2014/main" id="{9875A667-C136-4791-95B7-0235B0775E8E}"/>
              </a:ext>
            </a:extLst>
          </p:cNvPr>
          <p:cNvSpPr txBox="1"/>
          <p:nvPr/>
        </p:nvSpPr>
        <p:spPr>
          <a:xfrm>
            <a:off x="3894762" y="5514838"/>
            <a:ext cx="79802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2400" dirty="0">
                <a:solidFill>
                  <a:srgbClr val="0000FF"/>
                </a:solidFill>
                <a:latin typeface="Times New Roman" panose="02020603050405020304" charset="0"/>
                <a:cs typeface="Times New Roman" panose="02020603050405020304" charset="0"/>
              </a:rPr>
              <a:t>bias</a:t>
            </a:r>
            <a:endParaRPr lang="zh-TW" altLang="en-US" sz="2400" dirty="0">
              <a:solidFill>
                <a:srgbClr val="0000FF"/>
              </a:solidFill>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7" name="Object 12">
                <a:extLst>
                  <a:ext uri="{FF2B5EF4-FFF2-40B4-BE49-F238E27FC236}">
                    <a16:creationId xmlns:a16="http://schemas.microsoft.com/office/drawing/2014/main" id="{8460AF43-926D-4DAD-A7A5-CF1A1FDA8569}"/>
                  </a:ext>
                </a:extLst>
              </p:cNvPr>
              <p:cNvSpPr txBox="1"/>
              <p:nvPr/>
            </p:nvSpPr>
            <p:spPr bwMode="auto">
              <a:xfrm>
                <a:off x="4536343" y="4143504"/>
                <a:ext cx="352425" cy="385763"/>
              </a:xfrm>
              <a:prstGeom prst="rect">
                <a:avLst/>
              </a:prstGeom>
              <a:noFill/>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𝑦</m:t>
                      </m:r>
                    </m:oMath>
                  </m:oMathPara>
                </a14:m>
                <a:endParaRPr lang="zh-CN" altLang="en-US" dirty="0"/>
              </a:p>
            </p:txBody>
          </p:sp>
        </mc:Choice>
        <mc:Fallback xmlns="">
          <p:sp>
            <p:nvSpPr>
              <p:cNvPr id="27" name="Object 12">
                <a:extLst>
                  <a:ext uri="{FF2B5EF4-FFF2-40B4-BE49-F238E27FC236}">
                    <a16:creationId xmlns:a16="http://schemas.microsoft.com/office/drawing/2014/main" id="{8460AF43-926D-4DAD-A7A5-CF1A1FDA8569}"/>
                  </a:ext>
                </a:extLst>
              </p:cNvPr>
              <p:cNvSpPr txBox="1">
                <a:spLocks noRot="1" noChangeAspect="1" noMove="1" noResize="1" noEditPoints="1" noAdjustHandles="1" noChangeArrowheads="1" noChangeShapeType="1" noTextEdit="1"/>
              </p:cNvSpPr>
              <p:nvPr/>
            </p:nvSpPr>
            <p:spPr bwMode="auto">
              <a:xfrm>
                <a:off x="4536343" y="4143504"/>
                <a:ext cx="352425" cy="385763"/>
              </a:xfrm>
              <a:prstGeom prst="rect">
                <a:avLst/>
              </a:prstGeom>
              <a:blipFill>
                <a:blip r:embed="rId12"/>
                <a:stretch>
                  <a:fillRect b="-1587"/>
                </a:stretch>
              </a:blipFill>
            </p:spPr>
            <p:txBody>
              <a:bodyPr/>
              <a:lstStyle/>
              <a:p>
                <a:r>
                  <a:rPr lang="zh-CN" altLang="en-US">
                    <a:noFill/>
                  </a:rPr>
                  <a:t> </a:t>
                </a:r>
              </a:p>
            </p:txBody>
          </p:sp>
        </mc:Fallback>
      </mc:AlternateContent>
      <p:sp>
        <p:nvSpPr>
          <p:cNvPr id="28" name="文字方塊 38">
            <a:extLst>
              <a:ext uri="{FF2B5EF4-FFF2-40B4-BE49-F238E27FC236}">
                <a16:creationId xmlns:a16="http://schemas.microsoft.com/office/drawing/2014/main" id="{E00B234A-5D7D-455B-B969-1D705D6C5AC7}"/>
              </a:ext>
            </a:extLst>
          </p:cNvPr>
          <p:cNvSpPr txBox="1"/>
          <p:nvPr/>
        </p:nvSpPr>
        <p:spPr>
          <a:xfrm>
            <a:off x="1424472" y="5514838"/>
            <a:ext cx="118657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2400" dirty="0">
                <a:solidFill>
                  <a:srgbClr val="0000FF"/>
                </a:solidFill>
                <a:latin typeface="Times New Roman" panose="02020603050405020304" charset="0"/>
                <a:cs typeface="Times New Roman" panose="02020603050405020304" charset="0"/>
              </a:rPr>
              <a:t>weights</a:t>
            </a:r>
            <a:endParaRPr lang="zh-TW" altLang="en-US" sz="2400" dirty="0">
              <a:solidFill>
                <a:srgbClr val="0000FF"/>
              </a:solidFill>
              <a:latin typeface="Times New Roman" panose="02020603050405020304" charset="0"/>
              <a:cs typeface="Times New Roman" panose="02020603050405020304" charset="0"/>
            </a:endParaRPr>
          </a:p>
        </p:txBody>
      </p:sp>
      <p:sp>
        <p:nvSpPr>
          <p:cNvPr id="29" name="矩形 28">
            <a:extLst>
              <a:ext uri="{FF2B5EF4-FFF2-40B4-BE49-F238E27FC236}">
                <a16:creationId xmlns:a16="http://schemas.microsoft.com/office/drawing/2014/main" id="{50A69031-FEA1-4874-A872-9E4B70EB4418}"/>
              </a:ext>
            </a:extLst>
          </p:cNvPr>
          <p:cNvSpPr/>
          <p:nvPr/>
        </p:nvSpPr>
        <p:spPr>
          <a:xfrm>
            <a:off x="1296337" y="1656049"/>
            <a:ext cx="3299301" cy="584775"/>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3200" b="1" i="1" u="sng" dirty="0">
                <a:latin typeface="Times New Roman" panose="02020603050405020304" charset="0"/>
                <a:cs typeface="Times New Roman" panose="02020603050405020304" charset="0"/>
              </a:rPr>
              <a:t>Linear Regression</a:t>
            </a:r>
            <a:endParaRPr lang="zh-TW" altLang="en-US" sz="3200" b="1" i="1" u="sng" dirty="0">
              <a:latin typeface="Times New Roman" panose="02020603050405020304" charset="0"/>
              <a:cs typeface="Times New Roman" panose="02020603050405020304" charset="0"/>
            </a:endParaRPr>
          </a:p>
        </p:txBody>
      </p:sp>
      <p:sp>
        <p:nvSpPr>
          <p:cNvPr id="30" name="文字方塊 40">
            <a:extLst>
              <a:ext uri="{FF2B5EF4-FFF2-40B4-BE49-F238E27FC236}">
                <a16:creationId xmlns:a16="http://schemas.microsoft.com/office/drawing/2014/main" id="{BDD97C16-8811-417A-829D-FA163937AC67}"/>
              </a:ext>
            </a:extLst>
          </p:cNvPr>
          <p:cNvSpPr txBox="1"/>
          <p:nvPr/>
        </p:nvSpPr>
        <p:spPr>
          <a:xfrm rot="5400000">
            <a:off x="641147" y="3414923"/>
            <a:ext cx="76925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31" name="文字方塊 41">
            <a:extLst>
              <a:ext uri="{FF2B5EF4-FFF2-40B4-BE49-F238E27FC236}">
                <a16:creationId xmlns:a16="http://schemas.microsoft.com/office/drawing/2014/main" id="{DA2937A5-37EE-4F65-BFBD-32ACCD1E73C0}"/>
              </a:ext>
            </a:extLst>
          </p:cNvPr>
          <p:cNvSpPr txBox="1"/>
          <p:nvPr/>
        </p:nvSpPr>
        <p:spPr>
          <a:xfrm rot="5400000">
            <a:off x="1674050" y="4473266"/>
            <a:ext cx="76925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32" name="文字方塊 42">
            <a:extLst>
              <a:ext uri="{FF2B5EF4-FFF2-40B4-BE49-F238E27FC236}">
                <a16:creationId xmlns:a16="http://schemas.microsoft.com/office/drawing/2014/main" id="{6FE614B2-133C-471B-BFB6-08F1C448BB4C}"/>
              </a:ext>
            </a:extLst>
          </p:cNvPr>
          <p:cNvSpPr txBox="1"/>
          <p:nvPr/>
        </p:nvSpPr>
        <p:spPr>
          <a:xfrm rot="5400000">
            <a:off x="1666525" y="3497217"/>
            <a:ext cx="76925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803239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10</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mc:AlternateContent xmlns:mc="http://schemas.openxmlformats.org/markup-compatibility/2006" xmlns:a14="http://schemas.microsoft.com/office/drawing/2010/main">
        <mc:Choice Requires="a14">
          <p:sp>
            <p:nvSpPr>
              <p:cNvPr id="12" name="Object 12">
                <a:extLst>
                  <a:ext uri="{FF2B5EF4-FFF2-40B4-BE49-F238E27FC236}">
                    <a16:creationId xmlns:a16="http://schemas.microsoft.com/office/drawing/2014/main" id="{2B46AB9F-AA5F-4990-A826-6D0ED83CFAE1}"/>
                  </a:ext>
                </a:extLst>
              </p:cNvPr>
              <p:cNvSpPr txBox="1"/>
              <p:nvPr/>
            </p:nvSpPr>
            <p:spPr bwMode="auto">
              <a:xfrm>
                <a:off x="2688955" y="2014025"/>
                <a:ext cx="7288643" cy="860726"/>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m:rPr>
                              <m:sty m:val="p"/>
                            </m:rPr>
                            <a:rPr lang="en-US" altLang="zh-CN" sz="2800" i="1">
                              <a:solidFill>
                                <a:srgbClr val="000000"/>
                              </a:solidFill>
                              <a:latin typeface="Cambria Math" panose="02040503050406030204" pitchFamily="18" charset="0"/>
                            </a:rPr>
                            <m:t>σ</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𝑤</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𝑘</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𝑤</m:t>
                          </m:r>
                        </m:e>
                        <m:sub>
                          <m:r>
                            <a:rPr lang="zh-CN" altLang="en-US" sz="2800" i="1">
                              <a:solidFill>
                                <a:srgbClr val="000000"/>
                              </a:solidFill>
                              <a:latin typeface="Cambria Math" panose="02040503050406030204" pitchFamily="18" charset="0"/>
                            </a:rPr>
                            <m:t>𝑘</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𝐾</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𝑤</m:t>
                          </m:r>
                        </m:e>
                        <m:sub>
                          <m:r>
                            <a:rPr lang="zh-CN" altLang="en-US" sz="2800" i="1">
                              <a:solidFill>
                                <a:srgbClr val="000000"/>
                              </a:solidFill>
                              <a:latin typeface="Cambria Math" panose="02040503050406030204" pitchFamily="18" charset="0"/>
                            </a:rPr>
                            <m:t>𝐾</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m:t>
                      </m:r>
                      <m:r>
                        <a:rPr lang="en-US" altLang="zh-CN" sz="2800" b="0" i="1" smtClean="0">
                          <a:solidFill>
                            <a:srgbClr val="000000"/>
                          </a:solidFill>
                          <a:latin typeface="Cambria Math" panose="02040503050406030204" pitchFamily="18" charset="0"/>
                        </a:rPr>
                        <m:t>)</m:t>
                      </m:r>
                    </m:oMath>
                  </m:oMathPara>
                </a14:m>
                <a:endParaRPr lang="zh-CN" altLang="en-US" sz="1100" dirty="0"/>
              </a:p>
            </p:txBody>
          </p:sp>
        </mc:Choice>
        <mc:Fallback xmlns="">
          <p:sp>
            <p:nvSpPr>
              <p:cNvPr id="12" name="Object 12">
                <a:extLst>
                  <a:ext uri="{FF2B5EF4-FFF2-40B4-BE49-F238E27FC236}">
                    <a16:creationId xmlns:a16="http://schemas.microsoft.com/office/drawing/2014/main" id="{2B46AB9F-AA5F-4990-A826-6D0ED83CFAE1}"/>
                  </a:ext>
                </a:extLst>
              </p:cNvPr>
              <p:cNvSpPr txBox="1">
                <a:spLocks noRot="1" noChangeAspect="1" noMove="1" noResize="1" noEditPoints="1" noAdjustHandles="1" noChangeArrowheads="1" noChangeShapeType="1" noTextEdit="1"/>
              </p:cNvSpPr>
              <p:nvPr/>
            </p:nvSpPr>
            <p:spPr bwMode="auto">
              <a:xfrm>
                <a:off x="2688955" y="2014025"/>
                <a:ext cx="7288643" cy="860726"/>
              </a:xfrm>
              <a:prstGeom prst="rect">
                <a:avLst/>
              </a:prstGeom>
              <a:blipFill>
                <a:blip r:embed="rId3"/>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CD78BA02-227E-4729-9FFF-E02776A78D1D}"/>
              </a:ext>
            </a:extLst>
          </p:cNvPr>
          <p:cNvSpPr/>
          <p:nvPr/>
        </p:nvSpPr>
        <p:spPr>
          <a:xfrm>
            <a:off x="4230329" y="2985357"/>
            <a:ext cx="622890" cy="266757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4" name="直線單箭頭接點 35">
            <a:extLst>
              <a:ext uri="{FF2B5EF4-FFF2-40B4-BE49-F238E27FC236}">
                <a16:creationId xmlns:a16="http://schemas.microsoft.com/office/drawing/2014/main" id="{D6B79BF8-837F-4D1D-A488-B630180E9722}"/>
              </a:ext>
            </a:extLst>
          </p:cNvPr>
          <p:cNvCxnSpPr/>
          <p:nvPr/>
        </p:nvCxnSpPr>
        <p:spPr>
          <a:xfrm flipV="1">
            <a:off x="7816564" y="4488343"/>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1902C3E0-92CE-440C-9FBB-07E2F2895E52}"/>
              </a:ext>
            </a:extLst>
          </p:cNvPr>
          <p:cNvSpPr/>
          <p:nvPr/>
        </p:nvSpPr>
        <p:spPr>
          <a:xfrm>
            <a:off x="5891218" y="5509961"/>
            <a:ext cx="596697" cy="58427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6" name="矩形 15">
            <a:extLst>
              <a:ext uri="{FF2B5EF4-FFF2-40B4-BE49-F238E27FC236}">
                <a16:creationId xmlns:a16="http://schemas.microsoft.com/office/drawing/2014/main" id="{8ED8F7FC-ECA2-4680-9EB0-ACD501336108}"/>
              </a:ext>
            </a:extLst>
          </p:cNvPr>
          <p:cNvSpPr/>
          <p:nvPr/>
        </p:nvSpPr>
        <p:spPr>
          <a:xfrm>
            <a:off x="3216924" y="2897489"/>
            <a:ext cx="596697" cy="31839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7" name="直線單箭頭接點 5">
            <a:extLst>
              <a:ext uri="{FF2B5EF4-FFF2-40B4-BE49-F238E27FC236}">
                <a16:creationId xmlns:a16="http://schemas.microsoft.com/office/drawing/2014/main" id="{6D688F74-0DEA-45B4-98B9-D3C6F450D86D}"/>
              </a:ext>
            </a:extLst>
          </p:cNvPr>
          <p:cNvCxnSpPr/>
          <p:nvPr/>
        </p:nvCxnSpPr>
        <p:spPr>
          <a:xfrm flipV="1">
            <a:off x="3806001" y="4498788"/>
            <a:ext cx="2145559" cy="125331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橢圓 6">
            <a:extLst>
              <a:ext uri="{FF2B5EF4-FFF2-40B4-BE49-F238E27FC236}">
                <a16:creationId xmlns:a16="http://schemas.microsoft.com/office/drawing/2014/main" id="{49B42601-60DF-48EB-A8C5-AB94471CD43B}"/>
              </a:ext>
            </a:extLst>
          </p:cNvPr>
          <p:cNvSpPr/>
          <p:nvPr/>
        </p:nvSpPr>
        <p:spPr>
          <a:xfrm>
            <a:off x="7106132" y="3989882"/>
            <a:ext cx="941612" cy="9416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0" name="Object 12">
                <a:extLst>
                  <a:ext uri="{FF2B5EF4-FFF2-40B4-BE49-F238E27FC236}">
                    <a16:creationId xmlns:a16="http://schemas.microsoft.com/office/drawing/2014/main" id="{246F1D7E-3EAC-4E19-9982-F54AAF9A0921}"/>
                  </a:ext>
                </a:extLst>
              </p:cNvPr>
              <p:cNvSpPr txBox="1"/>
              <p:nvPr/>
            </p:nvSpPr>
            <p:spPr bwMode="auto">
              <a:xfrm>
                <a:off x="6635198" y="4101309"/>
                <a:ext cx="352425" cy="350837"/>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𝑧</m:t>
                      </m:r>
                    </m:oMath>
                  </m:oMathPara>
                </a14:m>
                <a:endParaRPr lang="zh-CN" altLang="en-US"/>
              </a:p>
            </p:txBody>
          </p:sp>
        </mc:Choice>
        <mc:Fallback xmlns="">
          <p:sp>
            <p:nvSpPr>
              <p:cNvPr id="20" name="Object 12">
                <a:extLst>
                  <a:ext uri="{FF2B5EF4-FFF2-40B4-BE49-F238E27FC236}">
                    <a16:creationId xmlns:a16="http://schemas.microsoft.com/office/drawing/2014/main" id="{246F1D7E-3EAC-4E19-9982-F54AAF9A0921}"/>
                  </a:ext>
                </a:extLst>
              </p:cNvPr>
              <p:cNvSpPr txBox="1">
                <a:spLocks noRot="1" noChangeAspect="1" noMove="1" noResize="1" noEditPoints="1" noAdjustHandles="1" noChangeArrowheads="1" noChangeShapeType="1" noTextEdit="1"/>
              </p:cNvSpPr>
              <p:nvPr/>
            </p:nvSpPr>
            <p:spPr bwMode="auto">
              <a:xfrm>
                <a:off x="6635198" y="4101309"/>
                <a:ext cx="352425" cy="35083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12">
                <a:extLst>
                  <a:ext uri="{FF2B5EF4-FFF2-40B4-BE49-F238E27FC236}">
                    <a16:creationId xmlns:a16="http://schemas.microsoft.com/office/drawing/2014/main" id="{BEAFFA71-3752-4211-9DCD-F37E599AEA1C}"/>
                  </a:ext>
                </a:extLst>
              </p:cNvPr>
              <p:cNvSpPr txBox="1"/>
              <p:nvPr/>
            </p:nvSpPr>
            <p:spPr bwMode="auto">
              <a:xfrm>
                <a:off x="4259700" y="3006086"/>
                <a:ext cx="493713" cy="59531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𝑤</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21" name="Object 12">
                <a:extLst>
                  <a:ext uri="{FF2B5EF4-FFF2-40B4-BE49-F238E27FC236}">
                    <a16:creationId xmlns:a16="http://schemas.microsoft.com/office/drawing/2014/main" id="{BEAFFA71-3752-4211-9DCD-F37E599AEA1C}"/>
                  </a:ext>
                </a:extLst>
              </p:cNvPr>
              <p:cNvSpPr txBox="1">
                <a:spLocks noRot="1" noChangeAspect="1" noMove="1" noResize="1" noEditPoints="1" noAdjustHandles="1" noChangeArrowheads="1" noChangeShapeType="1" noTextEdit="1"/>
              </p:cNvSpPr>
              <p:nvPr/>
            </p:nvSpPr>
            <p:spPr bwMode="auto">
              <a:xfrm>
                <a:off x="4259700" y="3006086"/>
                <a:ext cx="493713" cy="59531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12">
                <a:extLst>
                  <a:ext uri="{FF2B5EF4-FFF2-40B4-BE49-F238E27FC236}">
                    <a16:creationId xmlns:a16="http://schemas.microsoft.com/office/drawing/2014/main" id="{B507D8C8-0C8A-45FB-B8CF-A4A4ABB9C140}"/>
                  </a:ext>
                </a:extLst>
              </p:cNvPr>
              <p:cNvSpPr txBox="1"/>
              <p:nvPr/>
            </p:nvSpPr>
            <p:spPr bwMode="auto">
              <a:xfrm>
                <a:off x="4265123" y="3915029"/>
                <a:ext cx="563562" cy="6302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𝑤</m:t>
                          </m:r>
                        </m:e>
                        <m:sub>
                          <m:r>
                            <a:rPr lang="zh-CN" altLang="en-US" i="1">
                              <a:solidFill>
                                <a:srgbClr val="000000"/>
                              </a:solidFill>
                              <a:latin typeface="Cambria Math" panose="02040503050406030204" pitchFamily="18" charset="0"/>
                            </a:rPr>
                            <m:t>𝑘</m:t>
                          </m:r>
                        </m:sub>
                      </m:sSub>
                    </m:oMath>
                  </m:oMathPara>
                </a14:m>
                <a:endParaRPr lang="zh-CN" altLang="en-US"/>
              </a:p>
            </p:txBody>
          </p:sp>
        </mc:Choice>
        <mc:Fallback xmlns="">
          <p:sp>
            <p:nvSpPr>
              <p:cNvPr id="25" name="Object 12">
                <a:extLst>
                  <a:ext uri="{FF2B5EF4-FFF2-40B4-BE49-F238E27FC236}">
                    <a16:creationId xmlns:a16="http://schemas.microsoft.com/office/drawing/2014/main" id="{B507D8C8-0C8A-45FB-B8CF-A4A4ABB9C140}"/>
                  </a:ext>
                </a:extLst>
              </p:cNvPr>
              <p:cNvSpPr txBox="1">
                <a:spLocks noRot="1" noChangeAspect="1" noMove="1" noResize="1" noEditPoints="1" noAdjustHandles="1" noChangeArrowheads="1" noChangeShapeType="1" noTextEdit="1"/>
              </p:cNvSpPr>
              <p:nvPr/>
            </p:nvSpPr>
            <p:spPr bwMode="auto">
              <a:xfrm>
                <a:off x="4265123" y="3915029"/>
                <a:ext cx="563562" cy="63023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12">
                <a:extLst>
                  <a:ext uri="{FF2B5EF4-FFF2-40B4-BE49-F238E27FC236}">
                    <a16:creationId xmlns:a16="http://schemas.microsoft.com/office/drawing/2014/main" id="{EDB9B337-E26E-4BB1-AECB-B82786B986E3}"/>
                  </a:ext>
                </a:extLst>
              </p:cNvPr>
              <p:cNvSpPr txBox="1"/>
              <p:nvPr/>
            </p:nvSpPr>
            <p:spPr bwMode="auto">
              <a:xfrm>
                <a:off x="4280293" y="4967780"/>
                <a:ext cx="598487" cy="5953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𝑤</m:t>
                          </m:r>
                        </m:e>
                        <m:sub>
                          <m:r>
                            <m:rPr>
                              <m:sty m:val="p"/>
                            </m:rPr>
                            <a:rPr lang="zh-CN" altLang="en-US" i="0">
                              <a:solidFill>
                                <a:srgbClr val="000000"/>
                              </a:solidFill>
                              <a:latin typeface="Cambria Math" panose="02040503050406030204" pitchFamily="18" charset="0"/>
                            </a:rPr>
                            <m:t>K</m:t>
                          </m:r>
                        </m:sub>
                      </m:sSub>
                    </m:oMath>
                  </m:oMathPara>
                </a14:m>
                <a:endParaRPr lang="zh-CN" altLang="en-US"/>
              </a:p>
            </p:txBody>
          </p:sp>
        </mc:Choice>
        <mc:Fallback xmlns="">
          <p:sp>
            <p:nvSpPr>
              <p:cNvPr id="30" name="Object 12">
                <a:extLst>
                  <a:ext uri="{FF2B5EF4-FFF2-40B4-BE49-F238E27FC236}">
                    <a16:creationId xmlns:a16="http://schemas.microsoft.com/office/drawing/2014/main" id="{EDB9B337-E26E-4BB1-AECB-B82786B986E3}"/>
                  </a:ext>
                </a:extLst>
              </p:cNvPr>
              <p:cNvSpPr txBox="1">
                <a:spLocks noRot="1" noChangeAspect="1" noMove="1" noResize="1" noEditPoints="1" noAdjustHandles="1" noChangeArrowheads="1" noChangeShapeType="1" noTextEdit="1"/>
              </p:cNvSpPr>
              <p:nvPr/>
            </p:nvSpPr>
            <p:spPr bwMode="auto">
              <a:xfrm>
                <a:off x="4280293" y="4967780"/>
                <a:ext cx="598487" cy="595312"/>
              </a:xfrm>
              <a:prstGeom prst="rect">
                <a:avLst/>
              </a:prstGeom>
              <a:blipFill>
                <a:blip r:embed="rId7"/>
                <a:stretch>
                  <a:fillRect/>
                </a:stretch>
              </a:blipFill>
            </p:spPr>
            <p:txBody>
              <a:bodyPr/>
              <a:lstStyle/>
              <a:p>
                <a:r>
                  <a:rPr lang="zh-CN" altLang="en-US">
                    <a:noFill/>
                  </a:rPr>
                  <a:t> </a:t>
                </a:r>
              </a:p>
            </p:txBody>
          </p:sp>
        </mc:Fallback>
      </mc:AlternateContent>
      <p:cxnSp>
        <p:nvCxnSpPr>
          <p:cNvPr id="31" name="直線單箭頭接點 11">
            <a:extLst>
              <a:ext uri="{FF2B5EF4-FFF2-40B4-BE49-F238E27FC236}">
                <a16:creationId xmlns:a16="http://schemas.microsoft.com/office/drawing/2014/main" id="{DB6D3A9E-C803-47C9-8925-21EFF8F834D3}"/>
              </a:ext>
            </a:extLst>
          </p:cNvPr>
          <p:cNvCxnSpPr/>
          <p:nvPr/>
        </p:nvCxnSpPr>
        <p:spPr>
          <a:xfrm flipV="1">
            <a:off x="6293074" y="4468186"/>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12">
            <a:extLst>
              <a:ext uri="{FF2B5EF4-FFF2-40B4-BE49-F238E27FC236}">
                <a16:creationId xmlns:a16="http://schemas.microsoft.com/office/drawing/2014/main" id="{BC924C82-F52E-4072-AF10-335E15EF9DA0}"/>
              </a:ext>
            </a:extLst>
          </p:cNvPr>
          <p:cNvCxnSpPr>
            <a:stCxn id="16" idx="3"/>
          </p:cNvCxnSpPr>
          <p:nvPr/>
        </p:nvCxnSpPr>
        <p:spPr>
          <a:xfrm>
            <a:off x="3813621" y="4489459"/>
            <a:ext cx="2137939" cy="93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13">
            <a:extLst>
              <a:ext uri="{FF2B5EF4-FFF2-40B4-BE49-F238E27FC236}">
                <a16:creationId xmlns:a16="http://schemas.microsoft.com/office/drawing/2014/main" id="{2945F83F-C823-43CC-A5C5-9A3516DDA7E7}"/>
              </a:ext>
            </a:extLst>
          </p:cNvPr>
          <p:cNvCxnSpPr/>
          <p:nvPr/>
        </p:nvCxnSpPr>
        <p:spPr>
          <a:xfrm>
            <a:off x="3813621" y="3213256"/>
            <a:ext cx="2137939" cy="1285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14">
            <a:extLst>
              <a:ext uri="{FF2B5EF4-FFF2-40B4-BE49-F238E27FC236}">
                <a16:creationId xmlns:a16="http://schemas.microsoft.com/office/drawing/2014/main" id="{A5315990-86C1-4346-A5B1-6575D15E0035}"/>
              </a:ext>
            </a:extLst>
          </p:cNvPr>
          <p:cNvSpPr txBox="1"/>
          <p:nvPr/>
        </p:nvSpPr>
        <p:spPr>
          <a:xfrm rot="5400000">
            <a:off x="3209726" y="4877923"/>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35" name="Object 12">
                <a:extLst>
                  <a:ext uri="{FF2B5EF4-FFF2-40B4-BE49-F238E27FC236}">
                    <a16:creationId xmlns:a16="http://schemas.microsoft.com/office/drawing/2014/main" id="{7F3B40EC-CED4-47A4-B1D5-B8D9D30B92EE}"/>
                  </a:ext>
                </a:extLst>
              </p:cNvPr>
              <p:cNvSpPr txBox="1"/>
              <p:nvPr/>
            </p:nvSpPr>
            <p:spPr bwMode="auto">
              <a:xfrm>
                <a:off x="3298670" y="2854713"/>
                <a:ext cx="495300" cy="6302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35" name="Object 12">
                <a:extLst>
                  <a:ext uri="{FF2B5EF4-FFF2-40B4-BE49-F238E27FC236}">
                    <a16:creationId xmlns:a16="http://schemas.microsoft.com/office/drawing/2014/main" id="{7F3B40EC-CED4-47A4-B1D5-B8D9D30B92EE}"/>
                  </a:ext>
                </a:extLst>
              </p:cNvPr>
              <p:cNvSpPr txBox="1">
                <a:spLocks noRot="1" noChangeAspect="1" noMove="1" noResize="1" noEditPoints="1" noAdjustHandles="1" noChangeArrowheads="1" noChangeShapeType="1" noTextEdit="1"/>
              </p:cNvSpPr>
              <p:nvPr/>
            </p:nvSpPr>
            <p:spPr bwMode="auto">
              <a:xfrm>
                <a:off x="3298670" y="2854713"/>
                <a:ext cx="495300" cy="63023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12">
                <a:extLst>
                  <a:ext uri="{FF2B5EF4-FFF2-40B4-BE49-F238E27FC236}">
                    <a16:creationId xmlns:a16="http://schemas.microsoft.com/office/drawing/2014/main" id="{996BACFC-ED06-49B0-8858-F99D4AFF21E7}"/>
                  </a:ext>
                </a:extLst>
              </p:cNvPr>
              <p:cNvSpPr txBox="1"/>
              <p:nvPr/>
            </p:nvSpPr>
            <p:spPr bwMode="auto">
              <a:xfrm>
                <a:off x="3298670" y="4070331"/>
                <a:ext cx="495300" cy="66516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m:t>
                          </m:r>
                        </m:sub>
                      </m:sSub>
                    </m:oMath>
                  </m:oMathPara>
                </a14:m>
                <a:endParaRPr lang="zh-CN" altLang="en-US" dirty="0"/>
              </a:p>
            </p:txBody>
          </p:sp>
        </mc:Choice>
        <mc:Fallback xmlns="">
          <p:sp>
            <p:nvSpPr>
              <p:cNvPr id="36" name="Object 12">
                <a:extLst>
                  <a:ext uri="{FF2B5EF4-FFF2-40B4-BE49-F238E27FC236}">
                    <a16:creationId xmlns:a16="http://schemas.microsoft.com/office/drawing/2014/main" id="{996BACFC-ED06-49B0-8858-F99D4AFF21E7}"/>
                  </a:ext>
                </a:extLst>
              </p:cNvPr>
              <p:cNvSpPr txBox="1">
                <a:spLocks noRot="1" noChangeAspect="1" noMove="1" noResize="1" noEditPoints="1" noAdjustHandles="1" noChangeArrowheads="1" noChangeShapeType="1" noTextEdit="1"/>
              </p:cNvSpPr>
              <p:nvPr/>
            </p:nvSpPr>
            <p:spPr bwMode="auto">
              <a:xfrm>
                <a:off x="3298670" y="4070331"/>
                <a:ext cx="495300" cy="66516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Object 12">
                <a:extLst>
                  <a:ext uri="{FF2B5EF4-FFF2-40B4-BE49-F238E27FC236}">
                    <a16:creationId xmlns:a16="http://schemas.microsoft.com/office/drawing/2014/main" id="{FB9C6704-087F-4FD2-8666-D1A8B167E9C1}"/>
                  </a:ext>
                </a:extLst>
              </p:cNvPr>
              <p:cNvSpPr txBox="1"/>
              <p:nvPr/>
            </p:nvSpPr>
            <p:spPr bwMode="auto">
              <a:xfrm>
                <a:off x="3272601" y="5436988"/>
                <a:ext cx="533400" cy="6302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m:rPr>
                              <m:sty m:val="p"/>
                            </m:rPr>
                            <a:rPr lang="zh-CN" altLang="en-US" i="0">
                              <a:solidFill>
                                <a:srgbClr val="000000"/>
                              </a:solidFill>
                              <a:latin typeface="Cambria Math" panose="02040503050406030204" pitchFamily="18" charset="0"/>
                            </a:rPr>
                            <m:t>K</m:t>
                          </m:r>
                        </m:sub>
                      </m:sSub>
                    </m:oMath>
                  </m:oMathPara>
                </a14:m>
                <a:endParaRPr lang="zh-CN" altLang="en-US" dirty="0"/>
              </a:p>
            </p:txBody>
          </p:sp>
        </mc:Choice>
        <mc:Fallback xmlns="">
          <p:sp>
            <p:nvSpPr>
              <p:cNvPr id="37" name="Object 12">
                <a:extLst>
                  <a:ext uri="{FF2B5EF4-FFF2-40B4-BE49-F238E27FC236}">
                    <a16:creationId xmlns:a16="http://schemas.microsoft.com/office/drawing/2014/main" id="{FB9C6704-087F-4FD2-8666-D1A8B167E9C1}"/>
                  </a:ext>
                </a:extLst>
              </p:cNvPr>
              <p:cNvSpPr txBox="1">
                <a:spLocks noRot="1" noChangeAspect="1" noMove="1" noResize="1" noEditPoints="1" noAdjustHandles="1" noChangeArrowheads="1" noChangeShapeType="1" noTextEdit="1"/>
              </p:cNvSpPr>
              <p:nvPr/>
            </p:nvSpPr>
            <p:spPr bwMode="auto">
              <a:xfrm>
                <a:off x="3272601" y="5436988"/>
                <a:ext cx="533400" cy="630238"/>
              </a:xfrm>
              <a:prstGeom prst="rect">
                <a:avLst/>
              </a:prstGeom>
              <a:blipFill>
                <a:blip r:embed="rId10"/>
                <a:stretch>
                  <a:fillRect/>
                </a:stretch>
              </a:blipFill>
            </p:spPr>
            <p:txBody>
              <a:bodyPr/>
              <a:lstStyle/>
              <a:p>
                <a:r>
                  <a:rPr lang="zh-CN" altLang="en-US">
                    <a:noFill/>
                  </a:rPr>
                  <a:t> </a:t>
                </a:r>
              </a:p>
            </p:txBody>
          </p:sp>
        </mc:Fallback>
      </mc:AlternateContent>
      <p:grpSp>
        <p:nvGrpSpPr>
          <p:cNvPr id="38" name="群組 20">
            <a:extLst>
              <a:ext uri="{FF2B5EF4-FFF2-40B4-BE49-F238E27FC236}">
                <a16:creationId xmlns:a16="http://schemas.microsoft.com/office/drawing/2014/main" id="{99A96E68-0579-4E6E-9CCF-324D14901A2A}"/>
              </a:ext>
            </a:extLst>
          </p:cNvPr>
          <p:cNvGrpSpPr/>
          <p:nvPr/>
        </p:nvGrpSpPr>
        <p:grpSpPr>
          <a:xfrm>
            <a:off x="5951560" y="4238628"/>
            <a:ext cx="520319" cy="520319"/>
            <a:chOff x="3342651" y="3507082"/>
            <a:chExt cx="520319" cy="520319"/>
          </a:xfrm>
        </p:grpSpPr>
        <p:sp>
          <p:nvSpPr>
            <p:cNvPr id="39" name="矩形 38">
              <a:extLst>
                <a:ext uri="{FF2B5EF4-FFF2-40B4-BE49-F238E27FC236}">
                  <a16:creationId xmlns:a16="http://schemas.microsoft.com/office/drawing/2014/main" id="{BACDDBEF-98FD-40DE-87BC-5019AF6E8B2C}"/>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40" name="Object 12">
                  <a:extLst>
                    <a:ext uri="{FF2B5EF4-FFF2-40B4-BE49-F238E27FC236}">
                      <a16:creationId xmlns:a16="http://schemas.microsoft.com/office/drawing/2014/main" id="{F07E0F00-0A8D-41AC-9113-F72E037B42DE}"/>
                    </a:ext>
                  </a:extLst>
                </p:cNvPr>
                <p:cNvSpPr txBox="1"/>
                <p:nvPr/>
              </p:nvSpPr>
              <p:spPr bwMode="auto">
                <a:xfrm>
                  <a:off x="3435128" y="3545009"/>
                  <a:ext cx="385763" cy="3873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3" name="Object 12"/>
                <p:cNvSpPr txBox="1">
                  <a:spLocks noRot="1" noChangeAspect="1" noMove="1" noResize="1" noEditPoints="1" noAdjustHandles="1" noChangeArrowheads="1" noChangeShapeType="1" noTextEdit="1"/>
                </p:cNvSpPr>
                <p:nvPr/>
              </p:nvSpPr>
              <p:spPr bwMode="auto">
                <a:xfrm>
                  <a:off x="3435128" y="3545009"/>
                  <a:ext cx="385763" cy="387350"/>
                </a:xfrm>
                <a:prstGeom prst="rect">
                  <a:avLst/>
                </a:prstGeom>
                <a:blipFill rotWithShape="1">
                  <a:blip r:embed="rId11"/>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1" name="Object 12">
                <a:extLst>
                  <a:ext uri="{FF2B5EF4-FFF2-40B4-BE49-F238E27FC236}">
                    <a16:creationId xmlns:a16="http://schemas.microsoft.com/office/drawing/2014/main" id="{0759521E-3317-44E7-B808-38C31A1B116C}"/>
                  </a:ext>
                </a:extLst>
              </p:cNvPr>
              <p:cNvSpPr txBox="1"/>
              <p:nvPr/>
            </p:nvSpPr>
            <p:spPr bwMode="auto">
              <a:xfrm>
                <a:off x="6009256" y="5592479"/>
                <a:ext cx="354012" cy="4889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𝑏</m:t>
                      </m:r>
                    </m:oMath>
                  </m:oMathPara>
                </a14:m>
                <a:endParaRPr lang="zh-CN" altLang="en-US"/>
              </a:p>
            </p:txBody>
          </p:sp>
        </mc:Choice>
        <mc:Fallback xmlns="">
          <p:sp>
            <p:nvSpPr>
              <p:cNvPr id="41" name="Object 12">
                <a:extLst>
                  <a:ext uri="{FF2B5EF4-FFF2-40B4-BE49-F238E27FC236}">
                    <a16:creationId xmlns:a16="http://schemas.microsoft.com/office/drawing/2014/main" id="{0759521E-3317-44E7-B808-38C31A1B116C}"/>
                  </a:ext>
                </a:extLst>
              </p:cNvPr>
              <p:cNvSpPr txBox="1">
                <a:spLocks noRot="1" noChangeAspect="1" noMove="1" noResize="1" noEditPoints="1" noAdjustHandles="1" noChangeArrowheads="1" noChangeShapeType="1" noTextEdit="1"/>
              </p:cNvSpPr>
              <p:nvPr/>
            </p:nvSpPr>
            <p:spPr bwMode="auto">
              <a:xfrm>
                <a:off x="6009256" y="5592479"/>
                <a:ext cx="354012" cy="488950"/>
              </a:xfrm>
              <a:prstGeom prst="rect">
                <a:avLst/>
              </a:prstGeom>
              <a:blipFill>
                <a:blip r:embed="rId12"/>
                <a:stretch>
                  <a:fillRect/>
                </a:stretch>
              </a:blipFill>
            </p:spPr>
            <p:txBody>
              <a:bodyPr/>
              <a:lstStyle/>
              <a:p>
                <a:r>
                  <a:rPr lang="zh-CN" altLang="en-US">
                    <a:noFill/>
                  </a:rPr>
                  <a:t> </a:t>
                </a:r>
              </a:p>
            </p:txBody>
          </p:sp>
        </mc:Fallback>
      </mc:AlternateContent>
      <p:cxnSp>
        <p:nvCxnSpPr>
          <p:cNvPr id="42" name="直線單箭頭接點 24">
            <a:extLst>
              <a:ext uri="{FF2B5EF4-FFF2-40B4-BE49-F238E27FC236}">
                <a16:creationId xmlns:a16="http://schemas.microsoft.com/office/drawing/2014/main" id="{D733AE0D-CFD0-45C1-8B48-FCF5CBAC2532}"/>
              </a:ext>
            </a:extLst>
          </p:cNvPr>
          <p:cNvCxnSpPr/>
          <p:nvPr/>
        </p:nvCxnSpPr>
        <p:spPr>
          <a:xfrm flipV="1">
            <a:off x="6202767" y="4769391"/>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bject 12">
                <a:extLst>
                  <a:ext uri="{FF2B5EF4-FFF2-40B4-BE49-F238E27FC236}">
                    <a16:creationId xmlns:a16="http://schemas.microsoft.com/office/drawing/2014/main" id="{9740E35F-9AC2-4FFB-8FA6-843C17DC2487}"/>
                  </a:ext>
                </a:extLst>
              </p:cNvPr>
              <p:cNvSpPr txBox="1"/>
              <p:nvPr/>
            </p:nvSpPr>
            <p:spPr bwMode="auto">
              <a:xfrm>
                <a:off x="7221855" y="4238625"/>
                <a:ext cx="710565" cy="47879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𝜎</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𝑧</m:t>
                          </m:r>
                        </m:e>
                      </m:d>
                    </m:oMath>
                  </m:oMathPara>
                </a14:m>
                <a:endParaRPr lang="zh-CN" altLang="en-US"/>
              </a:p>
            </p:txBody>
          </p:sp>
        </mc:Choice>
        <mc:Fallback xmlns="">
          <p:sp>
            <p:nvSpPr>
              <p:cNvPr id="43" name="Object 12">
                <a:extLst>
                  <a:ext uri="{FF2B5EF4-FFF2-40B4-BE49-F238E27FC236}">
                    <a16:creationId xmlns:a16="http://schemas.microsoft.com/office/drawing/2014/main" id="{9740E35F-9AC2-4FFB-8FA6-843C17DC2487}"/>
                  </a:ext>
                </a:extLst>
              </p:cNvPr>
              <p:cNvSpPr txBox="1">
                <a:spLocks noRot="1" noChangeAspect="1" noMove="1" noResize="1" noEditPoints="1" noAdjustHandles="1" noChangeArrowheads="1" noChangeShapeType="1" noTextEdit="1"/>
              </p:cNvSpPr>
              <p:nvPr/>
            </p:nvSpPr>
            <p:spPr bwMode="auto">
              <a:xfrm>
                <a:off x="7221855" y="4238625"/>
                <a:ext cx="710565" cy="478790"/>
              </a:xfrm>
              <a:prstGeom prst="rect">
                <a:avLst/>
              </a:prstGeom>
              <a:blipFill>
                <a:blip r:embed="rId13"/>
                <a:stretch>
                  <a:fillRect/>
                </a:stretch>
              </a:blipFill>
            </p:spPr>
            <p:txBody>
              <a:bodyPr/>
              <a:lstStyle/>
              <a:p>
                <a:r>
                  <a:rPr lang="zh-CN" altLang="en-US">
                    <a:noFill/>
                  </a:rPr>
                  <a:t> </a:t>
                </a:r>
              </a:p>
            </p:txBody>
          </p:sp>
        </mc:Fallback>
      </mc:AlternateContent>
      <p:sp>
        <p:nvSpPr>
          <p:cNvPr id="44" name="文字方塊 33">
            <a:extLst>
              <a:ext uri="{FF2B5EF4-FFF2-40B4-BE49-F238E27FC236}">
                <a16:creationId xmlns:a16="http://schemas.microsoft.com/office/drawing/2014/main" id="{5A5C7362-4B90-4B44-BBB1-575213BA1AC4}"/>
              </a:ext>
            </a:extLst>
          </p:cNvPr>
          <p:cNvSpPr txBox="1"/>
          <p:nvPr/>
        </p:nvSpPr>
        <p:spPr>
          <a:xfrm>
            <a:off x="6456540" y="5652934"/>
            <a:ext cx="798022"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bias</a:t>
            </a:r>
            <a:endParaRPr lang="zh-TW" altLang="en-US" sz="2400" dirty="0">
              <a:solidFill>
                <a:srgbClr val="0000FF"/>
              </a:solidFill>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45" name="Object 12">
                <a:extLst>
                  <a:ext uri="{FF2B5EF4-FFF2-40B4-BE49-F238E27FC236}">
                    <a16:creationId xmlns:a16="http://schemas.microsoft.com/office/drawing/2014/main" id="{71F8BD59-E890-4BC2-A995-5033B0B33BA9}"/>
                  </a:ext>
                </a:extLst>
              </p:cNvPr>
              <p:cNvSpPr txBox="1"/>
              <p:nvPr/>
            </p:nvSpPr>
            <p:spPr bwMode="auto">
              <a:xfrm>
                <a:off x="8683081" y="4279060"/>
                <a:ext cx="352425" cy="38576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𝑦</m:t>
                      </m:r>
                    </m:oMath>
                  </m:oMathPara>
                </a14:m>
                <a:endParaRPr lang="zh-CN" altLang="en-US" dirty="0"/>
              </a:p>
            </p:txBody>
          </p:sp>
        </mc:Choice>
        <mc:Fallback xmlns="">
          <p:sp>
            <p:nvSpPr>
              <p:cNvPr id="45" name="Object 12">
                <a:extLst>
                  <a:ext uri="{FF2B5EF4-FFF2-40B4-BE49-F238E27FC236}">
                    <a16:creationId xmlns:a16="http://schemas.microsoft.com/office/drawing/2014/main" id="{71F8BD59-E890-4BC2-A995-5033B0B33BA9}"/>
                  </a:ext>
                </a:extLst>
              </p:cNvPr>
              <p:cNvSpPr txBox="1">
                <a:spLocks noRot="1" noChangeAspect="1" noMove="1" noResize="1" noEditPoints="1" noAdjustHandles="1" noChangeArrowheads="1" noChangeShapeType="1" noTextEdit="1"/>
              </p:cNvSpPr>
              <p:nvPr/>
            </p:nvSpPr>
            <p:spPr bwMode="auto">
              <a:xfrm>
                <a:off x="8683081" y="4279060"/>
                <a:ext cx="352425" cy="385763"/>
              </a:xfrm>
              <a:prstGeom prst="rect">
                <a:avLst/>
              </a:prstGeom>
              <a:blipFill>
                <a:blip r:embed="rId14"/>
                <a:stretch>
                  <a:fillRect b="-1587"/>
                </a:stretch>
              </a:blipFill>
            </p:spPr>
            <p:txBody>
              <a:bodyPr/>
              <a:lstStyle/>
              <a:p>
                <a:r>
                  <a:rPr lang="zh-CN" altLang="en-US">
                    <a:noFill/>
                  </a:rPr>
                  <a:t> </a:t>
                </a:r>
              </a:p>
            </p:txBody>
          </p:sp>
        </mc:Fallback>
      </mc:AlternateContent>
      <p:sp>
        <p:nvSpPr>
          <p:cNvPr id="46" name="文字方塊 38">
            <a:extLst>
              <a:ext uri="{FF2B5EF4-FFF2-40B4-BE49-F238E27FC236}">
                <a16:creationId xmlns:a16="http://schemas.microsoft.com/office/drawing/2014/main" id="{40DFC31D-02AE-4E70-9350-32852FBEE602}"/>
              </a:ext>
            </a:extLst>
          </p:cNvPr>
          <p:cNvSpPr txBox="1"/>
          <p:nvPr/>
        </p:nvSpPr>
        <p:spPr>
          <a:xfrm>
            <a:off x="3986250" y="5652934"/>
            <a:ext cx="1186572"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weights</a:t>
            </a:r>
            <a:endParaRPr lang="zh-TW" altLang="en-US" sz="2400" dirty="0">
              <a:solidFill>
                <a:srgbClr val="0000FF"/>
              </a:solidFill>
              <a:latin typeface="Times New Roman" panose="02020603050405020304" charset="0"/>
              <a:cs typeface="Times New Roman" panose="02020603050405020304" charset="0"/>
            </a:endParaRPr>
          </a:p>
        </p:txBody>
      </p:sp>
      <p:sp>
        <p:nvSpPr>
          <p:cNvPr id="47" name="文字方塊 40">
            <a:extLst>
              <a:ext uri="{FF2B5EF4-FFF2-40B4-BE49-F238E27FC236}">
                <a16:creationId xmlns:a16="http://schemas.microsoft.com/office/drawing/2014/main" id="{5B7268F0-FB7F-4048-8AF0-AFE6326503DB}"/>
              </a:ext>
            </a:extLst>
          </p:cNvPr>
          <p:cNvSpPr txBox="1"/>
          <p:nvPr/>
        </p:nvSpPr>
        <p:spPr>
          <a:xfrm rot="5400000">
            <a:off x="3202925" y="3553019"/>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48" name="文字方塊 41">
            <a:extLst>
              <a:ext uri="{FF2B5EF4-FFF2-40B4-BE49-F238E27FC236}">
                <a16:creationId xmlns:a16="http://schemas.microsoft.com/office/drawing/2014/main" id="{A535AB4B-D90C-46C6-B66E-58202A4F6E24}"/>
              </a:ext>
            </a:extLst>
          </p:cNvPr>
          <p:cNvSpPr txBox="1"/>
          <p:nvPr/>
        </p:nvSpPr>
        <p:spPr>
          <a:xfrm rot="5400000">
            <a:off x="4235828" y="4611362"/>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49" name="文字方塊 42">
            <a:extLst>
              <a:ext uri="{FF2B5EF4-FFF2-40B4-BE49-F238E27FC236}">
                <a16:creationId xmlns:a16="http://schemas.microsoft.com/office/drawing/2014/main" id="{43530F34-98C0-4E3B-85D0-B87CD66CD8D1}"/>
              </a:ext>
            </a:extLst>
          </p:cNvPr>
          <p:cNvSpPr txBox="1"/>
          <p:nvPr/>
        </p:nvSpPr>
        <p:spPr>
          <a:xfrm rot="5400000">
            <a:off x="4228303" y="3635313"/>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50" name="文字方塊 43">
            <a:extLst>
              <a:ext uri="{FF2B5EF4-FFF2-40B4-BE49-F238E27FC236}">
                <a16:creationId xmlns:a16="http://schemas.microsoft.com/office/drawing/2014/main" id="{9D3E249C-F9F6-44BB-AEAF-0A4869EBC084}"/>
              </a:ext>
            </a:extLst>
          </p:cNvPr>
          <p:cNvSpPr txBox="1"/>
          <p:nvPr/>
        </p:nvSpPr>
        <p:spPr>
          <a:xfrm>
            <a:off x="6629484" y="4875848"/>
            <a:ext cx="1894780" cy="830997"/>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Activation function</a:t>
            </a:r>
            <a:endParaRPr lang="zh-TW" altLang="en-US" sz="2400" dirty="0">
              <a:solidFill>
                <a:srgbClr val="0000FF"/>
              </a:solidFill>
              <a:latin typeface="Times New Roman" panose="02020603050405020304" charset="0"/>
              <a:cs typeface="Times New Roman" panose="02020603050405020304" charset="0"/>
            </a:endParaRPr>
          </a:p>
        </p:txBody>
      </p:sp>
      <p:sp>
        <p:nvSpPr>
          <p:cNvPr id="51" name="矩形 50">
            <a:extLst>
              <a:ext uri="{FF2B5EF4-FFF2-40B4-BE49-F238E27FC236}">
                <a16:creationId xmlns:a16="http://schemas.microsoft.com/office/drawing/2014/main" id="{7AC298CB-5104-472C-88F9-159FBE939963}"/>
              </a:ext>
            </a:extLst>
          </p:cNvPr>
          <p:cNvSpPr/>
          <p:nvPr/>
        </p:nvSpPr>
        <p:spPr>
          <a:xfrm>
            <a:off x="6928590" y="3601720"/>
            <a:ext cx="1332003" cy="2105660"/>
          </a:xfrm>
          <a:prstGeom prst="rect">
            <a:avLst/>
          </a:prstGeom>
          <a:noFill/>
          <a:ln w="28575">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D4ACEDDF-8316-4626-94CC-0BF99EDF3F20}"/>
              </a:ext>
            </a:extLst>
          </p:cNvPr>
          <p:cNvSpPr/>
          <p:nvPr/>
        </p:nvSpPr>
        <p:spPr>
          <a:xfrm>
            <a:off x="1204253" y="1265414"/>
            <a:ext cx="7626575" cy="584775"/>
          </a:xfrm>
          <a:prstGeom prst="rect">
            <a:avLst/>
          </a:prstGeom>
        </p:spPr>
        <p:txBody>
          <a:bodyPr wrap="none">
            <a:spAutoFit/>
          </a:bodyPr>
          <a:lstStyle/>
          <a:p>
            <a:r>
              <a:rPr lang="en-US" altLang="zh-TW" sz="3200" b="1" i="1" u="sng" dirty="0">
                <a:latin typeface="Times New Roman" panose="02020603050405020304" charset="0"/>
                <a:cs typeface="Times New Roman" panose="02020603050405020304" charset="0"/>
              </a:rPr>
              <a:t>Linear Regression with Activation Function</a:t>
            </a:r>
            <a:endParaRPr lang="zh-TW" altLang="en-US" sz="3200" b="1" i="1" u="sng"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170767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11</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p:cxnSp>
        <p:nvCxnSpPr>
          <p:cNvPr id="54" name="直線單箭頭接點 35">
            <a:extLst>
              <a:ext uri="{FF2B5EF4-FFF2-40B4-BE49-F238E27FC236}">
                <a16:creationId xmlns:a16="http://schemas.microsoft.com/office/drawing/2014/main" id="{8DCFF374-0DFA-4366-A9AE-AA1BC0CA4195}"/>
              </a:ext>
            </a:extLst>
          </p:cNvPr>
          <p:cNvCxnSpPr/>
          <p:nvPr/>
        </p:nvCxnSpPr>
        <p:spPr>
          <a:xfrm flipV="1">
            <a:off x="6835080" y="4184563"/>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CA292517-C31A-41EE-A6AE-ED3EBB08756D}"/>
              </a:ext>
            </a:extLst>
          </p:cNvPr>
          <p:cNvSpPr/>
          <p:nvPr/>
        </p:nvSpPr>
        <p:spPr>
          <a:xfrm>
            <a:off x="4909734" y="5206181"/>
            <a:ext cx="596697" cy="58427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56" name="直線單箭頭接點 5">
            <a:extLst>
              <a:ext uri="{FF2B5EF4-FFF2-40B4-BE49-F238E27FC236}">
                <a16:creationId xmlns:a16="http://schemas.microsoft.com/office/drawing/2014/main" id="{3A63FD6E-F578-476A-935C-D5651E940035}"/>
              </a:ext>
            </a:extLst>
          </p:cNvPr>
          <p:cNvCxnSpPr>
            <a:endCxn id="62" idx="1"/>
          </p:cNvCxnSpPr>
          <p:nvPr/>
        </p:nvCxnSpPr>
        <p:spPr>
          <a:xfrm flipV="1">
            <a:off x="2824517" y="4195008"/>
            <a:ext cx="2145559" cy="125331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橢圓 6">
            <a:extLst>
              <a:ext uri="{FF2B5EF4-FFF2-40B4-BE49-F238E27FC236}">
                <a16:creationId xmlns:a16="http://schemas.microsoft.com/office/drawing/2014/main" id="{4CD76EB3-5087-438D-92CC-7C490D6C4B03}"/>
              </a:ext>
            </a:extLst>
          </p:cNvPr>
          <p:cNvSpPr/>
          <p:nvPr/>
        </p:nvSpPr>
        <p:spPr>
          <a:xfrm>
            <a:off x="6124648" y="3686102"/>
            <a:ext cx="941612" cy="9416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dirty="0">
              <a:latin typeface="Times New Roman" panose="02020603050405020304" charset="0"/>
              <a:cs typeface="Times New Roman" panose="02020603050405020304" charset="0"/>
            </a:endParaRPr>
          </a:p>
        </p:txBody>
      </p:sp>
      <p:cxnSp>
        <p:nvCxnSpPr>
          <p:cNvPr id="58" name="直線單箭頭接點 11">
            <a:extLst>
              <a:ext uri="{FF2B5EF4-FFF2-40B4-BE49-F238E27FC236}">
                <a16:creationId xmlns:a16="http://schemas.microsoft.com/office/drawing/2014/main" id="{86E9B16D-3692-483D-A13D-BB50E04CF3AD}"/>
              </a:ext>
            </a:extLst>
          </p:cNvPr>
          <p:cNvCxnSpPr/>
          <p:nvPr/>
        </p:nvCxnSpPr>
        <p:spPr>
          <a:xfrm flipV="1">
            <a:off x="5311590" y="4164406"/>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12">
            <a:extLst>
              <a:ext uri="{FF2B5EF4-FFF2-40B4-BE49-F238E27FC236}">
                <a16:creationId xmlns:a16="http://schemas.microsoft.com/office/drawing/2014/main" id="{A2BE0B08-9053-445F-B6CC-CC014AC4F075}"/>
              </a:ext>
            </a:extLst>
          </p:cNvPr>
          <p:cNvCxnSpPr>
            <a:endCxn id="62" idx="1"/>
          </p:cNvCxnSpPr>
          <p:nvPr/>
        </p:nvCxnSpPr>
        <p:spPr>
          <a:xfrm>
            <a:off x="2832137" y="4185679"/>
            <a:ext cx="2137939" cy="93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13">
            <a:extLst>
              <a:ext uri="{FF2B5EF4-FFF2-40B4-BE49-F238E27FC236}">
                <a16:creationId xmlns:a16="http://schemas.microsoft.com/office/drawing/2014/main" id="{45B01986-ABAE-4254-AD0B-13FA39FFD157}"/>
              </a:ext>
            </a:extLst>
          </p:cNvPr>
          <p:cNvCxnSpPr>
            <a:endCxn id="62" idx="1"/>
          </p:cNvCxnSpPr>
          <p:nvPr/>
        </p:nvCxnSpPr>
        <p:spPr>
          <a:xfrm>
            <a:off x="2832137" y="2909476"/>
            <a:ext cx="2137939" cy="1285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群組 20">
            <a:extLst>
              <a:ext uri="{FF2B5EF4-FFF2-40B4-BE49-F238E27FC236}">
                <a16:creationId xmlns:a16="http://schemas.microsoft.com/office/drawing/2014/main" id="{7FBAF753-0759-4C38-8792-107BE789509E}"/>
              </a:ext>
            </a:extLst>
          </p:cNvPr>
          <p:cNvGrpSpPr/>
          <p:nvPr/>
        </p:nvGrpSpPr>
        <p:grpSpPr>
          <a:xfrm>
            <a:off x="4970076" y="3934848"/>
            <a:ext cx="520319" cy="520319"/>
            <a:chOff x="3342651" y="3507082"/>
            <a:chExt cx="520319" cy="520319"/>
          </a:xfrm>
        </p:grpSpPr>
        <p:sp>
          <p:nvSpPr>
            <p:cNvPr id="62" name="矩形 61">
              <a:extLst>
                <a:ext uri="{FF2B5EF4-FFF2-40B4-BE49-F238E27FC236}">
                  <a16:creationId xmlns:a16="http://schemas.microsoft.com/office/drawing/2014/main" id="{D5E0E7F4-F237-4419-8E1E-826374B73F73}"/>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63" name="Object 12">
                  <a:extLst>
                    <a:ext uri="{FF2B5EF4-FFF2-40B4-BE49-F238E27FC236}">
                      <a16:creationId xmlns:a16="http://schemas.microsoft.com/office/drawing/2014/main" id="{09547F19-B22D-44B3-A88F-E0BCCC685AA5}"/>
                    </a:ext>
                  </a:extLst>
                </p:cNvPr>
                <p:cNvSpPr txBox="1"/>
                <p:nvPr/>
              </p:nvSpPr>
              <p:spPr bwMode="auto">
                <a:xfrm>
                  <a:off x="3435128" y="3545009"/>
                  <a:ext cx="385763" cy="3873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0" name="Object 12"/>
                <p:cNvSpPr txBox="1">
                  <a:spLocks noRot="1" noChangeAspect="1" noMove="1" noResize="1" noEditPoints="1" noAdjustHandles="1" noChangeArrowheads="1" noChangeShapeType="1" noTextEdit="1"/>
                </p:cNvSpPr>
                <p:nvPr/>
              </p:nvSpPr>
              <p:spPr bwMode="auto">
                <a:xfrm>
                  <a:off x="3435128" y="3545009"/>
                  <a:ext cx="385763" cy="387350"/>
                </a:xfrm>
                <a:prstGeom prst="rect">
                  <a:avLst/>
                </a:prstGeom>
                <a:blipFill rotWithShape="1">
                  <a:blip r:embed="rId3"/>
                </a:blipFill>
              </p:spPr>
              <p:txBody>
                <a:bodyPr/>
                <a:lstStyle/>
                <a:p>
                  <a:r>
                    <a:rPr lang="zh-CN" altLang="en-US">
                      <a:noFill/>
                    </a:rPr>
                    <a:t> </a:t>
                  </a:r>
                </a:p>
              </p:txBody>
            </p:sp>
          </mc:Fallback>
        </mc:AlternateContent>
      </p:grpSp>
      <p:cxnSp>
        <p:nvCxnSpPr>
          <p:cNvPr id="64" name="直線單箭頭接點 24">
            <a:extLst>
              <a:ext uri="{FF2B5EF4-FFF2-40B4-BE49-F238E27FC236}">
                <a16:creationId xmlns:a16="http://schemas.microsoft.com/office/drawing/2014/main" id="{ED23375B-1976-418F-95A5-99CF61302880}"/>
              </a:ext>
            </a:extLst>
          </p:cNvPr>
          <p:cNvCxnSpPr/>
          <p:nvPr/>
        </p:nvCxnSpPr>
        <p:spPr>
          <a:xfrm flipV="1">
            <a:off x="5221283" y="4465611"/>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Object 12">
                <a:extLst>
                  <a:ext uri="{FF2B5EF4-FFF2-40B4-BE49-F238E27FC236}">
                    <a16:creationId xmlns:a16="http://schemas.microsoft.com/office/drawing/2014/main" id="{0A2F9FA9-3218-4F3D-90B0-1639110B20B8}"/>
                  </a:ext>
                </a:extLst>
              </p:cNvPr>
              <p:cNvSpPr txBox="1"/>
              <p:nvPr/>
            </p:nvSpPr>
            <p:spPr bwMode="auto">
              <a:xfrm>
                <a:off x="6192039" y="3881666"/>
                <a:ext cx="787400" cy="5334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𝜎</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𝑧</m:t>
                          </m:r>
                        </m:e>
                      </m:d>
                    </m:oMath>
                  </m:oMathPara>
                </a14:m>
                <a:endParaRPr lang="zh-CN" altLang="en-US"/>
              </a:p>
            </p:txBody>
          </p:sp>
        </mc:Choice>
        <mc:Fallback xmlns="">
          <p:sp>
            <p:nvSpPr>
              <p:cNvPr id="65" name="Object 12">
                <a:extLst>
                  <a:ext uri="{FF2B5EF4-FFF2-40B4-BE49-F238E27FC236}">
                    <a16:creationId xmlns:a16="http://schemas.microsoft.com/office/drawing/2014/main" id="{0A2F9FA9-3218-4F3D-90B0-1639110B20B8}"/>
                  </a:ext>
                </a:extLst>
              </p:cNvPr>
              <p:cNvSpPr txBox="1">
                <a:spLocks noRot="1" noChangeAspect="1" noMove="1" noResize="1" noEditPoints="1" noAdjustHandles="1" noChangeArrowheads="1" noChangeShapeType="1" noTextEdit="1"/>
              </p:cNvSpPr>
              <p:nvPr/>
            </p:nvSpPr>
            <p:spPr bwMode="auto">
              <a:xfrm>
                <a:off x="6192039" y="3881666"/>
                <a:ext cx="787400" cy="533400"/>
              </a:xfrm>
              <a:prstGeom prst="rect">
                <a:avLst/>
              </a:prstGeom>
              <a:blipFill>
                <a:blip r:embed="rId4"/>
                <a:stretch>
                  <a:fillRect/>
                </a:stretch>
              </a:blipFill>
            </p:spPr>
            <p:txBody>
              <a:bodyPr/>
              <a:lstStyle/>
              <a:p>
                <a:r>
                  <a:rPr lang="zh-CN" altLang="en-US">
                    <a:noFill/>
                  </a:rPr>
                  <a:t> </a:t>
                </a:r>
              </a:p>
            </p:txBody>
          </p:sp>
        </mc:Fallback>
      </mc:AlternateContent>
      <p:sp>
        <p:nvSpPr>
          <p:cNvPr id="66" name="文字方塊 33">
            <a:extLst>
              <a:ext uri="{FF2B5EF4-FFF2-40B4-BE49-F238E27FC236}">
                <a16:creationId xmlns:a16="http://schemas.microsoft.com/office/drawing/2014/main" id="{AF7FC8BC-D448-43BC-AF8B-720A790D8727}"/>
              </a:ext>
            </a:extLst>
          </p:cNvPr>
          <p:cNvSpPr txBox="1"/>
          <p:nvPr/>
        </p:nvSpPr>
        <p:spPr>
          <a:xfrm>
            <a:off x="5475056" y="5349154"/>
            <a:ext cx="798022"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bias</a:t>
            </a:r>
            <a:endParaRPr lang="zh-TW" altLang="en-US" sz="2400" dirty="0">
              <a:solidFill>
                <a:srgbClr val="0000FF"/>
              </a:solidFill>
              <a:latin typeface="Times New Roman" panose="02020603050405020304" charset="0"/>
              <a:cs typeface="Times New Roman" panose="02020603050405020304" charset="0"/>
            </a:endParaRPr>
          </a:p>
        </p:txBody>
      </p:sp>
      <p:sp>
        <p:nvSpPr>
          <p:cNvPr id="67" name="文字方塊 39">
            <a:extLst>
              <a:ext uri="{FF2B5EF4-FFF2-40B4-BE49-F238E27FC236}">
                <a16:creationId xmlns:a16="http://schemas.microsoft.com/office/drawing/2014/main" id="{FC805D0D-46B7-4241-841B-3F96D3A8DD76}"/>
              </a:ext>
            </a:extLst>
          </p:cNvPr>
          <p:cNvSpPr txBox="1"/>
          <p:nvPr/>
        </p:nvSpPr>
        <p:spPr>
          <a:xfrm>
            <a:off x="5648000" y="4572068"/>
            <a:ext cx="1894780" cy="830997"/>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Activation function</a:t>
            </a:r>
            <a:endParaRPr lang="zh-TW" altLang="en-US" sz="2400" dirty="0">
              <a:solidFill>
                <a:srgbClr val="0000FF"/>
              </a:solidFill>
              <a:latin typeface="Times New Roman" panose="02020603050405020304" charset="0"/>
              <a:cs typeface="Times New Roman" panose="02020603050405020304" charset="0"/>
            </a:endParaRPr>
          </a:p>
        </p:txBody>
      </p:sp>
      <p:sp>
        <p:nvSpPr>
          <p:cNvPr id="68" name="文字方塊 38">
            <a:extLst>
              <a:ext uri="{FF2B5EF4-FFF2-40B4-BE49-F238E27FC236}">
                <a16:creationId xmlns:a16="http://schemas.microsoft.com/office/drawing/2014/main" id="{1D347EB8-9459-4104-AFF1-D06C272DF879}"/>
              </a:ext>
            </a:extLst>
          </p:cNvPr>
          <p:cNvSpPr txBox="1"/>
          <p:nvPr/>
        </p:nvSpPr>
        <p:spPr>
          <a:xfrm>
            <a:off x="3060621" y="5349154"/>
            <a:ext cx="1186572"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weights</a:t>
            </a:r>
            <a:endParaRPr lang="zh-TW" altLang="en-US" sz="2400" dirty="0">
              <a:solidFill>
                <a:srgbClr val="0000FF"/>
              </a:solidFill>
              <a:latin typeface="Times New Roman" panose="02020603050405020304" charset="0"/>
              <a:cs typeface="Times New Roman" panose="02020603050405020304" charset="0"/>
            </a:endParaRPr>
          </a:p>
        </p:txBody>
      </p:sp>
      <p:grpSp>
        <p:nvGrpSpPr>
          <p:cNvPr id="69" name="群組 19">
            <a:extLst>
              <a:ext uri="{FF2B5EF4-FFF2-40B4-BE49-F238E27FC236}">
                <a16:creationId xmlns:a16="http://schemas.microsoft.com/office/drawing/2014/main" id="{5601796A-A25B-49DF-9AFB-29B9455A9280}"/>
              </a:ext>
            </a:extLst>
          </p:cNvPr>
          <p:cNvGrpSpPr/>
          <p:nvPr/>
        </p:nvGrpSpPr>
        <p:grpSpPr>
          <a:xfrm>
            <a:off x="3375234" y="2913153"/>
            <a:ext cx="546036" cy="537290"/>
            <a:chOff x="34511" y="3510100"/>
            <a:chExt cx="546036" cy="537290"/>
          </a:xfrm>
        </p:grpSpPr>
        <p:sp>
          <p:nvSpPr>
            <p:cNvPr id="70" name="矩形 69">
              <a:extLst>
                <a:ext uri="{FF2B5EF4-FFF2-40B4-BE49-F238E27FC236}">
                  <a16:creationId xmlns:a16="http://schemas.microsoft.com/office/drawing/2014/main" id="{B6F61E6B-3E86-46F2-B4BF-668B40A4092A}"/>
                </a:ext>
              </a:extLst>
            </p:cNvPr>
            <p:cNvSpPr/>
            <p:nvPr/>
          </p:nvSpPr>
          <p:spPr>
            <a:xfrm>
              <a:off x="34511" y="3510100"/>
              <a:ext cx="546036" cy="5372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71" name="文字方塊 43">
              <a:extLst>
                <a:ext uri="{FF2B5EF4-FFF2-40B4-BE49-F238E27FC236}">
                  <a16:creationId xmlns:a16="http://schemas.microsoft.com/office/drawing/2014/main" id="{F5579CCA-198A-40E0-8038-7B209AF12E65}"/>
                </a:ext>
              </a:extLst>
            </p:cNvPr>
            <p:cNvSpPr txBox="1"/>
            <p:nvPr/>
          </p:nvSpPr>
          <p:spPr>
            <a:xfrm>
              <a:off x="136079" y="3552772"/>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grpSp>
      <p:grpSp>
        <p:nvGrpSpPr>
          <p:cNvPr id="72" name="群組 26">
            <a:extLst>
              <a:ext uri="{FF2B5EF4-FFF2-40B4-BE49-F238E27FC236}">
                <a16:creationId xmlns:a16="http://schemas.microsoft.com/office/drawing/2014/main" id="{E313472D-4BB8-448A-AEE9-C0D367698A77}"/>
              </a:ext>
            </a:extLst>
          </p:cNvPr>
          <p:cNvGrpSpPr/>
          <p:nvPr/>
        </p:nvGrpSpPr>
        <p:grpSpPr>
          <a:xfrm>
            <a:off x="3375234" y="3813813"/>
            <a:ext cx="546036" cy="537290"/>
            <a:chOff x="-43759" y="4374027"/>
            <a:chExt cx="546036" cy="537290"/>
          </a:xfrm>
        </p:grpSpPr>
        <p:sp>
          <p:nvSpPr>
            <p:cNvPr id="73" name="矩形 72">
              <a:extLst>
                <a:ext uri="{FF2B5EF4-FFF2-40B4-BE49-F238E27FC236}">
                  <a16:creationId xmlns:a16="http://schemas.microsoft.com/office/drawing/2014/main" id="{504BEE88-4671-494D-8466-6744338251A8}"/>
                </a:ext>
              </a:extLst>
            </p:cNvPr>
            <p:cNvSpPr/>
            <p:nvPr/>
          </p:nvSpPr>
          <p:spPr>
            <a:xfrm>
              <a:off x="-43759" y="4374027"/>
              <a:ext cx="546036" cy="5372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74" name="文字方塊 44">
              <a:extLst>
                <a:ext uri="{FF2B5EF4-FFF2-40B4-BE49-F238E27FC236}">
                  <a16:creationId xmlns:a16="http://schemas.microsoft.com/office/drawing/2014/main" id="{6EAD2B33-0323-4495-AF41-F7D57BC070A1}"/>
                </a:ext>
              </a:extLst>
            </p:cNvPr>
            <p:cNvSpPr txBox="1"/>
            <p:nvPr/>
          </p:nvSpPr>
          <p:spPr>
            <a:xfrm>
              <a:off x="0" y="4424367"/>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grpSp>
      <p:grpSp>
        <p:nvGrpSpPr>
          <p:cNvPr id="75" name="群組 28">
            <a:extLst>
              <a:ext uri="{FF2B5EF4-FFF2-40B4-BE49-F238E27FC236}">
                <a16:creationId xmlns:a16="http://schemas.microsoft.com/office/drawing/2014/main" id="{14BCB866-829F-45CA-99E5-ED4DB6B544AF}"/>
              </a:ext>
            </a:extLst>
          </p:cNvPr>
          <p:cNvGrpSpPr/>
          <p:nvPr/>
        </p:nvGrpSpPr>
        <p:grpSpPr>
          <a:xfrm>
            <a:off x="3282113" y="4670788"/>
            <a:ext cx="715437" cy="537290"/>
            <a:chOff x="153153" y="5027301"/>
            <a:chExt cx="715437" cy="537290"/>
          </a:xfrm>
        </p:grpSpPr>
        <p:sp>
          <p:nvSpPr>
            <p:cNvPr id="76" name="矩形 75">
              <a:extLst>
                <a:ext uri="{FF2B5EF4-FFF2-40B4-BE49-F238E27FC236}">
                  <a16:creationId xmlns:a16="http://schemas.microsoft.com/office/drawing/2014/main" id="{ED0BFED3-A28B-4D33-A03B-103D08E9CA55}"/>
                </a:ext>
              </a:extLst>
            </p:cNvPr>
            <p:cNvSpPr/>
            <p:nvPr/>
          </p:nvSpPr>
          <p:spPr>
            <a:xfrm>
              <a:off x="252603" y="5027301"/>
              <a:ext cx="546036" cy="53729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77" name="文字方塊 45">
              <a:extLst>
                <a:ext uri="{FF2B5EF4-FFF2-40B4-BE49-F238E27FC236}">
                  <a16:creationId xmlns:a16="http://schemas.microsoft.com/office/drawing/2014/main" id="{EFD1BE4C-FA8B-428A-8A0B-4E705936F4FC}"/>
                </a:ext>
              </a:extLst>
            </p:cNvPr>
            <p:cNvSpPr txBox="1"/>
            <p:nvPr/>
          </p:nvSpPr>
          <p:spPr>
            <a:xfrm>
              <a:off x="153153" y="5087907"/>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grpSp>
      <p:sp>
        <p:nvSpPr>
          <p:cNvPr id="78" name="文字方塊 46">
            <a:extLst>
              <a:ext uri="{FF2B5EF4-FFF2-40B4-BE49-F238E27FC236}">
                <a16:creationId xmlns:a16="http://schemas.microsoft.com/office/drawing/2014/main" id="{5EB24521-2CBF-4688-AE82-E9DC7FAA9399}"/>
              </a:ext>
            </a:extLst>
          </p:cNvPr>
          <p:cNvSpPr txBox="1"/>
          <p:nvPr/>
        </p:nvSpPr>
        <p:spPr>
          <a:xfrm>
            <a:off x="4863564" y="5301781"/>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grpSp>
        <p:nvGrpSpPr>
          <p:cNvPr id="79" name="群組 50">
            <a:extLst>
              <a:ext uri="{FF2B5EF4-FFF2-40B4-BE49-F238E27FC236}">
                <a16:creationId xmlns:a16="http://schemas.microsoft.com/office/drawing/2014/main" id="{C3D9D1E8-51DC-4F40-AA88-8B38E53ACE95}"/>
              </a:ext>
            </a:extLst>
          </p:cNvPr>
          <p:cNvGrpSpPr/>
          <p:nvPr/>
        </p:nvGrpSpPr>
        <p:grpSpPr>
          <a:xfrm>
            <a:off x="2232681" y="2612386"/>
            <a:ext cx="546036" cy="537290"/>
            <a:chOff x="34511" y="3510100"/>
            <a:chExt cx="546036" cy="537290"/>
          </a:xfrm>
        </p:grpSpPr>
        <p:sp>
          <p:nvSpPr>
            <p:cNvPr id="80" name="矩形 79">
              <a:extLst>
                <a:ext uri="{FF2B5EF4-FFF2-40B4-BE49-F238E27FC236}">
                  <a16:creationId xmlns:a16="http://schemas.microsoft.com/office/drawing/2014/main" id="{410BC6F3-7546-466D-A87D-CCFEF5C9E223}"/>
                </a:ext>
              </a:extLst>
            </p:cNvPr>
            <p:cNvSpPr/>
            <p:nvPr/>
          </p:nvSpPr>
          <p:spPr>
            <a:xfrm>
              <a:off x="34511" y="3510100"/>
              <a:ext cx="546036" cy="53729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1" name="文字方塊 52">
              <a:extLst>
                <a:ext uri="{FF2B5EF4-FFF2-40B4-BE49-F238E27FC236}">
                  <a16:creationId xmlns:a16="http://schemas.microsoft.com/office/drawing/2014/main" id="{7DCFFE42-0C0F-41E0-AEC0-BFB1DD3D5D93}"/>
                </a:ext>
              </a:extLst>
            </p:cNvPr>
            <p:cNvSpPr txBox="1"/>
            <p:nvPr/>
          </p:nvSpPr>
          <p:spPr>
            <a:xfrm>
              <a:off x="136079" y="3552772"/>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grpSp>
      <p:grpSp>
        <p:nvGrpSpPr>
          <p:cNvPr id="82" name="群組 53">
            <a:extLst>
              <a:ext uri="{FF2B5EF4-FFF2-40B4-BE49-F238E27FC236}">
                <a16:creationId xmlns:a16="http://schemas.microsoft.com/office/drawing/2014/main" id="{7FB9BB2D-38B7-4AE5-AC82-8D577DF1C929}"/>
              </a:ext>
            </a:extLst>
          </p:cNvPr>
          <p:cNvGrpSpPr/>
          <p:nvPr/>
        </p:nvGrpSpPr>
        <p:grpSpPr>
          <a:xfrm>
            <a:off x="2208215" y="3864153"/>
            <a:ext cx="546036" cy="537290"/>
            <a:chOff x="-43759" y="4374027"/>
            <a:chExt cx="546036" cy="537290"/>
          </a:xfrm>
        </p:grpSpPr>
        <p:sp>
          <p:nvSpPr>
            <p:cNvPr id="83" name="矩形 82">
              <a:extLst>
                <a:ext uri="{FF2B5EF4-FFF2-40B4-BE49-F238E27FC236}">
                  <a16:creationId xmlns:a16="http://schemas.microsoft.com/office/drawing/2014/main" id="{1CC98C4A-9F2C-4B8D-B5AA-1B8F82FDCEC1}"/>
                </a:ext>
              </a:extLst>
            </p:cNvPr>
            <p:cNvSpPr/>
            <p:nvPr/>
          </p:nvSpPr>
          <p:spPr>
            <a:xfrm>
              <a:off x="-43759" y="4374027"/>
              <a:ext cx="546036" cy="53729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4" name="文字方塊 55">
              <a:extLst>
                <a:ext uri="{FF2B5EF4-FFF2-40B4-BE49-F238E27FC236}">
                  <a16:creationId xmlns:a16="http://schemas.microsoft.com/office/drawing/2014/main" id="{69A2E8EE-4CA2-49AC-92D0-6A4AAD99C25C}"/>
                </a:ext>
              </a:extLst>
            </p:cNvPr>
            <p:cNvSpPr txBox="1"/>
            <p:nvPr/>
          </p:nvSpPr>
          <p:spPr>
            <a:xfrm>
              <a:off x="0" y="4424367"/>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grpSp>
      <p:grpSp>
        <p:nvGrpSpPr>
          <p:cNvPr id="85" name="群組 56">
            <a:extLst>
              <a:ext uri="{FF2B5EF4-FFF2-40B4-BE49-F238E27FC236}">
                <a16:creationId xmlns:a16="http://schemas.microsoft.com/office/drawing/2014/main" id="{E9C15D44-8AF6-410E-9A4A-04C4AFB87B51}"/>
              </a:ext>
            </a:extLst>
          </p:cNvPr>
          <p:cNvGrpSpPr/>
          <p:nvPr/>
        </p:nvGrpSpPr>
        <p:grpSpPr>
          <a:xfrm>
            <a:off x="2135825" y="5157366"/>
            <a:ext cx="715437" cy="537290"/>
            <a:chOff x="153153" y="5027301"/>
            <a:chExt cx="715437" cy="537290"/>
          </a:xfrm>
        </p:grpSpPr>
        <p:sp>
          <p:nvSpPr>
            <p:cNvPr id="86" name="矩形 85">
              <a:extLst>
                <a:ext uri="{FF2B5EF4-FFF2-40B4-BE49-F238E27FC236}">
                  <a16:creationId xmlns:a16="http://schemas.microsoft.com/office/drawing/2014/main" id="{B1C4551D-F176-4044-85B5-214F0E3E7C1A}"/>
                </a:ext>
              </a:extLst>
            </p:cNvPr>
            <p:cNvSpPr/>
            <p:nvPr/>
          </p:nvSpPr>
          <p:spPr>
            <a:xfrm>
              <a:off x="252603" y="5027301"/>
              <a:ext cx="546036" cy="53729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7" name="文字方塊 58">
              <a:extLst>
                <a:ext uri="{FF2B5EF4-FFF2-40B4-BE49-F238E27FC236}">
                  <a16:creationId xmlns:a16="http://schemas.microsoft.com/office/drawing/2014/main" id="{3B4357DA-7D19-4D8D-886E-D006340FC83D}"/>
                </a:ext>
              </a:extLst>
            </p:cNvPr>
            <p:cNvSpPr txBox="1"/>
            <p:nvPr/>
          </p:nvSpPr>
          <p:spPr>
            <a:xfrm>
              <a:off x="153153" y="5087907"/>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grpSp>
      <p:sp>
        <p:nvSpPr>
          <p:cNvPr id="88" name="文字方塊 61">
            <a:extLst>
              <a:ext uri="{FF2B5EF4-FFF2-40B4-BE49-F238E27FC236}">
                <a16:creationId xmlns:a16="http://schemas.microsoft.com/office/drawing/2014/main" id="{11275669-15C6-4367-B439-3F9060FBF7CD}"/>
              </a:ext>
            </a:extLst>
          </p:cNvPr>
          <p:cNvSpPr txBox="1"/>
          <p:nvPr/>
        </p:nvSpPr>
        <p:spPr>
          <a:xfrm>
            <a:off x="5613477" y="3684489"/>
            <a:ext cx="379718" cy="461665"/>
          </a:xfrm>
          <a:prstGeom prst="rect">
            <a:avLst/>
          </a:prstGeom>
          <a:noFill/>
        </p:spPr>
        <p:txBody>
          <a:bodyPr wrap="square" rtlCol="0">
            <a:spAutoFit/>
          </a:bodyPr>
          <a:lstStyle/>
          <a:p>
            <a:pPr algn="ctr"/>
            <a:r>
              <a:rPr lang="en-US" altLang="zh-TW" sz="2400" dirty="0">
                <a:solidFill>
                  <a:srgbClr val="FF0000"/>
                </a:solidFill>
                <a:latin typeface="Times New Roman" panose="02020603050405020304" charset="0"/>
                <a:cs typeface="Times New Roman" panose="02020603050405020304" charset="0"/>
              </a:rPr>
              <a:t>3</a:t>
            </a:r>
            <a:endParaRPr lang="zh-TW" altLang="en-US" sz="2400" dirty="0">
              <a:solidFill>
                <a:srgbClr val="FF0000"/>
              </a:solidFill>
              <a:latin typeface="Times New Roman" panose="02020603050405020304" charset="0"/>
              <a:cs typeface="Times New Roman" panose="02020603050405020304" charset="0"/>
            </a:endParaRPr>
          </a:p>
        </p:txBody>
      </p:sp>
      <p:sp>
        <p:nvSpPr>
          <p:cNvPr id="97" name="文字方塊 70">
            <a:extLst>
              <a:ext uri="{FF2B5EF4-FFF2-40B4-BE49-F238E27FC236}">
                <a16:creationId xmlns:a16="http://schemas.microsoft.com/office/drawing/2014/main" id="{B51A1D3E-A5C8-4E01-9C24-33F9D138112D}"/>
              </a:ext>
            </a:extLst>
          </p:cNvPr>
          <p:cNvSpPr txBox="1"/>
          <p:nvPr/>
        </p:nvSpPr>
        <p:spPr>
          <a:xfrm>
            <a:off x="7700513" y="3914492"/>
            <a:ext cx="878079"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ltLang="zh-TW" sz="2400" dirty="0">
                <a:solidFill>
                  <a:srgbClr val="FF0000"/>
                </a:solidFill>
                <a:latin typeface="Times New Roman" panose="02020603050405020304" charset="0"/>
                <a:cs typeface="Times New Roman" panose="02020603050405020304" charset="0"/>
              </a:rPr>
              <a:t>1</a:t>
            </a:r>
            <a:endParaRPr lang="zh-TW" altLang="en-US" sz="2400" dirty="0">
              <a:solidFill>
                <a:srgbClr val="FF0000"/>
              </a:solidFill>
              <a:latin typeface="Times New Roman" panose="02020603050405020304" charset="0"/>
              <a:cs typeface="Times New Roman" panose="02020603050405020304" charset="0"/>
            </a:endParaRPr>
          </a:p>
        </p:txBody>
      </p:sp>
      <p:sp>
        <p:nvSpPr>
          <p:cNvPr id="98" name="文字方塊 39">
            <a:extLst>
              <a:ext uri="{FF2B5EF4-FFF2-40B4-BE49-F238E27FC236}">
                <a16:creationId xmlns:a16="http://schemas.microsoft.com/office/drawing/2014/main" id="{1C9906AA-93E8-4FFA-8EBF-B6BC8C3D6F89}"/>
              </a:ext>
            </a:extLst>
          </p:cNvPr>
          <p:cNvSpPr txBox="1"/>
          <p:nvPr/>
        </p:nvSpPr>
        <p:spPr>
          <a:xfrm>
            <a:off x="5805733" y="3151987"/>
            <a:ext cx="1894780" cy="461665"/>
          </a:xfrm>
          <a:prstGeom prst="rect">
            <a:avLst/>
          </a:prstGeom>
          <a:noFill/>
        </p:spPr>
        <p:txBody>
          <a:bodyPr wrap="square" rtlCol="0">
            <a:spAutoFit/>
          </a:bodyPr>
          <a:lstStyle/>
          <a:p>
            <a:pPr algn="ctr"/>
            <a:r>
              <a:rPr lang="zh-CN" altLang="en-US" sz="2400" dirty="0">
                <a:solidFill>
                  <a:srgbClr val="0000FF"/>
                </a:solidFill>
                <a:latin typeface="Times New Roman" panose="02020603050405020304" charset="0"/>
                <a:cs typeface="Times New Roman" panose="02020603050405020304" charset="0"/>
              </a:rPr>
              <a:t>阈值为</a:t>
            </a:r>
            <a:r>
              <a:rPr lang="en-US" altLang="zh-CN" sz="2400" dirty="0">
                <a:solidFill>
                  <a:srgbClr val="0000FF"/>
                </a:solidFill>
                <a:latin typeface="Times New Roman" panose="02020603050405020304" charset="0"/>
                <a:cs typeface="Times New Roman" panose="02020603050405020304" charset="0"/>
              </a:rPr>
              <a:t>2</a:t>
            </a:r>
            <a:endParaRPr lang="zh-TW" altLang="en-US" sz="2400" dirty="0">
              <a:solidFill>
                <a:srgbClr val="0000FF"/>
              </a:solidFill>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3605886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12</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回望感知机</a:t>
            </a:r>
          </a:p>
        </p:txBody>
      </p:sp>
      <p:pic>
        <p:nvPicPr>
          <p:cNvPr id="22" name="图片 21">
            <a:extLst>
              <a:ext uri="{FF2B5EF4-FFF2-40B4-BE49-F238E27FC236}">
                <a16:creationId xmlns:a16="http://schemas.microsoft.com/office/drawing/2014/main" id="{798C728A-A744-479E-A8F7-8F9AA15E8342}"/>
              </a:ext>
            </a:extLst>
          </p:cNvPr>
          <p:cNvPicPr>
            <a:picLocks noChangeAspect="1"/>
          </p:cNvPicPr>
          <p:nvPr/>
        </p:nvPicPr>
        <p:blipFill>
          <a:blip r:embed="rId3"/>
          <a:stretch>
            <a:fillRect/>
          </a:stretch>
        </p:blipFill>
        <p:spPr>
          <a:xfrm>
            <a:off x="375650" y="1478570"/>
            <a:ext cx="5110647" cy="4888099"/>
          </a:xfrm>
          <a:prstGeom prst="rect">
            <a:avLst/>
          </a:prstGeom>
        </p:spPr>
      </p:pic>
      <p:sp>
        <p:nvSpPr>
          <p:cNvPr id="23" name="矩形 22">
            <a:extLst>
              <a:ext uri="{FF2B5EF4-FFF2-40B4-BE49-F238E27FC236}">
                <a16:creationId xmlns:a16="http://schemas.microsoft.com/office/drawing/2014/main" id="{5564ADCB-75F1-4050-ABC9-6944BA6034E6}"/>
              </a:ext>
            </a:extLst>
          </p:cNvPr>
          <p:cNvSpPr/>
          <p:nvPr/>
        </p:nvSpPr>
        <p:spPr>
          <a:xfrm>
            <a:off x="4345410" y="1612361"/>
            <a:ext cx="7659724" cy="461665"/>
          </a:xfrm>
          <a:prstGeom prst="rect">
            <a:avLst/>
          </a:prstGeom>
        </p:spPr>
        <p:txBody>
          <a:bodyPr wrap="square">
            <a:spAutoFit/>
          </a:bodyPr>
          <a:lstStyle/>
          <a:p>
            <a:pPr>
              <a:defRPr/>
            </a:pPr>
            <a:r>
              <a:rPr lang="en-US" altLang="zh-TW" sz="2400" dirty="0">
                <a:latin typeface="Times New Roman" panose="02020603050405020304" charset="0"/>
                <a:cs typeface="Times New Roman" panose="02020603050405020304" charset="0"/>
              </a:rPr>
              <a:t>How to draw a straight line to separate circles from triangles?</a:t>
            </a:r>
            <a:endParaRPr lang="zh-TW" altLang="en-US" sz="2400" dirty="0">
              <a:latin typeface="Times New Roman" panose="02020603050405020304" charset="0"/>
              <a:cs typeface="Times New Roman" panose="02020603050405020304" charset="0"/>
            </a:endParaRPr>
          </a:p>
        </p:txBody>
      </p:sp>
      <p:sp>
        <p:nvSpPr>
          <p:cNvPr id="24" name="文字方塊 39">
            <a:extLst>
              <a:ext uri="{FF2B5EF4-FFF2-40B4-BE49-F238E27FC236}">
                <a16:creationId xmlns:a16="http://schemas.microsoft.com/office/drawing/2014/main" id="{96E85595-A0D1-4306-9FE2-50AC81EB70E7}"/>
              </a:ext>
            </a:extLst>
          </p:cNvPr>
          <p:cNvSpPr txBox="1"/>
          <p:nvPr/>
        </p:nvSpPr>
        <p:spPr>
          <a:xfrm>
            <a:off x="6706746" y="2223183"/>
            <a:ext cx="2937052" cy="646331"/>
          </a:xfrm>
          <a:prstGeom prst="rect">
            <a:avLst/>
          </a:prstGeom>
          <a:noFill/>
        </p:spPr>
        <p:txBody>
          <a:bodyPr wrap="square" rtlCol="0">
            <a:spAutoFit/>
          </a:bodyPr>
          <a:lstStyle/>
          <a:p>
            <a:pPr algn="ctr"/>
            <a:r>
              <a:rPr lang="en-US" altLang="zh-TW" sz="3600" dirty="0">
                <a:solidFill>
                  <a:srgbClr val="0000FF"/>
                </a:solidFill>
                <a:latin typeface="Times New Roman" panose="02020603050405020304" charset="0"/>
                <a:cs typeface="Times New Roman" panose="02020603050405020304" charset="0"/>
              </a:rPr>
              <a:t>Impossible!</a:t>
            </a:r>
            <a:endParaRPr lang="zh-TW" altLang="en-US" sz="3600" dirty="0">
              <a:solidFill>
                <a:srgbClr val="0000FF"/>
              </a:solidFill>
              <a:latin typeface="Times New Roman" panose="02020603050405020304" charset="0"/>
              <a:cs typeface="Times New Roman" panose="02020603050405020304" charset="0"/>
            </a:endParaRPr>
          </a:p>
        </p:txBody>
      </p:sp>
      <p:pic>
        <p:nvPicPr>
          <p:cNvPr id="26" name="图片 25">
            <a:extLst>
              <a:ext uri="{FF2B5EF4-FFF2-40B4-BE49-F238E27FC236}">
                <a16:creationId xmlns:a16="http://schemas.microsoft.com/office/drawing/2014/main" id="{27DCEBD8-6169-4B9A-9F4B-8D9342D7FA23}"/>
              </a:ext>
            </a:extLst>
          </p:cNvPr>
          <p:cNvPicPr>
            <a:picLocks noChangeAspect="1"/>
          </p:cNvPicPr>
          <p:nvPr/>
        </p:nvPicPr>
        <p:blipFill>
          <a:blip r:embed="rId4"/>
          <a:stretch>
            <a:fillRect/>
          </a:stretch>
        </p:blipFill>
        <p:spPr>
          <a:xfrm>
            <a:off x="6617899" y="2914289"/>
            <a:ext cx="3172553" cy="3094111"/>
          </a:xfrm>
          <a:prstGeom prst="rect">
            <a:avLst/>
          </a:prstGeom>
        </p:spPr>
      </p:pic>
      <p:sp>
        <p:nvSpPr>
          <p:cNvPr id="27" name="矩形 26">
            <a:extLst>
              <a:ext uri="{FF2B5EF4-FFF2-40B4-BE49-F238E27FC236}">
                <a16:creationId xmlns:a16="http://schemas.microsoft.com/office/drawing/2014/main" id="{A81D1640-8500-4907-ADD5-33C019CA9235}"/>
              </a:ext>
            </a:extLst>
          </p:cNvPr>
          <p:cNvSpPr/>
          <p:nvPr/>
        </p:nvSpPr>
        <p:spPr>
          <a:xfrm>
            <a:off x="5276689" y="6088337"/>
            <a:ext cx="6673172" cy="461665"/>
          </a:xfrm>
          <a:prstGeom prst="rect">
            <a:avLst/>
          </a:prstGeom>
        </p:spPr>
        <p:txBody>
          <a:bodyPr wrap="square">
            <a:spAutoFit/>
          </a:bodyPr>
          <a:lstStyle/>
          <a:p>
            <a:pPr>
              <a:defRPr/>
            </a:pPr>
            <a:r>
              <a:rPr lang="en-US" altLang="zh-TW" sz="2400" dirty="0">
                <a:latin typeface="Times New Roman" panose="02020603050405020304" charset="0"/>
                <a:cs typeface="Times New Roman" panose="02020603050405020304" charset="0"/>
              </a:rPr>
              <a:t>Linear Regression cannot do XOR!</a:t>
            </a:r>
            <a:endParaRPr lang="zh-TW" altLang="en-US" sz="2400" dirty="0">
              <a:latin typeface="Times New Roman" panose="02020603050405020304" charset="0"/>
              <a:cs typeface="Times New Roman" panose="02020603050405020304" charset="0"/>
            </a:endParaRPr>
          </a:p>
        </p:txBody>
      </p:sp>
      <p:sp>
        <p:nvSpPr>
          <p:cNvPr id="28" name="文本框 27">
            <a:extLst>
              <a:ext uri="{FF2B5EF4-FFF2-40B4-BE49-F238E27FC236}">
                <a16:creationId xmlns:a16="http://schemas.microsoft.com/office/drawing/2014/main" id="{BE7C65A2-F7FD-4EFE-BBDA-167005AFED0D}"/>
              </a:ext>
            </a:extLst>
          </p:cNvPr>
          <p:cNvSpPr txBox="1"/>
          <p:nvPr/>
        </p:nvSpPr>
        <p:spPr>
          <a:xfrm>
            <a:off x="9761549" y="4196304"/>
            <a:ext cx="2188312" cy="830997"/>
          </a:xfrm>
          <a:prstGeom prst="rect">
            <a:avLst/>
          </a:prstGeom>
          <a:noFill/>
        </p:spPr>
        <p:txBody>
          <a:bodyPr wrap="square">
            <a:spAutoFit/>
          </a:bodyPr>
          <a:lstStyle/>
          <a:p>
            <a:pPr algn="ctr"/>
            <a:r>
              <a:rPr lang="zh-CN" altLang="en-US" sz="2400" b="1" dirty="0">
                <a:latin typeface="Times New Roman" panose="02020603050405020304" charset="0"/>
                <a:cs typeface="Times New Roman" panose="02020603050405020304" charset="0"/>
              </a:rPr>
              <a:t>异或</a:t>
            </a:r>
            <a:endParaRPr lang="en-US" altLang="zh-TW" sz="2400" b="1" dirty="0">
              <a:latin typeface="Times New Roman" panose="02020603050405020304" charset="0"/>
              <a:cs typeface="Times New Roman" panose="02020603050405020304" charset="0"/>
            </a:endParaRPr>
          </a:p>
          <a:p>
            <a:pPr algn="ctr"/>
            <a:r>
              <a:rPr lang="en-US" altLang="zh-CN" sz="2400" b="1" dirty="0">
                <a:latin typeface="Times New Roman" panose="02020603050405020304" charset="0"/>
                <a:cs typeface="Times New Roman" panose="02020603050405020304" charset="0"/>
              </a:rPr>
              <a:t>(Exclusive OR)</a:t>
            </a:r>
            <a:endParaRPr lang="zh-CN" altLang="en-US" sz="2400" b="1" dirty="0"/>
          </a:p>
        </p:txBody>
      </p:sp>
      <p:sp>
        <p:nvSpPr>
          <p:cNvPr id="29" name="矩形 28">
            <a:extLst>
              <a:ext uri="{FF2B5EF4-FFF2-40B4-BE49-F238E27FC236}">
                <a16:creationId xmlns:a16="http://schemas.microsoft.com/office/drawing/2014/main" id="{63AAD62D-48D7-4B6B-8AD0-E033E167B364}"/>
              </a:ext>
            </a:extLst>
          </p:cNvPr>
          <p:cNvSpPr/>
          <p:nvPr/>
        </p:nvSpPr>
        <p:spPr>
          <a:xfrm>
            <a:off x="375277" y="6480317"/>
            <a:ext cx="6673172" cy="369332"/>
          </a:xfrm>
          <a:prstGeom prst="rect">
            <a:avLst/>
          </a:prstGeom>
        </p:spPr>
        <p:txBody>
          <a:bodyPr wrap="square">
            <a:spAutoFit/>
          </a:bodyPr>
          <a:lstStyle/>
          <a:p>
            <a:pPr>
              <a:defRPr/>
            </a:pPr>
            <a:r>
              <a:rPr lang="en-US" dirty="0"/>
              <a:t>Marvin Minsky and Seymour </a:t>
            </a:r>
            <a:r>
              <a:rPr lang="en-US" dirty="0" err="1"/>
              <a:t>Papert</a:t>
            </a:r>
            <a:r>
              <a:rPr lang="en-US" dirty="0"/>
              <a:t>, </a:t>
            </a:r>
            <a:r>
              <a:rPr lang="en-US" dirty="0" err="1"/>
              <a:t>Perceptrons</a:t>
            </a:r>
            <a:r>
              <a:rPr lang="en-US" dirty="0"/>
              <a:t>, 1969</a:t>
            </a:r>
            <a:endParaRPr lang="zh-TW" altLang="en-US" sz="2400"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3630319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13</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6251072" cy="876394"/>
          </a:xfrm>
          <a:prstGeom prst="rect">
            <a:avLst/>
          </a:prstGeom>
          <a:noFill/>
        </p:spPr>
        <p:txBody>
          <a:bodyPr wrap="square" rtlCol="0">
            <a:spAutoFit/>
          </a:bodyPr>
          <a:lstStyle/>
          <a:p>
            <a:pPr marL="285750" indent="-285750">
              <a:buFont typeface="Wingdings" pitchFamily="2" charset="2"/>
              <a:buChar char="n"/>
            </a:pPr>
            <a:r>
              <a:rPr kumimoji="1" lang="zh-CN" altLang="en-US" sz="2400" dirty="0"/>
              <a:t>示例：用于求解异或问题的</a:t>
            </a:r>
            <a:r>
              <a:rPr kumimoji="1" lang="en-US" altLang="zh-CN" sz="2400" dirty="0"/>
              <a:t>2</a:t>
            </a:r>
            <a:r>
              <a:rPr kumimoji="1" lang="zh-CN" altLang="en-US" sz="2400" dirty="0"/>
              <a:t>层感知机</a:t>
            </a:r>
            <a:endParaRPr kumimoji="1" lang="en-US" altLang="zh-CN" sz="2400" dirty="0"/>
          </a:p>
          <a:p>
            <a:pPr>
              <a:lnSpc>
                <a:spcPct val="150000"/>
              </a:lnSpc>
            </a:pPr>
            <a:endParaRPr kumimoji="1" lang="en-US" altLang="zh-CN" sz="2000" dirty="0"/>
          </a:p>
        </p:txBody>
      </p:sp>
      <p:pic>
        <p:nvPicPr>
          <p:cNvPr id="4" name="图片 3">
            <a:extLst>
              <a:ext uri="{FF2B5EF4-FFF2-40B4-BE49-F238E27FC236}">
                <a16:creationId xmlns:a16="http://schemas.microsoft.com/office/drawing/2014/main" id="{97832409-E89C-194E-8B37-C5A56ADCCBE9}"/>
              </a:ext>
            </a:extLst>
          </p:cNvPr>
          <p:cNvPicPr>
            <a:picLocks noChangeAspect="1"/>
          </p:cNvPicPr>
          <p:nvPr/>
        </p:nvPicPr>
        <p:blipFill>
          <a:blip r:embed="rId3"/>
          <a:stretch>
            <a:fillRect/>
          </a:stretch>
        </p:blipFill>
        <p:spPr>
          <a:xfrm>
            <a:off x="3937000" y="2916094"/>
            <a:ext cx="4317999" cy="2011555"/>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BF7D526-BDDC-974A-8AA6-3057CFB90B5D}"/>
                  </a:ext>
                </a:extLst>
              </p:cNvPr>
              <p:cNvSpPr txBox="1"/>
              <p:nvPr/>
            </p:nvSpPr>
            <p:spPr>
              <a:xfrm>
                <a:off x="990600" y="4927649"/>
                <a:ext cx="9681275" cy="1799723"/>
              </a:xfrm>
              <a:prstGeom prst="rect">
                <a:avLst/>
              </a:prstGeom>
              <a:noFill/>
            </p:spPr>
            <p:txBody>
              <a:bodyPr wrap="square" lIns="0" tIns="0" rIns="0" bIns="0" rtlCol="0">
                <a:spAutoFit/>
              </a:bodyPr>
              <a:lstStyle/>
              <a:p>
                <a:pPr>
                  <a:lnSpc>
                    <a:spcPct val="150000"/>
                  </a:lnSpc>
                </a:pPr>
                <a:r>
                  <a:rPr kumimoji="1" lang="en-US" altLang="zh-CN" sz="2000" dirty="0"/>
                  <a:t>(0,0)</a:t>
                </a:r>
                <a:r>
                  <a:rPr kumimoji="1" lang="en-US" altLang="zh-CN" sz="2000" i="1" dirty="0"/>
                  <a:t> </a:t>
                </a:r>
                <a14:m>
                  <m:oMath xmlns:m="http://schemas.openxmlformats.org/officeDocument/2006/math">
                    <m:r>
                      <a:rPr kumimoji="1" lang="en-US" altLang="zh-CN" sz="2000" i="1" dirty="0">
                        <a:latin typeface="Cambria Math" panose="02040503050406030204" pitchFamily="18" charset="0"/>
                      </a:rPr>
                      <m:t>𝑜</m:t>
                    </m:r>
                    <m:r>
                      <a:rPr kumimoji="1" lang="en-US" altLang="zh-CN" sz="2000" b="0" i="1" dirty="0" smtClean="0">
                        <a:latin typeface="Cambria Math" panose="02040503050406030204" pitchFamily="18" charset="0"/>
                      </a:rPr>
                      <m:t>=</m:t>
                    </m:r>
                    <m:func>
                      <m:funcPr>
                        <m:ctrlPr>
                          <a:rPr kumimoji="1" lang="en-US" altLang="zh-CN" sz="2000" b="0" i="1" dirty="0" smtClean="0">
                            <a:latin typeface="Cambria Math" panose="02040503050406030204" pitchFamily="18" charset="0"/>
                          </a:rPr>
                        </m:ctrlPr>
                      </m:funcPr>
                      <m:fName>
                        <m:r>
                          <m:rPr>
                            <m:sty m:val="p"/>
                          </m:rPr>
                          <a:rPr kumimoji="1" lang="en-US" altLang="zh-CN" sz="2000" b="0" i="0" dirty="0" smtClean="0">
                            <a:latin typeface="Cambria Math" panose="02040503050406030204" pitchFamily="18" charset="0"/>
                          </a:rPr>
                          <m:t>sign</m:t>
                        </m:r>
                      </m:fName>
                      <m:e>
                        <m:d>
                          <m:dPr>
                            <m:ctrlPr>
                              <a:rPr kumimoji="1" lang="en-US" altLang="zh-CN" sz="2000" b="0" i="1" dirty="0" smtClean="0">
                                <a:latin typeface="Cambria Math" panose="02040503050406030204" pitchFamily="18" charset="0"/>
                              </a:rPr>
                            </m:ctrlPr>
                          </m:dPr>
                          <m:e>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b="0" i="1" dirty="0" smtClean="0">
                                        <a:latin typeface="Cambria Math" panose="02040503050406030204" pitchFamily="18" charset="0"/>
                                      </a:rPr>
                                      <m:t>0×1+0×−1−0.5</m:t>
                                    </m:r>
                                  </m:e>
                                </m:d>
                                <m:r>
                                  <a:rPr kumimoji="1" lang="en-US" altLang="zh-CN" sz="2000" b="0" i="1" dirty="0" smtClean="0">
                                    <a:latin typeface="Cambria Math" panose="02040503050406030204" pitchFamily="18" charset="0"/>
                                  </a:rPr>
                                  <m:t>+</m:t>
                                </m:r>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i="1" dirty="0">
                                            <a:latin typeface="Cambria Math" panose="02040503050406030204" pitchFamily="18" charset="0"/>
                                          </a:rPr>
                                          <m:t>0×</m:t>
                                        </m:r>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+0×1−0.5</m:t>
                                        </m:r>
                                      </m:e>
                                    </m:d>
                                    <m:r>
                                      <a:rPr kumimoji="1" lang="en-US" altLang="zh-CN" sz="2000" b="0" i="1" dirty="0" smtClean="0">
                                        <a:latin typeface="Cambria Math" panose="02040503050406030204" pitchFamily="18" charset="0"/>
                                      </a:rPr>
                                      <m:t>−0.5</m:t>
                                    </m:r>
                                  </m:e>
                                </m:func>
                              </m:e>
                            </m:func>
                          </m:e>
                        </m:d>
                      </m:e>
                    </m:func>
                    <m:r>
                      <a:rPr kumimoji="1" lang="en-US" altLang="zh-CN" sz="2000" b="0" i="1" dirty="0" smtClean="0">
                        <a:latin typeface="Cambria Math" panose="02040503050406030204" pitchFamily="18" charset="0"/>
                      </a:rPr>
                      <m:t>=0</m:t>
                    </m:r>
                  </m:oMath>
                </a14:m>
                <a:r>
                  <a:rPr kumimoji="1" lang="en-US" altLang="zh-CN" sz="2000" dirty="0"/>
                  <a:t>  </a:t>
                </a:r>
              </a:p>
              <a:p>
                <a:pPr>
                  <a:lnSpc>
                    <a:spcPct val="150000"/>
                  </a:lnSpc>
                </a:pPr>
                <a:r>
                  <a:rPr kumimoji="1" lang="en-US" altLang="zh-CN" sz="2000" dirty="0"/>
                  <a:t>(1,0) </a:t>
                </a:r>
                <a14:m>
                  <m:oMath xmlns:m="http://schemas.openxmlformats.org/officeDocument/2006/math">
                    <m:r>
                      <a:rPr kumimoji="1" lang="en-US" altLang="zh-CN" sz="2000" i="1" dirty="0" smtClean="0">
                        <a:latin typeface="Cambria Math" panose="02040503050406030204" pitchFamily="18" charset="0"/>
                      </a:rPr>
                      <m:t>𝑜</m:t>
                    </m:r>
                    <m:r>
                      <a:rPr kumimoji="1" lang="en-US" altLang="zh-CN" sz="2000" b="0" i="1" dirty="0" smtClean="0">
                        <a:latin typeface="Cambria Math" panose="02040503050406030204" pitchFamily="18" charset="0"/>
                      </a:rPr>
                      <m:t>=</m:t>
                    </m:r>
                    <m:func>
                      <m:funcPr>
                        <m:ctrlPr>
                          <a:rPr kumimoji="1" lang="en-US" altLang="zh-CN" sz="2000" b="0" i="1" dirty="0" smtClean="0">
                            <a:latin typeface="Cambria Math" panose="02040503050406030204" pitchFamily="18" charset="0"/>
                          </a:rPr>
                        </m:ctrlPr>
                      </m:funcPr>
                      <m:fName>
                        <m:r>
                          <m:rPr>
                            <m:sty m:val="p"/>
                          </m:rPr>
                          <a:rPr kumimoji="1" lang="en-US" altLang="zh-CN" sz="2000" b="0" i="0" dirty="0" smtClean="0">
                            <a:latin typeface="Cambria Math" panose="02040503050406030204" pitchFamily="18" charset="0"/>
                          </a:rPr>
                          <m:t>sign</m:t>
                        </m:r>
                      </m:fName>
                      <m:e>
                        <m:d>
                          <m:dPr>
                            <m:ctrlPr>
                              <a:rPr kumimoji="1" lang="en-US" altLang="zh-CN" sz="2000" b="0" i="1" dirty="0" smtClean="0">
                                <a:latin typeface="Cambria Math" panose="02040503050406030204" pitchFamily="18" charset="0"/>
                              </a:rPr>
                            </m:ctrlPr>
                          </m:dPr>
                          <m:e>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b="0" i="1" dirty="0" smtClean="0">
                                        <a:latin typeface="Cambria Math" panose="02040503050406030204" pitchFamily="18" charset="0"/>
                                      </a:rPr>
                                      <m:t>1×1+0×−1−0.5</m:t>
                                    </m:r>
                                  </m:e>
                                </m:d>
                                <m:r>
                                  <a:rPr kumimoji="1" lang="en-US" altLang="zh-CN" sz="2000" b="0" i="1" dirty="0" smtClean="0">
                                    <a:latin typeface="Cambria Math" panose="02040503050406030204" pitchFamily="18" charset="0"/>
                                  </a:rPr>
                                  <m:t>+</m:t>
                                </m:r>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m:t>
                                        </m:r>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+0×1−0.5</m:t>
                                        </m:r>
                                      </m:e>
                                    </m:d>
                                    <m:r>
                                      <a:rPr kumimoji="1" lang="en-US" altLang="zh-CN" sz="2000" b="0" i="1" dirty="0" smtClean="0">
                                        <a:latin typeface="Cambria Math" panose="02040503050406030204" pitchFamily="18" charset="0"/>
                                      </a:rPr>
                                      <m:t>−0.5</m:t>
                                    </m:r>
                                  </m:e>
                                </m:func>
                              </m:e>
                            </m:func>
                          </m:e>
                        </m:d>
                      </m:e>
                    </m:func>
                    <m:r>
                      <a:rPr kumimoji="1" lang="en-US" altLang="zh-CN" sz="2000" b="0" i="1" dirty="0" smtClean="0">
                        <a:latin typeface="Cambria Math" panose="02040503050406030204" pitchFamily="18" charset="0"/>
                      </a:rPr>
                      <m:t>=1</m:t>
                    </m:r>
                  </m:oMath>
                </a14:m>
                <a:r>
                  <a:rPr kumimoji="1" lang="en-US" altLang="zh-CN" sz="2000" dirty="0"/>
                  <a:t> </a:t>
                </a:r>
              </a:p>
              <a:p>
                <a:pPr>
                  <a:lnSpc>
                    <a:spcPct val="150000"/>
                  </a:lnSpc>
                </a:pPr>
                <a:r>
                  <a:rPr kumimoji="1" lang="en-US" altLang="zh-CN" sz="2000" dirty="0"/>
                  <a:t>(0,1) </a:t>
                </a:r>
                <a14:m>
                  <m:oMath xmlns:m="http://schemas.openxmlformats.org/officeDocument/2006/math">
                    <m:r>
                      <a:rPr kumimoji="1" lang="en-US" altLang="zh-CN" sz="2000" i="1" dirty="0" smtClean="0">
                        <a:latin typeface="Cambria Math" panose="02040503050406030204" pitchFamily="18" charset="0"/>
                      </a:rPr>
                      <m:t>𝑜</m:t>
                    </m:r>
                    <m:r>
                      <a:rPr kumimoji="1" lang="en-US" altLang="zh-CN" sz="2000" b="0" i="1" dirty="0" smtClean="0">
                        <a:latin typeface="Cambria Math" panose="02040503050406030204" pitchFamily="18" charset="0"/>
                      </a:rPr>
                      <m:t>=</m:t>
                    </m:r>
                    <m:func>
                      <m:funcPr>
                        <m:ctrlPr>
                          <a:rPr kumimoji="1" lang="en-US" altLang="zh-CN" sz="2000" b="0" i="1" dirty="0" smtClean="0">
                            <a:latin typeface="Cambria Math" panose="02040503050406030204" pitchFamily="18" charset="0"/>
                          </a:rPr>
                        </m:ctrlPr>
                      </m:funcPr>
                      <m:fName>
                        <m:r>
                          <m:rPr>
                            <m:sty m:val="p"/>
                          </m:rPr>
                          <a:rPr kumimoji="1" lang="en-US" altLang="zh-CN" sz="2000" b="0" i="0" dirty="0" smtClean="0">
                            <a:latin typeface="Cambria Math" panose="02040503050406030204" pitchFamily="18" charset="0"/>
                          </a:rPr>
                          <m:t>sign</m:t>
                        </m:r>
                      </m:fName>
                      <m:e>
                        <m:d>
                          <m:dPr>
                            <m:ctrlPr>
                              <a:rPr kumimoji="1" lang="en-US" altLang="zh-CN" sz="2000" b="0" i="1" dirty="0" smtClean="0">
                                <a:latin typeface="Cambria Math" panose="02040503050406030204" pitchFamily="18" charset="0"/>
                              </a:rPr>
                            </m:ctrlPr>
                          </m:dPr>
                          <m:e>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b="0" i="1" dirty="0" smtClean="0">
                                        <a:latin typeface="Cambria Math" panose="02040503050406030204" pitchFamily="18" charset="0"/>
                                      </a:rPr>
                                      <m:t>0×1+1×−1−0.5</m:t>
                                    </m:r>
                                  </m:e>
                                </m:d>
                                <m:r>
                                  <a:rPr kumimoji="1" lang="en-US" altLang="zh-CN" sz="2000" b="0" i="1" dirty="0" smtClean="0">
                                    <a:latin typeface="Cambria Math" panose="02040503050406030204" pitchFamily="18" charset="0"/>
                                  </a:rPr>
                                  <m:t>+</m:t>
                                </m:r>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b="0" i="1" dirty="0" smtClean="0">
                                            <a:latin typeface="Cambria Math" panose="02040503050406030204" pitchFamily="18" charset="0"/>
                                          </a:rPr>
                                          <m:t>0</m:t>
                                        </m:r>
                                        <m:r>
                                          <a:rPr kumimoji="1" lang="en-US" altLang="zh-CN" sz="2000" i="1" dirty="0">
                                            <a:latin typeface="Cambria Math" panose="02040503050406030204" pitchFamily="18" charset="0"/>
                                          </a:rPr>
                                          <m:t>×</m:t>
                                        </m:r>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m:t>
                                        </m:r>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×1−0.5</m:t>
                                        </m:r>
                                      </m:e>
                                    </m:d>
                                    <m:r>
                                      <a:rPr kumimoji="1" lang="en-US" altLang="zh-CN" sz="2000" b="0" i="1" dirty="0" smtClean="0">
                                        <a:latin typeface="Cambria Math" panose="02040503050406030204" pitchFamily="18" charset="0"/>
                                      </a:rPr>
                                      <m:t>−0.5</m:t>
                                    </m:r>
                                  </m:e>
                                </m:func>
                              </m:e>
                            </m:func>
                          </m:e>
                        </m:d>
                      </m:e>
                    </m:func>
                    <m:r>
                      <a:rPr kumimoji="1" lang="en-US" altLang="zh-CN" sz="2000" b="0" i="1" dirty="0" smtClean="0">
                        <a:latin typeface="Cambria Math" panose="02040503050406030204" pitchFamily="18" charset="0"/>
                      </a:rPr>
                      <m:t>=1</m:t>
                    </m:r>
                  </m:oMath>
                </a14:m>
                <a:r>
                  <a:rPr kumimoji="1" lang="en-US" altLang="zh-CN" sz="2000" dirty="0"/>
                  <a:t> </a:t>
                </a:r>
              </a:p>
              <a:p>
                <a:pPr>
                  <a:lnSpc>
                    <a:spcPct val="150000"/>
                  </a:lnSpc>
                </a:pPr>
                <a:r>
                  <a:rPr kumimoji="1" lang="en-US" altLang="zh-CN" sz="2000" dirty="0"/>
                  <a:t>(1,1) </a:t>
                </a:r>
                <a14:m>
                  <m:oMath xmlns:m="http://schemas.openxmlformats.org/officeDocument/2006/math">
                    <m:r>
                      <a:rPr kumimoji="1" lang="en-US" altLang="zh-CN" sz="2000" i="1" dirty="0" smtClean="0">
                        <a:latin typeface="Cambria Math" panose="02040503050406030204" pitchFamily="18" charset="0"/>
                      </a:rPr>
                      <m:t>𝑜</m:t>
                    </m:r>
                    <m:r>
                      <a:rPr kumimoji="1" lang="en-US" altLang="zh-CN" sz="2000" b="0" i="1" dirty="0" smtClean="0">
                        <a:latin typeface="Cambria Math" panose="02040503050406030204" pitchFamily="18" charset="0"/>
                      </a:rPr>
                      <m:t>=</m:t>
                    </m:r>
                    <m:func>
                      <m:funcPr>
                        <m:ctrlPr>
                          <a:rPr kumimoji="1" lang="en-US" altLang="zh-CN" sz="2000" b="0" i="1" dirty="0" smtClean="0">
                            <a:latin typeface="Cambria Math" panose="02040503050406030204" pitchFamily="18" charset="0"/>
                          </a:rPr>
                        </m:ctrlPr>
                      </m:funcPr>
                      <m:fName>
                        <m:r>
                          <m:rPr>
                            <m:sty m:val="p"/>
                          </m:rPr>
                          <a:rPr kumimoji="1" lang="en-US" altLang="zh-CN" sz="2000" b="0" i="0" dirty="0" smtClean="0">
                            <a:latin typeface="Cambria Math" panose="02040503050406030204" pitchFamily="18" charset="0"/>
                          </a:rPr>
                          <m:t>sign</m:t>
                        </m:r>
                      </m:fName>
                      <m:e>
                        <m:d>
                          <m:dPr>
                            <m:ctrlPr>
                              <a:rPr kumimoji="1" lang="en-US" altLang="zh-CN" sz="2000" b="0" i="1" dirty="0" smtClean="0">
                                <a:latin typeface="Cambria Math" panose="02040503050406030204" pitchFamily="18" charset="0"/>
                              </a:rPr>
                            </m:ctrlPr>
                          </m:dPr>
                          <m:e>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b="0" i="1" dirty="0" smtClean="0">
                                        <a:latin typeface="Cambria Math" panose="02040503050406030204" pitchFamily="18" charset="0"/>
                                      </a:rPr>
                                      <m:t>1×1+1×−1−0.5</m:t>
                                    </m:r>
                                  </m:e>
                                </m:d>
                                <m:r>
                                  <a:rPr kumimoji="1" lang="en-US" altLang="zh-CN" sz="2000" b="0" i="1" dirty="0" smtClean="0">
                                    <a:latin typeface="Cambria Math" panose="02040503050406030204" pitchFamily="18" charset="0"/>
                                  </a:rPr>
                                  <m:t>+</m:t>
                                </m:r>
                                <m:func>
                                  <m:funcPr>
                                    <m:ctrlPr>
                                      <a:rPr kumimoji="1" lang="en-US" altLang="zh-CN" sz="2000" i="1" dirty="0">
                                        <a:latin typeface="Cambria Math" panose="02040503050406030204" pitchFamily="18" charset="0"/>
                                      </a:rPr>
                                    </m:ctrlPr>
                                  </m:funcPr>
                                  <m:fName>
                                    <m:r>
                                      <m:rPr>
                                        <m:sty m:val="p"/>
                                      </m:rPr>
                                      <a:rPr kumimoji="1" lang="en-US" altLang="zh-CN" sz="2000" dirty="0">
                                        <a:latin typeface="Cambria Math" panose="02040503050406030204" pitchFamily="18" charset="0"/>
                                      </a:rPr>
                                      <m:t>sign</m:t>
                                    </m:r>
                                  </m:fName>
                                  <m:e>
                                    <m:d>
                                      <m:dPr>
                                        <m:ctrlPr>
                                          <a:rPr kumimoji="1" lang="en-US" altLang="zh-CN" sz="2000" i="1" dirty="0">
                                            <a:latin typeface="Cambria Math" panose="02040503050406030204" pitchFamily="18" charset="0"/>
                                          </a:rPr>
                                        </m:ctrlPr>
                                      </m:dPr>
                                      <m:e>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m:t>
                                        </m:r>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m:t>
                                        </m:r>
                                        <m:r>
                                          <a:rPr kumimoji="1" lang="en-US" altLang="zh-CN" sz="2000" b="0" i="1" dirty="0" smtClean="0">
                                            <a:latin typeface="Cambria Math" panose="02040503050406030204" pitchFamily="18" charset="0"/>
                                          </a:rPr>
                                          <m:t>1</m:t>
                                        </m:r>
                                        <m:r>
                                          <a:rPr kumimoji="1" lang="en-US" altLang="zh-CN" sz="2000" i="1" dirty="0">
                                            <a:latin typeface="Cambria Math" panose="02040503050406030204" pitchFamily="18" charset="0"/>
                                          </a:rPr>
                                          <m:t>×1−0.5</m:t>
                                        </m:r>
                                      </m:e>
                                    </m:d>
                                    <m:r>
                                      <a:rPr kumimoji="1" lang="en-US" altLang="zh-CN" sz="2000" b="0" i="1" dirty="0" smtClean="0">
                                        <a:latin typeface="Cambria Math" panose="02040503050406030204" pitchFamily="18" charset="0"/>
                                      </a:rPr>
                                      <m:t>−0.5</m:t>
                                    </m:r>
                                  </m:e>
                                </m:func>
                              </m:e>
                            </m:func>
                          </m:e>
                        </m:d>
                      </m:e>
                    </m:func>
                    <m:r>
                      <a:rPr kumimoji="1" lang="en-US" altLang="zh-CN" sz="2000" b="0" i="1" dirty="0" smtClean="0">
                        <a:latin typeface="Cambria Math" panose="02040503050406030204" pitchFamily="18" charset="0"/>
                      </a:rPr>
                      <m:t>=0</m:t>
                    </m:r>
                  </m:oMath>
                </a14:m>
                <a:r>
                  <a:rPr kumimoji="1" lang="en-US" altLang="zh-CN" sz="2000" dirty="0"/>
                  <a:t> </a:t>
                </a:r>
                <a:endParaRPr kumimoji="1" lang="zh-CN" altLang="en-US" sz="2000" dirty="0"/>
              </a:p>
            </p:txBody>
          </p:sp>
        </mc:Choice>
        <mc:Fallback xmlns="">
          <p:sp>
            <p:nvSpPr>
              <p:cNvPr id="5" name="文本框 4">
                <a:extLst>
                  <a:ext uri="{FF2B5EF4-FFF2-40B4-BE49-F238E27FC236}">
                    <a16:creationId xmlns:a16="http://schemas.microsoft.com/office/drawing/2014/main" id="{BBF7D526-BDDC-974A-8AA6-3057CFB90B5D}"/>
                  </a:ext>
                </a:extLst>
              </p:cNvPr>
              <p:cNvSpPr txBox="1">
                <a:spLocks noRot="1" noChangeAspect="1" noMove="1" noResize="1" noEditPoints="1" noAdjustHandles="1" noChangeArrowheads="1" noChangeShapeType="1" noTextEdit="1"/>
              </p:cNvSpPr>
              <p:nvPr/>
            </p:nvSpPr>
            <p:spPr>
              <a:xfrm>
                <a:off x="990600" y="4927649"/>
                <a:ext cx="9681275" cy="1799723"/>
              </a:xfrm>
              <a:prstGeom prst="rect">
                <a:avLst/>
              </a:prstGeom>
              <a:blipFill>
                <a:blip r:embed="rId4"/>
                <a:stretch>
                  <a:fillRect l="-1704" b="-76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9292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14</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6251072" cy="876394"/>
          </a:xfrm>
          <a:prstGeom prst="rect">
            <a:avLst/>
          </a:prstGeom>
          <a:noFill/>
        </p:spPr>
        <p:txBody>
          <a:bodyPr wrap="square" rtlCol="0">
            <a:spAutoFit/>
          </a:bodyPr>
          <a:lstStyle/>
          <a:p>
            <a:pPr marL="285750" indent="-285750">
              <a:buFont typeface="Wingdings" pitchFamily="2" charset="2"/>
              <a:buChar char="n"/>
            </a:pPr>
            <a:r>
              <a:rPr kumimoji="1" lang="zh-CN" altLang="en-US" sz="2400" dirty="0"/>
              <a:t>通用架构</a:t>
            </a:r>
            <a:endParaRPr kumimoji="1" lang="en-US" altLang="zh-CN" sz="2400" dirty="0"/>
          </a:p>
          <a:p>
            <a:pPr>
              <a:lnSpc>
                <a:spcPct val="150000"/>
              </a:lnSpc>
            </a:pPr>
            <a:endParaRPr kumimoji="1" lang="en-US" altLang="zh-CN" sz="2000" dirty="0"/>
          </a:p>
        </p:txBody>
      </p:sp>
      <p:sp>
        <p:nvSpPr>
          <p:cNvPr id="11" name="文本框 10">
            <a:extLst>
              <a:ext uri="{FF2B5EF4-FFF2-40B4-BE49-F238E27FC236}">
                <a16:creationId xmlns:a16="http://schemas.microsoft.com/office/drawing/2014/main" id="{DC6B7DE2-677A-604C-BEB0-F6BB8965447C}"/>
              </a:ext>
            </a:extLst>
          </p:cNvPr>
          <p:cNvSpPr txBox="1"/>
          <p:nvPr/>
        </p:nvSpPr>
        <p:spPr>
          <a:xfrm>
            <a:off x="6799712" y="2409704"/>
            <a:ext cx="4229232" cy="2252027"/>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输入层</a:t>
            </a:r>
            <a:endParaRPr kumimoji="1" lang="en-US" altLang="zh-CN" sz="2400" dirty="0"/>
          </a:p>
          <a:p>
            <a:pPr marL="800100" lvl="1" indent="-342900">
              <a:lnSpc>
                <a:spcPct val="150000"/>
              </a:lnSpc>
              <a:buFont typeface="Wingdings" pitchFamily="2" charset="2"/>
              <a:buChar char="p"/>
            </a:pPr>
            <a:r>
              <a:rPr kumimoji="1" lang="zh-CN" altLang="en-US" sz="2400" dirty="0"/>
              <a:t>每个神经元对应数据的一个特征</a:t>
            </a:r>
            <a:endParaRPr kumimoji="1" lang="en-US" altLang="zh-CN" sz="2400" dirty="0"/>
          </a:p>
          <a:p>
            <a:pPr marL="800100" lvl="1" indent="-342900">
              <a:lnSpc>
                <a:spcPct val="150000"/>
              </a:lnSpc>
              <a:buFont typeface="Wingdings" pitchFamily="2" charset="2"/>
              <a:buChar char="p"/>
            </a:pPr>
            <a:r>
              <a:rPr kumimoji="1" lang="zh-CN" altLang="en-US" sz="2400" dirty="0"/>
              <a:t>无需计算</a:t>
            </a:r>
            <a:endParaRPr kumimoji="1" lang="en-US" altLang="zh-CN" sz="2400" dirty="0"/>
          </a:p>
        </p:txBody>
      </p:sp>
      <p:grpSp>
        <p:nvGrpSpPr>
          <p:cNvPr id="16" name="组合 15">
            <a:extLst>
              <a:ext uri="{FF2B5EF4-FFF2-40B4-BE49-F238E27FC236}">
                <a16:creationId xmlns:a16="http://schemas.microsoft.com/office/drawing/2014/main" id="{57128858-9435-F146-B719-EC2398F1547C}"/>
              </a:ext>
            </a:extLst>
          </p:cNvPr>
          <p:cNvGrpSpPr/>
          <p:nvPr/>
        </p:nvGrpSpPr>
        <p:grpSpPr>
          <a:xfrm>
            <a:off x="752368" y="3339055"/>
            <a:ext cx="6047344" cy="3158057"/>
            <a:chOff x="752368" y="3339055"/>
            <a:chExt cx="6047344" cy="3158057"/>
          </a:xfrm>
        </p:grpSpPr>
        <p:pic>
          <p:nvPicPr>
            <p:cNvPr id="13" name="图片 12">
              <a:extLst>
                <a:ext uri="{FF2B5EF4-FFF2-40B4-BE49-F238E27FC236}">
                  <a16:creationId xmlns:a16="http://schemas.microsoft.com/office/drawing/2014/main" id="{2522A302-587D-5D44-9825-43E96A159D4B}"/>
                </a:ext>
              </a:extLst>
            </p:cNvPr>
            <p:cNvPicPr>
              <a:picLocks noChangeAspect="1"/>
            </p:cNvPicPr>
            <p:nvPr/>
          </p:nvPicPr>
          <p:blipFill>
            <a:blip r:embed="rId3"/>
            <a:stretch>
              <a:fillRect/>
            </a:stretch>
          </p:blipFill>
          <p:spPr>
            <a:xfrm>
              <a:off x="752368" y="3339055"/>
              <a:ext cx="6047344" cy="3158057"/>
            </a:xfrm>
            <a:prstGeom prst="rect">
              <a:avLst/>
            </a:prstGeom>
          </p:spPr>
        </p:pic>
        <p:cxnSp>
          <p:nvCxnSpPr>
            <p:cNvPr id="4" name="直线箭头连接符 3">
              <a:extLst>
                <a:ext uri="{FF2B5EF4-FFF2-40B4-BE49-F238E27FC236}">
                  <a16:creationId xmlns:a16="http://schemas.microsoft.com/office/drawing/2014/main" id="{D970AE38-48E6-7848-8EE0-B05BE17AD13F}"/>
                </a:ext>
              </a:extLst>
            </p:cNvPr>
            <p:cNvCxnSpPr>
              <a:cxnSpLocks/>
            </p:cNvCxnSpPr>
            <p:nvPr/>
          </p:nvCxnSpPr>
          <p:spPr>
            <a:xfrm flipV="1">
              <a:off x="5141626" y="4422098"/>
              <a:ext cx="689548" cy="1274165"/>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1B63F85A-223B-C043-B1B5-BA89C565E5F6}"/>
                </a:ext>
              </a:extLst>
            </p:cNvPr>
            <p:cNvCxnSpPr>
              <a:cxnSpLocks/>
            </p:cNvCxnSpPr>
            <p:nvPr/>
          </p:nvCxnSpPr>
          <p:spPr>
            <a:xfrm>
              <a:off x="5141626" y="3777521"/>
              <a:ext cx="689548" cy="1274164"/>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97D70E84-E0F5-D54E-86CE-EEA5F68401BF}"/>
                </a:ext>
              </a:extLst>
            </p:cNvPr>
            <p:cNvCxnSpPr>
              <a:cxnSpLocks/>
            </p:cNvCxnSpPr>
            <p:nvPr/>
          </p:nvCxnSpPr>
          <p:spPr>
            <a:xfrm>
              <a:off x="5141626" y="4317167"/>
              <a:ext cx="689548" cy="734518"/>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7414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15</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6251072" cy="876394"/>
          </a:xfrm>
          <a:prstGeom prst="rect">
            <a:avLst/>
          </a:prstGeom>
          <a:noFill/>
        </p:spPr>
        <p:txBody>
          <a:bodyPr wrap="square" rtlCol="0">
            <a:spAutoFit/>
          </a:bodyPr>
          <a:lstStyle/>
          <a:p>
            <a:pPr marL="285750" indent="-285750">
              <a:buFont typeface="Wingdings" pitchFamily="2" charset="2"/>
              <a:buChar char="n"/>
            </a:pPr>
            <a:r>
              <a:rPr kumimoji="1" lang="zh-CN" altLang="en-US" sz="2400" dirty="0"/>
              <a:t>通用架构</a:t>
            </a:r>
            <a:endParaRPr kumimoji="1" lang="en-US" altLang="zh-CN" sz="2400" dirty="0"/>
          </a:p>
          <a:p>
            <a:pPr>
              <a:lnSpc>
                <a:spcPct val="150000"/>
              </a:lnSpc>
            </a:pPr>
            <a:endParaRPr kumimoji="1" lang="en-US" altLang="zh-CN" sz="2000"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C6B7DE2-677A-604C-BEB0-F6BB8965447C}"/>
                  </a:ext>
                </a:extLst>
              </p:cNvPr>
              <p:cNvSpPr txBox="1"/>
              <p:nvPr/>
            </p:nvSpPr>
            <p:spPr>
              <a:xfrm>
                <a:off x="6350000" y="2437261"/>
                <a:ext cx="5547360" cy="3889655"/>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隐藏层 </a:t>
                </a:r>
                <a:r>
                  <a:rPr kumimoji="1" lang="en-US" altLang="zh-CN" sz="2400" dirty="0"/>
                  <a:t>&amp;</a:t>
                </a:r>
                <a:r>
                  <a:rPr kumimoji="1" lang="zh-CN" altLang="en-US" sz="2400" dirty="0"/>
                  <a:t> 输出层</a:t>
                </a:r>
                <a:endParaRPr kumimoji="1" lang="en-US" altLang="zh-CN" sz="2400" dirty="0"/>
              </a:p>
              <a:p>
                <a:pPr marL="800100" lvl="1" indent="-342900">
                  <a:lnSpc>
                    <a:spcPct val="150000"/>
                  </a:lnSpc>
                  <a:buFont typeface="Wingdings" pitchFamily="2" charset="2"/>
                  <a:buChar char="p"/>
                </a:pPr>
                <a:r>
                  <a:rPr kumimoji="1" lang="zh-CN" altLang="en-US" sz="2400" dirty="0"/>
                  <a:t>假设当前为第</a:t>
                </a:r>
                <a14:m>
                  <m:oMath xmlns:m="http://schemas.openxmlformats.org/officeDocument/2006/math">
                    <m:r>
                      <a:rPr kumimoji="1" lang="en-US" altLang="zh-CN" sz="2400" b="0" i="1" smtClean="0">
                        <a:latin typeface="Cambria Math" panose="02040503050406030204" pitchFamily="18" charset="0"/>
                      </a:rPr>
                      <m:t>ℓ</m:t>
                    </m:r>
                  </m:oMath>
                </a14:m>
                <a:r>
                  <a:rPr kumimoji="1" lang="zh-CN" altLang="en-US" sz="2400" dirty="0"/>
                  <a:t>层，有</a:t>
                </a:r>
                <a14:m>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𝑛</m:t>
                        </m:r>
                      </m:e>
                      <m:sub>
                        <m:r>
                          <a:rPr kumimoji="1" lang="en-US" altLang="zh-CN" sz="2400" b="0" i="1" smtClean="0">
                            <a:latin typeface="Cambria Math" panose="02040503050406030204" pitchFamily="18" charset="0"/>
                          </a:rPr>
                          <m:t>ℓ</m:t>
                        </m:r>
                      </m:sub>
                    </m:sSub>
                  </m:oMath>
                </a14:m>
                <a:r>
                  <a:rPr kumimoji="1" lang="zh-CN" altLang="en-US" sz="2400" dirty="0"/>
                  <a:t>个神经元</a:t>
                </a:r>
                <a:endParaRPr kumimoji="1" lang="en-US" altLang="zh-CN" sz="2400" dirty="0"/>
              </a:p>
              <a:p>
                <a:pPr marL="800100" lvl="1" indent="-342900">
                  <a:lnSpc>
                    <a:spcPct val="150000"/>
                  </a:lnSpc>
                  <a:buFont typeface="Wingdings" pitchFamily="2" charset="2"/>
                  <a:buChar char="p"/>
                </a:pPr>
                <a:r>
                  <a:rPr kumimoji="1" lang="zh-CN" altLang="en-US" sz="2400" dirty="0"/>
                  <a:t>每个神经元接收来自上一层的神经元的输入信号</a:t>
                </a:r>
                <a14:m>
                  <m:oMath xmlns:m="http://schemas.openxmlformats.org/officeDocument/2006/math">
                    <m:d>
                      <m:dPr>
                        <m:begChr m:val="["/>
                        <m:endChr m:val="]"/>
                        <m:ctrlPr>
                          <a:rPr kumimoji="1" lang="en-US" altLang="zh-CN" sz="2400" b="0" i="1" smtClean="0">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𝑥</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bSup>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m:t>
                        </m:r>
                        <m:r>
                          <a:rPr kumimoji="1" lang="en-US" altLang="zh-CN" sz="2400" b="0" i="1" smtClean="0">
                            <a:latin typeface="Cambria Math" panose="02040503050406030204" pitchFamily="18" charset="0"/>
                          </a:rPr>
                          <m:t>;</m:t>
                        </m:r>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𝑥</m:t>
                            </m:r>
                          </m:e>
                          <m:sub>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𝑛</m:t>
                                </m:r>
                              </m:e>
                              <m:sub>
                                <m:r>
                                  <a:rPr kumimoji="1" lang="en-US" altLang="zh-CN" sz="2400" i="1">
                                    <a:latin typeface="Cambria Math" panose="02040503050406030204" pitchFamily="18" charset="0"/>
                                  </a:rPr>
                                  <m:t>ℓ−1</m:t>
                                </m:r>
                              </m:sub>
                            </m:sSub>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bSup>
                      </m:e>
                    </m:d>
                  </m:oMath>
                </a14:m>
                <a:endParaRPr kumimoji="1" lang="en-US" altLang="zh-CN" sz="2400" dirty="0"/>
              </a:p>
              <a:p>
                <a:pPr marL="800100" lvl="1" indent="-342900">
                  <a:lnSpc>
                    <a:spcPct val="150000"/>
                  </a:lnSpc>
                  <a:buFont typeface="Wingdings" pitchFamily="2" charset="2"/>
                  <a:buChar char="p"/>
                </a:pPr>
                <a:r>
                  <a:rPr kumimoji="1" lang="zh-CN" altLang="en-US" sz="2400" dirty="0"/>
                  <a:t>每一个输入信号都有一个与之对应的权重</a:t>
                </a:r>
                <a14:m>
                  <m:oMath xmlns:m="http://schemas.openxmlformats.org/officeDocument/2006/math">
                    <m:d>
                      <m:dPr>
                        <m:begChr m:val="["/>
                        <m:endChr m:val="]"/>
                        <m:ctrlPr>
                          <a:rPr kumimoji="1" lang="en-US" altLang="zh-CN" sz="2400" b="0" i="1" smtClean="0">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𝑤</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bSup>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m:t>
                        </m:r>
                        <m:r>
                          <a:rPr kumimoji="1" lang="en-US" altLang="zh-CN" sz="2400" b="0" i="1" smtClean="0">
                            <a:latin typeface="Cambria Math" panose="02040503050406030204" pitchFamily="18" charset="0"/>
                          </a:rPr>
                          <m:t>;</m:t>
                        </m:r>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𝑤</m:t>
                            </m:r>
                          </m:e>
                          <m:sub>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𝑛</m:t>
                                </m:r>
                              </m:e>
                              <m:sub>
                                <m:r>
                                  <a:rPr kumimoji="1" lang="en-US" altLang="zh-CN" sz="2400" i="1">
                                    <a:latin typeface="Cambria Math" panose="02040503050406030204" pitchFamily="18" charset="0"/>
                                  </a:rPr>
                                  <m:t>ℓ−1</m:t>
                                </m:r>
                              </m:sub>
                            </m:sSub>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bSup>
                      </m:e>
                    </m:d>
                  </m:oMath>
                </a14:m>
                <a:endParaRPr kumimoji="1" lang="en-US" altLang="zh-CN" sz="2400" dirty="0"/>
              </a:p>
            </p:txBody>
          </p:sp>
        </mc:Choice>
        <mc:Fallback xmlns="">
          <p:sp>
            <p:nvSpPr>
              <p:cNvPr id="11" name="文本框 10">
                <a:extLst>
                  <a:ext uri="{FF2B5EF4-FFF2-40B4-BE49-F238E27FC236}">
                    <a16:creationId xmlns:a16="http://schemas.microsoft.com/office/drawing/2014/main" id="{DC6B7DE2-677A-604C-BEB0-F6BB8965447C}"/>
                  </a:ext>
                </a:extLst>
              </p:cNvPr>
              <p:cNvSpPr txBox="1">
                <a:spLocks noRot="1" noChangeAspect="1" noMove="1" noResize="1" noEditPoints="1" noAdjustHandles="1" noChangeArrowheads="1" noChangeShapeType="1" noTextEdit="1"/>
              </p:cNvSpPr>
              <p:nvPr/>
            </p:nvSpPr>
            <p:spPr>
              <a:xfrm>
                <a:off x="6350000" y="2437261"/>
                <a:ext cx="5547360" cy="3889655"/>
              </a:xfrm>
              <a:prstGeom prst="rect">
                <a:avLst/>
              </a:prstGeom>
              <a:blipFill>
                <a:blip r:embed="rId4"/>
                <a:stretch>
                  <a:fillRect l="-1602" b="-326"/>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0FEE39FE-E34B-6849-BD3A-92F385AD7FBB}"/>
              </a:ext>
            </a:extLst>
          </p:cNvPr>
          <p:cNvGrpSpPr/>
          <p:nvPr/>
        </p:nvGrpSpPr>
        <p:grpSpPr>
          <a:xfrm>
            <a:off x="752368" y="3339055"/>
            <a:ext cx="6047344" cy="3158057"/>
            <a:chOff x="752368" y="3339055"/>
            <a:chExt cx="6047344" cy="3158057"/>
          </a:xfrm>
        </p:grpSpPr>
        <p:pic>
          <p:nvPicPr>
            <p:cNvPr id="12" name="图片 11">
              <a:extLst>
                <a:ext uri="{FF2B5EF4-FFF2-40B4-BE49-F238E27FC236}">
                  <a16:creationId xmlns:a16="http://schemas.microsoft.com/office/drawing/2014/main" id="{AD1B98B8-2530-5346-A35F-8026DF306586}"/>
                </a:ext>
              </a:extLst>
            </p:cNvPr>
            <p:cNvPicPr>
              <a:picLocks noChangeAspect="1"/>
            </p:cNvPicPr>
            <p:nvPr/>
          </p:nvPicPr>
          <p:blipFill>
            <a:blip r:embed="rId5"/>
            <a:stretch>
              <a:fillRect/>
            </a:stretch>
          </p:blipFill>
          <p:spPr>
            <a:xfrm>
              <a:off x="752368" y="3339055"/>
              <a:ext cx="6047344" cy="3158057"/>
            </a:xfrm>
            <a:prstGeom prst="rect">
              <a:avLst/>
            </a:prstGeom>
          </p:spPr>
        </p:pic>
        <p:cxnSp>
          <p:nvCxnSpPr>
            <p:cNvPr id="14" name="直线箭头连接符 13">
              <a:extLst>
                <a:ext uri="{FF2B5EF4-FFF2-40B4-BE49-F238E27FC236}">
                  <a16:creationId xmlns:a16="http://schemas.microsoft.com/office/drawing/2014/main" id="{AB7EAE13-8E43-834E-9647-5773BC7B6DFE}"/>
                </a:ext>
              </a:extLst>
            </p:cNvPr>
            <p:cNvCxnSpPr>
              <a:cxnSpLocks/>
            </p:cNvCxnSpPr>
            <p:nvPr/>
          </p:nvCxnSpPr>
          <p:spPr>
            <a:xfrm flipV="1">
              <a:off x="5141626" y="4422098"/>
              <a:ext cx="689548" cy="1274165"/>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997EE333-CDB7-8A42-9074-0F3973B8C71F}"/>
                </a:ext>
              </a:extLst>
            </p:cNvPr>
            <p:cNvCxnSpPr>
              <a:cxnSpLocks/>
            </p:cNvCxnSpPr>
            <p:nvPr/>
          </p:nvCxnSpPr>
          <p:spPr>
            <a:xfrm>
              <a:off x="5141626" y="3777521"/>
              <a:ext cx="689548" cy="1274164"/>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3E434299-EB5F-804C-B981-21D5BA788A11}"/>
                </a:ext>
              </a:extLst>
            </p:cNvPr>
            <p:cNvCxnSpPr>
              <a:cxnSpLocks/>
            </p:cNvCxnSpPr>
            <p:nvPr/>
          </p:nvCxnSpPr>
          <p:spPr>
            <a:xfrm>
              <a:off x="5141626" y="4317167"/>
              <a:ext cx="689548" cy="734518"/>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3070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16</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6251072" cy="876394"/>
          </a:xfrm>
          <a:prstGeom prst="rect">
            <a:avLst/>
          </a:prstGeom>
          <a:noFill/>
        </p:spPr>
        <p:txBody>
          <a:bodyPr wrap="square" rtlCol="0">
            <a:spAutoFit/>
          </a:bodyPr>
          <a:lstStyle/>
          <a:p>
            <a:pPr marL="285750" indent="-285750">
              <a:buFont typeface="Wingdings" pitchFamily="2" charset="2"/>
              <a:buChar char="n"/>
            </a:pPr>
            <a:r>
              <a:rPr kumimoji="1" lang="zh-CN" altLang="en-US" sz="2400" dirty="0"/>
              <a:t>通用架构</a:t>
            </a:r>
            <a:endParaRPr kumimoji="1" lang="en-US" altLang="zh-CN" sz="2400" dirty="0"/>
          </a:p>
          <a:p>
            <a:pPr>
              <a:lnSpc>
                <a:spcPct val="150000"/>
              </a:lnSpc>
            </a:pPr>
            <a:endParaRPr kumimoji="1" lang="en-US" altLang="zh-CN" sz="2000"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C6B7DE2-677A-604C-BEB0-F6BB8965447C}"/>
                  </a:ext>
                </a:extLst>
              </p:cNvPr>
              <p:cNvSpPr txBox="1"/>
              <p:nvPr/>
            </p:nvSpPr>
            <p:spPr>
              <a:xfrm>
                <a:off x="6350000" y="2437261"/>
                <a:ext cx="5915572" cy="3358868"/>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隐藏层 </a:t>
                </a:r>
                <a:r>
                  <a:rPr kumimoji="1" lang="en-US" altLang="zh-CN" sz="2400" dirty="0"/>
                  <a:t>&amp;</a:t>
                </a:r>
                <a:r>
                  <a:rPr kumimoji="1" lang="zh-CN" altLang="en-US" sz="2400" dirty="0"/>
                  <a:t> 输出层</a:t>
                </a:r>
                <a:endParaRPr kumimoji="1" lang="en-US" altLang="zh-CN" sz="2400" dirty="0"/>
              </a:p>
              <a:p>
                <a:pPr marL="800100" lvl="1" indent="-342900">
                  <a:lnSpc>
                    <a:spcPct val="150000"/>
                  </a:lnSpc>
                  <a:buFont typeface="Wingdings" pitchFamily="2" charset="2"/>
                  <a:buChar char="p"/>
                </a:pPr>
                <a:r>
                  <a:rPr kumimoji="1" lang="zh-CN" altLang="en-US" sz="2400" dirty="0"/>
                  <a:t>假设当前为第</a:t>
                </a:r>
                <a14:m>
                  <m:oMath xmlns:m="http://schemas.openxmlformats.org/officeDocument/2006/math">
                    <m:r>
                      <a:rPr kumimoji="1" lang="en-US" altLang="zh-CN" sz="2400" b="0" i="1" smtClean="0">
                        <a:latin typeface="Cambria Math" panose="02040503050406030204" pitchFamily="18" charset="0"/>
                      </a:rPr>
                      <m:t>ℓ</m:t>
                    </m:r>
                  </m:oMath>
                </a14:m>
                <a:r>
                  <a:rPr kumimoji="1" lang="zh-CN" altLang="en-US" sz="2400" dirty="0"/>
                  <a:t>层，有</a:t>
                </a:r>
                <a14:m>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𝑛</m:t>
                        </m:r>
                      </m:e>
                      <m:sub>
                        <m:r>
                          <a:rPr kumimoji="1" lang="en-US" altLang="zh-CN" sz="2400" b="0" i="1" smtClean="0">
                            <a:latin typeface="Cambria Math" panose="02040503050406030204" pitchFamily="18" charset="0"/>
                          </a:rPr>
                          <m:t>ℓ</m:t>
                        </m:r>
                      </m:sub>
                    </m:sSub>
                  </m:oMath>
                </a14:m>
                <a:r>
                  <a:rPr kumimoji="1" lang="zh-CN" altLang="en-US" sz="2400" dirty="0"/>
                  <a:t>个神经元</a:t>
                </a:r>
                <a:endParaRPr kumimoji="1" lang="en-US" altLang="zh-CN" sz="2400" dirty="0"/>
              </a:p>
              <a:p>
                <a:pPr marL="800100" lvl="1" indent="-342900">
                  <a:lnSpc>
                    <a:spcPct val="150000"/>
                  </a:lnSpc>
                  <a:buFont typeface="Wingdings" pitchFamily="2" charset="2"/>
                  <a:buChar char="p"/>
                </a:pPr>
                <a:r>
                  <a:rPr kumimoji="1" lang="zh-CN" altLang="en-US" sz="2400" dirty="0"/>
                  <a:t>每个神经元整合输入信号后得到</a:t>
                </a:r>
                <a:endParaRPr kumimoji="1" lang="en-US" altLang="zh-CN" sz="2400" dirty="0"/>
              </a:p>
              <a:p>
                <a:pPr marL="800100" lvl="1" indent="-342900">
                  <a:lnSpc>
                    <a:spcPct val="150000"/>
                  </a:lnSpc>
                  <a:buFont typeface="Wingdings" pitchFamily="2" charset="2"/>
                  <a:buChar char="p"/>
                </a:pPr>
                <a:endParaRPr kumimoji="1" lang="en-US" altLang="zh-CN" sz="2400" dirty="0"/>
              </a:p>
              <a:p>
                <a:pPr lvl="1">
                  <a:lnSpc>
                    <a:spcPct val="150000"/>
                  </a:lnSpc>
                </a:pPr>
                <a:endParaRPr kumimoji="1" lang="en-US" altLang="zh-CN" sz="2400" dirty="0"/>
              </a:p>
              <a:p>
                <a:pPr lvl="1">
                  <a:lnSpc>
                    <a:spcPct val="150000"/>
                  </a:lnSpc>
                </a:pPr>
                <a:r>
                  <a:rPr kumimoji="1" lang="zh-CN" altLang="en-US" sz="2400" dirty="0"/>
                  <a:t>    再经过激活函数</a:t>
                </a:r>
                <a14:m>
                  <m:oMath xmlns:m="http://schemas.openxmlformats.org/officeDocument/2006/math">
                    <m:r>
                      <a:rPr kumimoji="1" lang="en-US" altLang="zh-CN" sz="2400" b="0" i="1" smtClean="0">
                        <a:solidFill>
                          <a:srgbClr val="C00000"/>
                        </a:solidFill>
                        <a:latin typeface="Cambria Math" panose="02040503050406030204" pitchFamily="18" charset="0"/>
                      </a:rPr>
                      <m:t>𝜎</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𝑧</m:t>
                        </m:r>
                      </m:e>
                    </m:d>
                  </m:oMath>
                </a14:m>
                <a:r>
                  <a:rPr kumimoji="1" lang="zh-CN" altLang="en-US" sz="2400" dirty="0"/>
                  <a:t>后输出</a:t>
                </a:r>
                <a:endParaRPr kumimoji="1" lang="en-US" altLang="zh-CN" sz="2400" dirty="0"/>
              </a:p>
            </p:txBody>
          </p:sp>
        </mc:Choice>
        <mc:Fallback xmlns="">
          <p:sp>
            <p:nvSpPr>
              <p:cNvPr id="11" name="文本框 10">
                <a:extLst>
                  <a:ext uri="{FF2B5EF4-FFF2-40B4-BE49-F238E27FC236}">
                    <a16:creationId xmlns:a16="http://schemas.microsoft.com/office/drawing/2014/main" id="{DC6B7DE2-677A-604C-BEB0-F6BB8965447C}"/>
                  </a:ext>
                </a:extLst>
              </p:cNvPr>
              <p:cNvSpPr txBox="1">
                <a:spLocks noRot="1" noChangeAspect="1" noMove="1" noResize="1" noEditPoints="1" noAdjustHandles="1" noChangeArrowheads="1" noChangeShapeType="1" noTextEdit="1"/>
              </p:cNvSpPr>
              <p:nvPr/>
            </p:nvSpPr>
            <p:spPr>
              <a:xfrm>
                <a:off x="6350000" y="2437261"/>
                <a:ext cx="5915572" cy="3358868"/>
              </a:xfrm>
              <a:prstGeom prst="rect">
                <a:avLst/>
              </a:prstGeom>
              <a:blipFill>
                <a:blip r:embed="rId3"/>
                <a:stretch>
                  <a:fillRect l="-1443"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7F8BEFF-9B5F-ED48-BD64-D9034F273348}"/>
                  </a:ext>
                </a:extLst>
              </p:cNvPr>
              <p:cNvSpPr txBox="1"/>
              <p:nvPr/>
            </p:nvSpPr>
            <p:spPr>
              <a:xfrm>
                <a:off x="6294186" y="4258903"/>
                <a:ext cx="6108700" cy="8597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2400" i="1" smtClean="0">
                              <a:solidFill>
                                <a:prstClr val="black"/>
                              </a:solidFill>
                              <a:latin typeface="Cambria Math" panose="02040503050406030204" pitchFamily="18" charset="0"/>
                            </a:rPr>
                          </m:ctrlPr>
                        </m:sSubSupPr>
                        <m:e>
                          <m:r>
                            <a:rPr kumimoji="1" lang="en-US" altLang="zh-CN" sz="2400" b="0" i="1" smtClean="0">
                              <a:solidFill>
                                <a:prstClr val="black"/>
                              </a:solidFill>
                              <a:latin typeface="Cambria Math" panose="02040503050406030204" pitchFamily="18" charset="0"/>
                            </a:rPr>
                            <m:t>𝑧</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r>
                        <a:rPr kumimoji="1" lang="en-US" altLang="zh-CN" sz="2400" i="1">
                          <a:solidFill>
                            <a:prstClr val="black"/>
                          </a:solidFill>
                          <a:latin typeface="Cambria Math" panose="02040503050406030204" pitchFamily="18" charset="0"/>
                        </a:rPr>
                        <m:t>=</m:t>
                      </m:r>
                      <m:nary>
                        <m:naryPr>
                          <m:chr m:val="∑"/>
                          <m:limLoc m:val="subSup"/>
                          <m:ctrlPr>
                            <a:rPr kumimoji="1" lang="en-US" altLang="zh-CN" sz="2400" i="1">
                              <a:solidFill>
                                <a:prstClr val="black"/>
                              </a:solidFill>
                              <a:latin typeface="Cambria Math" panose="02040503050406030204" pitchFamily="18" charset="0"/>
                            </a:rPr>
                          </m:ctrlPr>
                        </m:naryPr>
                        <m:sub>
                          <m:r>
                            <m:rPr>
                              <m:brk m:alnAt="25"/>
                            </m:rPr>
                            <a:rPr kumimoji="1" lang="en-US" altLang="zh-CN" sz="2400" i="1">
                              <a:solidFill>
                                <a:prstClr val="black"/>
                              </a:solidFill>
                              <a:latin typeface="Cambria Math" panose="02040503050406030204" pitchFamily="18" charset="0"/>
                            </a:rPr>
                            <m:t>𝑗</m:t>
                          </m:r>
                          <m:r>
                            <a:rPr kumimoji="1" lang="en-US" altLang="zh-CN" sz="2400" i="1">
                              <a:solidFill>
                                <a:prstClr val="black"/>
                              </a:solidFill>
                              <a:latin typeface="Cambria Math" panose="02040503050406030204" pitchFamily="18" charset="0"/>
                            </a:rPr>
                            <m:t>=1</m:t>
                          </m:r>
                        </m:sub>
                        <m:sup>
                          <m:sSub>
                            <m:sSubPr>
                              <m:ctrlPr>
                                <a:rPr kumimoji="1" lang="en-US" altLang="zh-CN" sz="2400" i="1">
                                  <a:solidFill>
                                    <a:prstClr val="black"/>
                                  </a:solidFill>
                                  <a:latin typeface="Cambria Math" panose="02040503050406030204" pitchFamily="18" charset="0"/>
                                </a:rPr>
                              </m:ctrlPr>
                            </m:sSubPr>
                            <m:e>
                              <m:r>
                                <a:rPr kumimoji="1" lang="en-US" altLang="zh-CN" sz="2400" i="1">
                                  <a:solidFill>
                                    <a:prstClr val="black"/>
                                  </a:solidFill>
                                  <a:latin typeface="Cambria Math" panose="02040503050406030204" pitchFamily="18" charset="0"/>
                                </a:rPr>
                                <m:t>𝑛</m:t>
                              </m:r>
                            </m:e>
                            <m:sub>
                              <m:r>
                                <a:rPr kumimoji="1" lang="en-US" altLang="zh-CN" sz="2400" i="1">
                                  <a:solidFill>
                                    <a:prstClr val="black"/>
                                  </a:solidFill>
                                  <a:latin typeface="Cambria Math" panose="02040503050406030204" pitchFamily="18" charset="0"/>
                                </a:rPr>
                                <m:t>ℓ−1</m:t>
                              </m:r>
                            </m:sub>
                          </m:sSub>
                        </m:sup>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𝑤</m:t>
                              </m:r>
                            </m:e>
                            <m:sub>
                              <m:r>
                                <a:rPr kumimoji="1" lang="en-US" altLang="zh-CN" sz="2400" b="0" i="1" smtClean="0">
                                  <a:solidFill>
                                    <a:prstClr val="black"/>
                                  </a:solidFill>
                                  <a:latin typeface="Cambria Math" panose="02040503050406030204" pitchFamily="18" charset="0"/>
                                </a:rPr>
                                <m:t>𝑘</m:t>
                              </m:r>
                              <m:r>
                                <a:rPr kumimoji="1" lang="en-US" altLang="zh-CN" sz="2400" b="0" i="1" smtClean="0">
                                  <a:solidFill>
                                    <a:prstClr val="black"/>
                                  </a:solidFill>
                                  <a:latin typeface="Cambria Math" panose="02040503050406030204" pitchFamily="18" charset="0"/>
                                </a:rPr>
                                <m:t>,</m:t>
                              </m:r>
                              <m:r>
                                <a:rPr kumimoji="1" lang="en-US" altLang="zh-CN" sz="2400" i="1">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𝑥</m:t>
                              </m:r>
                            </m:e>
                            <m:sub>
                              <m:r>
                                <a:rPr kumimoji="1" lang="en-US" altLang="zh-CN" sz="2400" i="1">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ℓ−1</m:t>
                                  </m:r>
                                </m:e>
                              </m:d>
                            </m:sup>
                          </m:sSubSup>
                        </m:e>
                      </m:nary>
                      <m:r>
                        <a:rPr kumimoji="1" lang="en-US" altLang="zh-CN" sz="2400" i="1">
                          <a:solidFill>
                            <a:prstClr val="black"/>
                          </a:solidFill>
                          <a:latin typeface="Cambria Math" panose="02040503050406030204" pitchFamily="18" charset="0"/>
                        </a:rPr>
                        <m:t>+</m:t>
                      </m:r>
                      <m:sSup>
                        <m:sSupPr>
                          <m:ctrlPr>
                            <a:rPr kumimoji="1" lang="en-US" altLang="zh-CN" sz="2400" i="1">
                              <a:solidFill>
                                <a:prstClr val="black"/>
                              </a:solidFill>
                              <a:latin typeface="Cambria Math" panose="02040503050406030204" pitchFamily="18" charset="0"/>
                            </a:rPr>
                          </m:ctrlPr>
                        </m:sSupPr>
                        <m:e>
                          <m:r>
                            <a:rPr kumimoji="1" lang="en-US" altLang="zh-CN" sz="2400" i="1">
                              <a:solidFill>
                                <a:prstClr val="black"/>
                              </a:solidFill>
                              <a:latin typeface="Cambria Math" panose="02040503050406030204" pitchFamily="18" charset="0"/>
                            </a:rPr>
                            <m:t>𝑏</m:t>
                          </m:r>
                        </m:e>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p>
                    </m:oMath>
                  </m:oMathPara>
                </a14:m>
                <a:endParaRPr kumimoji="1" lang="zh-CN" altLang="en-US" sz="2400" i="1" dirty="0">
                  <a:solidFill>
                    <a:prstClr val="black"/>
                  </a:solidFill>
                  <a:latin typeface="Cambria Math" panose="02040503050406030204" pitchFamily="18" charset="0"/>
                </a:endParaRPr>
              </a:p>
            </p:txBody>
          </p:sp>
        </mc:Choice>
        <mc:Fallback xmlns="">
          <p:sp>
            <p:nvSpPr>
              <p:cNvPr id="12" name="文本框 11">
                <a:extLst>
                  <a:ext uri="{FF2B5EF4-FFF2-40B4-BE49-F238E27FC236}">
                    <a16:creationId xmlns:a16="http://schemas.microsoft.com/office/drawing/2014/main" id="{97F8BEFF-9B5F-ED48-BD64-D9034F273348}"/>
                  </a:ext>
                </a:extLst>
              </p:cNvPr>
              <p:cNvSpPr txBox="1">
                <a:spLocks noRot="1" noChangeAspect="1" noMove="1" noResize="1" noEditPoints="1" noAdjustHandles="1" noChangeArrowheads="1" noChangeShapeType="1" noTextEdit="1"/>
              </p:cNvSpPr>
              <p:nvPr/>
            </p:nvSpPr>
            <p:spPr>
              <a:xfrm>
                <a:off x="6294186" y="4258903"/>
                <a:ext cx="6108700" cy="859787"/>
              </a:xfrm>
              <a:prstGeom prst="rect">
                <a:avLst/>
              </a:prstGeom>
              <a:blipFill>
                <a:blip r:embed="rId4"/>
                <a:stretch>
                  <a:fillRect/>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6ED119D8-957A-D444-8E69-025B84C5770D}"/>
              </a:ext>
            </a:extLst>
          </p:cNvPr>
          <p:cNvGrpSpPr/>
          <p:nvPr/>
        </p:nvGrpSpPr>
        <p:grpSpPr>
          <a:xfrm>
            <a:off x="752368" y="3339055"/>
            <a:ext cx="6047344" cy="3158057"/>
            <a:chOff x="752368" y="3339055"/>
            <a:chExt cx="6047344" cy="3158057"/>
          </a:xfrm>
        </p:grpSpPr>
        <p:pic>
          <p:nvPicPr>
            <p:cNvPr id="15" name="图片 14">
              <a:extLst>
                <a:ext uri="{FF2B5EF4-FFF2-40B4-BE49-F238E27FC236}">
                  <a16:creationId xmlns:a16="http://schemas.microsoft.com/office/drawing/2014/main" id="{A38ECB46-7D2D-0943-B579-32239FB3A524}"/>
                </a:ext>
              </a:extLst>
            </p:cNvPr>
            <p:cNvPicPr>
              <a:picLocks noChangeAspect="1"/>
            </p:cNvPicPr>
            <p:nvPr/>
          </p:nvPicPr>
          <p:blipFill>
            <a:blip r:embed="rId5"/>
            <a:stretch>
              <a:fillRect/>
            </a:stretch>
          </p:blipFill>
          <p:spPr>
            <a:xfrm>
              <a:off x="752368" y="3339055"/>
              <a:ext cx="6047344" cy="3158057"/>
            </a:xfrm>
            <a:prstGeom prst="rect">
              <a:avLst/>
            </a:prstGeom>
          </p:spPr>
        </p:pic>
        <p:cxnSp>
          <p:nvCxnSpPr>
            <p:cNvPr id="16" name="直线箭头连接符 15">
              <a:extLst>
                <a:ext uri="{FF2B5EF4-FFF2-40B4-BE49-F238E27FC236}">
                  <a16:creationId xmlns:a16="http://schemas.microsoft.com/office/drawing/2014/main" id="{AF370A27-3923-934A-8809-2DF57D0F2291}"/>
                </a:ext>
              </a:extLst>
            </p:cNvPr>
            <p:cNvCxnSpPr>
              <a:cxnSpLocks/>
            </p:cNvCxnSpPr>
            <p:nvPr/>
          </p:nvCxnSpPr>
          <p:spPr>
            <a:xfrm flipV="1">
              <a:off x="5141626" y="4422098"/>
              <a:ext cx="689548" cy="1274165"/>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395B3029-7E57-664F-B4A6-A0E6CB746022}"/>
                </a:ext>
              </a:extLst>
            </p:cNvPr>
            <p:cNvCxnSpPr>
              <a:cxnSpLocks/>
            </p:cNvCxnSpPr>
            <p:nvPr/>
          </p:nvCxnSpPr>
          <p:spPr>
            <a:xfrm>
              <a:off x="5141626" y="3777521"/>
              <a:ext cx="689548" cy="1274164"/>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F37FFB33-126A-9840-8FA4-BA7B3BF269E0}"/>
                </a:ext>
              </a:extLst>
            </p:cNvPr>
            <p:cNvCxnSpPr>
              <a:cxnSpLocks/>
            </p:cNvCxnSpPr>
            <p:nvPr/>
          </p:nvCxnSpPr>
          <p:spPr>
            <a:xfrm>
              <a:off x="5141626" y="4317167"/>
              <a:ext cx="689548" cy="734518"/>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8944E67-648E-4D95-A616-66757F8A65E1}"/>
                  </a:ext>
                </a:extLst>
              </p:cNvPr>
              <p:cNvSpPr txBox="1"/>
              <p:nvPr/>
            </p:nvSpPr>
            <p:spPr>
              <a:xfrm>
                <a:off x="6253436" y="5716727"/>
                <a:ext cx="6108700" cy="6450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2400" i="1" smtClean="0">
                              <a:solidFill>
                                <a:prstClr val="black"/>
                              </a:solidFill>
                              <a:latin typeface="Cambria Math" panose="02040503050406030204" pitchFamily="18" charset="0"/>
                            </a:rPr>
                          </m:ctrlPr>
                        </m:sSubSupPr>
                        <m:e>
                          <m:r>
                            <a:rPr kumimoji="1" lang="en-US" altLang="zh-CN" sz="2400" b="0" i="1" smtClean="0">
                              <a:solidFill>
                                <a:prstClr val="black"/>
                              </a:solidFill>
                              <a:latin typeface="Cambria Math" panose="02040503050406030204" pitchFamily="18" charset="0"/>
                            </a:rPr>
                            <m:t>𝑥</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r>
                        <a:rPr kumimoji="1" lang="en-US" altLang="zh-CN" sz="2400" i="1">
                          <a:solidFill>
                            <a:prstClr val="black"/>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𝜎</m:t>
                      </m:r>
                      <m:d>
                        <m:dPr>
                          <m:ctrlPr>
                            <a:rPr kumimoji="1" lang="en-US" altLang="zh-CN" sz="2400" i="1">
                              <a:solidFill>
                                <a:srgbClr val="C00000"/>
                              </a:solidFill>
                              <a:latin typeface="Cambria Math" panose="02040503050406030204" pitchFamily="18" charset="0"/>
                            </a:rPr>
                          </m:ctrlPr>
                        </m:dPr>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𝑧</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e>
                      </m:d>
                    </m:oMath>
                  </m:oMathPara>
                </a14:m>
                <a:endParaRPr lang="zh-CN" altLang="en-US" sz="2400" dirty="0"/>
              </a:p>
            </p:txBody>
          </p:sp>
        </mc:Choice>
        <mc:Fallback xmlns="">
          <p:sp>
            <p:nvSpPr>
              <p:cNvPr id="20" name="文本框 19">
                <a:extLst>
                  <a:ext uri="{FF2B5EF4-FFF2-40B4-BE49-F238E27FC236}">
                    <a16:creationId xmlns:a16="http://schemas.microsoft.com/office/drawing/2014/main" id="{08944E67-648E-4D95-A616-66757F8A65E1}"/>
                  </a:ext>
                </a:extLst>
              </p:cNvPr>
              <p:cNvSpPr txBox="1">
                <a:spLocks noRot="1" noChangeAspect="1" noMove="1" noResize="1" noEditPoints="1" noAdjustHandles="1" noChangeArrowheads="1" noChangeShapeType="1" noTextEdit="1"/>
              </p:cNvSpPr>
              <p:nvPr/>
            </p:nvSpPr>
            <p:spPr>
              <a:xfrm>
                <a:off x="6253436" y="5716727"/>
                <a:ext cx="6108700" cy="645048"/>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89929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0777A224-1CBE-1F45-846D-C83CF78B98FC}"/>
              </a:ext>
            </a:extLst>
          </p:cNvPr>
          <p:cNvPicPr>
            <a:picLocks noChangeAspect="1"/>
          </p:cNvPicPr>
          <p:nvPr/>
        </p:nvPicPr>
        <p:blipFill>
          <a:blip r:embed="rId3"/>
          <a:stretch>
            <a:fillRect/>
          </a:stretch>
        </p:blipFill>
        <p:spPr>
          <a:xfrm>
            <a:off x="6096000" y="3333338"/>
            <a:ext cx="3863764" cy="2897823"/>
          </a:xfrm>
          <a:prstGeom prst="rect">
            <a:avLst/>
          </a:prstGeom>
        </p:spPr>
      </p:pic>
      <p:pic>
        <p:nvPicPr>
          <p:cNvPr id="17" name="图片 16">
            <a:extLst>
              <a:ext uri="{FF2B5EF4-FFF2-40B4-BE49-F238E27FC236}">
                <a16:creationId xmlns:a16="http://schemas.microsoft.com/office/drawing/2014/main" id="{A18E33DC-EF00-D440-BF04-1F3C5508872E}"/>
              </a:ext>
            </a:extLst>
          </p:cNvPr>
          <p:cNvPicPr>
            <a:picLocks noChangeAspect="1"/>
          </p:cNvPicPr>
          <p:nvPr/>
        </p:nvPicPr>
        <p:blipFill>
          <a:blip r:embed="rId4"/>
          <a:stretch>
            <a:fillRect/>
          </a:stretch>
        </p:blipFill>
        <p:spPr>
          <a:xfrm>
            <a:off x="2253235" y="3333338"/>
            <a:ext cx="4107180" cy="3080385"/>
          </a:xfrm>
          <a:prstGeom prst="rect">
            <a:avLst/>
          </a:prstGeom>
        </p:spPr>
      </p:pic>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17</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10911782" cy="4154984"/>
              </a:xfrm>
              <a:prstGeom prst="rect">
                <a:avLst/>
              </a:prstGeom>
              <a:noFill/>
            </p:spPr>
            <p:txBody>
              <a:bodyPr wrap="square" rtlCol="0">
                <a:spAutoFit/>
              </a:bodyPr>
              <a:lstStyle/>
              <a:p>
                <a:pPr marL="285750" indent="-285750">
                  <a:buFont typeface="Wingdings" pitchFamily="2" charset="2"/>
                  <a:buChar char="n"/>
                </a:pPr>
                <a:r>
                  <a:rPr kumimoji="1" lang="zh-CN" altLang="en-US" sz="2400" dirty="0"/>
                  <a:t>激活函数</a:t>
                </a:r>
                <a14:m>
                  <m:oMath xmlns:m="http://schemas.openxmlformats.org/officeDocument/2006/math">
                    <m:r>
                      <a:rPr kumimoji="1" lang="en-US" altLang="zh-CN" sz="2400" b="0" i="1" smtClean="0">
                        <a:solidFill>
                          <a:srgbClr val="C00000"/>
                        </a:solidFill>
                        <a:latin typeface="Cambria Math" panose="02040503050406030204" pitchFamily="18" charset="0"/>
                      </a:rPr>
                      <m:t>𝜎</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𝑧</m:t>
                        </m:r>
                      </m:e>
                    </m:d>
                  </m:oMath>
                </a14:m>
                <a:endParaRPr kumimoji="1" lang="en-US" altLang="zh-CN" sz="2400" dirty="0"/>
              </a:p>
              <a:p>
                <a:r>
                  <a:rPr kumimoji="1" lang="zh-CN" altLang="en-US" sz="2400" dirty="0"/>
                  <a:t>单层感知机使用阈值函数</a:t>
                </a: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r>
                  <a:rPr kumimoji="1" lang="zh-CN" altLang="en-US" sz="2400" dirty="0"/>
                  <a:t>问题：</a:t>
                </a:r>
                <a:r>
                  <a:rPr kumimoji="1" lang="en-US" altLang="zh-CN" sz="2400" dirty="0"/>
                  <a:t>1.</a:t>
                </a:r>
                <a:r>
                  <a:rPr kumimoji="1" lang="zh-CN" altLang="en-US" sz="2400" dirty="0"/>
                  <a:t>函数不连续导致难以优化；</a:t>
                </a:r>
                <a:r>
                  <a:rPr kumimoji="1" lang="en-US" altLang="zh-CN" sz="2400" dirty="0"/>
                  <a:t>2.</a:t>
                </a:r>
                <a:r>
                  <a:rPr kumimoji="1" lang="zh-CN" altLang="en-US" sz="2400" dirty="0"/>
                  <a:t>二值化限制模型能力</a:t>
                </a:r>
                <a:r>
                  <a:rPr kumimoji="1" lang="en-US" altLang="zh-CN" sz="2400" dirty="0"/>
                  <a:t>(</a:t>
                </a:r>
                <a:r>
                  <a:rPr kumimoji="1" lang="zh-CN" altLang="en-US" sz="2400" dirty="0"/>
                  <a:t>假设空间变小</a:t>
                </a:r>
                <a:r>
                  <a:rPr kumimoji="1" lang="en-US" altLang="zh-CN" sz="2400" dirty="0"/>
                  <a:t>)</a:t>
                </a:r>
              </a:p>
            </p:txBody>
          </p:sp>
        </mc:Choice>
        <mc:Fallback xmlns="">
          <p:sp>
            <p:nvSpPr>
              <p:cNvPr id="10" name="文本框 9">
                <a:extLst>
                  <a:ext uri="{FF2B5EF4-FFF2-40B4-BE49-F238E27FC236}">
                    <a16:creationId xmlns:a16="http://schemas.microsoft.com/office/drawing/2014/main" id="{9595182C-852D-3545-BB3D-612141D2F52D}"/>
                  </a:ext>
                </a:extLst>
              </p:cNvPr>
              <p:cNvSpPr txBox="1">
                <a:spLocks noRot="1" noChangeAspect="1" noMove="1" noResize="1" noEditPoints="1" noAdjustHandles="1" noChangeArrowheads="1" noChangeShapeType="1" noTextEdit="1"/>
              </p:cNvSpPr>
              <p:nvPr/>
            </p:nvSpPr>
            <p:spPr>
              <a:xfrm>
                <a:off x="548640" y="2462661"/>
                <a:ext cx="10911782" cy="4154984"/>
              </a:xfrm>
              <a:prstGeom prst="rect">
                <a:avLst/>
              </a:prstGeom>
              <a:blipFill>
                <a:blip r:embed="rId5"/>
                <a:stretch>
                  <a:fillRect l="-838" t="-1026" b="-24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473775A-1C88-B743-A757-01C13871FDD7}"/>
                  </a:ext>
                </a:extLst>
              </p:cNvPr>
              <p:cNvSpPr txBox="1"/>
              <p:nvPr/>
            </p:nvSpPr>
            <p:spPr>
              <a:xfrm>
                <a:off x="731578" y="4416053"/>
                <a:ext cx="2058283" cy="7788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i="1" smtClean="0">
                          <a:solidFill>
                            <a:schemeClr val="tx1"/>
                          </a:solidFill>
                          <a:latin typeface="Cambria Math" panose="02040503050406030204" pitchFamily="18" charset="0"/>
                        </a:rPr>
                        <m:t>𝜎</m:t>
                      </m:r>
                      <m:d>
                        <m:dPr>
                          <m:ctrlPr>
                            <a:rPr kumimoji="1" lang="en-US" altLang="zh-CN" sz="2000" i="1">
                              <a:solidFill>
                                <a:schemeClr val="tx1"/>
                              </a:solidFill>
                              <a:latin typeface="Cambria Math" panose="02040503050406030204" pitchFamily="18" charset="0"/>
                            </a:rPr>
                          </m:ctrlPr>
                        </m:dPr>
                        <m:e>
                          <m:r>
                            <a:rPr kumimoji="1" lang="en-US" altLang="zh-CN" sz="2000" i="1">
                              <a:solidFill>
                                <a:schemeClr val="tx1"/>
                              </a:solidFill>
                              <a:latin typeface="Cambria Math" panose="02040503050406030204" pitchFamily="18" charset="0"/>
                            </a:rPr>
                            <m:t>𝑧</m:t>
                          </m:r>
                        </m:e>
                      </m:d>
                      <m:r>
                        <a:rPr lang="en-US" altLang="zh-CN" sz="2000" i="1">
                          <a:solidFill>
                            <a:schemeClr val="tx1"/>
                          </a:solidFill>
                          <a:latin typeface="Cambria Math" panose="02040503050406030204" pitchFamily="18" charset="0"/>
                        </a:rPr>
                        <m:t>=</m:t>
                      </m:r>
                      <m:r>
                        <a:rPr lang="zh-CN" altLang="en-US" sz="2000" i="1">
                          <a:solidFill>
                            <a:schemeClr val="tx1"/>
                          </a:solidFill>
                          <a:latin typeface="Cambria Math" panose="02040503050406030204" pitchFamily="18" charset="0"/>
                        </a:rPr>
                        <m:t> </m:t>
                      </m:r>
                      <m:d>
                        <m:dPr>
                          <m:begChr m:val="{"/>
                          <m:endChr m:val=""/>
                          <m:ctrlPr>
                            <a:rPr lang="en-US" altLang="zh-CN" sz="2000" i="1">
                              <a:solidFill>
                                <a:schemeClr val="tx1"/>
                              </a:solidFill>
                              <a:latin typeface="Cambria Math" panose="02040503050406030204" pitchFamily="18" charset="0"/>
                            </a:rPr>
                          </m:ctrlPr>
                        </m:dPr>
                        <m:e>
                          <m:m>
                            <m:mPr>
                              <m:mcs>
                                <m:mc>
                                  <m:mcPr>
                                    <m:count m:val="1"/>
                                    <m:mcJc m:val="center"/>
                                  </m:mcPr>
                                </m:mc>
                              </m:mcs>
                              <m:ctrlPr>
                                <a:rPr lang="en-US" altLang="zh-CN" sz="2000" i="1">
                                  <a:solidFill>
                                    <a:schemeClr val="tx1"/>
                                  </a:solidFill>
                                  <a:latin typeface="Cambria Math" panose="02040503050406030204" pitchFamily="18" charset="0"/>
                                </a:rPr>
                              </m:ctrlPr>
                            </m:mPr>
                            <m:mr>
                              <m:e>
                                <m:r>
                                  <a:rPr lang="en-US" altLang="zh-CN" sz="2000" i="1">
                                    <a:solidFill>
                                      <a:schemeClr val="tx1"/>
                                    </a:solidFill>
                                    <a:latin typeface="Cambria Math" panose="02040503050406030204" pitchFamily="18" charset="0"/>
                                  </a:rPr>
                                  <m:t>1, </m:t>
                                </m:r>
                                <m:r>
                                  <a:rPr lang="en-US" altLang="zh-CN" sz="2000" b="0" i="1" smtClean="0">
                                    <a:solidFill>
                                      <a:schemeClr val="tx1"/>
                                    </a:solidFill>
                                    <a:latin typeface="Cambria Math" panose="02040503050406030204" pitchFamily="18" charset="0"/>
                                  </a:rPr>
                                  <m:t>𝑧</m:t>
                                </m:r>
                                <m:r>
                                  <a:rPr lang="en-US" altLang="zh-CN" sz="2000" b="0" i="1" smtClean="0">
                                    <a:solidFill>
                                      <a:schemeClr val="tx1"/>
                                    </a:solidFill>
                                    <a:latin typeface="Cambria Math" panose="02040503050406030204" pitchFamily="18" charset="0"/>
                                  </a:rPr>
                                  <m:t>&gt;0</m:t>
                                </m:r>
                              </m:e>
                            </m:mr>
                            <m:mr>
                              <m:e>
                                <m:r>
                                  <a:rPr lang="en-US" altLang="zh-CN" sz="2000" b="0" i="1" smtClean="0">
                                    <a:solidFill>
                                      <a:schemeClr val="tx1"/>
                                    </a:solidFill>
                                    <a:latin typeface="Cambria Math" panose="02040503050406030204" pitchFamily="18" charset="0"/>
                                    <a:ea typeface="Cambria Math" panose="02040503050406030204" pitchFamily="18" charset="0"/>
                                  </a:rPr>
                                  <m:t>0</m:t>
                                </m:r>
                                <m:r>
                                  <a:rPr lang="en-US" altLang="zh-CN" sz="2000" i="1">
                                    <a:solidFill>
                                      <a:schemeClr val="tx1"/>
                                    </a:solidFill>
                                    <a:latin typeface="Cambria Math" panose="02040503050406030204" pitchFamily="18" charset="0"/>
                                  </a:rPr>
                                  <m:t>,</m:t>
                                </m:r>
                                <m:r>
                                  <a:rPr lang="zh-CN" altLang="en-US" sz="2000" i="1">
                                    <a:solidFill>
                                      <a:schemeClr val="tx1"/>
                                    </a:solidFill>
                                    <a:latin typeface="Cambria Math" panose="02040503050406030204" pitchFamily="18" charset="0"/>
                                  </a:rPr>
                                  <m:t> </m:t>
                                </m:r>
                                <m:r>
                                  <a:rPr lang="en-US" altLang="zh-CN" sz="2000" b="0" i="1" smtClean="0">
                                    <a:solidFill>
                                      <a:schemeClr val="tx1"/>
                                    </a:solidFill>
                                    <a:latin typeface="Cambria Math" panose="02040503050406030204" pitchFamily="18" charset="0"/>
                                  </a:rPr>
                                  <m:t>𝑧</m:t>
                                </m:r>
                                <m:r>
                                  <a:rPr lang="en-US" altLang="zh-CN" sz="2000" b="0" i="1" smtClean="0">
                                    <a:solidFill>
                                      <a:schemeClr val="tx1"/>
                                    </a:solidFill>
                                    <a:latin typeface="Cambria Math" panose="02040503050406030204" pitchFamily="18" charset="0"/>
                                  </a:rPr>
                                  <m:t>≤0</m:t>
                                </m:r>
                              </m:e>
                            </m:mr>
                          </m:m>
                        </m:e>
                      </m:d>
                    </m:oMath>
                  </m:oMathPara>
                </a14:m>
                <a:endParaRPr lang="zh-CN" altLang="en-US" sz="2000" dirty="0">
                  <a:solidFill>
                    <a:schemeClr val="tx1"/>
                  </a:solidFill>
                </a:endParaRPr>
              </a:p>
            </p:txBody>
          </p:sp>
        </mc:Choice>
        <mc:Fallback xmlns="">
          <p:sp>
            <p:nvSpPr>
              <p:cNvPr id="18" name="文本框 17">
                <a:extLst>
                  <a:ext uri="{FF2B5EF4-FFF2-40B4-BE49-F238E27FC236}">
                    <a16:creationId xmlns:a16="http://schemas.microsoft.com/office/drawing/2014/main" id="{3473775A-1C88-B743-A757-01C13871FDD7}"/>
                  </a:ext>
                </a:extLst>
              </p:cNvPr>
              <p:cNvSpPr txBox="1">
                <a:spLocks noRot="1" noChangeAspect="1" noMove="1" noResize="1" noEditPoints="1" noAdjustHandles="1" noChangeArrowheads="1" noChangeShapeType="1" noTextEdit="1"/>
              </p:cNvSpPr>
              <p:nvPr/>
            </p:nvSpPr>
            <p:spPr>
              <a:xfrm>
                <a:off x="731578" y="4416053"/>
                <a:ext cx="2058283" cy="778868"/>
              </a:xfrm>
              <a:prstGeom prst="rect">
                <a:avLst/>
              </a:prstGeom>
              <a:blipFill>
                <a:blip r:embed="rId6"/>
                <a:stretch>
                  <a:fillRect l="-14724" t="-193548" r="-11043" b="-2838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0699D203-67B3-4C49-B3DF-4C200828CAB6}"/>
                  </a:ext>
                </a:extLst>
              </p:cNvPr>
              <p:cNvSpPr txBox="1"/>
              <p:nvPr/>
            </p:nvSpPr>
            <p:spPr>
              <a:xfrm>
                <a:off x="9623205" y="4365553"/>
                <a:ext cx="205828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i="1" smtClean="0">
                          <a:solidFill>
                            <a:schemeClr val="tx1"/>
                          </a:solidFill>
                          <a:latin typeface="Cambria Math" panose="02040503050406030204" pitchFamily="18" charset="0"/>
                        </a:rPr>
                        <m:t>𝜎</m:t>
                      </m:r>
                      <m:d>
                        <m:dPr>
                          <m:ctrlPr>
                            <a:rPr kumimoji="1" lang="en-US" altLang="zh-CN" sz="2000" i="1">
                              <a:solidFill>
                                <a:schemeClr val="tx1"/>
                              </a:solidFill>
                              <a:latin typeface="Cambria Math" panose="02040503050406030204" pitchFamily="18" charset="0"/>
                            </a:rPr>
                          </m:ctrlPr>
                        </m:dPr>
                        <m:e>
                          <m:r>
                            <a:rPr kumimoji="1" lang="en-US" altLang="zh-CN" sz="2000" i="1">
                              <a:solidFill>
                                <a:schemeClr val="tx1"/>
                              </a:solidFill>
                              <a:latin typeface="Cambria Math" panose="02040503050406030204" pitchFamily="18" charset="0"/>
                            </a:rPr>
                            <m:t>𝑧</m:t>
                          </m:r>
                        </m:e>
                      </m:d>
                      <m:r>
                        <a:rPr lang="en-US" altLang="zh-CN" sz="2000" i="1">
                          <a:solidFill>
                            <a:schemeClr val="tx1"/>
                          </a:solidFill>
                          <a:latin typeface="Cambria Math" panose="02040503050406030204" pitchFamily="18" charset="0"/>
                        </a:rPr>
                        <m:t>=</m:t>
                      </m:r>
                      <m:r>
                        <m:rPr>
                          <m:sty m:val="p"/>
                        </m:rPr>
                        <a:rPr lang="en-US" altLang="zh-CN" sz="2000" i="0" smtClean="0">
                          <a:solidFill>
                            <a:schemeClr val="tx1"/>
                          </a:solidFill>
                          <a:latin typeface="Cambria Math" panose="02040503050406030204" pitchFamily="18" charset="0"/>
                        </a:rPr>
                        <m:t>s</m:t>
                      </m:r>
                      <m:r>
                        <m:rPr>
                          <m:sty m:val="p"/>
                        </m:rPr>
                        <a:rPr lang="en-US" altLang="zh-CN" sz="2000" i="1">
                          <a:latin typeface="Cambria Math" panose="02040503050406030204" pitchFamily="18" charset="0"/>
                        </a:rPr>
                        <m:t>ign</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𝑧</m:t>
                          </m:r>
                        </m:e>
                      </m:d>
                    </m:oMath>
                  </m:oMathPara>
                </a14:m>
                <a:endParaRPr lang="zh-CN" altLang="en-US" sz="2000" dirty="0">
                  <a:solidFill>
                    <a:schemeClr val="tx1"/>
                  </a:solidFill>
                </a:endParaRPr>
              </a:p>
            </p:txBody>
          </p:sp>
        </mc:Choice>
        <mc:Fallback xmlns="">
          <p:sp>
            <p:nvSpPr>
              <p:cNvPr id="21" name="文本框 20">
                <a:extLst>
                  <a:ext uri="{FF2B5EF4-FFF2-40B4-BE49-F238E27FC236}">
                    <a16:creationId xmlns:a16="http://schemas.microsoft.com/office/drawing/2014/main" id="{0699D203-67B3-4C49-B3DF-4C200828CAB6}"/>
                  </a:ext>
                </a:extLst>
              </p:cNvPr>
              <p:cNvSpPr txBox="1">
                <a:spLocks noRot="1" noChangeAspect="1" noMove="1" noResize="1" noEditPoints="1" noAdjustHandles="1" noChangeArrowheads="1" noChangeShapeType="1" noTextEdit="1"/>
              </p:cNvSpPr>
              <p:nvPr/>
            </p:nvSpPr>
            <p:spPr>
              <a:xfrm>
                <a:off x="9623205" y="4365553"/>
                <a:ext cx="2058283" cy="400110"/>
              </a:xfrm>
              <a:prstGeom prst="rect">
                <a:avLst/>
              </a:prstGeom>
              <a:blipFill>
                <a:blip r:embed="rId7"/>
                <a:stretch>
                  <a:fillRect b="-121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69353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10911782" cy="4154984"/>
              </a:xfrm>
              <a:prstGeom prst="rect">
                <a:avLst/>
              </a:prstGeom>
              <a:noFill/>
            </p:spPr>
            <p:txBody>
              <a:bodyPr wrap="square" rtlCol="0">
                <a:spAutoFit/>
              </a:bodyPr>
              <a:lstStyle/>
              <a:p>
                <a:pPr marL="285750" indent="-285750">
                  <a:buFont typeface="Wingdings" pitchFamily="2" charset="2"/>
                  <a:buChar char="n"/>
                </a:pPr>
                <a:r>
                  <a:rPr kumimoji="1" lang="zh-CN" altLang="en-US" sz="2400" dirty="0"/>
                  <a:t>激活函数</a:t>
                </a:r>
                <a14:m>
                  <m:oMath xmlns:m="http://schemas.openxmlformats.org/officeDocument/2006/math">
                    <m:r>
                      <a:rPr kumimoji="1" lang="en-US" altLang="zh-CN" sz="2400" b="0" i="1" smtClean="0">
                        <a:solidFill>
                          <a:srgbClr val="C00000"/>
                        </a:solidFill>
                        <a:latin typeface="Cambria Math" panose="02040503050406030204" pitchFamily="18" charset="0"/>
                      </a:rPr>
                      <m:t>𝜎</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𝑧</m:t>
                        </m:r>
                      </m:e>
                    </m:d>
                  </m:oMath>
                </a14:m>
                <a:endParaRPr kumimoji="1" lang="en-US" altLang="zh-CN" sz="2400" dirty="0"/>
              </a:p>
              <a:p>
                <a:pPr lvl="1"/>
                <a:endParaRPr kumimoji="1" lang="en-US" altLang="zh-CN" sz="2400" dirty="0"/>
              </a:p>
              <a:p>
                <a:pPr lvl="1"/>
                <a:endParaRPr kumimoji="1" lang="en-US" altLang="zh-CN" sz="2400" dirty="0"/>
              </a:p>
              <a:p>
                <a:pPr lvl="1"/>
                <a:endParaRPr kumimoji="1" lang="en-US" altLang="zh-CN" sz="2400" dirty="0"/>
              </a:p>
              <a:p>
                <a:pPr lvl="1"/>
                <a:endParaRPr kumimoji="1" lang="en-US" altLang="zh-CN" sz="2400" dirty="0"/>
              </a:p>
              <a:p>
                <a:pPr lvl="1"/>
                <a:endParaRPr kumimoji="1" lang="en-US" altLang="zh-CN" sz="2400" dirty="0"/>
              </a:p>
              <a:p>
                <a:pPr lvl="1"/>
                <a:endParaRPr kumimoji="1" lang="en-US" altLang="zh-CN" sz="2400" dirty="0"/>
              </a:p>
              <a:p>
                <a:pPr lvl="1"/>
                <a:endParaRPr kumimoji="1" lang="en-US" altLang="zh-CN" sz="2400" dirty="0"/>
              </a:p>
              <a:p>
                <a:pPr lvl="1"/>
                <a:endParaRPr kumimoji="1" lang="en-US" altLang="zh-CN" sz="2400" dirty="0"/>
              </a:p>
              <a:p>
                <a:pPr lvl="1"/>
                <a:endParaRPr kumimoji="1" lang="en-US" altLang="zh-CN" sz="2400" dirty="0"/>
              </a:p>
              <a:p>
                <a:pPr marL="800100" lvl="1" indent="-342900">
                  <a:buFont typeface="Wingdings" pitchFamily="2" charset="2"/>
                  <a:buChar char="p"/>
                </a:pPr>
                <a:r>
                  <a:rPr kumimoji="1" lang="zh-CN" altLang="en-US" sz="2400" dirty="0"/>
                  <a:t>回望逻辑回归：</a:t>
                </a:r>
                <a:r>
                  <a:rPr lang="en-US" altLang="zh-CN" sz="2400" dirty="0">
                    <a:solidFill>
                      <a:schemeClr val="tx1"/>
                    </a:solidFill>
                  </a:rPr>
                  <a:t>Sigmoid</a:t>
                </a:r>
                <a:r>
                  <a:rPr lang="zh-CN" altLang="en-US" sz="2400" dirty="0">
                    <a:solidFill>
                      <a:schemeClr val="tx1"/>
                    </a:solidFill>
                  </a:rPr>
                  <a:t>函数</a:t>
                </a:r>
                <a:r>
                  <a:rPr kumimoji="1" lang="zh-CN" altLang="en-US" sz="2400" dirty="0">
                    <a:solidFill>
                      <a:schemeClr val="tx1"/>
                    </a:solidFill>
                  </a:rPr>
                  <a:t>输出可以被认为是一种概率估计</a:t>
                </a:r>
                <a:endParaRPr lang="zh-CN" altLang="en-US" sz="2400" dirty="0">
                  <a:solidFill>
                    <a:schemeClr val="tx1"/>
                  </a:solidFill>
                </a:endParaRPr>
              </a:p>
            </p:txBody>
          </p:sp>
        </mc:Choice>
        <mc:Fallback xmlns="">
          <p:sp>
            <p:nvSpPr>
              <p:cNvPr id="10" name="文本框 9">
                <a:extLst>
                  <a:ext uri="{FF2B5EF4-FFF2-40B4-BE49-F238E27FC236}">
                    <a16:creationId xmlns:a16="http://schemas.microsoft.com/office/drawing/2014/main" id="{9595182C-852D-3545-BB3D-612141D2F52D}"/>
                  </a:ext>
                </a:extLst>
              </p:cNvPr>
              <p:cNvSpPr txBox="1">
                <a:spLocks noRot="1" noChangeAspect="1" noMove="1" noResize="1" noEditPoints="1" noAdjustHandles="1" noChangeArrowheads="1" noChangeShapeType="1" noTextEdit="1"/>
              </p:cNvSpPr>
              <p:nvPr/>
            </p:nvSpPr>
            <p:spPr>
              <a:xfrm>
                <a:off x="548640" y="2462661"/>
                <a:ext cx="10911782" cy="4154984"/>
              </a:xfrm>
              <a:prstGeom prst="rect">
                <a:avLst/>
              </a:prstGeom>
              <a:blipFill>
                <a:blip r:embed="rId3"/>
                <a:stretch>
                  <a:fillRect l="-726" t="-1026" b="-2493"/>
                </a:stretch>
              </a:blipFill>
            </p:spPr>
            <p:txBody>
              <a:bodyPr/>
              <a:lstStyle/>
              <a:p>
                <a:r>
                  <a:rPr lang="zh-CN" altLang="en-US">
                    <a:noFill/>
                  </a:rPr>
                  <a:t> </a:t>
                </a:r>
              </a:p>
            </p:txBody>
          </p:sp>
        </mc:Fallback>
      </mc:AlternateContent>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18</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p:pic>
        <p:nvPicPr>
          <p:cNvPr id="1028" name="Picture 4" descr="Graph image">
            <a:extLst>
              <a:ext uri="{FF2B5EF4-FFF2-40B4-BE49-F238E27FC236}">
                <a16:creationId xmlns:a16="http://schemas.microsoft.com/office/drawing/2014/main" id="{29D44C9D-3AF2-EB4D-9250-38328BB403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5951" y="3097628"/>
            <a:ext cx="3819796" cy="30147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raph image">
            <a:extLst>
              <a:ext uri="{FF2B5EF4-FFF2-40B4-BE49-F238E27FC236}">
                <a16:creationId xmlns:a16="http://schemas.microsoft.com/office/drawing/2014/main" id="{446A9D8B-5721-B44B-86C4-E505635584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5873" y="3076672"/>
            <a:ext cx="3954370" cy="301479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0E28E75-078F-AA46-8D1C-8FD780AA5E94}"/>
                  </a:ext>
                </a:extLst>
              </p:cNvPr>
              <p:cNvSpPr txBox="1"/>
              <p:nvPr/>
            </p:nvSpPr>
            <p:spPr>
              <a:xfrm>
                <a:off x="639197" y="4305705"/>
                <a:ext cx="2058283" cy="694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i="1" smtClean="0">
                          <a:solidFill>
                            <a:schemeClr val="tx1"/>
                          </a:solidFill>
                          <a:latin typeface="Cambria Math" panose="02040503050406030204" pitchFamily="18" charset="0"/>
                        </a:rPr>
                        <m:t>𝜎</m:t>
                      </m:r>
                      <m:d>
                        <m:dPr>
                          <m:ctrlPr>
                            <a:rPr kumimoji="1" lang="en-US" altLang="zh-CN" sz="2000" i="1">
                              <a:solidFill>
                                <a:schemeClr val="tx1"/>
                              </a:solidFill>
                              <a:latin typeface="Cambria Math" panose="02040503050406030204" pitchFamily="18" charset="0"/>
                            </a:rPr>
                          </m:ctrlPr>
                        </m:dPr>
                        <m:e>
                          <m:r>
                            <a:rPr kumimoji="1" lang="en-US" altLang="zh-CN" sz="2000" i="1">
                              <a:solidFill>
                                <a:schemeClr val="tx1"/>
                              </a:solidFill>
                              <a:latin typeface="Cambria Math" panose="02040503050406030204" pitchFamily="18" charset="0"/>
                            </a:rPr>
                            <m:t>𝑧</m:t>
                          </m:r>
                        </m:e>
                      </m:d>
                      <m:r>
                        <a:rPr lang="en-US" altLang="zh-CN" sz="2000" i="1">
                          <a:solidFill>
                            <a:schemeClr val="tx1"/>
                          </a:solidFill>
                          <a:latin typeface="Cambria Math" panose="02040503050406030204" pitchFamily="18" charset="0"/>
                        </a:rPr>
                        <m:t>=</m:t>
                      </m:r>
                      <m:f>
                        <m:fPr>
                          <m:ctrlPr>
                            <a:rPr lang="en-US" altLang="zh-CN" sz="2000" i="1" smtClean="0">
                              <a:solidFill>
                                <a:schemeClr val="tx1"/>
                              </a:solidFill>
                              <a:latin typeface="Cambria Math" panose="02040503050406030204" pitchFamily="18" charset="0"/>
                            </a:rPr>
                          </m:ctrlPr>
                        </m:fPr>
                        <m:num>
                          <m:r>
                            <a:rPr lang="en-US" altLang="zh-CN" sz="2000" b="0" i="1" smtClean="0">
                              <a:solidFill>
                                <a:schemeClr val="tx1"/>
                              </a:solidFill>
                              <a:latin typeface="Cambria Math" panose="02040503050406030204" pitchFamily="18" charset="0"/>
                            </a:rPr>
                            <m:t>1</m:t>
                          </m:r>
                        </m:num>
                        <m:den>
                          <m:r>
                            <a:rPr lang="en-US" altLang="zh-CN" sz="2000" b="0" i="1" smtClean="0">
                              <a:solidFill>
                                <a:schemeClr val="tx1"/>
                              </a:solidFill>
                              <a:latin typeface="Cambria Math" panose="02040503050406030204" pitchFamily="18" charset="0"/>
                            </a:rPr>
                            <m:t>1+</m:t>
                          </m:r>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𝑒</m:t>
                              </m:r>
                            </m:e>
                            <m:sup>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𝑧</m:t>
                              </m:r>
                            </m:sup>
                          </m:sSup>
                        </m:den>
                      </m:f>
                    </m:oMath>
                  </m:oMathPara>
                </a14:m>
                <a:endParaRPr lang="zh-CN" altLang="en-US" sz="2000" dirty="0">
                  <a:solidFill>
                    <a:schemeClr val="tx1"/>
                  </a:solidFill>
                </a:endParaRPr>
              </a:p>
            </p:txBody>
          </p:sp>
        </mc:Choice>
        <mc:Fallback xmlns="">
          <p:sp>
            <p:nvSpPr>
              <p:cNvPr id="15" name="文本框 14">
                <a:extLst>
                  <a:ext uri="{FF2B5EF4-FFF2-40B4-BE49-F238E27FC236}">
                    <a16:creationId xmlns:a16="http://schemas.microsoft.com/office/drawing/2014/main" id="{70E28E75-078F-AA46-8D1C-8FD780AA5E94}"/>
                  </a:ext>
                </a:extLst>
              </p:cNvPr>
              <p:cNvSpPr txBox="1">
                <a:spLocks noRot="1" noChangeAspect="1" noMove="1" noResize="1" noEditPoints="1" noAdjustHandles="1" noChangeArrowheads="1" noChangeShapeType="1" noTextEdit="1"/>
              </p:cNvSpPr>
              <p:nvPr/>
            </p:nvSpPr>
            <p:spPr>
              <a:xfrm>
                <a:off x="639197" y="4305705"/>
                <a:ext cx="2058283" cy="694357"/>
              </a:xfrm>
              <a:prstGeom prst="rect">
                <a:avLst/>
              </a:prstGeom>
              <a:blipFill>
                <a:blip r:embed="rId6"/>
                <a:stretch>
                  <a:fillRect b="-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6F68715-B93B-8440-98F3-74E7281B46E8}"/>
                  </a:ext>
                </a:extLst>
              </p:cNvPr>
              <p:cNvSpPr txBox="1"/>
              <p:nvPr/>
            </p:nvSpPr>
            <p:spPr>
              <a:xfrm>
                <a:off x="9954351" y="4291020"/>
                <a:ext cx="2058283" cy="6881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i="1" smtClean="0">
                          <a:solidFill>
                            <a:schemeClr val="tx1"/>
                          </a:solidFill>
                          <a:latin typeface="Cambria Math" panose="02040503050406030204" pitchFamily="18" charset="0"/>
                        </a:rPr>
                        <m:t>𝜎</m:t>
                      </m:r>
                      <m:d>
                        <m:dPr>
                          <m:ctrlPr>
                            <a:rPr kumimoji="1" lang="en-US" altLang="zh-CN" sz="2000" i="1">
                              <a:solidFill>
                                <a:schemeClr val="tx1"/>
                              </a:solidFill>
                              <a:latin typeface="Cambria Math" panose="02040503050406030204" pitchFamily="18" charset="0"/>
                            </a:rPr>
                          </m:ctrlPr>
                        </m:dPr>
                        <m:e>
                          <m:r>
                            <a:rPr kumimoji="1" lang="en-US" altLang="zh-CN" sz="2000" i="1">
                              <a:solidFill>
                                <a:schemeClr val="tx1"/>
                              </a:solidFill>
                              <a:latin typeface="Cambria Math" panose="02040503050406030204" pitchFamily="18" charset="0"/>
                            </a:rPr>
                            <m:t>𝑧</m:t>
                          </m:r>
                        </m:e>
                      </m:d>
                      <m:r>
                        <a:rPr lang="en-US" altLang="zh-CN" sz="2000" i="1">
                          <a:solidFill>
                            <a:schemeClr val="tx1"/>
                          </a:solidFill>
                          <a:latin typeface="Cambria Math" panose="02040503050406030204" pitchFamily="18" charset="0"/>
                        </a:rPr>
                        <m:t>=</m:t>
                      </m:r>
                      <m:f>
                        <m:fPr>
                          <m:ctrlPr>
                            <a:rPr lang="en-US" altLang="zh-CN" sz="2000" i="1" smtClean="0">
                              <a:solidFill>
                                <a:schemeClr val="tx1"/>
                              </a:solidFill>
                              <a:latin typeface="Cambria Math" panose="02040503050406030204" pitchFamily="18" charset="0"/>
                            </a:rPr>
                          </m:ctrlPr>
                        </m:fPr>
                        <m:num>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𝑒</m:t>
                              </m:r>
                            </m:e>
                            <m:sup>
                              <m:r>
                                <a:rPr lang="en-US" altLang="zh-CN" sz="2000" b="0" i="1" smtClean="0">
                                  <a:solidFill>
                                    <a:schemeClr val="tx1"/>
                                  </a:solidFill>
                                  <a:latin typeface="Cambria Math" panose="02040503050406030204" pitchFamily="18" charset="0"/>
                                </a:rPr>
                                <m:t>𝑧</m:t>
                              </m:r>
                            </m:sup>
                          </m:sSup>
                          <m:r>
                            <a:rPr lang="en-US" altLang="zh-CN" sz="2000" b="0" i="1" smtClean="0">
                              <a:solidFill>
                                <a:schemeClr val="tx1"/>
                              </a:solidFill>
                              <a:latin typeface="Cambria Math" panose="02040503050406030204" pitchFamily="18" charset="0"/>
                            </a:rPr>
                            <m:t>−</m:t>
                          </m:r>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𝑒</m:t>
                              </m:r>
                            </m:e>
                            <m:sup>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𝑧</m:t>
                              </m:r>
                            </m:sup>
                          </m:sSup>
                        </m:num>
                        <m:den>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𝑒</m:t>
                              </m:r>
                            </m:e>
                            <m:sup>
                              <m:r>
                                <a:rPr lang="en-US" altLang="zh-CN" sz="2000" b="0" i="1" smtClean="0">
                                  <a:solidFill>
                                    <a:schemeClr val="tx1"/>
                                  </a:solidFill>
                                  <a:latin typeface="Cambria Math" panose="02040503050406030204" pitchFamily="18" charset="0"/>
                                </a:rPr>
                                <m:t>𝑧</m:t>
                              </m:r>
                            </m:sup>
                          </m:sSup>
                          <m:r>
                            <a:rPr lang="en-US" altLang="zh-CN" sz="2000" b="0" i="1" smtClean="0">
                              <a:solidFill>
                                <a:schemeClr val="tx1"/>
                              </a:solidFill>
                              <a:latin typeface="Cambria Math" panose="02040503050406030204" pitchFamily="18" charset="0"/>
                            </a:rPr>
                            <m:t>+</m:t>
                          </m:r>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𝑒</m:t>
                              </m:r>
                            </m:e>
                            <m:sup>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𝑧</m:t>
                              </m:r>
                            </m:sup>
                          </m:sSup>
                        </m:den>
                      </m:f>
                    </m:oMath>
                  </m:oMathPara>
                </a14:m>
                <a:endParaRPr lang="zh-CN" altLang="en-US" sz="2000" dirty="0">
                  <a:solidFill>
                    <a:schemeClr val="tx1"/>
                  </a:solidFill>
                </a:endParaRPr>
              </a:p>
            </p:txBody>
          </p:sp>
        </mc:Choice>
        <mc:Fallback xmlns="">
          <p:sp>
            <p:nvSpPr>
              <p:cNvPr id="16" name="文本框 15">
                <a:extLst>
                  <a:ext uri="{FF2B5EF4-FFF2-40B4-BE49-F238E27FC236}">
                    <a16:creationId xmlns:a16="http://schemas.microsoft.com/office/drawing/2014/main" id="{36F68715-B93B-8440-98F3-74E7281B46E8}"/>
                  </a:ext>
                </a:extLst>
              </p:cNvPr>
              <p:cNvSpPr txBox="1">
                <a:spLocks noRot="1" noChangeAspect="1" noMove="1" noResize="1" noEditPoints="1" noAdjustHandles="1" noChangeArrowheads="1" noChangeShapeType="1" noTextEdit="1"/>
              </p:cNvSpPr>
              <p:nvPr/>
            </p:nvSpPr>
            <p:spPr>
              <a:xfrm>
                <a:off x="9954351" y="4291020"/>
                <a:ext cx="2058283" cy="688137"/>
              </a:xfrm>
              <a:prstGeom prst="rect">
                <a:avLst/>
              </a:prstGeom>
              <a:blipFill>
                <a:blip r:embed="rId7"/>
                <a:stretch>
                  <a:fillRect b="-3571"/>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8579E1D9-781F-5442-AAAF-0F4DB55EC3E8}"/>
              </a:ext>
            </a:extLst>
          </p:cNvPr>
          <p:cNvSpPr txBox="1"/>
          <p:nvPr/>
        </p:nvSpPr>
        <p:spPr>
          <a:xfrm>
            <a:off x="854596" y="3888312"/>
            <a:ext cx="2058283" cy="400110"/>
          </a:xfrm>
          <a:prstGeom prst="rect">
            <a:avLst/>
          </a:prstGeom>
          <a:noFill/>
        </p:spPr>
        <p:txBody>
          <a:bodyPr wrap="square">
            <a:spAutoFit/>
          </a:bodyPr>
          <a:lstStyle/>
          <a:p>
            <a:r>
              <a:rPr lang="en-US" altLang="zh-CN" sz="2000" dirty="0">
                <a:solidFill>
                  <a:schemeClr val="tx1"/>
                </a:solidFill>
              </a:rPr>
              <a:t>Sigmoid</a:t>
            </a:r>
            <a:r>
              <a:rPr lang="zh-CN" altLang="en-US" sz="2000" dirty="0">
                <a:solidFill>
                  <a:schemeClr val="tx1"/>
                </a:solidFill>
              </a:rPr>
              <a:t>函数</a:t>
            </a:r>
          </a:p>
        </p:txBody>
      </p:sp>
      <p:sp>
        <p:nvSpPr>
          <p:cNvPr id="23" name="文本框 22">
            <a:extLst>
              <a:ext uri="{FF2B5EF4-FFF2-40B4-BE49-F238E27FC236}">
                <a16:creationId xmlns:a16="http://schemas.microsoft.com/office/drawing/2014/main" id="{A0C611B9-D289-2747-96F6-1352F7AAF084}"/>
              </a:ext>
            </a:extLst>
          </p:cNvPr>
          <p:cNvSpPr txBox="1"/>
          <p:nvPr/>
        </p:nvSpPr>
        <p:spPr>
          <a:xfrm>
            <a:off x="10652347" y="3762892"/>
            <a:ext cx="1360288" cy="400110"/>
          </a:xfrm>
          <a:prstGeom prst="rect">
            <a:avLst/>
          </a:prstGeom>
          <a:noFill/>
        </p:spPr>
        <p:txBody>
          <a:bodyPr wrap="square">
            <a:spAutoFit/>
          </a:bodyPr>
          <a:lstStyle/>
          <a:p>
            <a:r>
              <a:rPr lang="en-US" altLang="zh-CN" sz="2000" dirty="0">
                <a:solidFill>
                  <a:schemeClr val="tx1"/>
                </a:solidFill>
              </a:rPr>
              <a:t>Tanh</a:t>
            </a:r>
            <a:r>
              <a:rPr lang="zh-CN" altLang="en-US" sz="2000" dirty="0">
                <a:solidFill>
                  <a:schemeClr val="tx1"/>
                </a:solidFill>
              </a:rPr>
              <a:t>函数</a:t>
            </a:r>
          </a:p>
        </p:txBody>
      </p:sp>
      <p:sp>
        <p:nvSpPr>
          <p:cNvPr id="24" name="爆炸形 2 23">
            <a:extLst>
              <a:ext uri="{FF2B5EF4-FFF2-40B4-BE49-F238E27FC236}">
                <a16:creationId xmlns:a16="http://schemas.microsoft.com/office/drawing/2014/main" id="{325EA27C-7A0F-BB4F-89B2-83D641AA3643}"/>
              </a:ext>
            </a:extLst>
          </p:cNvPr>
          <p:cNvSpPr/>
          <p:nvPr/>
        </p:nvSpPr>
        <p:spPr>
          <a:xfrm>
            <a:off x="7890077" y="4917279"/>
            <a:ext cx="3442414"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连续且平滑！</a:t>
            </a:r>
          </a:p>
        </p:txBody>
      </p:sp>
    </p:spTree>
    <p:extLst>
      <p:ext uri="{BB962C8B-B14F-4D97-AF65-F5344CB8AC3E}">
        <p14:creationId xmlns:p14="http://schemas.microsoft.com/office/powerpoint/2010/main" val="287354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Graph image">
            <a:extLst>
              <a:ext uri="{FF2B5EF4-FFF2-40B4-BE49-F238E27FC236}">
                <a16:creationId xmlns:a16="http://schemas.microsoft.com/office/drawing/2014/main" id="{9FAD7A80-2306-EC4A-B529-972135164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8082" y="2875302"/>
            <a:ext cx="4272999" cy="33460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10911782" cy="4154984"/>
              </a:xfrm>
              <a:prstGeom prst="rect">
                <a:avLst/>
              </a:prstGeom>
              <a:noFill/>
            </p:spPr>
            <p:txBody>
              <a:bodyPr wrap="square" rtlCol="0">
                <a:spAutoFit/>
              </a:bodyPr>
              <a:lstStyle/>
              <a:p>
                <a:pPr marL="285750" indent="-285750">
                  <a:buFont typeface="Wingdings" pitchFamily="2" charset="2"/>
                  <a:buChar char="n"/>
                </a:pPr>
                <a:r>
                  <a:rPr kumimoji="1" lang="zh-CN" altLang="en-US" sz="2400" dirty="0"/>
                  <a:t>激活函数</a:t>
                </a:r>
                <a14:m>
                  <m:oMath xmlns:m="http://schemas.openxmlformats.org/officeDocument/2006/math">
                    <m:r>
                      <a:rPr kumimoji="1" lang="en-US" altLang="zh-CN" sz="2400" b="0" i="1" smtClean="0">
                        <a:solidFill>
                          <a:srgbClr val="C00000"/>
                        </a:solidFill>
                        <a:latin typeface="Cambria Math" panose="02040503050406030204" pitchFamily="18" charset="0"/>
                      </a:rPr>
                      <m:t>𝜎</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𝑧</m:t>
                        </m:r>
                      </m:e>
                    </m:d>
                  </m:oMath>
                </a14:m>
                <a:endParaRPr kumimoji="1" lang="en-US" altLang="zh-CN" sz="2400" dirty="0"/>
              </a:p>
              <a:p>
                <a:pPr lvl="1"/>
                <a:endParaRPr kumimoji="1" lang="en-US" altLang="zh-CN" sz="2400" dirty="0"/>
              </a:p>
              <a:p>
                <a:pPr lvl="1"/>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r>
                  <a:rPr kumimoji="1" lang="en-US" altLang="zh-CN" sz="2400" dirty="0" err="1"/>
                  <a:t>ReLU</a:t>
                </a:r>
                <a:r>
                  <a:rPr kumimoji="1" lang="zh-CN" altLang="en-US" sz="2400" dirty="0"/>
                  <a:t>函数连续但不可导</a:t>
                </a:r>
                <a:endParaRPr kumimoji="1" lang="en-US" altLang="zh-CN" sz="2400" dirty="0"/>
              </a:p>
            </p:txBody>
          </p:sp>
        </mc:Choice>
        <mc:Fallback xmlns="">
          <p:sp>
            <p:nvSpPr>
              <p:cNvPr id="10" name="文本框 9">
                <a:extLst>
                  <a:ext uri="{FF2B5EF4-FFF2-40B4-BE49-F238E27FC236}">
                    <a16:creationId xmlns:a16="http://schemas.microsoft.com/office/drawing/2014/main" id="{9595182C-852D-3545-BB3D-612141D2F52D}"/>
                  </a:ext>
                </a:extLst>
              </p:cNvPr>
              <p:cNvSpPr txBox="1">
                <a:spLocks noRot="1" noChangeAspect="1" noMove="1" noResize="1" noEditPoints="1" noAdjustHandles="1" noChangeArrowheads="1" noChangeShapeType="1" noTextEdit="1"/>
              </p:cNvSpPr>
              <p:nvPr/>
            </p:nvSpPr>
            <p:spPr>
              <a:xfrm>
                <a:off x="548640" y="2462661"/>
                <a:ext cx="10911782" cy="4154984"/>
              </a:xfrm>
              <a:prstGeom prst="rect">
                <a:avLst/>
              </a:prstGeom>
              <a:blipFill>
                <a:blip r:embed="rId4"/>
                <a:stretch>
                  <a:fillRect l="-726" t="-1026" b="-2493"/>
                </a:stretch>
              </a:blipFill>
            </p:spPr>
            <p:txBody>
              <a:bodyPr/>
              <a:lstStyle/>
              <a:p>
                <a:r>
                  <a:rPr lang="zh-CN" altLang="en-US">
                    <a:noFill/>
                  </a:rPr>
                  <a:t> </a:t>
                </a:r>
              </a:p>
            </p:txBody>
          </p:sp>
        </mc:Fallback>
      </mc:AlternateContent>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19</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C6335E1-592A-DF44-918E-75B1F9C512D9}"/>
                  </a:ext>
                </a:extLst>
              </p:cNvPr>
              <p:cNvSpPr txBox="1"/>
              <p:nvPr/>
            </p:nvSpPr>
            <p:spPr>
              <a:xfrm>
                <a:off x="1029499" y="4355487"/>
                <a:ext cx="205828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i="1" smtClean="0">
                          <a:solidFill>
                            <a:schemeClr val="tx1"/>
                          </a:solidFill>
                          <a:latin typeface="Cambria Math" panose="02040503050406030204" pitchFamily="18" charset="0"/>
                        </a:rPr>
                        <m:t>𝜎</m:t>
                      </m:r>
                      <m:d>
                        <m:dPr>
                          <m:ctrlPr>
                            <a:rPr kumimoji="1" lang="en-US" altLang="zh-CN" sz="2000" i="1">
                              <a:solidFill>
                                <a:schemeClr val="tx1"/>
                              </a:solidFill>
                              <a:latin typeface="Cambria Math" panose="02040503050406030204" pitchFamily="18" charset="0"/>
                            </a:rPr>
                          </m:ctrlPr>
                        </m:dPr>
                        <m:e>
                          <m:r>
                            <a:rPr kumimoji="1" lang="en-US" altLang="zh-CN" sz="2000" i="1">
                              <a:solidFill>
                                <a:schemeClr val="tx1"/>
                              </a:solidFill>
                              <a:latin typeface="Cambria Math" panose="02040503050406030204" pitchFamily="18" charset="0"/>
                            </a:rPr>
                            <m:t>𝑧</m:t>
                          </m:r>
                        </m:e>
                      </m:d>
                      <m:r>
                        <a:rPr lang="en-US" altLang="zh-CN" sz="2000" i="1">
                          <a:solidFill>
                            <a:schemeClr val="tx1"/>
                          </a:solidFill>
                          <a:latin typeface="Cambria Math" panose="02040503050406030204" pitchFamily="18" charset="0"/>
                        </a:rPr>
                        <m:t>=</m:t>
                      </m:r>
                      <m:func>
                        <m:funcPr>
                          <m:ctrlPr>
                            <a:rPr lang="en-US" altLang="zh-CN" sz="2000" b="0" i="1" smtClean="0">
                              <a:solidFill>
                                <a:schemeClr val="tx1"/>
                              </a:solidFill>
                              <a:latin typeface="Cambria Math" panose="02040503050406030204" pitchFamily="18" charset="0"/>
                            </a:rPr>
                          </m:ctrlPr>
                        </m:funcPr>
                        <m:fName>
                          <m:r>
                            <m:rPr>
                              <m:sty m:val="p"/>
                            </m:rPr>
                            <a:rPr lang="en-US" altLang="zh-CN" sz="2000" b="0" i="0" smtClean="0">
                              <a:solidFill>
                                <a:schemeClr val="tx1"/>
                              </a:solidFill>
                              <a:latin typeface="Cambria Math" panose="02040503050406030204" pitchFamily="18" charset="0"/>
                            </a:rPr>
                            <m:t>max</m:t>
                          </m:r>
                        </m:fName>
                        <m:e>
                          <m:d>
                            <m:dPr>
                              <m:ctrlPr>
                                <a:rPr lang="en-US" altLang="zh-CN" sz="2000" b="0" i="1" smtClean="0">
                                  <a:solidFill>
                                    <a:schemeClr val="tx1"/>
                                  </a:solidFill>
                                  <a:latin typeface="Cambria Math" panose="02040503050406030204" pitchFamily="18" charset="0"/>
                                </a:rPr>
                              </m:ctrlPr>
                            </m:dPr>
                            <m:e>
                              <m:r>
                                <a:rPr lang="en-US" altLang="zh-CN" sz="2000" b="0" i="1" smtClean="0">
                                  <a:solidFill>
                                    <a:schemeClr val="tx1"/>
                                  </a:solidFill>
                                  <a:latin typeface="Cambria Math" panose="02040503050406030204" pitchFamily="18" charset="0"/>
                                </a:rPr>
                                <m:t>0,</m:t>
                              </m:r>
                              <m:r>
                                <a:rPr lang="en-US" altLang="zh-CN" sz="2000" b="0" i="1" smtClean="0">
                                  <a:solidFill>
                                    <a:schemeClr val="tx1"/>
                                  </a:solidFill>
                                  <a:latin typeface="Cambria Math" panose="02040503050406030204" pitchFamily="18" charset="0"/>
                                </a:rPr>
                                <m:t>𝑧</m:t>
                              </m:r>
                            </m:e>
                          </m:d>
                        </m:e>
                      </m:func>
                    </m:oMath>
                  </m:oMathPara>
                </a14:m>
                <a:endParaRPr lang="zh-CN" altLang="en-US" sz="2000" dirty="0">
                  <a:solidFill>
                    <a:schemeClr val="tx1"/>
                  </a:solidFill>
                </a:endParaRPr>
              </a:p>
            </p:txBody>
          </p:sp>
        </mc:Choice>
        <mc:Fallback xmlns="">
          <p:sp>
            <p:nvSpPr>
              <p:cNvPr id="11" name="文本框 10">
                <a:extLst>
                  <a:ext uri="{FF2B5EF4-FFF2-40B4-BE49-F238E27FC236}">
                    <a16:creationId xmlns:a16="http://schemas.microsoft.com/office/drawing/2014/main" id="{6C6335E1-592A-DF44-918E-75B1F9C512D9}"/>
                  </a:ext>
                </a:extLst>
              </p:cNvPr>
              <p:cNvSpPr txBox="1">
                <a:spLocks noRot="1" noChangeAspect="1" noMove="1" noResize="1" noEditPoints="1" noAdjustHandles="1" noChangeArrowheads="1" noChangeShapeType="1" noTextEdit="1"/>
              </p:cNvSpPr>
              <p:nvPr/>
            </p:nvSpPr>
            <p:spPr>
              <a:xfrm>
                <a:off x="1029499" y="4355487"/>
                <a:ext cx="2058283" cy="400110"/>
              </a:xfrm>
              <a:prstGeom prst="rect">
                <a:avLst/>
              </a:prstGeom>
              <a:blipFill>
                <a:blip r:embed="rId5"/>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EAD973D4-134C-CC49-BBE0-7DBA5A0EE2D7}"/>
              </a:ext>
            </a:extLst>
          </p:cNvPr>
          <p:cNvSpPr txBox="1"/>
          <p:nvPr/>
        </p:nvSpPr>
        <p:spPr>
          <a:xfrm>
            <a:off x="1363458" y="3827359"/>
            <a:ext cx="2058283" cy="400110"/>
          </a:xfrm>
          <a:prstGeom prst="rect">
            <a:avLst/>
          </a:prstGeom>
          <a:noFill/>
        </p:spPr>
        <p:txBody>
          <a:bodyPr wrap="square">
            <a:spAutoFit/>
          </a:bodyPr>
          <a:lstStyle/>
          <a:p>
            <a:r>
              <a:rPr lang="en-US" altLang="zh-CN" sz="2000" dirty="0" err="1">
                <a:solidFill>
                  <a:schemeClr val="tx1"/>
                </a:solidFill>
              </a:rPr>
              <a:t>ReLU</a:t>
            </a:r>
            <a:r>
              <a:rPr lang="zh-CN" altLang="en-US" sz="2000" dirty="0">
                <a:solidFill>
                  <a:schemeClr val="tx1"/>
                </a:solidFill>
              </a:rPr>
              <a:t>函数</a:t>
            </a:r>
          </a:p>
        </p:txBody>
      </p:sp>
      <p:sp>
        <p:nvSpPr>
          <p:cNvPr id="16" name="爆炸形 2 15">
            <a:extLst>
              <a:ext uri="{FF2B5EF4-FFF2-40B4-BE49-F238E27FC236}">
                <a16:creationId xmlns:a16="http://schemas.microsoft.com/office/drawing/2014/main" id="{41C9A3A9-998A-D143-9D3B-43C033C31C38}"/>
              </a:ext>
            </a:extLst>
          </p:cNvPr>
          <p:cNvSpPr/>
          <p:nvPr/>
        </p:nvSpPr>
        <p:spPr>
          <a:xfrm>
            <a:off x="7723426" y="3694499"/>
            <a:ext cx="3731974"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实践中</a:t>
            </a:r>
            <a:endParaRPr lang="en-US" altLang="zh-CN" sz="2400" dirty="0">
              <a:solidFill>
                <a:srgbClr val="C00000"/>
              </a:solidFill>
            </a:endParaRPr>
          </a:p>
          <a:p>
            <a:pPr algn="ctr"/>
            <a:r>
              <a:rPr lang="zh-CN" altLang="en-US" sz="2400" dirty="0">
                <a:solidFill>
                  <a:srgbClr val="C00000"/>
                </a:solidFill>
              </a:rPr>
              <a:t>非常有效！</a:t>
            </a:r>
          </a:p>
        </p:txBody>
      </p:sp>
    </p:spTree>
    <p:extLst>
      <p:ext uri="{BB962C8B-B14F-4D97-AF65-F5344CB8AC3E}">
        <p14:creationId xmlns:p14="http://schemas.microsoft.com/office/powerpoint/2010/main" val="230076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10911782" cy="4154984"/>
              </a:xfrm>
              <a:prstGeom prst="rect">
                <a:avLst/>
              </a:prstGeom>
              <a:noFill/>
            </p:spPr>
            <p:txBody>
              <a:bodyPr wrap="square" rtlCol="0">
                <a:spAutoFit/>
              </a:bodyPr>
              <a:lstStyle/>
              <a:p>
                <a:pPr marL="285750" indent="-285750">
                  <a:buFont typeface="Wingdings" pitchFamily="2" charset="2"/>
                  <a:buChar char="n"/>
                </a:pPr>
                <a:r>
                  <a:rPr kumimoji="1" lang="zh-CN" altLang="en-US" sz="2400" dirty="0"/>
                  <a:t>激活函数</a:t>
                </a:r>
                <a14:m>
                  <m:oMath xmlns:m="http://schemas.openxmlformats.org/officeDocument/2006/math">
                    <m:r>
                      <a:rPr kumimoji="1" lang="en-US" altLang="zh-CN" sz="2400" b="0" i="1" smtClean="0">
                        <a:solidFill>
                          <a:srgbClr val="C00000"/>
                        </a:solidFill>
                        <a:latin typeface="Cambria Math" panose="02040503050406030204" pitchFamily="18" charset="0"/>
                      </a:rPr>
                      <m:t>𝜎</m:t>
                    </m:r>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𝑧</m:t>
                        </m:r>
                      </m:e>
                    </m:d>
                  </m:oMath>
                </a14:m>
                <a:endParaRPr kumimoji="1" lang="en-US" altLang="zh-CN" sz="2400" dirty="0"/>
              </a:p>
              <a:p>
                <a:pPr lvl="1"/>
                <a:endParaRPr kumimoji="1" lang="en-US" altLang="zh-CN" sz="2400" dirty="0"/>
              </a:p>
              <a:p>
                <a:pPr lvl="1"/>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r>
                  <a:rPr kumimoji="1" lang="zh-CN" altLang="en-US" sz="2400" dirty="0"/>
                  <a:t>参数</a:t>
                </a:r>
                <a14:m>
                  <m:oMath xmlns:m="http://schemas.openxmlformats.org/officeDocument/2006/math">
                    <m:r>
                      <a:rPr kumimoji="1" lang="en-US" altLang="zh-CN" sz="2400" b="0" i="1" smtClean="0">
                        <a:latin typeface="Cambria Math" panose="02040503050406030204" pitchFamily="18" charset="0"/>
                      </a:rPr>
                      <m:t>𝛼</m:t>
                    </m:r>
                  </m:oMath>
                </a14:m>
                <a:r>
                  <a:rPr kumimoji="1" lang="zh-CN" altLang="en-US" sz="2400" dirty="0"/>
                  <a:t>一般较小，例如</a:t>
                </a:r>
                <a14:m>
                  <m:oMath xmlns:m="http://schemas.openxmlformats.org/officeDocument/2006/math">
                    <m:r>
                      <a:rPr kumimoji="1" lang="en-US" altLang="zh-CN" sz="2400" i="1">
                        <a:latin typeface="Cambria Math" panose="02040503050406030204" pitchFamily="18" charset="0"/>
                      </a:rPr>
                      <m:t>𝛼</m:t>
                    </m:r>
                    <m:r>
                      <a:rPr kumimoji="1" lang="en-US" altLang="zh-CN" sz="2400" b="0" i="1" smtClean="0">
                        <a:latin typeface="Cambria Math" panose="02040503050406030204" pitchFamily="18" charset="0"/>
                      </a:rPr>
                      <m:t>=0.1</m:t>
                    </m:r>
                  </m:oMath>
                </a14:m>
                <a:endParaRPr kumimoji="1" lang="en-US" altLang="zh-CN" sz="2400" dirty="0"/>
              </a:p>
            </p:txBody>
          </p:sp>
        </mc:Choice>
        <mc:Fallback xmlns="">
          <p:sp>
            <p:nvSpPr>
              <p:cNvPr id="10" name="文本框 9">
                <a:extLst>
                  <a:ext uri="{FF2B5EF4-FFF2-40B4-BE49-F238E27FC236}">
                    <a16:creationId xmlns:a16="http://schemas.microsoft.com/office/drawing/2014/main" id="{9595182C-852D-3545-BB3D-612141D2F52D}"/>
                  </a:ext>
                </a:extLst>
              </p:cNvPr>
              <p:cNvSpPr txBox="1">
                <a:spLocks noRot="1" noChangeAspect="1" noMove="1" noResize="1" noEditPoints="1" noAdjustHandles="1" noChangeArrowheads="1" noChangeShapeType="1" noTextEdit="1"/>
              </p:cNvSpPr>
              <p:nvPr/>
            </p:nvSpPr>
            <p:spPr>
              <a:xfrm>
                <a:off x="548640" y="2462661"/>
                <a:ext cx="10911782" cy="4154984"/>
              </a:xfrm>
              <a:prstGeom prst="rect">
                <a:avLst/>
              </a:prstGeom>
              <a:blipFill>
                <a:blip r:embed="rId3"/>
                <a:stretch>
                  <a:fillRect l="-726" t="-1026" b="-2493"/>
                </a:stretch>
              </a:blipFill>
            </p:spPr>
            <p:txBody>
              <a:bodyPr/>
              <a:lstStyle/>
              <a:p>
                <a:r>
                  <a:rPr lang="zh-CN" altLang="en-US">
                    <a:noFill/>
                  </a:rPr>
                  <a:t> </a:t>
                </a:r>
              </a:p>
            </p:txBody>
          </p:sp>
        </mc:Fallback>
      </mc:AlternateContent>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20</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C6335E1-592A-DF44-918E-75B1F9C512D9}"/>
                  </a:ext>
                </a:extLst>
              </p:cNvPr>
              <p:cNvSpPr txBox="1"/>
              <p:nvPr/>
            </p:nvSpPr>
            <p:spPr>
              <a:xfrm>
                <a:off x="600437" y="4492533"/>
                <a:ext cx="2897777" cy="7788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i="1" smtClean="0">
                          <a:solidFill>
                            <a:schemeClr val="tx1"/>
                          </a:solidFill>
                          <a:latin typeface="Cambria Math" panose="02040503050406030204" pitchFamily="18" charset="0"/>
                        </a:rPr>
                        <m:t>𝜎</m:t>
                      </m:r>
                      <m:d>
                        <m:dPr>
                          <m:ctrlPr>
                            <a:rPr kumimoji="1" lang="en-US" altLang="zh-CN" sz="2000" i="1">
                              <a:solidFill>
                                <a:schemeClr val="tx1"/>
                              </a:solidFill>
                              <a:latin typeface="Cambria Math" panose="02040503050406030204" pitchFamily="18" charset="0"/>
                            </a:rPr>
                          </m:ctrlPr>
                        </m:dPr>
                        <m:e>
                          <m:r>
                            <a:rPr kumimoji="1" lang="en-US" altLang="zh-CN" sz="2000" i="1">
                              <a:solidFill>
                                <a:schemeClr val="tx1"/>
                              </a:solidFill>
                              <a:latin typeface="Cambria Math" panose="02040503050406030204" pitchFamily="18" charset="0"/>
                            </a:rPr>
                            <m:t>𝑧</m:t>
                          </m:r>
                        </m:e>
                      </m:d>
                      <m:r>
                        <a:rPr lang="en-US" altLang="zh-CN" sz="2000" i="1">
                          <a:solidFill>
                            <a:schemeClr val="tx1"/>
                          </a:solidFill>
                          <a:latin typeface="Cambria Math" panose="02040503050406030204" pitchFamily="18" charset="0"/>
                        </a:rPr>
                        <m:t>=</m:t>
                      </m:r>
                      <m:d>
                        <m:dPr>
                          <m:begChr m:val="{"/>
                          <m:endChr m:val=""/>
                          <m:ctrlPr>
                            <a:rPr lang="en-US" altLang="zh-CN" sz="2000" i="1" smtClean="0">
                              <a:solidFill>
                                <a:schemeClr val="tx1"/>
                              </a:solidFill>
                              <a:latin typeface="Cambria Math" panose="02040503050406030204" pitchFamily="18" charset="0"/>
                            </a:rPr>
                          </m:ctrlPr>
                        </m:dPr>
                        <m:e>
                          <m:eqArr>
                            <m:eqArrPr>
                              <m:ctrlPr>
                                <a:rPr lang="en-US" altLang="zh-CN" sz="2000" i="1" smtClean="0">
                                  <a:solidFill>
                                    <a:schemeClr val="tx1"/>
                                  </a:solidFill>
                                  <a:latin typeface="Cambria Math" panose="02040503050406030204" pitchFamily="18" charset="0"/>
                                </a:rPr>
                              </m:ctrlPr>
                            </m:eqArrPr>
                            <m:e>
                              <m:r>
                                <a:rPr lang="en-US" altLang="zh-CN" sz="2000" b="0" i="1" smtClean="0">
                                  <a:solidFill>
                                    <a:schemeClr val="tx1"/>
                                  </a:solidFill>
                                  <a:latin typeface="Cambria Math" panose="02040503050406030204" pitchFamily="18" charset="0"/>
                                </a:rPr>
                                <m:t>𝑧</m:t>
                              </m:r>
                              <m:r>
                                <a:rPr lang="en-US" altLang="zh-CN" sz="2000" b="0" i="1" smtClean="0">
                                  <a:solidFill>
                                    <a:schemeClr val="tx1"/>
                                  </a:solidFill>
                                  <a:latin typeface="Cambria Math" panose="02040503050406030204" pitchFamily="18" charset="0"/>
                                </a:rPr>
                                <m:t>, </m:t>
                              </m:r>
                              <m:r>
                                <m:rPr>
                                  <m:sty m:val="p"/>
                                </m:rPr>
                                <a:rPr lang="en-US" altLang="zh-CN" sz="2000" b="0" i="0" smtClean="0">
                                  <a:solidFill>
                                    <a:schemeClr val="tx1"/>
                                  </a:solidFill>
                                  <a:latin typeface="Cambria Math" panose="02040503050406030204" pitchFamily="18" charset="0"/>
                                </a:rPr>
                                <m:t>if</m:t>
                              </m:r>
                              <m:r>
                                <a:rPr lang="en-US" altLang="zh-CN" sz="2000" b="0" i="1" smtClean="0">
                                  <a:solidFill>
                                    <a:schemeClr val="tx1"/>
                                  </a:solidFill>
                                  <a:latin typeface="Cambria Math" panose="02040503050406030204" pitchFamily="18" charset="0"/>
                                </a:rPr>
                                <m:t> </m:t>
                              </m:r>
                              <m:r>
                                <a:rPr lang="en-US" altLang="zh-CN" sz="2000" b="0" i="1" smtClean="0">
                                  <a:solidFill>
                                    <a:schemeClr val="tx1"/>
                                  </a:solidFill>
                                  <a:latin typeface="Cambria Math" panose="02040503050406030204" pitchFamily="18" charset="0"/>
                                </a:rPr>
                                <m:t>𝑧</m:t>
                              </m:r>
                              <m:r>
                                <a:rPr lang="en-US" altLang="zh-CN" sz="2000" b="0" i="1" smtClean="0">
                                  <a:solidFill>
                                    <a:schemeClr val="tx1"/>
                                  </a:solidFill>
                                  <a:latin typeface="Cambria Math" panose="02040503050406030204" pitchFamily="18" charset="0"/>
                                </a:rPr>
                                <m:t>&gt;0</m:t>
                              </m:r>
                            </m:e>
                            <m:e>
                              <m:r>
                                <a:rPr lang="en-US" altLang="zh-CN" sz="2000" b="0" i="1" smtClean="0">
                                  <a:solidFill>
                                    <a:schemeClr val="tx1"/>
                                  </a:solidFill>
                                  <a:latin typeface="Cambria Math" panose="02040503050406030204" pitchFamily="18" charset="0"/>
                                </a:rPr>
                                <m:t>𝛼</m:t>
                              </m:r>
                              <m:r>
                                <a:rPr lang="en-US" altLang="zh-CN" sz="2000" b="0" i="1" smtClean="0">
                                  <a:solidFill>
                                    <a:schemeClr val="tx1"/>
                                  </a:solidFill>
                                  <a:latin typeface="Cambria Math" panose="02040503050406030204" pitchFamily="18" charset="0"/>
                                </a:rPr>
                                <m:t>𝑧</m:t>
                              </m:r>
                              <m:r>
                                <a:rPr lang="en-US" altLang="zh-CN" sz="2000" b="0" i="1" smtClean="0">
                                  <a:solidFill>
                                    <a:schemeClr val="tx1"/>
                                  </a:solidFill>
                                  <a:latin typeface="Cambria Math" panose="02040503050406030204" pitchFamily="18" charset="0"/>
                                </a:rPr>
                                <m:t>, </m:t>
                              </m:r>
                              <m:r>
                                <m:rPr>
                                  <m:sty m:val="p"/>
                                </m:rPr>
                                <a:rPr lang="en-US" altLang="zh-CN" sz="2000" b="0" i="0" smtClean="0">
                                  <a:solidFill>
                                    <a:schemeClr val="tx1"/>
                                  </a:solidFill>
                                  <a:latin typeface="Cambria Math" panose="02040503050406030204" pitchFamily="18" charset="0"/>
                                </a:rPr>
                                <m:t>otherwise</m:t>
                              </m:r>
                            </m:e>
                          </m:eqArr>
                        </m:e>
                      </m:d>
                    </m:oMath>
                  </m:oMathPara>
                </a14:m>
                <a:endParaRPr lang="zh-CN" altLang="en-US" sz="2000" dirty="0">
                  <a:solidFill>
                    <a:schemeClr val="tx1"/>
                  </a:solidFill>
                </a:endParaRPr>
              </a:p>
            </p:txBody>
          </p:sp>
        </mc:Choice>
        <mc:Fallback xmlns="">
          <p:sp>
            <p:nvSpPr>
              <p:cNvPr id="11" name="文本框 10">
                <a:extLst>
                  <a:ext uri="{FF2B5EF4-FFF2-40B4-BE49-F238E27FC236}">
                    <a16:creationId xmlns:a16="http://schemas.microsoft.com/office/drawing/2014/main" id="{6C6335E1-592A-DF44-918E-75B1F9C512D9}"/>
                  </a:ext>
                </a:extLst>
              </p:cNvPr>
              <p:cNvSpPr txBox="1">
                <a:spLocks noRot="1" noChangeAspect="1" noMove="1" noResize="1" noEditPoints="1" noAdjustHandles="1" noChangeArrowheads="1" noChangeShapeType="1" noTextEdit="1"/>
              </p:cNvSpPr>
              <p:nvPr/>
            </p:nvSpPr>
            <p:spPr>
              <a:xfrm>
                <a:off x="600437" y="4492533"/>
                <a:ext cx="2897777" cy="778868"/>
              </a:xfrm>
              <a:prstGeom prst="rect">
                <a:avLst/>
              </a:prstGeom>
              <a:blipFill>
                <a:blip r:embed="rId4"/>
                <a:stretch>
                  <a:fillRect l="-8297" t="-190476" b="-277778"/>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EAD973D4-134C-CC49-BBE0-7DBA5A0EE2D7}"/>
              </a:ext>
            </a:extLst>
          </p:cNvPr>
          <p:cNvSpPr txBox="1"/>
          <p:nvPr/>
        </p:nvSpPr>
        <p:spPr>
          <a:xfrm>
            <a:off x="1053447" y="3827359"/>
            <a:ext cx="2058283" cy="400110"/>
          </a:xfrm>
          <a:prstGeom prst="rect">
            <a:avLst/>
          </a:prstGeom>
          <a:noFill/>
        </p:spPr>
        <p:txBody>
          <a:bodyPr wrap="square">
            <a:spAutoFit/>
          </a:bodyPr>
          <a:lstStyle/>
          <a:p>
            <a:r>
              <a:rPr lang="en-US" altLang="zh-CN" sz="2000" dirty="0">
                <a:solidFill>
                  <a:schemeClr val="tx1"/>
                </a:solidFill>
              </a:rPr>
              <a:t>Leaky </a:t>
            </a:r>
            <a:r>
              <a:rPr lang="en-US" altLang="zh-CN" sz="2000" dirty="0" err="1">
                <a:solidFill>
                  <a:schemeClr val="tx1"/>
                </a:solidFill>
              </a:rPr>
              <a:t>ReLU</a:t>
            </a:r>
            <a:r>
              <a:rPr lang="zh-CN" altLang="en-US" sz="2000" dirty="0">
                <a:solidFill>
                  <a:schemeClr val="tx1"/>
                </a:solidFill>
              </a:rPr>
              <a:t>函数</a:t>
            </a:r>
          </a:p>
        </p:txBody>
      </p:sp>
      <mc:AlternateContent xmlns:mc="http://schemas.openxmlformats.org/markup-compatibility/2006" xmlns:a14="http://schemas.microsoft.com/office/drawing/2010/main">
        <mc:Choice Requires="a14">
          <p:sp>
            <p:nvSpPr>
              <p:cNvPr id="16" name="爆炸形 2 15">
                <a:extLst>
                  <a:ext uri="{FF2B5EF4-FFF2-40B4-BE49-F238E27FC236}">
                    <a16:creationId xmlns:a16="http://schemas.microsoft.com/office/drawing/2014/main" id="{41C9A3A9-998A-D143-9D3B-43C033C31C38}"/>
                  </a:ext>
                </a:extLst>
              </p:cNvPr>
              <p:cNvSpPr/>
              <p:nvPr/>
            </p:nvSpPr>
            <p:spPr>
              <a:xfrm>
                <a:off x="7723426" y="3694499"/>
                <a:ext cx="3731974"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rgbClr val="C00000"/>
                    </a:solidFill>
                  </a:rPr>
                  <a:t>参数</a:t>
                </a:r>
                <a14:m>
                  <m:oMath xmlns:m="http://schemas.openxmlformats.org/officeDocument/2006/math">
                    <m:r>
                      <a:rPr kumimoji="1" lang="en-US" altLang="zh-CN" sz="2400" i="1">
                        <a:solidFill>
                          <a:srgbClr val="C00000"/>
                        </a:solidFill>
                        <a:latin typeface="Cambria Math" panose="02040503050406030204" pitchFamily="18" charset="0"/>
                      </a:rPr>
                      <m:t>𝛼</m:t>
                    </m:r>
                    <m:r>
                      <a:rPr kumimoji="1" lang="en-US" altLang="zh-CN" sz="2400" i="1">
                        <a:solidFill>
                          <a:srgbClr val="C00000"/>
                        </a:solidFill>
                        <a:latin typeface="Cambria Math" panose="02040503050406030204" pitchFamily="18" charset="0"/>
                      </a:rPr>
                      <m:t> </m:t>
                    </m:r>
                  </m:oMath>
                </a14:m>
                <a:r>
                  <a:rPr lang="zh-CN" altLang="en-US" sz="2400" dirty="0">
                    <a:solidFill>
                      <a:srgbClr val="C00000"/>
                    </a:solidFill>
                  </a:rPr>
                  <a:t>亦可学习！</a:t>
                </a:r>
              </a:p>
            </p:txBody>
          </p:sp>
        </mc:Choice>
        <mc:Fallback xmlns="">
          <p:sp>
            <p:nvSpPr>
              <p:cNvPr id="16" name="爆炸形 2 15">
                <a:extLst>
                  <a:ext uri="{FF2B5EF4-FFF2-40B4-BE49-F238E27FC236}">
                    <a16:creationId xmlns:a16="http://schemas.microsoft.com/office/drawing/2014/main" id="{41C9A3A9-998A-D143-9D3B-43C033C31C38}"/>
                  </a:ext>
                </a:extLst>
              </p:cNvPr>
              <p:cNvSpPr>
                <a:spLocks noRot="1" noChangeAspect="1" noMove="1" noResize="1" noEditPoints="1" noAdjustHandles="1" noChangeArrowheads="1" noChangeShapeType="1" noTextEdit="1"/>
              </p:cNvSpPr>
              <p:nvPr/>
            </p:nvSpPr>
            <p:spPr>
              <a:xfrm>
                <a:off x="7723426" y="3694499"/>
                <a:ext cx="3731974" cy="1789475"/>
              </a:xfrm>
              <a:prstGeom prst="irregularSeal2">
                <a:avLst/>
              </a:prstGeom>
              <a:blipFill>
                <a:blip r:embed="rId5"/>
                <a:stretch>
                  <a:fillRect/>
                </a:stretch>
              </a:blipFill>
              <a:ln>
                <a:noFill/>
              </a:ln>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631A1544-2F84-4748-8744-25DA28A3C900}"/>
              </a:ext>
            </a:extLst>
          </p:cNvPr>
          <p:cNvPicPr>
            <a:picLocks noChangeAspect="1"/>
          </p:cNvPicPr>
          <p:nvPr/>
        </p:nvPicPr>
        <p:blipFill>
          <a:blip r:embed="rId6"/>
          <a:stretch>
            <a:fillRect/>
          </a:stretch>
        </p:blipFill>
        <p:spPr>
          <a:xfrm>
            <a:off x="3550010" y="2893495"/>
            <a:ext cx="4008985" cy="3198077"/>
          </a:xfrm>
          <a:prstGeom prst="rect">
            <a:avLst/>
          </a:prstGeom>
        </p:spPr>
      </p:pic>
    </p:spTree>
    <p:extLst>
      <p:ext uri="{BB962C8B-B14F-4D97-AF65-F5344CB8AC3E}">
        <p14:creationId xmlns:p14="http://schemas.microsoft.com/office/powerpoint/2010/main" val="70566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21</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11440160" cy="4054636"/>
              </a:xfrm>
              <a:prstGeom prst="rect">
                <a:avLst/>
              </a:prstGeom>
              <a:noFill/>
            </p:spPr>
            <p:txBody>
              <a:bodyPr wrap="square" rtlCol="0">
                <a:spAutoFit/>
              </a:bodyPr>
              <a:lstStyle/>
              <a:p>
                <a:pPr marL="285750" indent="-285750">
                  <a:buFont typeface="Wingdings" pitchFamily="2" charset="2"/>
                  <a:buChar char="n"/>
                </a:pPr>
                <a:r>
                  <a:rPr kumimoji="1" lang="zh-CN" altLang="en-US" sz="2400" dirty="0"/>
                  <a:t>数学表达</a:t>
                </a:r>
                <a:endParaRPr kumimoji="1" lang="en-US" altLang="zh-CN" sz="2400" dirty="0"/>
              </a:p>
              <a:p>
                <a:pPr marL="800100" lvl="1" indent="-342900">
                  <a:buFont typeface="Wingdings" pitchFamily="2" charset="2"/>
                  <a:buChar char="p"/>
                </a:pPr>
                <a:r>
                  <a:rPr kumimoji="1" lang="zh-CN" altLang="en-US" sz="2400" dirty="0"/>
                  <a:t>输入层</a:t>
                </a:r>
                <a:r>
                  <a:rPr kumimoji="1" lang="en-US" altLang="zh-CN" sz="2400" dirty="0"/>
                  <a:t>(</a:t>
                </a:r>
                <a:r>
                  <a:rPr kumimoji="1" lang="zh-CN" altLang="en-US" sz="2400" dirty="0"/>
                  <a:t>第</a:t>
                </a:r>
                <a:r>
                  <a:rPr kumimoji="1" lang="en-US" altLang="zh-CN" sz="2400" dirty="0"/>
                  <a:t>0</a:t>
                </a:r>
                <a:r>
                  <a:rPr kumimoji="1" lang="zh-CN" altLang="en-US" sz="2400" dirty="0"/>
                  <a:t>层</a:t>
                </a:r>
                <a:r>
                  <a:rPr kumimoji="1" lang="en-US" altLang="zh-CN" sz="2400" dirty="0"/>
                  <a:t>)</a:t>
                </a:r>
                <a:r>
                  <a:rPr kumimoji="1" lang="zh-CN" altLang="en-US" sz="2400" dirty="0"/>
                  <a:t>：</a:t>
                </a:r>
                <a14:m>
                  <m:oMath xmlns:m="http://schemas.openxmlformats.org/officeDocument/2006/math">
                    <m:sSup>
                      <m:sSupPr>
                        <m:ctrlPr>
                          <a:rPr kumimoji="1" lang="en-US" altLang="zh-CN" sz="2400" b="0" i="1" dirty="0" smtClean="0">
                            <a:latin typeface="Cambria Math" panose="02040503050406030204" pitchFamily="18" charset="0"/>
                          </a:rPr>
                        </m:ctrlPr>
                      </m:sSupPr>
                      <m:e>
                        <m:r>
                          <a:rPr kumimoji="1" lang="en-US" altLang="zh-CN" sz="2400" i="1" dirty="0" smtClean="0">
                            <a:latin typeface="Cambria Math" panose="02040503050406030204" pitchFamily="18" charset="0"/>
                          </a:rPr>
                          <m:t>𝑥</m:t>
                        </m:r>
                      </m:e>
                      <m:sup>
                        <m:d>
                          <m:dPr>
                            <m:ctrlPr>
                              <a:rPr kumimoji="1" lang="en-US" altLang="zh-CN" sz="2400" b="0" i="1" dirty="0" smtClean="0">
                                <a:latin typeface="Cambria Math" panose="02040503050406030204" pitchFamily="18" charset="0"/>
                              </a:rPr>
                            </m:ctrlPr>
                          </m:dPr>
                          <m:e>
                            <m:r>
                              <a:rPr kumimoji="1" lang="en-US" altLang="zh-CN" sz="2400" b="0" i="1" dirty="0" smtClean="0">
                                <a:latin typeface="Cambria Math" panose="02040503050406030204" pitchFamily="18" charset="0"/>
                              </a:rPr>
                              <m:t>0</m:t>
                            </m:r>
                          </m:e>
                        </m:d>
                      </m:sup>
                    </m:sSup>
                    <m:r>
                      <a:rPr kumimoji="1" lang="en-US" altLang="zh-CN" sz="2400" b="0" i="1" smtClean="0">
                        <a:latin typeface="Cambria Math" panose="02040503050406030204" pitchFamily="18" charset="0"/>
                      </a:rPr>
                      <m:t>=</m:t>
                    </m:r>
                    <m:d>
                      <m:dPr>
                        <m:begChr m:val="["/>
                        <m:endChr m:val="]"/>
                        <m:ctrlPr>
                          <a:rPr kumimoji="1" lang="en-US" altLang="zh-CN" sz="2400" b="0" i="1" smtClean="0">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𝑥</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0</m:t>
                                </m:r>
                              </m:e>
                            </m:d>
                          </m:sup>
                        </m:sSubSup>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m:t>
                        </m:r>
                        <m:r>
                          <a:rPr kumimoji="1" lang="en-US" altLang="zh-CN" sz="2400" b="0" i="1" smtClean="0">
                            <a:latin typeface="Cambria Math" panose="02040503050406030204" pitchFamily="18" charset="0"/>
                          </a:rPr>
                          <m:t>;</m:t>
                        </m:r>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𝑥</m:t>
                            </m:r>
                          </m:e>
                          <m:sub>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𝑛</m:t>
                                </m:r>
                              </m:e>
                              <m:sub>
                                <m:r>
                                  <a:rPr kumimoji="1" lang="en-US" altLang="zh-CN" sz="2400" i="1">
                                    <a:latin typeface="Cambria Math" panose="02040503050406030204" pitchFamily="18" charset="0"/>
                                  </a:rPr>
                                  <m:t>0</m:t>
                                </m:r>
                              </m:sub>
                            </m:sSub>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0</m:t>
                                </m:r>
                              </m:e>
                            </m:d>
                          </m:sup>
                        </m:sSubSup>
                      </m:e>
                    </m:d>
                  </m:oMath>
                </a14:m>
                <a:endParaRPr kumimoji="1" lang="en-US" altLang="zh-CN" sz="2000" dirty="0"/>
              </a:p>
              <a:p>
                <a:pPr marL="800100" lvl="1" indent="-342900">
                  <a:buFont typeface="Wingdings" pitchFamily="2" charset="2"/>
                  <a:buChar char="p"/>
                </a:pPr>
                <a:r>
                  <a:rPr kumimoji="1" lang="zh-CN" altLang="en-US" sz="2400" dirty="0"/>
                  <a:t>隐藏层 </a:t>
                </a:r>
                <a:r>
                  <a:rPr kumimoji="1" lang="en-US" altLang="zh-CN" sz="2400" dirty="0"/>
                  <a:t>&amp;</a:t>
                </a:r>
                <a:r>
                  <a:rPr kumimoji="1" lang="zh-CN" altLang="en-US" sz="2400" dirty="0"/>
                  <a:t> 输出层</a:t>
                </a:r>
                <a:r>
                  <a:rPr kumimoji="1" lang="en-US" altLang="zh-CN" sz="2400" dirty="0"/>
                  <a:t>(</a:t>
                </a:r>
                <a:r>
                  <a:rPr kumimoji="1" lang="zh-CN" altLang="en-US" sz="2400" dirty="0"/>
                  <a:t>第</a:t>
                </a:r>
                <a14:m>
                  <m:oMath xmlns:m="http://schemas.openxmlformats.org/officeDocument/2006/math">
                    <m:r>
                      <a:rPr kumimoji="1" lang="en-US" altLang="zh-CN" sz="2400" b="0" i="1" smtClean="0">
                        <a:latin typeface="Cambria Math" panose="02040503050406030204" pitchFamily="18" charset="0"/>
                      </a:rPr>
                      <m:t>ℓ</m:t>
                    </m:r>
                  </m:oMath>
                </a14:m>
                <a:r>
                  <a:rPr kumimoji="1" lang="zh-CN" altLang="en-US" sz="2400" dirty="0"/>
                  <a:t>层</a:t>
                </a:r>
                <a:r>
                  <a:rPr kumimoji="1" lang="en-US" altLang="zh-CN" sz="2400" dirty="0"/>
                  <a:t>)</a:t>
                </a:r>
                <a:r>
                  <a:rPr kumimoji="1" lang="zh-CN" altLang="en-US" sz="2400" dirty="0"/>
                  <a:t>：</a:t>
                </a:r>
                <a:endParaRPr kumimoji="1" lang="en-US" altLang="zh-CN" sz="2400" dirty="0"/>
              </a:p>
              <a:p>
                <a:pPr lvl="1"/>
                <a14:m>
                  <m:oMathPara xmlns:m="http://schemas.openxmlformats.org/officeDocument/2006/math">
                    <m:oMathParaPr>
                      <m:jc m:val="centerGroup"/>
                    </m:oMathParaPr>
                    <m:oMath xmlns:m="http://schemas.openxmlformats.org/officeDocument/2006/math">
                      <m:m>
                        <m:mPr>
                          <m:mcs>
                            <m:mc>
                              <m:mcPr>
                                <m:count m:val="1"/>
                                <m:mcJc m:val="center"/>
                              </m:mcPr>
                            </m:mc>
                          </m:mcs>
                          <m:ctrlPr>
                            <a:rPr kumimoji="1" lang="en-US" altLang="zh-CN" sz="2400" i="1" smtClean="0">
                              <a:latin typeface="Cambria Math" panose="02040503050406030204" pitchFamily="18" charset="0"/>
                            </a:rPr>
                          </m:ctrlPr>
                        </m:mPr>
                        <m:mr>
                          <m:e>
                            <m:sSup>
                              <m:sSupPr>
                                <m:ctrlPr>
                                  <a:rPr kumimoji="1" lang="en-US" altLang="zh-CN" sz="2400" b="0" i="1" smtClean="0">
                                    <a:latin typeface="Cambria Math" panose="02040503050406030204" pitchFamily="18" charset="0"/>
                                  </a:rPr>
                                </m:ctrlPr>
                              </m:sSupPr>
                              <m:e>
                                <m:r>
                                  <m:rPr>
                                    <m:brk m:alnAt="7"/>
                                  </m:rPr>
                                  <a:rPr kumimoji="1" lang="en-US" altLang="zh-CN" sz="2400" b="0" i="1" smtClean="0">
                                    <a:latin typeface="Cambria Math" panose="02040503050406030204" pitchFamily="18" charset="0"/>
                                  </a:rPr>
                                  <m:t>𝑧</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r>
                              <m:rPr>
                                <m:brk m:alnAt="7"/>
                              </m:rPr>
                              <a:rPr kumimoji="1" lang="en-US" altLang="zh-CN" sz="2400" b="0" i="1" smtClean="0">
                                <a:latin typeface="Cambria Math" panose="02040503050406030204" pitchFamily="18" charset="0"/>
                              </a:rPr>
                              <m:t>=</m:t>
                            </m:r>
                            <m:d>
                              <m:dPr>
                                <m:ctrlPr>
                                  <a:rPr kumimoji="1" lang="en-US" altLang="zh-CN" sz="2400" b="0" i="1" smtClean="0">
                                    <a:latin typeface="Cambria Math" panose="02040503050406030204" pitchFamily="18" charset="0"/>
                                  </a:rPr>
                                </m:ctrlPr>
                              </m:dPr>
                              <m:e>
                                <m:nary>
                                  <m:naryPr>
                                    <m:chr m:val="∑"/>
                                    <m:limLoc m:val="subSup"/>
                                    <m:ctrlPr>
                                      <a:rPr kumimoji="1" lang="en-US" altLang="zh-CN" sz="2400" i="1">
                                        <a:solidFill>
                                          <a:prstClr val="black"/>
                                        </a:solidFill>
                                        <a:latin typeface="Cambria Math" panose="02040503050406030204" pitchFamily="18" charset="0"/>
                                      </a:rPr>
                                    </m:ctrlPr>
                                  </m:naryPr>
                                  <m:sub>
                                    <m:r>
                                      <m:rPr>
                                        <m:brk m:alnAt="1"/>
                                      </m:rPr>
                                      <a:rPr kumimoji="1" lang="en-US" altLang="zh-CN" sz="2400" b="0" i="1" smtClean="0">
                                        <a:solidFill>
                                          <a:prstClr val="black"/>
                                        </a:solidFill>
                                        <a:latin typeface="Cambria Math" panose="02040503050406030204" pitchFamily="18" charset="0"/>
                                      </a:rPr>
                                      <m:t>𝑗</m:t>
                                    </m:r>
                                    <m:r>
                                      <a:rPr kumimoji="1" lang="en-US" altLang="zh-CN" sz="2400" i="1">
                                        <a:solidFill>
                                          <a:prstClr val="black"/>
                                        </a:solidFill>
                                        <a:latin typeface="Cambria Math" panose="02040503050406030204" pitchFamily="18" charset="0"/>
                                      </a:rPr>
                                      <m:t>=1</m:t>
                                    </m:r>
                                  </m:sub>
                                  <m:sup>
                                    <m:sSub>
                                      <m:sSubPr>
                                        <m:ctrlPr>
                                          <a:rPr kumimoji="1" lang="en-US" altLang="zh-CN" sz="2400" i="1">
                                            <a:solidFill>
                                              <a:prstClr val="black"/>
                                            </a:solidFill>
                                            <a:latin typeface="Cambria Math" panose="02040503050406030204" pitchFamily="18" charset="0"/>
                                          </a:rPr>
                                        </m:ctrlPr>
                                      </m:sSubPr>
                                      <m:e>
                                        <m:r>
                                          <a:rPr kumimoji="1" lang="en-US" altLang="zh-CN" sz="2400" i="1">
                                            <a:solidFill>
                                              <a:prstClr val="black"/>
                                            </a:solidFill>
                                            <a:latin typeface="Cambria Math" panose="02040503050406030204" pitchFamily="18" charset="0"/>
                                          </a:rPr>
                                          <m:t>𝑛</m:t>
                                        </m:r>
                                      </m:e>
                                      <m:sub>
                                        <m:r>
                                          <a:rPr kumimoji="1" lang="en-US" altLang="zh-CN" sz="2400" i="1">
                                            <a:solidFill>
                                              <a:prstClr val="black"/>
                                            </a:solidFill>
                                            <a:latin typeface="Cambria Math" panose="02040503050406030204" pitchFamily="18" charset="0"/>
                                          </a:rPr>
                                          <m:t>ℓ−1</m:t>
                                        </m:r>
                                      </m:sub>
                                    </m:sSub>
                                  </m:sup>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𝑤</m:t>
                                        </m:r>
                                      </m:e>
                                      <m:sub>
                                        <m:r>
                                          <a:rPr kumimoji="1" lang="en-US" altLang="zh-CN" sz="2400" b="0" i="1" smtClean="0">
                                            <a:solidFill>
                                              <a:prstClr val="black"/>
                                            </a:solidFill>
                                            <a:latin typeface="Cambria Math" panose="02040503050406030204" pitchFamily="18" charset="0"/>
                                          </a:rPr>
                                          <m:t>1</m:t>
                                        </m:r>
                                        <m:r>
                                          <a:rPr kumimoji="1" lang="en-US" altLang="zh-CN" sz="2400" b="0" i="1" smtClean="0">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𝑥</m:t>
                                        </m:r>
                                      </m:e>
                                      <m:sub>
                                        <m:r>
                                          <a:rPr kumimoji="1" lang="en-US" altLang="zh-CN" sz="2400" b="0" i="1" smtClean="0">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ℓ−1</m:t>
                                            </m:r>
                                          </m:e>
                                        </m:d>
                                      </m:sup>
                                    </m:sSubSup>
                                  </m:e>
                                </m:nary>
                                <m:r>
                                  <a:rPr kumimoji="1" lang="en-US" altLang="zh-CN" sz="2400" i="1">
                                    <a:solidFill>
                                      <a:prstClr val="black"/>
                                    </a:solidFill>
                                    <a:latin typeface="Cambria Math" panose="02040503050406030204" pitchFamily="18" charset="0"/>
                                  </a:rPr>
                                  <m:t>+</m:t>
                                </m:r>
                                <m:sSubSup>
                                  <m:sSubSupPr>
                                    <m:ctrlPr>
                                      <a:rPr kumimoji="1" lang="en-US" altLang="zh-CN" sz="2400" b="0" i="1" smtClean="0">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𝑏</m:t>
                                    </m:r>
                                  </m:e>
                                  <m:sub>
                                    <m:r>
                                      <a:rPr kumimoji="1" lang="en-US" altLang="zh-CN" sz="2400" b="0" i="1" smtClean="0">
                                        <a:solidFill>
                                          <a:prstClr val="black"/>
                                        </a:solidFill>
                                        <a:latin typeface="Cambria Math" panose="02040503050406030204" pitchFamily="18" charset="0"/>
                                      </a:rPr>
                                      <m:t>1</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r>
                                  <a:rPr kumimoji="1" lang="en-US" altLang="zh-CN" sz="2400" b="0" i="1" smtClean="0">
                                    <a:solidFill>
                                      <a:prstClr val="black"/>
                                    </a:solidFill>
                                    <a:latin typeface="Cambria Math" panose="02040503050406030204" pitchFamily="18" charset="0"/>
                                  </a:rPr>
                                  <m:t>,…,</m:t>
                                </m:r>
                                <m:nary>
                                  <m:naryPr>
                                    <m:chr m:val="∑"/>
                                    <m:limLoc m:val="subSup"/>
                                    <m:ctrlPr>
                                      <a:rPr kumimoji="1" lang="en-US" altLang="zh-CN" sz="2400" i="1">
                                        <a:solidFill>
                                          <a:prstClr val="black"/>
                                        </a:solidFill>
                                        <a:latin typeface="Cambria Math" panose="02040503050406030204" pitchFamily="18" charset="0"/>
                                      </a:rPr>
                                    </m:ctrlPr>
                                  </m:naryPr>
                                  <m:sub>
                                    <m:r>
                                      <m:rPr>
                                        <m:brk m:alnAt="1"/>
                                      </m:rPr>
                                      <a:rPr kumimoji="1" lang="en-US" altLang="zh-CN" sz="2400" b="0" i="1" smtClean="0">
                                        <a:solidFill>
                                          <a:prstClr val="black"/>
                                        </a:solidFill>
                                        <a:latin typeface="Cambria Math" panose="02040503050406030204" pitchFamily="18" charset="0"/>
                                      </a:rPr>
                                      <m:t>𝑗</m:t>
                                    </m:r>
                                    <m:r>
                                      <a:rPr kumimoji="1" lang="en-US" altLang="zh-CN" sz="2400" i="1">
                                        <a:solidFill>
                                          <a:prstClr val="black"/>
                                        </a:solidFill>
                                        <a:latin typeface="Cambria Math" panose="02040503050406030204" pitchFamily="18" charset="0"/>
                                      </a:rPr>
                                      <m:t>=1</m:t>
                                    </m:r>
                                  </m:sub>
                                  <m:sup>
                                    <m:sSub>
                                      <m:sSubPr>
                                        <m:ctrlPr>
                                          <a:rPr kumimoji="1" lang="en-US" altLang="zh-CN" sz="2400" i="1">
                                            <a:solidFill>
                                              <a:prstClr val="black"/>
                                            </a:solidFill>
                                            <a:latin typeface="Cambria Math" panose="02040503050406030204" pitchFamily="18" charset="0"/>
                                          </a:rPr>
                                        </m:ctrlPr>
                                      </m:sSubPr>
                                      <m:e>
                                        <m:r>
                                          <a:rPr kumimoji="1" lang="en-US" altLang="zh-CN" sz="2400" i="1">
                                            <a:solidFill>
                                              <a:prstClr val="black"/>
                                            </a:solidFill>
                                            <a:latin typeface="Cambria Math" panose="02040503050406030204" pitchFamily="18" charset="0"/>
                                          </a:rPr>
                                          <m:t>𝑛</m:t>
                                        </m:r>
                                      </m:e>
                                      <m:sub>
                                        <m:r>
                                          <a:rPr kumimoji="1" lang="en-US" altLang="zh-CN" sz="2400" i="1">
                                            <a:solidFill>
                                              <a:prstClr val="black"/>
                                            </a:solidFill>
                                            <a:latin typeface="Cambria Math" panose="02040503050406030204" pitchFamily="18" charset="0"/>
                                          </a:rPr>
                                          <m:t>ℓ−1</m:t>
                                        </m:r>
                                      </m:sub>
                                    </m:sSub>
                                  </m:sup>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𝑤</m:t>
                                        </m:r>
                                      </m:e>
                                      <m:sub>
                                        <m:sSub>
                                          <m:sSubPr>
                                            <m:ctrlPr>
                                              <a:rPr kumimoji="1" lang="en-US" altLang="zh-CN" sz="2400" b="0" i="1" smtClean="0">
                                                <a:solidFill>
                                                  <a:prstClr val="black"/>
                                                </a:solidFill>
                                                <a:latin typeface="Cambria Math" panose="02040503050406030204" pitchFamily="18" charset="0"/>
                                              </a:rPr>
                                            </m:ctrlPr>
                                          </m:sSubPr>
                                          <m:e>
                                            <m:r>
                                              <a:rPr kumimoji="1" lang="en-US" altLang="zh-CN" sz="2400" b="0" i="1" smtClean="0">
                                                <a:solidFill>
                                                  <a:prstClr val="black"/>
                                                </a:solidFill>
                                                <a:latin typeface="Cambria Math" panose="02040503050406030204" pitchFamily="18" charset="0"/>
                                              </a:rPr>
                                              <m:t>𝑛</m:t>
                                            </m:r>
                                          </m:e>
                                          <m:sub>
                                            <m:r>
                                              <a:rPr kumimoji="1" lang="en-US" altLang="zh-CN" sz="2400" b="0" i="1" smtClean="0">
                                                <a:solidFill>
                                                  <a:prstClr val="black"/>
                                                </a:solidFill>
                                                <a:latin typeface="Cambria Math" panose="02040503050406030204" pitchFamily="18" charset="0"/>
                                              </a:rPr>
                                              <m:t>ℓ</m:t>
                                            </m:r>
                                          </m:sub>
                                        </m:sSub>
                                        <m:r>
                                          <a:rPr kumimoji="1" lang="en-US" altLang="zh-CN" sz="2400" b="0" i="1" smtClean="0">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𝑥</m:t>
                                        </m:r>
                                      </m:e>
                                      <m:sub>
                                        <m:r>
                                          <a:rPr kumimoji="1" lang="en-US" altLang="zh-CN" sz="2400" b="0" i="1" smtClean="0">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ℓ−1</m:t>
                                            </m:r>
                                          </m:e>
                                        </m:d>
                                      </m:sup>
                                    </m:sSubSup>
                                  </m:e>
                                </m:nary>
                                <m:r>
                                  <a:rPr kumimoji="1" lang="en-US" altLang="zh-CN" sz="2400" i="1">
                                    <a:solidFill>
                                      <a:prstClr val="black"/>
                                    </a:solidFill>
                                    <a:latin typeface="Cambria Math" panose="02040503050406030204" pitchFamily="18" charset="0"/>
                                  </a:rPr>
                                  <m:t>+</m:t>
                                </m:r>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𝑏</m:t>
                                    </m:r>
                                  </m:e>
                                  <m:sub>
                                    <m:sSub>
                                      <m:sSubPr>
                                        <m:ctrlPr>
                                          <a:rPr kumimoji="1" lang="en-US" altLang="zh-CN" sz="2400" i="1">
                                            <a:solidFill>
                                              <a:prstClr val="black"/>
                                            </a:solidFill>
                                            <a:latin typeface="Cambria Math" panose="02040503050406030204" pitchFamily="18" charset="0"/>
                                          </a:rPr>
                                        </m:ctrlPr>
                                      </m:sSubPr>
                                      <m:e>
                                        <m:r>
                                          <a:rPr kumimoji="1" lang="en-US" altLang="zh-CN" sz="2400" i="1">
                                            <a:solidFill>
                                              <a:prstClr val="black"/>
                                            </a:solidFill>
                                            <a:latin typeface="Cambria Math" panose="02040503050406030204" pitchFamily="18" charset="0"/>
                                          </a:rPr>
                                          <m:t>𝑛</m:t>
                                        </m:r>
                                      </m:e>
                                      <m:sub>
                                        <m:r>
                                          <a:rPr kumimoji="1" lang="en-US" altLang="zh-CN" sz="2400" i="1">
                                            <a:solidFill>
                                              <a:prstClr val="black"/>
                                            </a:solidFill>
                                            <a:latin typeface="Cambria Math" panose="02040503050406030204" pitchFamily="18" charset="0"/>
                                          </a:rPr>
                                          <m:t>ℓ</m:t>
                                        </m:r>
                                      </m:sub>
                                    </m:sSub>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e>
                            </m:d>
                          </m:e>
                        </m:mr>
                        <m:mr>
                          <m:e>
                            <m:sSup>
                              <m:sSupPr>
                                <m:ctrlPr>
                                  <a:rPr kumimoji="1" lang="en-US" altLang="zh-CN" sz="2400" b="0" i="1" smtClean="0">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r>
                              <a:rPr kumimoji="1" lang="en-US" altLang="zh-CN" sz="2400" i="1">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e>
                            </m:d>
                          </m:e>
                        </m:mr>
                      </m:m>
                    </m:oMath>
                  </m:oMathPara>
                </a14:m>
                <a:endParaRPr kumimoji="1" lang="en-US" altLang="zh-CN" sz="2400" dirty="0"/>
              </a:p>
              <a:p>
                <a:pPr marL="1257300" lvl="2" indent="-342900">
                  <a:buFont typeface="Arial" panose="020B0604020202020204" pitchFamily="34" charset="0"/>
                  <a:buChar char="•"/>
                </a:pPr>
                <a14:m>
                  <m:oMath xmlns:m="http://schemas.openxmlformats.org/officeDocument/2006/math">
                    <m:sSubSup>
                      <m:sSubSupPr>
                        <m:ctrlPr>
                          <a:rPr kumimoji="1" lang="en-US" altLang="zh-CN" sz="2400" b="0" i="1" smtClean="0">
                            <a:latin typeface="Cambria Math" panose="02040503050406030204" pitchFamily="18" charset="0"/>
                          </a:rPr>
                        </m:ctrlPr>
                      </m:sSubSupPr>
                      <m:e>
                        <m:r>
                          <a:rPr kumimoji="1" lang="en-US" altLang="zh-CN" sz="2400" b="0" i="1" smtClean="0">
                            <a:latin typeface="Cambria Math" panose="02040503050406030204" pitchFamily="18" charset="0"/>
                          </a:rPr>
                          <m:t>𝑤</m:t>
                        </m:r>
                      </m:e>
                      <m:sub>
                        <m:r>
                          <a:rPr kumimoji="1" lang="en-US" altLang="zh-CN" sz="2400" b="0" i="1" smtClean="0">
                            <a:latin typeface="Cambria Math" panose="02040503050406030204" pitchFamily="18" charset="0"/>
                          </a:rPr>
                          <m:t>𝑖𝑗</m:t>
                        </m:r>
                      </m:sub>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bSup>
                  </m:oMath>
                </a14:m>
                <a:r>
                  <a:rPr kumimoji="1" lang="zh-CN" altLang="en-US" sz="2400" b="0" dirty="0">
                    <a:latin typeface="Cambria Math" panose="02040503050406030204" pitchFamily="18" charset="0"/>
                  </a:rPr>
                  <a:t>表示</a:t>
                </a:r>
                <a:r>
                  <a:rPr kumimoji="1" lang="zh-CN" altLang="en-US" sz="2400" dirty="0"/>
                  <a:t>第</a:t>
                </a:r>
                <a14:m>
                  <m:oMath xmlns:m="http://schemas.openxmlformats.org/officeDocument/2006/math">
                    <m:r>
                      <a:rPr kumimoji="1" lang="en-US" altLang="zh-CN" sz="2400" i="1">
                        <a:latin typeface="Cambria Math" panose="02040503050406030204" pitchFamily="18" charset="0"/>
                      </a:rPr>
                      <m:t>ℓ</m:t>
                    </m:r>
                  </m:oMath>
                </a14:m>
                <a:r>
                  <a:rPr kumimoji="1" lang="zh-CN" altLang="en-US" sz="2400" dirty="0"/>
                  <a:t>层的第</a:t>
                </a:r>
                <a14:m>
                  <m:oMath xmlns:m="http://schemas.openxmlformats.org/officeDocument/2006/math">
                    <m:r>
                      <a:rPr kumimoji="1" lang="en-US" altLang="zh-CN" sz="2400" i="1">
                        <a:latin typeface="Cambria Math" panose="02040503050406030204" pitchFamily="18" charset="0"/>
                      </a:rPr>
                      <m:t>𝑖</m:t>
                    </m:r>
                  </m:oMath>
                </a14:m>
                <a:r>
                  <a:rPr kumimoji="1" lang="zh-CN" altLang="en-US" sz="2400" b="0" dirty="0">
                    <a:latin typeface="Cambria Math" panose="02040503050406030204" pitchFamily="18" charset="0"/>
                  </a:rPr>
                  <a:t>个神经元赋予前一层</a:t>
                </a:r>
                <a:r>
                  <a:rPr kumimoji="1" lang="zh-CN" altLang="en-US" sz="2400" dirty="0"/>
                  <a:t>的第</a:t>
                </a:r>
                <a14:m>
                  <m:oMath xmlns:m="http://schemas.openxmlformats.org/officeDocument/2006/math">
                    <m:r>
                      <a:rPr kumimoji="1" lang="en-US" altLang="zh-CN" sz="2400" b="0" i="1" smtClean="0">
                        <a:latin typeface="Cambria Math" panose="02040503050406030204" pitchFamily="18" charset="0"/>
                      </a:rPr>
                      <m:t>𝑗</m:t>
                    </m:r>
                  </m:oMath>
                </a14:m>
                <a:r>
                  <a:rPr kumimoji="1" lang="zh-CN" altLang="en-US" sz="2400" dirty="0">
                    <a:latin typeface="Cambria Math" panose="02040503050406030204" pitchFamily="18" charset="0"/>
                  </a:rPr>
                  <a:t>个神经元输入信号的权重</a:t>
                </a:r>
                <a:endParaRPr kumimoji="1" lang="en-US" altLang="zh-CN" sz="2400" dirty="0">
                  <a:latin typeface="Cambria Math" panose="02040503050406030204" pitchFamily="18" charset="0"/>
                </a:endParaRPr>
              </a:p>
              <a:p>
                <a:pPr marL="1257300" lvl="2" indent="-342900">
                  <a:buFont typeface="Arial" panose="020B0604020202020204" pitchFamily="34" charset="0"/>
                  <a:buChar char="•"/>
                </a:pPr>
                <a14:m>
                  <m:oMath xmlns:m="http://schemas.openxmlformats.org/officeDocument/2006/math">
                    <m:sSubSup>
                      <m:sSubSupPr>
                        <m:ctrlPr>
                          <a:rPr kumimoji="1" lang="en-US" altLang="zh-CN" sz="2400" b="0" i="1" smtClean="0">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𝑏</m:t>
                        </m:r>
                      </m:e>
                      <m:sub>
                        <m:r>
                          <a:rPr kumimoji="1" lang="en-US" altLang="zh-CN" sz="2400" b="0" i="1" smtClean="0">
                            <a:solidFill>
                              <a:prstClr val="black"/>
                            </a:solidFill>
                            <a:latin typeface="Cambria Math" panose="02040503050406030204" pitchFamily="18" charset="0"/>
                          </a:rPr>
                          <m:t>𝑖</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oMath>
                </a14:m>
                <a:r>
                  <a:rPr kumimoji="1" lang="zh-CN" altLang="en-US" sz="2400" b="0" dirty="0">
                    <a:latin typeface="Cambria Math" panose="02040503050406030204" pitchFamily="18" charset="0"/>
                  </a:rPr>
                  <a:t>表示</a:t>
                </a:r>
                <a:r>
                  <a:rPr kumimoji="1" lang="zh-CN" altLang="en-US" sz="2400" dirty="0"/>
                  <a:t>第</a:t>
                </a:r>
                <a14:m>
                  <m:oMath xmlns:m="http://schemas.openxmlformats.org/officeDocument/2006/math">
                    <m:r>
                      <a:rPr kumimoji="1" lang="en-US" altLang="zh-CN" sz="2400" i="1">
                        <a:latin typeface="Cambria Math" panose="02040503050406030204" pitchFamily="18" charset="0"/>
                      </a:rPr>
                      <m:t>ℓ</m:t>
                    </m:r>
                  </m:oMath>
                </a14:m>
                <a:r>
                  <a:rPr kumimoji="1" lang="zh-CN" altLang="en-US" sz="2400" dirty="0"/>
                  <a:t>层的第</a:t>
                </a:r>
                <a14:m>
                  <m:oMath xmlns:m="http://schemas.openxmlformats.org/officeDocument/2006/math">
                    <m:r>
                      <a:rPr kumimoji="1" lang="en-US" altLang="zh-CN" sz="2400" b="0" i="1" smtClean="0">
                        <a:latin typeface="Cambria Math" panose="02040503050406030204" pitchFamily="18" charset="0"/>
                      </a:rPr>
                      <m:t>𝑖</m:t>
                    </m:r>
                  </m:oMath>
                </a14:m>
                <a:r>
                  <a:rPr kumimoji="1" lang="zh-CN" altLang="en-US" sz="2400" dirty="0">
                    <a:latin typeface="Cambria Math" panose="02040503050406030204" pitchFamily="18" charset="0"/>
                  </a:rPr>
                  <a:t>个神经元的偏置</a:t>
                </a:r>
                <a:endParaRPr kumimoji="1" lang="en-US" altLang="zh-CN" sz="2400" dirty="0">
                  <a:latin typeface="Cambria Math" panose="02040503050406030204" pitchFamily="18" charset="0"/>
                </a:endParaRPr>
              </a:p>
              <a:p>
                <a:pPr marL="1257300" lvl="2" indent="-342900">
                  <a:buFont typeface="Arial" panose="020B0604020202020204" pitchFamily="34" charset="0"/>
                  <a:buChar char="•"/>
                </a:pPr>
                <a14:m>
                  <m:oMath xmlns:m="http://schemas.openxmlformats.org/officeDocument/2006/math">
                    <m:sSup>
                      <m:sSupPr>
                        <m:ctrlPr>
                          <a:rPr kumimoji="1" lang="en-US" altLang="zh-CN" sz="2400" b="0" i="1" smtClean="0">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m:t>
                        </m:r>
                      </m:e>
                    </m:d>
                  </m:oMath>
                </a14:m>
                <a:r>
                  <a:rPr kumimoji="1" lang="zh-CN" altLang="en-US" sz="2400" b="0" dirty="0">
                    <a:latin typeface="Cambria Math" panose="02040503050406030204" pitchFamily="18" charset="0"/>
                  </a:rPr>
                  <a:t>表示</a:t>
                </a:r>
                <a:r>
                  <a:rPr kumimoji="1" lang="zh-CN" altLang="en-US" sz="2400" dirty="0"/>
                  <a:t>第</a:t>
                </a:r>
                <a14:m>
                  <m:oMath xmlns:m="http://schemas.openxmlformats.org/officeDocument/2006/math">
                    <m:r>
                      <a:rPr kumimoji="1" lang="en-US" altLang="zh-CN" sz="2400" i="1">
                        <a:latin typeface="Cambria Math" panose="02040503050406030204" pitchFamily="18" charset="0"/>
                      </a:rPr>
                      <m:t>ℓ</m:t>
                    </m:r>
                  </m:oMath>
                </a14:m>
                <a:r>
                  <a:rPr kumimoji="1" lang="zh-CN" altLang="en-US" sz="2400" dirty="0"/>
                  <a:t>层的激活函数</a:t>
                </a:r>
                <a:endParaRPr kumimoji="1" lang="en-US" altLang="zh-CN" sz="2400" b="0" dirty="0">
                  <a:latin typeface="Cambria Math" panose="02040503050406030204" pitchFamily="18" charset="0"/>
                </a:endParaRPr>
              </a:p>
            </p:txBody>
          </p:sp>
        </mc:Choice>
        <mc:Fallback xmlns="">
          <p:sp>
            <p:nvSpPr>
              <p:cNvPr id="10" name="文本框 9">
                <a:extLst>
                  <a:ext uri="{FF2B5EF4-FFF2-40B4-BE49-F238E27FC236}">
                    <a16:creationId xmlns:a16="http://schemas.microsoft.com/office/drawing/2014/main" id="{9595182C-852D-3545-BB3D-612141D2F52D}"/>
                  </a:ext>
                </a:extLst>
              </p:cNvPr>
              <p:cNvSpPr txBox="1">
                <a:spLocks noRot="1" noChangeAspect="1" noMove="1" noResize="1" noEditPoints="1" noAdjustHandles="1" noChangeArrowheads="1" noChangeShapeType="1" noTextEdit="1"/>
              </p:cNvSpPr>
              <p:nvPr/>
            </p:nvSpPr>
            <p:spPr>
              <a:xfrm>
                <a:off x="548640" y="2462661"/>
                <a:ext cx="11440160" cy="4054636"/>
              </a:xfrm>
              <a:prstGeom prst="rect">
                <a:avLst/>
              </a:prstGeom>
              <a:blipFill>
                <a:blip r:embed="rId3"/>
                <a:stretch>
                  <a:fillRect l="-693" t="-1053" b="-27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6366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22</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a:t>
            </a:r>
            <a:r>
              <a:rPr lang="en-US" altLang="zh-CN" sz="2400" dirty="0">
                <a:latin typeface="Times New Roman" panose="02020603050405020304" pitchFamily="18" charset="0"/>
                <a:cs typeface="Times New Roman" panose="02020603050405020304" pitchFamily="18" charset="0"/>
              </a:rPr>
              <a:t>(Multi-layer Perceptron, MLP)</a:t>
            </a:r>
            <a:r>
              <a:rPr lang="zh-CN" altLang="en-US" sz="2400" dirty="0">
                <a:latin typeface="Times New Roman" panose="02020603050405020304" pitchFamily="18" charset="0"/>
                <a:cs typeface="Times New Roman" panose="02020603050405020304" pitchFamily="18" charset="0"/>
              </a:rPr>
              <a:t> ：</a:t>
            </a:r>
            <a:r>
              <a:rPr lang="zh-CN" altLang="en-US" sz="2400" dirty="0"/>
              <a:t>由输入层、一个或多个</a:t>
            </a:r>
            <a:r>
              <a:rPr lang="zh-CN" altLang="en-US" sz="2400" b="1" dirty="0"/>
              <a:t>隐藏层</a:t>
            </a:r>
            <a:r>
              <a:rPr lang="zh-CN" altLang="en-US" sz="2400" dirty="0"/>
              <a:t>、输出层组成的前馈神经网络。</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595182C-852D-3545-BB3D-612141D2F52D}"/>
                  </a:ext>
                </a:extLst>
              </p:cNvPr>
              <p:cNvSpPr txBox="1"/>
              <p:nvPr/>
            </p:nvSpPr>
            <p:spPr>
              <a:xfrm>
                <a:off x="548640" y="2462661"/>
                <a:ext cx="11440160" cy="4423583"/>
              </a:xfrm>
              <a:prstGeom prst="rect">
                <a:avLst/>
              </a:prstGeom>
              <a:noFill/>
            </p:spPr>
            <p:txBody>
              <a:bodyPr wrap="square" rtlCol="0">
                <a:spAutoFit/>
              </a:bodyPr>
              <a:lstStyle/>
              <a:p>
                <a:pPr marL="285750" indent="-285750">
                  <a:buFont typeface="Wingdings" pitchFamily="2" charset="2"/>
                  <a:buChar char="n"/>
                </a:pPr>
                <a:r>
                  <a:rPr kumimoji="1" lang="zh-CN" altLang="en-US" sz="2400" dirty="0"/>
                  <a:t>数学表达</a:t>
                </a:r>
                <a:endParaRPr kumimoji="1" lang="en-US" altLang="zh-CN" sz="2400" dirty="0"/>
              </a:p>
              <a:p>
                <a:pPr marL="800100" lvl="1" indent="-342900">
                  <a:buFont typeface="Wingdings" pitchFamily="2" charset="2"/>
                  <a:buChar char="p"/>
                </a:pPr>
                <a:r>
                  <a:rPr kumimoji="1" lang="zh-CN" altLang="en-US" sz="2400" dirty="0"/>
                  <a:t>输入层</a:t>
                </a:r>
                <a:r>
                  <a:rPr kumimoji="1" lang="en-US" altLang="zh-CN" sz="2400" dirty="0"/>
                  <a:t>(</a:t>
                </a:r>
                <a:r>
                  <a:rPr kumimoji="1" lang="zh-CN" altLang="en-US" sz="2400" dirty="0"/>
                  <a:t>第</a:t>
                </a:r>
                <a:r>
                  <a:rPr kumimoji="1" lang="en-US" altLang="zh-CN" sz="2400" dirty="0"/>
                  <a:t>0</a:t>
                </a:r>
                <a:r>
                  <a:rPr kumimoji="1" lang="zh-CN" altLang="en-US" sz="2400" dirty="0"/>
                  <a:t>层</a:t>
                </a:r>
                <a:r>
                  <a:rPr kumimoji="1" lang="en-US" altLang="zh-CN" sz="2400" dirty="0"/>
                  <a:t>)</a:t>
                </a:r>
                <a:r>
                  <a:rPr kumimoji="1" lang="zh-CN" altLang="en-US" sz="2400" dirty="0"/>
                  <a:t>：</a:t>
                </a:r>
                <a14:m>
                  <m:oMath xmlns:m="http://schemas.openxmlformats.org/officeDocument/2006/math">
                    <m:sSup>
                      <m:sSupPr>
                        <m:ctrlPr>
                          <a:rPr kumimoji="1" lang="en-US" altLang="zh-CN" sz="2400" i="1" dirty="0">
                            <a:latin typeface="Cambria Math" panose="02040503050406030204" pitchFamily="18" charset="0"/>
                          </a:rPr>
                        </m:ctrlPr>
                      </m:sSupPr>
                      <m:e>
                        <m:r>
                          <a:rPr kumimoji="1" lang="en-US" altLang="zh-CN" sz="2400" i="1" dirty="0">
                            <a:latin typeface="Cambria Math" panose="02040503050406030204" pitchFamily="18" charset="0"/>
                          </a:rPr>
                          <m:t>𝑥</m:t>
                        </m:r>
                      </m:e>
                      <m:sup>
                        <m:d>
                          <m:dPr>
                            <m:ctrlPr>
                              <a:rPr kumimoji="1" lang="en-US" altLang="zh-CN" sz="2400" i="1" dirty="0">
                                <a:latin typeface="Cambria Math" panose="02040503050406030204" pitchFamily="18" charset="0"/>
                              </a:rPr>
                            </m:ctrlPr>
                          </m:dPr>
                          <m:e>
                            <m:r>
                              <a:rPr kumimoji="1" lang="en-US" altLang="zh-CN" sz="2400" i="1" dirty="0">
                                <a:latin typeface="Cambria Math" panose="02040503050406030204" pitchFamily="18" charset="0"/>
                              </a:rPr>
                              <m:t>0</m:t>
                            </m:r>
                          </m:e>
                        </m:d>
                      </m:sup>
                    </m:sSup>
                    <m:r>
                      <a:rPr kumimoji="1" lang="en-US" altLang="zh-CN" sz="2400" i="1">
                        <a:latin typeface="Cambria Math" panose="02040503050406030204" pitchFamily="18" charset="0"/>
                      </a:rPr>
                      <m:t>=</m:t>
                    </m:r>
                    <m:d>
                      <m:dPr>
                        <m:begChr m:val="["/>
                        <m:endChr m:val="]"/>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𝑥</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0</m:t>
                                </m:r>
                              </m:e>
                            </m:d>
                          </m:sup>
                        </m:sSubSup>
                        <m:r>
                          <a:rPr kumimoji="1" lang="en-US" altLang="zh-CN" sz="2400" i="1">
                            <a:latin typeface="Cambria Math" panose="02040503050406030204" pitchFamily="18" charset="0"/>
                          </a:rPr>
                          <m:t>;…;</m:t>
                        </m:r>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𝑥</m:t>
                            </m:r>
                          </m:e>
                          <m:sub>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𝑛</m:t>
                                </m:r>
                              </m:e>
                              <m:sub>
                                <m:r>
                                  <a:rPr kumimoji="1" lang="en-US" altLang="zh-CN" sz="2400" i="1">
                                    <a:latin typeface="Cambria Math" panose="02040503050406030204" pitchFamily="18" charset="0"/>
                                  </a:rPr>
                                  <m:t>0</m:t>
                                </m:r>
                              </m:sub>
                            </m:sSub>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0</m:t>
                                </m:r>
                              </m:e>
                            </m:d>
                          </m:sup>
                        </m:sSubSup>
                      </m:e>
                    </m:d>
                  </m:oMath>
                </a14:m>
                <a:endParaRPr kumimoji="1" lang="en-US" altLang="zh-CN" sz="2000" dirty="0"/>
              </a:p>
              <a:p>
                <a:pPr marL="800100" lvl="1" indent="-342900">
                  <a:buFont typeface="Wingdings" pitchFamily="2" charset="2"/>
                  <a:buChar char="p"/>
                </a:pPr>
                <a:r>
                  <a:rPr kumimoji="1" lang="zh-CN" altLang="en-US" sz="2400" dirty="0"/>
                  <a:t>隐藏层 </a:t>
                </a:r>
                <a:r>
                  <a:rPr kumimoji="1" lang="en-US" altLang="zh-CN" sz="2400" dirty="0"/>
                  <a:t>&amp;</a:t>
                </a:r>
                <a:r>
                  <a:rPr kumimoji="1" lang="zh-CN" altLang="en-US" sz="2400" dirty="0"/>
                  <a:t> 输出层</a:t>
                </a:r>
                <a:r>
                  <a:rPr kumimoji="1" lang="en-US" altLang="zh-CN" sz="2400" dirty="0"/>
                  <a:t>(</a:t>
                </a:r>
                <a:r>
                  <a:rPr kumimoji="1" lang="zh-CN" altLang="en-US" sz="2400" dirty="0"/>
                  <a:t>第</a:t>
                </a:r>
                <a14:m>
                  <m:oMath xmlns:m="http://schemas.openxmlformats.org/officeDocument/2006/math">
                    <m:r>
                      <a:rPr kumimoji="1" lang="en-US" altLang="zh-CN" sz="2400" b="0" i="1" smtClean="0">
                        <a:latin typeface="Cambria Math" panose="02040503050406030204" pitchFamily="18" charset="0"/>
                      </a:rPr>
                      <m:t>ℓ</m:t>
                    </m:r>
                  </m:oMath>
                </a14:m>
                <a:r>
                  <a:rPr kumimoji="1" lang="zh-CN" altLang="en-US" sz="2400" dirty="0"/>
                  <a:t>层</a:t>
                </a:r>
                <a:r>
                  <a:rPr kumimoji="1" lang="en-US" altLang="zh-CN" sz="2400" dirty="0"/>
                  <a:t>)</a:t>
                </a:r>
                <a:r>
                  <a:rPr kumimoji="1" lang="zh-CN" altLang="en-US" sz="2400" dirty="0"/>
                  <a:t>：</a:t>
                </a:r>
                <a:endParaRPr kumimoji="1" lang="en-US" altLang="zh-CN" sz="2400" dirty="0"/>
              </a:p>
              <a:p>
                <a:pPr lvl="1"/>
                <a14:m>
                  <m:oMathPara xmlns:m="http://schemas.openxmlformats.org/officeDocument/2006/math">
                    <m:oMathParaPr>
                      <m:jc m:val="centerGroup"/>
                    </m:oMathParaPr>
                    <m:oMath xmlns:m="http://schemas.openxmlformats.org/officeDocument/2006/math">
                      <m:m>
                        <m:mPr>
                          <m:mcs>
                            <m:mc>
                              <m:mcPr>
                                <m:count m:val="1"/>
                                <m:mcJc m:val="center"/>
                              </m:mcPr>
                            </m:mc>
                          </m:mcs>
                          <m:ctrlPr>
                            <a:rPr kumimoji="1" lang="en-US" altLang="zh-CN" sz="2400" i="1" smtClean="0">
                              <a:latin typeface="Cambria Math" panose="02040503050406030204" pitchFamily="18" charset="0"/>
                            </a:rPr>
                          </m:ctrlPr>
                        </m:mPr>
                        <m:mr>
                          <m:e>
                            <m:sSup>
                              <m:sSupPr>
                                <m:ctrlPr>
                                  <a:rPr kumimoji="1" lang="en-US" altLang="zh-CN" sz="2400" b="0" i="1" smtClean="0">
                                    <a:solidFill>
                                      <a:srgbClr val="C00000"/>
                                    </a:solidFill>
                                    <a:latin typeface="Cambria Math" panose="02040503050406030204" pitchFamily="18" charset="0"/>
                                  </a:rPr>
                                </m:ctrlPr>
                              </m:sSupPr>
                              <m:e>
                                <m:r>
                                  <m:rPr>
                                    <m:brk m:alnAt="7"/>
                                  </m:rPr>
                                  <a:rPr kumimoji="1" lang="en-US" altLang="zh-CN" sz="2400" b="0" i="1" smtClean="0">
                                    <a:solidFill>
                                      <a:srgbClr val="C00000"/>
                                    </a:solidFill>
                                    <a:latin typeface="Cambria Math" panose="02040503050406030204" pitchFamily="18" charset="0"/>
                                  </a:rPr>
                                  <m:t>𝑧</m:t>
                                </m:r>
                              </m:e>
                              <m:sup>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ℓ</m:t>
                                    </m:r>
                                  </m:e>
                                </m:d>
                              </m:sup>
                            </m:sSup>
                            <m:r>
                              <m:rPr>
                                <m:brk m:alnAt="7"/>
                              </m:rPr>
                              <a:rPr kumimoji="1" lang="en-US" altLang="zh-CN" sz="2400" b="0" i="1" smtClean="0">
                                <a:solidFill>
                                  <a:srgbClr val="C00000"/>
                                </a:solidFill>
                                <a:latin typeface="Cambria Math" panose="02040503050406030204" pitchFamily="18" charset="0"/>
                              </a:rPr>
                              <m:t>=</m:t>
                            </m:r>
                            <m:sSup>
                              <m:sSupPr>
                                <m:ctrlPr>
                                  <a:rPr kumimoji="1" lang="en-US" altLang="zh-CN" sz="2400" b="0" i="1" smtClean="0">
                                    <a:solidFill>
                                      <a:srgbClr val="C00000"/>
                                    </a:solidFill>
                                    <a:latin typeface="Cambria Math" panose="02040503050406030204" pitchFamily="18" charset="0"/>
                                  </a:rPr>
                                </m:ctrlPr>
                              </m:sSupPr>
                              <m:e>
                                <m:r>
                                  <m:rPr>
                                    <m:brk m:alnAt="7"/>
                                  </m:rPr>
                                  <a:rPr kumimoji="1" lang="en-US" altLang="zh-CN" sz="2400" b="0" i="1" smtClean="0">
                                    <a:solidFill>
                                      <a:srgbClr val="C00000"/>
                                    </a:solidFill>
                                    <a:latin typeface="Cambria Math" panose="02040503050406030204" pitchFamily="18" charset="0"/>
                                  </a:rPr>
                                  <m:t>𝑊</m:t>
                                </m:r>
                              </m:e>
                              <m:sup>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ℓ</m:t>
                                    </m:r>
                                  </m:e>
                                </m:d>
                              </m:sup>
                            </m:sSup>
                            <m:sSup>
                              <m:sSupPr>
                                <m:ctrlPr>
                                  <a:rPr kumimoji="1" lang="en-US" altLang="zh-CN" sz="2400" b="0" i="1" smtClean="0">
                                    <a:solidFill>
                                      <a:srgbClr val="C00000"/>
                                    </a:solidFill>
                                    <a:latin typeface="Cambria Math" panose="02040503050406030204" pitchFamily="18" charset="0"/>
                                  </a:rPr>
                                </m:ctrlPr>
                              </m:sSupPr>
                              <m:e>
                                <m:r>
                                  <m:rPr>
                                    <m:brk m:alnAt="7"/>
                                  </m:rPr>
                                  <a:rPr kumimoji="1" lang="en-US" altLang="zh-CN" sz="2400" b="0" i="1" smtClean="0">
                                    <a:solidFill>
                                      <a:srgbClr val="C00000"/>
                                    </a:solidFill>
                                    <a:latin typeface="Cambria Math" panose="02040503050406030204" pitchFamily="18" charset="0"/>
                                  </a:rPr>
                                  <m:t>𝑥</m:t>
                                </m:r>
                              </m:e>
                              <m:sup>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ℓ−1</m:t>
                                    </m:r>
                                  </m:e>
                                </m:d>
                              </m:sup>
                            </m:sSup>
                            <m:r>
                              <m:rPr>
                                <m:brk m:alnAt="7"/>
                              </m:rPr>
                              <a:rPr kumimoji="1" lang="en-US" altLang="zh-CN" sz="2400" b="0" i="1" smtClean="0">
                                <a:solidFill>
                                  <a:srgbClr val="C00000"/>
                                </a:solidFill>
                                <a:latin typeface="Cambria Math" panose="02040503050406030204" pitchFamily="18" charset="0"/>
                              </a:rPr>
                              <m:t>+</m:t>
                            </m:r>
                            <m:sSup>
                              <m:sSupPr>
                                <m:ctrlPr>
                                  <a:rPr kumimoji="1" lang="en-US" altLang="zh-CN" sz="2400" b="0" i="1" smtClean="0">
                                    <a:solidFill>
                                      <a:srgbClr val="C00000"/>
                                    </a:solidFill>
                                    <a:latin typeface="Cambria Math" panose="02040503050406030204" pitchFamily="18" charset="0"/>
                                  </a:rPr>
                                </m:ctrlPr>
                              </m:sSupPr>
                              <m:e>
                                <m:r>
                                  <m:rPr>
                                    <m:brk m:alnAt="7"/>
                                  </m:rPr>
                                  <a:rPr kumimoji="1" lang="en-US" altLang="zh-CN" sz="2400" b="0" i="1" smtClean="0">
                                    <a:solidFill>
                                      <a:srgbClr val="C00000"/>
                                    </a:solidFill>
                                    <a:latin typeface="Cambria Math" panose="02040503050406030204" pitchFamily="18" charset="0"/>
                                  </a:rPr>
                                  <m:t>𝑏</m:t>
                                </m:r>
                              </m:e>
                              <m:sup>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ℓ</m:t>
                                    </m:r>
                                  </m:e>
                                </m:d>
                              </m:sup>
                            </m:sSup>
                          </m:e>
                        </m:mr>
                        <m:mr>
                          <m:e>
                            <m:sSup>
                              <m:sSupPr>
                                <m:ctrlPr>
                                  <a:rPr kumimoji="1" lang="en-US" altLang="zh-CN" sz="2400" b="0" i="1" smtClean="0">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r>
                              <a:rPr kumimoji="1" lang="en-US" altLang="zh-CN" sz="2400" i="1">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e>
                            </m:d>
                          </m:e>
                        </m:mr>
                      </m:m>
                    </m:oMath>
                  </m:oMathPara>
                </a14:m>
                <a:endParaRPr kumimoji="1" lang="en-US" altLang="zh-CN" sz="2400" dirty="0"/>
              </a:p>
              <a:p>
                <a:pPr marL="1257300" lvl="2" indent="-342900">
                  <a:buFont typeface="Arial" panose="020B0604020202020204" pitchFamily="34" charset="0"/>
                  <a:buChar char="•"/>
                </a:pPr>
                <a14:m>
                  <m:oMath xmlns:m="http://schemas.openxmlformats.org/officeDocument/2006/math">
                    <m:sSubSup>
                      <m:sSubSupPr>
                        <m:ctrlPr>
                          <a:rPr kumimoji="1" lang="en-US" altLang="zh-CN" sz="2400" b="0" i="1" smtClean="0">
                            <a:latin typeface="Cambria Math" panose="02040503050406030204" pitchFamily="18" charset="0"/>
                          </a:rPr>
                        </m:ctrlPr>
                      </m:sSubSupPr>
                      <m:e>
                        <m:r>
                          <a:rPr kumimoji="1" lang="en-US" altLang="zh-CN" sz="2400" b="0" i="1" smtClean="0">
                            <a:latin typeface="Cambria Math" panose="02040503050406030204" pitchFamily="18" charset="0"/>
                          </a:rPr>
                          <m:t>𝑤</m:t>
                        </m:r>
                      </m:e>
                      <m:sub>
                        <m:r>
                          <a:rPr kumimoji="1" lang="en-US" altLang="zh-CN" sz="2400" b="0" i="1" smtClean="0">
                            <a:latin typeface="Cambria Math" panose="02040503050406030204" pitchFamily="18" charset="0"/>
                          </a:rPr>
                          <m:t>𝑖𝑗</m:t>
                        </m:r>
                      </m:sub>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bSup>
                  </m:oMath>
                </a14:m>
                <a:r>
                  <a:rPr kumimoji="1" lang="zh-CN" altLang="en-US" sz="2400" b="0" dirty="0">
                    <a:latin typeface="Cambria Math" panose="02040503050406030204" pitchFamily="18" charset="0"/>
                  </a:rPr>
                  <a:t>表示</a:t>
                </a:r>
                <a:r>
                  <a:rPr kumimoji="1" lang="zh-CN" altLang="en-US" sz="2400" dirty="0"/>
                  <a:t>第</a:t>
                </a:r>
                <a14:m>
                  <m:oMath xmlns:m="http://schemas.openxmlformats.org/officeDocument/2006/math">
                    <m:r>
                      <a:rPr kumimoji="1" lang="en-US" altLang="zh-CN" sz="2400" i="1">
                        <a:latin typeface="Cambria Math" panose="02040503050406030204" pitchFamily="18" charset="0"/>
                      </a:rPr>
                      <m:t>ℓ</m:t>
                    </m:r>
                  </m:oMath>
                </a14:m>
                <a:r>
                  <a:rPr kumimoji="1" lang="zh-CN" altLang="en-US" sz="2400" dirty="0"/>
                  <a:t>层的第</a:t>
                </a:r>
                <a14:m>
                  <m:oMath xmlns:m="http://schemas.openxmlformats.org/officeDocument/2006/math">
                    <m:r>
                      <a:rPr kumimoji="1" lang="en-US" altLang="zh-CN" sz="2400" i="1">
                        <a:latin typeface="Cambria Math" panose="02040503050406030204" pitchFamily="18" charset="0"/>
                      </a:rPr>
                      <m:t>𝑖</m:t>
                    </m:r>
                  </m:oMath>
                </a14:m>
                <a:r>
                  <a:rPr kumimoji="1" lang="zh-CN" altLang="en-US" sz="2400" b="0" dirty="0">
                    <a:latin typeface="Cambria Math" panose="02040503050406030204" pitchFamily="18" charset="0"/>
                  </a:rPr>
                  <a:t>个神经元赋予前一层</a:t>
                </a:r>
                <a:r>
                  <a:rPr kumimoji="1" lang="zh-CN" altLang="en-US" sz="2400" dirty="0"/>
                  <a:t>的第</a:t>
                </a:r>
                <a14:m>
                  <m:oMath xmlns:m="http://schemas.openxmlformats.org/officeDocument/2006/math">
                    <m:r>
                      <a:rPr kumimoji="1" lang="en-US" altLang="zh-CN" sz="2400" b="0" i="1" smtClean="0">
                        <a:latin typeface="Cambria Math" panose="02040503050406030204" pitchFamily="18" charset="0"/>
                      </a:rPr>
                      <m:t>𝑗</m:t>
                    </m:r>
                  </m:oMath>
                </a14:m>
                <a:r>
                  <a:rPr kumimoji="1" lang="zh-CN" altLang="en-US" sz="2400" dirty="0">
                    <a:latin typeface="Cambria Math" panose="02040503050406030204" pitchFamily="18" charset="0"/>
                  </a:rPr>
                  <a:t>个神经元输入信号的权重</a:t>
                </a:r>
                <a:endParaRPr kumimoji="1" lang="en-US" altLang="zh-CN" sz="2400" dirty="0">
                  <a:latin typeface="Cambria Math" panose="02040503050406030204" pitchFamily="18" charset="0"/>
                </a:endParaRPr>
              </a:p>
              <a:p>
                <a:pPr lvl="2"/>
                <a14:m>
                  <m:oMathPara xmlns:m="http://schemas.openxmlformats.org/officeDocument/2006/math">
                    <m:oMathParaPr>
                      <m:jc m:val="centerGroup"/>
                    </m:oMathParaPr>
                    <m:oMath xmlns:m="http://schemas.openxmlformats.org/officeDocument/2006/math">
                      <m:sSup>
                        <m:sSupPr>
                          <m:ctrlPr>
                            <a:rPr kumimoji="1" lang="en-US" altLang="zh-CN" sz="2400" b="0" i="1" smtClean="0">
                              <a:solidFill>
                                <a:srgbClr val="C00000"/>
                              </a:solidFill>
                              <a:latin typeface="Cambria Math" panose="02040503050406030204" pitchFamily="18" charset="0"/>
                            </a:rPr>
                          </m:ctrlPr>
                        </m:sSupPr>
                        <m:e>
                          <m:r>
                            <m:rPr>
                              <m:brk m:alnAt="7"/>
                            </m:rPr>
                            <a:rPr kumimoji="1" lang="en-US" altLang="zh-CN" sz="2400" b="0" i="1" smtClean="0">
                              <a:solidFill>
                                <a:srgbClr val="C00000"/>
                              </a:solidFill>
                              <a:latin typeface="Cambria Math" panose="02040503050406030204" pitchFamily="18" charset="0"/>
                            </a:rPr>
                            <m:t>𝑊</m:t>
                          </m:r>
                        </m:e>
                        <m:sup>
                          <m:d>
                            <m:dPr>
                              <m:ctrlPr>
                                <a:rPr kumimoji="1" lang="en-US" altLang="zh-CN" sz="2400" b="0" i="1" smtClean="0">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ℓ</m:t>
                              </m:r>
                            </m:e>
                          </m:d>
                        </m:sup>
                      </m:sSup>
                      <m:r>
                        <a:rPr kumimoji="1" lang="en-US" altLang="zh-CN" sz="2400" b="0" i="1" smtClean="0">
                          <a:solidFill>
                            <a:srgbClr val="C00000"/>
                          </a:solidFill>
                          <a:latin typeface="Cambria Math" panose="02040503050406030204" pitchFamily="18" charset="0"/>
                        </a:rPr>
                        <m:t>=</m:t>
                      </m:r>
                      <m:d>
                        <m:dPr>
                          <m:begChr m:val="["/>
                          <m:endChr m:val="]"/>
                          <m:ctrlPr>
                            <a:rPr kumimoji="1" lang="en-US" altLang="zh-CN" sz="2400" b="0" i="1" smtClean="0">
                              <a:solidFill>
                                <a:srgbClr val="C00000"/>
                              </a:solidFill>
                              <a:latin typeface="Cambria Math" panose="02040503050406030204" pitchFamily="18" charset="0"/>
                            </a:rPr>
                          </m:ctrlPr>
                        </m:dPr>
                        <m:e>
                          <m:m>
                            <m:mPr>
                              <m:mcs>
                                <m:mc>
                                  <m:mcPr>
                                    <m:count m:val="3"/>
                                    <m:mcJc m:val="center"/>
                                  </m:mcPr>
                                </m:mc>
                              </m:mcs>
                              <m:ctrlPr>
                                <a:rPr kumimoji="1" lang="en-US" altLang="zh-CN" sz="2400" b="0" i="1" smtClean="0">
                                  <a:solidFill>
                                    <a:srgbClr val="C00000"/>
                                  </a:solidFill>
                                  <a:latin typeface="Cambria Math" panose="02040503050406030204" pitchFamily="18" charset="0"/>
                                </a:rPr>
                              </m:ctrlPr>
                            </m:mPr>
                            <m:mr>
                              <m:e>
                                <m:sSub>
                                  <m:sSubPr>
                                    <m:ctrlPr>
                                      <a:rPr kumimoji="1" lang="en-US" altLang="zh-CN" sz="2400" b="0" i="1" smtClean="0">
                                        <a:solidFill>
                                          <a:srgbClr val="C00000"/>
                                        </a:solidFill>
                                        <a:latin typeface="Cambria Math" panose="02040503050406030204" pitchFamily="18" charset="0"/>
                                      </a:rPr>
                                    </m:ctrlPr>
                                  </m:sSubPr>
                                  <m:e>
                                    <m:r>
                                      <m:rPr>
                                        <m:brk m:alnAt="7"/>
                                      </m:rPr>
                                      <a:rPr kumimoji="1" lang="en-US" altLang="zh-CN" sz="2400" b="0" i="1" smtClean="0">
                                        <a:solidFill>
                                          <a:srgbClr val="C00000"/>
                                        </a:solidFill>
                                        <a:latin typeface="Cambria Math" panose="02040503050406030204" pitchFamily="18" charset="0"/>
                                      </a:rPr>
                                      <m:t>𝑤</m:t>
                                    </m:r>
                                  </m:e>
                                  <m:sub>
                                    <m:r>
                                      <a:rPr kumimoji="1" lang="en-US" altLang="zh-CN" sz="2400" b="0" i="1" smtClean="0">
                                        <a:solidFill>
                                          <a:srgbClr val="C00000"/>
                                        </a:solidFill>
                                        <a:latin typeface="Cambria Math" panose="02040503050406030204" pitchFamily="18" charset="0"/>
                                      </a:rPr>
                                      <m:t>11</m:t>
                                    </m:r>
                                  </m:sub>
                                </m:sSub>
                              </m:e>
                              <m:e>
                                <m:r>
                                  <a:rPr kumimoji="1" lang="en-US" altLang="zh-CN" sz="2400" b="0" i="1" smtClean="0">
                                    <a:solidFill>
                                      <a:srgbClr val="C00000"/>
                                    </a:solidFill>
                                    <a:latin typeface="Cambria Math" panose="02040503050406030204" pitchFamily="18" charset="0"/>
                                  </a:rPr>
                                  <m:t>…</m:t>
                                </m:r>
                              </m:e>
                              <m:e>
                                <m:sSub>
                                  <m:sSubPr>
                                    <m:ctrlPr>
                                      <a:rPr kumimoji="1" lang="en-US" altLang="zh-CN" sz="2400" b="0" i="1" smtClean="0">
                                        <a:solidFill>
                                          <a:srgbClr val="C00000"/>
                                        </a:solidFill>
                                        <a:latin typeface="Cambria Math" panose="02040503050406030204" pitchFamily="18" charset="0"/>
                                      </a:rPr>
                                    </m:ctrlPr>
                                  </m:sSubPr>
                                  <m:e>
                                    <m:r>
                                      <a:rPr kumimoji="1" lang="en-US" altLang="zh-CN" sz="2400" b="0" i="1" smtClean="0">
                                        <a:solidFill>
                                          <a:srgbClr val="C00000"/>
                                        </a:solidFill>
                                        <a:latin typeface="Cambria Math" panose="02040503050406030204" pitchFamily="18" charset="0"/>
                                      </a:rPr>
                                      <m:t>𝑤</m:t>
                                    </m:r>
                                  </m:e>
                                  <m:sub>
                                    <m:r>
                                      <a:rPr kumimoji="1" lang="en-US" altLang="zh-CN" sz="2400" b="0" i="1" smtClean="0">
                                        <a:solidFill>
                                          <a:srgbClr val="C00000"/>
                                        </a:solidFill>
                                        <a:latin typeface="Cambria Math" panose="02040503050406030204" pitchFamily="18" charset="0"/>
                                      </a:rPr>
                                      <m:t>1</m:t>
                                    </m:r>
                                    <m:sSub>
                                      <m:sSubPr>
                                        <m:ctrlPr>
                                          <a:rPr kumimoji="1" lang="en-US" altLang="zh-CN" sz="2400" b="0" i="1" smtClean="0">
                                            <a:solidFill>
                                              <a:srgbClr val="C00000"/>
                                            </a:solidFill>
                                            <a:latin typeface="Cambria Math" panose="02040503050406030204" pitchFamily="18" charset="0"/>
                                          </a:rPr>
                                        </m:ctrlPr>
                                      </m:sSubPr>
                                      <m:e>
                                        <m:r>
                                          <a:rPr kumimoji="1" lang="en-US" altLang="zh-CN" sz="2400" b="0" i="1" smtClean="0">
                                            <a:solidFill>
                                              <a:srgbClr val="C00000"/>
                                            </a:solidFill>
                                            <a:latin typeface="Cambria Math" panose="02040503050406030204" pitchFamily="18" charset="0"/>
                                          </a:rPr>
                                          <m:t>𝑛</m:t>
                                        </m:r>
                                      </m:e>
                                      <m:sub>
                                        <m:r>
                                          <a:rPr kumimoji="1" lang="en-US" altLang="zh-CN" sz="2400" b="0" i="1" smtClean="0">
                                            <a:solidFill>
                                              <a:srgbClr val="C00000"/>
                                            </a:solidFill>
                                            <a:latin typeface="Cambria Math" panose="02040503050406030204" pitchFamily="18" charset="0"/>
                                          </a:rPr>
                                          <m:t>ℓ−1</m:t>
                                        </m:r>
                                      </m:sub>
                                    </m:sSub>
                                  </m:sub>
                                </m:sSub>
                              </m:e>
                            </m:mr>
                            <m:mr>
                              <m:e>
                                <m:r>
                                  <a:rPr kumimoji="1" lang="en-US" altLang="zh-CN" sz="2400" b="0" i="1" smtClean="0">
                                    <a:solidFill>
                                      <a:srgbClr val="C00000"/>
                                    </a:solidFill>
                                    <a:latin typeface="Cambria Math" panose="02040503050406030204" pitchFamily="18" charset="0"/>
                                  </a:rPr>
                                  <m:t>…</m:t>
                                </m:r>
                              </m:e>
                              <m:e>
                                <m:r>
                                  <a:rPr kumimoji="1" lang="en-US" altLang="zh-CN" sz="2400" b="0" i="1" smtClean="0">
                                    <a:solidFill>
                                      <a:srgbClr val="C00000"/>
                                    </a:solidFill>
                                    <a:latin typeface="Cambria Math" panose="02040503050406030204" pitchFamily="18" charset="0"/>
                                  </a:rPr>
                                  <m:t>…</m:t>
                                </m:r>
                              </m:e>
                              <m:e>
                                <m:r>
                                  <a:rPr kumimoji="1" lang="en-US" altLang="zh-CN" sz="2400" b="0" i="1" smtClean="0">
                                    <a:solidFill>
                                      <a:srgbClr val="C00000"/>
                                    </a:solidFill>
                                    <a:latin typeface="Cambria Math" panose="02040503050406030204" pitchFamily="18" charset="0"/>
                                  </a:rPr>
                                  <m:t>…</m:t>
                                </m:r>
                              </m:e>
                            </m:mr>
                            <m:mr>
                              <m:e>
                                <m:sSub>
                                  <m:sSubPr>
                                    <m:ctrlPr>
                                      <a:rPr kumimoji="1" lang="en-US" altLang="zh-CN" sz="2400" b="0" i="1" smtClean="0">
                                        <a:solidFill>
                                          <a:srgbClr val="C00000"/>
                                        </a:solidFill>
                                        <a:latin typeface="Cambria Math" panose="02040503050406030204" pitchFamily="18" charset="0"/>
                                      </a:rPr>
                                    </m:ctrlPr>
                                  </m:sSubPr>
                                  <m:e>
                                    <m:r>
                                      <a:rPr kumimoji="1" lang="en-US" altLang="zh-CN" sz="2400" b="0" i="1" smtClean="0">
                                        <a:solidFill>
                                          <a:srgbClr val="C00000"/>
                                        </a:solidFill>
                                        <a:latin typeface="Cambria Math" panose="02040503050406030204" pitchFamily="18" charset="0"/>
                                      </a:rPr>
                                      <m:t>𝑤</m:t>
                                    </m:r>
                                  </m:e>
                                  <m:sub>
                                    <m:sSub>
                                      <m:sSubPr>
                                        <m:ctrlPr>
                                          <a:rPr kumimoji="1" lang="en-US" altLang="zh-CN" sz="2400" b="0" i="1" smtClean="0">
                                            <a:solidFill>
                                              <a:srgbClr val="C00000"/>
                                            </a:solidFill>
                                            <a:latin typeface="Cambria Math" panose="02040503050406030204" pitchFamily="18" charset="0"/>
                                          </a:rPr>
                                        </m:ctrlPr>
                                      </m:sSubPr>
                                      <m:e>
                                        <m:r>
                                          <a:rPr kumimoji="1" lang="en-US" altLang="zh-CN" sz="2400" b="0" i="1" smtClean="0">
                                            <a:solidFill>
                                              <a:srgbClr val="C00000"/>
                                            </a:solidFill>
                                            <a:latin typeface="Cambria Math" panose="02040503050406030204" pitchFamily="18" charset="0"/>
                                          </a:rPr>
                                          <m:t>𝑛</m:t>
                                        </m:r>
                                      </m:e>
                                      <m:sub>
                                        <m:r>
                                          <a:rPr kumimoji="1" lang="en-US" altLang="zh-CN" sz="2400" b="0" i="1" smtClean="0">
                                            <a:solidFill>
                                              <a:srgbClr val="C00000"/>
                                            </a:solidFill>
                                            <a:latin typeface="Cambria Math" panose="02040503050406030204" pitchFamily="18" charset="0"/>
                                          </a:rPr>
                                          <m:t>ℓ</m:t>
                                        </m:r>
                                      </m:sub>
                                    </m:sSub>
                                    <m:r>
                                      <a:rPr kumimoji="1" lang="en-US" altLang="zh-CN" sz="2400" b="0" i="1" smtClean="0">
                                        <a:solidFill>
                                          <a:srgbClr val="C00000"/>
                                        </a:solidFill>
                                        <a:latin typeface="Cambria Math" panose="02040503050406030204" pitchFamily="18" charset="0"/>
                                      </a:rPr>
                                      <m:t>1</m:t>
                                    </m:r>
                                  </m:sub>
                                </m:sSub>
                              </m:e>
                              <m:e>
                                <m:r>
                                  <a:rPr kumimoji="1" lang="en-US" altLang="zh-CN" sz="2400" b="0" i="1" smtClean="0">
                                    <a:solidFill>
                                      <a:srgbClr val="C00000"/>
                                    </a:solidFill>
                                    <a:latin typeface="Cambria Math" panose="02040503050406030204" pitchFamily="18" charset="0"/>
                                  </a:rPr>
                                  <m:t>…</m:t>
                                </m:r>
                              </m:e>
                              <m:e>
                                <m:sSub>
                                  <m:sSubPr>
                                    <m:ctrlPr>
                                      <a:rPr kumimoji="1" lang="en-US" altLang="zh-CN" sz="2400" i="1">
                                        <a:solidFill>
                                          <a:srgbClr val="C00000"/>
                                        </a:solidFill>
                                        <a:latin typeface="Cambria Math" panose="02040503050406030204" pitchFamily="18" charset="0"/>
                                      </a:rPr>
                                    </m:ctrlPr>
                                  </m:sSubPr>
                                  <m:e>
                                    <m:r>
                                      <a:rPr kumimoji="1" lang="en-US" altLang="zh-CN" sz="2400" i="1">
                                        <a:solidFill>
                                          <a:srgbClr val="C00000"/>
                                        </a:solidFill>
                                        <a:latin typeface="Cambria Math" panose="02040503050406030204" pitchFamily="18" charset="0"/>
                                      </a:rPr>
                                      <m:t>𝑤</m:t>
                                    </m:r>
                                  </m:e>
                                  <m:sub>
                                    <m:sSub>
                                      <m:sSubPr>
                                        <m:ctrlPr>
                                          <a:rPr kumimoji="1" lang="en-US" altLang="zh-CN" sz="2400" i="1">
                                            <a:solidFill>
                                              <a:srgbClr val="C00000"/>
                                            </a:solidFill>
                                            <a:latin typeface="Cambria Math" panose="02040503050406030204" pitchFamily="18" charset="0"/>
                                          </a:rPr>
                                        </m:ctrlPr>
                                      </m:sSubPr>
                                      <m:e>
                                        <m:r>
                                          <a:rPr kumimoji="1" lang="en-US" altLang="zh-CN" sz="2400" i="1">
                                            <a:solidFill>
                                              <a:srgbClr val="C00000"/>
                                            </a:solidFill>
                                            <a:latin typeface="Cambria Math" panose="02040503050406030204" pitchFamily="18" charset="0"/>
                                          </a:rPr>
                                          <m:t>𝑛</m:t>
                                        </m:r>
                                      </m:e>
                                      <m:sub>
                                        <m:r>
                                          <a:rPr kumimoji="1" lang="en-US" altLang="zh-CN" sz="2400" i="1">
                                            <a:solidFill>
                                              <a:srgbClr val="C00000"/>
                                            </a:solidFill>
                                            <a:latin typeface="Cambria Math" panose="02040503050406030204" pitchFamily="18" charset="0"/>
                                          </a:rPr>
                                          <m:t>ℓ</m:t>
                                        </m:r>
                                      </m:sub>
                                    </m:sSub>
                                    <m:sSub>
                                      <m:sSubPr>
                                        <m:ctrlPr>
                                          <a:rPr kumimoji="1" lang="en-US" altLang="zh-CN" sz="2400" i="1">
                                            <a:solidFill>
                                              <a:srgbClr val="C00000"/>
                                            </a:solidFill>
                                            <a:latin typeface="Cambria Math" panose="02040503050406030204" pitchFamily="18" charset="0"/>
                                          </a:rPr>
                                        </m:ctrlPr>
                                      </m:sSubPr>
                                      <m:e>
                                        <m:r>
                                          <a:rPr kumimoji="1" lang="en-US" altLang="zh-CN" sz="2400" i="1">
                                            <a:solidFill>
                                              <a:srgbClr val="C00000"/>
                                            </a:solidFill>
                                            <a:latin typeface="Cambria Math" panose="02040503050406030204" pitchFamily="18" charset="0"/>
                                          </a:rPr>
                                          <m:t>𝑛</m:t>
                                        </m:r>
                                      </m:e>
                                      <m:sub>
                                        <m:r>
                                          <a:rPr kumimoji="1" lang="en-US" altLang="zh-CN" sz="2400" i="1">
                                            <a:solidFill>
                                              <a:srgbClr val="C00000"/>
                                            </a:solidFill>
                                            <a:latin typeface="Cambria Math" panose="02040503050406030204" pitchFamily="18" charset="0"/>
                                          </a:rPr>
                                          <m:t>ℓ−1</m:t>
                                        </m:r>
                                      </m:sub>
                                    </m:sSub>
                                  </m:sub>
                                </m:sSub>
                              </m:e>
                            </m:mr>
                          </m:m>
                        </m:e>
                      </m:d>
                    </m:oMath>
                  </m:oMathPara>
                </a14:m>
                <a:endParaRPr kumimoji="1" lang="en-US" altLang="zh-CN" sz="2400" dirty="0">
                  <a:latin typeface="Cambria Math" panose="02040503050406030204" pitchFamily="18" charset="0"/>
                </a:endParaRPr>
              </a:p>
              <a:p>
                <a:pPr marL="1257300" lvl="2" indent="-342900">
                  <a:buFont typeface="Arial" panose="020B0604020202020204" pitchFamily="34" charset="0"/>
                  <a:buChar char="•"/>
                </a:pPr>
                <a14:m>
                  <m:oMath xmlns:m="http://schemas.openxmlformats.org/officeDocument/2006/math">
                    <m:sSubSup>
                      <m:sSubSupPr>
                        <m:ctrlPr>
                          <a:rPr kumimoji="1" lang="en-US" altLang="zh-CN" sz="2400" b="0" i="1" smtClean="0">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𝑏</m:t>
                        </m:r>
                      </m:e>
                      <m:sub>
                        <m:r>
                          <a:rPr kumimoji="1" lang="en-US" altLang="zh-CN" sz="2400" b="0" i="1" smtClean="0">
                            <a:solidFill>
                              <a:prstClr val="black"/>
                            </a:solidFill>
                            <a:latin typeface="Cambria Math" panose="02040503050406030204" pitchFamily="18" charset="0"/>
                          </a:rPr>
                          <m:t>𝑖</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oMath>
                </a14:m>
                <a:r>
                  <a:rPr kumimoji="1" lang="zh-CN" altLang="en-US" sz="2400" b="0" dirty="0">
                    <a:latin typeface="Cambria Math" panose="02040503050406030204" pitchFamily="18" charset="0"/>
                  </a:rPr>
                  <a:t>表示</a:t>
                </a:r>
                <a:r>
                  <a:rPr kumimoji="1" lang="zh-CN" altLang="en-US" sz="2400" dirty="0"/>
                  <a:t>第</a:t>
                </a:r>
                <a14:m>
                  <m:oMath xmlns:m="http://schemas.openxmlformats.org/officeDocument/2006/math">
                    <m:r>
                      <a:rPr kumimoji="1" lang="en-US" altLang="zh-CN" sz="2400" i="1">
                        <a:latin typeface="Cambria Math" panose="02040503050406030204" pitchFamily="18" charset="0"/>
                      </a:rPr>
                      <m:t>ℓ</m:t>
                    </m:r>
                  </m:oMath>
                </a14:m>
                <a:r>
                  <a:rPr kumimoji="1" lang="zh-CN" altLang="en-US" sz="2400" dirty="0"/>
                  <a:t>层的第</a:t>
                </a:r>
                <a14:m>
                  <m:oMath xmlns:m="http://schemas.openxmlformats.org/officeDocument/2006/math">
                    <m:r>
                      <a:rPr kumimoji="1" lang="en-US" altLang="zh-CN" sz="2400" b="0" i="1" smtClean="0">
                        <a:latin typeface="Cambria Math" panose="02040503050406030204" pitchFamily="18" charset="0"/>
                      </a:rPr>
                      <m:t>𝑖</m:t>
                    </m:r>
                  </m:oMath>
                </a14:m>
                <a:r>
                  <a:rPr kumimoji="1" lang="zh-CN" altLang="en-US" sz="2400" dirty="0">
                    <a:latin typeface="Cambria Math" panose="02040503050406030204" pitchFamily="18" charset="0"/>
                  </a:rPr>
                  <a:t>个神经元的偏置：</a:t>
                </a:r>
                <a:r>
                  <a:rPr kumimoji="1" lang="en-US" altLang="zh-CN" sz="2400" dirty="0"/>
                  <a:t> </a:t>
                </a:r>
                <a14:m>
                  <m:oMath xmlns:m="http://schemas.openxmlformats.org/officeDocument/2006/math">
                    <m:sSup>
                      <m:sSupPr>
                        <m:ctrlPr>
                          <a:rPr kumimoji="1" lang="en-US" altLang="zh-CN" sz="2400" i="1" smtClean="0">
                            <a:solidFill>
                              <a:srgbClr val="C00000"/>
                            </a:solidFill>
                            <a:latin typeface="Cambria Math" panose="02040503050406030204" pitchFamily="18" charset="0"/>
                          </a:rPr>
                        </m:ctrlPr>
                      </m:sSupPr>
                      <m:e>
                        <m:r>
                          <m:rPr>
                            <m:brk m:alnAt="7"/>
                          </m:rPr>
                          <a:rPr kumimoji="1" lang="en-US" altLang="zh-CN" sz="2400" i="1">
                            <a:solidFill>
                              <a:srgbClr val="C00000"/>
                            </a:solidFill>
                            <a:latin typeface="Cambria Math" panose="02040503050406030204" pitchFamily="18" charset="0"/>
                          </a:rPr>
                          <m:t>𝑏</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m:t>
                            </m:r>
                          </m:e>
                        </m:d>
                      </m:sup>
                    </m:sSup>
                    <m:r>
                      <a:rPr kumimoji="1" lang="en-US" altLang="zh-CN" sz="2400" b="0" i="1" smtClean="0">
                        <a:solidFill>
                          <a:srgbClr val="C00000"/>
                        </a:solidFill>
                        <a:latin typeface="Cambria Math" panose="02040503050406030204" pitchFamily="18" charset="0"/>
                      </a:rPr>
                      <m:t>=</m:t>
                    </m:r>
                    <m:d>
                      <m:dPr>
                        <m:begChr m:val="["/>
                        <m:endChr m:val="]"/>
                        <m:ctrlPr>
                          <a:rPr kumimoji="1" lang="en-US" altLang="zh-CN" sz="2400" b="0" i="1" smtClean="0">
                            <a:solidFill>
                              <a:srgbClr val="C00000"/>
                            </a:solidFill>
                            <a:latin typeface="Cambria Math" panose="02040503050406030204" pitchFamily="18" charset="0"/>
                          </a:rPr>
                        </m:ctrlPr>
                      </m:dPr>
                      <m:e>
                        <m:sSubSup>
                          <m:sSubSupPr>
                            <m:ctrlPr>
                              <a:rPr kumimoji="1" lang="en-US" altLang="zh-CN" sz="2400" i="1">
                                <a:solidFill>
                                  <a:srgbClr val="C00000"/>
                                </a:solidFill>
                                <a:latin typeface="Cambria Math" panose="02040503050406030204" pitchFamily="18" charset="0"/>
                              </a:rPr>
                            </m:ctrlPr>
                          </m:sSubSupPr>
                          <m:e>
                            <m:r>
                              <a:rPr kumimoji="1" lang="en-US" altLang="zh-CN" sz="2400" i="1">
                                <a:solidFill>
                                  <a:srgbClr val="C00000"/>
                                </a:solidFill>
                                <a:latin typeface="Cambria Math" panose="02040503050406030204" pitchFamily="18" charset="0"/>
                              </a:rPr>
                              <m:t>𝑏</m:t>
                            </m:r>
                          </m:e>
                          <m:sub>
                            <m:r>
                              <a:rPr kumimoji="1" lang="en-US" altLang="zh-CN" sz="2400" i="1">
                                <a:solidFill>
                                  <a:srgbClr val="C00000"/>
                                </a:solidFill>
                                <a:latin typeface="Cambria Math" panose="02040503050406030204" pitchFamily="18" charset="0"/>
                              </a:rPr>
                              <m:t>1</m:t>
                            </m:r>
                          </m:sub>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m:t>
                                </m:r>
                              </m:e>
                            </m:d>
                          </m:sup>
                        </m:sSubSup>
                        <m:r>
                          <a:rPr kumimoji="1" lang="en-US" altLang="zh-CN" sz="2400" b="0" i="1" smtClean="0">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m:t>
                        </m:r>
                        <m:r>
                          <a:rPr kumimoji="1" lang="en-US" altLang="zh-CN" sz="2400" b="0" i="1" smtClean="0">
                            <a:solidFill>
                              <a:srgbClr val="C00000"/>
                            </a:solidFill>
                            <a:latin typeface="Cambria Math" panose="02040503050406030204" pitchFamily="18" charset="0"/>
                          </a:rPr>
                          <m:t>;</m:t>
                        </m:r>
                        <m:sSubSup>
                          <m:sSubSupPr>
                            <m:ctrlPr>
                              <a:rPr kumimoji="1" lang="en-US" altLang="zh-CN" sz="2400" i="1">
                                <a:solidFill>
                                  <a:srgbClr val="C00000"/>
                                </a:solidFill>
                                <a:latin typeface="Cambria Math" panose="02040503050406030204" pitchFamily="18" charset="0"/>
                              </a:rPr>
                            </m:ctrlPr>
                          </m:sSubSupPr>
                          <m:e>
                            <m:r>
                              <a:rPr kumimoji="1" lang="en-US" altLang="zh-CN" sz="2400" i="1">
                                <a:solidFill>
                                  <a:srgbClr val="C00000"/>
                                </a:solidFill>
                                <a:latin typeface="Cambria Math" panose="02040503050406030204" pitchFamily="18" charset="0"/>
                              </a:rPr>
                              <m:t>𝑏</m:t>
                            </m:r>
                          </m:e>
                          <m:sub>
                            <m:sSub>
                              <m:sSubPr>
                                <m:ctrlPr>
                                  <a:rPr kumimoji="1" lang="en-US" altLang="zh-CN" sz="2400" i="1">
                                    <a:solidFill>
                                      <a:srgbClr val="C00000"/>
                                    </a:solidFill>
                                    <a:latin typeface="Cambria Math" panose="02040503050406030204" pitchFamily="18" charset="0"/>
                                  </a:rPr>
                                </m:ctrlPr>
                              </m:sSubPr>
                              <m:e>
                                <m:r>
                                  <a:rPr kumimoji="1" lang="en-US" altLang="zh-CN" sz="2400" i="1">
                                    <a:solidFill>
                                      <a:srgbClr val="C00000"/>
                                    </a:solidFill>
                                    <a:latin typeface="Cambria Math" panose="02040503050406030204" pitchFamily="18" charset="0"/>
                                  </a:rPr>
                                  <m:t>𝑛</m:t>
                                </m:r>
                              </m:e>
                              <m:sub>
                                <m:r>
                                  <a:rPr kumimoji="1" lang="en-US" altLang="zh-CN" sz="2400" i="1">
                                    <a:solidFill>
                                      <a:srgbClr val="C00000"/>
                                    </a:solidFill>
                                    <a:latin typeface="Cambria Math" panose="02040503050406030204" pitchFamily="18" charset="0"/>
                                  </a:rPr>
                                  <m:t>ℓ</m:t>
                                </m:r>
                              </m:sub>
                            </m:sSub>
                          </m:sub>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m:t>
                                </m:r>
                              </m:e>
                            </m:d>
                          </m:sup>
                        </m:sSubSup>
                      </m:e>
                    </m:d>
                  </m:oMath>
                </a14:m>
                <a:endParaRPr kumimoji="1" lang="en-US" altLang="zh-CN" sz="2400" dirty="0">
                  <a:latin typeface="Cambria Math" panose="02040503050406030204" pitchFamily="18" charset="0"/>
                </a:endParaRPr>
              </a:p>
            </p:txBody>
          </p:sp>
        </mc:Choice>
        <mc:Fallback xmlns="">
          <p:sp>
            <p:nvSpPr>
              <p:cNvPr id="10" name="文本框 9">
                <a:extLst>
                  <a:ext uri="{FF2B5EF4-FFF2-40B4-BE49-F238E27FC236}">
                    <a16:creationId xmlns:a16="http://schemas.microsoft.com/office/drawing/2014/main" id="{9595182C-852D-3545-BB3D-612141D2F52D}"/>
                  </a:ext>
                </a:extLst>
              </p:cNvPr>
              <p:cNvSpPr txBox="1">
                <a:spLocks noRot="1" noChangeAspect="1" noMove="1" noResize="1" noEditPoints="1" noAdjustHandles="1" noChangeArrowheads="1" noChangeShapeType="1" noTextEdit="1"/>
              </p:cNvSpPr>
              <p:nvPr/>
            </p:nvSpPr>
            <p:spPr>
              <a:xfrm>
                <a:off x="548640" y="2462661"/>
                <a:ext cx="11440160" cy="4423583"/>
              </a:xfrm>
              <a:prstGeom prst="rect">
                <a:avLst/>
              </a:prstGeom>
              <a:blipFill>
                <a:blip r:embed="rId3"/>
                <a:stretch>
                  <a:fillRect l="-693" t="-964" b="-4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7889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23</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grpSp>
        <p:nvGrpSpPr>
          <p:cNvPr id="7" name="群組 128">
            <a:extLst>
              <a:ext uri="{FF2B5EF4-FFF2-40B4-BE49-F238E27FC236}">
                <a16:creationId xmlns:a16="http://schemas.microsoft.com/office/drawing/2014/main" id="{CFEC908D-B35A-41A1-A9B3-8A226B03403C}"/>
              </a:ext>
            </a:extLst>
          </p:cNvPr>
          <p:cNvGrpSpPr/>
          <p:nvPr/>
        </p:nvGrpSpPr>
        <p:grpSpPr>
          <a:xfrm>
            <a:off x="8440612" y="3715247"/>
            <a:ext cx="458287" cy="831947"/>
            <a:chOff x="10102194" y="1939763"/>
            <a:chExt cx="458287" cy="831947"/>
          </a:xfrm>
        </p:grpSpPr>
        <p:sp>
          <p:nvSpPr>
            <p:cNvPr id="8" name="矩形 7">
              <a:extLst>
                <a:ext uri="{FF2B5EF4-FFF2-40B4-BE49-F238E27FC236}">
                  <a16:creationId xmlns:a16="http://schemas.microsoft.com/office/drawing/2014/main" id="{22ABBB3B-A9C2-4490-8946-D6D3E21FF14E}"/>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9" name="直線單箭頭接點 147">
              <a:extLst>
                <a:ext uri="{FF2B5EF4-FFF2-40B4-BE49-F238E27FC236}">
                  <a16:creationId xmlns:a16="http://schemas.microsoft.com/office/drawing/2014/main" id="{A5A3A27C-2013-4593-AE13-36AB013CD745}"/>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群組 104">
            <a:extLst>
              <a:ext uri="{FF2B5EF4-FFF2-40B4-BE49-F238E27FC236}">
                <a16:creationId xmlns:a16="http://schemas.microsoft.com/office/drawing/2014/main" id="{E296FF9D-4FF1-4ED3-B10E-A5762B407B7B}"/>
              </a:ext>
            </a:extLst>
          </p:cNvPr>
          <p:cNvGrpSpPr/>
          <p:nvPr/>
        </p:nvGrpSpPr>
        <p:grpSpPr>
          <a:xfrm>
            <a:off x="6210670" y="3687926"/>
            <a:ext cx="458287" cy="831947"/>
            <a:chOff x="10102194" y="1939763"/>
            <a:chExt cx="458287" cy="831947"/>
          </a:xfrm>
        </p:grpSpPr>
        <p:sp>
          <p:nvSpPr>
            <p:cNvPr id="12" name="矩形 11">
              <a:extLst>
                <a:ext uri="{FF2B5EF4-FFF2-40B4-BE49-F238E27FC236}">
                  <a16:creationId xmlns:a16="http://schemas.microsoft.com/office/drawing/2014/main" id="{35F09273-AA0F-4879-91D1-9D7B29DECAB4}"/>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3" name="直線單箭頭接點 121">
              <a:extLst>
                <a:ext uri="{FF2B5EF4-FFF2-40B4-BE49-F238E27FC236}">
                  <a16:creationId xmlns:a16="http://schemas.microsoft.com/office/drawing/2014/main" id="{96BA4E92-148E-4465-B179-BC69DEA5931F}"/>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直線單箭頭接點 12">
            <a:extLst>
              <a:ext uri="{FF2B5EF4-FFF2-40B4-BE49-F238E27FC236}">
                <a16:creationId xmlns:a16="http://schemas.microsoft.com/office/drawing/2014/main" id="{80CFD91F-CD6A-48DA-8A82-C865DD21C3F2}"/>
              </a:ext>
            </a:extLst>
          </p:cNvPr>
          <p:cNvCxnSpPr/>
          <p:nvPr/>
        </p:nvCxnSpPr>
        <p:spPr>
          <a:xfrm>
            <a:off x="9155958" y="3668150"/>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E05DB0E8-F703-4843-9E0C-F2A4B2D32229}"/>
              </a:ext>
            </a:extLst>
          </p:cNvPr>
          <p:cNvCxnSpPr/>
          <p:nvPr/>
        </p:nvCxnSpPr>
        <p:spPr>
          <a:xfrm>
            <a:off x="9155958" y="2008554"/>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A43E4FEF-3C4D-4531-8FA3-875291A647F5}"/>
              </a:ext>
            </a:extLst>
          </p:cNvPr>
          <p:cNvSpPr/>
          <p:nvPr/>
        </p:nvSpPr>
        <p:spPr>
          <a:xfrm>
            <a:off x="2283290" y="189293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7" name="矩形 16">
            <a:extLst>
              <a:ext uri="{FF2B5EF4-FFF2-40B4-BE49-F238E27FC236}">
                <a16:creationId xmlns:a16="http://schemas.microsoft.com/office/drawing/2014/main" id="{B915C408-8961-4A8C-ACE3-970C7DB2D455}"/>
              </a:ext>
            </a:extLst>
          </p:cNvPr>
          <p:cNvSpPr/>
          <p:nvPr/>
        </p:nvSpPr>
        <p:spPr>
          <a:xfrm>
            <a:off x="2252047" y="353470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8" name="橢圓 19">
            <a:extLst>
              <a:ext uri="{FF2B5EF4-FFF2-40B4-BE49-F238E27FC236}">
                <a16:creationId xmlns:a16="http://schemas.microsoft.com/office/drawing/2014/main" id="{1838B2D4-D590-4DE9-88B4-2475DBA8CF7F}"/>
              </a:ext>
            </a:extLst>
          </p:cNvPr>
          <p:cNvSpPr/>
          <p:nvPr/>
        </p:nvSpPr>
        <p:spPr>
          <a:xfrm>
            <a:off x="4259601" y="1797682"/>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0" name="橢圓 20">
            <a:extLst>
              <a:ext uri="{FF2B5EF4-FFF2-40B4-BE49-F238E27FC236}">
                <a16:creationId xmlns:a16="http://schemas.microsoft.com/office/drawing/2014/main" id="{40D93EDA-1159-4940-AD03-FB514D97554C}"/>
              </a:ext>
            </a:extLst>
          </p:cNvPr>
          <p:cNvSpPr/>
          <p:nvPr/>
        </p:nvSpPr>
        <p:spPr>
          <a:xfrm>
            <a:off x="4248318" y="334537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1" name="橢圓 26">
            <a:extLst>
              <a:ext uri="{FF2B5EF4-FFF2-40B4-BE49-F238E27FC236}">
                <a16:creationId xmlns:a16="http://schemas.microsoft.com/office/drawing/2014/main" id="{6FAA7A14-E3C0-44EE-AAD8-1AF68305B375}"/>
              </a:ext>
            </a:extLst>
          </p:cNvPr>
          <p:cNvSpPr/>
          <p:nvPr/>
        </p:nvSpPr>
        <p:spPr>
          <a:xfrm>
            <a:off x="6463023" y="176698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2" name="橢圓 27">
            <a:extLst>
              <a:ext uri="{FF2B5EF4-FFF2-40B4-BE49-F238E27FC236}">
                <a16:creationId xmlns:a16="http://schemas.microsoft.com/office/drawing/2014/main" id="{076ABAB7-5A89-43F4-B637-6A78EFDAF7AE}"/>
              </a:ext>
            </a:extLst>
          </p:cNvPr>
          <p:cNvSpPr/>
          <p:nvPr/>
        </p:nvSpPr>
        <p:spPr>
          <a:xfrm>
            <a:off x="6481945" y="333966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3" name="橢圓 30">
            <a:extLst>
              <a:ext uri="{FF2B5EF4-FFF2-40B4-BE49-F238E27FC236}">
                <a16:creationId xmlns:a16="http://schemas.microsoft.com/office/drawing/2014/main" id="{46944611-0EE2-4654-843A-28801CE222A4}"/>
              </a:ext>
            </a:extLst>
          </p:cNvPr>
          <p:cNvSpPr/>
          <p:nvPr/>
        </p:nvSpPr>
        <p:spPr>
          <a:xfrm>
            <a:off x="8616716" y="1739753"/>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4" name="橢圓 31">
            <a:extLst>
              <a:ext uri="{FF2B5EF4-FFF2-40B4-BE49-F238E27FC236}">
                <a16:creationId xmlns:a16="http://schemas.microsoft.com/office/drawing/2014/main" id="{9CA12E3D-DC08-4F49-A0D3-D6D03233BA17}"/>
              </a:ext>
            </a:extLst>
          </p:cNvPr>
          <p:cNvSpPr/>
          <p:nvPr/>
        </p:nvSpPr>
        <p:spPr>
          <a:xfrm>
            <a:off x="8658406" y="333966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grpSp>
        <p:nvGrpSpPr>
          <p:cNvPr id="26" name="群組 83">
            <a:extLst>
              <a:ext uri="{FF2B5EF4-FFF2-40B4-BE49-F238E27FC236}">
                <a16:creationId xmlns:a16="http://schemas.microsoft.com/office/drawing/2014/main" id="{30B7A326-0A2F-454F-B041-5D4E591BE292}"/>
              </a:ext>
            </a:extLst>
          </p:cNvPr>
          <p:cNvGrpSpPr/>
          <p:nvPr/>
        </p:nvGrpSpPr>
        <p:grpSpPr>
          <a:xfrm>
            <a:off x="2643396" y="2073910"/>
            <a:ext cx="1588876" cy="1638300"/>
            <a:chOff x="1013669" y="3459098"/>
            <a:chExt cx="1588876" cy="1638300"/>
          </a:xfrm>
        </p:grpSpPr>
        <p:cxnSp>
          <p:nvCxnSpPr>
            <p:cNvPr id="27" name="直線單箭頭接點 49">
              <a:extLst>
                <a:ext uri="{FF2B5EF4-FFF2-40B4-BE49-F238E27FC236}">
                  <a16:creationId xmlns:a16="http://schemas.microsoft.com/office/drawing/2014/main" id="{D61114B3-CB3F-4B14-82A8-8B82E552D396}"/>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群組 82">
              <a:extLst>
                <a:ext uri="{FF2B5EF4-FFF2-40B4-BE49-F238E27FC236}">
                  <a16:creationId xmlns:a16="http://schemas.microsoft.com/office/drawing/2014/main" id="{9C1FCCAD-EBE1-4028-A860-6027BD933A37}"/>
                </a:ext>
              </a:extLst>
            </p:cNvPr>
            <p:cNvGrpSpPr/>
            <p:nvPr/>
          </p:nvGrpSpPr>
          <p:grpSpPr>
            <a:xfrm>
              <a:off x="1025705" y="3459098"/>
              <a:ext cx="1576840" cy="1638300"/>
              <a:chOff x="1025705" y="3459098"/>
              <a:chExt cx="1576840" cy="1638300"/>
            </a:xfrm>
          </p:grpSpPr>
          <p:cxnSp>
            <p:nvCxnSpPr>
              <p:cNvPr id="29" name="直線單箭頭接點 47">
                <a:extLst>
                  <a:ext uri="{FF2B5EF4-FFF2-40B4-BE49-F238E27FC236}">
                    <a16:creationId xmlns:a16="http://schemas.microsoft.com/office/drawing/2014/main" id="{F21A0211-F9B5-43C0-8CBA-6469D531EB44}"/>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50">
                <a:extLst>
                  <a:ext uri="{FF2B5EF4-FFF2-40B4-BE49-F238E27FC236}">
                    <a16:creationId xmlns:a16="http://schemas.microsoft.com/office/drawing/2014/main" id="{53F9B3D7-32B7-45F3-97F6-AC0D5722DB5E}"/>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79">
                <a:extLst>
                  <a:ext uri="{FF2B5EF4-FFF2-40B4-BE49-F238E27FC236}">
                    <a16:creationId xmlns:a16="http://schemas.microsoft.com/office/drawing/2014/main" id="{C783242F-F041-4ADD-810C-02703D75D236}"/>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2" name="群組 84">
            <a:extLst>
              <a:ext uri="{FF2B5EF4-FFF2-40B4-BE49-F238E27FC236}">
                <a16:creationId xmlns:a16="http://schemas.microsoft.com/office/drawing/2014/main" id="{C41A9B98-6A50-4915-AFDC-FAEC427177BB}"/>
              </a:ext>
            </a:extLst>
          </p:cNvPr>
          <p:cNvGrpSpPr/>
          <p:nvPr/>
        </p:nvGrpSpPr>
        <p:grpSpPr>
          <a:xfrm>
            <a:off x="4861703" y="2059223"/>
            <a:ext cx="1588876" cy="1638300"/>
            <a:chOff x="1013669" y="3459098"/>
            <a:chExt cx="1588876" cy="1638300"/>
          </a:xfrm>
        </p:grpSpPr>
        <p:cxnSp>
          <p:nvCxnSpPr>
            <p:cNvPr id="33" name="直線單箭頭接點 85">
              <a:extLst>
                <a:ext uri="{FF2B5EF4-FFF2-40B4-BE49-F238E27FC236}">
                  <a16:creationId xmlns:a16="http://schemas.microsoft.com/office/drawing/2014/main" id="{630FBBCF-A0F6-4F58-B061-99691D1CAC2A}"/>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4" name="群組 86">
              <a:extLst>
                <a:ext uri="{FF2B5EF4-FFF2-40B4-BE49-F238E27FC236}">
                  <a16:creationId xmlns:a16="http://schemas.microsoft.com/office/drawing/2014/main" id="{FE824D0D-62BB-405E-8EDA-63A68CEF0754}"/>
                </a:ext>
              </a:extLst>
            </p:cNvPr>
            <p:cNvGrpSpPr/>
            <p:nvPr/>
          </p:nvGrpSpPr>
          <p:grpSpPr>
            <a:xfrm>
              <a:off x="1025705" y="3459098"/>
              <a:ext cx="1576840" cy="1638300"/>
              <a:chOff x="1025705" y="3459098"/>
              <a:chExt cx="1576840" cy="1638300"/>
            </a:xfrm>
          </p:grpSpPr>
          <p:cxnSp>
            <p:nvCxnSpPr>
              <p:cNvPr id="35" name="直線單箭頭接點 87">
                <a:extLst>
                  <a:ext uri="{FF2B5EF4-FFF2-40B4-BE49-F238E27FC236}">
                    <a16:creationId xmlns:a16="http://schemas.microsoft.com/office/drawing/2014/main" id="{A43DB561-FE91-4AFC-B26B-03327107FEFE}"/>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88">
                <a:extLst>
                  <a:ext uri="{FF2B5EF4-FFF2-40B4-BE49-F238E27FC236}">
                    <a16:creationId xmlns:a16="http://schemas.microsoft.com/office/drawing/2014/main" id="{86DA94D2-D497-4791-A452-80C4407E381E}"/>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89">
                <a:extLst>
                  <a:ext uri="{FF2B5EF4-FFF2-40B4-BE49-F238E27FC236}">
                    <a16:creationId xmlns:a16="http://schemas.microsoft.com/office/drawing/2014/main" id="{3487C05F-B28D-41B9-B477-DD307EF3D7C1}"/>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8" name="群組 90">
            <a:extLst>
              <a:ext uri="{FF2B5EF4-FFF2-40B4-BE49-F238E27FC236}">
                <a16:creationId xmlns:a16="http://schemas.microsoft.com/office/drawing/2014/main" id="{E383C1F9-ACD4-41C2-BDF5-150E80C46242}"/>
              </a:ext>
            </a:extLst>
          </p:cNvPr>
          <p:cNvGrpSpPr/>
          <p:nvPr/>
        </p:nvGrpSpPr>
        <p:grpSpPr>
          <a:xfrm>
            <a:off x="7061641" y="2039305"/>
            <a:ext cx="1588876" cy="1638300"/>
            <a:chOff x="1013669" y="3459098"/>
            <a:chExt cx="1588876" cy="1638300"/>
          </a:xfrm>
        </p:grpSpPr>
        <p:cxnSp>
          <p:nvCxnSpPr>
            <p:cNvPr id="39" name="直線單箭頭接點 91">
              <a:extLst>
                <a:ext uri="{FF2B5EF4-FFF2-40B4-BE49-F238E27FC236}">
                  <a16:creationId xmlns:a16="http://schemas.microsoft.com/office/drawing/2014/main" id="{6690A189-A8A4-47B9-9D57-CF4AD36ECAFF}"/>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0" name="群組 92">
              <a:extLst>
                <a:ext uri="{FF2B5EF4-FFF2-40B4-BE49-F238E27FC236}">
                  <a16:creationId xmlns:a16="http://schemas.microsoft.com/office/drawing/2014/main" id="{E6748340-BFA9-4062-A526-F1A23AA0A7D7}"/>
                </a:ext>
              </a:extLst>
            </p:cNvPr>
            <p:cNvGrpSpPr/>
            <p:nvPr/>
          </p:nvGrpSpPr>
          <p:grpSpPr>
            <a:xfrm>
              <a:off x="1025705" y="3459098"/>
              <a:ext cx="1576840" cy="1638300"/>
              <a:chOff x="1025705" y="3459098"/>
              <a:chExt cx="1576840" cy="1638300"/>
            </a:xfrm>
          </p:grpSpPr>
          <p:cxnSp>
            <p:nvCxnSpPr>
              <p:cNvPr id="41" name="直線單箭頭接點 93">
                <a:extLst>
                  <a:ext uri="{FF2B5EF4-FFF2-40B4-BE49-F238E27FC236}">
                    <a16:creationId xmlns:a16="http://schemas.microsoft.com/office/drawing/2014/main" id="{40E72890-F64F-4D0F-AA6C-73F1ECB0A7A4}"/>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94">
                <a:extLst>
                  <a:ext uri="{FF2B5EF4-FFF2-40B4-BE49-F238E27FC236}">
                    <a16:creationId xmlns:a16="http://schemas.microsoft.com/office/drawing/2014/main" id="{5D604891-0E5F-45EE-8D18-41C5EEC1AF23}"/>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95">
                <a:extLst>
                  <a:ext uri="{FF2B5EF4-FFF2-40B4-BE49-F238E27FC236}">
                    <a16:creationId xmlns:a16="http://schemas.microsoft.com/office/drawing/2014/main" id="{97731A36-3D1C-4303-B284-F3F5181725EF}"/>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44" name="群組 2">
            <a:extLst>
              <a:ext uri="{FF2B5EF4-FFF2-40B4-BE49-F238E27FC236}">
                <a16:creationId xmlns:a16="http://schemas.microsoft.com/office/drawing/2014/main" id="{32BD787D-03DD-4C2E-9D35-73B3051CAF11}"/>
              </a:ext>
            </a:extLst>
          </p:cNvPr>
          <p:cNvGrpSpPr/>
          <p:nvPr/>
        </p:nvGrpSpPr>
        <p:grpSpPr>
          <a:xfrm>
            <a:off x="5149960" y="4487245"/>
            <a:ext cx="5297714" cy="2078894"/>
            <a:chOff x="3615463" y="4585976"/>
            <a:chExt cx="5297714" cy="2078894"/>
          </a:xfrm>
        </p:grpSpPr>
        <p:sp>
          <p:nvSpPr>
            <p:cNvPr id="45" name="圓角矩形圖說文字 136">
              <a:extLst>
                <a:ext uri="{FF2B5EF4-FFF2-40B4-BE49-F238E27FC236}">
                  <a16:creationId xmlns:a16="http://schemas.microsoft.com/office/drawing/2014/main" id="{F9D49FD4-B0D5-4003-BBFE-F9054EB47FD1}"/>
                </a:ext>
              </a:extLst>
            </p:cNvPr>
            <p:cNvSpPr/>
            <p:nvPr/>
          </p:nvSpPr>
          <p:spPr>
            <a:xfrm>
              <a:off x="3615463" y="4585976"/>
              <a:ext cx="5297714" cy="2078894"/>
            </a:xfrm>
            <a:prstGeom prst="wedgeRoundRectCallout">
              <a:avLst>
                <a:gd name="adj1" fmla="val -59656"/>
                <a:gd name="adj2" fmla="val -163051"/>
                <a:gd name="adj3" fmla="val 16667"/>
              </a:avLst>
            </a:prstGeom>
            <a:solidFill>
              <a:schemeClr val="bg1"/>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grpSp>
          <p:nvGrpSpPr>
            <p:cNvPr id="46" name="群組 3">
              <a:extLst>
                <a:ext uri="{FF2B5EF4-FFF2-40B4-BE49-F238E27FC236}">
                  <a16:creationId xmlns:a16="http://schemas.microsoft.com/office/drawing/2014/main" id="{450A6D6C-1644-4DDB-BC20-D8CB56421A2D}"/>
                </a:ext>
              </a:extLst>
            </p:cNvPr>
            <p:cNvGrpSpPr/>
            <p:nvPr/>
          </p:nvGrpSpPr>
          <p:grpSpPr>
            <a:xfrm>
              <a:off x="5943645" y="4731685"/>
              <a:ext cx="2743688" cy="1838325"/>
              <a:chOff x="4096343" y="4657321"/>
              <a:chExt cx="2743688" cy="1838325"/>
            </a:xfrm>
          </p:grpSpPr>
          <p:pic>
            <p:nvPicPr>
              <p:cNvPr id="49" name="圖片 4">
                <a:extLst>
                  <a:ext uri="{FF2B5EF4-FFF2-40B4-BE49-F238E27FC236}">
                    <a16:creationId xmlns:a16="http://schemas.microsoft.com/office/drawing/2014/main" id="{1B4F213E-771E-4B8C-8157-6742CD70B1B2}"/>
                  </a:ext>
                </a:extLst>
              </p:cNvPr>
              <p:cNvPicPr>
                <a:picLocks noChangeAspect="1"/>
              </p:cNvPicPr>
              <p:nvPr/>
            </p:nvPicPr>
            <p:blipFill>
              <a:blip r:embed="rId3"/>
              <a:stretch>
                <a:fillRect/>
              </a:stretch>
            </p:blipFill>
            <p:spPr>
              <a:xfrm>
                <a:off x="4096343" y="4657321"/>
                <a:ext cx="2571750" cy="1838325"/>
              </a:xfrm>
              <a:prstGeom prst="rect">
                <a:avLst/>
              </a:prstGeom>
            </p:spPr>
          </p:pic>
          <mc:AlternateContent xmlns:mc="http://schemas.openxmlformats.org/markup-compatibility/2006" xmlns:a14="http://schemas.microsoft.com/office/drawing/2010/main">
            <mc:Choice Requires="a14">
              <p:sp>
                <p:nvSpPr>
                  <p:cNvPr id="50" name="Object 12">
                    <a:extLst>
                      <a:ext uri="{FF2B5EF4-FFF2-40B4-BE49-F238E27FC236}">
                        <a16:creationId xmlns:a16="http://schemas.microsoft.com/office/drawing/2014/main" id="{8E3DD446-6B75-4DB0-AB98-5B4739427E9A}"/>
                      </a:ext>
                    </a:extLst>
                  </p:cNvPr>
                  <p:cNvSpPr txBox="1"/>
                  <p:nvPr/>
                </p:nvSpPr>
                <p:spPr bwMode="auto">
                  <a:xfrm>
                    <a:off x="4474734" y="4768231"/>
                    <a:ext cx="717072" cy="48974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𝜎</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𝑧</m:t>
                              </m:r>
                            </m:e>
                          </m:d>
                        </m:oMath>
                      </m:oMathPara>
                    </a14:m>
                    <a:endParaRPr lang="zh-CN" altLang="en-US"/>
                  </a:p>
                </p:txBody>
              </p:sp>
            </mc:Choice>
            <mc:Fallback xmlns="">
              <p:sp>
                <p:nvSpPr>
                  <p:cNvPr id="46" name="Object 12"/>
                  <p:cNvSpPr txBox="1">
                    <a:spLocks noRot="1" noChangeAspect="1" noMove="1" noResize="1" noEditPoints="1" noAdjustHandles="1" noChangeArrowheads="1" noChangeShapeType="1" noTextEdit="1"/>
                  </p:cNvSpPr>
                  <p:nvPr/>
                </p:nvSpPr>
                <p:spPr bwMode="auto">
                  <a:xfrm>
                    <a:off x="4474734" y="4768231"/>
                    <a:ext cx="717072" cy="48974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Object 12">
                    <a:extLst>
                      <a:ext uri="{FF2B5EF4-FFF2-40B4-BE49-F238E27FC236}">
                        <a16:creationId xmlns:a16="http://schemas.microsoft.com/office/drawing/2014/main" id="{EA4A0BEA-00F8-4769-88F1-B0C5A9419B9A}"/>
                      </a:ext>
                    </a:extLst>
                  </p:cNvPr>
                  <p:cNvSpPr txBox="1"/>
                  <p:nvPr/>
                </p:nvSpPr>
                <p:spPr bwMode="auto">
                  <a:xfrm>
                    <a:off x="6512897" y="6101982"/>
                    <a:ext cx="327134" cy="325661"/>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𝑧</m:t>
                          </m:r>
                        </m:oMath>
                      </m:oMathPara>
                    </a14:m>
                    <a:endParaRPr lang="zh-CN" altLang="en-US"/>
                  </a:p>
                </p:txBody>
              </p:sp>
            </mc:Choice>
            <mc:Fallback xmlns="">
              <p:sp>
                <p:nvSpPr>
                  <p:cNvPr id="47" name="Object 12"/>
                  <p:cNvSpPr txBox="1">
                    <a:spLocks noRot="1" noChangeAspect="1" noMove="1" noResize="1" noEditPoints="1" noAdjustHandles="1" noChangeArrowheads="1" noChangeShapeType="1" noTextEdit="1"/>
                  </p:cNvSpPr>
                  <p:nvPr/>
                </p:nvSpPr>
                <p:spPr bwMode="auto">
                  <a:xfrm>
                    <a:off x="6512897" y="6101982"/>
                    <a:ext cx="327134" cy="325661"/>
                  </a:xfrm>
                  <a:prstGeom prst="rect">
                    <a:avLst/>
                  </a:prstGeom>
                  <a:blipFill rotWithShape="1">
                    <a:blip r:embed="rId5"/>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7" name="Object 12">
                  <a:extLst>
                    <a:ext uri="{FF2B5EF4-FFF2-40B4-BE49-F238E27FC236}">
                      <a16:creationId xmlns:a16="http://schemas.microsoft.com/office/drawing/2014/main" id="{03EFB5C1-7735-4204-A1ED-4BA673AD9F8C}"/>
                    </a:ext>
                  </a:extLst>
                </p:cNvPr>
                <p:cNvSpPr txBox="1"/>
                <p:nvPr/>
              </p:nvSpPr>
              <p:spPr bwMode="auto">
                <a:xfrm>
                  <a:off x="3800520" y="5368768"/>
                  <a:ext cx="2143125" cy="9731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𝜎</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𝑧</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𝑧</m:t>
                                </m:r>
                              </m:sup>
                            </m:sSup>
                          </m:den>
                        </m:f>
                      </m:oMath>
                    </m:oMathPara>
                  </a14:m>
                  <a:endParaRPr lang="zh-CN" altLang="en-US"/>
                </a:p>
              </p:txBody>
            </p:sp>
          </mc:Choice>
          <mc:Fallback xmlns="">
            <p:sp>
              <p:nvSpPr>
                <p:cNvPr id="44" name="Object 12"/>
                <p:cNvSpPr txBox="1">
                  <a:spLocks noRot="1" noChangeAspect="1" noMove="1" noResize="1" noEditPoints="1" noAdjustHandles="1" noChangeArrowheads="1" noChangeShapeType="1" noTextEdit="1"/>
                </p:cNvSpPr>
                <p:nvPr/>
              </p:nvSpPr>
              <p:spPr bwMode="auto">
                <a:xfrm>
                  <a:off x="3800520" y="5368768"/>
                  <a:ext cx="2143125" cy="973138"/>
                </a:xfrm>
                <a:prstGeom prst="rect">
                  <a:avLst/>
                </a:prstGeom>
                <a:blipFill rotWithShape="1">
                  <a:blip r:embed="rId6"/>
                </a:blipFill>
              </p:spPr>
              <p:txBody>
                <a:bodyPr/>
                <a:lstStyle/>
                <a:p>
                  <a:r>
                    <a:rPr lang="zh-CN" altLang="en-US">
                      <a:noFill/>
                    </a:rPr>
                    <a:t> </a:t>
                  </a:r>
                </a:p>
              </p:txBody>
            </p:sp>
          </mc:Fallback>
        </mc:AlternateContent>
        <p:sp>
          <p:nvSpPr>
            <p:cNvPr id="48" name="文字方塊 102">
              <a:extLst>
                <a:ext uri="{FF2B5EF4-FFF2-40B4-BE49-F238E27FC236}">
                  <a16:creationId xmlns:a16="http://schemas.microsoft.com/office/drawing/2014/main" id="{5ED6BB69-4152-4351-B23C-E1D38D0DA1FE}"/>
                </a:ext>
              </a:extLst>
            </p:cNvPr>
            <p:cNvSpPr txBox="1"/>
            <p:nvPr/>
          </p:nvSpPr>
          <p:spPr>
            <a:xfrm>
              <a:off x="3800520" y="4795570"/>
              <a:ext cx="2463800" cy="461665"/>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Sigmoid Function</a:t>
              </a:r>
              <a:endParaRPr lang="zh-TW" altLang="en-US" sz="2400" dirty="0">
                <a:latin typeface="Times New Roman" panose="02020603050405020304" charset="0"/>
                <a:cs typeface="Times New Roman" panose="02020603050405020304" charset="0"/>
              </a:endParaRPr>
            </a:p>
          </p:txBody>
        </p:sp>
      </p:grpSp>
      <p:sp>
        <p:nvSpPr>
          <p:cNvPr id="52" name="手繪多邊形 103">
            <a:extLst>
              <a:ext uri="{FF2B5EF4-FFF2-40B4-BE49-F238E27FC236}">
                <a16:creationId xmlns:a16="http://schemas.microsoft.com/office/drawing/2014/main" id="{14D5D9CC-7802-4047-BB37-8633E36775FD}"/>
              </a:ext>
            </a:extLst>
          </p:cNvPr>
          <p:cNvSpPr/>
          <p:nvPr/>
        </p:nvSpPr>
        <p:spPr>
          <a:xfrm>
            <a:off x="4314634" y="347119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54" name="手繪多邊形 105">
            <a:extLst>
              <a:ext uri="{FF2B5EF4-FFF2-40B4-BE49-F238E27FC236}">
                <a16:creationId xmlns:a16="http://schemas.microsoft.com/office/drawing/2014/main" id="{146A8073-4CD2-4B57-9997-3A01839B7D24}"/>
              </a:ext>
            </a:extLst>
          </p:cNvPr>
          <p:cNvSpPr/>
          <p:nvPr/>
        </p:nvSpPr>
        <p:spPr>
          <a:xfrm>
            <a:off x="4296024" y="1881749"/>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55" name="手繪多邊形 106">
            <a:extLst>
              <a:ext uri="{FF2B5EF4-FFF2-40B4-BE49-F238E27FC236}">
                <a16:creationId xmlns:a16="http://schemas.microsoft.com/office/drawing/2014/main" id="{5E7B7740-1E68-4971-A862-61D58F2F703E}"/>
              </a:ext>
            </a:extLst>
          </p:cNvPr>
          <p:cNvSpPr/>
          <p:nvPr/>
        </p:nvSpPr>
        <p:spPr>
          <a:xfrm>
            <a:off x="6524946" y="189293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56" name="手繪多邊形 107">
            <a:extLst>
              <a:ext uri="{FF2B5EF4-FFF2-40B4-BE49-F238E27FC236}">
                <a16:creationId xmlns:a16="http://schemas.microsoft.com/office/drawing/2014/main" id="{E6117182-DF24-45B7-8FC8-7ACC3BF7FDFC}"/>
              </a:ext>
            </a:extLst>
          </p:cNvPr>
          <p:cNvSpPr/>
          <p:nvPr/>
        </p:nvSpPr>
        <p:spPr>
          <a:xfrm>
            <a:off x="6541290" y="3416261"/>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57" name="手繪多邊形 108">
            <a:extLst>
              <a:ext uri="{FF2B5EF4-FFF2-40B4-BE49-F238E27FC236}">
                <a16:creationId xmlns:a16="http://schemas.microsoft.com/office/drawing/2014/main" id="{A4817340-A2E6-4032-930D-5CD0A3A7DCC1}"/>
              </a:ext>
            </a:extLst>
          </p:cNvPr>
          <p:cNvSpPr/>
          <p:nvPr/>
        </p:nvSpPr>
        <p:spPr>
          <a:xfrm>
            <a:off x="8673887" y="183151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58" name="手繪多邊形 109">
            <a:extLst>
              <a:ext uri="{FF2B5EF4-FFF2-40B4-BE49-F238E27FC236}">
                <a16:creationId xmlns:a16="http://schemas.microsoft.com/office/drawing/2014/main" id="{02139F26-5DFB-43BB-9F61-69727E832AD9}"/>
              </a:ext>
            </a:extLst>
          </p:cNvPr>
          <p:cNvSpPr/>
          <p:nvPr/>
        </p:nvSpPr>
        <p:spPr>
          <a:xfrm>
            <a:off x="8720974" y="344969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59" name="文字方塊 110">
            <a:extLst>
              <a:ext uri="{FF2B5EF4-FFF2-40B4-BE49-F238E27FC236}">
                <a16:creationId xmlns:a16="http://schemas.microsoft.com/office/drawing/2014/main" id="{34F6E92C-07A3-4334-9C07-72670BD6614A}"/>
              </a:ext>
            </a:extLst>
          </p:cNvPr>
          <p:cNvSpPr txBox="1"/>
          <p:nvPr/>
        </p:nvSpPr>
        <p:spPr>
          <a:xfrm>
            <a:off x="2295458" y="1879477"/>
            <a:ext cx="342900"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1</a:t>
            </a:r>
            <a:endParaRPr lang="zh-TW" altLang="en-US" sz="2400" dirty="0">
              <a:solidFill>
                <a:srgbClr val="0000FF"/>
              </a:solidFill>
              <a:latin typeface="Times New Roman" panose="02020603050405020304" charset="0"/>
              <a:cs typeface="Times New Roman" panose="02020603050405020304" charset="0"/>
            </a:endParaRPr>
          </a:p>
        </p:txBody>
      </p:sp>
      <p:sp>
        <p:nvSpPr>
          <p:cNvPr id="60" name="文字方塊 111">
            <a:extLst>
              <a:ext uri="{FF2B5EF4-FFF2-40B4-BE49-F238E27FC236}">
                <a16:creationId xmlns:a16="http://schemas.microsoft.com/office/drawing/2014/main" id="{50A38E70-7EEB-46B9-9E9F-8308437A7F6F}"/>
              </a:ext>
            </a:extLst>
          </p:cNvPr>
          <p:cNvSpPr txBox="1"/>
          <p:nvPr/>
        </p:nvSpPr>
        <p:spPr>
          <a:xfrm>
            <a:off x="2189674" y="3478908"/>
            <a:ext cx="488741"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-1</a:t>
            </a:r>
            <a:endParaRPr lang="zh-TW" altLang="en-US" sz="2400" dirty="0">
              <a:solidFill>
                <a:srgbClr val="0000FF"/>
              </a:solidFill>
              <a:latin typeface="Times New Roman" panose="02020603050405020304" charset="0"/>
              <a:cs typeface="Times New Roman" panose="02020603050405020304" charset="0"/>
            </a:endParaRPr>
          </a:p>
        </p:txBody>
      </p:sp>
      <p:sp>
        <p:nvSpPr>
          <p:cNvPr id="61" name="文字方塊 112">
            <a:extLst>
              <a:ext uri="{FF2B5EF4-FFF2-40B4-BE49-F238E27FC236}">
                <a16:creationId xmlns:a16="http://schemas.microsoft.com/office/drawing/2014/main" id="{D6ACA265-442D-4ACC-96D7-317F8A6D6FDE}"/>
              </a:ext>
            </a:extLst>
          </p:cNvPr>
          <p:cNvSpPr txBox="1"/>
          <p:nvPr/>
        </p:nvSpPr>
        <p:spPr>
          <a:xfrm>
            <a:off x="3242326" y="1594548"/>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62" name="文字方塊 113">
            <a:extLst>
              <a:ext uri="{FF2B5EF4-FFF2-40B4-BE49-F238E27FC236}">
                <a16:creationId xmlns:a16="http://schemas.microsoft.com/office/drawing/2014/main" id="{3A98418C-98B9-4BF1-A231-26E4F4648A66}"/>
              </a:ext>
            </a:extLst>
          </p:cNvPr>
          <p:cNvSpPr txBox="1"/>
          <p:nvPr/>
        </p:nvSpPr>
        <p:spPr>
          <a:xfrm>
            <a:off x="3409417" y="2182865"/>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63" name="文字方塊 114">
            <a:extLst>
              <a:ext uri="{FF2B5EF4-FFF2-40B4-BE49-F238E27FC236}">
                <a16:creationId xmlns:a16="http://schemas.microsoft.com/office/drawing/2014/main" id="{E996B9D6-3FE9-473E-B24A-0222F3AA9679}"/>
              </a:ext>
            </a:extLst>
          </p:cNvPr>
          <p:cNvSpPr txBox="1"/>
          <p:nvPr/>
        </p:nvSpPr>
        <p:spPr>
          <a:xfrm>
            <a:off x="3107121" y="3699995"/>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64" name="文字方塊 115">
            <a:extLst>
              <a:ext uri="{FF2B5EF4-FFF2-40B4-BE49-F238E27FC236}">
                <a16:creationId xmlns:a16="http://schemas.microsoft.com/office/drawing/2014/main" id="{31342D46-A792-45E4-99DB-43CA524613BB}"/>
              </a:ext>
            </a:extLst>
          </p:cNvPr>
          <p:cNvSpPr txBox="1"/>
          <p:nvPr/>
        </p:nvSpPr>
        <p:spPr>
          <a:xfrm>
            <a:off x="3259400" y="3129683"/>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65" name="矩形 64">
            <a:extLst>
              <a:ext uri="{FF2B5EF4-FFF2-40B4-BE49-F238E27FC236}">
                <a16:creationId xmlns:a16="http://schemas.microsoft.com/office/drawing/2014/main" id="{5A03D5D1-25DC-454A-9FE0-BBE6C062E3F1}"/>
              </a:ext>
            </a:extLst>
          </p:cNvPr>
          <p:cNvSpPr/>
          <p:nvPr/>
        </p:nvSpPr>
        <p:spPr>
          <a:xfrm>
            <a:off x="4005648" y="2558918"/>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66" name="直線單箭頭接點 118">
            <a:extLst>
              <a:ext uri="{FF2B5EF4-FFF2-40B4-BE49-F238E27FC236}">
                <a16:creationId xmlns:a16="http://schemas.microsoft.com/office/drawing/2014/main" id="{B6FF66BB-EC8C-4432-B646-C1EB05EB1537}"/>
              </a:ext>
            </a:extLst>
          </p:cNvPr>
          <p:cNvCxnSpPr/>
          <p:nvPr/>
        </p:nvCxnSpPr>
        <p:spPr>
          <a:xfrm flipV="1">
            <a:off x="4232550" y="2175718"/>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文字方塊 119">
            <a:extLst>
              <a:ext uri="{FF2B5EF4-FFF2-40B4-BE49-F238E27FC236}">
                <a16:creationId xmlns:a16="http://schemas.microsoft.com/office/drawing/2014/main" id="{42B1CAA0-B368-4AF0-AF96-01F6F910073F}"/>
              </a:ext>
            </a:extLst>
          </p:cNvPr>
          <p:cNvSpPr txBox="1"/>
          <p:nvPr/>
        </p:nvSpPr>
        <p:spPr>
          <a:xfrm>
            <a:off x="4028495" y="2546000"/>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68" name="矩形 67">
            <a:extLst>
              <a:ext uri="{FF2B5EF4-FFF2-40B4-BE49-F238E27FC236}">
                <a16:creationId xmlns:a16="http://schemas.microsoft.com/office/drawing/2014/main" id="{6EF8E2C4-58A1-4842-92C0-F7A823CA0B6A}"/>
              </a:ext>
            </a:extLst>
          </p:cNvPr>
          <p:cNvSpPr/>
          <p:nvPr/>
        </p:nvSpPr>
        <p:spPr>
          <a:xfrm>
            <a:off x="4015173" y="4108257"/>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69" name="直線單箭頭接點 132">
            <a:extLst>
              <a:ext uri="{FF2B5EF4-FFF2-40B4-BE49-F238E27FC236}">
                <a16:creationId xmlns:a16="http://schemas.microsoft.com/office/drawing/2014/main" id="{275FCCB4-4AE7-4E5E-9CB2-E1E4D6E54967}"/>
              </a:ext>
            </a:extLst>
          </p:cNvPr>
          <p:cNvCxnSpPr/>
          <p:nvPr/>
        </p:nvCxnSpPr>
        <p:spPr>
          <a:xfrm flipV="1">
            <a:off x="4242075" y="3725057"/>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文字方塊 133">
            <a:extLst>
              <a:ext uri="{FF2B5EF4-FFF2-40B4-BE49-F238E27FC236}">
                <a16:creationId xmlns:a16="http://schemas.microsoft.com/office/drawing/2014/main" id="{FA0724E2-FD53-47A0-B40F-38982A070EEF}"/>
              </a:ext>
            </a:extLst>
          </p:cNvPr>
          <p:cNvSpPr txBox="1"/>
          <p:nvPr/>
        </p:nvSpPr>
        <p:spPr>
          <a:xfrm>
            <a:off x="4031781" y="4101797"/>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sp>
        <p:nvSpPr>
          <p:cNvPr id="71" name="文字方塊 134">
            <a:extLst>
              <a:ext uri="{FF2B5EF4-FFF2-40B4-BE49-F238E27FC236}">
                <a16:creationId xmlns:a16="http://schemas.microsoft.com/office/drawing/2014/main" id="{4D3A3A65-BF7E-4E08-B5F6-55193CD9D536}"/>
              </a:ext>
            </a:extLst>
          </p:cNvPr>
          <p:cNvSpPr txBox="1"/>
          <p:nvPr/>
        </p:nvSpPr>
        <p:spPr>
          <a:xfrm>
            <a:off x="3944931" y="1542228"/>
            <a:ext cx="430062" cy="461665"/>
          </a:xfrm>
          <a:prstGeom prst="rect">
            <a:avLst/>
          </a:prstGeom>
          <a:noFill/>
        </p:spPr>
        <p:txBody>
          <a:bodyPr wrap="square" rtlCol="0">
            <a:spAutoFit/>
          </a:bodyPr>
          <a:lstStyle/>
          <a:p>
            <a:pPr algn="ctr"/>
            <a:r>
              <a:rPr lang="en-US" altLang="zh-TW" sz="2400" dirty="0">
                <a:solidFill>
                  <a:srgbClr val="FF0000"/>
                </a:solidFill>
                <a:latin typeface="Times New Roman" panose="02020603050405020304" charset="0"/>
                <a:cs typeface="Times New Roman" panose="02020603050405020304" charset="0"/>
              </a:rPr>
              <a:t>4</a:t>
            </a:r>
            <a:endParaRPr lang="zh-TW" altLang="en-US" sz="2400" dirty="0">
              <a:solidFill>
                <a:srgbClr val="FF0000"/>
              </a:solidFill>
              <a:latin typeface="Times New Roman" panose="02020603050405020304" charset="0"/>
              <a:cs typeface="Times New Roman" panose="02020603050405020304" charset="0"/>
            </a:endParaRPr>
          </a:p>
        </p:txBody>
      </p:sp>
      <p:sp>
        <p:nvSpPr>
          <p:cNvPr id="72" name="文字方塊 135">
            <a:extLst>
              <a:ext uri="{FF2B5EF4-FFF2-40B4-BE49-F238E27FC236}">
                <a16:creationId xmlns:a16="http://schemas.microsoft.com/office/drawing/2014/main" id="{E16E6DA9-B3EC-4B4A-98EB-3B361F9515E9}"/>
              </a:ext>
            </a:extLst>
          </p:cNvPr>
          <p:cNvSpPr txBox="1"/>
          <p:nvPr/>
        </p:nvSpPr>
        <p:spPr>
          <a:xfrm>
            <a:off x="3830893" y="3146095"/>
            <a:ext cx="682714" cy="461665"/>
          </a:xfrm>
          <a:prstGeom prst="rect">
            <a:avLst/>
          </a:prstGeom>
          <a:noFill/>
        </p:spPr>
        <p:txBody>
          <a:bodyPr wrap="square" rtlCol="0">
            <a:spAutoFit/>
          </a:bodyPr>
          <a:lstStyle/>
          <a:p>
            <a:pPr algn="ctr"/>
            <a:r>
              <a:rPr lang="en-US" altLang="zh-TW" sz="2400" dirty="0">
                <a:solidFill>
                  <a:srgbClr val="FF0000"/>
                </a:solidFill>
                <a:latin typeface="Times New Roman" panose="02020603050405020304" charset="0"/>
                <a:cs typeface="Times New Roman" panose="02020603050405020304" charset="0"/>
              </a:rPr>
              <a:t>-2</a:t>
            </a:r>
            <a:endParaRPr lang="zh-TW" altLang="en-US" sz="2400" dirty="0">
              <a:solidFill>
                <a:srgbClr val="FF0000"/>
              </a:solidFill>
              <a:latin typeface="Times New Roman" panose="02020603050405020304" charset="0"/>
              <a:cs typeface="Times New Roman" panose="02020603050405020304" charset="0"/>
            </a:endParaRPr>
          </a:p>
        </p:txBody>
      </p:sp>
      <p:sp>
        <p:nvSpPr>
          <p:cNvPr id="73" name="文字方塊 137">
            <a:extLst>
              <a:ext uri="{FF2B5EF4-FFF2-40B4-BE49-F238E27FC236}">
                <a16:creationId xmlns:a16="http://schemas.microsoft.com/office/drawing/2014/main" id="{BF9CE55A-F5B5-4F12-A360-E9C5D73BA540}"/>
              </a:ext>
            </a:extLst>
          </p:cNvPr>
          <p:cNvSpPr txBox="1"/>
          <p:nvPr/>
        </p:nvSpPr>
        <p:spPr>
          <a:xfrm>
            <a:off x="4643547" y="1503296"/>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0.98</a:t>
            </a:r>
            <a:endParaRPr lang="zh-TW" altLang="en-US" sz="2400" dirty="0">
              <a:solidFill>
                <a:srgbClr val="0000FF"/>
              </a:solidFill>
              <a:latin typeface="Times New Roman" panose="02020603050405020304" charset="0"/>
              <a:cs typeface="Times New Roman" panose="02020603050405020304" charset="0"/>
            </a:endParaRPr>
          </a:p>
        </p:txBody>
      </p:sp>
      <p:sp>
        <p:nvSpPr>
          <p:cNvPr id="74" name="文字方塊 138">
            <a:extLst>
              <a:ext uri="{FF2B5EF4-FFF2-40B4-BE49-F238E27FC236}">
                <a16:creationId xmlns:a16="http://schemas.microsoft.com/office/drawing/2014/main" id="{E05F88EF-2D7A-4E64-B84B-FB3DEA87817C}"/>
              </a:ext>
            </a:extLst>
          </p:cNvPr>
          <p:cNvSpPr txBox="1"/>
          <p:nvPr/>
        </p:nvSpPr>
        <p:spPr>
          <a:xfrm>
            <a:off x="4665866" y="3108827"/>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0.12</a:t>
            </a:r>
            <a:endParaRPr lang="zh-TW" altLang="en-US" sz="2400" dirty="0">
              <a:solidFill>
                <a:srgbClr val="0000FF"/>
              </a:solidFill>
              <a:latin typeface="Times New Roman" panose="02020603050405020304" charset="0"/>
              <a:cs typeface="Times New Roman" panose="02020603050405020304" charset="0"/>
            </a:endParaRPr>
          </a:p>
        </p:txBody>
      </p:sp>
      <p:grpSp>
        <p:nvGrpSpPr>
          <p:cNvPr id="75" name="群組 96">
            <a:extLst>
              <a:ext uri="{FF2B5EF4-FFF2-40B4-BE49-F238E27FC236}">
                <a16:creationId xmlns:a16="http://schemas.microsoft.com/office/drawing/2014/main" id="{7D74068A-6337-4AD7-933C-F426A4D1AEE3}"/>
              </a:ext>
            </a:extLst>
          </p:cNvPr>
          <p:cNvGrpSpPr/>
          <p:nvPr/>
        </p:nvGrpSpPr>
        <p:grpSpPr>
          <a:xfrm>
            <a:off x="6208292" y="2163603"/>
            <a:ext cx="458287" cy="831947"/>
            <a:chOff x="10102194" y="1939763"/>
            <a:chExt cx="458287" cy="831947"/>
          </a:xfrm>
        </p:grpSpPr>
        <p:sp>
          <p:nvSpPr>
            <p:cNvPr id="76" name="矩形 75">
              <a:extLst>
                <a:ext uri="{FF2B5EF4-FFF2-40B4-BE49-F238E27FC236}">
                  <a16:creationId xmlns:a16="http://schemas.microsoft.com/office/drawing/2014/main" id="{A76A39A8-415F-49CF-A780-18B91F40CFA0}"/>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77" name="直線單箭頭接點 98">
              <a:extLst>
                <a:ext uri="{FF2B5EF4-FFF2-40B4-BE49-F238E27FC236}">
                  <a16:creationId xmlns:a16="http://schemas.microsoft.com/office/drawing/2014/main" id="{CF68F487-2C71-4716-9188-64D58A76F6B7}"/>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8" name="群組 124">
            <a:extLst>
              <a:ext uri="{FF2B5EF4-FFF2-40B4-BE49-F238E27FC236}">
                <a16:creationId xmlns:a16="http://schemas.microsoft.com/office/drawing/2014/main" id="{35D919BB-B219-407D-953B-1B5531643AF1}"/>
              </a:ext>
            </a:extLst>
          </p:cNvPr>
          <p:cNvGrpSpPr/>
          <p:nvPr/>
        </p:nvGrpSpPr>
        <p:grpSpPr>
          <a:xfrm>
            <a:off x="8386532" y="2158411"/>
            <a:ext cx="458287" cy="831947"/>
            <a:chOff x="10102194" y="1939763"/>
            <a:chExt cx="458287" cy="831947"/>
          </a:xfrm>
        </p:grpSpPr>
        <p:sp>
          <p:nvSpPr>
            <p:cNvPr id="79" name="矩形 78">
              <a:extLst>
                <a:ext uri="{FF2B5EF4-FFF2-40B4-BE49-F238E27FC236}">
                  <a16:creationId xmlns:a16="http://schemas.microsoft.com/office/drawing/2014/main" id="{9EF8A0F9-5E8A-407A-B7B3-6F24B8506635}"/>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80" name="直線單箭頭接點 126">
              <a:extLst>
                <a:ext uri="{FF2B5EF4-FFF2-40B4-BE49-F238E27FC236}">
                  <a16:creationId xmlns:a16="http://schemas.microsoft.com/office/drawing/2014/main" id="{F4F99D99-F846-413C-BF0A-92D25DEF8FDC}"/>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2A5FE6E5-8C6B-4DB3-9ABC-20437DD5D9BF}"/>
                  </a:ext>
                </a:extLst>
              </p:cNvPr>
              <p:cNvSpPr txBox="1"/>
              <p:nvPr/>
            </p:nvSpPr>
            <p:spPr>
              <a:xfrm>
                <a:off x="-692487" y="4830349"/>
                <a:ext cx="6108700" cy="8597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2400" i="1" smtClean="0">
                              <a:solidFill>
                                <a:prstClr val="black"/>
                              </a:solidFill>
                              <a:latin typeface="Cambria Math" panose="02040503050406030204" pitchFamily="18" charset="0"/>
                            </a:rPr>
                          </m:ctrlPr>
                        </m:sSubSupPr>
                        <m:e>
                          <m:r>
                            <a:rPr kumimoji="1" lang="en-US" altLang="zh-CN" sz="2400" b="0" i="1" smtClean="0">
                              <a:solidFill>
                                <a:prstClr val="black"/>
                              </a:solidFill>
                              <a:latin typeface="Cambria Math" panose="02040503050406030204" pitchFamily="18" charset="0"/>
                            </a:rPr>
                            <m:t>𝑧</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r>
                        <a:rPr kumimoji="1" lang="en-US" altLang="zh-CN" sz="2400" i="1">
                          <a:solidFill>
                            <a:prstClr val="black"/>
                          </a:solidFill>
                          <a:latin typeface="Cambria Math" panose="02040503050406030204" pitchFamily="18" charset="0"/>
                        </a:rPr>
                        <m:t>=</m:t>
                      </m:r>
                      <m:nary>
                        <m:naryPr>
                          <m:chr m:val="∑"/>
                          <m:limLoc m:val="subSup"/>
                          <m:ctrlPr>
                            <a:rPr kumimoji="1" lang="en-US" altLang="zh-CN" sz="2400" i="1">
                              <a:solidFill>
                                <a:prstClr val="black"/>
                              </a:solidFill>
                              <a:latin typeface="Cambria Math" panose="02040503050406030204" pitchFamily="18" charset="0"/>
                            </a:rPr>
                          </m:ctrlPr>
                        </m:naryPr>
                        <m:sub>
                          <m:r>
                            <m:rPr>
                              <m:brk m:alnAt="25"/>
                            </m:rPr>
                            <a:rPr kumimoji="1" lang="en-US" altLang="zh-CN" sz="2400" i="1">
                              <a:solidFill>
                                <a:prstClr val="black"/>
                              </a:solidFill>
                              <a:latin typeface="Cambria Math" panose="02040503050406030204" pitchFamily="18" charset="0"/>
                            </a:rPr>
                            <m:t>𝑗</m:t>
                          </m:r>
                          <m:r>
                            <a:rPr kumimoji="1" lang="en-US" altLang="zh-CN" sz="2400" i="1">
                              <a:solidFill>
                                <a:prstClr val="black"/>
                              </a:solidFill>
                              <a:latin typeface="Cambria Math" panose="02040503050406030204" pitchFamily="18" charset="0"/>
                            </a:rPr>
                            <m:t>=1</m:t>
                          </m:r>
                        </m:sub>
                        <m:sup>
                          <m:sSub>
                            <m:sSubPr>
                              <m:ctrlPr>
                                <a:rPr kumimoji="1" lang="en-US" altLang="zh-CN" sz="2400" i="1">
                                  <a:solidFill>
                                    <a:prstClr val="black"/>
                                  </a:solidFill>
                                  <a:latin typeface="Cambria Math" panose="02040503050406030204" pitchFamily="18" charset="0"/>
                                </a:rPr>
                              </m:ctrlPr>
                            </m:sSubPr>
                            <m:e>
                              <m:r>
                                <a:rPr kumimoji="1" lang="en-US" altLang="zh-CN" sz="2400" i="1">
                                  <a:solidFill>
                                    <a:prstClr val="black"/>
                                  </a:solidFill>
                                  <a:latin typeface="Cambria Math" panose="02040503050406030204" pitchFamily="18" charset="0"/>
                                </a:rPr>
                                <m:t>𝑛</m:t>
                              </m:r>
                            </m:e>
                            <m:sub>
                              <m:r>
                                <a:rPr kumimoji="1" lang="en-US" altLang="zh-CN" sz="2400" i="1">
                                  <a:solidFill>
                                    <a:prstClr val="black"/>
                                  </a:solidFill>
                                  <a:latin typeface="Cambria Math" panose="02040503050406030204" pitchFamily="18" charset="0"/>
                                </a:rPr>
                                <m:t>ℓ−1</m:t>
                              </m:r>
                            </m:sub>
                          </m:sSub>
                        </m:sup>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𝑤</m:t>
                              </m:r>
                            </m:e>
                            <m:sub>
                              <m:r>
                                <a:rPr kumimoji="1" lang="en-US" altLang="zh-CN" sz="2400" b="0" i="1" smtClean="0">
                                  <a:solidFill>
                                    <a:prstClr val="black"/>
                                  </a:solidFill>
                                  <a:latin typeface="Cambria Math" panose="02040503050406030204" pitchFamily="18" charset="0"/>
                                </a:rPr>
                                <m:t>𝑘</m:t>
                              </m:r>
                              <m:r>
                                <a:rPr kumimoji="1" lang="en-US" altLang="zh-CN" sz="2400" b="0" i="1" smtClean="0">
                                  <a:solidFill>
                                    <a:prstClr val="black"/>
                                  </a:solidFill>
                                  <a:latin typeface="Cambria Math" panose="02040503050406030204" pitchFamily="18" charset="0"/>
                                </a:rPr>
                                <m:t>,</m:t>
                              </m:r>
                              <m:r>
                                <a:rPr kumimoji="1" lang="en-US" altLang="zh-CN" sz="2400" i="1">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𝑥</m:t>
                              </m:r>
                            </m:e>
                            <m:sub>
                              <m:r>
                                <a:rPr kumimoji="1" lang="en-US" altLang="zh-CN" sz="2400" i="1">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ℓ−1</m:t>
                                  </m:r>
                                </m:e>
                              </m:d>
                            </m:sup>
                          </m:sSubSup>
                        </m:e>
                      </m:nary>
                      <m:r>
                        <a:rPr kumimoji="1" lang="en-US" altLang="zh-CN" sz="2400" i="1">
                          <a:solidFill>
                            <a:prstClr val="black"/>
                          </a:solidFill>
                          <a:latin typeface="Cambria Math" panose="02040503050406030204" pitchFamily="18" charset="0"/>
                        </a:rPr>
                        <m:t>+</m:t>
                      </m:r>
                      <m:sSup>
                        <m:sSupPr>
                          <m:ctrlPr>
                            <a:rPr kumimoji="1" lang="en-US" altLang="zh-CN" sz="2400" i="1">
                              <a:solidFill>
                                <a:prstClr val="black"/>
                              </a:solidFill>
                              <a:latin typeface="Cambria Math" panose="02040503050406030204" pitchFamily="18" charset="0"/>
                            </a:rPr>
                          </m:ctrlPr>
                        </m:sSupPr>
                        <m:e>
                          <m:r>
                            <a:rPr kumimoji="1" lang="en-US" altLang="zh-CN" sz="2400" i="1">
                              <a:solidFill>
                                <a:prstClr val="black"/>
                              </a:solidFill>
                              <a:latin typeface="Cambria Math" panose="02040503050406030204" pitchFamily="18" charset="0"/>
                            </a:rPr>
                            <m:t>𝑏</m:t>
                          </m:r>
                        </m:e>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p>
                    </m:oMath>
                  </m:oMathPara>
                </a14:m>
                <a:endParaRPr kumimoji="1" lang="zh-CN" altLang="en-US" sz="2400" i="1" dirty="0">
                  <a:solidFill>
                    <a:prstClr val="black"/>
                  </a:solidFill>
                  <a:latin typeface="Cambria Math" panose="02040503050406030204" pitchFamily="18" charset="0"/>
                </a:endParaRPr>
              </a:p>
            </p:txBody>
          </p:sp>
        </mc:Choice>
        <mc:Fallback xmlns="">
          <p:sp>
            <p:nvSpPr>
              <p:cNvPr id="81" name="文本框 80">
                <a:extLst>
                  <a:ext uri="{FF2B5EF4-FFF2-40B4-BE49-F238E27FC236}">
                    <a16:creationId xmlns:a16="http://schemas.microsoft.com/office/drawing/2014/main" id="{2A5FE6E5-8C6B-4DB3-9ABC-20437DD5D9BF}"/>
                  </a:ext>
                </a:extLst>
              </p:cNvPr>
              <p:cNvSpPr txBox="1">
                <a:spLocks noRot="1" noChangeAspect="1" noMove="1" noResize="1" noEditPoints="1" noAdjustHandles="1" noChangeArrowheads="1" noChangeShapeType="1" noTextEdit="1"/>
              </p:cNvSpPr>
              <p:nvPr/>
            </p:nvSpPr>
            <p:spPr>
              <a:xfrm>
                <a:off x="-692487" y="4830349"/>
                <a:ext cx="6108700" cy="8597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6314834F-E7B3-40C6-A6BA-1446671FB2CA}"/>
                  </a:ext>
                </a:extLst>
              </p:cNvPr>
              <p:cNvSpPr txBox="1"/>
              <p:nvPr/>
            </p:nvSpPr>
            <p:spPr>
              <a:xfrm>
                <a:off x="-749240" y="5816861"/>
                <a:ext cx="6108700" cy="6450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2400" i="1" smtClean="0">
                              <a:solidFill>
                                <a:prstClr val="black"/>
                              </a:solidFill>
                              <a:latin typeface="Cambria Math" panose="02040503050406030204" pitchFamily="18" charset="0"/>
                            </a:rPr>
                          </m:ctrlPr>
                        </m:sSubSupPr>
                        <m:e>
                          <m:r>
                            <a:rPr kumimoji="1" lang="en-US" altLang="zh-CN" sz="2400" b="0" i="1" smtClean="0">
                              <a:solidFill>
                                <a:prstClr val="black"/>
                              </a:solidFill>
                              <a:latin typeface="Cambria Math" panose="02040503050406030204" pitchFamily="18" charset="0"/>
                            </a:rPr>
                            <m:t>𝑥</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r>
                        <a:rPr kumimoji="1" lang="en-US" altLang="zh-CN" sz="2400" i="1">
                          <a:solidFill>
                            <a:prstClr val="black"/>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𝜎</m:t>
                      </m:r>
                      <m:d>
                        <m:dPr>
                          <m:ctrlPr>
                            <a:rPr kumimoji="1" lang="en-US" altLang="zh-CN" sz="2400" i="1">
                              <a:solidFill>
                                <a:srgbClr val="C00000"/>
                              </a:solidFill>
                              <a:latin typeface="Cambria Math" panose="02040503050406030204" pitchFamily="18" charset="0"/>
                            </a:rPr>
                          </m:ctrlPr>
                        </m:dPr>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𝑧</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e>
                      </m:d>
                    </m:oMath>
                  </m:oMathPara>
                </a14:m>
                <a:endParaRPr lang="zh-CN" altLang="en-US" sz="2400" dirty="0"/>
              </a:p>
            </p:txBody>
          </p:sp>
        </mc:Choice>
        <mc:Fallback xmlns="">
          <p:sp>
            <p:nvSpPr>
              <p:cNvPr id="82" name="文本框 81">
                <a:extLst>
                  <a:ext uri="{FF2B5EF4-FFF2-40B4-BE49-F238E27FC236}">
                    <a16:creationId xmlns:a16="http://schemas.microsoft.com/office/drawing/2014/main" id="{6314834F-E7B3-40C6-A6BA-1446671FB2CA}"/>
                  </a:ext>
                </a:extLst>
              </p:cNvPr>
              <p:cNvSpPr txBox="1">
                <a:spLocks noRot="1" noChangeAspect="1" noMove="1" noResize="1" noEditPoints="1" noAdjustHandles="1" noChangeArrowheads="1" noChangeShapeType="1" noTextEdit="1"/>
              </p:cNvSpPr>
              <p:nvPr/>
            </p:nvSpPr>
            <p:spPr>
              <a:xfrm>
                <a:off x="-749240" y="5816861"/>
                <a:ext cx="6108700" cy="645048"/>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1339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p:bldP spid="60" grpId="0"/>
      <p:bldP spid="61" grpId="0"/>
      <p:bldP spid="62" grpId="0"/>
      <p:bldP spid="65" grpId="0" animBg="1"/>
      <p:bldP spid="68" grpId="0" animBg="1"/>
      <p:bldP spid="69" grpId="0" animBg="1"/>
      <p:bldP spid="70" grpId="0"/>
      <p:bldP spid="71" grpId="0" animBg="1"/>
      <p:bldP spid="7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24</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cxnSp>
        <p:nvCxnSpPr>
          <p:cNvPr id="77" name="直線單箭頭接點 12">
            <a:extLst>
              <a:ext uri="{FF2B5EF4-FFF2-40B4-BE49-F238E27FC236}">
                <a16:creationId xmlns:a16="http://schemas.microsoft.com/office/drawing/2014/main" id="{67B3B9DE-268E-46B6-AB88-4565D0BCA6AF}"/>
              </a:ext>
            </a:extLst>
          </p:cNvPr>
          <p:cNvCxnSpPr/>
          <p:nvPr/>
        </p:nvCxnSpPr>
        <p:spPr>
          <a:xfrm>
            <a:off x="9017751" y="3988871"/>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14">
            <a:extLst>
              <a:ext uri="{FF2B5EF4-FFF2-40B4-BE49-F238E27FC236}">
                <a16:creationId xmlns:a16="http://schemas.microsoft.com/office/drawing/2014/main" id="{2134CC0A-401E-4A21-A872-C97ABA13503F}"/>
              </a:ext>
            </a:extLst>
          </p:cNvPr>
          <p:cNvCxnSpPr/>
          <p:nvPr/>
        </p:nvCxnSpPr>
        <p:spPr>
          <a:xfrm>
            <a:off x="9017751" y="2329275"/>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橢圓 19">
            <a:extLst>
              <a:ext uri="{FF2B5EF4-FFF2-40B4-BE49-F238E27FC236}">
                <a16:creationId xmlns:a16="http://schemas.microsoft.com/office/drawing/2014/main" id="{37B6BD82-BDCA-49D1-A9E8-2D9DA61999D2}"/>
              </a:ext>
            </a:extLst>
          </p:cNvPr>
          <p:cNvSpPr/>
          <p:nvPr/>
        </p:nvSpPr>
        <p:spPr>
          <a:xfrm>
            <a:off x="4121394" y="211840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0" name="橢圓 20">
            <a:extLst>
              <a:ext uri="{FF2B5EF4-FFF2-40B4-BE49-F238E27FC236}">
                <a16:creationId xmlns:a16="http://schemas.microsoft.com/office/drawing/2014/main" id="{C82147E3-188F-412F-AEED-AAC17364A637}"/>
              </a:ext>
            </a:extLst>
          </p:cNvPr>
          <p:cNvSpPr/>
          <p:nvPr/>
        </p:nvSpPr>
        <p:spPr>
          <a:xfrm>
            <a:off x="4110111" y="366609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1" name="橢圓 26">
            <a:extLst>
              <a:ext uri="{FF2B5EF4-FFF2-40B4-BE49-F238E27FC236}">
                <a16:creationId xmlns:a16="http://schemas.microsoft.com/office/drawing/2014/main" id="{7E5312F3-65EC-4661-84FC-1D54C52ADE69}"/>
              </a:ext>
            </a:extLst>
          </p:cNvPr>
          <p:cNvSpPr/>
          <p:nvPr/>
        </p:nvSpPr>
        <p:spPr>
          <a:xfrm>
            <a:off x="6324816" y="208770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2" name="橢圓 27">
            <a:extLst>
              <a:ext uri="{FF2B5EF4-FFF2-40B4-BE49-F238E27FC236}">
                <a16:creationId xmlns:a16="http://schemas.microsoft.com/office/drawing/2014/main" id="{638822D8-81DF-4671-A39E-C8F419A10B00}"/>
              </a:ext>
            </a:extLst>
          </p:cNvPr>
          <p:cNvSpPr/>
          <p:nvPr/>
        </p:nvSpPr>
        <p:spPr>
          <a:xfrm>
            <a:off x="6343738" y="366038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3" name="橢圓 30">
            <a:extLst>
              <a:ext uri="{FF2B5EF4-FFF2-40B4-BE49-F238E27FC236}">
                <a16:creationId xmlns:a16="http://schemas.microsoft.com/office/drawing/2014/main" id="{13229807-09AB-432C-BDFC-258F43745981}"/>
              </a:ext>
            </a:extLst>
          </p:cNvPr>
          <p:cNvSpPr/>
          <p:nvPr/>
        </p:nvSpPr>
        <p:spPr>
          <a:xfrm>
            <a:off x="8478509" y="206047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4" name="橢圓 31">
            <a:extLst>
              <a:ext uri="{FF2B5EF4-FFF2-40B4-BE49-F238E27FC236}">
                <a16:creationId xmlns:a16="http://schemas.microsoft.com/office/drawing/2014/main" id="{F6736954-AC80-4A6D-8EA1-A1A3CDC9FD12}"/>
              </a:ext>
            </a:extLst>
          </p:cNvPr>
          <p:cNvSpPr/>
          <p:nvPr/>
        </p:nvSpPr>
        <p:spPr>
          <a:xfrm>
            <a:off x="8520199" y="366038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grpSp>
        <p:nvGrpSpPr>
          <p:cNvPr id="85" name="群組 83">
            <a:extLst>
              <a:ext uri="{FF2B5EF4-FFF2-40B4-BE49-F238E27FC236}">
                <a16:creationId xmlns:a16="http://schemas.microsoft.com/office/drawing/2014/main" id="{6A2923AC-B250-4AD2-85B3-38033B4691FC}"/>
              </a:ext>
            </a:extLst>
          </p:cNvPr>
          <p:cNvGrpSpPr/>
          <p:nvPr/>
        </p:nvGrpSpPr>
        <p:grpSpPr>
          <a:xfrm>
            <a:off x="2505189" y="2394631"/>
            <a:ext cx="1588876" cy="1638300"/>
            <a:chOff x="1013669" y="3459098"/>
            <a:chExt cx="1588876" cy="1638300"/>
          </a:xfrm>
        </p:grpSpPr>
        <p:cxnSp>
          <p:nvCxnSpPr>
            <p:cNvPr id="86" name="直線單箭頭接點 49">
              <a:extLst>
                <a:ext uri="{FF2B5EF4-FFF2-40B4-BE49-F238E27FC236}">
                  <a16:creationId xmlns:a16="http://schemas.microsoft.com/office/drawing/2014/main" id="{4EA16BB4-8390-4B4B-9F45-2D63084FEE37}"/>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7" name="群組 82">
              <a:extLst>
                <a:ext uri="{FF2B5EF4-FFF2-40B4-BE49-F238E27FC236}">
                  <a16:creationId xmlns:a16="http://schemas.microsoft.com/office/drawing/2014/main" id="{5B0D9F57-EC8A-4C11-9CC0-66832064B729}"/>
                </a:ext>
              </a:extLst>
            </p:cNvPr>
            <p:cNvGrpSpPr/>
            <p:nvPr/>
          </p:nvGrpSpPr>
          <p:grpSpPr>
            <a:xfrm>
              <a:off x="1025705" y="3459098"/>
              <a:ext cx="1576840" cy="1638300"/>
              <a:chOff x="1025705" y="3459098"/>
              <a:chExt cx="1576840" cy="1638300"/>
            </a:xfrm>
          </p:grpSpPr>
          <p:cxnSp>
            <p:nvCxnSpPr>
              <p:cNvPr id="88" name="直線單箭頭接點 47">
                <a:extLst>
                  <a:ext uri="{FF2B5EF4-FFF2-40B4-BE49-F238E27FC236}">
                    <a16:creationId xmlns:a16="http://schemas.microsoft.com/office/drawing/2014/main" id="{E73015EB-828F-451D-B124-BBB0F93B7DCC}"/>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50">
                <a:extLst>
                  <a:ext uri="{FF2B5EF4-FFF2-40B4-BE49-F238E27FC236}">
                    <a16:creationId xmlns:a16="http://schemas.microsoft.com/office/drawing/2014/main" id="{56E4F5FE-F144-4428-9606-0D9056D65061}"/>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79">
                <a:extLst>
                  <a:ext uri="{FF2B5EF4-FFF2-40B4-BE49-F238E27FC236}">
                    <a16:creationId xmlns:a16="http://schemas.microsoft.com/office/drawing/2014/main" id="{AA50EC06-02BD-464F-ADB0-2DDF1A35640C}"/>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1" name="群組 84">
            <a:extLst>
              <a:ext uri="{FF2B5EF4-FFF2-40B4-BE49-F238E27FC236}">
                <a16:creationId xmlns:a16="http://schemas.microsoft.com/office/drawing/2014/main" id="{BAF0A578-4F2A-4E21-ADD3-07FB7453BECB}"/>
              </a:ext>
            </a:extLst>
          </p:cNvPr>
          <p:cNvGrpSpPr/>
          <p:nvPr/>
        </p:nvGrpSpPr>
        <p:grpSpPr>
          <a:xfrm>
            <a:off x="4723496" y="2379944"/>
            <a:ext cx="1588876" cy="1638300"/>
            <a:chOff x="1013669" y="3459098"/>
            <a:chExt cx="1588876" cy="1638300"/>
          </a:xfrm>
        </p:grpSpPr>
        <p:cxnSp>
          <p:nvCxnSpPr>
            <p:cNvPr id="92" name="直線單箭頭接點 85">
              <a:extLst>
                <a:ext uri="{FF2B5EF4-FFF2-40B4-BE49-F238E27FC236}">
                  <a16:creationId xmlns:a16="http://schemas.microsoft.com/office/drawing/2014/main" id="{56C95A4E-B111-4E8F-B3E1-E01B03236DEA}"/>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3" name="群組 86">
              <a:extLst>
                <a:ext uri="{FF2B5EF4-FFF2-40B4-BE49-F238E27FC236}">
                  <a16:creationId xmlns:a16="http://schemas.microsoft.com/office/drawing/2014/main" id="{70C0466E-E202-4332-9A9F-32517353C7A0}"/>
                </a:ext>
              </a:extLst>
            </p:cNvPr>
            <p:cNvGrpSpPr/>
            <p:nvPr/>
          </p:nvGrpSpPr>
          <p:grpSpPr>
            <a:xfrm>
              <a:off x="1025705" y="3459098"/>
              <a:ext cx="1576840" cy="1638300"/>
              <a:chOff x="1025705" y="3459098"/>
              <a:chExt cx="1576840" cy="1638300"/>
            </a:xfrm>
          </p:grpSpPr>
          <p:cxnSp>
            <p:nvCxnSpPr>
              <p:cNvPr id="94" name="直線單箭頭接點 87">
                <a:extLst>
                  <a:ext uri="{FF2B5EF4-FFF2-40B4-BE49-F238E27FC236}">
                    <a16:creationId xmlns:a16="http://schemas.microsoft.com/office/drawing/2014/main" id="{9A7281A4-CB0F-4CEB-8055-E55CDA0F7286}"/>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88">
                <a:extLst>
                  <a:ext uri="{FF2B5EF4-FFF2-40B4-BE49-F238E27FC236}">
                    <a16:creationId xmlns:a16="http://schemas.microsoft.com/office/drawing/2014/main" id="{92A86F24-D190-497A-917B-F8CE45D7EAE3}"/>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89">
                <a:extLst>
                  <a:ext uri="{FF2B5EF4-FFF2-40B4-BE49-F238E27FC236}">
                    <a16:creationId xmlns:a16="http://schemas.microsoft.com/office/drawing/2014/main" id="{577A4A2F-BA7C-42B6-A7FC-2E0CCAF650CE}"/>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7" name="群組 90">
            <a:extLst>
              <a:ext uri="{FF2B5EF4-FFF2-40B4-BE49-F238E27FC236}">
                <a16:creationId xmlns:a16="http://schemas.microsoft.com/office/drawing/2014/main" id="{D84E92E3-E825-4655-A9BC-2B483A0E0B18}"/>
              </a:ext>
            </a:extLst>
          </p:cNvPr>
          <p:cNvGrpSpPr/>
          <p:nvPr/>
        </p:nvGrpSpPr>
        <p:grpSpPr>
          <a:xfrm>
            <a:off x="6923434" y="2360026"/>
            <a:ext cx="1588876" cy="1638300"/>
            <a:chOff x="1013669" y="3459098"/>
            <a:chExt cx="1588876" cy="1638300"/>
          </a:xfrm>
        </p:grpSpPr>
        <p:cxnSp>
          <p:nvCxnSpPr>
            <p:cNvPr id="98" name="直線單箭頭接點 91">
              <a:extLst>
                <a:ext uri="{FF2B5EF4-FFF2-40B4-BE49-F238E27FC236}">
                  <a16:creationId xmlns:a16="http://schemas.microsoft.com/office/drawing/2014/main" id="{095B70E5-C6AF-4797-B694-5C5ED429329D}"/>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9" name="群組 92">
              <a:extLst>
                <a:ext uri="{FF2B5EF4-FFF2-40B4-BE49-F238E27FC236}">
                  <a16:creationId xmlns:a16="http://schemas.microsoft.com/office/drawing/2014/main" id="{B9C47553-58B4-40F0-9639-287DC2851785}"/>
                </a:ext>
              </a:extLst>
            </p:cNvPr>
            <p:cNvGrpSpPr/>
            <p:nvPr/>
          </p:nvGrpSpPr>
          <p:grpSpPr>
            <a:xfrm>
              <a:off x="1025705" y="3459098"/>
              <a:ext cx="1576840" cy="1638300"/>
              <a:chOff x="1025705" y="3459098"/>
              <a:chExt cx="1576840" cy="1638300"/>
            </a:xfrm>
          </p:grpSpPr>
          <p:cxnSp>
            <p:nvCxnSpPr>
              <p:cNvPr id="100" name="直線單箭頭接點 93">
                <a:extLst>
                  <a:ext uri="{FF2B5EF4-FFF2-40B4-BE49-F238E27FC236}">
                    <a16:creationId xmlns:a16="http://schemas.microsoft.com/office/drawing/2014/main" id="{2003F911-9CA2-415C-B93A-5C43405E1DE6}"/>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94">
                <a:extLst>
                  <a:ext uri="{FF2B5EF4-FFF2-40B4-BE49-F238E27FC236}">
                    <a16:creationId xmlns:a16="http://schemas.microsoft.com/office/drawing/2014/main" id="{2A3231F7-7891-42A5-83C6-34D2271CD63D}"/>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95">
                <a:extLst>
                  <a:ext uri="{FF2B5EF4-FFF2-40B4-BE49-F238E27FC236}">
                    <a16:creationId xmlns:a16="http://schemas.microsoft.com/office/drawing/2014/main" id="{16731FC2-829F-4D98-99DD-9E047F3DF077}"/>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03" name="手繪多邊形 103">
            <a:extLst>
              <a:ext uri="{FF2B5EF4-FFF2-40B4-BE49-F238E27FC236}">
                <a16:creationId xmlns:a16="http://schemas.microsoft.com/office/drawing/2014/main" id="{FB2055D0-2AEC-4BBC-9DB0-5B38AEC86F15}"/>
              </a:ext>
            </a:extLst>
          </p:cNvPr>
          <p:cNvSpPr/>
          <p:nvPr/>
        </p:nvSpPr>
        <p:spPr>
          <a:xfrm>
            <a:off x="4176427" y="3791911"/>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04" name="手繪多邊形 105">
            <a:extLst>
              <a:ext uri="{FF2B5EF4-FFF2-40B4-BE49-F238E27FC236}">
                <a16:creationId xmlns:a16="http://schemas.microsoft.com/office/drawing/2014/main" id="{F5805EC9-C607-418E-B0CC-5C159987651A}"/>
              </a:ext>
            </a:extLst>
          </p:cNvPr>
          <p:cNvSpPr/>
          <p:nvPr/>
        </p:nvSpPr>
        <p:spPr>
          <a:xfrm>
            <a:off x="4157817" y="220247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05" name="手繪多邊形 106">
            <a:extLst>
              <a:ext uri="{FF2B5EF4-FFF2-40B4-BE49-F238E27FC236}">
                <a16:creationId xmlns:a16="http://schemas.microsoft.com/office/drawing/2014/main" id="{C0EAAE26-6A5E-4893-BE10-40051525B646}"/>
              </a:ext>
            </a:extLst>
          </p:cNvPr>
          <p:cNvSpPr/>
          <p:nvPr/>
        </p:nvSpPr>
        <p:spPr>
          <a:xfrm>
            <a:off x="6386739" y="221365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06" name="手繪多邊形 107">
            <a:extLst>
              <a:ext uri="{FF2B5EF4-FFF2-40B4-BE49-F238E27FC236}">
                <a16:creationId xmlns:a16="http://schemas.microsoft.com/office/drawing/2014/main" id="{EA282E93-E29D-412A-839C-8B0B688176A1}"/>
              </a:ext>
            </a:extLst>
          </p:cNvPr>
          <p:cNvSpPr/>
          <p:nvPr/>
        </p:nvSpPr>
        <p:spPr>
          <a:xfrm>
            <a:off x="6403083" y="373698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07" name="手繪多邊形 108">
            <a:extLst>
              <a:ext uri="{FF2B5EF4-FFF2-40B4-BE49-F238E27FC236}">
                <a16:creationId xmlns:a16="http://schemas.microsoft.com/office/drawing/2014/main" id="{719B519B-2668-410F-82A9-83E0C1977B3F}"/>
              </a:ext>
            </a:extLst>
          </p:cNvPr>
          <p:cNvSpPr/>
          <p:nvPr/>
        </p:nvSpPr>
        <p:spPr>
          <a:xfrm>
            <a:off x="8535680" y="215223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08" name="手繪多邊形 109">
            <a:extLst>
              <a:ext uri="{FF2B5EF4-FFF2-40B4-BE49-F238E27FC236}">
                <a16:creationId xmlns:a16="http://schemas.microsoft.com/office/drawing/2014/main" id="{0520B23A-30CF-4A47-8085-96ED894EC447}"/>
              </a:ext>
            </a:extLst>
          </p:cNvPr>
          <p:cNvSpPr/>
          <p:nvPr/>
        </p:nvSpPr>
        <p:spPr>
          <a:xfrm>
            <a:off x="8582767" y="377041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09" name="文字方塊 112">
            <a:extLst>
              <a:ext uri="{FF2B5EF4-FFF2-40B4-BE49-F238E27FC236}">
                <a16:creationId xmlns:a16="http://schemas.microsoft.com/office/drawing/2014/main" id="{9BBB8F74-0D46-412D-A315-2C50F8E8A513}"/>
              </a:ext>
            </a:extLst>
          </p:cNvPr>
          <p:cNvSpPr txBox="1"/>
          <p:nvPr/>
        </p:nvSpPr>
        <p:spPr>
          <a:xfrm>
            <a:off x="3104119" y="1915269"/>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110" name="文字方塊 113">
            <a:extLst>
              <a:ext uri="{FF2B5EF4-FFF2-40B4-BE49-F238E27FC236}">
                <a16:creationId xmlns:a16="http://schemas.microsoft.com/office/drawing/2014/main" id="{6F77FCA4-0C5D-4336-BB55-7715EC58CEB6}"/>
              </a:ext>
            </a:extLst>
          </p:cNvPr>
          <p:cNvSpPr txBox="1"/>
          <p:nvPr/>
        </p:nvSpPr>
        <p:spPr>
          <a:xfrm>
            <a:off x="3271210" y="2503586"/>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111" name="文字方塊 114">
            <a:extLst>
              <a:ext uri="{FF2B5EF4-FFF2-40B4-BE49-F238E27FC236}">
                <a16:creationId xmlns:a16="http://schemas.microsoft.com/office/drawing/2014/main" id="{562A15F8-03C1-43F2-829F-3FBEBF13EAE6}"/>
              </a:ext>
            </a:extLst>
          </p:cNvPr>
          <p:cNvSpPr txBox="1"/>
          <p:nvPr/>
        </p:nvSpPr>
        <p:spPr>
          <a:xfrm>
            <a:off x="2968914" y="4020716"/>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112" name="文字方塊 115">
            <a:extLst>
              <a:ext uri="{FF2B5EF4-FFF2-40B4-BE49-F238E27FC236}">
                <a16:creationId xmlns:a16="http://schemas.microsoft.com/office/drawing/2014/main" id="{2ACAD1D2-D897-4021-A03E-8AF4EA06B926}"/>
              </a:ext>
            </a:extLst>
          </p:cNvPr>
          <p:cNvSpPr txBox="1"/>
          <p:nvPr/>
        </p:nvSpPr>
        <p:spPr>
          <a:xfrm>
            <a:off x="3121193" y="3450404"/>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grpSp>
        <p:nvGrpSpPr>
          <p:cNvPr id="113" name="群組 122">
            <a:extLst>
              <a:ext uri="{FF2B5EF4-FFF2-40B4-BE49-F238E27FC236}">
                <a16:creationId xmlns:a16="http://schemas.microsoft.com/office/drawing/2014/main" id="{CECAB88A-C965-4986-A1ED-0556FD3A6040}"/>
              </a:ext>
            </a:extLst>
          </p:cNvPr>
          <p:cNvGrpSpPr/>
          <p:nvPr/>
        </p:nvGrpSpPr>
        <p:grpSpPr>
          <a:xfrm>
            <a:off x="3867441" y="2496439"/>
            <a:ext cx="458287" cy="838405"/>
            <a:chOff x="10102194" y="1939763"/>
            <a:chExt cx="458287" cy="838405"/>
          </a:xfrm>
        </p:grpSpPr>
        <p:sp>
          <p:nvSpPr>
            <p:cNvPr id="114" name="矩形 113">
              <a:extLst>
                <a:ext uri="{FF2B5EF4-FFF2-40B4-BE49-F238E27FC236}">
                  <a16:creationId xmlns:a16="http://schemas.microsoft.com/office/drawing/2014/main" id="{6C00D2F5-8968-4E0A-8BCA-FB65DEA4C60F}"/>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15" name="直線單箭頭接點 118">
              <a:extLst>
                <a:ext uri="{FF2B5EF4-FFF2-40B4-BE49-F238E27FC236}">
                  <a16:creationId xmlns:a16="http://schemas.microsoft.com/office/drawing/2014/main" id="{36DD6398-5BD2-41EF-8199-A7E24FCCB0EA}"/>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文字方塊 119">
              <a:extLst>
                <a:ext uri="{FF2B5EF4-FFF2-40B4-BE49-F238E27FC236}">
                  <a16:creationId xmlns:a16="http://schemas.microsoft.com/office/drawing/2014/main" id="{5A6BE066-502B-4F66-A2F6-91CFEC0F9DCF}"/>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grpSp>
      <p:grpSp>
        <p:nvGrpSpPr>
          <p:cNvPr id="117" name="群組 130">
            <a:extLst>
              <a:ext uri="{FF2B5EF4-FFF2-40B4-BE49-F238E27FC236}">
                <a16:creationId xmlns:a16="http://schemas.microsoft.com/office/drawing/2014/main" id="{0244C49F-E28D-4013-81EA-CEDF35306AEE}"/>
              </a:ext>
            </a:extLst>
          </p:cNvPr>
          <p:cNvGrpSpPr/>
          <p:nvPr/>
        </p:nvGrpSpPr>
        <p:grpSpPr>
          <a:xfrm>
            <a:off x="3876966" y="4045778"/>
            <a:ext cx="458287" cy="838405"/>
            <a:chOff x="10102194" y="1939763"/>
            <a:chExt cx="458287" cy="838405"/>
          </a:xfrm>
        </p:grpSpPr>
        <p:sp>
          <p:nvSpPr>
            <p:cNvPr id="118" name="矩形 117">
              <a:extLst>
                <a:ext uri="{FF2B5EF4-FFF2-40B4-BE49-F238E27FC236}">
                  <a16:creationId xmlns:a16="http://schemas.microsoft.com/office/drawing/2014/main" id="{5FBADC41-8BCB-458F-B4B1-7A04C007920B}"/>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19" name="直線單箭頭接點 132">
              <a:extLst>
                <a:ext uri="{FF2B5EF4-FFF2-40B4-BE49-F238E27FC236}">
                  <a16:creationId xmlns:a16="http://schemas.microsoft.com/office/drawing/2014/main" id="{AAC245FE-0070-4232-8020-FF650906427A}"/>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文字方塊 133">
              <a:extLst>
                <a:ext uri="{FF2B5EF4-FFF2-40B4-BE49-F238E27FC236}">
                  <a16:creationId xmlns:a16="http://schemas.microsoft.com/office/drawing/2014/main" id="{6B3174B3-21E9-4E77-8D86-014DA7CBDFEA}"/>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grpSp>
      <p:sp>
        <p:nvSpPr>
          <p:cNvPr id="121" name="文字方塊 134">
            <a:extLst>
              <a:ext uri="{FF2B5EF4-FFF2-40B4-BE49-F238E27FC236}">
                <a16:creationId xmlns:a16="http://schemas.microsoft.com/office/drawing/2014/main" id="{1B5E4269-C6B9-4B85-A9BE-32E7DE91234C}"/>
              </a:ext>
            </a:extLst>
          </p:cNvPr>
          <p:cNvSpPr txBox="1"/>
          <p:nvPr/>
        </p:nvSpPr>
        <p:spPr>
          <a:xfrm>
            <a:off x="3806724" y="1862949"/>
            <a:ext cx="430062" cy="461665"/>
          </a:xfrm>
          <a:prstGeom prst="rect">
            <a:avLst/>
          </a:prstGeom>
          <a:noFill/>
        </p:spPr>
        <p:txBody>
          <a:bodyPr wrap="square" rtlCol="0">
            <a:spAutoFit/>
          </a:bodyPr>
          <a:lstStyle/>
          <a:p>
            <a:pPr algn="ctr"/>
            <a:r>
              <a:rPr lang="en-US" altLang="zh-TW" sz="2400" dirty="0">
                <a:solidFill>
                  <a:srgbClr val="FF0000"/>
                </a:solidFill>
                <a:latin typeface="Times New Roman" panose="02020603050405020304" charset="0"/>
                <a:cs typeface="Times New Roman" panose="02020603050405020304" charset="0"/>
              </a:rPr>
              <a:t>4</a:t>
            </a:r>
            <a:endParaRPr lang="zh-TW" altLang="en-US" sz="2400" dirty="0">
              <a:solidFill>
                <a:srgbClr val="FF0000"/>
              </a:solidFill>
              <a:latin typeface="Times New Roman" panose="02020603050405020304" charset="0"/>
              <a:cs typeface="Times New Roman" panose="02020603050405020304" charset="0"/>
            </a:endParaRPr>
          </a:p>
        </p:txBody>
      </p:sp>
      <p:sp>
        <p:nvSpPr>
          <p:cNvPr id="122" name="文字方塊 135">
            <a:extLst>
              <a:ext uri="{FF2B5EF4-FFF2-40B4-BE49-F238E27FC236}">
                <a16:creationId xmlns:a16="http://schemas.microsoft.com/office/drawing/2014/main" id="{222EBEFC-202C-4C21-9684-EF373E534856}"/>
              </a:ext>
            </a:extLst>
          </p:cNvPr>
          <p:cNvSpPr txBox="1"/>
          <p:nvPr/>
        </p:nvSpPr>
        <p:spPr>
          <a:xfrm>
            <a:off x="3692686" y="3466816"/>
            <a:ext cx="682714" cy="461665"/>
          </a:xfrm>
          <a:prstGeom prst="rect">
            <a:avLst/>
          </a:prstGeom>
          <a:noFill/>
        </p:spPr>
        <p:txBody>
          <a:bodyPr wrap="square" rtlCol="0">
            <a:spAutoFit/>
          </a:bodyPr>
          <a:lstStyle/>
          <a:p>
            <a:pPr algn="ctr"/>
            <a:r>
              <a:rPr lang="en-US" altLang="zh-TW" sz="2400" dirty="0">
                <a:solidFill>
                  <a:srgbClr val="FF0000"/>
                </a:solidFill>
                <a:latin typeface="Times New Roman" panose="02020603050405020304" charset="0"/>
                <a:cs typeface="Times New Roman" panose="02020603050405020304" charset="0"/>
              </a:rPr>
              <a:t>-2</a:t>
            </a:r>
            <a:endParaRPr lang="zh-TW" altLang="en-US" sz="2400" dirty="0">
              <a:solidFill>
                <a:srgbClr val="FF0000"/>
              </a:solidFill>
              <a:latin typeface="Times New Roman" panose="02020603050405020304" charset="0"/>
              <a:cs typeface="Times New Roman" panose="02020603050405020304" charset="0"/>
            </a:endParaRPr>
          </a:p>
        </p:txBody>
      </p:sp>
      <p:sp>
        <p:nvSpPr>
          <p:cNvPr id="123" name="文字方塊 137">
            <a:extLst>
              <a:ext uri="{FF2B5EF4-FFF2-40B4-BE49-F238E27FC236}">
                <a16:creationId xmlns:a16="http://schemas.microsoft.com/office/drawing/2014/main" id="{D2752FBE-9CA2-4FA8-95F8-DA3842F8340D}"/>
              </a:ext>
            </a:extLst>
          </p:cNvPr>
          <p:cNvSpPr txBox="1"/>
          <p:nvPr/>
        </p:nvSpPr>
        <p:spPr>
          <a:xfrm>
            <a:off x="4505340" y="1824017"/>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0.98</a:t>
            </a:r>
            <a:endParaRPr lang="zh-TW" altLang="en-US" sz="2400" dirty="0">
              <a:solidFill>
                <a:srgbClr val="0000FF"/>
              </a:solidFill>
              <a:latin typeface="Times New Roman" panose="02020603050405020304" charset="0"/>
              <a:cs typeface="Times New Roman" panose="02020603050405020304" charset="0"/>
            </a:endParaRPr>
          </a:p>
        </p:txBody>
      </p:sp>
      <p:sp>
        <p:nvSpPr>
          <p:cNvPr id="124" name="文字方塊 138">
            <a:extLst>
              <a:ext uri="{FF2B5EF4-FFF2-40B4-BE49-F238E27FC236}">
                <a16:creationId xmlns:a16="http://schemas.microsoft.com/office/drawing/2014/main" id="{FEB18F3C-23C9-4CF7-BFC2-BF3079F7448B}"/>
              </a:ext>
            </a:extLst>
          </p:cNvPr>
          <p:cNvSpPr txBox="1"/>
          <p:nvPr/>
        </p:nvSpPr>
        <p:spPr>
          <a:xfrm>
            <a:off x="4527659" y="3429548"/>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0.12</a:t>
            </a:r>
            <a:endParaRPr lang="zh-TW" altLang="en-US" sz="2400" dirty="0">
              <a:solidFill>
                <a:srgbClr val="0000FF"/>
              </a:solidFill>
              <a:latin typeface="Times New Roman" panose="02020603050405020304" charset="0"/>
              <a:cs typeface="Times New Roman" panose="02020603050405020304" charset="0"/>
            </a:endParaRPr>
          </a:p>
        </p:txBody>
      </p:sp>
      <p:sp>
        <p:nvSpPr>
          <p:cNvPr id="125" name="文字方塊 139">
            <a:extLst>
              <a:ext uri="{FF2B5EF4-FFF2-40B4-BE49-F238E27FC236}">
                <a16:creationId xmlns:a16="http://schemas.microsoft.com/office/drawing/2014/main" id="{DF466AFD-34BB-4DFE-9A3A-EB5127FC095F}"/>
              </a:ext>
            </a:extLst>
          </p:cNvPr>
          <p:cNvSpPr txBox="1"/>
          <p:nvPr/>
        </p:nvSpPr>
        <p:spPr>
          <a:xfrm>
            <a:off x="5349527" y="1894413"/>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126" name="文字方塊 140">
            <a:extLst>
              <a:ext uri="{FF2B5EF4-FFF2-40B4-BE49-F238E27FC236}">
                <a16:creationId xmlns:a16="http://schemas.microsoft.com/office/drawing/2014/main" id="{31B376DB-4321-45C2-97F5-5DB926EA1A69}"/>
              </a:ext>
            </a:extLst>
          </p:cNvPr>
          <p:cNvSpPr txBox="1"/>
          <p:nvPr/>
        </p:nvSpPr>
        <p:spPr>
          <a:xfrm>
            <a:off x="5516618" y="2482730"/>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127" name="文字方塊 141">
            <a:extLst>
              <a:ext uri="{FF2B5EF4-FFF2-40B4-BE49-F238E27FC236}">
                <a16:creationId xmlns:a16="http://schemas.microsoft.com/office/drawing/2014/main" id="{99E9A7E2-D05E-4304-AA19-38B02C3943D2}"/>
              </a:ext>
            </a:extLst>
          </p:cNvPr>
          <p:cNvSpPr txBox="1"/>
          <p:nvPr/>
        </p:nvSpPr>
        <p:spPr>
          <a:xfrm>
            <a:off x="5214322" y="3999860"/>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128" name="文字方塊 142">
            <a:extLst>
              <a:ext uri="{FF2B5EF4-FFF2-40B4-BE49-F238E27FC236}">
                <a16:creationId xmlns:a16="http://schemas.microsoft.com/office/drawing/2014/main" id="{F2214D10-E951-4DC7-A9BA-52CAE465F9B0}"/>
              </a:ext>
            </a:extLst>
          </p:cNvPr>
          <p:cNvSpPr txBox="1"/>
          <p:nvPr/>
        </p:nvSpPr>
        <p:spPr>
          <a:xfrm>
            <a:off x="5366601" y="3429548"/>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129" name="文字方塊 143">
            <a:extLst>
              <a:ext uri="{FF2B5EF4-FFF2-40B4-BE49-F238E27FC236}">
                <a16:creationId xmlns:a16="http://schemas.microsoft.com/office/drawing/2014/main" id="{CA4338B2-F375-42CE-B008-B52BB55BFFF5}"/>
              </a:ext>
            </a:extLst>
          </p:cNvPr>
          <p:cNvSpPr txBox="1"/>
          <p:nvPr/>
        </p:nvSpPr>
        <p:spPr>
          <a:xfrm>
            <a:off x="7522306" y="1895330"/>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3</a:t>
            </a:r>
            <a:endParaRPr lang="zh-TW" altLang="en-US" sz="2400" dirty="0">
              <a:latin typeface="Times New Roman" panose="02020603050405020304" charset="0"/>
              <a:cs typeface="Times New Roman" panose="02020603050405020304" charset="0"/>
            </a:endParaRPr>
          </a:p>
        </p:txBody>
      </p:sp>
      <p:sp>
        <p:nvSpPr>
          <p:cNvPr id="130" name="文字方塊 144">
            <a:extLst>
              <a:ext uri="{FF2B5EF4-FFF2-40B4-BE49-F238E27FC236}">
                <a16:creationId xmlns:a16="http://schemas.microsoft.com/office/drawing/2014/main" id="{60929CD7-E5E2-4659-8989-342C1AD96EB7}"/>
              </a:ext>
            </a:extLst>
          </p:cNvPr>
          <p:cNvSpPr txBox="1"/>
          <p:nvPr/>
        </p:nvSpPr>
        <p:spPr>
          <a:xfrm>
            <a:off x="7689397" y="2483647"/>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131" name="文字方塊 145">
            <a:extLst>
              <a:ext uri="{FF2B5EF4-FFF2-40B4-BE49-F238E27FC236}">
                <a16:creationId xmlns:a16="http://schemas.microsoft.com/office/drawing/2014/main" id="{1EC19DF4-02E1-4200-97FB-741322FC0D2D}"/>
              </a:ext>
            </a:extLst>
          </p:cNvPr>
          <p:cNvSpPr txBox="1"/>
          <p:nvPr/>
        </p:nvSpPr>
        <p:spPr>
          <a:xfrm>
            <a:off x="7387101" y="4000777"/>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4</a:t>
            </a:r>
            <a:endParaRPr lang="zh-TW" altLang="en-US" sz="2400" dirty="0">
              <a:latin typeface="Times New Roman" panose="02020603050405020304" charset="0"/>
              <a:cs typeface="Times New Roman" panose="02020603050405020304" charset="0"/>
            </a:endParaRPr>
          </a:p>
        </p:txBody>
      </p:sp>
      <p:sp>
        <p:nvSpPr>
          <p:cNvPr id="132" name="文字方塊 146">
            <a:extLst>
              <a:ext uri="{FF2B5EF4-FFF2-40B4-BE49-F238E27FC236}">
                <a16:creationId xmlns:a16="http://schemas.microsoft.com/office/drawing/2014/main" id="{5CB5910F-62A5-4BD6-A6DB-36316515B2B1}"/>
              </a:ext>
            </a:extLst>
          </p:cNvPr>
          <p:cNvSpPr txBox="1"/>
          <p:nvPr/>
        </p:nvSpPr>
        <p:spPr>
          <a:xfrm>
            <a:off x="7539380" y="3430465"/>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133" name="文字方塊 149">
            <a:extLst>
              <a:ext uri="{FF2B5EF4-FFF2-40B4-BE49-F238E27FC236}">
                <a16:creationId xmlns:a16="http://schemas.microsoft.com/office/drawing/2014/main" id="{1C7ECC7B-917A-43CD-A49D-FC501F26E435}"/>
              </a:ext>
            </a:extLst>
          </p:cNvPr>
          <p:cNvSpPr txBox="1"/>
          <p:nvPr/>
        </p:nvSpPr>
        <p:spPr>
          <a:xfrm>
            <a:off x="6649127" y="1887428"/>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0.86</a:t>
            </a:r>
            <a:endParaRPr lang="zh-TW" altLang="en-US" sz="2400" dirty="0">
              <a:solidFill>
                <a:srgbClr val="0000FF"/>
              </a:solidFill>
              <a:latin typeface="Times New Roman" panose="02020603050405020304" charset="0"/>
              <a:cs typeface="Times New Roman" panose="02020603050405020304" charset="0"/>
            </a:endParaRPr>
          </a:p>
        </p:txBody>
      </p:sp>
      <p:sp>
        <p:nvSpPr>
          <p:cNvPr id="134" name="文字方塊 150">
            <a:extLst>
              <a:ext uri="{FF2B5EF4-FFF2-40B4-BE49-F238E27FC236}">
                <a16:creationId xmlns:a16="http://schemas.microsoft.com/office/drawing/2014/main" id="{6249E46B-BA21-4AF4-B510-5960CFFC961F}"/>
              </a:ext>
            </a:extLst>
          </p:cNvPr>
          <p:cNvSpPr txBox="1"/>
          <p:nvPr/>
        </p:nvSpPr>
        <p:spPr>
          <a:xfrm>
            <a:off x="6671446" y="349295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0.11</a:t>
            </a:r>
            <a:endParaRPr lang="zh-TW" altLang="en-US" sz="2400" dirty="0">
              <a:solidFill>
                <a:srgbClr val="0000FF"/>
              </a:solidFill>
              <a:latin typeface="Times New Roman" panose="02020603050405020304" charset="0"/>
              <a:cs typeface="Times New Roman" panose="02020603050405020304" charset="0"/>
            </a:endParaRPr>
          </a:p>
        </p:txBody>
      </p:sp>
      <p:sp>
        <p:nvSpPr>
          <p:cNvPr id="135" name="文字方塊 153">
            <a:extLst>
              <a:ext uri="{FF2B5EF4-FFF2-40B4-BE49-F238E27FC236}">
                <a16:creationId xmlns:a16="http://schemas.microsoft.com/office/drawing/2014/main" id="{A54A6150-291B-4AA1-AF5E-AED20B24A697}"/>
              </a:ext>
            </a:extLst>
          </p:cNvPr>
          <p:cNvSpPr txBox="1"/>
          <p:nvPr/>
        </p:nvSpPr>
        <p:spPr>
          <a:xfrm>
            <a:off x="8902062" y="184818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0.62</a:t>
            </a:r>
            <a:endParaRPr lang="zh-TW" altLang="en-US" sz="2400" dirty="0">
              <a:solidFill>
                <a:srgbClr val="0000FF"/>
              </a:solidFill>
              <a:latin typeface="Times New Roman" panose="02020603050405020304" charset="0"/>
              <a:cs typeface="Times New Roman" panose="02020603050405020304" charset="0"/>
            </a:endParaRPr>
          </a:p>
        </p:txBody>
      </p:sp>
      <p:sp>
        <p:nvSpPr>
          <p:cNvPr id="136" name="文字方塊 154">
            <a:extLst>
              <a:ext uri="{FF2B5EF4-FFF2-40B4-BE49-F238E27FC236}">
                <a16:creationId xmlns:a16="http://schemas.microsoft.com/office/drawing/2014/main" id="{15A5FA5E-F530-41E0-9CF9-EB4568745A24}"/>
              </a:ext>
            </a:extLst>
          </p:cNvPr>
          <p:cNvSpPr txBox="1"/>
          <p:nvPr/>
        </p:nvSpPr>
        <p:spPr>
          <a:xfrm>
            <a:off x="8924381" y="3453720"/>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0.83</a:t>
            </a:r>
            <a:endParaRPr lang="zh-TW" altLang="en-US" sz="2400" dirty="0">
              <a:solidFill>
                <a:srgbClr val="0000FF"/>
              </a:solidFill>
              <a:latin typeface="Times New Roman" panose="02020603050405020304" charset="0"/>
              <a:cs typeface="Times New Roman" panose="02020603050405020304" charset="0"/>
            </a:endParaRPr>
          </a:p>
        </p:txBody>
      </p:sp>
      <p:grpSp>
        <p:nvGrpSpPr>
          <p:cNvPr id="137" name="群組 96">
            <a:extLst>
              <a:ext uri="{FF2B5EF4-FFF2-40B4-BE49-F238E27FC236}">
                <a16:creationId xmlns:a16="http://schemas.microsoft.com/office/drawing/2014/main" id="{AC1ED046-6C60-46A4-8EC8-6B94251D02DF}"/>
              </a:ext>
            </a:extLst>
          </p:cNvPr>
          <p:cNvGrpSpPr/>
          <p:nvPr/>
        </p:nvGrpSpPr>
        <p:grpSpPr>
          <a:xfrm>
            <a:off x="6070085" y="2484324"/>
            <a:ext cx="458287" cy="838405"/>
            <a:chOff x="10102194" y="1939763"/>
            <a:chExt cx="458287" cy="838405"/>
          </a:xfrm>
        </p:grpSpPr>
        <p:sp>
          <p:nvSpPr>
            <p:cNvPr id="138" name="矩形 137">
              <a:extLst>
                <a:ext uri="{FF2B5EF4-FFF2-40B4-BE49-F238E27FC236}">
                  <a16:creationId xmlns:a16="http://schemas.microsoft.com/office/drawing/2014/main" id="{42124EF2-D03B-4FC9-915F-DB273862ED47}"/>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39" name="直線單箭頭接點 98">
              <a:extLst>
                <a:ext uri="{FF2B5EF4-FFF2-40B4-BE49-F238E27FC236}">
                  <a16:creationId xmlns:a16="http://schemas.microsoft.com/office/drawing/2014/main" id="{E91D141A-6A20-466A-BE4E-428393E81CDA}"/>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0" name="文字方塊 101">
              <a:extLst>
                <a:ext uri="{FF2B5EF4-FFF2-40B4-BE49-F238E27FC236}">
                  <a16:creationId xmlns:a16="http://schemas.microsoft.com/office/drawing/2014/main" id="{3EF46CA0-4760-4E7D-AF0C-3C962600B050}"/>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grpSp>
      <p:grpSp>
        <p:nvGrpSpPr>
          <p:cNvPr id="141" name="群組 104">
            <a:extLst>
              <a:ext uri="{FF2B5EF4-FFF2-40B4-BE49-F238E27FC236}">
                <a16:creationId xmlns:a16="http://schemas.microsoft.com/office/drawing/2014/main" id="{47D87C2C-8851-418D-9A84-AFB2974E6F50}"/>
              </a:ext>
            </a:extLst>
          </p:cNvPr>
          <p:cNvGrpSpPr/>
          <p:nvPr/>
        </p:nvGrpSpPr>
        <p:grpSpPr>
          <a:xfrm>
            <a:off x="6072463" y="4008647"/>
            <a:ext cx="458287" cy="838405"/>
            <a:chOff x="10102194" y="1939763"/>
            <a:chExt cx="458287" cy="838405"/>
          </a:xfrm>
        </p:grpSpPr>
        <p:sp>
          <p:nvSpPr>
            <p:cNvPr id="142" name="矩形 141">
              <a:extLst>
                <a:ext uri="{FF2B5EF4-FFF2-40B4-BE49-F238E27FC236}">
                  <a16:creationId xmlns:a16="http://schemas.microsoft.com/office/drawing/2014/main" id="{FBAC735C-5CA1-42CD-ABBF-4FA1B30D48E4}"/>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43" name="直線單箭頭接點 121">
              <a:extLst>
                <a:ext uri="{FF2B5EF4-FFF2-40B4-BE49-F238E27FC236}">
                  <a16:creationId xmlns:a16="http://schemas.microsoft.com/office/drawing/2014/main" id="{0A380D74-38DE-4C86-BD53-A6CAB91569EB}"/>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4" name="文字方塊 123">
              <a:extLst>
                <a:ext uri="{FF2B5EF4-FFF2-40B4-BE49-F238E27FC236}">
                  <a16:creationId xmlns:a16="http://schemas.microsoft.com/office/drawing/2014/main" id="{119AFEC5-D379-4E12-B5AA-D60D18453633}"/>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grpSp>
      <p:grpSp>
        <p:nvGrpSpPr>
          <p:cNvPr id="145" name="群組 124">
            <a:extLst>
              <a:ext uri="{FF2B5EF4-FFF2-40B4-BE49-F238E27FC236}">
                <a16:creationId xmlns:a16="http://schemas.microsoft.com/office/drawing/2014/main" id="{BD40B53B-2C88-4920-9FD3-9C7CC36670CC}"/>
              </a:ext>
            </a:extLst>
          </p:cNvPr>
          <p:cNvGrpSpPr/>
          <p:nvPr/>
        </p:nvGrpSpPr>
        <p:grpSpPr>
          <a:xfrm>
            <a:off x="8248325" y="2479132"/>
            <a:ext cx="458287" cy="838405"/>
            <a:chOff x="10102194" y="1939763"/>
            <a:chExt cx="458287" cy="838405"/>
          </a:xfrm>
        </p:grpSpPr>
        <p:sp>
          <p:nvSpPr>
            <p:cNvPr id="146" name="矩形 145">
              <a:extLst>
                <a:ext uri="{FF2B5EF4-FFF2-40B4-BE49-F238E27FC236}">
                  <a16:creationId xmlns:a16="http://schemas.microsoft.com/office/drawing/2014/main" id="{25754960-B368-4FAF-8FF5-082A0305764A}"/>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47" name="直線單箭頭接點 126">
              <a:extLst>
                <a:ext uri="{FF2B5EF4-FFF2-40B4-BE49-F238E27FC236}">
                  <a16:creationId xmlns:a16="http://schemas.microsoft.com/office/drawing/2014/main" id="{889EB9AE-8949-4BC6-83E7-E5573242412A}"/>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文字方塊 127">
              <a:extLst>
                <a:ext uri="{FF2B5EF4-FFF2-40B4-BE49-F238E27FC236}">
                  <a16:creationId xmlns:a16="http://schemas.microsoft.com/office/drawing/2014/main" id="{4405D3F0-029F-4C4A-B881-816BDB4CD253}"/>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grpSp>
      <p:grpSp>
        <p:nvGrpSpPr>
          <p:cNvPr id="149" name="群組 128">
            <a:extLst>
              <a:ext uri="{FF2B5EF4-FFF2-40B4-BE49-F238E27FC236}">
                <a16:creationId xmlns:a16="http://schemas.microsoft.com/office/drawing/2014/main" id="{DC0232C8-E4ED-4085-B854-3C032CC54AC7}"/>
              </a:ext>
            </a:extLst>
          </p:cNvPr>
          <p:cNvGrpSpPr/>
          <p:nvPr/>
        </p:nvGrpSpPr>
        <p:grpSpPr>
          <a:xfrm>
            <a:off x="8302405" y="4035968"/>
            <a:ext cx="458287" cy="838405"/>
            <a:chOff x="10102194" y="1939763"/>
            <a:chExt cx="458287" cy="838405"/>
          </a:xfrm>
        </p:grpSpPr>
        <p:sp>
          <p:nvSpPr>
            <p:cNvPr id="150" name="矩形 149">
              <a:extLst>
                <a:ext uri="{FF2B5EF4-FFF2-40B4-BE49-F238E27FC236}">
                  <a16:creationId xmlns:a16="http://schemas.microsoft.com/office/drawing/2014/main" id="{1DD9041C-AD18-4FD6-9AF5-524793FFE2C7}"/>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51" name="直線單箭頭接點 147">
              <a:extLst>
                <a:ext uri="{FF2B5EF4-FFF2-40B4-BE49-F238E27FC236}">
                  <a16:creationId xmlns:a16="http://schemas.microsoft.com/office/drawing/2014/main" id="{CDE70256-91D8-497C-89FB-099012530A5B}"/>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文字方塊 148">
              <a:extLst>
                <a:ext uri="{FF2B5EF4-FFF2-40B4-BE49-F238E27FC236}">
                  <a16:creationId xmlns:a16="http://schemas.microsoft.com/office/drawing/2014/main" id="{DCBDA00E-CA18-4AA6-B6AC-F9137691C07E}"/>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grpSp>
      <p:sp>
        <p:nvSpPr>
          <p:cNvPr id="153" name="矩形 152">
            <a:extLst>
              <a:ext uri="{FF2B5EF4-FFF2-40B4-BE49-F238E27FC236}">
                <a16:creationId xmlns:a16="http://schemas.microsoft.com/office/drawing/2014/main" id="{7024A5BD-86B2-4AF3-B4AC-9C7DDD8E881D}"/>
              </a:ext>
            </a:extLst>
          </p:cNvPr>
          <p:cNvSpPr/>
          <p:nvPr/>
        </p:nvSpPr>
        <p:spPr>
          <a:xfrm>
            <a:off x="2145083" y="221365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54" name="矩形 153">
            <a:extLst>
              <a:ext uri="{FF2B5EF4-FFF2-40B4-BE49-F238E27FC236}">
                <a16:creationId xmlns:a16="http://schemas.microsoft.com/office/drawing/2014/main" id="{7E94ABD5-6380-475C-99CE-A12E390A4C65}"/>
              </a:ext>
            </a:extLst>
          </p:cNvPr>
          <p:cNvSpPr/>
          <p:nvPr/>
        </p:nvSpPr>
        <p:spPr>
          <a:xfrm>
            <a:off x="2113840" y="385542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55" name="文字方塊 151">
            <a:extLst>
              <a:ext uri="{FF2B5EF4-FFF2-40B4-BE49-F238E27FC236}">
                <a16:creationId xmlns:a16="http://schemas.microsoft.com/office/drawing/2014/main" id="{DB213BE8-D7FC-4B5B-A05B-3E0B171D5B7D}"/>
              </a:ext>
            </a:extLst>
          </p:cNvPr>
          <p:cNvSpPr txBox="1"/>
          <p:nvPr/>
        </p:nvSpPr>
        <p:spPr>
          <a:xfrm>
            <a:off x="2157251" y="2200198"/>
            <a:ext cx="342900"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1</a:t>
            </a:r>
            <a:endParaRPr lang="zh-TW" altLang="en-US" sz="2400" dirty="0">
              <a:solidFill>
                <a:srgbClr val="0000FF"/>
              </a:solidFill>
              <a:latin typeface="Times New Roman" panose="02020603050405020304" charset="0"/>
              <a:cs typeface="Times New Roman" panose="02020603050405020304" charset="0"/>
            </a:endParaRPr>
          </a:p>
        </p:txBody>
      </p:sp>
      <p:sp>
        <p:nvSpPr>
          <p:cNvPr id="156" name="文字方塊 152">
            <a:extLst>
              <a:ext uri="{FF2B5EF4-FFF2-40B4-BE49-F238E27FC236}">
                <a16:creationId xmlns:a16="http://schemas.microsoft.com/office/drawing/2014/main" id="{F5C19819-3D47-4F3E-BF0F-3D9BF2F36016}"/>
              </a:ext>
            </a:extLst>
          </p:cNvPr>
          <p:cNvSpPr txBox="1"/>
          <p:nvPr/>
        </p:nvSpPr>
        <p:spPr>
          <a:xfrm>
            <a:off x="2051467" y="3799629"/>
            <a:ext cx="488741"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-1</a:t>
            </a:r>
            <a:endParaRPr lang="zh-TW" altLang="en-US" sz="2400" dirty="0">
              <a:solidFill>
                <a:srgbClr val="0000FF"/>
              </a:solidFill>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157" name="文本框 156">
                <a:extLst>
                  <a:ext uri="{FF2B5EF4-FFF2-40B4-BE49-F238E27FC236}">
                    <a16:creationId xmlns:a16="http://schemas.microsoft.com/office/drawing/2014/main" id="{D905D8D3-93E1-4DC4-9DB1-69871FFDA126}"/>
                  </a:ext>
                </a:extLst>
              </p:cNvPr>
              <p:cNvSpPr txBox="1"/>
              <p:nvPr/>
            </p:nvSpPr>
            <p:spPr>
              <a:xfrm>
                <a:off x="-692487" y="4830349"/>
                <a:ext cx="6108700" cy="8597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2400" i="1" smtClean="0">
                              <a:solidFill>
                                <a:prstClr val="black"/>
                              </a:solidFill>
                              <a:latin typeface="Cambria Math" panose="02040503050406030204" pitchFamily="18" charset="0"/>
                            </a:rPr>
                          </m:ctrlPr>
                        </m:sSubSupPr>
                        <m:e>
                          <m:r>
                            <a:rPr kumimoji="1" lang="en-US" altLang="zh-CN" sz="2400" b="0" i="1" smtClean="0">
                              <a:solidFill>
                                <a:prstClr val="black"/>
                              </a:solidFill>
                              <a:latin typeface="Cambria Math" panose="02040503050406030204" pitchFamily="18" charset="0"/>
                            </a:rPr>
                            <m:t>𝑧</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r>
                        <a:rPr kumimoji="1" lang="en-US" altLang="zh-CN" sz="2400" i="1">
                          <a:solidFill>
                            <a:prstClr val="black"/>
                          </a:solidFill>
                          <a:latin typeface="Cambria Math" panose="02040503050406030204" pitchFamily="18" charset="0"/>
                        </a:rPr>
                        <m:t>=</m:t>
                      </m:r>
                      <m:nary>
                        <m:naryPr>
                          <m:chr m:val="∑"/>
                          <m:limLoc m:val="subSup"/>
                          <m:ctrlPr>
                            <a:rPr kumimoji="1" lang="en-US" altLang="zh-CN" sz="2400" i="1">
                              <a:solidFill>
                                <a:prstClr val="black"/>
                              </a:solidFill>
                              <a:latin typeface="Cambria Math" panose="02040503050406030204" pitchFamily="18" charset="0"/>
                            </a:rPr>
                          </m:ctrlPr>
                        </m:naryPr>
                        <m:sub>
                          <m:r>
                            <m:rPr>
                              <m:brk m:alnAt="25"/>
                            </m:rPr>
                            <a:rPr kumimoji="1" lang="en-US" altLang="zh-CN" sz="2400" i="1">
                              <a:solidFill>
                                <a:prstClr val="black"/>
                              </a:solidFill>
                              <a:latin typeface="Cambria Math" panose="02040503050406030204" pitchFamily="18" charset="0"/>
                            </a:rPr>
                            <m:t>𝑗</m:t>
                          </m:r>
                          <m:r>
                            <a:rPr kumimoji="1" lang="en-US" altLang="zh-CN" sz="2400" i="1">
                              <a:solidFill>
                                <a:prstClr val="black"/>
                              </a:solidFill>
                              <a:latin typeface="Cambria Math" panose="02040503050406030204" pitchFamily="18" charset="0"/>
                            </a:rPr>
                            <m:t>=1</m:t>
                          </m:r>
                        </m:sub>
                        <m:sup>
                          <m:sSub>
                            <m:sSubPr>
                              <m:ctrlPr>
                                <a:rPr kumimoji="1" lang="en-US" altLang="zh-CN" sz="2400" i="1">
                                  <a:solidFill>
                                    <a:prstClr val="black"/>
                                  </a:solidFill>
                                  <a:latin typeface="Cambria Math" panose="02040503050406030204" pitchFamily="18" charset="0"/>
                                </a:rPr>
                              </m:ctrlPr>
                            </m:sSubPr>
                            <m:e>
                              <m:r>
                                <a:rPr kumimoji="1" lang="en-US" altLang="zh-CN" sz="2400" i="1">
                                  <a:solidFill>
                                    <a:prstClr val="black"/>
                                  </a:solidFill>
                                  <a:latin typeface="Cambria Math" panose="02040503050406030204" pitchFamily="18" charset="0"/>
                                </a:rPr>
                                <m:t>𝑛</m:t>
                              </m:r>
                            </m:e>
                            <m:sub>
                              <m:r>
                                <a:rPr kumimoji="1" lang="en-US" altLang="zh-CN" sz="2400" i="1">
                                  <a:solidFill>
                                    <a:prstClr val="black"/>
                                  </a:solidFill>
                                  <a:latin typeface="Cambria Math" panose="02040503050406030204" pitchFamily="18" charset="0"/>
                                </a:rPr>
                                <m:t>ℓ−1</m:t>
                              </m:r>
                            </m:sub>
                          </m:sSub>
                        </m:sup>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𝑤</m:t>
                              </m:r>
                            </m:e>
                            <m:sub>
                              <m:r>
                                <a:rPr kumimoji="1" lang="en-US" altLang="zh-CN" sz="2400" b="0" i="1" smtClean="0">
                                  <a:solidFill>
                                    <a:prstClr val="black"/>
                                  </a:solidFill>
                                  <a:latin typeface="Cambria Math" panose="02040503050406030204" pitchFamily="18" charset="0"/>
                                </a:rPr>
                                <m:t>𝑘</m:t>
                              </m:r>
                              <m:r>
                                <a:rPr kumimoji="1" lang="en-US" altLang="zh-CN" sz="2400" b="0" i="1" smtClean="0">
                                  <a:solidFill>
                                    <a:prstClr val="black"/>
                                  </a:solidFill>
                                  <a:latin typeface="Cambria Math" panose="02040503050406030204" pitchFamily="18" charset="0"/>
                                </a:rPr>
                                <m:t>,</m:t>
                              </m:r>
                              <m:r>
                                <a:rPr kumimoji="1" lang="en-US" altLang="zh-CN" sz="2400" i="1">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𝑥</m:t>
                              </m:r>
                            </m:e>
                            <m:sub>
                              <m:r>
                                <a:rPr kumimoji="1" lang="en-US" altLang="zh-CN" sz="2400" i="1">
                                  <a:solidFill>
                                    <a:prstClr val="black"/>
                                  </a:solidFill>
                                  <a:latin typeface="Cambria Math" panose="02040503050406030204" pitchFamily="18" charset="0"/>
                                </a:rPr>
                                <m:t>𝑗</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ℓ−1</m:t>
                                  </m:r>
                                </m:e>
                              </m:d>
                            </m:sup>
                          </m:sSubSup>
                        </m:e>
                      </m:nary>
                      <m:r>
                        <a:rPr kumimoji="1" lang="en-US" altLang="zh-CN" sz="2400" i="1">
                          <a:solidFill>
                            <a:prstClr val="black"/>
                          </a:solidFill>
                          <a:latin typeface="Cambria Math" panose="02040503050406030204" pitchFamily="18" charset="0"/>
                        </a:rPr>
                        <m:t>+</m:t>
                      </m:r>
                      <m:sSup>
                        <m:sSupPr>
                          <m:ctrlPr>
                            <a:rPr kumimoji="1" lang="en-US" altLang="zh-CN" sz="2400" i="1">
                              <a:solidFill>
                                <a:prstClr val="black"/>
                              </a:solidFill>
                              <a:latin typeface="Cambria Math" panose="02040503050406030204" pitchFamily="18" charset="0"/>
                            </a:rPr>
                          </m:ctrlPr>
                        </m:sSupPr>
                        <m:e>
                          <m:r>
                            <a:rPr kumimoji="1" lang="en-US" altLang="zh-CN" sz="2400" i="1">
                              <a:solidFill>
                                <a:prstClr val="black"/>
                              </a:solidFill>
                              <a:latin typeface="Cambria Math" panose="02040503050406030204" pitchFamily="18" charset="0"/>
                            </a:rPr>
                            <m:t>𝑏</m:t>
                          </m:r>
                        </m:e>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p>
                    </m:oMath>
                  </m:oMathPara>
                </a14:m>
                <a:endParaRPr kumimoji="1" lang="zh-CN" altLang="en-US" sz="2400" i="1" dirty="0">
                  <a:solidFill>
                    <a:prstClr val="black"/>
                  </a:solidFill>
                  <a:latin typeface="Cambria Math" panose="02040503050406030204" pitchFamily="18" charset="0"/>
                </a:endParaRPr>
              </a:p>
            </p:txBody>
          </p:sp>
        </mc:Choice>
        <mc:Fallback xmlns="">
          <p:sp>
            <p:nvSpPr>
              <p:cNvPr id="157" name="文本框 156">
                <a:extLst>
                  <a:ext uri="{FF2B5EF4-FFF2-40B4-BE49-F238E27FC236}">
                    <a16:creationId xmlns:a16="http://schemas.microsoft.com/office/drawing/2014/main" id="{D905D8D3-93E1-4DC4-9DB1-69871FFDA126}"/>
                  </a:ext>
                </a:extLst>
              </p:cNvPr>
              <p:cNvSpPr txBox="1">
                <a:spLocks noRot="1" noChangeAspect="1" noMove="1" noResize="1" noEditPoints="1" noAdjustHandles="1" noChangeArrowheads="1" noChangeShapeType="1" noTextEdit="1"/>
              </p:cNvSpPr>
              <p:nvPr/>
            </p:nvSpPr>
            <p:spPr>
              <a:xfrm>
                <a:off x="-692487" y="4830349"/>
                <a:ext cx="6108700" cy="85978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4BC36F8C-E20D-4C10-B5B8-B43239205C98}"/>
                  </a:ext>
                </a:extLst>
              </p:cNvPr>
              <p:cNvSpPr txBox="1"/>
              <p:nvPr/>
            </p:nvSpPr>
            <p:spPr>
              <a:xfrm>
                <a:off x="-749240" y="5816861"/>
                <a:ext cx="6108700" cy="6450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sz="2400" i="1" smtClean="0">
                              <a:solidFill>
                                <a:prstClr val="black"/>
                              </a:solidFill>
                              <a:latin typeface="Cambria Math" panose="02040503050406030204" pitchFamily="18" charset="0"/>
                            </a:rPr>
                          </m:ctrlPr>
                        </m:sSubSupPr>
                        <m:e>
                          <m:r>
                            <a:rPr kumimoji="1" lang="en-US" altLang="zh-CN" sz="2400" b="0" i="1" smtClean="0">
                              <a:solidFill>
                                <a:prstClr val="black"/>
                              </a:solidFill>
                              <a:latin typeface="Cambria Math" panose="02040503050406030204" pitchFamily="18" charset="0"/>
                            </a:rPr>
                            <m:t>𝑥</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r>
                        <a:rPr kumimoji="1" lang="en-US" altLang="zh-CN" sz="2400" i="1">
                          <a:solidFill>
                            <a:prstClr val="black"/>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𝜎</m:t>
                      </m:r>
                      <m:d>
                        <m:dPr>
                          <m:ctrlPr>
                            <a:rPr kumimoji="1" lang="en-US" altLang="zh-CN" sz="2400" i="1">
                              <a:solidFill>
                                <a:srgbClr val="C00000"/>
                              </a:solidFill>
                              <a:latin typeface="Cambria Math" panose="02040503050406030204" pitchFamily="18" charset="0"/>
                            </a:rPr>
                          </m:ctrlPr>
                        </m:dPr>
                        <m:e>
                          <m:sSubSup>
                            <m:sSubSupPr>
                              <m:ctrlPr>
                                <a:rPr kumimoji="1" lang="en-US" altLang="zh-CN" sz="2400" i="1">
                                  <a:solidFill>
                                    <a:prstClr val="black"/>
                                  </a:solidFill>
                                  <a:latin typeface="Cambria Math" panose="02040503050406030204" pitchFamily="18" charset="0"/>
                                </a:rPr>
                              </m:ctrlPr>
                            </m:sSubSupPr>
                            <m:e>
                              <m:r>
                                <a:rPr kumimoji="1" lang="en-US" altLang="zh-CN" sz="2400" i="1">
                                  <a:solidFill>
                                    <a:prstClr val="black"/>
                                  </a:solidFill>
                                  <a:latin typeface="Cambria Math" panose="02040503050406030204" pitchFamily="18" charset="0"/>
                                </a:rPr>
                                <m:t>𝑧</m:t>
                              </m:r>
                            </m:e>
                            <m:sub>
                              <m:r>
                                <a:rPr kumimoji="1" lang="en-US" altLang="zh-CN" sz="2400" i="1">
                                  <a:solidFill>
                                    <a:prstClr val="black"/>
                                  </a:solidFill>
                                  <a:latin typeface="Cambria Math" panose="02040503050406030204" pitchFamily="18" charset="0"/>
                                </a:rPr>
                                <m:t>𝑘</m:t>
                              </m:r>
                            </m:sub>
                            <m:sup>
                              <m:d>
                                <m:dPr>
                                  <m:ctrlPr>
                                    <a:rPr kumimoji="1" lang="en-US" altLang="zh-CN" sz="2400" i="1">
                                      <a:solidFill>
                                        <a:prstClr val="black"/>
                                      </a:solidFill>
                                      <a:latin typeface="Cambria Math" panose="02040503050406030204" pitchFamily="18" charset="0"/>
                                    </a:rPr>
                                  </m:ctrlPr>
                                </m:dPr>
                                <m:e>
                                  <m:r>
                                    <a:rPr kumimoji="1" lang="en-US" altLang="zh-CN" sz="2400" i="1">
                                      <a:solidFill>
                                        <a:prstClr val="black"/>
                                      </a:solidFill>
                                      <a:latin typeface="Cambria Math" panose="02040503050406030204" pitchFamily="18" charset="0"/>
                                    </a:rPr>
                                    <m:t>ℓ</m:t>
                                  </m:r>
                                </m:e>
                              </m:d>
                            </m:sup>
                          </m:sSubSup>
                        </m:e>
                      </m:d>
                    </m:oMath>
                  </m:oMathPara>
                </a14:m>
                <a:endParaRPr lang="zh-CN" altLang="en-US" sz="2400" dirty="0"/>
              </a:p>
            </p:txBody>
          </p:sp>
        </mc:Choice>
        <mc:Fallback xmlns="">
          <p:sp>
            <p:nvSpPr>
              <p:cNvPr id="158" name="文本框 157">
                <a:extLst>
                  <a:ext uri="{FF2B5EF4-FFF2-40B4-BE49-F238E27FC236}">
                    <a16:creationId xmlns:a16="http://schemas.microsoft.com/office/drawing/2014/main" id="{4BC36F8C-E20D-4C10-B5B8-B43239205C98}"/>
                  </a:ext>
                </a:extLst>
              </p:cNvPr>
              <p:cNvSpPr txBox="1">
                <a:spLocks noRot="1" noChangeAspect="1" noMove="1" noResize="1" noEditPoints="1" noAdjustHandles="1" noChangeArrowheads="1" noChangeShapeType="1" noTextEdit="1"/>
              </p:cNvSpPr>
              <p:nvPr/>
            </p:nvSpPr>
            <p:spPr>
              <a:xfrm>
                <a:off x="-749240" y="5816861"/>
                <a:ext cx="6108700" cy="64504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0676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animBg="1"/>
      <p:bldP spid="134" grpId="0" animBg="1"/>
      <p:bldP spid="135" grpId="0" animBg="1"/>
      <p:bldP spid="13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25</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cxnSp>
        <p:nvCxnSpPr>
          <p:cNvPr id="5" name="直線單箭頭接點 12">
            <a:extLst>
              <a:ext uri="{FF2B5EF4-FFF2-40B4-BE49-F238E27FC236}">
                <a16:creationId xmlns:a16="http://schemas.microsoft.com/office/drawing/2014/main" id="{63D2DCAE-B49B-4A40-B39F-0749A4423DB0}"/>
              </a:ext>
            </a:extLst>
          </p:cNvPr>
          <p:cNvCxnSpPr/>
          <p:nvPr/>
        </p:nvCxnSpPr>
        <p:spPr>
          <a:xfrm>
            <a:off x="9130737" y="3419545"/>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14">
            <a:extLst>
              <a:ext uri="{FF2B5EF4-FFF2-40B4-BE49-F238E27FC236}">
                <a16:creationId xmlns:a16="http://schemas.microsoft.com/office/drawing/2014/main" id="{3F50F859-7559-4A89-86B2-33577998B446}"/>
              </a:ext>
            </a:extLst>
          </p:cNvPr>
          <p:cNvCxnSpPr/>
          <p:nvPr/>
        </p:nvCxnSpPr>
        <p:spPr>
          <a:xfrm>
            <a:off x="9130737" y="1759949"/>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橢圓 19">
            <a:extLst>
              <a:ext uri="{FF2B5EF4-FFF2-40B4-BE49-F238E27FC236}">
                <a16:creationId xmlns:a16="http://schemas.microsoft.com/office/drawing/2014/main" id="{1EBB1264-2181-459F-AB44-6A09FBEC1681}"/>
              </a:ext>
            </a:extLst>
          </p:cNvPr>
          <p:cNvSpPr/>
          <p:nvPr/>
        </p:nvSpPr>
        <p:spPr>
          <a:xfrm>
            <a:off x="4234380" y="154907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 name="橢圓 20">
            <a:extLst>
              <a:ext uri="{FF2B5EF4-FFF2-40B4-BE49-F238E27FC236}">
                <a16:creationId xmlns:a16="http://schemas.microsoft.com/office/drawing/2014/main" id="{1F251826-0FC6-433C-B723-AD19294B77EA}"/>
              </a:ext>
            </a:extLst>
          </p:cNvPr>
          <p:cNvSpPr/>
          <p:nvPr/>
        </p:nvSpPr>
        <p:spPr>
          <a:xfrm>
            <a:off x="4223097" y="3096772"/>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9" name="橢圓 26">
            <a:extLst>
              <a:ext uri="{FF2B5EF4-FFF2-40B4-BE49-F238E27FC236}">
                <a16:creationId xmlns:a16="http://schemas.microsoft.com/office/drawing/2014/main" id="{6C36D958-926D-4A3C-9B99-06C87704CD40}"/>
              </a:ext>
            </a:extLst>
          </p:cNvPr>
          <p:cNvSpPr/>
          <p:nvPr/>
        </p:nvSpPr>
        <p:spPr>
          <a:xfrm>
            <a:off x="6437802" y="1518379"/>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0" name="橢圓 27">
            <a:extLst>
              <a:ext uri="{FF2B5EF4-FFF2-40B4-BE49-F238E27FC236}">
                <a16:creationId xmlns:a16="http://schemas.microsoft.com/office/drawing/2014/main" id="{C5B3F560-1000-4AF8-94A1-E5B16F5E83BB}"/>
              </a:ext>
            </a:extLst>
          </p:cNvPr>
          <p:cNvSpPr/>
          <p:nvPr/>
        </p:nvSpPr>
        <p:spPr>
          <a:xfrm>
            <a:off x="6456724" y="309105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1" name="橢圓 30">
            <a:extLst>
              <a:ext uri="{FF2B5EF4-FFF2-40B4-BE49-F238E27FC236}">
                <a16:creationId xmlns:a16="http://schemas.microsoft.com/office/drawing/2014/main" id="{B1CBD2B9-DDC5-421A-935C-953841E3FD97}"/>
              </a:ext>
            </a:extLst>
          </p:cNvPr>
          <p:cNvSpPr/>
          <p:nvPr/>
        </p:nvSpPr>
        <p:spPr>
          <a:xfrm>
            <a:off x="8591495" y="149114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2" name="橢圓 31">
            <a:extLst>
              <a:ext uri="{FF2B5EF4-FFF2-40B4-BE49-F238E27FC236}">
                <a16:creationId xmlns:a16="http://schemas.microsoft.com/office/drawing/2014/main" id="{095D2E53-7A93-4593-BF70-AE33551BB626}"/>
              </a:ext>
            </a:extLst>
          </p:cNvPr>
          <p:cNvSpPr/>
          <p:nvPr/>
        </p:nvSpPr>
        <p:spPr>
          <a:xfrm>
            <a:off x="8633185" y="309105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grpSp>
        <p:nvGrpSpPr>
          <p:cNvPr id="13" name="群組 83">
            <a:extLst>
              <a:ext uri="{FF2B5EF4-FFF2-40B4-BE49-F238E27FC236}">
                <a16:creationId xmlns:a16="http://schemas.microsoft.com/office/drawing/2014/main" id="{6280EDAF-A569-431E-BC55-490663D2B35E}"/>
              </a:ext>
            </a:extLst>
          </p:cNvPr>
          <p:cNvGrpSpPr/>
          <p:nvPr/>
        </p:nvGrpSpPr>
        <p:grpSpPr>
          <a:xfrm>
            <a:off x="2618175" y="1825305"/>
            <a:ext cx="1588876" cy="1638300"/>
            <a:chOff x="1013669" y="3459098"/>
            <a:chExt cx="1588876" cy="1638300"/>
          </a:xfrm>
        </p:grpSpPr>
        <p:cxnSp>
          <p:nvCxnSpPr>
            <p:cNvPr id="14" name="直線單箭頭接點 49">
              <a:extLst>
                <a:ext uri="{FF2B5EF4-FFF2-40B4-BE49-F238E27FC236}">
                  <a16:creationId xmlns:a16="http://schemas.microsoft.com/office/drawing/2014/main" id="{9E3C1866-9995-4E20-BA42-5F55181059D4}"/>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 name="群組 82">
              <a:extLst>
                <a:ext uri="{FF2B5EF4-FFF2-40B4-BE49-F238E27FC236}">
                  <a16:creationId xmlns:a16="http://schemas.microsoft.com/office/drawing/2014/main" id="{0B5B9373-1E35-4137-8BE1-2BB059FAADC8}"/>
                </a:ext>
              </a:extLst>
            </p:cNvPr>
            <p:cNvGrpSpPr/>
            <p:nvPr/>
          </p:nvGrpSpPr>
          <p:grpSpPr>
            <a:xfrm>
              <a:off x="1025705" y="3459098"/>
              <a:ext cx="1576840" cy="1638300"/>
              <a:chOff x="1025705" y="3459098"/>
              <a:chExt cx="1576840" cy="1638300"/>
            </a:xfrm>
          </p:grpSpPr>
          <p:cxnSp>
            <p:nvCxnSpPr>
              <p:cNvPr id="16" name="直線單箭頭接點 47">
                <a:extLst>
                  <a:ext uri="{FF2B5EF4-FFF2-40B4-BE49-F238E27FC236}">
                    <a16:creationId xmlns:a16="http://schemas.microsoft.com/office/drawing/2014/main" id="{E862DD8D-9761-4AD2-B4CC-D61576FC55F5}"/>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50">
                <a:extLst>
                  <a:ext uri="{FF2B5EF4-FFF2-40B4-BE49-F238E27FC236}">
                    <a16:creationId xmlns:a16="http://schemas.microsoft.com/office/drawing/2014/main" id="{E408BDF1-53A2-4F93-A6AA-3355E059FAFA}"/>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79">
                <a:extLst>
                  <a:ext uri="{FF2B5EF4-FFF2-40B4-BE49-F238E27FC236}">
                    <a16:creationId xmlns:a16="http://schemas.microsoft.com/office/drawing/2014/main" id="{C47ECFE8-3BED-4F84-925C-1F2B35CBC985}"/>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0" name="群組 84">
            <a:extLst>
              <a:ext uri="{FF2B5EF4-FFF2-40B4-BE49-F238E27FC236}">
                <a16:creationId xmlns:a16="http://schemas.microsoft.com/office/drawing/2014/main" id="{1CA3BB43-627D-4C85-B9E7-55C6EE9FA7B1}"/>
              </a:ext>
            </a:extLst>
          </p:cNvPr>
          <p:cNvGrpSpPr/>
          <p:nvPr/>
        </p:nvGrpSpPr>
        <p:grpSpPr>
          <a:xfrm>
            <a:off x="4836482" y="1810618"/>
            <a:ext cx="1588876" cy="1638300"/>
            <a:chOff x="1013669" y="3459098"/>
            <a:chExt cx="1588876" cy="1638300"/>
          </a:xfrm>
        </p:grpSpPr>
        <p:cxnSp>
          <p:nvCxnSpPr>
            <p:cNvPr id="21" name="直線單箭頭接點 85">
              <a:extLst>
                <a:ext uri="{FF2B5EF4-FFF2-40B4-BE49-F238E27FC236}">
                  <a16:creationId xmlns:a16="http://schemas.microsoft.com/office/drawing/2014/main" id="{E60E30DB-EE56-4C15-8698-3BEF5AA0DE8F}"/>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2" name="群組 86">
              <a:extLst>
                <a:ext uri="{FF2B5EF4-FFF2-40B4-BE49-F238E27FC236}">
                  <a16:creationId xmlns:a16="http://schemas.microsoft.com/office/drawing/2014/main" id="{07F97402-5E0E-4525-BDFA-3E3696D0480A}"/>
                </a:ext>
              </a:extLst>
            </p:cNvPr>
            <p:cNvGrpSpPr/>
            <p:nvPr/>
          </p:nvGrpSpPr>
          <p:grpSpPr>
            <a:xfrm>
              <a:off x="1025705" y="3459098"/>
              <a:ext cx="1576840" cy="1638300"/>
              <a:chOff x="1025705" y="3459098"/>
              <a:chExt cx="1576840" cy="1638300"/>
            </a:xfrm>
          </p:grpSpPr>
          <p:cxnSp>
            <p:nvCxnSpPr>
              <p:cNvPr id="23" name="直線單箭頭接點 87">
                <a:extLst>
                  <a:ext uri="{FF2B5EF4-FFF2-40B4-BE49-F238E27FC236}">
                    <a16:creationId xmlns:a16="http://schemas.microsoft.com/office/drawing/2014/main" id="{9206E404-1D0D-4BEE-B752-DD22EE055EA8}"/>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88">
                <a:extLst>
                  <a:ext uri="{FF2B5EF4-FFF2-40B4-BE49-F238E27FC236}">
                    <a16:creationId xmlns:a16="http://schemas.microsoft.com/office/drawing/2014/main" id="{17558AB5-AD78-4AFA-8EF4-E282346E2A0E}"/>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89">
                <a:extLst>
                  <a:ext uri="{FF2B5EF4-FFF2-40B4-BE49-F238E27FC236}">
                    <a16:creationId xmlns:a16="http://schemas.microsoft.com/office/drawing/2014/main" id="{715EE62C-AA89-41D4-AA9D-403B7970DEF5}"/>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6" name="群組 90">
            <a:extLst>
              <a:ext uri="{FF2B5EF4-FFF2-40B4-BE49-F238E27FC236}">
                <a16:creationId xmlns:a16="http://schemas.microsoft.com/office/drawing/2014/main" id="{2003A549-E428-4922-9319-15B362B14E48}"/>
              </a:ext>
            </a:extLst>
          </p:cNvPr>
          <p:cNvGrpSpPr/>
          <p:nvPr/>
        </p:nvGrpSpPr>
        <p:grpSpPr>
          <a:xfrm>
            <a:off x="7036420" y="1790700"/>
            <a:ext cx="1588876" cy="1638300"/>
            <a:chOff x="1013669" y="3459098"/>
            <a:chExt cx="1588876" cy="1638300"/>
          </a:xfrm>
        </p:grpSpPr>
        <p:cxnSp>
          <p:nvCxnSpPr>
            <p:cNvPr id="27" name="直線單箭頭接點 91">
              <a:extLst>
                <a:ext uri="{FF2B5EF4-FFF2-40B4-BE49-F238E27FC236}">
                  <a16:creationId xmlns:a16="http://schemas.microsoft.com/office/drawing/2014/main" id="{FD84BB8D-79BB-45D7-9103-946D0956C73F}"/>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群組 92">
              <a:extLst>
                <a:ext uri="{FF2B5EF4-FFF2-40B4-BE49-F238E27FC236}">
                  <a16:creationId xmlns:a16="http://schemas.microsoft.com/office/drawing/2014/main" id="{5C84DFAA-BBA2-4A4D-9409-62F39A54F264}"/>
                </a:ext>
              </a:extLst>
            </p:cNvPr>
            <p:cNvGrpSpPr/>
            <p:nvPr/>
          </p:nvGrpSpPr>
          <p:grpSpPr>
            <a:xfrm>
              <a:off x="1025705" y="3459098"/>
              <a:ext cx="1576840" cy="1638300"/>
              <a:chOff x="1025705" y="3459098"/>
              <a:chExt cx="1576840" cy="1638300"/>
            </a:xfrm>
          </p:grpSpPr>
          <p:cxnSp>
            <p:nvCxnSpPr>
              <p:cNvPr id="29" name="直線單箭頭接點 93">
                <a:extLst>
                  <a:ext uri="{FF2B5EF4-FFF2-40B4-BE49-F238E27FC236}">
                    <a16:creationId xmlns:a16="http://schemas.microsoft.com/office/drawing/2014/main" id="{2619F0EF-2C8F-4097-8ADA-8BE0EE621813}"/>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94">
                <a:extLst>
                  <a:ext uri="{FF2B5EF4-FFF2-40B4-BE49-F238E27FC236}">
                    <a16:creationId xmlns:a16="http://schemas.microsoft.com/office/drawing/2014/main" id="{31D15675-2BBE-4C74-8FEC-D152C5C2F295}"/>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95">
                <a:extLst>
                  <a:ext uri="{FF2B5EF4-FFF2-40B4-BE49-F238E27FC236}">
                    <a16:creationId xmlns:a16="http://schemas.microsoft.com/office/drawing/2014/main" id="{E8800F0A-9A26-4AEC-A401-F61B5E69E2D7}"/>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32" name="手繪多邊形 103">
            <a:extLst>
              <a:ext uri="{FF2B5EF4-FFF2-40B4-BE49-F238E27FC236}">
                <a16:creationId xmlns:a16="http://schemas.microsoft.com/office/drawing/2014/main" id="{897039D9-E5F4-4EA4-B984-96DDDBF6CCE4}"/>
              </a:ext>
            </a:extLst>
          </p:cNvPr>
          <p:cNvSpPr/>
          <p:nvPr/>
        </p:nvSpPr>
        <p:spPr>
          <a:xfrm>
            <a:off x="4289413" y="322258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33" name="手繪多邊形 105">
            <a:extLst>
              <a:ext uri="{FF2B5EF4-FFF2-40B4-BE49-F238E27FC236}">
                <a16:creationId xmlns:a16="http://schemas.microsoft.com/office/drawing/2014/main" id="{8082DE1C-8D79-428C-B29B-B775C025FD0B}"/>
              </a:ext>
            </a:extLst>
          </p:cNvPr>
          <p:cNvSpPr/>
          <p:nvPr/>
        </p:nvSpPr>
        <p:spPr>
          <a:xfrm>
            <a:off x="4270803" y="1633144"/>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34" name="手繪多邊形 106">
            <a:extLst>
              <a:ext uri="{FF2B5EF4-FFF2-40B4-BE49-F238E27FC236}">
                <a16:creationId xmlns:a16="http://schemas.microsoft.com/office/drawing/2014/main" id="{01C48880-2644-4043-9958-86260720A354}"/>
              </a:ext>
            </a:extLst>
          </p:cNvPr>
          <p:cNvSpPr/>
          <p:nvPr/>
        </p:nvSpPr>
        <p:spPr>
          <a:xfrm>
            <a:off x="6499725" y="164432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35" name="手繪多邊形 107">
            <a:extLst>
              <a:ext uri="{FF2B5EF4-FFF2-40B4-BE49-F238E27FC236}">
                <a16:creationId xmlns:a16="http://schemas.microsoft.com/office/drawing/2014/main" id="{590C9294-4EED-4C53-94CA-D759BD6B52F2}"/>
              </a:ext>
            </a:extLst>
          </p:cNvPr>
          <p:cNvSpPr/>
          <p:nvPr/>
        </p:nvSpPr>
        <p:spPr>
          <a:xfrm>
            <a:off x="6516069" y="316765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36" name="手繪多邊形 108">
            <a:extLst>
              <a:ext uri="{FF2B5EF4-FFF2-40B4-BE49-F238E27FC236}">
                <a16:creationId xmlns:a16="http://schemas.microsoft.com/office/drawing/2014/main" id="{1503CD5D-7AFD-4D91-9766-30B452D9A663}"/>
              </a:ext>
            </a:extLst>
          </p:cNvPr>
          <p:cNvSpPr/>
          <p:nvPr/>
        </p:nvSpPr>
        <p:spPr>
          <a:xfrm>
            <a:off x="8648666" y="158290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37" name="手繪多邊形 109">
            <a:extLst>
              <a:ext uri="{FF2B5EF4-FFF2-40B4-BE49-F238E27FC236}">
                <a16:creationId xmlns:a16="http://schemas.microsoft.com/office/drawing/2014/main" id="{AFAE8450-B2F8-49BE-8FE9-BD0EDDFFF261}"/>
              </a:ext>
            </a:extLst>
          </p:cNvPr>
          <p:cNvSpPr/>
          <p:nvPr/>
        </p:nvSpPr>
        <p:spPr>
          <a:xfrm>
            <a:off x="8695753" y="3201091"/>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38" name="文字方塊 112">
            <a:extLst>
              <a:ext uri="{FF2B5EF4-FFF2-40B4-BE49-F238E27FC236}">
                <a16:creationId xmlns:a16="http://schemas.microsoft.com/office/drawing/2014/main" id="{BCA43901-03EE-4975-BB41-84B52B76620B}"/>
              </a:ext>
            </a:extLst>
          </p:cNvPr>
          <p:cNvSpPr txBox="1"/>
          <p:nvPr/>
        </p:nvSpPr>
        <p:spPr>
          <a:xfrm>
            <a:off x="3217105" y="1345943"/>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39" name="文字方塊 113">
            <a:extLst>
              <a:ext uri="{FF2B5EF4-FFF2-40B4-BE49-F238E27FC236}">
                <a16:creationId xmlns:a16="http://schemas.microsoft.com/office/drawing/2014/main" id="{BBA8D8CB-14CB-4000-979F-C9B20EE74D6B}"/>
              </a:ext>
            </a:extLst>
          </p:cNvPr>
          <p:cNvSpPr txBox="1"/>
          <p:nvPr/>
        </p:nvSpPr>
        <p:spPr>
          <a:xfrm>
            <a:off x="3384196" y="1934260"/>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40" name="文字方塊 114">
            <a:extLst>
              <a:ext uri="{FF2B5EF4-FFF2-40B4-BE49-F238E27FC236}">
                <a16:creationId xmlns:a16="http://schemas.microsoft.com/office/drawing/2014/main" id="{B1CABB10-3B8B-4854-935D-2E42A25CA3F0}"/>
              </a:ext>
            </a:extLst>
          </p:cNvPr>
          <p:cNvSpPr txBox="1"/>
          <p:nvPr/>
        </p:nvSpPr>
        <p:spPr>
          <a:xfrm>
            <a:off x="3081900" y="3451390"/>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41" name="文字方塊 115">
            <a:extLst>
              <a:ext uri="{FF2B5EF4-FFF2-40B4-BE49-F238E27FC236}">
                <a16:creationId xmlns:a16="http://schemas.microsoft.com/office/drawing/2014/main" id="{B6E4BEB6-4618-47E1-867B-7FD448CC5388}"/>
              </a:ext>
            </a:extLst>
          </p:cNvPr>
          <p:cNvSpPr txBox="1"/>
          <p:nvPr/>
        </p:nvSpPr>
        <p:spPr>
          <a:xfrm>
            <a:off x="3234179" y="2881078"/>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42" name="矩形 41">
            <a:extLst>
              <a:ext uri="{FF2B5EF4-FFF2-40B4-BE49-F238E27FC236}">
                <a16:creationId xmlns:a16="http://schemas.microsoft.com/office/drawing/2014/main" id="{A3FEE459-27DE-440A-883F-95AC62B8E05F}"/>
              </a:ext>
            </a:extLst>
          </p:cNvPr>
          <p:cNvSpPr/>
          <p:nvPr/>
        </p:nvSpPr>
        <p:spPr>
          <a:xfrm>
            <a:off x="3980427" y="231031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43" name="直線單箭頭接點 118">
            <a:extLst>
              <a:ext uri="{FF2B5EF4-FFF2-40B4-BE49-F238E27FC236}">
                <a16:creationId xmlns:a16="http://schemas.microsoft.com/office/drawing/2014/main" id="{6FA53279-3D3C-48E5-98E0-928590F59E6C}"/>
              </a:ext>
            </a:extLst>
          </p:cNvPr>
          <p:cNvCxnSpPr/>
          <p:nvPr/>
        </p:nvCxnSpPr>
        <p:spPr>
          <a:xfrm flipV="1">
            <a:off x="4207329" y="192711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119">
            <a:extLst>
              <a:ext uri="{FF2B5EF4-FFF2-40B4-BE49-F238E27FC236}">
                <a16:creationId xmlns:a16="http://schemas.microsoft.com/office/drawing/2014/main" id="{2CFDDAE8-7519-4566-BE7D-8927920395EB}"/>
              </a:ext>
            </a:extLst>
          </p:cNvPr>
          <p:cNvSpPr txBox="1"/>
          <p:nvPr/>
        </p:nvSpPr>
        <p:spPr>
          <a:xfrm>
            <a:off x="3997035" y="2303853"/>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45" name="矩形 44">
            <a:extLst>
              <a:ext uri="{FF2B5EF4-FFF2-40B4-BE49-F238E27FC236}">
                <a16:creationId xmlns:a16="http://schemas.microsoft.com/office/drawing/2014/main" id="{D1F2C3C8-8A81-4F1B-9E40-A3D5E1832B79}"/>
              </a:ext>
            </a:extLst>
          </p:cNvPr>
          <p:cNvSpPr/>
          <p:nvPr/>
        </p:nvSpPr>
        <p:spPr>
          <a:xfrm>
            <a:off x="3989952" y="3859652"/>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46" name="直線單箭頭接點 132">
            <a:extLst>
              <a:ext uri="{FF2B5EF4-FFF2-40B4-BE49-F238E27FC236}">
                <a16:creationId xmlns:a16="http://schemas.microsoft.com/office/drawing/2014/main" id="{735E2444-88CC-4F0C-AD13-FACC3A42A653}"/>
              </a:ext>
            </a:extLst>
          </p:cNvPr>
          <p:cNvCxnSpPr/>
          <p:nvPr/>
        </p:nvCxnSpPr>
        <p:spPr>
          <a:xfrm flipV="1">
            <a:off x="4216854" y="3476452"/>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字方塊 133">
            <a:extLst>
              <a:ext uri="{FF2B5EF4-FFF2-40B4-BE49-F238E27FC236}">
                <a16:creationId xmlns:a16="http://schemas.microsoft.com/office/drawing/2014/main" id="{1DCD53A0-3D69-406B-9AD7-7954DC38A7BD}"/>
              </a:ext>
            </a:extLst>
          </p:cNvPr>
          <p:cNvSpPr txBox="1"/>
          <p:nvPr/>
        </p:nvSpPr>
        <p:spPr>
          <a:xfrm>
            <a:off x="4006560" y="3853192"/>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sp>
        <p:nvSpPr>
          <p:cNvPr id="48" name="文字方塊 137">
            <a:extLst>
              <a:ext uri="{FF2B5EF4-FFF2-40B4-BE49-F238E27FC236}">
                <a16:creationId xmlns:a16="http://schemas.microsoft.com/office/drawing/2014/main" id="{8636411F-0544-446A-BF99-72D1CA5C6194}"/>
              </a:ext>
            </a:extLst>
          </p:cNvPr>
          <p:cNvSpPr txBox="1"/>
          <p:nvPr/>
        </p:nvSpPr>
        <p:spPr>
          <a:xfrm>
            <a:off x="4618326" y="1254691"/>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0.73</a:t>
            </a:r>
            <a:endParaRPr lang="zh-TW" altLang="en-US" sz="2400" dirty="0">
              <a:solidFill>
                <a:srgbClr val="0000FF"/>
              </a:solidFill>
              <a:latin typeface="Times New Roman" panose="02020603050405020304" charset="0"/>
              <a:cs typeface="Times New Roman" panose="02020603050405020304" charset="0"/>
            </a:endParaRPr>
          </a:p>
        </p:txBody>
      </p:sp>
      <p:sp>
        <p:nvSpPr>
          <p:cNvPr id="49" name="文字方塊 138">
            <a:extLst>
              <a:ext uri="{FF2B5EF4-FFF2-40B4-BE49-F238E27FC236}">
                <a16:creationId xmlns:a16="http://schemas.microsoft.com/office/drawing/2014/main" id="{B118F97E-924F-4277-A1F4-DA64E7B22618}"/>
              </a:ext>
            </a:extLst>
          </p:cNvPr>
          <p:cNvSpPr txBox="1"/>
          <p:nvPr/>
        </p:nvSpPr>
        <p:spPr>
          <a:xfrm>
            <a:off x="4584637" y="2860222"/>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0.5</a:t>
            </a:r>
            <a:endParaRPr lang="zh-TW" altLang="en-US" sz="2400" dirty="0">
              <a:solidFill>
                <a:srgbClr val="0000FF"/>
              </a:solidFill>
              <a:latin typeface="Times New Roman" panose="02020603050405020304" charset="0"/>
              <a:cs typeface="Times New Roman" panose="02020603050405020304" charset="0"/>
            </a:endParaRPr>
          </a:p>
        </p:txBody>
      </p:sp>
      <p:sp>
        <p:nvSpPr>
          <p:cNvPr id="50" name="文字方塊 139">
            <a:extLst>
              <a:ext uri="{FF2B5EF4-FFF2-40B4-BE49-F238E27FC236}">
                <a16:creationId xmlns:a16="http://schemas.microsoft.com/office/drawing/2014/main" id="{99B6DF7A-B0F2-42D4-A2AE-003BFF4C6644}"/>
              </a:ext>
            </a:extLst>
          </p:cNvPr>
          <p:cNvSpPr txBox="1"/>
          <p:nvPr/>
        </p:nvSpPr>
        <p:spPr>
          <a:xfrm>
            <a:off x="5462513" y="1325087"/>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51" name="文字方塊 140">
            <a:extLst>
              <a:ext uri="{FF2B5EF4-FFF2-40B4-BE49-F238E27FC236}">
                <a16:creationId xmlns:a16="http://schemas.microsoft.com/office/drawing/2014/main" id="{A2333CEF-D7F7-445C-BDAD-2733E0124C68}"/>
              </a:ext>
            </a:extLst>
          </p:cNvPr>
          <p:cNvSpPr txBox="1"/>
          <p:nvPr/>
        </p:nvSpPr>
        <p:spPr>
          <a:xfrm>
            <a:off x="5629604" y="1913404"/>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52" name="文字方塊 141">
            <a:extLst>
              <a:ext uri="{FF2B5EF4-FFF2-40B4-BE49-F238E27FC236}">
                <a16:creationId xmlns:a16="http://schemas.microsoft.com/office/drawing/2014/main" id="{23F77E34-73AA-4E3C-8C84-73D7814A0FEB}"/>
              </a:ext>
            </a:extLst>
          </p:cNvPr>
          <p:cNvSpPr txBox="1"/>
          <p:nvPr/>
        </p:nvSpPr>
        <p:spPr>
          <a:xfrm>
            <a:off x="5327308" y="3430534"/>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54" name="文字方塊 142">
            <a:extLst>
              <a:ext uri="{FF2B5EF4-FFF2-40B4-BE49-F238E27FC236}">
                <a16:creationId xmlns:a16="http://schemas.microsoft.com/office/drawing/2014/main" id="{3E904C71-E07A-4FD7-8726-3247FA9B3804}"/>
              </a:ext>
            </a:extLst>
          </p:cNvPr>
          <p:cNvSpPr txBox="1"/>
          <p:nvPr/>
        </p:nvSpPr>
        <p:spPr>
          <a:xfrm>
            <a:off x="5479587" y="2860222"/>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55" name="文字方塊 143">
            <a:extLst>
              <a:ext uri="{FF2B5EF4-FFF2-40B4-BE49-F238E27FC236}">
                <a16:creationId xmlns:a16="http://schemas.microsoft.com/office/drawing/2014/main" id="{89BF4490-2EFF-400C-BC05-4BC2EAD3EE82}"/>
              </a:ext>
            </a:extLst>
          </p:cNvPr>
          <p:cNvSpPr txBox="1"/>
          <p:nvPr/>
        </p:nvSpPr>
        <p:spPr>
          <a:xfrm>
            <a:off x="7635292" y="1326004"/>
            <a:ext cx="342900"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3</a:t>
            </a:r>
            <a:endParaRPr lang="zh-TW" altLang="en-US" sz="2400" dirty="0">
              <a:latin typeface="Times New Roman" panose="02020603050405020304" charset="0"/>
              <a:cs typeface="Times New Roman" panose="02020603050405020304" charset="0"/>
            </a:endParaRPr>
          </a:p>
        </p:txBody>
      </p:sp>
      <p:sp>
        <p:nvSpPr>
          <p:cNvPr id="56" name="文字方塊 144">
            <a:extLst>
              <a:ext uri="{FF2B5EF4-FFF2-40B4-BE49-F238E27FC236}">
                <a16:creationId xmlns:a16="http://schemas.microsoft.com/office/drawing/2014/main" id="{A748E14A-C44B-41A2-8C46-10A809E8D30F}"/>
              </a:ext>
            </a:extLst>
          </p:cNvPr>
          <p:cNvSpPr txBox="1"/>
          <p:nvPr/>
        </p:nvSpPr>
        <p:spPr>
          <a:xfrm>
            <a:off x="7802383" y="1914321"/>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57" name="文字方塊 145">
            <a:extLst>
              <a:ext uri="{FF2B5EF4-FFF2-40B4-BE49-F238E27FC236}">
                <a16:creationId xmlns:a16="http://schemas.microsoft.com/office/drawing/2014/main" id="{7273D7E9-BCB9-483E-90C7-C51C6F1DF422}"/>
              </a:ext>
            </a:extLst>
          </p:cNvPr>
          <p:cNvSpPr txBox="1"/>
          <p:nvPr/>
        </p:nvSpPr>
        <p:spPr>
          <a:xfrm>
            <a:off x="7500087" y="3431451"/>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4</a:t>
            </a:r>
            <a:endParaRPr lang="zh-TW" altLang="en-US" sz="2400" dirty="0">
              <a:latin typeface="Times New Roman" panose="02020603050405020304" charset="0"/>
              <a:cs typeface="Times New Roman" panose="02020603050405020304" charset="0"/>
            </a:endParaRPr>
          </a:p>
        </p:txBody>
      </p:sp>
      <p:sp>
        <p:nvSpPr>
          <p:cNvPr id="58" name="文字方塊 146">
            <a:extLst>
              <a:ext uri="{FF2B5EF4-FFF2-40B4-BE49-F238E27FC236}">
                <a16:creationId xmlns:a16="http://schemas.microsoft.com/office/drawing/2014/main" id="{C0093668-B3EF-496C-92B4-10988A3DD113}"/>
              </a:ext>
            </a:extLst>
          </p:cNvPr>
          <p:cNvSpPr txBox="1"/>
          <p:nvPr/>
        </p:nvSpPr>
        <p:spPr>
          <a:xfrm>
            <a:off x="7652366" y="2861139"/>
            <a:ext cx="715437"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-1</a:t>
            </a:r>
            <a:endParaRPr lang="zh-TW" altLang="en-US" sz="2400" dirty="0">
              <a:latin typeface="Times New Roman" panose="02020603050405020304" charset="0"/>
              <a:cs typeface="Times New Roman" panose="02020603050405020304" charset="0"/>
            </a:endParaRPr>
          </a:p>
        </p:txBody>
      </p:sp>
      <p:sp>
        <p:nvSpPr>
          <p:cNvPr id="59" name="文字方塊 149">
            <a:extLst>
              <a:ext uri="{FF2B5EF4-FFF2-40B4-BE49-F238E27FC236}">
                <a16:creationId xmlns:a16="http://schemas.microsoft.com/office/drawing/2014/main" id="{E5C087B3-C9C3-47E1-B55C-3AB1E433E9C1}"/>
              </a:ext>
            </a:extLst>
          </p:cNvPr>
          <p:cNvSpPr txBox="1"/>
          <p:nvPr/>
        </p:nvSpPr>
        <p:spPr>
          <a:xfrm>
            <a:off x="6724881" y="1209180"/>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0.72</a:t>
            </a:r>
            <a:endParaRPr lang="zh-TW" altLang="en-US" sz="2400" dirty="0">
              <a:solidFill>
                <a:srgbClr val="0000FF"/>
              </a:solidFill>
              <a:latin typeface="Times New Roman" panose="02020603050405020304" charset="0"/>
              <a:cs typeface="Times New Roman" panose="02020603050405020304" charset="0"/>
            </a:endParaRPr>
          </a:p>
        </p:txBody>
      </p:sp>
      <p:sp>
        <p:nvSpPr>
          <p:cNvPr id="60" name="文字方塊 150">
            <a:extLst>
              <a:ext uri="{FF2B5EF4-FFF2-40B4-BE49-F238E27FC236}">
                <a16:creationId xmlns:a16="http://schemas.microsoft.com/office/drawing/2014/main" id="{480F77E9-28D4-4627-BFF1-9F8401236BF2}"/>
              </a:ext>
            </a:extLst>
          </p:cNvPr>
          <p:cNvSpPr txBox="1"/>
          <p:nvPr/>
        </p:nvSpPr>
        <p:spPr>
          <a:xfrm>
            <a:off x="6784432" y="2923633"/>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0.12</a:t>
            </a:r>
            <a:endParaRPr lang="zh-TW" altLang="en-US" sz="2400" dirty="0">
              <a:solidFill>
                <a:srgbClr val="0000FF"/>
              </a:solidFill>
              <a:latin typeface="Times New Roman" panose="02020603050405020304" charset="0"/>
              <a:cs typeface="Times New Roman" panose="02020603050405020304" charset="0"/>
            </a:endParaRPr>
          </a:p>
        </p:txBody>
      </p:sp>
      <p:sp>
        <p:nvSpPr>
          <p:cNvPr id="61" name="文字方塊 153">
            <a:extLst>
              <a:ext uri="{FF2B5EF4-FFF2-40B4-BE49-F238E27FC236}">
                <a16:creationId xmlns:a16="http://schemas.microsoft.com/office/drawing/2014/main" id="{B800DD48-DE85-400B-8449-E019834E72B5}"/>
              </a:ext>
            </a:extLst>
          </p:cNvPr>
          <p:cNvSpPr txBox="1"/>
          <p:nvPr/>
        </p:nvSpPr>
        <p:spPr>
          <a:xfrm>
            <a:off x="9049420" y="1227287"/>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0.51</a:t>
            </a:r>
            <a:endParaRPr lang="zh-TW" altLang="en-US" sz="2400" dirty="0">
              <a:solidFill>
                <a:srgbClr val="0000FF"/>
              </a:solidFill>
              <a:latin typeface="Times New Roman" panose="02020603050405020304" charset="0"/>
              <a:cs typeface="Times New Roman" panose="02020603050405020304" charset="0"/>
            </a:endParaRPr>
          </a:p>
        </p:txBody>
      </p:sp>
      <p:sp>
        <p:nvSpPr>
          <p:cNvPr id="62" name="文字方塊 154">
            <a:extLst>
              <a:ext uri="{FF2B5EF4-FFF2-40B4-BE49-F238E27FC236}">
                <a16:creationId xmlns:a16="http://schemas.microsoft.com/office/drawing/2014/main" id="{658659BB-5C88-4BF6-8434-F53B6296F4C7}"/>
              </a:ext>
            </a:extLst>
          </p:cNvPr>
          <p:cNvSpPr txBox="1"/>
          <p:nvPr/>
        </p:nvSpPr>
        <p:spPr>
          <a:xfrm>
            <a:off x="9130737" y="2881078"/>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0.85</a:t>
            </a:r>
            <a:endParaRPr lang="zh-TW" altLang="en-US" sz="2400" dirty="0">
              <a:solidFill>
                <a:srgbClr val="0000FF"/>
              </a:solidFill>
              <a:latin typeface="Times New Roman" panose="02020603050405020304" charset="0"/>
              <a:cs typeface="Times New Roman" panose="02020603050405020304" charset="0"/>
            </a:endParaRPr>
          </a:p>
        </p:txBody>
      </p:sp>
      <p:sp>
        <p:nvSpPr>
          <p:cNvPr id="63" name="矩形 62">
            <a:extLst>
              <a:ext uri="{FF2B5EF4-FFF2-40B4-BE49-F238E27FC236}">
                <a16:creationId xmlns:a16="http://schemas.microsoft.com/office/drawing/2014/main" id="{A806C77E-4572-4B38-8DB6-64DA2566B352}"/>
              </a:ext>
            </a:extLst>
          </p:cNvPr>
          <p:cNvSpPr/>
          <p:nvPr/>
        </p:nvSpPr>
        <p:spPr>
          <a:xfrm>
            <a:off x="6183071" y="2298198"/>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64" name="直線單箭頭接點 98">
            <a:extLst>
              <a:ext uri="{FF2B5EF4-FFF2-40B4-BE49-F238E27FC236}">
                <a16:creationId xmlns:a16="http://schemas.microsoft.com/office/drawing/2014/main" id="{9CCF94BF-2A82-426C-A0A8-1258633C79C6}"/>
              </a:ext>
            </a:extLst>
          </p:cNvPr>
          <p:cNvCxnSpPr/>
          <p:nvPr/>
        </p:nvCxnSpPr>
        <p:spPr>
          <a:xfrm flipV="1">
            <a:off x="6409973" y="1914998"/>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字方塊 101">
            <a:extLst>
              <a:ext uri="{FF2B5EF4-FFF2-40B4-BE49-F238E27FC236}">
                <a16:creationId xmlns:a16="http://schemas.microsoft.com/office/drawing/2014/main" id="{97737FB3-DFC6-4949-B0AA-CA75B762F562}"/>
              </a:ext>
            </a:extLst>
          </p:cNvPr>
          <p:cNvSpPr txBox="1"/>
          <p:nvPr/>
        </p:nvSpPr>
        <p:spPr>
          <a:xfrm>
            <a:off x="6199679" y="2291738"/>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sp>
        <p:nvSpPr>
          <p:cNvPr id="66" name="矩形 65">
            <a:extLst>
              <a:ext uri="{FF2B5EF4-FFF2-40B4-BE49-F238E27FC236}">
                <a16:creationId xmlns:a16="http://schemas.microsoft.com/office/drawing/2014/main" id="{2B0372B5-FA2A-4D32-8EBB-28E2AE5ABB12}"/>
              </a:ext>
            </a:extLst>
          </p:cNvPr>
          <p:cNvSpPr/>
          <p:nvPr/>
        </p:nvSpPr>
        <p:spPr>
          <a:xfrm>
            <a:off x="6185449" y="3822521"/>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67" name="直線單箭頭接點 121">
            <a:extLst>
              <a:ext uri="{FF2B5EF4-FFF2-40B4-BE49-F238E27FC236}">
                <a16:creationId xmlns:a16="http://schemas.microsoft.com/office/drawing/2014/main" id="{73EB6215-5B45-4CBD-A3C5-523DCC8FEC91}"/>
              </a:ext>
            </a:extLst>
          </p:cNvPr>
          <p:cNvCxnSpPr/>
          <p:nvPr/>
        </p:nvCxnSpPr>
        <p:spPr>
          <a:xfrm flipV="1">
            <a:off x="6412351" y="3439321"/>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123">
            <a:extLst>
              <a:ext uri="{FF2B5EF4-FFF2-40B4-BE49-F238E27FC236}">
                <a16:creationId xmlns:a16="http://schemas.microsoft.com/office/drawing/2014/main" id="{9146FE5C-3E0E-49EE-9AC2-5FF3E92D260C}"/>
              </a:ext>
            </a:extLst>
          </p:cNvPr>
          <p:cNvSpPr txBox="1"/>
          <p:nvPr/>
        </p:nvSpPr>
        <p:spPr>
          <a:xfrm>
            <a:off x="6202057" y="3816061"/>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0</a:t>
            </a:r>
            <a:endParaRPr lang="zh-TW" altLang="en-US" sz="2400" dirty="0">
              <a:latin typeface="Times New Roman" panose="02020603050405020304" charset="0"/>
              <a:cs typeface="Times New Roman" panose="02020603050405020304" charset="0"/>
            </a:endParaRPr>
          </a:p>
        </p:txBody>
      </p:sp>
      <p:sp>
        <p:nvSpPr>
          <p:cNvPr id="69" name="矩形 68">
            <a:extLst>
              <a:ext uri="{FF2B5EF4-FFF2-40B4-BE49-F238E27FC236}">
                <a16:creationId xmlns:a16="http://schemas.microsoft.com/office/drawing/2014/main" id="{88AF3623-C58A-4DE2-A514-A0E96AF127F2}"/>
              </a:ext>
            </a:extLst>
          </p:cNvPr>
          <p:cNvSpPr/>
          <p:nvPr/>
        </p:nvSpPr>
        <p:spPr>
          <a:xfrm>
            <a:off x="8361311" y="2293006"/>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70" name="直線單箭頭接點 126">
            <a:extLst>
              <a:ext uri="{FF2B5EF4-FFF2-40B4-BE49-F238E27FC236}">
                <a16:creationId xmlns:a16="http://schemas.microsoft.com/office/drawing/2014/main" id="{FD99357D-9163-4CA3-91CB-45D114AAB618}"/>
              </a:ext>
            </a:extLst>
          </p:cNvPr>
          <p:cNvCxnSpPr/>
          <p:nvPr/>
        </p:nvCxnSpPr>
        <p:spPr>
          <a:xfrm flipV="1">
            <a:off x="8588213" y="1909806"/>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字方塊 127">
            <a:extLst>
              <a:ext uri="{FF2B5EF4-FFF2-40B4-BE49-F238E27FC236}">
                <a16:creationId xmlns:a16="http://schemas.microsoft.com/office/drawing/2014/main" id="{C531304B-E418-46D3-8877-11415A017894}"/>
              </a:ext>
            </a:extLst>
          </p:cNvPr>
          <p:cNvSpPr txBox="1"/>
          <p:nvPr/>
        </p:nvSpPr>
        <p:spPr>
          <a:xfrm>
            <a:off x="8377919" y="2286546"/>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p:sp>
        <p:nvSpPr>
          <p:cNvPr id="72" name="矩形 71">
            <a:extLst>
              <a:ext uri="{FF2B5EF4-FFF2-40B4-BE49-F238E27FC236}">
                <a16:creationId xmlns:a16="http://schemas.microsoft.com/office/drawing/2014/main" id="{554FF30F-512E-403B-A6E0-6438F931D5B6}"/>
              </a:ext>
            </a:extLst>
          </p:cNvPr>
          <p:cNvSpPr/>
          <p:nvPr/>
        </p:nvSpPr>
        <p:spPr>
          <a:xfrm>
            <a:off x="8415391" y="3849842"/>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73" name="直線單箭頭接點 147">
            <a:extLst>
              <a:ext uri="{FF2B5EF4-FFF2-40B4-BE49-F238E27FC236}">
                <a16:creationId xmlns:a16="http://schemas.microsoft.com/office/drawing/2014/main" id="{A6389ECF-6369-4F9F-AF5C-E0230DFC5ACD}"/>
              </a:ext>
            </a:extLst>
          </p:cNvPr>
          <p:cNvCxnSpPr/>
          <p:nvPr/>
        </p:nvCxnSpPr>
        <p:spPr>
          <a:xfrm flipV="1">
            <a:off x="8642293" y="3466642"/>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文字方塊 148">
            <a:extLst>
              <a:ext uri="{FF2B5EF4-FFF2-40B4-BE49-F238E27FC236}">
                <a16:creationId xmlns:a16="http://schemas.microsoft.com/office/drawing/2014/main" id="{1FA631CD-28CA-4B76-8F89-0E21A2E053D1}"/>
              </a:ext>
            </a:extLst>
          </p:cNvPr>
          <p:cNvSpPr txBox="1"/>
          <p:nvPr/>
        </p:nvSpPr>
        <p:spPr>
          <a:xfrm>
            <a:off x="8431999" y="3843382"/>
            <a:ext cx="441679"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2</a:t>
            </a:r>
            <a:endParaRPr lang="zh-TW" altLang="en-US" sz="2400"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75" name="文字方塊 102">
                <a:extLst>
                  <a:ext uri="{FF2B5EF4-FFF2-40B4-BE49-F238E27FC236}">
                    <a16:creationId xmlns:a16="http://schemas.microsoft.com/office/drawing/2014/main" id="{604856B0-323E-4068-8359-921E927E311A}"/>
                  </a:ext>
                </a:extLst>
              </p:cNvPr>
              <p:cNvSpPr txBox="1"/>
              <p:nvPr/>
            </p:nvSpPr>
            <p:spPr>
              <a:xfrm>
                <a:off x="8110889" y="4419859"/>
                <a:ext cx="2192908" cy="6233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b="0" i="1" smtClean="0">
                                      <a:latin typeface="Cambria Math" panose="02040503050406030204" pitchFamily="18" charset="0"/>
                                    </a:rPr>
                                  </m:ctrlPr>
                                </m:mPr>
                                <m:mr>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mr>
                              </m:m>
                            </m:e>
                          </m:d>
                        </m:e>
                      </m:d>
                      <m:r>
                        <a:rPr lang="en-US" altLang="zh-TW" sz="2400" b="0" i="1"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m:rPr>
                                    <m:brk m:alnAt="7"/>
                                  </m:rPr>
                                  <a:rPr lang="en-US" altLang="zh-TW" sz="2400" b="0" i="1" smtClean="0">
                                    <a:latin typeface="Cambria Math" panose="02040503050406030204" pitchFamily="18" charset="0"/>
                                  </a:rPr>
                                  <m:t>0</m:t>
                                </m:r>
                                <m:r>
                                  <a:rPr lang="en-US" altLang="zh-TW" sz="2400" b="0" i="1" smtClean="0">
                                    <a:latin typeface="Cambria Math" panose="02040503050406030204" pitchFamily="18" charset="0"/>
                                  </a:rPr>
                                  <m:t>.51</m:t>
                                </m:r>
                              </m:e>
                            </m:mr>
                            <m:mr>
                              <m:e>
                                <m:r>
                                  <a:rPr lang="en-US" altLang="zh-TW" sz="2400" b="0" i="1" smtClean="0">
                                    <a:latin typeface="Cambria Math" panose="02040503050406030204" pitchFamily="18" charset="0"/>
                                  </a:rPr>
                                  <m:t>0.85</m:t>
                                </m:r>
                              </m:e>
                            </m:mr>
                          </m:m>
                        </m:e>
                      </m:d>
                    </m:oMath>
                  </m:oMathPara>
                </a14:m>
                <a:endParaRPr lang="zh-TW" altLang="en-US" sz="2400" dirty="0">
                  <a:latin typeface="Times New Roman" panose="02020603050405020304" charset="0"/>
                  <a:cs typeface="Times New Roman" panose="02020603050405020304" charset="0"/>
                </a:endParaRPr>
              </a:p>
            </p:txBody>
          </p:sp>
        </mc:Choice>
        <mc:Fallback xmlns="">
          <p:sp>
            <p:nvSpPr>
              <p:cNvPr id="75" name="文字方塊 102">
                <a:extLst>
                  <a:ext uri="{FF2B5EF4-FFF2-40B4-BE49-F238E27FC236}">
                    <a16:creationId xmlns:a16="http://schemas.microsoft.com/office/drawing/2014/main" id="{604856B0-323E-4068-8359-921E927E311A}"/>
                  </a:ext>
                </a:extLst>
              </p:cNvPr>
              <p:cNvSpPr txBox="1">
                <a:spLocks noRot="1" noChangeAspect="1" noMove="1" noResize="1" noEditPoints="1" noAdjustHandles="1" noChangeArrowheads="1" noChangeShapeType="1" noTextEdit="1"/>
              </p:cNvSpPr>
              <p:nvPr/>
            </p:nvSpPr>
            <p:spPr>
              <a:xfrm>
                <a:off x="8110889" y="4419859"/>
                <a:ext cx="2192908" cy="623312"/>
              </a:xfrm>
              <a:prstGeom prst="rect">
                <a:avLst/>
              </a:prstGeom>
              <a:blipFill>
                <a:blip r:embed="rId3"/>
                <a:stretch>
                  <a:fillRect b="-49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字方塊 3">
                <a:extLst>
                  <a:ext uri="{FF2B5EF4-FFF2-40B4-BE49-F238E27FC236}">
                    <a16:creationId xmlns:a16="http://schemas.microsoft.com/office/drawing/2014/main" id="{9DA12497-E735-458E-B6AE-D696879CC2FA}"/>
                  </a:ext>
                </a:extLst>
              </p:cNvPr>
              <p:cNvSpPr txBox="1"/>
              <p:nvPr/>
            </p:nvSpPr>
            <p:spPr>
              <a:xfrm>
                <a:off x="1998478" y="5203444"/>
                <a:ext cx="6051338"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800" dirty="0">
                    <a:latin typeface="Times New Roman" panose="02020603050405020304" charset="0"/>
                    <a:cs typeface="Times New Roman" panose="02020603050405020304" charset="0"/>
                  </a:rPr>
                  <a:t>Given parameters </a:t>
                </a:r>
                <a14:m>
                  <m:oMath xmlns:m="http://schemas.openxmlformats.org/officeDocument/2006/math">
                    <m:r>
                      <a:rPr lang="zh-TW" altLang="en-US" sz="2800" i="1">
                        <a:latin typeface="Cambria Math" panose="02040503050406030204" pitchFamily="18" charset="0"/>
                      </a:rPr>
                      <m:t>𝜃</m:t>
                    </m:r>
                  </m:oMath>
                </a14:m>
                <a:r>
                  <a:rPr lang="en-US" altLang="zh-TW" sz="2800" dirty="0">
                    <a:latin typeface="Times New Roman" panose="02020603050405020304" charset="0"/>
                    <a:cs typeface="Times New Roman" panose="02020603050405020304" charset="0"/>
                  </a:rPr>
                  <a:t>, define a function </a:t>
                </a:r>
                <a:endParaRPr lang="zh-TW" altLang="en-US" sz="2800" dirty="0">
                  <a:latin typeface="Times New Roman" panose="02020603050405020304" charset="0"/>
                  <a:cs typeface="Times New Roman" panose="02020603050405020304" charset="0"/>
                </a:endParaRPr>
              </a:p>
            </p:txBody>
          </p:sp>
        </mc:Choice>
        <mc:Fallback xmlns="">
          <p:sp>
            <p:nvSpPr>
              <p:cNvPr id="76" name="文字方塊 3">
                <a:extLst>
                  <a:ext uri="{FF2B5EF4-FFF2-40B4-BE49-F238E27FC236}">
                    <a16:creationId xmlns:a16="http://schemas.microsoft.com/office/drawing/2014/main" id="{9DA12497-E735-458E-B6AE-D696879CC2FA}"/>
                  </a:ext>
                </a:extLst>
              </p:cNvPr>
              <p:cNvSpPr txBox="1">
                <a:spLocks noRot="1" noChangeAspect="1" noMove="1" noResize="1" noEditPoints="1" noAdjustHandles="1" noChangeArrowheads="1" noChangeShapeType="1" noTextEdit="1"/>
              </p:cNvSpPr>
              <p:nvPr/>
            </p:nvSpPr>
            <p:spPr>
              <a:xfrm>
                <a:off x="1998478" y="5203444"/>
                <a:ext cx="6051338"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字方塊 120">
                <a:extLst>
                  <a:ext uri="{FF2B5EF4-FFF2-40B4-BE49-F238E27FC236}">
                    <a16:creationId xmlns:a16="http://schemas.microsoft.com/office/drawing/2014/main" id="{8DDD2E53-E103-41B3-9312-B506CDDC3507}"/>
                  </a:ext>
                </a:extLst>
              </p:cNvPr>
              <p:cNvSpPr txBox="1"/>
              <p:nvPr/>
            </p:nvSpPr>
            <p:spPr>
              <a:xfrm>
                <a:off x="5539950" y="4427361"/>
                <a:ext cx="2422137" cy="615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b="0" i="1" smtClean="0">
                                      <a:latin typeface="Cambria Math" panose="02040503050406030204" pitchFamily="18" charset="0"/>
                                    </a:rPr>
                                  </m:ctrlPr>
                                </m:mPr>
                                <m:mr>
                                  <m:e>
                                    <m:r>
                                      <m:rPr>
                                        <m:brk m:alnAt="7"/>
                                      </m:rPr>
                                      <a:rPr lang="en-US" altLang="zh-TW" sz="2400" b="0" i="1" smtClean="0">
                                        <a:latin typeface="Cambria Math" panose="02040503050406030204" pitchFamily="18" charset="0"/>
                                      </a:rPr>
                                      <m:t>1</m:t>
                                    </m:r>
                                  </m:e>
                                </m:mr>
                                <m:mr>
                                  <m:e>
                                    <m:r>
                                      <a:rPr lang="en-US" altLang="zh-TW" sz="2400" b="0" i="1" smtClean="0">
                                        <a:latin typeface="Cambria Math" panose="02040503050406030204" pitchFamily="18" charset="0"/>
                                      </a:rPr>
                                      <m:t>−1</m:t>
                                    </m:r>
                                  </m:e>
                                </m:mr>
                              </m:m>
                            </m:e>
                          </m:d>
                        </m:e>
                      </m:d>
                      <m:r>
                        <a:rPr lang="en-US" altLang="zh-TW" sz="2400" b="0" i="1"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m:rPr>
                                    <m:brk m:alnAt="7"/>
                                  </m:rPr>
                                  <a:rPr lang="en-US" altLang="zh-TW" sz="2400" b="0" i="1" smtClean="0">
                                    <a:latin typeface="Cambria Math" panose="02040503050406030204" pitchFamily="18" charset="0"/>
                                  </a:rPr>
                                  <m:t>0</m:t>
                                </m:r>
                                <m:r>
                                  <a:rPr lang="en-US" altLang="zh-TW" sz="2400" b="0" i="1" smtClean="0">
                                    <a:latin typeface="Cambria Math" panose="02040503050406030204" pitchFamily="18" charset="0"/>
                                  </a:rPr>
                                  <m:t>.62</m:t>
                                </m:r>
                              </m:e>
                            </m:mr>
                            <m:mr>
                              <m:e>
                                <m:r>
                                  <a:rPr lang="en-US" altLang="zh-TW" sz="2400" b="0" i="1" smtClean="0">
                                    <a:latin typeface="Cambria Math" panose="02040503050406030204" pitchFamily="18" charset="0"/>
                                  </a:rPr>
                                  <m:t>0.83</m:t>
                                </m:r>
                              </m:e>
                            </m:mr>
                          </m:m>
                        </m:e>
                      </m:d>
                    </m:oMath>
                  </m:oMathPara>
                </a14:m>
                <a:endParaRPr lang="zh-TW" altLang="en-US" sz="2400" dirty="0">
                  <a:latin typeface="Times New Roman" panose="02020603050405020304" charset="0"/>
                  <a:cs typeface="Times New Roman" panose="02020603050405020304" charset="0"/>
                </a:endParaRPr>
              </a:p>
            </p:txBody>
          </p:sp>
        </mc:Choice>
        <mc:Fallback xmlns="">
          <p:sp>
            <p:nvSpPr>
              <p:cNvPr id="77" name="文字方塊 120">
                <a:extLst>
                  <a:ext uri="{FF2B5EF4-FFF2-40B4-BE49-F238E27FC236}">
                    <a16:creationId xmlns:a16="http://schemas.microsoft.com/office/drawing/2014/main" id="{8DDD2E53-E103-41B3-9312-B506CDDC3507}"/>
                  </a:ext>
                </a:extLst>
              </p:cNvPr>
              <p:cNvSpPr txBox="1">
                <a:spLocks noRot="1" noChangeAspect="1" noMove="1" noResize="1" noEditPoints="1" noAdjustHandles="1" noChangeArrowheads="1" noChangeShapeType="1" noTextEdit="1"/>
              </p:cNvSpPr>
              <p:nvPr/>
            </p:nvSpPr>
            <p:spPr>
              <a:xfrm>
                <a:off x="5539950" y="4427361"/>
                <a:ext cx="2422137" cy="615810"/>
              </a:xfrm>
              <a:prstGeom prst="rect">
                <a:avLst/>
              </a:prstGeom>
              <a:blipFill>
                <a:blip r:embed="rId5"/>
                <a:stretch>
                  <a:fillRect b="-5941"/>
                </a:stretch>
              </a:blipFill>
            </p:spPr>
            <p:txBody>
              <a:bodyPr/>
              <a:lstStyle/>
              <a:p>
                <a:r>
                  <a:rPr lang="zh-CN" altLang="en-US">
                    <a:noFill/>
                  </a:rPr>
                  <a:t> </a:t>
                </a:r>
              </a:p>
            </p:txBody>
          </p:sp>
        </mc:Fallback>
      </mc:AlternateContent>
      <p:sp>
        <p:nvSpPr>
          <p:cNvPr id="78" name="矩形 77">
            <a:extLst>
              <a:ext uri="{FF2B5EF4-FFF2-40B4-BE49-F238E27FC236}">
                <a16:creationId xmlns:a16="http://schemas.microsoft.com/office/drawing/2014/main" id="{C5FBB860-3685-43D7-968A-C5A1F8D163C2}"/>
              </a:ext>
            </a:extLst>
          </p:cNvPr>
          <p:cNvSpPr/>
          <p:nvPr/>
        </p:nvSpPr>
        <p:spPr>
          <a:xfrm>
            <a:off x="2258069" y="164432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79" name="矩形 78">
            <a:extLst>
              <a:ext uri="{FF2B5EF4-FFF2-40B4-BE49-F238E27FC236}">
                <a16:creationId xmlns:a16="http://schemas.microsoft.com/office/drawing/2014/main" id="{88A801C4-E21F-4A84-99A6-6679500145A3}"/>
              </a:ext>
            </a:extLst>
          </p:cNvPr>
          <p:cNvSpPr/>
          <p:nvPr/>
        </p:nvSpPr>
        <p:spPr>
          <a:xfrm>
            <a:off x="2226826" y="328610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80" name="文字方塊 151">
            <a:extLst>
              <a:ext uri="{FF2B5EF4-FFF2-40B4-BE49-F238E27FC236}">
                <a16:creationId xmlns:a16="http://schemas.microsoft.com/office/drawing/2014/main" id="{C65EC811-DE91-4654-A658-005A682BA9A0}"/>
              </a:ext>
            </a:extLst>
          </p:cNvPr>
          <p:cNvSpPr txBox="1"/>
          <p:nvPr/>
        </p:nvSpPr>
        <p:spPr>
          <a:xfrm>
            <a:off x="2270237" y="1630872"/>
            <a:ext cx="342900"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a:t>
            </a:r>
            <a:endParaRPr lang="zh-TW" altLang="en-US" sz="2400" dirty="0">
              <a:solidFill>
                <a:srgbClr val="0000FF"/>
              </a:solidFill>
              <a:latin typeface="Times New Roman" panose="02020603050405020304" charset="0"/>
              <a:cs typeface="Times New Roman" panose="02020603050405020304" charset="0"/>
            </a:endParaRPr>
          </a:p>
        </p:txBody>
      </p:sp>
      <p:sp>
        <p:nvSpPr>
          <p:cNvPr id="81" name="文字方塊 152">
            <a:extLst>
              <a:ext uri="{FF2B5EF4-FFF2-40B4-BE49-F238E27FC236}">
                <a16:creationId xmlns:a16="http://schemas.microsoft.com/office/drawing/2014/main" id="{7758840E-A6D0-4696-B477-2EA071E8410A}"/>
              </a:ext>
            </a:extLst>
          </p:cNvPr>
          <p:cNvSpPr txBox="1"/>
          <p:nvPr/>
        </p:nvSpPr>
        <p:spPr>
          <a:xfrm>
            <a:off x="2164453" y="3230303"/>
            <a:ext cx="488741" cy="461665"/>
          </a:xfrm>
          <a:prstGeom prst="rect">
            <a:avLst/>
          </a:prstGeom>
          <a:noFill/>
        </p:spPr>
        <p:txBody>
          <a:bodyPr wrap="square" rtlCol="0">
            <a:spAutoFit/>
          </a:bodyPr>
          <a:lstStyle/>
          <a:p>
            <a:pPr algn="ctr"/>
            <a:r>
              <a:rPr lang="en-US" altLang="zh-TW" sz="2400" dirty="0">
                <a:solidFill>
                  <a:srgbClr val="0000FF"/>
                </a:solidFill>
                <a:latin typeface="Times New Roman" panose="02020603050405020304" charset="0"/>
                <a:cs typeface="Times New Roman" panose="02020603050405020304" charset="0"/>
              </a:rPr>
              <a:t>0</a:t>
            </a:r>
            <a:endParaRPr lang="zh-TW" altLang="en-US" sz="2400" dirty="0">
              <a:solidFill>
                <a:srgbClr val="0000FF"/>
              </a:solidFill>
              <a:latin typeface="Times New Roman" panose="02020603050405020304" charset="0"/>
              <a:cs typeface="Times New Roman" panose="02020603050405020304" charset="0"/>
            </a:endParaRPr>
          </a:p>
        </p:txBody>
      </p:sp>
      <p:sp>
        <p:nvSpPr>
          <p:cNvPr id="82" name="文字方塊 2">
            <a:extLst>
              <a:ext uri="{FF2B5EF4-FFF2-40B4-BE49-F238E27FC236}">
                <a16:creationId xmlns:a16="http://schemas.microsoft.com/office/drawing/2014/main" id="{2854814C-33A6-4ECB-B154-2217F6C214A2}"/>
              </a:ext>
            </a:extLst>
          </p:cNvPr>
          <p:cNvSpPr txBox="1"/>
          <p:nvPr/>
        </p:nvSpPr>
        <p:spPr>
          <a:xfrm>
            <a:off x="1891864" y="4341106"/>
            <a:ext cx="3599091" cy="461665"/>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This is a </a:t>
            </a:r>
            <a:r>
              <a:rPr lang="en-US" altLang="zh-TW" sz="2400" dirty="0">
                <a:solidFill>
                  <a:srgbClr val="FF0000"/>
                </a:solidFill>
                <a:latin typeface="Times New Roman" panose="02020603050405020304" charset="0"/>
                <a:cs typeface="Times New Roman" panose="02020603050405020304" charset="0"/>
              </a:rPr>
              <a:t>function</a:t>
            </a:r>
            <a:r>
              <a:rPr lang="en-US" altLang="zh-TW" sz="2400" dirty="0">
                <a:latin typeface="Times New Roman" panose="02020603050405020304" charset="0"/>
                <a:cs typeface="Times New Roman" panose="02020603050405020304" charset="0"/>
              </a:rPr>
              <a:t>.</a:t>
            </a:r>
            <a:endParaRPr lang="zh-TW" altLang="en-US" sz="2400" dirty="0">
              <a:latin typeface="Times New Roman" panose="02020603050405020304" charset="0"/>
              <a:cs typeface="Times New Roman" panose="02020603050405020304" charset="0"/>
            </a:endParaRPr>
          </a:p>
        </p:txBody>
      </p:sp>
      <p:sp>
        <p:nvSpPr>
          <p:cNvPr id="83" name="文字方塊 100">
            <a:extLst>
              <a:ext uri="{FF2B5EF4-FFF2-40B4-BE49-F238E27FC236}">
                <a16:creationId xmlns:a16="http://schemas.microsoft.com/office/drawing/2014/main" id="{7E14AD61-BF4F-47D9-BF7B-E354ABB8A4A2}"/>
              </a:ext>
            </a:extLst>
          </p:cNvPr>
          <p:cNvSpPr txBox="1"/>
          <p:nvPr/>
        </p:nvSpPr>
        <p:spPr>
          <a:xfrm>
            <a:off x="1880496" y="4726437"/>
            <a:ext cx="3599091" cy="461665"/>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Input vector, output vector</a:t>
            </a:r>
            <a:endParaRPr lang="zh-TW" altLang="en-US" sz="2400" dirty="0">
              <a:latin typeface="Times New Roman" panose="02020603050405020304" charset="0"/>
              <a:cs typeface="Times New Roman" panose="02020603050405020304" charset="0"/>
            </a:endParaRPr>
          </a:p>
        </p:txBody>
      </p:sp>
      <p:sp>
        <p:nvSpPr>
          <p:cNvPr id="85" name="弧形箭號 (下彎) 4">
            <a:extLst>
              <a:ext uri="{FF2B5EF4-FFF2-40B4-BE49-F238E27FC236}">
                <a16:creationId xmlns:a16="http://schemas.microsoft.com/office/drawing/2014/main" id="{7F796BFF-D68C-4E86-9F00-F632D9D1C9CA}"/>
              </a:ext>
            </a:extLst>
          </p:cNvPr>
          <p:cNvSpPr/>
          <p:nvPr/>
        </p:nvSpPr>
        <p:spPr>
          <a:xfrm rot="18733527">
            <a:off x="1877948" y="3334955"/>
            <a:ext cx="1395203" cy="70105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2337078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childTnLst>
                                </p:cTn>
                              </p:par>
                              <p:par>
                                <p:cTn id="45" presetID="1" presetClass="exit"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55"/>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56"/>
                                        </p:tgtEl>
                                        <p:attrNameLst>
                                          <p:attrName>style.visibility</p:attrName>
                                        </p:attrNameLst>
                                      </p:cBhvr>
                                      <p:to>
                                        <p:strVal val="hidden"/>
                                      </p:to>
                                    </p:set>
                                  </p:childTnLst>
                                </p:cTn>
                              </p:par>
                              <p:par>
                                <p:cTn id="57" presetID="1" presetClass="exit" presetSubtype="0" fill="hold" grpId="0" nodeType="withEffect">
                                  <p:stCondLst>
                                    <p:cond delay="0"/>
                                  </p:stCondLst>
                                  <p:childTnLst>
                                    <p:set>
                                      <p:cBhvr>
                                        <p:cTn id="58" dur="1" fill="hold">
                                          <p:stCondLst>
                                            <p:cond delay="0"/>
                                          </p:stCondLst>
                                        </p:cTn>
                                        <p:tgtEl>
                                          <p:spTgt spid="58"/>
                                        </p:tgtEl>
                                        <p:attrNameLst>
                                          <p:attrName>style.visibility</p:attrName>
                                        </p:attrNameLst>
                                      </p:cBhvr>
                                      <p:to>
                                        <p:strVal val="hidden"/>
                                      </p:to>
                                    </p:set>
                                  </p:childTnLst>
                                </p:cTn>
                              </p:par>
                              <p:par>
                                <p:cTn id="59" presetID="1" presetClass="exit"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54"/>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hidden"/>
                                      </p:to>
                                    </p:set>
                                  </p:childTnLst>
                                </p:cTn>
                              </p:par>
                              <p:par>
                                <p:cTn id="69" presetID="1" presetClass="exit" presetSubtype="0" fill="hold" grpId="0" nodeType="withEffect">
                                  <p:stCondLst>
                                    <p:cond delay="0"/>
                                  </p:stCondLst>
                                  <p:childTnLst>
                                    <p:set>
                                      <p:cBhvr>
                                        <p:cTn id="70" dur="1" fill="hold">
                                          <p:stCondLst>
                                            <p:cond delay="0"/>
                                          </p:stCondLst>
                                        </p:cTn>
                                        <p:tgtEl>
                                          <p:spTgt spid="44"/>
                                        </p:tgtEl>
                                        <p:attrNameLst>
                                          <p:attrName>style.visibility</p:attrName>
                                        </p:attrNameLst>
                                      </p:cBhvr>
                                      <p:to>
                                        <p:strVal val="hidden"/>
                                      </p:to>
                                    </p:set>
                                  </p:childTnLst>
                                </p:cTn>
                              </p:par>
                              <p:par>
                                <p:cTn id="71" presetID="1" presetClass="exit"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hidden"/>
                                      </p:to>
                                    </p:set>
                                  </p:childTnLst>
                                </p:cTn>
                              </p:par>
                              <p:par>
                                <p:cTn id="73" presetID="1" presetClass="exit" presetSubtype="0" fill="hold" grpId="0" nodeType="withEffect">
                                  <p:stCondLst>
                                    <p:cond delay="0"/>
                                  </p:stCondLst>
                                  <p:childTnLst>
                                    <p:set>
                                      <p:cBhvr>
                                        <p:cTn id="74" dur="1" fill="hold">
                                          <p:stCondLst>
                                            <p:cond delay="0"/>
                                          </p:stCondLst>
                                        </p:cTn>
                                        <p:tgtEl>
                                          <p:spTgt spid="65"/>
                                        </p:tgtEl>
                                        <p:attrNameLst>
                                          <p:attrName>style.visibility</p:attrName>
                                        </p:attrNameLst>
                                      </p:cBhvr>
                                      <p:to>
                                        <p:strVal val="hidden"/>
                                      </p:to>
                                    </p:set>
                                  </p:childTnLst>
                                </p:cTn>
                              </p:par>
                              <p:par>
                                <p:cTn id="75" presetID="1" presetClass="exit" presetSubtype="0" fill="hold" grpId="0" nodeType="withEffect">
                                  <p:stCondLst>
                                    <p:cond delay="0"/>
                                  </p:stCondLst>
                                  <p:childTnLst>
                                    <p:set>
                                      <p:cBhvr>
                                        <p:cTn id="76" dur="1" fill="hold">
                                          <p:stCondLst>
                                            <p:cond delay="0"/>
                                          </p:stCondLst>
                                        </p:cTn>
                                        <p:tgtEl>
                                          <p:spTgt spid="68"/>
                                        </p:tgtEl>
                                        <p:attrNameLst>
                                          <p:attrName>style.visibility</p:attrName>
                                        </p:attrNameLst>
                                      </p:cBhvr>
                                      <p:to>
                                        <p:strVal val="hidden"/>
                                      </p:to>
                                    </p:set>
                                  </p:childTnLst>
                                </p:cTn>
                              </p:par>
                              <p:par>
                                <p:cTn id="77" presetID="1" presetClass="exit" presetSubtype="0" fill="hold" grpId="0" nodeType="withEffect">
                                  <p:stCondLst>
                                    <p:cond delay="0"/>
                                  </p:stCondLst>
                                  <p:childTnLst>
                                    <p:set>
                                      <p:cBhvr>
                                        <p:cTn id="78" dur="1" fill="hold">
                                          <p:stCondLst>
                                            <p:cond delay="0"/>
                                          </p:stCondLst>
                                        </p:cTn>
                                        <p:tgtEl>
                                          <p:spTgt spid="71"/>
                                        </p:tgtEl>
                                        <p:attrNameLst>
                                          <p:attrName>style.visibility</p:attrName>
                                        </p:attrNameLst>
                                      </p:cBhvr>
                                      <p:to>
                                        <p:strVal val="hidden"/>
                                      </p:to>
                                    </p:set>
                                  </p:childTnLst>
                                </p:cTn>
                              </p:par>
                              <p:par>
                                <p:cTn id="79" presetID="1" presetClass="exit" presetSubtype="0" fill="hold" grpId="0" nodeType="withEffect">
                                  <p:stCondLst>
                                    <p:cond delay="0"/>
                                  </p:stCondLst>
                                  <p:childTnLst>
                                    <p:set>
                                      <p:cBhvr>
                                        <p:cTn id="80" dur="1" fill="hold">
                                          <p:stCondLst>
                                            <p:cond delay="0"/>
                                          </p:stCondLst>
                                        </p:cTn>
                                        <p:tgtEl>
                                          <p:spTgt spid="74"/>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81"/>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80"/>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59"/>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48"/>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61"/>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62"/>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60"/>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4" grpId="0"/>
      <p:bldP spid="47" grpId="0"/>
      <p:bldP spid="48" grpId="0" animBg="1"/>
      <p:bldP spid="48" grpId="1" animBg="1"/>
      <p:bldP spid="49" grpId="0" animBg="1"/>
      <p:bldP spid="49" grpId="1" animBg="1"/>
      <p:bldP spid="50" grpId="0"/>
      <p:bldP spid="51" grpId="0"/>
      <p:bldP spid="52" grpId="0"/>
      <p:bldP spid="54" grpId="0"/>
      <p:bldP spid="55" grpId="0"/>
      <p:bldP spid="56" grpId="0"/>
      <p:bldP spid="57" grpId="0"/>
      <p:bldP spid="58" grpId="0"/>
      <p:bldP spid="59" grpId="0" animBg="1"/>
      <p:bldP spid="59" grpId="1" animBg="1"/>
      <p:bldP spid="60" grpId="0" animBg="1"/>
      <p:bldP spid="60" grpId="1" animBg="1"/>
      <p:bldP spid="61" grpId="0" animBg="1"/>
      <p:bldP spid="61" grpId="1" animBg="1"/>
      <p:bldP spid="62" grpId="0" animBg="1"/>
      <p:bldP spid="62" grpId="1" animBg="1"/>
      <p:bldP spid="65" grpId="0"/>
      <p:bldP spid="68" grpId="0"/>
      <p:bldP spid="71" grpId="0"/>
      <p:bldP spid="74" grpId="0"/>
      <p:bldP spid="75" grpId="0"/>
      <p:bldP spid="76" grpId="0" animBg="1"/>
      <p:bldP spid="77" grpId="0"/>
      <p:bldP spid="80" grpId="0"/>
      <p:bldP spid="80" grpId="1"/>
      <p:bldP spid="81" grpId="0"/>
      <p:bldP spid="81" grpId="1"/>
      <p:bldP spid="82" grpId="0"/>
      <p:bldP spid="83" grpId="0"/>
      <p:bldP spid="8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26</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87" name="文字方塊 2">
            <a:extLst>
              <a:ext uri="{FF2B5EF4-FFF2-40B4-BE49-F238E27FC236}">
                <a16:creationId xmlns:a16="http://schemas.microsoft.com/office/drawing/2014/main" id="{61B0E888-9F74-470A-8EA3-8ADA5D54CBC6}"/>
              </a:ext>
            </a:extLst>
          </p:cNvPr>
          <p:cNvSpPr txBox="1"/>
          <p:nvPr/>
        </p:nvSpPr>
        <p:spPr>
          <a:xfrm>
            <a:off x="358584" y="1705468"/>
            <a:ext cx="3992604" cy="1569660"/>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Each forward operation in the NN is </a:t>
            </a:r>
            <a:r>
              <a:rPr lang="en-US" altLang="zh-TW" sz="2400" b="1" dirty="0">
                <a:solidFill>
                  <a:srgbClr val="FF0000"/>
                </a:solidFill>
                <a:latin typeface="Times New Roman" panose="02020603050405020304" charset="0"/>
                <a:cs typeface="Times New Roman" panose="02020603050405020304" charset="0"/>
              </a:rPr>
              <a:t>just a Matrix Multiplication  </a:t>
            </a:r>
            <a:r>
              <a:rPr lang="en-US" altLang="zh-TW" sz="2400" dirty="0">
                <a:latin typeface="Times New Roman" panose="02020603050405020304" charset="0"/>
                <a:cs typeface="Times New Roman" panose="02020603050405020304" charset="0"/>
              </a:rPr>
              <a:t>(followed by an activation function).</a:t>
            </a:r>
            <a:endParaRPr lang="zh-TW" altLang="en-US" sz="2400" dirty="0">
              <a:latin typeface="Times New Roman" panose="02020603050405020304" charset="0"/>
              <a:cs typeface="Times New Roman" panose="02020603050405020304" charset="0"/>
            </a:endParaRPr>
          </a:p>
        </p:txBody>
      </p:sp>
      <p:sp>
        <p:nvSpPr>
          <p:cNvPr id="88" name="文字方塊 2">
            <a:extLst>
              <a:ext uri="{FF2B5EF4-FFF2-40B4-BE49-F238E27FC236}">
                <a16:creationId xmlns:a16="http://schemas.microsoft.com/office/drawing/2014/main" id="{7EA7F627-EB27-47FE-B65C-D9653263EB7A}"/>
              </a:ext>
            </a:extLst>
          </p:cNvPr>
          <p:cNvSpPr txBox="1"/>
          <p:nvPr/>
        </p:nvSpPr>
        <p:spPr>
          <a:xfrm>
            <a:off x="1218431" y="4077502"/>
            <a:ext cx="3403839" cy="461665"/>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Characterizations of MM</a:t>
            </a:r>
          </a:p>
        </p:txBody>
      </p:sp>
      <p:sp>
        <p:nvSpPr>
          <p:cNvPr id="89" name="矩形 88">
            <a:extLst>
              <a:ext uri="{FF2B5EF4-FFF2-40B4-BE49-F238E27FC236}">
                <a16:creationId xmlns:a16="http://schemas.microsoft.com/office/drawing/2014/main" id="{65A49A02-507F-47A0-86A9-B351E3753B90}"/>
              </a:ext>
            </a:extLst>
          </p:cNvPr>
          <p:cNvSpPr/>
          <p:nvPr/>
        </p:nvSpPr>
        <p:spPr>
          <a:xfrm>
            <a:off x="2021708" y="4938678"/>
            <a:ext cx="1797287" cy="523220"/>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en-US" altLang="zh-TW" sz="2800" dirty="0">
                <a:latin typeface="Times New Roman" panose="02020603050405020304" charset="0"/>
                <a:cs typeface="Times New Roman" panose="02020603050405020304" charset="0"/>
              </a:rPr>
              <a:t>Parallelism</a:t>
            </a:r>
            <a:endParaRPr lang="zh-TW" altLang="en-US" sz="2800" dirty="0">
              <a:latin typeface="Times New Roman" panose="02020603050405020304" charset="0"/>
              <a:cs typeface="Times New Roman" panose="02020603050405020304" charset="0"/>
            </a:endParaRPr>
          </a:p>
        </p:txBody>
      </p:sp>
      <p:sp>
        <p:nvSpPr>
          <p:cNvPr id="90" name="文字方塊 2">
            <a:extLst>
              <a:ext uri="{FF2B5EF4-FFF2-40B4-BE49-F238E27FC236}">
                <a16:creationId xmlns:a16="http://schemas.microsoft.com/office/drawing/2014/main" id="{C14167F4-53FE-4E16-8925-BBE89B3EC61B}"/>
              </a:ext>
            </a:extLst>
          </p:cNvPr>
          <p:cNvSpPr txBox="1"/>
          <p:nvPr/>
        </p:nvSpPr>
        <p:spPr>
          <a:xfrm>
            <a:off x="5885642" y="3807306"/>
            <a:ext cx="5591654" cy="830997"/>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ChatGPT-175B requires a month of training using</a:t>
            </a:r>
            <a:r>
              <a:rPr lang="zh-CN" altLang="en-US" sz="2400" dirty="0">
                <a:latin typeface="Times New Roman" panose="02020603050405020304" charset="0"/>
                <a:cs typeface="Times New Roman" panose="02020603050405020304" charset="0"/>
              </a:rPr>
              <a:t> </a:t>
            </a:r>
            <a:r>
              <a:rPr lang="en-US" altLang="zh-TW" sz="2400" dirty="0">
                <a:latin typeface="Times New Roman" panose="02020603050405020304" charset="0"/>
                <a:cs typeface="Times New Roman" panose="02020603050405020304" charset="0"/>
              </a:rPr>
              <a:t>~1400 GPUs (A100, $10K+ per card).</a:t>
            </a:r>
          </a:p>
        </p:txBody>
      </p:sp>
      <p:pic>
        <p:nvPicPr>
          <p:cNvPr id="91" name="图片 90">
            <a:extLst>
              <a:ext uri="{FF2B5EF4-FFF2-40B4-BE49-F238E27FC236}">
                <a16:creationId xmlns:a16="http://schemas.microsoft.com/office/drawing/2014/main" id="{4C867D1A-1139-408E-87A4-CCF855296350}"/>
              </a:ext>
            </a:extLst>
          </p:cNvPr>
          <p:cNvPicPr>
            <a:picLocks noChangeAspect="1"/>
          </p:cNvPicPr>
          <p:nvPr/>
        </p:nvPicPr>
        <p:blipFill>
          <a:blip r:embed="rId3"/>
          <a:stretch>
            <a:fillRect/>
          </a:stretch>
        </p:blipFill>
        <p:spPr>
          <a:xfrm>
            <a:off x="7427093" y="4737409"/>
            <a:ext cx="2743199" cy="1801503"/>
          </a:xfrm>
          <a:prstGeom prst="rect">
            <a:avLst/>
          </a:prstGeom>
        </p:spPr>
      </p:pic>
      <p:sp>
        <p:nvSpPr>
          <p:cNvPr id="92" name="矩形 91">
            <a:extLst>
              <a:ext uri="{FF2B5EF4-FFF2-40B4-BE49-F238E27FC236}">
                <a16:creationId xmlns:a16="http://schemas.microsoft.com/office/drawing/2014/main" id="{381EC189-0FA3-4DE5-BD60-0F9320569CF5}"/>
              </a:ext>
            </a:extLst>
          </p:cNvPr>
          <p:cNvSpPr/>
          <p:nvPr/>
        </p:nvSpPr>
        <p:spPr>
          <a:xfrm>
            <a:off x="918878" y="5964464"/>
            <a:ext cx="4560864" cy="523220"/>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r>
              <a:rPr lang="en-US" altLang="zh-TW" sz="2800" dirty="0">
                <a:latin typeface="Times New Roman" panose="02020603050405020304" charset="0"/>
                <a:cs typeface="Times New Roman" panose="02020603050405020304" charset="0"/>
              </a:rPr>
              <a:t>GPU for Parallel Computation</a:t>
            </a:r>
            <a:endParaRPr lang="zh-TW" altLang="en-US" sz="2800" dirty="0">
              <a:latin typeface="Times New Roman" panose="02020603050405020304" charset="0"/>
              <a:cs typeface="Times New Roman" panose="02020603050405020304" charset="0"/>
            </a:endParaRPr>
          </a:p>
        </p:txBody>
      </p:sp>
      <p:sp>
        <p:nvSpPr>
          <p:cNvPr id="93" name="向右箭號 9">
            <a:extLst>
              <a:ext uri="{FF2B5EF4-FFF2-40B4-BE49-F238E27FC236}">
                <a16:creationId xmlns:a16="http://schemas.microsoft.com/office/drawing/2014/main" id="{CE3CFD46-4E75-4636-AB7E-A66BA0E0D3BF}"/>
              </a:ext>
            </a:extLst>
          </p:cNvPr>
          <p:cNvSpPr/>
          <p:nvPr/>
        </p:nvSpPr>
        <p:spPr>
          <a:xfrm rot="5400000">
            <a:off x="2706734" y="4334619"/>
            <a:ext cx="427231" cy="6821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94" name="向右箭號 9">
            <a:extLst>
              <a:ext uri="{FF2B5EF4-FFF2-40B4-BE49-F238E27FC236}">
                <a16:creationId xmlns:a16="http://schemas.microsoft.com/office/drawing/2014/main" id="{DDB41B3E-6017-490A-A9C9-02D48BBF3D66}"/>
              </a:ext>
            </a:extLst>
          </p:cNvPr>
          <p:cNvSpPr/>
          <p:nvPr/>
        </p:nvSpPr>
        <p:spPr>
          <a:xfrm rot="5400000">
            <a:off x="2710130" y="5369517"/>
            <a:ext cx="427231" cy="6821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pic>
        <p:nvPicPr>
          <p:cNvPr id="15" name="Picture 2">
            <a:extLst>
              <a:ext uri="{FF2B5EF4-FFF2-40B4-BE49-F238E27FC236}">
                <a16:creationId xmlns:a16="http://schemas.microsoft.com/office/drawing/2014/main" id="{C0655830-9B4E-493D-8844-876482B772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01" t="14825" r="8505" b="15104"/>
          <a:stretch/>
        </p:blipFill>
        <p:spPr bwMode="auto">
          <a:xfrm>
            <a:off x="3765032" y="1297556"/>
            <a:ext cx="8361262" cy="2438400"/>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0DB18851-7A0D-4718-8883-34123E6D6A57}"/>
              </a:ext>
            </a:extLst>
          </p:cNvPr>
          <p:cNvSpPr/>
          <p:nvPr/>
        </p:nvSpPr>
        <p:spPr>
          <a:xfrm>
            <a:off x="5551316" y="1424556"/>
            <a:ext cx="478972" cy="2162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FAC34EBD-D08C-47AF-A432-FD72CC6FFB55}"/>
              </a:ext>
            </a:extLst>
          </p:cNvPr>
          <p:cNvSpPr/>
          <p:nvPr/>
        </p:nvSpPr>
        <p:spPr>
          <a:xfrm>
            <a:off x="6828046" y="1424555"/>
            <a:ext cx="333826" cy="2162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7ECDCC1A-A5DB-4B22-8860-D7A7199FD8AF}"/>
              </a:ext>
            </a:extLst>
          </p:cNvPr>
          <p:cNvSpPr/>
          <p:nvPr/>
        </p:nvSpPr>
        <p:spPr>
          <a:xfrm>
            <a:off x="7452964" y="1424556"/>
            <a:ext cx="478972" cy="2162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CEDEA071-8B85-4D8A-A641-585A2B0A8178}"/>
              </a:ext>
            </a:extLst>
          </p:cNvPr>
          <p:cNvSpPr/>
          <p:nvPr/>
        </p:nvSpPr>
        <p:spPr>
          <a:xfrm>
            <a:off x="8729694" y="1424555"/>
            <a:ext cx="333826" cy="2162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BD347DB0-C3A9-4CD9-B53B-320ADEDF1CE2}"/>
              </a:ext>
            </a:extLst>
          </p:cNvPr>
          <p:cNvSpPr/>
          <p:nvPr/>
        </p:nvSpPr>
        <p:spPr>
          <a:xfrm>
            <a:off x="10295956" y="1424556"/>
            <a:ext cx="478972" cy="2162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0FBDF600-752A-4802-9402-879975254275}"/>
              </a:ext>
            </a:extLst>
          </p:cNvPr>
          <p:cNvSpPr/>
          <p:nvPr/>
        </p:nvSpPr>
        <p:spPr>
          <a:xfrm>
            <a:off x="11601714" y="1424555"/>
            <a:ext cx="333826" cy="2162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68800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P spid="89" grpId="0" animBg="1"/>
      <p:bldP spid="90" grpId="0"/>
      <p:bldP spid="92" grpId="0" animBg="1"/>
      <p:bldP spid="93" grpId="0" animBg="1"/>
      <p:bldP spid="9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27</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15" name="文本框 14">
            <a:extLst>
              <a:ext uri="{FF2B5EF4-FFF2-40B4-BE49-F238E27FC236}">
                <a16:creationId xmlns:a16="http://schemas.microsoft.com/office/drawing/2014/main" id="{1FE15762-BE65-4767-8F5F-700770B72914}"/>
              </a:ext>
            </a:extLst>
          </p:cNvPr>
          <p:cNvSpPr txBox="1"/>
          <p:nvPr/>
        </p:nvSpPr>
        <p:spPr>
          <a:xfrm>
            <a:off x="501869" y="1546914"/>
            <a:ext cx="7528033" cy="646331"/>
          </a:xfrm>
          <a:prstGeom prst="rect">
            <a:avLst/>
          </a:prstGeom>
          <a:noFill/>
        </p:spPr>
        <p:txBody>
          <a:bodyPr wrap="square">
            <a:spAutoFit/>
          </a:bodyPr>
          <a:lstStyle/>
          <a:p>
            <a:r>
              <a:rPr lang="zh-CN" altLang="en-US" sz="3600" b="0" i="0" dirty="0">
                <a:solidFill>
                  <a:srgbClr val="0F1115"/>
                </a:solidFill>
                <a:effectLst/>
                <a:latin typeface="quote-cjk-patch"/>
              </a:rPr>
              <a:t>一个很自然的问题：</a:t>
            </a:r>
            <a:r>
              <a:rPr lang="en-US" altLang="zh-CN" sz="3600" b="0" i="0" dirty="0">
                <a:solidFill>
                  <a:srgbClr val="0F1115"/>
                </a:solidFill>
                <a:effectLst/>
                <a:latin typeface="quote-cjk-patch"/>
              </a:rPr>
              <a:t>FAT or DEEP?</a:t>
            </a:r>
            <a:endParaRPr lang="zh-CN" altLang="en-US" sz="3600" dirty="0"/>
          </a:p>
        </p:txBody>
      </p:sp>
      <p:pic>
        <p:nvPicPr>
          <p:cNvPr id="16" name="圖片 5">
            <a:extLst>
              <a:ext uri="{FF2B5EF4-FFF2-40B4-BE49-F238E27FC236}">
                <a16:creationId xmlns:a16="http://schemas.microsoft.com/office/drawing/2014/main" id="{E5F67A1E-769D-470C-AB26-9FABF888126F}"/>
              </a:ext>
            </a:extLst>
          </p:cNvPr>
          <p:cNvPicPr>
            <a:picLocks noChangeAspect="1"/>
          </p:cNvPicPr>
          <p:nvPr/>
        </p:nvPicPr>
        <p:blipFill>
          <a:blip r:embed="rId3"/>
          <a:stretch>
            <a:fillRect/>
          </a:stretch>
        </p:blipFill>
        <p:spPr>
          <a:xfrm rot="16200000">
            <a:off x="3904877" y="2279442"/>
            <a:ext cx="3363072" cy="3512210"/>
          </a:xfrm>
          <a:prstGeom prst="rect">
            <a:avLst/>
          </a:prstGeom>
        </p:spPr>
      </p:pic>
    </p:spTree>
    <p:extLst>
      <p:ext uri="{BB962C8B-B14F-4D97-AF65-F5344CB8AC3E}">
        <p14:creationId xmlns:p14="http://schemas.microsoft.com/office/powerpoint/2010/main" val="59885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28</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3008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1989</a:t>
            </a:r>
            <a:r>
              <a:rPr lang="zh-CN" altLang="en-US" sz="2400" dirty="0">
                <a:latin typeface="Times New Roman" panose="02020603050405020304" pitchFamily="18" charset="0"/>
                <a:cs typeface="Times New Roman" panose="02020603050405020304" pitchFamily="18" charset="0"/>
              </a:rPr>
              <a:t>年，</a:t>
            </a:r>
            <a:r>
              <a:rPr lang="zh-CN" altLang="en-US" sz="2400" dirty="0"/>
              <a:t>George Cybenko证明了，当激活函数是</a:t>
            </a:r>
            <a:r>
              <a:rPr lang="en-US" altLang="zh-CN" sz="2400" dirty="0"/>
              <a:t>sigmoid</a:t>
            </a:r>
            <a:r>
              <a:rPr lang="zh-CN" altLang="en-US" sz="2400" dirty="0"/>
              <a:t>型函数时，只有单隐层的多层感知机就可以在任意精度下逼近定义在紧集上的任意连续函数。</a:t>
            </a:r>
            <a:endParaRPr lang="en-US" altLang="zh-CN" sz="2400" dirty="0"/>
          </a:p>
          <a:p>
            <a:pPr algn="r">
              <a:buClr>
                <a:srgbClr val="C00000"/>
              </a:buClr>
            </a:pPr>
            <a:r>
              <a:rPr lang="en-US" altLang="zh-CN" sz="2400" dirty="0"/>
              <a:t>——</a:t>
            </a:r>
            <a:r>
              <a:rPr lang="zh-CN" altLang="en-US" sz="2400" dirty="0"/>
              <a:t>通用近似定理</a:t>
            </a:r>
            <a:endParaRPr lang="zh-CN" altLang="en-US" sz="24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504819C6-2DC2-B342-9A3F-C893F976A101}"/>
              </a:ext>
            </a:extLst>
          </p:cNvPr>
          <p:cNvPicPr>
            <a:picLocks noChangeAspect="1"/>
          </p:cNvPicPr>
          <p:nvPr/>
        </p:nvPicPr>
        <p:blipFill>
          <a:blip r:embed="rId3"/>
          <a:stretch>
            <a:fillRect/>
          </a:stretch>
        </p:blipFill>
        <p:spPr>
          <a:xfrm>
            <a:off x="548640" y="2923658"/>
            <a:ext cx="8572530" cy="2814578"/>
          </a:xfrm>
          <a:prstGeom prst="rect">
            <a:avLst/>
          </a:prstGeom>
        </p:spPr>
      </p:pic>
      <p:sp>
        <p:nvSpPr>
          <p:cNvPr id="9" name="文本框 8">
            <a:extLst>
              <a:ext uri="{FF2B5EF4-FFF2-40B4-BE49-F238E27FC236}">
                <a16:creationId xmlns:a16="http://schemas.microsoft.com/office/drawing/2014/main" id="{6A5FD96F-962F-894C-839C-FF043132284B}"/>
              </a:ext>
            </a:extLst>
          </p:cNvPr>
          <p:cNvSpPr txBox="1"/>
          <p:nvPr/>
        </p:nvSpPr>
        <p:spPr>
          <a:xfrm>
            <a:off x="548640" y="5884425"/>
            <a:ext cx="8750330" cy="707886"/>
          </a:xfrm>
          <a:prstGeom prst="rect">
            <a:avLst/>
          </a:prstGeom>
          <a:noFill/>
        </p:spPr>
        <p:txBody>
          <a:bodyPr wrap="square">
            <a:spAutoFit/>
          </a:bodyPr>
          <a:lstStyle/>
          <a:p>
            <a:r>
              <a:rPr lang="zh-CN" altLang="en-US" sz="2000" dirty="0"/>
              <a:t>George Cybenko</a:t>
            </a:r>
            <a:r>
              <a:rPr lang="en-US" altLang="zh-CN" sz="2000" dirty="0"/>
              <a:t>.</a:t>
            </a:r>
            <a:r>
              <a:rPr lang="zh-CN" altLang="en-US" sz="2000" dirty="0"/>
              <a:t> Approximation by Superpositions of a Sigmoidal Function</a:t>
            </a:r>
            <a:r>
              <a:rPr lang="en-US" altLang="zh-CN" sz="2000" dirty="0"/>
              <a:t>. </a:t>
            </a:r>
            <a:r>
              <a:rPr lang="zh-CN" altLang="en-US" sz="2000" dirty="0"/>
              <a:t>Mathematics of Control, Signals, and Systems</a:t>
            </a:r>
            <a:r>
              <a:rPr lang="en-US" altLang="zh-CN" sz="2000" dirty="0"/>
              <a:t>, </a:t>
            </a:r>
            <a:r>
              <a:rPr lang="zh-CN" altLang="en-US" sz="2000" dirty="0"/>
              <a:t>2(4): 303–314</a:t>
            </a:r>
            <a:r>
              <a:rPr lang="en-US" altLang="zh-CN" sz="2000" dirty="0"/>
              <a:t>, 1989.</a:t>
            </a:r>
            <a:endParaRPr lang="zh-CN" altLang="en-US" sz="2000" dirty="0"/>
          </a:p>
        </p:txBody>
      </p:sp>
      <p:sp>
        <p:nvSpPr>
          <p:cNvPr id="11" name="爆炸形 2 10">
            <a:extLst>
              <a:ext uri="{FF2B5EF4-FFF2-40B4-BE49-F238E27FC236}">
                <a16:creationId xmlns:a16="http://schemas.microsoft.com/office/drawing/2014/main" id="{C1134A58-F812-6E44-AD2D-883FE7DDA689}"/>
              </a:ext>
            </a:extLst>
          </p:cNvPr>
          <p:cNvSpPr/>
          <p:nvPr/>
        </p:nvSpPr>
        <p:spPr>
          <a:xfrm>
            <a:off x="7426960" y="3914349"/>
            <a:ext cx="4216400" cy="1734114"/>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其它激活函数亦可！</a:t>
            </a:r>
          </a:p>
        </p:txBody>
      </p:sp>
    </p:spTree>
    <p:extLst>
      <p:ext uri="{BB962C8B-B14F-4D97-AF65-F5344CB8AC3E}">
        <p14:creationId xmlns:p14="http://schemas.microsoft.com/office/powerpoint/2010/main" val="387618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29</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3008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1989</a:t>
            </a:r>
            <a:r>
              <a:rPr lang="zh-CN" altLang="en-US" sz="2400" dirty="0">
                <a:latin typeface="Times New Roman" panose="02020603050405020304" pitchFamily="18" charset="0"/>
                <a:cs typeface="Times New Roman" panose="02020603050405020304" pitchFamily="18" charset="0"/>
              </a:rPr>
              <a:t>年，</a:t>
            </a:r>
            <a:r>
              <a:rPr lang="zh-CN" altLang="en-US" sz="2400" dirty="0"/>
              <a:t>George Cybenko证明了，当激活函数是</a:t>
            </a:r>
            <a:r>
              <a:rPr lang="en-US" altLang="zh-CN" sz="2400" dirty="0"/>
              <a:t>sigmoid</a:t>
            </a:r>
            <a:r>
              <a:rPr lang="zh-CN" altLang="en-US" sz="2400" dirty="0"/>
              <a:t>型函数时，只有单隐层的多层感知机就可以在任意精度下逼近定义在紧集上的任意连续函数。</a:t>
            </a:r>
            <a:endParaRPr lang="en-US" altLang="zh-CN" sz="2400" dirty="0"/>
          </a:p>
          <a:p>
            <a:pPr algn="r">
              <a:buClr>
                <a:srgbClr val="C00000"/>
              </a:buClr>
            </a:pPr>
            <a:r>
              <a:rPr lang="en-US" altLang="zh-CN" sz="2400" dirty="0"/>
              <a:t>——</a:t>
            </a:r>
            <a:r>
              <a:rPr lang="zh-CN" altLang="en-US" sz="2400" dirty="0"/>
              <a:t>通用近似定理</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8F50B2C3-FD26-454E-8D82-70CD46D93FD9}"/>
              </a:ext>
            </a:extLst>
          </p:cNvPr>
          <p:cNvSpPr txBox="1"/>
          <p:nvPr/>
        </p:nvSpPr>
        <p:spPr>
          <a:xfrm>
            <a:off x="509753" y="2982887"/>
            <a:ext cx="11171736" cy="3738588"/>
          </a:xfrm>
          <a:prstGeom prst="rect">
            <a:avLst/>
          </a:prstGeom>
          <a:noFill/>
        </p:spPr>
        <p:txBody>
          <a:bodyPr wrap="square">
            <a:spAutoFit/>
          </a:bodyPr>
          <a:lstStyle/>
          <a:p>
            <a:pPr marL="285750" indent="-285750">
              <a:lnSpc>
                <a:spcPct val="150000"/>
              </a:lnSpc>
              <a:buFont typeface="Wingdings" panose="05000000000000000000" pitchFamily="2" charset="2"/>
              <a:buChar char="p"/>
            </a:pPr>
            <a:r>
              <a:rPr lang="zh-CN" altLang="en-US" sz="2000" b="0" i="0" dirty="0">
                <a:solidFill>
                  <a:srgbClr val="0F1115"/>
                </a:solidFill>
                <a:effectLst/>
                <a:latin typeface="quote-cjk-patch"/>
              </a:rPr>
              <a:t>回答了一个非常根本的问题：</a:t>
            </a:r>
            <a:r>
              <a:rPr lang="zh-CN" altLang="en-US" sz="2000" b="1" i="0" dirty="0">
                <a:solidFill>
                  <a:srgbClr val="0F1115"/>
                </a:solidFill>
                <a:effectLst/>
                <a:latin typeface="quote-cjk-patch"/>
              </a:rPr>
              <a:t>一个简单的神经网络结构，在理论上有没有能力表示足够复杂的函数？</a:t>
            </a:r>
            <a:endParaRPr lang="en-US" altLang="zh-CN" sz="2000" b="1" i="0" dirty="0">
              <a:solidFill>
                <a:srgbClr val="0F1115"/>
              </a:solidFill>
              <a:effectLst/>
              <a:latin typeface="quote-cjk-patch"/>
            </a:endParaRPr>
          </a:p>
          <a:p>
            <a:pPr marL="285750" indent="-285750">
              <a:lnSpc>
                <a:spcPct val="150000"/>
              </a:lnSpc>
              <a:buFont typeface="Wingdings" panose="05000000000000000000" pitchFamily="2" charset="2"/>
              <a:buChar char="p"/>
            </a:pPr>
            <a:r>
              <a:rPr lang="zh-CN" altLang="en-US" sz="2000" b="1" dirty="0">
                <a:solidFill>
                  <a:srgbClr val="0F1115"/>
                </a:solidFill>
                <a:latin typeface="quote-cjk-patch"/>
              </a:rPr>
              <a:t>足够宽在理论上能够保证能力：</a:t>
            </a:r>
            <a:r>
              <a:rPr lang="zh-CN" altLang="en-US" sz="2000" b="0" i="0" dirty="0">
                <a:solidFill>
                  <a:srgbClr val="0F1115"/>
                </a:solidFill>
                <a:effectLst/>
                <a:latin typeface="quote-cjk-patch"/>
              </a:rPr>
              <a:t>只要一个前馈神经网络拥有 </a:t>
            </a:r>
            <a:r>
              <a:rPr lang="zh-CN" altLang="en-US" sz="2000" b="1" i="0" dirty="0">
                <a:solidFill>
                  <a:srgbClr val="0F1115"/>
                </a:solidFill>
                <a:effectLst/>
                <a:latin typeface="quote-cjk-patch"/>
              </a:rPr>
              <a:t>一个隐藏层</a:t>
            </a:r>
            <a:r>
              <a:rPr lang="zh-CN" altLang="en-US" sz="2000" b="0" i="0" dirty="0">
                <a:solidFill>
                  <a:srgbClr val="0F1115"/>
                </a:solidFill>
                <a:effectLst/>
                <a:latin typeface="quote-cjk-patch"/>
              </a:rPr>
              <a:t>（且神经元数量足够多），激活函数采用连续的 </a:t>
            </a:r>
            <a:r>
              <a:rPr lang="en-US" altLang="zh-CN" sz="2000" b="0" i="0" dirty="0">
                <a:solidFill>
                  <a:srgbClr val="0F1115"/>
                </a:solidFill>
                <a:effectLst/>
                <a:latin typeface="quote-cjk-patch"/>
              </a:rPr>
              <a:t>sigmoid </a:t>
            </a:r>
            <a:r>
              <a:rPr lang="zh-CN" altLang="en-US" sz="2000" b="0" i="0" dirty="0">
                <a:solidFill>
                  <a:srgbClr val="0F1115"/>
                </a:solidFill>
                <a:effectLst/>
                <a:latin typeface="quote-cjk-patch"/>
              </a:rPr>
              <a:t>型函数（或其他满足条件的非线性函数），它就可以 </a:t>
            </a:r>
            <a:r>
              <a:rPr lang="zh-CN" altLang="en-US" sz="2000" b="1" i="0" dirty="0">
                <a:solidFill>
                  <a:srgbClr val="0F1115"/>
                </a:solidFill>
                <a:effectLst/>
                <a:latin typeface="quote-cjk-patch"/>
              </a:rPr>
              <a:t>以任意精度</a:t>
            </a:r>
            <a:r>
              <a:rPr lang="zh-CN" altLang="en-US" sz="2000" b="0" i="0" dirty="0">
                <a:solidFill>
                  <a:srgbClr val="0F1115"/>
                </a:solidFill>
                <a:effectLst/>
                <a:latin typeface="quote-cjk-patch"/>
              </a:rPr>
              <a:t> 逼近 </a:t>
            </a:r>
            <a:r>
              <a:rPr lang="zh-CN" altLang="en-US" sz="2000" b="1" i="0" dirty="0">
                <a:solidFill>
                  <a:srgbClr val="0F1115"/>
                </a:solidFill>
                <a:effectLst/>
                <a:latin typeface="quote-cjk-patch"/>
              </a:rPr>
              <a:t>定义在紧集上的任何连续函数</a:t>
            </a:r>
            <a:endParaRPr lang="en-US" altLang="zh-CN" sz="2000" dirty="0">
              <a:solidFill>
                <a:srgbClr val="0F1115"/>
              </a:solidFill>
              <a:latin typeface="quote-cjk-patch"/>
            </a:endParaRPr>
          </a:p>
          <a:p>
            <a:pPr marL="285750" indent="-285750">
              <a:lnSpc>
                <a:spcPct val="150000"/>
              </a:lnSpc>
              <a:buFont typeface="Wingdings" panose="05000000000000000000" pitchFamily="2" charset="2"/>
              <a:buChar char="p"/>
            </a:pPr>
            <a:r>
              <a:rPr lang="zh-CN" altLang="en-US" sz="2000" b="1" dirty="0">
                <a:solidFill>
                  <a:srgbClr val="0F1115"/>
                </a:solidFill>
                <a:effectLst/>
                <a:latin typeface="quote-cjk-patch"/>
              </a:rPr>
              <a:t>非线性激活函数的关键作用：</a:t>
            </a:r>
            <a:r>
              <a:rPr lang="zh-CN" altLang="en-US" sz="2000" b="0" i="0" dirty="0">
                <a:solidFill>
                  <a:srgbClr val="0F1115"/>
                </a:solidFill>
                <a:effectLst/>
                <a:latin typeface="quote-cjk-patch"/>
              </a:rPr>
              <a:t>只要加入一个非线性激活函数（如 </a:t>
            </a:r>
            <a:r>
              <a:rPr lang="en-US" altLang="zh-CN" sz="2000" b="0" i="0" dirty="0">
                <a:solidFill>
                  <a:srgbClr val="0F1115"/>
                </a:solidFill>
                <a:effectLst/>
                <a:latin typeface="quote-cjk-patch"/>
              </a:rPr>
              <a:t>sigmoid</a:t>
            </a:r>
            <a:r>
              <a:rPr lang="zh-CN" altLang="en-US" sz="2000" b="0" i="0" dirty="0">
                <a:solidFill>
                  <a:srgbClr val="0F1115"/>
                </a:solidFill>
                <a:effectLst/>
                <a:latin typeface="quote-cjk-patch"/>
              </a:rPr>
              <a:t>、</a:t>
            </a:r>
            <a:r>
              <a:rPr lang="en-US" altLang="zh-CN" sz="2000" b="0" i="0" dirty="0">
                <a:solidFill>
                  <a:srgbClr val="0F1115"/>
                </a:solidFill>
                <a:effectLst/>
                <a:latin typeface="quote-cjk-patch"/>
              </a:rPr>
              <a:t>tanh</a:t>
            </a:r>
            <a:r>
              <a:rPr lang="zh-CN" altLang="en-US" sz="2000" b="0" i="0" dirty="0">
                <a:solidFill>
                  <a:srgbClr val="0F1115"/>
                </a:solidFill>
                <a:effectLst/>
                <a:latin typeface="quote-cjk-patch"/>
              </a:rPr>
              <a:t>、</a:t>
            </a:r>
            <a:r>
              <a:rPr lang="en-US" altLang="zh-CN" sz="2000" b="0" i="0" dirty="0" err="1">
                <a:solidFill>
                  <a:srgbClr val="0F1115"/>
                </a:solidFill>
                <a:effectLst/>
                <a:latin typeface="quote-cjk-patch"/>
              </a:rPr>
              <a:t>ReLU</a:t>
            </a:r>
            <a:r>
              <a:rPr lang="en-US" altLang="zh-CN" sz="2000" b="0" i="0" dirty="0">
                <a:solidFill>
                  <a:srgbClr val="0F1115"/>
                </a:solidFill>
                <a:effectLst/>
                <a:latin typeface="quote-cjk-patch"/>
              </a:rPr>
              <a:t> </a:t>
            </a:r>
            <a:r>
              <a:rPr lang="zh-CN" altLang="en-US" sz="2000" b="0" i="0" dirty="0">
                <a:solidFill>
                  <a:srgbClr val="0F1115"/>
                </a:solidFill>
                <a:effectLst/>
                <a:latin typeface="quote-cjk-patch"/>
              </a:rPr>
              <a:t>的某些变体），并在隐藏层给予足够的自由度，神经网络就不再受限于线性模型，而成为 </a:t>
            </a:r>
            <a:r>
              <a:rPr lang="zh-CN" altLang="en-US" sz="2000" b="1" i="0" dirty="0">
                <a:solidFill>
                  <a:srgbClr val="0F1115"/>
                </a:solidFill>
                <a:effectLst/>
                <a:latin typeface="quote-cjk-patch"/>
              </a:rPr>
              <a:t>一种通用的函数逼近器</a:t>
            </a:r>
            <a:endParaRPr lang="zh-CN" altLang="en-US" sz="2000" b="1" dirty="0">
              <a:solidFill>
                <a:srgbClr val="0F1115"/>
              </a:solidFill>
              <a:effectLst/>
              <a:latin typeface="quote-cjk-patch"/>
            </a:endParaRPr>
          </a:p>
        </p:txBody>
      </p:sp>
    </p:spTree>
    <p:extLst>
      <p:ext uri="{BB962C8B-B14F-4D97-AF65-F5344CB8AC3E}">
        <p14:creationId xmlns:p14="http://schemas.microsoft.com/office/powerpoint/2010/main" val="2823565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30</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30227"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a:t>
            </a:r>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3008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1989</a:t>
            </a:r>
            <a:r>
              <a:rPr lang="zh-CN" altLang="en-US" sz="2400" dirty="0">
                <a:latin typeface="Times New Roman" panose="02020603050405020304" pitchFamily="18" charset="0"/>
                <a:cs typeface="Times New Roman" panose="02020603050405020304" pitchFamily="18" charset="0"/>
              </a:rPr>
              <a:t>年，</a:t>
            </a:r>
            <a:r>
              <a:rPr lang="zh-CN" altLang="en-US" sz="2400" dirty="0"/>
              <a:t>George Cybenko证明了，当激活函数是</a:t>
            </a:r>
            <a:r>
              <a:rPr lang="en-US" altLang="zh-CN" sz="2400" dirty="0"/>
              <a:t>sigmoid</a:t>
            </a:r>
            <a:r>
              <a:rPr lang="zh-CN" altLang="en-US" sz="2400" dirty="0"/>
              <a:t>型函数时，只有单隐层的多层感知机就可以在任意精度下逼近定义在紧集上的任意连续函数。</a:t>
            </a:r>
            <a:endParaRPr lang="en-US" altLang="zh-CN" sz="2400" dirty="0"/>
          </a:p>
          <a:p>
            <a:pPr algn="r">
              <a:buClr>
                <a:srgbClr val="C00000"/>
              </a:buClr>
            </a:pPr>
            <a:r>
              <a:rPr lang="en-US" altLang="zh-CN" sz="2400" dirty="0"/>
              <a:t>——</a:t>
            </a:r>
            <a:r>
              <a:rPr lang="zh-CN" altLang="en-US" sz="2400" dirty="0"/>
              <a:t>通用近似定理</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3A66149-41E1-3B4F-BA2E-5797C9D2130E}"/>
                  </a:ext>
                </a:extLst>
              </p:cNvPr>
              <p:cNvSpPr txBox="1"/>
              <p:nvPr/>
            </p:nvSpPr>
            <p:spPr>
              <a:xfrm>
                <a:off x="548640" y="2827786"/>
                <a:ext cx="11440160" cy="3650999"/>
              </a:xfrm>
              <a:prstGeom prst="rect">
                <a:avLst/>
              </a:prstGeom>
              <a:noFill/>
            </p:spPr>
            <p:txBody>
              <a:bodyPr wrap="square" rtlCol="0">
                <a:spAutoFit/>
              </a:bodyPr>
              <a:lstStyle/>
              <a:p>
                <a:pPr marL="285750" indent="-285750">
                  <a:buFont typeface="Wingdings" pitchFamily="2" charset="2"/>
                  <a:buChar char="n"/>
                </a:pPr>
                <a:r>
                  <a:rPr kumimoji="1" lang="zh-CN" altLang="en-US" sz="2400" dirty="0"/>
                  <a:t>激活函数的重要性：假设没有激活函数，多层感知机</a:t>
                </a:r>
                <a:r>
                  <a:rPr kumimoji="1" lang="en-US" altLang="zh-CN" sz="2400" dirty="0"/>
                  <a:t>(</a:t>
                </a:r>
                <a:r>
                  <a:rPr kumimoji="1" lang="zh-CN" altLang="en-US" sz="2400" dirty="0"/>
                  <a:t>记总层数为</a:t>
                </a:r>
                <a14:m>
                  <m:oMath xmlns:m="http://schemas.openxmlformats.org/officeDocument/2006/math">
                    <m:r>
                      <a:rPr kumimoji="1" lang="en-US" altLang="zh-CN" sz="2400" b="0" i="1" smtClean="0">
                        <a:latin typeface="Cambria Math" panose="02040503050406030204" pitchFamily="18" charset="0"/>
                      </a:rPr>
                      <m:t>𝐿</m:t>
                    </m:r>
                  </m:oMath>
                </a14:m>
                <a:r>
                  <a:rPr kumimoji="1" lang="en-US" altLang="zh-CN" sz="2400" dirty="0"/>
                  <a:t>)</a:t>
                </a:r>
                <a:r>
                  <a:rPr kumimoji="1" lang="zh-CN" altLang="en-US" sz="2400" dirty="0"/>
                  <a:t>等价于线性模型，即存在参数</a:t>
                </a:r>
                <a14:m>
                  <m:oMath xmlns:m="http://schemas.openxmlformats.org/officeDocument/2006/math">
                    <m:r>
                      <a:rPr kumimoji="1" lang="en-US" altLang="zh-CN" sz="2400" b="0" i="1" smtClean="0">
                        <a:latin typeface="Cambria Math" panose="02040503050406030204" pitchFamily="18" charset="0"/>
                      </a:rPr>
                      <m:t>𝑊</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oMath>
                </a14:m>
                <a:r>
                  <a:rPr kumimoji="1" lang="zh-CN" altLang="en-US" sz="2400" dirty="0"/>
                  <a:t>使得</a:t>
                </a:r>
                <a:endParaRPr kumimoji="1" lang="en-US" altLang="zh-CN" sz="2400" dirty="0"/>
              </a:p>
              <a:p>
                <a:pPr/>
                <a14:m>
                  <m:oMathPara xmlns:m="http://schemas.openxmlformats.org/officeDocument/2006/math">
                    <m:oMathParaPr>
                      <m:jc m:val="centerGroup"/>
                    </m:oMathParaPr>
                    <m:oMath xmlns:m="http://schemas.openxmlformats.org/officeDocument/2006/math">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𝐿</m:t>
                              </m:r>
                            </m:e>
                          </m:d>
                        </m:sup>
                      </m:sSup>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𝑊</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0</m:t>
                              </m:r>
                            </m:e>
                          </m:d>
                        </m:sup>
                      </m:sSup>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oMath>
                  </m:oMathPara>
                </a14:m>
                <a:endParaRPr kumimoji="1" lang="en-US" altLang="zh-CN" sz="2000" dirty="0"/>
              </a:p>
              <a:p>
                <a:pPr marL="800100" lvl="1" indent="-342900">
                  <a:buFont typeface="Wingdings" pitchFamily="2" charset="2"/>
                  <a:buChar char="p"/>
                </a:pPr>
                <a:r>
                  <a:rPr kumimoji="1" lang="zh-CN" altLang="en-US" sz="2400" dirty="0"/>
                  <a:t>隐藏层 </a:t>
                </a:r>
                <a:r>
                  <a:rPr kumimoji="1" lang="en-US" altLang="zh-CN" sz="2400" dirty="0"/>
                  <a:t>&amp;</a:t>
                </a:r>
                <a:r>
                  <a:rPr kumimoji="1" lang="zh-CN" altLang="en-US" sz="2400" dirty="0"/>
                  <a:t> 输出层</a:t>
                </a:r>
                <a:r>
                  <a:rPr kumimoji="1" lang="en-US" altLang="zh-CN" sz="2400" dirty="0"/>
                  <a:t>(</a:t>
                </a:r>
                <a:r>
                  <a:rPr kumimoji="1" lang="zh-CN" altLang="en-US" sz="2400" dirty="0"/>
                  <a:t>第</a:t>
                </a:r>
                <a14:m>
                  <m:oMath xmlns:m="http://schemas.openxmlformats.org/officeDocument/2006/math">
                    <m:r>
                      <a:rPr kumimoji="1" lang="en-US" altLang="zh-CN" sz="2400" b="0" i="1" smtClean="0">
                        <a:latin typeface="Cambria Math" panose="02040503050406030204" pitchFamily="18" charset="0"/>
                      </a:rPr>
                      <m:t>ℓ</m:t>
                    </m:r>
                  </m:oMath>
                </a14:m>
                <a:r>
                  <a:rPr kumimoji="1" lang="zh-CN" altLang="en-US" sz="2400" dirty="0"/>
                  <a:t>层</a:t>
                </a:r>
                <a:r>
                  <a:rPr kumimoji="1" lang="en-US" altLang="zh-CN" sz="2400" dirty="0"/>
                  <a:t>)</a:t>
                </a:r>
                <a:r>
                  <a:rPr kumimoji="1" lang="zh-CN" altLang="en-US" sz="2400" dirty="0"/>
                  <a:t>：</a:t>
                </a: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buFont typeface="Wingdings" pitchFamily="2" charset="2"/>
                  <a:buChar char="p"/>
                </a:pPr>
                <a:endParaRPr kumimoji="1" lang="en-US" altLang="zh-CN" sz="2400" dirty="0"/>
              </a:p>
              <a:p>
                <a:pPr marL="800100" lvl="1" indent="-342900">
                  <a:lnSpc>
                    <a:spcPct val="150000"/>
                  </a:lnSpc>
                  <a:buFont typeface="Wingdings" pitchFamily="2" charset="2"/>
                  <a:buChar char="p"/>
                </a:pPr>
                <a:r>
                  <a:rPr kumimoji="1" lang="zh-CN" altLang="en-US" sz="2400" dirty="0"/>
                  <a:t>当</a:t>
                </a:r>
                <a14:m>
                  <m:oMath xmlns:m="http://schemas.openxmlformats.org/officeDocument/2006/math">
                    <m:r>
                      <a:rPr kumimoji="1" lang="en-US" altLang="zh-CN" sz="2400" b="0" i="1" smtClean="0">
                        <a:latin typeface="Cambria Math" panose="02040503050406030204" pitchFamily="18" charset="0"/>
                      </a:rPr>
                      <m:t>ℓ=1</m:t>
                    </m:r>
                  </m:oMath>
                </a14:m>
                <a:r>
                  <a:rPr kumimoji="1" lang="zh-CN" altLang="en-US" sz="2400" dirty="0"/>
                  <a:t>时，上述结论显然成立；假设对于任意</a:t>
                </a:r>
                <a14:m>
                  <m:oMath xmlns:m="http://schemas.openxmlformats.org/officeDocument/2006/math">
                    <m:r>
                      <a:rPr kumimoji="1" lang="en-US" altLang="zh-CN" sz="2400" b="0" i="1" smtClean="0">
                        <a:latin typeface="Cambria Math" panose="02040503050406030204" pitchFamily="18" charset="0"/>
                      </a:rPr>
                      <m:t>ℓ≥2</m:t>
                    </m:r>
                  </m:oMath>
                </a14:m>
                <a:r>
                  <a:rPr kumimoji="1" lang="zh-CN" altLang="en-US" sz="2400" dirty="0"/>
                  <a:t>有上述结论，则</a:t>
                </a:r>
                <a:endParaRPr kumimoji="1" lang="en-US" altLang="zh-CN" sz="2400" dirty="0"/>
              </a:p>
              <a:p>
                <a:pPr lvl="1"/>
                <a14:m>
                  <m:oMathPara xmlns:m="http://schemas.openxmlformats.org/officeDocument/2006/math">
                    <m:oMathParaPr>
                      <m:jc m:val="centerGroup"/>
                    </m:oMathParaPr>
                    <m:oMath xmlns:m="http://schemas.openxmlformats.org/officeDocument/2006/math">
                      <m:sSup>
                        <m:sSupPr>
                          <m:ctrlPr>
                            <a:rPr kumimoji="1" lang="en-US" altLang="zh-CN" sz="2400" i="1" smtClean="0">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r>
                                <a:rPr kumimoji="1" lang="en-US" altLang="zh-CN" sz="2400" b="0" i="1" smtClean="0">
                                  <a:latin typeface="Cambria Math" panose="02040503050406030204" pitchFamily="18" charset="0"/>
                                </a:rPr>
                                <m:t>+1</m:t>
                              </m:r>
                            </m:e>
                          </m:d>
                        </m:sup>
                      </m:sSup>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r>
                                <a:rPr kumimoji="1" lang="en-US" altLang="zh-CN" sz="2400" b="0" i="1" smtClean="0">
                                  <a:latin typeface="Cambria Math" panose="02040503050406030204" pitchFamily="18" charset="0"/>
                                </a:rPr>
                                <m:t>+1</m:t>
                              </m:r>
                            </m:e>
                          </m:d>
                        </m:sup>
                      </m:sSup>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𝑏</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ℓ+1</m:t>
                              </m:r>
                            </m:e>
                          </m:d>
                        </m:sup>
                      </m:sSup>
                      <m:r>
                        <a:rPr kumimoji="1" lang="en-US" altLang="zh-CN" sz="2400" b="0" i="1" smtClean="0">
                          <a:latin typeface="Cambria Math" panose="02040503050406030204" pitchFamily="18" charset="0"/>
                        </a:rPr>
                        <m:t>=</m:t>
                      </m:r>
                      <m:sSup>
                        <m:sSupPr>
                          <m:ctrlPr>
                            <a:rPr kumimoji="1" lang="en-US" altLang="zh-CN" sz="2400" i="1" smtClean="0">
                              <a:solidFill>
                                <a:srgbClr val="C00000"/>
                              </a:solidFill>
                              <a:latin typeface="Cambria Math" panose="02040503050406030204" pitchFamily="18" charset="0"/>
                            </a:rPr>
                          </m:ctrlPr>
                        </m:sSupPr>
                        <m:e>
                          <m:r>
                            <m:rPr>
                              <m:brk m:alnAt="7"/>
                            </m:rPr>
                            <a:rPr kumimoji="1" lang="en-US" altLang="zh-CN" sz="2400" i="1">
                              <a:solidFill>
                                <a:srgbClr val="C00000"/>
                              </a:solidFill>
                              <a:latin typeface="Cambria Math" panose="02040503050406030204" pitchFamily="18" charset="0"/>
                            </a:rPr>
                            <m:t>𝑊</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ℓ+1</m:t>
                              </m:r>
                            </m:e>
                          </m:d>
                        </m:sup>
                      </m:sSup>
                      <m:r>
                        <a:rPr kumimoji="1" lang="en-US" altLang="zh-CN" sz="2400" b="0" i="1" smtClean="0">
                          <a:solidFill>
                            <a:srgbClr val="C00000"/>
                          </a:solidFill>
                          <a:latin typeface="Cambria Math" panose="02040503050406030204" pitchFamily="18" charset="0"/>
                        </a:rPr>
                        <m:t>𝑊</m:t>
                      </m:r>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i="1">
                          <a:latin typeface="Cambria Math" panose="02040503050406030204" pitchFamily="18" charset="0"/>
                        </a:rPr>
                        <m:t>+</m:t>
                      </m:r>
                      <m:sSup>
                        <m:sSupPr>
                          <m:ctrlPr>
                            <a:rPr kumimoji="1" lang="en-US" altLang="zh-CN" sz="2400" i="1" smtClean="0">
                              <a:solidFill>
                                <a:srgbClr val="C00000"/>
                              </a:solidFill>
                              <a:latin typeface="Cambria Math" panose="02040503050406030204" pitchFamily="18" charset="0"/>
                            </a:rPr>
                          </m:ctrlPr>
                        </m:sSupPr>
                        <m:e>
                          <m:r>
                            <m:rPr>
                              <m:brk m:alnAt="7"/>
                            </m:rPr>
                            <a:rPr kumimoji="1" lang="en-US" altLang="zh-CN" sz="2400" i="1">
                              <a:solidFill>
                                <a:srgbClr val="C00000"/>
                              </a:solidFill>
                              <a:latin typeface="Cambria Math" panose="02040503050406030204" pitchFamily="18" charset="0"/>
                            </a:rPr>
                            <m:t>𝑊</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ℓ+1</m:t>
                              </m:r>
                            </m:e>
                          </m:d>
                        </m:sup>
                      </m:sSup>
                      <m:r>
                        <a:rPr kumimoji="1" lang="en-US" altLang="zh-CN" sz="2400" b="0" i="1" smtClean="0">
                          <a:solidFill>
                            <a:srgbClr val="C00000"/>
                          </a:solidFill>
                          <a:latin typeface="Cambria Math" panose="02040503050406030204" pitchFamily="18" charset="0"/>
                        </a:rPr>
                        <m:t>𝑏</m:t>
                      </m:r>
                      <m:r>
                        <a:rPr kumimoji="1" lang="en-US" altLang="zh-CN" sz="2400" b="0" i="1" smtClean="0">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m:rPr>
                              <m:brk m:alnAt="7"/>
                            </m:rPr>
                            <a:rPr kumimoji="1" lang="en-US" altLang="zh-CN" sz="2400" i="1">
                              <a:solidFill>
                                <a:srgbClr val="C00000"/>
                              </a:solidFill>
                              <a:latin typeface="Cambria Math" panose="02040503050406030204" pitchFamily="18" charset="0"/>
                            </a:rPr>
                            <m:t>𝑏</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ℓ+1</m:t>
                              </m:r>
                            </m:e>
                          </m:d>
                        </m:sup>
                      </m:sSup>
                    </m:oMath>
                  </m:oMathPara>
                </a14:m>
                <a:endParaRPr kumimoji="1" lang="en-US" altLang="zh-CN" sz="2400" dirty="0"/>
              </a:p>
            </p:txBody>
          </p:sp>
        </mc:Choice>
        <mc:Fallback xmlns="">
          <p:sp>
            <p:nvSpPr>
              <p:cNvPr id="10" name="文本框 9">
                <a:extLst>
                  <a:ext uri="{FF2B5EF4-FFF2-40B4-BE49-F238E27FC236}">
                    <a16:creationId xmlns:a16="http://schemas.microsoft.com/office/drawing/2014/main" id="{C3A66149-41E1-3B4F-BA2E-5797C9D2130E}"/>
                  </a:ext>
                </a:extLst>
              </p:cNvPr>
              <p:cNvSpPr txBox="1">
                <a:spLocks noRot="1" noChangeAspect="1" noMove="1" noResize="1" noEditPoints="1" noAdjustHandles="1" noChangeArrowheads="1" noChangeShapeType="1" noTextEdit="1"/>
              </p:cNvSpPr>
              <p:nvPr/>
            </p:nvSpPr>
            <p:spPr>
              <a:xfrm>
                <a:off x="548640" y="2827786"/>
                <a:ext cx="11440160" cy="3650999"/>
              </a:xfrm>
              <a:prstGeom prst="rect">
                <a:avLst/>
              </a:prstGeom>
              <a:blipFill>
                <a:blip r:embed="rId3"/>
                <a:stretch>
                  <a:fillRect l="-776" t="-13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9250534-9E35-684D-B11C-36A50C184D5A}"/>
                  </a:ext>
                </a:extLst>
              </p:cNvPr>
              <p:cNvSpPr txBox="1"/>
              <p:nvPr/>
            </p:nvSpPr>
            <p:spPr>
              <a:xfrm>
                <a:off x="254000" y="4422917"/>
                <a:ext cx="6108700" cy="903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kumimoji="1" lang="en-US" altLang="zh-CN" sz="2400" i="1" smtClean="0">
                              <a:solidFill>
                                <a:schemeClr val="tx1"/>
                              </a:solidFill>
                              <a:latin typeface="Cambria Math" panose="02040503050406030204" pitchFamily="18" charset="0"/>
                            </a:rPr>
                          </m:ctrlPr>
                        </m:mPr>
                        <m:mr>
                          <m:e>
                            <m:sSup>
                              <m:sSupPr>
                                <m:ctrlPr>
                                  <a:rPr kumimoji="1" lang="en-US" altLang="zh-CN" sz="2400" b="0" i="1" smtClean="0">
                                    <a:solidFill>
                                      <a:schemeClr val="tx1"/>
                                    </a:solidFill>
                                    <a:latin typeface="Cambria Math" panose="02040503050406030204" pitchFamily="18" charset="0"/>
                                  </a:rPr>
                                </m:ctrlPr>
                              </m:sSupPr>
                              <m:e>
                                <m:r>
                                  <m:rPr>
                                    <m:brk m:alnAt="7"/>
                                  </m:rPr>
                                  <a:rPr kumimoji="1" lang="en-US" altLang="zh-CN" sz="2400" b="0" i="1" smtClean="0">
                                    <a:solidFill>
                                      <a:schemeClr val="tx1"/>
                                    </a:solidFill>
                                    <a:latin typeface="Cambria Math" panose="02040503050406030204" pitchFamily="18" charset="0"/>
                                  </a:rPr>
                                  <m:t>𝑧</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m:rPr>
                                <m:brk m:alnAt="7"/>
                              </m:rPr>
                              <a:rPr kumimoji="1" lang="en-US" altLang="zh-CN" sz="2400" b="0" i="1" smtClean="0">
                                <a:solidFill>
                                  <a:schemeClr val="tx1"/>
                                </a:solidFill>
                                <a:latin typeface="Cambria Math" panose="02040503050406030204" pitchFamily="18" charset="0"/>
                              </a:rPr>
                              <m:t>=</m:t>
                            </m:r>
                            <m:sSup>
                              <m:sSupPr>
                                <m:ctrlPr>
                                  <a:rPr kumimoji="1" lang="en-US" altLang="zh-CN" sz="2400" b="0" i="1" smtClean="0">
                                    <a:solidFill>
                                      <a:schemeClr val="tx1"/>
                                    </a:solidFill>
                                    <a:latin typeface="Cambria Math" panose="02040503050406030204" pitchFamily="18" charset="0"/>
                                  </a:rPr>
                                </m:ctrlPr>
                              </m:sSupPr>
                              <m:e>
                                <m:r>
                                  <m:rPr>
                                    <m:brk m:alnAt="7"/>
                                  </m:rPr>
                                  <a:rPr kumimoji="1" lang="en-US" altLang="zh-CN" sz="2400" b="0" i="1" smtClean="0">
                                    <a:solidFill>
                                      <a:schemeClr val="tx1"/>
                                    </a:solidFill>
                                    <a:latin typeface="Cambria Math" panose="02040503050406030204" pitchFamily="18" charset="0"/>
                                  </a:rPr>
                                  <m:t>𝑊</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sSup>
                              <m:sSupPr>
                                <m:ctrlPr>
                                  <a:rPr kumimoji="1" lang="en-US" altLang="zh-CN" sz="2400" b="0" i="1" smtClean="0">
                                    <a:solidFill>
                                      <a:schemeClr val="tx1"/>
                                    </a:solidFill>
                                    <a:latin typeface="Cambria Math" panose="02040503050406030204" pitchFamily="18" charset="0"/>
                                  </a:rPr>
                                </m:ctrlPr>
                              </m:sSupPr>
                              <m:e>
                                <m:r>
                                  <m:rPr>
                                    <m:brk m:alnAt="7"/>
                                  </m:rPr>
                                  <a:rPr kumimoji="1" lang="en-US" altLang="zh-CN" sz="2400" b="0" i="1" smtClean="0">
                                    <a:solidFill>
                                      <a:schemeClr val="tx1"/>
                                    </a:solidFill>
                                    <a:latin typeface="Cambria Math" panose="02040503050406030204" pitchFamily="18" charset="0"/>
                                  </a:rPr>
                                  <m:t>𝑥</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ℓ−1</m:t>
                                    </m:r>
                                  </m:e>
                                </m:d>
                              </m:sup>
                            </m:sSup>
                            <m:r>
                              <m:rPr>
                                <m:brk m:alnAt="7"/>
                              </m:rPr>
                              <a:rPr kumimoji="1" lang="en-US" altLang="zh-CN" sz="2400" b="0" i="1" smtClean="0">
                                <a:solidFill>
                                  <a:schemeClr val="tx1"/>
                                </a:solidFill>
                                <a:latin typeface="Cambria Math" panose="02040503050406030204" pitchFamily="18" charset="0"/>
                              </a:rPr>
                              <m:t>+</m:t>
                            </m:r>
                            <m:sSup>
                              <m:sSupPr>
                                <m:ctrlPr>
                                  <a:rPr kumimoji="1" lang="en-US" altLang="zh-CN" sz="2400" b="0" i="1" smtClean="0">
                                    <a:solidFill>
                                      <a:schemeClr val="tx1"/>
                                    </a:solidFill>
                                    <a:latin typeface="Cambria Math" panose="02040503050406030204" pitchFamily="18" charset="0"/>
                                  </a:rPr>
                                </m:ctrlPr>
                              </m:sSupPr>
                              <m:e>
                                <m:r>
                                  <m:rPr>
                                    <m:brk m:alnAt="7"/>
                                  </m:rPr>
                                  <a:rPr kumimoji="1" lang="en-US" altLang="zh-CN" sz="2400" b="0" i="1" smtClean="0">
                                    <a:solidFill>
                                      <a:schemeClr val="tx1"/>
                                    </a:solidFill>
                                    <a:latin typeface="Cambria Math" panose="02040503050406030204" pitchFamily="18" charset="0"/>
                                  </a:rPr>
                                  <m:t>𝑏</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e>
                        </m:mr>
                        <m:mr>
                          <m:e>
                            <m:sSup>
                              <m:sSupPr>
                                <m:ctrlPr>
                                  <a:rPr kumimoji="1" lang="en-US" altLang="zh-CN" sz="2400" b="0" i="1" smtClean="0">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i="1">
                                <a:solidFill>
                                  <a:schemeClr val="tx1"/>
                                </a:solidFill>
                                <a:latin typeface="Cambria Math" panose="02040503050406030204" pitchFamily="18" charset="0"/>
                              </a:rPr>
                              <m:t>=</m:t>
                            </m:r>
                            <m:sSup>
                              <m:sSupPr>
                                <m:ctrlPr>
                                  <a:rPr kumimoji="1" lang="en-US" altLang="zh-CN" sz="2400" b="0" i="1" smtClean="0">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𝜎</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d>
                              <m:dPr>
                                <m:ctrlPr>
                                  <a:rPr kumimoji="1" lang="en-US" altLang="zh-CN" sz="2400" i="1">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m:rPr>
                                        <m:brk m:alnAt="7"/>
                                      </m:rPr>
                                      <a:rPr kumimoji="1" lang="en-US" altLang="zh-CN" sz="2400" i="1">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e>
                            </m:d>
                          </m:e>
                        </m:mr>
                      </m:m>
                    </m:oMath>
                  </m:oMathPara>
                </a14:m>
                <a:endParaRPr lang="zh-CN" altLang="en-US" sz="2400" dirty="0">
                  <a:solidFill>
                    <a:schemeClr val="tx1"/>
                  </a:solidFill>
                </a:endParaRPr>
              </a:p>
            </p:txBody>
          </p:sp>
        </mc:Choice>
        <mc:Fallback xmlns="">
          <p:sp>
            <p:nvSpPr>
              <p:cNvPr id="13" name="文本框 12">
                <a:extLst>
                  <a:ext uri="{FF2B5EF4-FFF2-40B4-BE49-F238E27FC236}">
                    <a16:creationId xmlns:a16="http://schemas.microsoft.com/office/drawing/2014/main" id="{69250534-9E35-684D-B11C-36A50C184D5A}"/>
                  </a:ext>
                </a:extLst>
              </p:cNvPr>
              <p:cNvSpPr txBox="1">
                <a:spLocks noRot="1" noChangeAspect="1" noMove="1" noResize="1" noEditPoints="1" noAdjustHandles="1" noChangeArrowheads="1" noChangeShapeType="1" noTextEdit="1"/>
              </p:cNvSpPr>
              <p:nvPr/>
            </p:nvSpPr>
            <p:spPr>
              <a:xfrm>
                <a:off x="254000" y="4422917"/>
                <a:ext cx="6108700" cy="903902"/>
              </a:xfrm>
              <a:prstGeom prst="rect">
                <a:avLst/>
              </a:prstGeom>
              <a:blipFill>
                <a:blip r:embed="rId4"/>
                <a:stretch>
                  <a:fillRect/>
                </a:stretch>
              </a:blipFill>
            </p:spPr>
            <p:txBody>
              <a:bodyPr/>
              <a:lstStyle/>
              <a:p>
                <a:r>
                  <a:rPr lang="zh-CN" altLang="en-US">
                    <a:noFill/>
                  </a:rPr>
                  <a:t> </a:t>
                </a:r>
              </a:p>
            </p:txBody>
          </p:sp>
        </mc:Fallback>
      </mc:AlternateContent>
      <p:sp>
        <p:nvSpPr>
          <p:cNvPr id="14" name="燕尾形箭头 13">
            <a:extLst>
              <a:ext uri="{FF2B5EF4-FFF2-40B4-BE49-F238E27FC236}">
                <a16:creationId xmlns:a16="http://schemas.microsoft.com/office/drawing/2014/main" id="{89ED4A6C-6B1E-614C-84EE-E222870EB707}"/>
              </a:ext>
            </a:extLst>
          </p:cNvPr>
          <p:cNvSpPr/>
          <p:nvPr/>
        </p:nvSpPr>
        <p:spPr bwMode="auto">
          <a:xfrm>
            <a:off x="5433290" y="4484592"/>
            <a:ext cx="538250" cy="521115"/>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2F30E42-41D5-AB45-85ED-A2F0C5FFAD23}"/>
                  </a:ext>
                </a:extLst>
              </p:cNvPr>
              <p:cNvSpPr txBox="1"/>
              <p:nvPr/>
            </p:nvSpPr>
            <p:spPr>
              <a:xfrm>
                <a:off x="5702415" y="4519035"/>
                <a:ext cx="4594860" cy="486672"/>
              </a:xfrm>
              <a:prstGeom prst="rect">
                <a:avLst/>
              </a:prstGeom>
              <a:noFill/>
            </p:spPr>
            <p:txBody>
              <a:bodyPr wrap="square">
                <a:spAutoFit/>
              </a:bodyPr>
              <a:lstStyle/>
              <a:p>
                <a:pPr hangingPunct="0"/>
                <a14:m>
                  <m:oMathPara xmlns:m="http://schemas.openxmlformats.org/officeDocument/2006/math">
                    <m:oMathParaPr>
                      <m:jc m:val="centerGroup"/>
                    </m:oMathParaPr>
                    <m:oMath xmlns:m="http://schemas.openxmlformats.org/officeDocument/2006/math">
                      <m:sSup>
                        <m:sSupPr>
                          <m:ctrlPr>
                            <a:rPr kumimoji="1" lang="en-US" altLang="zh-CN" sz="2400" i="1" smtClean="0">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p>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m:rPr>
                              <m:brk m:alnAt="7"/>
                            </m:rPr>
                            <a:rPr kumimoji="1" lang="en-US" altLang="zh-CN" sz="2400" i="1">
                              <a:latin typeface="Cambria Math" panose="02040503050406030204" pitchFamily="18" charset="0"/>
                            </a:rPr>
                            <m:t>𝑏</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oMath>
                  </m:oMathPara>
                </a14:m>
                <a:endParaRPr lang="zh-CN" altLang="en-US" sz="2400" dirty="0"/>
              </a:p>
            </p:txBody>
          </p:sp>
        </mc:Choice>
        <mc:Fallback xmlns="">
          <p:sp>
            <p:nvSpPr>
              <p:cNvPr id="15" name="文本框 14">
                <a:extLst>
                  <a:ext uri="{FF2B5EF4-FFF2-40B4-BE49-F238E27FC236}">
                    <a16:creationId xmlns:a16="http://schemas.microsoft.com/office/drawing/2014/main" id="{A2F30E42-41D5-AB45-85ED-A2F0C5FFAD23}"/>
                  </a:ext>
                </a:extLst>
              </p:cNvPr>
              <p:cNvSpPr txBox="1">
                <a:spLocks noRot="1" noChangeAspect="1" noMove="1" noResize="1" noEditPoints="1" noAdjustHandles="1" noChangeArrowheads="1" noChangeShapeType="1" noTextEdit="1"/>
              </p:cNvSpPr>
              <p:nvPr/>
            </p:nvSpPr>
            <p:spPr>
              <a:xfrm>
                <a:off x="5702415" y="4519035"/>
                <a:ext cx="4594860" cy="486672"/>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0045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31</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53393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多层感知机：深度 </a:t>
            </a:r>
            <a:r>
              <a:rPr lang="en-US" altLang="zh-CN" sz="3600" dirty="0">
                <a:solidFill>
                  <a:schemeClr val="bg1"/>
                </a:solidFill>
                <a:latin typeface="Calibri" panose="020F0502020204030204" pitchFamily="34" charset="0"/>
                <a:cs typeface="Calibri" panose="020F0502020204030204" pitchFamily="34" charset="0"/>
              </a:rPr>
              <a:t>vs. </a:t>
            </a:r>
            <a:r>
              <a:rPr lang="zh-CN" altLang="en-US" sz="3600" dirty="0">
                <a:solidFill>
                  <a:schemeClr val="bg1"/>
                </a:solidFill>
                <a:latin typeface="Calibri" panose="020F0502020204030204" pitchFamily="34" charset="0"/>
                <a:cs typeface="Calibri" panose="020F0502020204030204" pitchFamily="34" charset="0"/>
              </a:rPr>
              <a:t>宽度</a:t>
            </a: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B799E8CC-E9B7-854E-B0AD-2972BA69C905}"/>
                  </a:ext>
                </a:extLst>
              </p:cNvPr>
              <p:cNvSpPr/>
              <p:nvPr/>
            </p:nvSpPr>
            <p:spPr bwMode="auto">
              <a:xfrm>
                <a:off x="548640" y="1436911"/>
                <a:ext cx="11236960" cy="197471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2016</a:t>
                </a:r>
                <a:r>
                  <a:rPr lang="zh-CN" altLang="en-US" sz="2400" dirty="0">
                    <a:latin typeface="Times New Roman" panose="02020603050405020304" pitchFamily="18" charset="0"/>
                    <a:cs typeface="Times New Roman" panose="02020603050405020304" pitchFamily="18" charset="0"/>
                  </a:rPr>
                  <a:t>年，理论机器学习顶会</a:t>
                </a:r>
                <a:r>
                  <a:rPr lang="en-US" altLang="zh-CN" sz="2400" dirty="0">
                    <a:latin typeface="Times New Roman" panose="02020603050405020304" pitchFamily="18" charset="0"/>
                    <a:cs typeface="Times New Roman" panose="02020603050405020304" pitchFamily="18" charset="0"/>
                  </a:rPr>
                  <a:t>COLT</a:t>
                </a:r>
                <a:r>
                  <a:rPr lang="zh-CN" altLang="en-US" sz="2400" dirty="0">
                    <a:latin typeface="Times New Roman" panose="02020603050405020304" pitchFamily="18" charset="0"/>
                    <a:cs typeface="Times New Roman" panose="02020603050405020304" pitchFamily="18" charset="0"/>
                  </a:rPr>
                  <a:t>上发表的两篇论文表明：存在一类函数，可以用深度为</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层（或更一般</a:t>
                </a:r>
                <a14:m>
                  <m:oMath xmlns:m="http://schemas.openxmlformats.org/officeDocument/2006/math">
                    <m:r>
                      <a:rPr lang="zh-CN" altLang="en-US" sz="2400" dirty="0">
                        <a:latin typeface="Cambria Math" panose="02040503050406030204" pitchFamily="18" charset="0"/>
                        <a:cs typeface="Times New Roman" panose="02020603050405020304" pitchFamily="18" charset="0"/>
                      </a:rPr>
                      <m:t>地，</m:t>
                    </m:r>
                    <m:r>
                      <a:rPr lang="en-US" altLang="zh-CN" sz="2400" dirty="0">
                        <a:latin typeface="Cambria Math" panose="02040503050406030204" pitchFamily="18" charset="0"/>
                        <a:cs typeface="Times New Roman" panose="02020603050405020304" pitchFamily="18" charset="0"/>
                      </a:rPr>
                      <m:t>𝑂</m:t>
                    </m:r>
                    <m:d>
                      <m:dPr>
                        <m:ctrlPr>
                          <a:rPr lang="en-US" altLang="zh-CN" sz="2400" i="1" dirty="0">
                            <a:latin typeface="Cambria Math" panose="02040503050406030204" pitchFamily="18" charset="0"/>
                            <a:cs typeface="Times New Roman" panose="02020603050405020304" pitchFamily="18" charset="0"/>
                          </a:rPr>
                        </m:ctrlPr>
                      </m:dPr>
                      <m:e>
                        <m:r>
                          <m:rPr>
                            <m:sty m:val="p"/>
                          </m:rPr>
                          <a:rPr lang="en-US" altLang="zh-CN" sz="2400" dirty="0">
                            <a:latin typeface="Cambria Math" panose="02040503050406030204" pitchFamily="18" charset="0"/>
                            <a:cs typeface="Times New Roman" panose="02020603050405020304" pitchFamily="18" charset="0"/>
                          </a:rPr>
                          <m:t>log</m:t>
                        </m:r>
                        <m:r>
                          <a:rPr lang="en-US" altLang="zh-CN" sz="2400" dirty="0">
                            <a:latin typeface="Cambria Math" panose="02040503050406030204" pitchFamily="18" charset="0"/>
                            <a:cs typeface="Times New Roman" panose="02020603050405020304" pitchFamily="18" charset="0"/>
                          </a:rPr>
                          <m:t>𝑑</m:t>
                        </m:r>
                      </m:e>
                    </m:d>
                    <m:r>
                      <a:rPr lang="zh-CN" altLang="en-US" sz="2400">
                        <a:latin typeface="Cambria Math" panose="02040503050406030204" pitchFamily="18" charset="0"/>
                        <a:cs typeface="Times New Roman" panose="02020603050405020304" pitchFamily="18" charset="0"/>
                      </a:rPr>
                      <m:t>甚至</m:t>
                    </m:r>
                    <m:r>
                      <a:rPr lang="en-US" altLang="zh-CN" sz="2400" dirty="0">
                        <a:latin typeface="Cambria Math" panose="02040503050406030204" pitchFamily="18" charset="0"/>
                        <a:cs typeface="Times New Roman" panose="02020603050405020304" pitchFamily="18" charset="0"/>
                      </a:rPr>
                      <m:t>𝑂</m:t>
                    </m:r>
                    <m:d>
                      <m:dPr>
                        <m:ctrlPr>
                          <a:rPr lang="en-US" altLang="zh-CN" sz="2400" i="1" dirty="0">
                            <a:latin typeface="Cambria Math" panose="02040503050406030204" pitchFamily="18" charset="0"/>
                            <a:cs typeface="Times New Roman" panose="02020603050405020304" pitchFamily="18" charset="0"/>
                          </a:rPr>
                        </m:ctrlPr>
                      </m:dPr>
                      <m:e>
                        <m:sSup>
                          <m:sSupPr>
                            <m:ctrlPr>
                              <a:rPr lang="en-US" altLang="zh-CN" sz="2400" i="1">
                                <a:latin typeface="Cambria Math" panose="02040503050406030204" pitchFamily="18" charset="0"/>
                                <a:cs typeface="Times New Roman" panose="02020603050405020304" pitchFamily="18" charset="0"/>
                              </a:rPr>
                            </m:ctrlPr>
                          </m:sSupPr>
                          <m:e>
                            <m:r>
                              <a:rPr lang="en-US" altLang="zh-CN" sz="2400">
                                <a:latin typeface="Cambria Math" panose="02040503050406030204" pitchFamily="18" charset="0"/>
                                <a:cs typeface="Times New Roman" panose="02020603050405020304" pitchFamily="18" charset="0"/>
                              </a:rPr>
                              <m:t>𝑘</m:t>
                            </m:r>
                          </m:e>
                          <m:sup>
                            <m:r>
                              <a:rPr lang="en-US" altLang="zh-CN" sz="2400">
                                <a:latin typeface="Cambria Math" panose="02040503050406030204" pitchFamily="18" charset="0"/>
                                <a:cs typeface="Times New Roman" panose="02020603050405020304" pitchFamily="18" charset="0"/>
                              </a:rPr>
                              <m:t>3</m:t>
                            </m:r>
                          </m:sup>
                        </m:sSup>
                      </m:e>
                    </m:d>
                  </m:oMath>
                </a14:m>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的神经网络精确表示，其中网络的总参数量是</a:t>
                </a:r>
                <a:r>
                  <a:rPr lang="zh-CN" altLang="en-US" sz="2400" dirty="0">
                    <a:solidFill>
                      <a:srgbClr val="FF0000"/>
                    </a:solidFill>
                    <a:latin typeface="Times New Roman" panose="02020603050405020304" pitchFamily="18" charset="0"/>
                    <a:cs typeface="Times New Roman" panose="02020603050405020304" pitchFamily="18" charset="0"/>
                  </a:rPr>
                  <a:t>多项式级</a:t>
                </a:r>
                <a:r>
                  <a:rPr lang="zh-CN" altLang="en-US" sz="2400" dirty="0">
                    <a:latin typeface="Times New Roman" panose="02020603050405020304" pitchFamily="18" charset="0"/>
                    <a:cs typeface="Times New Roman" panose="02020603050405020304" pitchFamily="18" charset="0"/>
                  </a:rPr>
                  <a:t>的，但如果限制网络深度为</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层（或深度远小于某个与函数结构相关的参数</a:t>
                </a:r>
                <a:r>
                  <a:rPr lang="en-US" altLang="zh-CN" sz="2400" i="1"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），那么为了逼近该函数，所需的神经元数量（即参数量）必须至少是</a:t>
                </a:r>
                <a:r>
                  <a:rPr lang="zh-CN" altLang="en-US" sz="2400" dirty="0">
                    <a:solidFill>
                      <a:srgbClr val="FF0000"/>
                    </a:solidFill>
                    <a:latin typeface="Times New Roman" panose="02020603050405020304" pitchFamily="18" charset="0"/>
                    <a:cs typeface="Times New Roman" panose="02020603050405020304" pitchFamily="18" charset="0"/>
                  </a:rPr>
                  <a:t>指数级</a:t>
                </a:r>
                <a:r>
                  <a:rPr lang="zh-CN" altLang="en-US" sz="2400" dirty="0">
                    <a:latin typeface="Times New Roman" panose="02020603050405020304" pitchFamily="18" charset="0"/>
                    <a:cs typeface="Times New Roman" panose="02020603050405020304" pitchFamily="18" charset="0"/>
                  </a:rPr>
                  <a:t>（相对于</a:t>
                </a:r>
                <a:r>
                  <a:rPr lang="en-US" altLang="zh-CN" sz="2400" i="1"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或输入维数</a:t>
                </a:r>
                <a:r>
                  <a:rPr lang="en-US" altLang="zh-CN" sz="2400" i="1" dirty="0">
                    <a:latin typeface="Times New Roman" panose="02020603050405020304" pitchFamily="18" charset="0"/>
                    <a:cs typeface="Times New Roman" panose="02020603050405020304" pitchFamily="18" charset="0"/>
                  </a:rPr>
                  <a:t>d</a:t>
                </a:r>
                <a:r>
                  <a:rPr lang="zh-CN" altLang="en-US" sz="2400" dirty="0">
                    <a:latin typeface="Times New Roman" panose="02020603050405020304" pitchFamily="18" charset="0"/>
                    <a:cs typeface="Times New Roman" panose="02020603050405020304" pitchFamily="18" charset="0"/>
                  </a:rPr>
                  <a:t>）。</a:t>
                </a:r>
              </a:p>
            </p:txBody>
          </p:sp>
        </mc:Choice>
        <mc:Fallback xmlns="">
          <p:sp>
            <p:nvSpPr>
              <p:cNvPr id="25" name="矩形 24">
                <a:extLst>
                  <a:ext uri="{FF2B5EF4-FFF2-40B4-BE49-F238E27FC236}">
                    <a16:creationId xmlns:a16="http://schemas.microsoft.com/office/drawing/2014/main" id="{B799E8CC-E9B7-854E-B0AD-2972BA69C905}"/>
                  </a:ext>
                </a:extLst>
              </p:cNvPr>
              <p:cNvSpPr>
                <a:spLocks noRot="1" noChangeAspect="1" noMove="1" noResize="1" noEditPoints="1" noAdjustHandles="1" noChangeArrowheads="1" noChangeShapeType="1" noTextEdit="1"/>
              </p:cNvSpPr>
              <p:nvPr/>
            </p:nvSpPr>
            <p:spPr bwMode="auto">
              <a:xfrm>
                <a:off x="548640" y="1436911"/>
                <a:ext cx="11236960" cy="1974711"/>
              </a:xfrm>
              <a:prstGeom prst="rect">
                <a:avLst/>
              </a:prstGeom>
              <a:blipFill>
                <a:blip r:embed="rId3"/>
                <a:stretch>
                  <a:fillRect/>
                </a:stretch>
              </a:blipFill>
              <a:ln w="12700">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CDC4360D-5088-0343-9DC7-0D91329F17D7}"/>
              </a:ext>
            </a:extLst>
          </p:cNvPr>
          <p:cNvPicPr>
            <a:picLocks noChangeAspect="1"/>
          </p:cNvPicPr>
          <p:nvPr/>
        </p:nvPicPr>
        <p:blipFill>
          <a:blip r:embed="rId4"/>
          <a:stretch>
            <a:fillRect/>
          </a:stretch>
        </p:blipFill>
        <p:spPr>
          <a:xfrm>
            <a:off x="2422635" y="3514061"/>
            <a:ext cx="6391921" cy="2083614"/>
          </a:xfrm>
          <a:prstGeom prst="rect">
            <a:avLst/>
          </a:prstGeom>
        </p:spPr>
      </p:pic>
      <p:sp>
        <p:nvSpPr>
          <p:cNvPr id="8" name="文本框 7">
            <a:extLst>
              <a:ext uri="{FF2B5EF4-FFF2-40B4-BE49-F238E27FC236}">
                <a16:creationId xmlns:a16="http://schemas.microsoft.com/office/drawing/2014/main" id="{78371173-54AF-8C43-AB53-47508DCE2F3D}"/>
              </a:ext>
            </a:extLst>
          </p:cNvPr>
          <p:cNvSpPr txBox="1"/>
          <p:nvPr/>
        </p:nvSpPr>
        <p:spPr>
          <a:xfrm>
            <a:off x="1853443" y="5911151"/>
            <a:ext cx="8485112" cy="707886"/>
          </a:xfrm>
          <a:prstGeom prst="rect">
            <a:avLst/>
          </a:prstGeom>
          <a:noFill/>
        </p:spPr>
        <p:txBody>
          <a:bodyPr wrap="square">
            <a:spAutoFit/>
          </a:bodyPr>
          <a:lstStyle/>
          <a:p>
            <a:r>
              <a:rPr lang="en-US" altLang="zh-CN" sz="2000" dirty="0"/>
              <a:t>Ronen </a:t>
            </a:r>
            <a:r>
              <a:rPr lang="en-US" altLang="zh-CN" sz="2000" dirty="0" err="1"/>
              <a:t>Eldan</a:t>
            </a:r>
            <a:r>
              <a:rPr lang="en-US" altLang="zh-CN" sz="2000" dirty="0"/>
              <a:t> and </a:t>
            </a:r>
            <a:r>
              <a:rPr lang="en-US" altLang="zh-CN" sz="2000" dirty="0" err="1"/>
              <a:t>Ohad</a:t>
            </a:r>
            <a:r>
              <a:rPr lang="en-US" altLang="zh-CN" sz="2000" dirty="0"/>
              <a:t> Shamir.</a:t>
            </a:r>
            <a:r>
              <a:rPr lang="zh-CN" altLang="en-US" sz="2000" dirty="0"/>
              <a:t> </a:t>
            </a:r>
            <a:r>
              <a:rPr lang="en-US" altLang="zh-CN" sz="2000" dirty="0"/>
              <a:t>The Power of Depth for Feedforward Neural Networks. In COLT, pp. 907</a:t>
            </a:r>
            <a:r>
              <a:rPr lang="zh-CN" altLang="en-US" sz="2000" dirty="0"/>
              <a:t> – </a:t>
            </a:r>
            <a:r>
              <a:rPr lang="en-US" altLang="zh-CN" sz="2000" dirty="0"/>
              <a:t>940, 2016.</a:t>
            </a:r>
            <a:endParaRPr lang="zh-CN" altLang="en-US" sz="2000" dirty="0"/>
          </a:p>
        </p:txBody>
      </p:sp>
    </p:spTree>
    <p:extLst>
      <p:ext uri="{BB962C8B-B14F-4D97-AF65-F5344CB8AC3E}">
        <p14:creationId xmlns:p14="http://schemas.microsoft.com/office/powerpoint/2010/main" val="3328705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32</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53393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多层感知机：深度 </a:t>
            </a:r>
            <a:r>
              <a:rPr lang="en-US" altLang="zh-CN" sz="3600" dirty="0">
                <a:solidFill>
                  <a:schemeClr val="bg1"/>
                </a:solidFill>
                <a:latin typeface="Calibri" panose="020F0502020204030204" pitchFamily="34" charset="0"/>
                <a:cs typeface="Calibri" panose="020F0502020204030204" pitchFamily="34" charset="0"/>
              </a:rPr>
              <a:t>vs. </a:t>
            </a:r>
            <a:r>
              <a:rPr lang="zh-CN" altLang="en-US" sz="3600" dirty="0">
                <a:solidFill>
                  <a:schemeClr val="bg1"/>
                </a:solidFill>
                <a:latin typeface="Calibri" panose="020F0502020204030204" pitchFamily="34" charset="0"/>
                <a:cs typeface="Calibri" panose="020F0502020204030204" pitchFamily="34" charset="0"/>
              </a:rPr>
              <a:t>宽度</a:t>
            </a: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B799E8CC-E9B7-854E-B0AD-2972BA69C905}"/>
                  </a:ext>
                </a:extLst>
              </p:cNvPr>
              <p:cNvSpPr/>
              <p:nvPr/>
            </p:nvSpPr>
            <p:spPr bwMode="auto">
              <a:xfrm>
                <a:off x="548640" y="1436911"/>
                <a:ext cx="11236960" cy="197471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en-US" altLang="zh-CN" sz="2400" dirty="0">
                    <a:latin typeface="Times New Roman" panose="02020603050405020304" pitchFamily="18" charset="0"/>
                    <a:cs typeface="Times New Roman" panose="02020603050405020304" pitchFamily="18" charset="0"/>
                  </a:rPr>
                  <a:t>2016</a:t>
                </a:r>
                <a:r>
                  <a:rPr lang="zh-CN" altLang="en-US" sz="2400" dirty="0">
                    <a:latin typeface="Times New Roman" panose="02020603050405020304" pitchFamily="18" charset="0"/>
                    <a:cs typeface="Times New Roman" panose="02020603050405020304" pitchFamily="18" charset="0"/>
                  </a:rPr>
                  <a:t>年，理论机器学习顶会</a:t>
                </a:r>
                <a:r>
                  <a:rPr lang="en-US" altLang="zh-CN" sz="2400" dirty="0">
                    <a:latin typeface="Times New Roman" panose="02020603050405020304" pitchFamily="18" charset="0"/>
                    <a:cs typeface="Times New Roman" panose="02020603050405020304" pitchFamily="18" charset="0"/>
                  </a:rPr>
                  <a:t>COLT</a:t>
                </a:r>
                <a:r>
                  <a:rPr lang="zh-CN" altLang="en-US" sz="2400" dirty="0">
                    <a:latin typeface="Times New Roman" panose="02020603050405020304" pitchFamily="18" charset="0"/>
                    <a:cs typeface="Times New Roman" panose="02020603050405020304" pitchFamily="18" charset="0"/>
                  </a:rPr>
                  <a:t>上发表的两篇论文表明：存在一类函数，可以用深度为</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层（或更一般</a:t>
                </a:r>
                <a14:m>
                  <m:oMath xmlns:m="http://schemas.openxmlformats.org/officeDocument/2006/math">
                    <m:r>
                      <a:rPr lang="zh-CN" altLang="en-US" sz="2400" dirty="0">
                        <a:latin typeface="Cambria Math" panose="02040503050406030204" pitchFamily="18" charset="0"/>
                        <a:cs typeface="Times New Roman" panose="02020603050405020304" pitchFamily="18" charset="0"/>
                      </a:rPr>
                      <m:t>地，</m:t>
                    </m:r>
                    <m:r>
                      <a:rPr lang="en-US" altLang="zh-CN" sz="2400" dirty="0">
                        <a:latin typeface="Cambria Math" panose="02040503050406030204" pitchFamily="18" charset="0"/>
                        <a:cs typeface="Times New Roman" panose="02020603050405020304" pitchFamily="18" charset="0"/>
                      </a:rPr>
                      <m:t>𝑂</m:t>
                    </m:r>
                    <m:d>
                      <m:dPr>
                        <m:ctrlPr>
                          <a:rPr lang="en-US" altLang="zh-CN" sz="2400" i="1" dirty="0">
                            <a:latin typeface="Cambria Math" panose="02040503050406030204" pitchFamily="18" charset="0"/>
                            <a:cs typeface="Times New Roman" panose="02020603050405020304" pitchFamily="18" charset="0"/>
                          </a:rPr>
                        </m:ctrlPr>
                      </m:dPr>
                      <m:e>
                        <m:r>
                          <m:rPr>
                            <m:sty m:val="p"/>
                          </m:rPr>
                          <a:rPr lang="en-US" altLang="zh-CN" sz="2400" dirty="0">
                            <a:latin typeface="Cambria Math" panose="02040503050406030204" pitchFamily="18" charset="0"/>
                            <a:cs typeface="Times New Roman" panose="02020603050405020304" pitchFamily="18" charset="0"/>
                          </a:rPr>
                          <m:t>log</m:t>
                        </m:r>
                        <m:r>
                          <a:rPr lang="en-US" altLang="zh-CN" sz="2400" dirty="0">
                            <a:latin typeface="Cambria Math" panose="02040503050406030204" pitchFamily="18" charset="0"/>
                            <a:cs typeface="Times New Roman" panose="02020603050405020304" pitchFamily="18" charset="0"/>
                          </a:rPr>
                          <m:t>𝑑</m:t>
                        </m:r>
                      </m:e>
                    </m:d>
                    <m:r>
                      <a:rPr lang="zh-CN" altLang="en-US" sz="2400">
                        <a:latin typeface="Cambria Math" panose="02040503050406030204" pitchFamily="18" charset="0"/>
                        <a:cs typeface="Times New Roman" panose="02020603050405020304" pitchFamily="18" charset="0"/>
                      </a:rPr>
                      <m:t>甚至</m:t>
                    </m:r>
                    <m:r>
                      <a:rPr lang="en-US" altLang="zh-CN" sz="2400" dirty="0">
                        <a:latin typeface="Cambria Math" panose="02040503050406030204" pitchFamily="18" charset="0"/>
                        <a:cs typeface="Times New Roman" panose="02020603050405020304" pitchFamily="18" charset="0"/>
                      </a:rPr>
                      <m:t>𝑂</m:t>
                    </m:r>
                    <m:d>
                      <m:dPr>
                        <m:ctrlPr>
                          <a:rPr lang="en-US" altLang="zh-CN" sz="2400" i="1" dirty="0">
                            <a:latin typeface="Cambria Math" panose="02040503050406030204" pitchFamily="18" charset="0"/>
                            <a:cs typeface="Times New Roman" panose="02020603050405020304" pitchFamily="18" charset="0"/>
                          </a:rPr>
                        </m:ctrlPr>
                      </m:dPr>
                      <m:e>
                        <m:sSup>
                          <m:sSupPr>
                            <m:ctrlPr>
                              <a:rPr lang="en-US" altLang="zh-CN" sz="2400" i="1">
                                <a:latin typeface="Cambria Math" panose="02040503050406030204" pitchFamily="18" charset="0"/>
                                <a:cs typeface="Times New Roman" panose="02020603050405020304" pitchFamily="18" charset="0"/>
                              </a:rPr>
                            </m:ctrlPr>
                          </m:sSupPr>
                          <m:e>
                            <m:r>
                              <a:rPr lang="en-US" altLang="zh-CN" sz="2400">
                                <a:latin typeface="Cambria Math" panose="02040503050406030204" pitchFamily="18" charset="0"/>
                                <a:cs typeface="Times New Roman" panose="02020603050405020304" pitchFamily="18" charset="0"/>
                              </a:rPr>
                              <m:t>𝑘</m:t>
                            </m:r>
                          </m:e>
                          <m:sup>
                            <m:r>
                              <a:rPr lang="en-US" altLang="zh-CN" sz="2400">
                                <a:latin typeface="Cambria Math" panose="02040503050406030204" pitchFamily="18" charset="0"/>
                                <a:cs typeface="Times New Roman" panose="02020603050405020304" pitchFamily="18" charset="0"/>
                              </a:rPr>
                              <m:t>3</m:t>
                            </m:r>
                          </m:sup>
                        </m:sSup>
                      </m:e>
                    </m:d>
                  </m:oMath>
                </a14:m>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的神经网络精确表示，其中网络的总参数量是</a:t>
                </a:r>
                <a:r>
                  <a:rPr lang="zh-CN" altLang="en-US" sz="2400" dirty="0">
                    <a:solidFill>
                      <a:srgbClr val="FF0000"/>
                    </a:solidFill>
                    <a:latin typeface="Times New Roman" panose="02020603050405020304" pitchFamily="18" charset="0"/>
                    <a:cs typeface="Times New Roman" panose="02020603050405020304" pitchFamily="18" charset="0"/>
                  </a:rPr>
                  <a:t>多项式级</a:t>
                </a:r>
                <a:r>
                  <a:rPr lang="zh-CN" altLang="en-US" sz="2400" dirty="0">
                    <a:latin typeface="Times New Roman" panose="02020603050405020304" pitchFamily="18" charset="0"/>
                    <a:cs typeface="Times New Roman" panose="02020603050405020304" pitchFamily="18" charset="0"/>
                  </a:rPr>
                  <a:t>的，但如果限制网络深度为</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层（或深度远小于某个与函数结构相关的参数</a:t>
                </a:r>
                <a:r>
                  <a:rPr lang="en-US" altLang="zh-CN" sz="2400" i="1"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），那么为了逼近该函数，所需的神经元数量（即参数量）必须至少是</a:t>
                </a:r>
                <a:r>
                  <a:rPr lang="zh-CN" altLang="en-US" sz="2400" dirty="0">
                    <a:solidFill>
                      <a:srgbClr val="FF0000"/>
                    </a:solidFill>
                    <a:latin typeface="Times New Roman" panose="02020603050405020304" pitchFamily="18" charset="0"/>
                    <a:cs typeface="Times New Roman" panose="02020603050405020304" pitchFamily="18" charset="0"/>
                  </a:rPr>
                  <a:t>指数级</a:t>
                </a:r>
                <a:r>
                  <a:rPr lang="zh-CN" altLang="en-US" sz="2400" dirty="0">
                    <a:latin typeface="Times New Roman" panose="02020603050405020304" pitchFamily="18" charset="0"/>
                    <a:cs typeface="Times New Roman" panose="02020603050405020304" pitchFamily="18" charset="0"/>
                  </a:rPr>
                  <a:t>（相对于</a:t>
                </a:r>
                <a:r>
                  <a:rPr lang="en-US" altLang="zh-CN" sz="2400" i="1"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或输入维数</a:t>
                </a:r>
                <a:r>
                  <a:rPr lang="en-US" altLang="zh-CN" sz="2400" i="1" dirty="0">
                    <a:latin typeface="Times New Roman" panose="02020603050405020304" pitchFamily="18" charset="0"/>
                    <a:cs typeface="Times New Roman" panose="02020603050405020304" pitchFamily="18" charset="0"/>
                  </a:rPr>
                  <a:t>d</a:t>
                </a:r>
                <a:r>
                  <a:rPr lang="zh-CN" altLang="en-US" sz="2400" dirty="0">
                    <a:latin typeface="Times New Roman" panose="02020603050405020304" pitchFamily="18" charset="0"/>
                    <a:cs typeface="Times New Roman" panose="02020603050405020304" pitchFamily="18" charset="0"/>
                  </a:rPr>
                  <a:t>）。</a:t>
                </a:r>
              </a:p>
            </p:txBody>
          </p:sp>
        </mc:Choice>
        <mc:Fallback xmlns="">
          <p:sp>
            <p:nvSpPr>
              <p:cNvPr id="25" name="矩形 24">
                <a:extLst>
                  <a:ext uri="{FF2B5EF4-FFF2-40B4-BE49-F238E27FC236}">
                    <a16:creationId xmlns:a16="http://schemas.microsoft.com/office/drawing/2014/main" id="{B799E8CC-E9B7-854E-B0AD-2972BA69C905}"/>
                  </a:ext>
                </a:extLst>
              </p:cNvPr>
              <p:cNvSpPr>
                <a:spLocks noRot="1" noChangeAspect="1" noMove="1" noResize="1" noEditPoints="1" noAdjustHandles="1" noChangeArrowheads="1" noChangeShapeType="1" noTextEdit="1"/>
              </p:cNvSpPr>
              <p:nvPr/>
            </p:nvSpPr>
            <p:spPr bwMode="auto">
              <a:xfrm>
                <a:off x="548640" y="1436911"/>
                <a:ext cx="11236960" cy="1974711"/>
              </a:xfrm>
              <a:prstGeom prst="rect">
                <a:avLst/>
              </a:prstGeom>
              <a:blipFill>
                <a:blip r:embed="rId3"/>
                <a:stretch>
                  <a:fillRect/>
                </a:stretch>
              </a:blipFill>
              <a:ln w="12700">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6279BDBC-F239-4EE4-BB90-60EE7774CD52}"/>
              </a:ext>
            </a:extLst>
          </p:cNvPr>
          <p:cNvSpPr txBox="1"/>
          <p:nvPr/>
        </p:nvSpPr>
        <p:spPr>
          <a:xfrm>
            <a:off x="581252" y="3668277"/>
            <a:ext cx="11171736" cy="968598"/>
          </a:xfrm>
          <a:prstGeom prst="rect">
            <a:avLst/>
          </a:prstGeom>
          <a:noFill/>
        </p:spPr>
        <p:txBody>
          <a:bodyPr wrap="square">
            <a:spAutoFit/>
          </a:bodyPr>
          <a:lstStyle/>
          <a:p>
            <a:pPr marL="285750" indent="-285750">
              <a:lnSpc>
                <a:spcPct val="150000"/>
              </a:lnSpc>
              <a:buFont typeface="Wingdings" panose="05000000000000000000" pitchFamily="2" charset="2"/>
              <a:buChar char="p"/>
            </a:pPr>
            <a:r>
              <a:rPr lang="zh-CN" altLang="en-US" sz="2000" b="1" dirty="0">
                <a:solidFill>
                  <a:srgbClr val="0F1115"/>
                </a:solidFill>
                <a:effectLst/>
                <a:latin typeface="quote-cjk-patch"/>
              </a:rPr>
              <a:t>证明了 深度 在神经网络表达能力中起着关键作用</a:t>
            </a:r>
            <a:r>
              <a:rPr lang="en-US" altLang="zh-CN" sz="2000" b="1" dirty="0">
                <a:solidFill>
                  <a:srgbClr val="0F1115"/>
                </a:solidFill>
                <a:effectLst/>
                <a:latin typeface="quote-cjk-patch"/>
              </a:rPr>
              <a:t>——</a:t>
            </a:r>
            <a:r>
              <a:rPr lang="zh-CN" altLang="en-US" sz="2000" b="1" dirty="0">
                <a:solidFill>
                  <a:srgbClr val="0F1115"/>
                </a:solidFill>
                <a:effectLst/>
                <a:latin typeface="quote-cjk-patch"/>
              </a:rPr>
              <a:t>深度可以指数级地减少表示某些函数所需的参数量。</a:t>
            </a:r>
          </a:p>
        </p:txBody>
      </p:sp>
    </p:spTree>
    <p:extLst>
      <p:ext uri="{BB962C8B-B14F-4D97-AF65-F5344CB8AC3E}">
        <p14:creationId xmlns:p14="http://schemas.microsoft.com/office/powerpoint/2010/main" val="106251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33</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53393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多层感知机：深度 </a:t>
            </a:r>
            <a:r>
              <a:rPr lang="en-US" altLang="zh-CN" sz="3600" dirty="0">
                <a:solidFill>
                  <a:schemeClr val="bg1"/>
                </a:solidFill>
                <a:latin typeface="Calibri" panose="020F0502020204030204" pitchFamily="34" charset="0"/>
                <a:cs typeface="Calibri" panose="020F0502020204030204" pitchFamily="34" charset="0"/>
              </a:rPr>
              <a:t>vs. </a:t>
            </a:r>
            <a:r>
              <a:rPr lang="zh-CN" altLang="en-US" sz="3600" dirty="0">
                <a:solidFill>
                  <a:schemeClr val="bg1"/>
                </a:solidFill>
                <a:latin typeface="Calibri" panose="020F0502020204030204" pitchFamily="34" charset="0"/>
                <a:cs typeface="Calibri" panose="020F0502020204030204" pitchFamily="34" charset="0"/>
              </a:rPr>
              <a:t>宽度</a:t>
            </a:r>
          </a:p>
        </p:txBody>
      </p:sp>
      <p:sp>
        <p:nvSpPr>
          <p:cNvPr id="9" name="文本框 8">
            <a:extLst>
              <a:ext uri="{FF2B5EF4-FFF2-40B4-BE49-F238E27FC236}">
                <a16:creationId xmlns:a16="http://schemas.microsoft.com/office/drawing/2014/main" id="{6279BDBC-F239-4EE4-BB90-60EE7774CD52}"/>
              </a:ext>
            </a:extLst>
          </p:cNvPr>
          <p:cNvSpPr txBox="1"/>
          <p:nvPr/>
        </p:nvSpPr>
        <p:spPr>
          <a:xfrm>
            <a:off x="375650" y="1334980"/>
            <a:ext cx="11171736" cy="2246769"/>
          </a:xfrm>
          <a:prstGeom prst="rect">
            <a:avLst/>
          </a:prstGeom>
          <a:noFill/>
          <a:ln>
            <a:solidFill>
              <a:schemeClr val="accent1"/>
            </a:solidFill>
          </a:ln>
        </p:spPr>
        <p:txBody>
          <a:bodyPr wrap="square">
            <a:spAutoFit/>
          </a:bodyPr>
          <a:lstStyle/>
          <a:p>
            <a:pPr algn="l"/>
            <a:r>
              <a:rPr lang="zh-CN" altLang="en-US" sz="2000" b="1" dirty="0">
                <a:solidFill>
                  <a:srgbClr val="0F1115"/>
                </a:solidFill>
                <a:effectLst/>
                <a:latin typeface="quote-cjk-patch"/>
              </a:rPr>
              <a:t>通用近似定理（</a:t>
            </a:r>
            <a:r>
              <a:rPr lang="en-US" altLang="zh-CN" sz="2000" b="1" dirty="0" err="1">
                <a:solidFill>
                  <a:srgbClr val="0F1115"/>
                </a:solidFill>
                <a:effectLst/>
                <a:latin typeface="quote-cjk-patch"/>
              </a:rPr>
              <a:t>Cybenko</a:t>
            </a:r>
            <a:r>
              <a:rPr lang="en-US" altLang="zh-CN" sz="2000" b="1" dirty="0">
                <a:solidFill>
                  <a:srgbClr val="0F1115"/>
                </a:solidFill>
                <a:effectLst/>
                <a:latin typeface="quote-cjk-patch"/>
              </a:rPr>
              <a:t> </a:t>
            </a:r>
            <a:r>
              <a:rPr lang="zh-CN" altLang="en-US" sz="2000" b="1" dirty="0">
                <a:solidFill>
                  <a:srgbClr val="0F1115"/>
                </a:solidFill>
                <a:effectLst/>
                <a:latin typeface="quote-cjk-patch"/>
              </a:rPr>
              <a:t>等）</a:t>
            </a:r>
          </a:p>
          <a:p>
            <a:pPr algn="l"/>
            <a:r>
              <a:rPr lang="zh-CN" altLang="en-US" sz="2000" b="1" i="0" dirty="0">
                <a:solidFill>
                  <a:srgbClr val="0F1115"/>
                </a:solidFill>
                <a:effectLst/>
                <a:latin typeface="quote-cjk-patch"/>
              </a:rPr>
              <a:t>结论</a:t>
            </a:r>
            <a:r>
              <a:rPr lang="zh-CN" altLang="en-US" sz="2000" b="0" i="0" dirty="0">
                <a:solidFill>
                  <a:srgbClr val="0F1115"/>
                </a:solidFill>
                <a:effectLst/>
                <a:latin typeface="quote-cjk-patch"/>
              </a:rPr>
              <a:t>：</a:t>
            </a:r>
            <a:br>
              <a:rPr lang="zh-CN" altLang="en-US" sz="2000" b="0" i="0" dirty="0">
                <a:solidFill>
                  <a:srgbClr val="0F1115"/>
                </a:solidFill>
                <a:effectLst/>
                <a:latin typeface="quote-cjk-patch"/>
              </a:rPr>
            </a:br>
            <a:r>
              <a:rPr lang="zh-CN" altLang="en-US" sz="2000" b="0" i="0" dirty="0">
                <a:solidFill>
                  <a:srgbClr val="0F1115"/>
                </a:solidFill>
                <a:effectLst/>
                <a:latin typeface="quote-cjk-patch"/>
              </a:rPr>
              <a:t>单隐层网络（宽度足够大）可以以任意精度逼近紧集上的任意连续函数。</a:t>
            </a:r>
          </a:p>
          <a:p>
            <a:pPr algn="l"/>
            <a:r>
              <a:rPr lang="zh-CN" altLang="en-US" sz="2000" b="1" i="0" dirty="0">
                <a:solidFill>
                  <a:srgbClr val="0F1115"/>
                </a:solidFill>
                <a:effectLst/>
                <a:latin typeface="quote-cjk-patch"/>
              </a:rPr>
              <a:t>性质</a:t>
            </a:r>
            <a:r>
              <a:rPr lang="zh-CN" altLang="en-US" sz="2000" b="0" i="0" dirty="0">
                <a:solidFill>
                  <a:srgbClr val="0F1115"/>
                </a:solidFill>
                <a:effectLst/>
                <a:latin typeface="quote-cjk-patch"/>
              </a:rPr>
              <a:t>：</a:t>
            </a:r>
          </a:p>
          <a:p>
            <a:pPr algn="l">
              <a:buFont typeface="Arial" panose="020B0604020202020204" pitchFamily="34" charset="0"/>
              <a:buChar char="•"/>
            </a:pPr>
            <a:r>
              <a:rPr lang="zh-CN" altLang="en-US" sz="2000" b="0" i="0" dirty="0">
                <a:solidFill>
                  <a:srgbClr val="0F1115"/>
                </a:solidFill>
                <a:effectLst/>
                <a:latin typeface="quote-cjk-patch"/>
              </a:rPr>
              <a:t>回答的是</a:t>
            </a:r>
            <a:r>
              <a:rPr lang="zh-CN" altLang="en-US" sz="2000" b="1" i="0" dirty="0">
                <a:solidFill>
                  <a:srgbClr val="0F1115"/>
                </a:solidFill>
                <a:effectLst/>
                <a:latin typeface="quote-cjk-patch"/>
              </a:rPr>
              <a:t>存在性</a:t>
            </a:r>
            <a:r>
              <a:rPr lang="zh-CN" altLang="en-US" sz="2000" b="0" i="0" dirty="0">
                <a:solidFill>
                  <a:srgbClr val="0F1115"/>
                </a:solidFill>
                <a:effectLst/>
                <a:latin typeface="quote-cjk-patch"/>
              </a:rPr>
              <a:t>（“能不能”）</a:t>
            </a:r>
          </a:p>
          <a:p>
            <a:pPr algn="l">
              <a:buFont typeface="Arial" panose="020B0604020202020204" pitchFamily="34" charset="0"/>
              <a:buChar char="•"/>
            </a:pPr>
            <a:r>
              <a:rPr lang="zh-CN" altLang="en-US" sz="2000" b="0" i="0" dirty="0">
                <a:solidFill>
                  <a:srgbClr val="0F1115"/>
                </a:solidFill>
                <a:effectLst/>
                <a:latin typeface="quote-cjk-patch"/>
              </a:rPr>
              <a:t>不关心达到该精度需要多少神经元</a:t>
            </a:r>
          </a:p>
          <a:p>
            <a:pPr algn="l">
              <a:buFont typeface="Arial" panose="020B0604020202020204" pitchFamily="34" charset="0"/>
              <a:buChar char="•"/>
            </a:pPr>
            <a:r>
              <a:rPr lang="zh-CN" altLang="en-US" sz="2000" b="0" i="0" dirty="0">
                <a:solidFill>
                  <a:srgbClr val="0F1115"/>
                </a:solidFill>
                <a:effectLst/>
                <a:latin typeface="quote-cjk-patch"/>
              </a:rPr>
              <a:t>对 </a:t>
            </a:r>
            <a:r>
              <a:rPr lang="zh-CN" altLang="en-US" sz="2000" b="1" i="0" dirty="0">
                <a:solidFill>
                  <a:srgbClr val="0F1115"/>
                </a:solidFill>
                <a:effectLst/>
                <a:latin typeface="quote-cjk-patch"/>
              </a:rPr>
              <a:t>所有连续函数</a:t>
            </a:r>
            <a:r>
              <a:rPr lang="zh-CN" altLang="en-US" sz="2000" b="0" i="0" dirty="0">
                <a:solidFill>
                  <a:srgbClr val="0F1115"/>
                </a:solidFill>
                <a:effectLst/>
                <a:latin typeface="quote-cjk-patch"/>
              </a:rPr>
              <a:t> 都成立</a:t>
            </a:r>
          </a:p>
        </p:txBody>
      </p:sp>
      <p:sp>
        <p:nvSpPr>
          <p:cNvPr id="10" name="文本框 9">
            <a:extLst>
              <a:ext uri="{FF2B5EF4-FFF2-40B4-BE49-F238E27FC236}">
                <a16:creationId xmlns:a16="http://schemas.microsoft.com/office/drawing/2014/main" id="{2FBE8845-5304-41D1-A393-6957E8E3840A}"/>
              </a:ext>
            </a:extLst>
          </p:cNvPr>
          <p:cNvSpPr txBox="1"/>
          <p:nvPr/>
        </p:nvSpPr>
        <p:spPr>
          <a:xfrm>
            <a:off x="375649" y="3736473"/>
            <a:ext cx="11171737" cy="2308324"/>
          </a:xfrm>
          <a:prstGeom prst="rect">
            <a:avLst/>
          </a:prstGeom>
          <a:noFill/>
          <a:ln>
            <a:solidFill>
              <a:schemeClr val="accent1"/>
            </a:solidFill>
          </a:ln>
        </p:spPr>
        <p:txBody>
          <a:bodyPr wrap="square">
            <a:spAutoFit/>
          </a:bodyPr>
          <a:lstStyle/>
          <a:p>
            <a:pPr algn="l"/>
            <a:r>
              <a:rPr lang="en-US" altLang="zh-CN" b="1" dirty="0" err="1">
                <a:solidFill>
                  <a:srgbClr val="0F1115"/>
                </a:solidFill>
                <a:effectLst/>
                <a:latin typeface="quote-cjk-patch"/>
              </a:rPr>
              <a:t>Telgarsky</a:t>
            </a:r>
            <a:r>
              <a:rPr lang="zh-CN" altLang="en-US" b="1" dirty="0">
                <a:solidFill>
                  <a:srgbClr val="0F1115"/>
                </a:solidFill>
                <a:effectLst/>
                <a:latin typeface="quote-cjk-patch"/>
              </a:rPr>
              <a:t>（</a:t>
            </a:r>
            <a:r>
              <a:rPr lang="en-US" altLang="zh-CN" b="1" dirty="0">
                <a:solidFill>
                  <a:srgbClr val="0F1115"/>
                </a:solidFill>
                <a:effectLst/>
                <a:latin typeface="quote-cjk-patch"/>
              </a:rPr>
              <a:t>2016</a:t>
            </a:r>
            <a:r>
              <a:rPr lang="zh-CN" altLang="en-US" b="1" dirty="0">
                <a:solidFill>
                  <a:srgbClr val="0F1115"/>
                </a:solidFill>
                <a:effectLst/>
                <a:latin typeface="quote-cjk-patch"/>
              </a:rPr>
              <a:t>）与 </a:t>
            </a:r>
            <a:r>
              <a:rPr lang="en-US" altLang="zh-CN" b="1" dirty="0" err="1">
                <a:solidFill>
                  <a:srgbClr val="0F1115"/>
                </a:solidFill>
                <a:effectLst/>
                <a:latin typeface="quote-cjk-patch"/>
              </a:rPr>
              <a:t>Eldan</a:t>
            </a:r>
            <a:r>
              <a:rPr lang="en-US" altLang="zh-CN" b="1" dirty="0">
                <a:solidFill>
                  <a:srgbClr val="0F1115"/>
                </a:solidFill>
                <a:effectLst/>
                <a:latin typeface="quote-cjk-patch"/>
              </a:rPr>
              <a:t> &amp; Shamir</a:t>
            </a:r>
            <a:r>
              <a:rPr lang="zh-CN" altLang="en-US" b="1" dirty="0">
                <a:solidFill>
                  <a:srgbClr val="0F1115"/>
                </a:solidFill>
                <a:effectLst/>
                <a:latin typeface="quote-cjk-patch"/>
              </a:rPr>
              <a:t>（</a:t>
            </a:r>
            <a:r>
              <a:rPr lang="en-US" altLang="zh-CN" b="1" dirty="0">
                <a:solidFill>
                  <a:srgbClr val="0F1115"/>
                </a:solidFill>
                <a:effectLst/>
                <a:latin typeface="quote-cjk-patch"/>
              </a:rPr>
              <a:t>2016</a:t>
            </a:r>
            <a:r>
              <a:rPr lang="zh-CN" altLang="en-US" b="1" dirty="0">
                <a:solidFill>
                  <a:srgbClr val="0F1115"/>
                </a:solidFill>
                <a:effectLst/>
                <a:latin typeface="quote-cjk-patch"/>
              </a:rPr>
              <a:t>）</a:t>
            </a:r>
          </a:p>
          <a:p>
            <a:pPr algn="l"/>
            <a:r>
              <a:rPr lang="zh-CN" altLang="en-US" b="1" i="0" dirty="0">
                <a:solidFill>
                  <a:srgbClr val="0F1115"/>
                </a:solidFill>
                <a:effectLst/>
                <a:latin typeface="quote-cjk-patch"/>
              </a:rPr>
              <a:t>结论</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存在某些函数，用深层网络（比如 </a:t>
            </a:r>
            <a:r>
              <a:rPr lang="en-US" altLang="zh-CN" b="0" i="0" dirty="0">
                <a:solidFill>
                  <a:srgbClr val="0F1115"/>
                </a:solidFill>
                <a:effectLst/>
                <a:latin typeface="quote-cjk-patch"/>
              </a:rPr>
              <a:t>3 </a:t>
            </a:r>
            <a:r>
              <a:rPr lang="zh-CN" altLang="en-US" b="0" i="0" dirty="0">
                <a:solidFill>
                  <a:srgbClr val="0F1115"/>
                </a:solidFill>
                <a:effectLst/>
                <a:latin typeface="quote-cjk-patch"/>
              </a:rPr>
              <a:t>层或 </a:t>
            </a:r>
            <a:r>
              <a:rPr lang="en-US" altLang="zh-CN" b="0" i="0" dirty="0">
                <a:solidFill>
                  <a:srgbClr val="0F1115"/>
                </a:solidFill>
                <a:effectLst/>
                <a:latin typeface="KaTeX_Main"/>
              </a:rPr>
              <a:t>O(k</a:t>
            </a:r>
            <a:r>
              <a:rPr lang="en-US" altLang="zh-CN" b="0" i="0" baseline="30000" dirty="0">
                <a:solidFill>
                  <a:srgbClr val="0F1115"/>
                </a:solidFill>
                <a:effectLst/>
                <a:latin typeface="KaTeX_Main"/>
              </a:rPr>
              <a:t>3</a:t>
            </a:r>
            <a:r>
              <a:rPr lang="en-US" altLang="zh-CN" b="0" i="0" dirty="0">
                <a:solidFill>
                  <a:srgbClr val="0F1115"/>
                </a:solidFill>
                <a:effectLst/>
                <a:latin typeface="KaTeX_Main"/>
              </a:rPr>
              <a:t>)</a:t>
            </a:r>
            <a:r>
              <a:rPr lang="en-US" altLang="zh-CN" b="0" i="1" dirty="0">
                <a:solidFill>
                  <a:srgbClr val="0F1115"/>
                </a:solidFill>
                <a:effectLst/>
                <a:latin typeface="KaTeX_Math"/>
              </a:rPr>
              <a:t> </a:t>
            </a:r>
            <a:r>
              <a:rPr lang="zh-CN" altLang="en-US" b="0" i="0" dirty="0">
                <a:solidFill>
                  <a:srgbClr val="0F1115"/>
                </a:solidFill>
                <a:effectLst/>
                <a:latin typeface="quote-cjk-patch"/>
              </a:rPr>
              <a:t>层）可以高效表示（多项式级参数），但用浅层网络（如 </a:t>
            </a:r>
            <a:r>
              <a:rPr lang="en-US" altLang="zh-CN" b="0" i="0" dirty="0">
                <a:solidFill>
                  <a:srgbClr val="0F1115"/>
                </a:solidFill>
                <a:effectLst/>
                <a:latin typeface="quote-cjk-patch"/>
              </a:rPr>
              <a:t>2 </a:t>
            </a:r>
            <a:r>
              <a:rPr lang="zh-CN" altLang="en-US" b="0" i="0" dirty="0">
                <a:solidFill>
                  <a:srgbClr val="0F1115"/>
                </a:solidFill>
                <a:effectLst/>
                <a:latin typeface="quote-cjk-patch"/>
              </a:rPr>
              <a:t>层）表示时，所需的宽度必须是指数级（相对于某个复杂度参数）。</a:t>
            </a:r>
          </a:p>
          <a:p>
            <a:pPr algn="l"/>
            <a:r>
              <a:rPr lang="zh-CN" altLang="en-US" b="1" i="0" dirty="0">
                <a:solidFill>
                  <a:srgbClr val="0F1115"/>
                </a:solidFill>
                <a:effectLst/>
                <a:latin typeface="quote-cjk-patch"/>
              </a:rPr>
              <a:t>性质</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回答的是</a:t>
            </a:r>
            <a:r>
              <a:rPr lang="zh-CN" altLang="en-US" b="1" i="0" dirty="0">
                <a:solidFill>
                  <a:srgbClr val="0F1115"/>
                </a:solidFill>
                <a:effectLst/>
                <a:latin typeface="quote-cjk-patch"/>
              </a:rPr>
              <a:t>效率性</a:t>
            </a:r>
            <a:r>
              <a:rPr lang="zh-CN" altLang="en-US" b="0" i="0" dirty="0">
                <a:solidFill>
                  <a:srgbClr val="0F1115"/>
                </a:solidFill>
                <a:effectLst/>
                <a:latin typeface="quote-cjk-patch"/>
              </a:rPr>
              <a:t>（“好不好</a:t>
            </a:r>
            <a:r>
              <a:rPr lang="en-US" altLang="zh-CN" b="0" i="0" dirty="0">
                <a:solidFill>
                  <a:srgbClr val="0F1115"/>
                </a:solidFill>
                <a:effectLst/>
                <a:latin typeface="quote-cjk-patch"/>
              </a:rPr>
              <a:t>/</a:t>
            </a:r>
            <a:r>
              <a:rPr lang="zh-CN" altLang="en-US" b="0" i="0" dirty="0">
                <a:solidFill>
                  <a:srgbClr val="0F1115"/>
                </a:solidFill>
                <a:effectLst/>
                <a:latin typeface="quote-cjk-patch"/>
              </a:rPr>
              <a:t>省不省”）</a:t>
            </a:r>
          </a:p>
          <a:p>
            <a:pPr algn="l">
              <a:buFont typeface="Arial" panose="020B0604020202020204" pitchFamily="34" charset="0"/>
              <a:buChar char="•"/>
            </a:pPr>
            <a:r>
              <a:rPr lang="zh-CN" altLang="en-US" b="0" i="0" dirty="0">
                <a:solidFill>
                  <a:srgbClr val="0F1115"/>
                </a:solidFill>
                <a:effectLst/>
                <a:latin typeface="quote-cjk-patch"/>
              </a:rPr>
              <a:t>只针对</a:t>
            </a:r>
            <a:r>
              <a:rPr lang="zh-CN" altLang="en-US" b="1" i="0" dirty="0">
                <a:solidFill>
                  <a:srgbClr val="0F1115"/>
                </a:solidFill>
                <a:effectLst/>
                <a:latin typeface="quote-cjk-patch"/>
              </a:rPr>
              <a:t>某些特定的函数</a:t>
            </a:r>
            <a:r>
              <a:rPr lang="zh-CN" altLang="en-US" b="0" i="0" dirty="0">
                <a:solidFill>
                  <a:srgbClr val="0F1115"/>
                </a:solidFill>
                <a:effectLst/>
                <a:latin typeface="quote-cjk-patch"/>
              </a:rPr>
              <a:t>，不是所有函数</a:t>
            </a:r>
          </a:p>
          <a:p>
            <a:pPr algn="l">
              <a:buFont typeface="Arial" panose="020B0604020202020204" pitchFamily="34" charset="0"/>
              <a:buChar char="•"/>
            </a:pPr>
            <a:r>
              <a:rPr lang="zh-CN" altLang="en-US" b="0" i="0" dirty="0">
                <a:solidFill>
                  <a:srgbClr val="0F1115"/>
                </a:solidFill>
                <a:effectLst/>
                <a:latin typeface="quote-cjk-patch"/>
              </a:rPr>
              <a:t>对比的是</a:t>
            </a:r>
            <a:r>
              <a:rPr lang="zh-CN" altLang="en-US" b="1" i="0" dirty="0">
                <a:solidFill>
                  <a:srgbClr val="0F1115"/>
                </a:solidFill>
                <a:effectLst/>
                <a:latin typeface="quote-cjk-patch"/>
              </a:rPr>
              <a:t>不同深度下的参数复杂度</a:t>
            </a:r>
            <a:endParaRPr lang="zh-CN" altLang="en-US" b="0" i="0" dirty="0">
              <a:solidFill>
                <a:srgbClr val="0F1115"/>
              </a:solidFill>
              <a:effectLst/>
              <a:latin typeface="quote-cjk-patch"/>
            </a:endParaRPr>
          </a:p>
        </p:txBody>
      </p:sp>
      <p:sp>
        <p:nvSpPr>
          <p:cNvPr id="11" name="文本框 10">
            <a:extLst>
              <a:ext uri="{FF2B5EF4-FFF2-40B4-BE49-F238E27FC236}">
                <a16:creationId xmlns:a16="http://schemas.microsoft.com/office/drawing/2014/main" id="{0D532815-2943-4956-ABD9-4892190A4F7D}"/>
              </a:ext>
            </a:extLst>
          </p:cNvPr>
          <p:cNvSpPr txBox="1"/>
          <p:nvPr/>
        </p:nvSpPr>
        <p:spPr>
          <a:xfrm>
            <a:off x="796159" y="6199521"/>
            <a:ext cx="10118834" cy="400110"/>
          </a:xfrm>
          <a:prstGeom prst="rect">
            <a:avLst/>
          </a:prstGeom>
          <a:noFill/>
        </p:spPr>
        <p:txBody>
          <a:bodyPr wrap="square">
            <a:spAutoFit/>
          </a:bodyPr>
          <a:lstStyle/>
          <a:p>
            <a:r>
              <a:rPr lang="zh-CN" altLang="en-US" sz="2000" b="1" i="0" dirty="0">
                <a:solidFill>
                  <a:srgbClr val="C00000"/>
                </a:solidFill>
                <a:effectLst/>
                <a:latin typeface="quote-cjk-patch"/>
              </a:rPr>
              <a:t>足够宽的单隐层网络具有通用逼近能力，但深度可以在某些函数上指数级地节省参数</a:t>
            </a:r>
            <a:endParaRPr lang="zh-CN" altLang="en-US" sz="2000" dirty="0">
              <a:solidFill>
                <a:srgbClr val="C00000"/>
              </a:solidFill>
            </a:endParaRPr>
          </a:p>
        </p:txBody>
      </p:sp>
    </p:spTree>
    <p:extLst>
      <p:ext uri="{BB962C8B-B14F-4D97-AF65-F5344CB8AC3E}">
        <p14:creationId xmlns:p14="http://schemas.microsoft.com/office/powerpoint/2010/main" val="1337544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34</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53393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多层感知机：深度 </a:t>
            </a:r>
            <a:r>
              <a:rPr lang="en-US" altLang="zh-CN" sz="3600" dirty="0">
                <a:solidFill>
                  <a:schemeClr val="bg1"/>
                </a:solidFill>
                <a:latin typeface="Calibri" panose="020F0502020204030204" pitchFamily="34" charset="0"/>
                <a:cs typeface="Calibri" panose="020F0502020204030204" pitchFamily="34" charset="0"/>
              </a:rPr>
              <a:t>vs. </a:t>
            </a:r>
            <a:r>
              <a:rPr lang="zh-CN" altLang="en-US" sz="3600" dirty="0">
                <a:solidFill>
                  <a:schemeClr val="bg1"/>
                </a:solidFill>
                <a:latin typeface="Calibri" panose="020F0502020204030204" pitchFamily="34" charset="0"/>
                <a:cs typeface="Calibri" panose="020F0502020204030204" pitchFamily="34" charset="0"/>
              </a:rPr>
              <a:t>宽度</a:t>
            </a:r>
          </a:p>
        </p:txBody>
      </p:sp>
      <p:sp>
        <p:nvSpPr>
          <p:cNvPr id="8" name="矩形 7">
            <a:extLst>
              <a:ext uri="{FF2B5EF4-FFF2-40B4-BE49-F238E27FC236}">
                <a16:creationId xmlns:a16="http://schemas.microsoft.com/office/drawing/2014/main" id="{4F44BE2A-D323-D947-A935-59DBA508C830}"/>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许多实验结果</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例如</a:t>
            </a:r>
            <a:r>
              <a:rPr lang="en-US" altLang="zh-CN" sz="2400" dirty="0">
                <a:latin typeface="Times New Roman" panose="02020603050405020304" pitchFamily="18" charset="0"/>
                <a:cs typeface="Times New Roman" panose="02020603050405020304" pitchFamily="18" charset="0"/>
              </a:rPr>
              <a:t>ImageNet</a:t>
            </a:r>
            <a:r>
              <a:rPr lang="zh-CN" altLang="en-US" sz="2400" dirty="0">
                <a:latin typeface="Times New Roman" panose="02020603050405020304" pitchFamily="18" charset="0"/>
                <a:cs typeface="Times New Roman" panose="02020603050405020304" pitchFamily="18" charset="0"/>
              </a:rPr>
              <a:t>数据集上的错误率</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也表明，增大深度有助于提升神经网络的性能。</a:t>
            </a:r>
          </a:p>
        </p:txBody>
      </p:sp>
      <p:pic>
        <p:nvPicPr>
          <p:cNvPr id="9" name="圖片 3">
            <a:extLst>
              <a:ext uri="{FF2B5EF4-FFF2-40B4-BE49-F238E27FC236}">
                <a16:creationId xmlns:a16="http://schemas.microsoft.com/office/drawing/2014/main" id="{BA241EA6-735E-4945-8C01-BDC0222448E2}"/>
              </a:ext>
            </a:extLst>
          </p:cNvPr>
          <p:cNvPicPr>
            <a:picLocks noChangeAspect="1"/>
          </p:cNvPicPr>
          <p:nvPr/>
        </p:nvPicPr>
        <p:blipFill>
          <a:blip r:embed="rId3"/>
          <a:stretch>
            <a:fillRect/>
          </a:stretch>
        </p:blipFill>
        <p:spPr>
          <a:xfrm flipH="1">
            <a:off x="9566112" y="3025319"/>
            <a:ext cx="275749" cy="3315499"/>
          </a:xfrm>
          <a:prstGeom prst="rect">
            <a:avLst/>
          </a:prstGeom>
        </p:spPr>
      </p:pic>
      <p:pic>
        <p:nvPicPr>
          <p:cNvPr id="10" name="圖片 3">
            <a:extLst>
              <a:ext uri="{FF2B5EF4-FFF2-40B4-BE49-F238E27FC236}">
                <a16:creationId xmlns:a16="http://schemas.microsoft.com/office/drawing/2014/main" id="{31B91475-E0D0-B447-BD5A-99DFAAEFFEDA}"/>
              </a:ext>
            </a:extLst>
          </p:cNvPr>
          <p:cNvPicPr>
            <a:picLocks noChangeAspect="1"/>
          </p:cNvPicPr>
          <p:nvPr/>
        </p:nvPicPr>
        <p:blipFill>
          <a:blip r:embed="rId4"/>
          <a:stretch>
            <a:fillRect/>
          </a:stretch>
        </p:blipFill>
        <p:spPr>
          <a:xfrm rot="5400000">
            <a:off x="4900277" y="4186287"/>
            <a:ext cx="3523404" cy="911172"/>
          </a:xfrm>
          <a:prstGeom prst="rect">
            <a:avLst/>
          </a:prstGeom>
        </p:spPr>
      </p:pic>
      <p:pic>
        <p:nvPicPr>
          <p:cNvPr id="11" name="圖片 4">
            <a:extLst>
              <a:ext uri="{FF2B5EF4-FFF2-40B4-BE49-F238E27FC236}">
                <a16:creationId xmlns:a16="http://schemas.microsoft.com/office/drawing/2014/main" id="{DB237798-0A87-7644-A4A7-B0E619853B9F}"/>
              </a:ext>
            </a:extLst>
          </p:cNvPr>
          <p:cNvPicPr>
            <a:picLocks noChangeAspect="1"/>
          </p:cNvPicPr>
          <p:nvPr/>
        </p:nvPicPr>
        <p:blipFill>
          <a:blip r:embed="rId5"/>
          <a:stretch>
            <a:fillRect/>
          </a:stretch>
        </p:blipFill>
        <p:spPr>
          <a:xfrm rot="16200000">
            <a:off x="712470" y="4834528"/>
            <a:ext cx="2160000" cy="711056"/>
          </a:xfrm>
          <a:prstGeom prst="rect">
            <a:avLst/>
          </a:prstGeom>
        </p:spPr>
      </p:pic>
      <p:pic>
        <p:nvPicPr>
          <p:cNvPr id="12" name="圖片 5">
            <a:extLst>
              <a:ext uri="{FF2B5EF4-FFF2-40B4-BE49-F238E27FC236}">
                <a16:creationId xmlns:a16="http://schemas.microsoft.com/office/drawing/2014/main" id="{3213396D-F424-824D-BE9D-107475CBA2E1}"/>
              </a:ext>
            </a:extLst>
          </p:cNvPr>
          <p:cNvPicPr>
            <a:picLocks noChangeAspect="1"/>
          </p:cNvPicPr>
          <p:nvPr/>
        </p:nvPicPr>
        <p:blipFill>
          <a:blip r:embed="rId6"/>
          <a:stretch>
            <a:fillRect/>
          </a:stretch>
        </p:blipFill>
        <p:spPr>
          <a:xfrm>
            <a:off x="3740006" y="3025320"/>
            <a:ext cx="636183" cy="3428637"/>
          </a:xfrm>
          <a:prstGeom prst="rect">
            <a:avLst/>
          </a:prstGeom>
        </p:spPr>
      </p:pic>
      <p:sp>
        <p:nvSpPr>
          <p:cNvPr id="13" name="文字方塊 7">
            <a:extLst>
              <a:ext uri="{FF2B5EF4-FFF2-40B4-BE49-F238E27FC236}">
                <a16:creationId xmlns:a16="http://schemas.microsoft.com/office/drawing/2014/main" id="{F15DE977-E45D-7949-95A2-1C2666D59736}"/>
              </a:ext>
            </a:extLst>
          </p:cNvPr>
          <p:cNvSpPr txBox="1"/>
          <p:nvPr/>
        </p:nvSpPr>
        <p:spPr>
          <a:xfrm>
            <a:off x="1134708" y="3488678"/>
            <a:ext cx="1215431" cy="43088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200" dirty="0">
                <a:latin typeface="Times New Roman" panose="02020603050405020304" charset="0"/>
                <a:cs typeface="Times New Roman" panose="02020603050405020304" charset="0"/>
              </a:rPr>
              <a:t>8 </a:t>
            </a:r>
            <a:r>
              <a:rPr lang="zh-TW" altLang="en-US" sz="2200" dirty="0">
                <a:latin typeface="Times New Roman" panose="02020603050405020304" charset="0"/>
                <a:cs typeface="Times New Roman" panose="02020603050405020304" charset="0"/>
              </a:rPr>
              <a:t>层</a:t>
            </a:r>
          </a:p>
        </p:txBody>
      </p:sp>
      <p:sp>
        <p:nvSpPr>
          <p:cNvPr id="14" name="文字方塊 8">
            <a:extLst>
              <a:ext uri="{FF2B5EF4-FFF2-40B4-BE49-F238E27FC236}">
                <a16:creationId xmlns:a16="http://schemas.microsoft.com/office/drawing/2014/main" id="{2E9DB5BE-6330-884B-BFFE-7AB92352644B}"/>
              </a:ext>
            </a:extLst>
          </p:cNvPr>
          <p:cNvSpPr txBox="1"/>
          <p:nvPr/>
        </p:nvSpPr>
        <p:spPr>
          <a:xfrm>
            <a:off x="3441123" y="2461667"/>
            <a:ext cx="1416156" cy="43088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200" dirty="0">
                <a:latin typeface="Times New Roman" panose="02020603050405020304" charset="0"/>
                <a:cs typeface="Times New Roman" panose="02020603050405020304" charset="0"/>
              </a:rPr>
              <a:t>1</a:t>
            </a:r>
            <a:r>
              <a:rPr lang="en-US" altLang="zh-CN" sz="2200" dirty="0">
                <a:latin typeface="Times New Roman" panose="02020603050405020304" charset="0"/>
                <a:cs typeface="Times New Roman" panose="02020603050405020304" charset="0"/>
              </a:rPr>
              <a:t>9</a:t>
            </a:r>
            <a:r>
              <a:rPr lang="zh-CN" altLang="en-US" sz="2200" dirty="0">
                <a:latin typeface="Times New Roman" panose="02020603050405020304" charset="0"/>
                <a:cs typeface="Times New Roman" panose="02020603050405020304" charset="0"/>
              </a:rPr>
              <a:t>层</a:t>
            </a:r>
            <a:endParaRPr lang="zh-TW" altLang="en-US" sz="2200" dirty="0">
              <a:latin typeface="Times New Roman" panose="02020603050405020304" charset="0"/>
              <a:cs typeface="Times New Roman" panose="02020603050405020304" charset="0"/>
            </a:endParaRPr>
          </a:p>
        </p:txBody>
      </p:sp>
      <p:sp>
        <p:nvSpPr>
          <p:cNvPr id="15" name="文字方塊 10">
            <a:extLst>
              <a:ext uri="{FF2B5EF4-FFF2-40B4-BE49-F238E27FC236}">
                <a16:creationId xmlns:a16="http://schemas.microsoft.com/office/drawing/2014/main" id="{8F07B07E-354A-6D43-84FB-8B8B0DA9054E}"/>
              </a:ext>
            </a:extLst>
          </p:cNvPr>
          <p:cNvSpPr txBox="1"/>
          <p:nvPr/>
        </p:nvSpPr>
        <p:spPr>
          <a:xfrm>
            <a:off x="479550" y="6312661"/>
            <a:ext cx="2464174" cy="430887"/>
          </a:xfrm>
          <a:prstGeom prst="rect">
            <a:avLst/>
          </a:prstGeom>
          <a:noFill/>
        </p:spPr>
        <p:txBody>
          <a:bodyPr wrap="square" rtlCol="0">
            <a:spAutoFit/>
          </a:bodyPr>
          <a:lstStyle/>
          <a:p>
            <a:pPr algn="ctr"/>
            <a:r>
              <a:rPr lang="en-US" altLang="zh-TW" sz="2200" dirty="0" err="1">
                <a:latin typeface="Times New Roman" panose="02020603050405020304" charset="0"/>
                <a:cs typeface="Times New Roman" panose="02020603050405020304" charset="0"/>
              </a:rPr>
              <a:t>AlexNet</a:t>
            </a:r>
            <a:r>
              <a:rPr lang="en-US" altLang="zh-TW" sz="2200" dirty="0">
                <a:latin typeface="Times New Roman" panose="02020603050405020304" charset="0"/>
                <a:cs typeface="Times New Roman" panose="02020603050405020304" charset="0"/>
              </a:rPr>
              <a:t> (2012)</a:t>
            </a:r>
            <a:endParaRPr lang="zh-TW" altLang="en-US" sz="2200" dirty="0">
              <a:latin typeface="Times New Roman" panose="02020603050405020304" charset="0"/>
              <a:cs typeface="Times New Roman" panose="02020603050405020304" charset="0"/>
            </a:endParaRPr>
          </a:p>
        </p:txBody>
      </p:sp>
      <p:sp>
        <p:nvSpPr>
          <p:cNvPr id="16" name="文字方塊 12">
            <a:extLst>
              <a:ext uri="{FF2B5EF4-FFF2-40B4-BE49-F238E27FC236}">
                <a16:creationId xmlns:a16="http://schemas.microsoft.com/office/drawing/2014/main" id="{E8E4AB91-C07D-6042-B5EC-2A057F69ACBB}"/>
              </a:ext>
            </a:extLst>
          </p:cNvPr>
          <p:cNvSpPr txBox="1"/>
          <p:nvPr/>
        </p:nvSpPr>
        <p:spPr>
          <a:xfrm>
            <a:off x="3233338" y="6358601"/>
            <a:ext cx="1870262" cy="430887"/>
          </a:xfrm>
          <a:prstGeom prst="rect">
            <a:avLst/>
          </a:prstGeom>
          <a:noFill/>
        </p:spPr>
        <p:txBody>
          <a:bodyPr wrap="square" rtlCol="0">
            <a:spAutoFit/>
          </a:bodyPr>
          <a:lstStyle/>
          <a:p>
            <a:pPr algn="ctr"/>
            <a:r>
              <a:rPr lang="en-US" altLang="zh-TW" sz="2200" dirty="0">
                <a:latin typeface="Times New Roman" panose="02020603050405020304" charset="0"/>
                <a:cs typeface="Times New Roman" panose="02020603050405020304" charset="0"/>
              </a:rPr>
              <a:t>VGG (2014)</a:t>
            </a:r>
            <a:endParaRPr lang="zh-TW" altLang="en-US" sz="2200" dirty="0">
              <a:latin typeface="Times New Roman" panose="02020603050405020304" charset="0"/>
              <a:cs typeface="Times New Roman" panose="02020603050405020304" charset="0"/>
            </a:endParaRPr>
          </a:p>
        </p:txBody>
      </p:sp>
      <p:sp>
        <p:nvSpPr>
          <p:cNvPr id="17" name="文字方塊 13">
            <a:extLst>
              <a:ext uri="{FF2B5EF4-FFF2-40B4-BE49-F238E27FC236}">
                <a16:creationId xmlns:a16="http://schemas.microsoft.com/office/drawing/2014/main" id="{41FC9AE6-ABAB-E041-9161-99EE84E479B8}"/>
              </a:ext>
            </a:extLst>
          </p:cNvPr>
          <p:cNvSpPr txBox="1"/>
          <p:nvPr/>
        </p:nvSpPr>
        <p:spPr>
          <a:xfrm>
            <a:off x="5539758" y="6326690"/>
            <a:ext cx="2450981" cy="430887"/>
          </a:xfrm>
          <a:prstGeom prst="rect">
            <a:avLst/>
          </a:prstGeom>
          <a:noFill/>
        </p:spPr>
        <p:txBody>
          <a:bodyPr wrap="square" rtlCol="0">
            <a:spAutoFit/>
          </a:bodyPr>
          <a:lstStyle/>
          <a:p>
            <a:pPr algn="ctr"/>
            <a:r>
              <a:rPr lang="en-US" altLang="zh-TW" sz="2200" dirty="0" err="1">
                <a:latin typeface="Times New Roman" panose="02020603050405020304" charset="0"/>
                <a:cs typeface="Times New Roman" panose="02020603050405020304" charset="0"/>
              </a:rPr>
              <a:t>GoogleNet</a:t>
            </a:r>
            <a:r>
              <a:rPr lang="en-US" altLang="zh-TW" sz="2200" dirty="0">
                <a:latin typeface="Times New Roman" panose="02020603050405020304" charset="0"/>
                <a:cs typeface="Times New Roman" panose="02020603050405020304" charset="0"/>
              </a:rPr>
              <a:t> (2014)</a:t>
            </a:r>
            <a:endParaRPr lang="zh-TW" altLang="en-US" sz="2200" dirty="0">
              <a:latin typeface="Times New Roman" panose="02020603050405020304" charset="0"/>
              <a:cs typeface="Times New Roman" panose="02020603050405020304" charset="0"/>
            </a:endParaRPr>
          </a:p>
        </p:txBody>
      </p:sp>
      <p:sp>
        <p:nvSpPr>
          <p:cNvPr id="18" name="文字方塊 14">
            <a:extLst>
              <a:ext uri="{FF2B5EF4-FFF2-40B4-BE49-F238E27FC236}">
                <a16:creationId xmlns:a16="http://schemas.microsoft.com/office/drawing/2014/main" id="{A5871934-8525-BB44-9232-7471E2C74164}"/>
              </a:ext>
            </a:extLst>
          </p:cNvPr>
          <p:cNvSpPr txBox="1"/>
          <p:nvPr/>
        </p:nvSpPr>
        <p:spPr>
          <a:xfrm>
            <a:off x="375650" y="4669837"/>
            <a:ext cx="1270000" cy="430887"/>
          </a:xfrm>
          <a:prstGeom prst="rect">
            <a:avLst/>
          </a:prstGeom>
          <a:noFill/>
        </p:spPr>
        <p:txBody>
          <a:bodyPr wrap="square" rtlCol="0">
            <a:spAutoFit/>
          </a:bodyPr>
          <a:lstStyle/>
          <a:p>
            <a:pPr algn="ctr"/>
            <a:r>
              <a:rPr lang="en-US" altLang="zh-TW" sz="2200" dirty="0">
                <a:solidFill>
                  <a:srgbClr val="FF0000"/>
                </a:solidFill>
                <a:latin typeface="Times New Roman" panose="02020603050405020304" charset="0"/>
                <a:cs typeface="Times New Roman" panose="02020603050405020304" charset="0"/>
              </a:rPr>
              <a:t>16.4%</a:t>
            </a:r>
            <a:endParaRPr lang="zh-TW" altLang="en-US" sz="2200" dirty="0">
              <a:solidFill>
                <a:srgbClr val="FF0000"/>
              </a:solidFill>
              <a:latin typeface="Times New Roman" panose="02020603050405020304" charset="0"/>
              <a:cs typeface="Times New Roman" panose="02020603050405020304" charset="0"/>
            </a:endParaRPr>
          </a:p>
        </p:txBody>
      </p:sp>
      <p:sp>
        <p:nvSpPr>
          <p:cNvPr id="20" name="文字方塊 15">
            <a:extLst>
              <a:ext uri="{FF2B5EF4-FFF2-40B4-BE49-F238E27FC236}">
                <a16:creationId xmlns:a16="http://schemas.microsoft.com/office/drawing/2014/main" id="{D8D7BAF1-64BB-9A4B-9278-A029DFE54035}"/>
              </a:ext>
            </a:extLst>
          </p:cNvPr>
          <p:cNvSpPr txBox="1"/>
          <p:nvPr/>
        </p:nvSpPr>
        <p:spPr>
          <a:xfrm>
            <a:off x="2638167" y="4157720"/>
            <a:ext cx="1270000" cy="430887"/>
          </a:xfrm>
          <a:prstGeom prst="rect">
            <a:avLst/>
          </a:prstGeom>
          <a:noFill/>
        </p:spPr>
        <p:txBody>
          <a:bodyPr wrap="square" rtlCol="0">
            <a:spAutoFit/>
          </a:bodyPr>
          <a:lstStyle/>
          <a:p>
            <a:pPr algn="ctr"/>
            <a:r>
              <a:rPr lang="en-US" altLang="zh-TW" sz="2200" dirty="0">
                <a:solidFill>
                  <a:srgbClr val="FF0000"/>
                </a:solidFill>
                <a:latin typeface="Times New Roman" panose="02020603050405020304" charset="0"/>
                <a:cs typeface="Times New Roman" panose="02020603050405020304" charset="0"/>
              </a:rPr>
              <a:t>7.3%</a:t>
            </a:r>
            <a:endParaRPr lang="zh-TW" altLang="en-US" sz="2200" dirty="0">
              <a:solidFill>
                <a:srgbClr val="FF0000"/>
              </a:solidFill>
              <a:latin typeface="Times New Roman" panose="02020603050405020304" charset="0"/>
              <a:cs typeface="Times New Roman" panose="02020603050405020304" charset="0"/>
            </a:endParaRPr>
          </a:p>
        </p:txBody>
      </p:sp>
      <p:sp>
        <p:nvSpPr>
          <p:cNvPr id="21" name="文字方塊 16">
            <a:extLst>
              <a:ext uri="{FF2B5EF4-FFF2-40B4-BE49-F238E27FC236}">
                <a16:creationId xmlns:a16="http://schemas.microsoft.com/office/drawing/2014/main" id="{5D5C5FF2-8ECE-F245-AC47-EF212545AE9C}"/>
              </a:ext>
            </a:extLst>
          </p:cNvPr>
          <p:cNvSpPr txBox="1"/>
          <p:nvPr/>
        </p:nvSpPr>
        <p:spPr>
          <a:xfrm>
            <a:off x="5113497" y="3888958"/>
            <a:ext cx="1270000" cy="430887"/>
          </a:xfrm>
          <a:prstGeom prst="rect">
            <a:avLst/>
          </a:prstGeom>
          <a:noFill/>
        </p:spPr>
        <p:txBody>
          <a:bodyPr wrap="square" rtlCol="0">
            <a:spAutoFit/>
          </a:bodyPr>
          <a:lstStyle/>
          <a:p>
            <a:pPr algn="ctr"/>
            <a:r>
              <a:rPr lang="en-US" altLang="zh-TW" sz="2200" dirty="0">
                <a:solidFill>
                  <a:srgbClr val="FF0000"/>
                </a:solidFill>
                <a:latin typeface="Times New Roman" panose="02020603050405020304" charset="0"/>
                <a:cs typeface="Times New Roman" panose="02020603050405020304" charset="0"/>
              </a:rPr>
              <a:t>6.7%</a:t>
            </a:r>
            <a:endParaRPr lang="zh-TW" altLang="en-US" sz="2200" dirty="0">
              <a:solidFill>
                <a:srgbClr val="FF0000"/>
              </a:solidFill>
              <a:latin typeface="Times New Roman" panose="02020603050405020304" charset="0"/>
              <a:cs typeface="Times New Roman" panose="02020603050405020304" charset="0"/>
            </a:endParaRPr>
          </a:p>
        </p:txBody>
      </p:sp>
      <p:sp>
        <p:nvSpPr>
          <p:cNvPr id="22" name="文字方塊 17">
            <a:extLst>
              <a:ext uri="{FF2B5EF4-FFF2-40B4-BE49-F238E27FC236}">
                <a16:creationId xmlns:a16="http://schemas.microsoft.com/office/drawing/2014/main" id="{A479DBD9-AEB9-5246-8142-7C7AE8221CC8}"/>
              </a:ext>
            </a:extLst>
          </p:cNvPr>
          <p:cNvSpPr txBox="1"/>
          <p:nvPr/>
        </p:nvSpPr>
        <p:spPr>
          <a:xfrm>
            <a:off x="8509198" y="6317882"/>
            <a:ext cx="2242167" cy="430887"/>
          </a:xfrm>
          <a:prstGeom prst="rect">
            <a:avLst/>
          </a:prstGeom>
          <a:noFill/>
        </p:spPr>
        <p:txBody>
          <a:bodyPr wrap="square" rtlCol="0">
            <a:spAutoFit/>
          </a:bodyPr>
          <a:lstStyle/>
          <a:p>
            <a:pPr algn="ctr"/>
            <a:r>
              <a:rPr lang="en-US" altLang="zh-TW" sz="2200" dirty="0" err="1">
                <a:latin typeface="Times New Roman" panose="02020603050405020304" charset="0"/>
                <a:cs typeface="Times New Roman" panose="02020603050405020304" charset="0"/>
              </a:rPr>
              <a:t>ResNet</a:t>
            </a:r>
            <a:r>
              <a:rPr lang="en-US" altLang="zh-TW" sz="2200" dirty="0">
                <a:latin typeface="Times New Roman" panose="02020603050405020304" charset="0"/>
                <a:cs typeface="Times New Roman" panose="02020603050405020304" charset="0"/>
              </a:rPr>
              <a:t> (2015)</a:t>
            </a:r>
            <a:endParaRPr lang="zh-TW" altLang="en-US" sz="2200" dirty="0">
              <a:latin typeface="Times New Roman" panose="02020603050405020304" charset="0"/>
              <a:cs typeface="Times New Roman" panose="02020603050405020304" charset="0"/>
            </a:endParaRPr>
          </a:p>
        </p:txBody>
      </p:sp>
      <p:sp>
        <p:nvSpPr>
          <p:cNvPr id="23" name="文字方塊 9">
            <a:extLst>
              <a:ext uri="{FF2B5EF4-FFF2-40B4-BE49-F238E27FC236}">
                <a16:creationId xmlns:a16="http://schemas.microsoft.com/office/drawing/2014/main" id="{D756847C-0F1F-3C49-97DD-F29BE379AAF1}"/>
              </a:ext>
            </a:extLst>
          </p:cNvPr>
          <p:cNvSpPr txBox="1"/>
          <p:nvPr/>
        </p:nvSpPr>
        <p:spPr>
          <a:xfrm>
            <a:off x="10058400" y="3050356"/>
            <a:ext cx="1624739" cy="43088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200" dirty="0">
                <a:latin typeface="Times New Roman" panose="02020603050405020304" charset="0"/>
                <a:cs typeface="Times New Roman" panose="02020603050405020304" charset="0"/>
              </a:rPr>
              <a:t>152</a:t>
            </a:r>
            <a:r>
              <a:rPr lang="zh-TW" altLang="en-US" sz="2200" dirty="0">
                <a:latin typeface="Times New Roman" panose="02020603050405020304" charset="0"/>
                <a:cs typeface="Times New Roman" panose="02020603050405020304" charset="0"/>
              </a:rPr>
              <a:t>层</a:t>
            </a:r>
          </a:p>
        </p:txBody>
      </p:sp>
      <p:sp>
        <p:nvSpPr>
          <p:cNvPr id="24" name="文字方塊 16">
            <a:extLst>
              <a:ext uri="{FF2B5EF4-FFF2-40B4-BE49-F238E27FC236}">
                <a16:creationId xmlns:a16="http://schemas.microsoft.com/office/drawing/2014/main" id="{34A08DDD-1872-2B4E-92FA-9716F6E086FB}"/>
              </a:ext>
            </a:extLst>
          </p:cNvPr>
          <p:cNvSpPr txBox="1"/>
          <p:nvPr/>
        </p:nvSpPr>
        <p:spPr>
          <a:xfrm>
            <a:off x="8296115" y="3548406"/>
            <a:ext cx="1270000" cy="430887"/>
          </a:xfrm>
          <a:prstGeom prst="rect">
            <a:avLst/>
          </a:prstGeom>
          <a:noFill/>
        </p:spPr>
        <p:txBody>
          <a:bodyPr wrap="square" rtlCol="0">
            <a:spAutoFit/>
          </a:bodyPr>
          <a:lstStyle/>
          <a:p>
            <a:pPr algn="ctr"/>
            <a:r>
              <a:rPr lang="en-US" altLang="zh-TW" sz="2200" dirty="0">
                <a:solidFill>
                  <a:srgbClr val="FF0000"/>
                </a:solidFill>
                <a:latin typeface="Times New Roman" panose="02020603050405020304" charset="0"/>
                <a:cs typeface="Times New Roman" panose="02020603050405020304" charset="0"/>
              </a:rPr>
              <a:t>3.57%</a:t>
            </a:r>
            <a:endParaRPr lang="zh-TW" altLang="en-US" sz="2200" dirty="0">
              <a:solidFill>
                <a:srgbClr val="FF0000"/>
              </a:solidFill>
              <a:latin typeface="Times New Roman" panose="02020603050405020304" charset="0"/>
              <a:cs typeface="Times New Roman" panose="02020603050405020304" charset="0"/>
            </a:endParaRPr>
          </a:p>
        </p:txBody>
      </p:sp>
      <p:sp>
        <p:nvSpPr>
          <p:cNvPr id="26" name="文字方塊 9">
            <a:extLst>
              <a:ext uri="{FF2B5EF4-FFF2-40B4-BE49-F238E27FC236}">
                <a16:creationId xmlns:a16="http://schemas.microsoft.com/office/drawing/2014/main" id="{9ABF0BF4-81A6-CD4F-90C6-A3A5326B6ABF}"/>
              </a:ext>
            </a:extLst>
          </p:cNvPr>
          <p:cNvSpPr txBox="1"/>
          <p:nvPr/>
        </p:nvSpPr>
        <p:spPr>
          <a:xfrm>
            <a:off x="6871486" y="3050356"/>
            <a:ext cx="1416156" cy="43088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200" dirty="0">
                <a:latin typeface="Times New Roman" panose="02020603050405020304" charset="0"/>
                <a:cs typeface="Times New Roman" panose="02020603050405020304" charset="0"/>
              </a:rPr>
              <a:t>22</a:t>
            </a:r>
            <a:r>
              <a:rPr lang="zh-TW" altLang="en-US" sz="2200" dirty="0">
                <a:latin typeface="Times New Roman" panose="02020603050405020304" charset="0"/>
                <a:cs typeface="Times New Roman" panose="02020603050405020304" charset="0"/>
              </a:rPr>
              <a:t>层</a:t>
            </a:r>
          </a:p>
        </p:txBody>
      </p:sp>
    </p:spTree>
    <p:extLst>
      <p:ext uri="{BB962C8B-B14F-4D97-AF65-F5344CB8AC3E}">
        <p14:creationId xmlns:p14="http://schemas.microsoft.com/office/powerpoint/2010/main" val="107145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p:bldP spid="18" grpId="0"/>
      <p:bldP spid="20" grpId="0"/>
      <p:bldP spid="21" grpId="0"/>
      <p:bldP spid="23" grpId="0" animBg="1"/>
      <p:bldP spid="24" grpId="0"/>
      <p:bldP spid="2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35</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67549"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课程思路</a:t>
            </a:r>
          </a:p>
        </p:txBody>
      </p:sp>
      <p:graphicFrame>
        <p:nvGraphicFramePr>
          <p:cNvPr id="11" name="內容版面配置區 3">
            <a:extLst>
              <a:ext uri="{FF2B5EF4-FFF2-40B4-BE49-F238E27FC236}">
                <a16:creationId xmlns:a16="http://schemas.microsoft.com/office/drawing/2014/main" id="{4A1B2DCA-3AF7-4A34-8A1C-972889B61468}"/>
              </a:ext>
            </a:extLst>
          </p:cNvPr>
          <p:cNvGraphicFramePr/>
          <p:nvPr>
            <p:extLst>
              <p:ext uri="{D42A27DB-BD31-4B8C-83A1-F6EECF244321}">
                <p14:modId xmlns:p14="http://schemas.microsoft.com/office/powerpoint/2010/main" val="1321339507"/>
              </p:ext>
            </p:extLst>
          </p:nvPr>
        </p:nvGraphicFramePr>
        <p:xfrm>
          <a:off x="2060408" y="152225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矩形 5">
            <a:extLst>
              <a:ext uri="{FF2B5EF4-FFF2-40B4-BE49-F238E27FC236}">
                <a16:creationId xmlns:a16="http://schemas.microsoft.com/office/drawing/2014/main" id="{13A6680B-2EE1-483D-82D2-4F66A6898F12}"/>
              </a:ext>
            </a:extLst>
          </p:cNvPr>
          <p:cNvSpPr/>
          <p:nvPr/>
        </p:nvSpPr>
        <p:spPr>
          <a:xfrm>
            <a:off x="2471030" y="3239947"/>
            <a:ext cx="7551563" cy="83172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798376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36</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6441440" y="2751900"/>
                <a:ext cx="5547360" cy="2823722"/>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输入层</a:t>
                </a:r>
                <a:r>
                  <a:rPr kumimoji="1" lang="en-US" altLang="zh-CN" sz="2400" dirty="0"/>
                  <a:t>(</a:t>
                </a:r>
                <a:r>
                  <a:rPr kumimoji="1" lang="zh-CN" altLang="en-US" sz="2400" dirty="0"/>
                  <a:t>第</a:t>
                </a:r>
                <a:r>
                  <a:rPr kumimoji="1" lang="en-US" altLang="zh-CN" sz="2400" dirty="0"/>
                  <a:t>0</a:t>
                </a:r>
                <a:r>
                  <a:rPr kumimoji="1" lang="zh-CN" altLang="en-US" sz="2400" dirty="0"/>
                  <a:t>层</a:t>
                </a:r>
                <a:r>
                  <a:rPr kumimoji="1" lang="en-US" altLang="zh-CN" sz="2400" dirty="0"/>
                  <a:t>)</a:t>
                </a:r>
                <a:r>
                  <a:rPr kumimoji="1" lang="zh-CN" altLang="en-US" sz="2400" dirty="0"/>
                  <a:t>：</a:t>
                </a:r>
                <a14:m>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0</m:t>
                            </m:r>
                          </m:e>
                        </m:d>
                      </m:sup>
                    </m:sSup>
                    <m:r>
                      <a:rPr kumimoji="1" lang="en-US" altLang="zh-CN" sz="2200" b="0" i="1" smtClean="0">
                        <a:latin typeface="Cambria Math" panose="02040503050406030204" pitchFamily="18" charset="0"/>
                      </a:rPr>
                      <m:t>=</m:t>
                    </m:r>
                    <m:d>
                      <m:dPr>
                        <m:begChr m:val="["/>
                        <m:endChr m:val="]"/>
                        <m:ctrlPr>
                          <a:rPr kumimoji="1" lang="en-US" altLang="zh-CN" sz="2200" b="0" i="1" smtClean="0">
                            <a:latin typeface="Cambria Math" panose="02040503050406030204" pitchFamily="18" charset="0"/>
                          </a:rPr>
                        </m:ctrlPr>
                      </m:dPr>
                      <m:e>
                        <m:sSubSup>
                          <m:sSubSupPr>
                            <m:ctrlPr>
                              <a:rPr kumimoji="1" lang="en-US" altLang="zh-CN" sz="2200" i="1">
                                <a:latin typeface="Cambria Math" panose="02040503050406030204" pitchFamily="18" charset="0"/>
                              </a:rPr>
                            </m:ctrlPr>
                          </m:sSubSupPr>
                          <m:e>
                            <m:r>
                              <a:rPr kumimoji="1" lang="en-US" altLang="zh-CN" sz="2200" i="1">
                                <a:latin typeface="Cambria Math" panose="02040503050406030204" pitchFamily="18" charset="0"/>
                              </a:rPr>
                              <m:t>𝑥</m:t>
                            </m:r>
                          </m:e>
                          <m:sub>
                            <m:r>
                              <a:rPr kumimoji="1" lang="en-US" altLang="zh-CN" sz="2200" i="1">
                                <a:latin typeface="Cambria Math" panose="02040503050406030204" pitchFamily="18" charset="0"/>
                              </a:rPr>
                              <m:t>1</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0</m:t>
                                </m:r>
                              </m:e>
                            </m:d>
                          </m:sup>
                        </m:sSubSup>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m:t>
                        </m:r>
                        <m:r>
                          <a:rPr kumimoji="1" lang="en-US" altLang="zh-CN" sz="2200" b="0" i="1" smtClean="0">
                            <a:latin typeface="Cambria Math" panose="02040503050406030204" pitchFamily="18" charset="0"/>
                          </a:rPr>
                          <m:t>;</m:t>
                        </m:r>
                        <m:sSubSup>
                          <m:sSubSupPr>
                            <m:ctrlPr>
                              <a:rPr kumimoji="1" lang="en-US" altLang="zh-CN" sz="2200" i="1">
                                <a:latin typeface="Cambria Math" panose="02040503050406030204" pitchFamily="18" charset="0"/>
                              </a:rPr>
                            </m:ctrlPr>
                          </m:sSubSupPr>
                          <m:e>
                            <m:r>
                              <a:rPr kumimoji="1" lang="en-US" altLang="zh-CN" sz="2200" i="1">
                                <a:latin typeface="Cambria Math" panose="02040503050406030204" pitchFamily="18" charset="0"/>
                              </a:rPr>
                              <m:t>𝑥</m:t>
                            </m:r>
                          </m:e>
                          <m:sub>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𝑛</m:t>
                                </m:r>
                              </m:e>
                              <m:sub>
                                <m:r>
                                  <a:rPr kumimoji="1" lang="en-US" altLang="zh-CN" sz="2200" i="1">
                                    <a:latin typeface="Cambria Math" panose="02040503050406030204" pitchFamily="18" charset="0"/>
                                  </a:rPr>
                                  <m:t>0</m:t>
                                </m:r>
                              </m:sub>
                            </m:sSub>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0</m:t>
                                </m:r>
                              </m:e>
                            </m:d>
                          </m:sup>
                        </m:sSubSup>
                      </m:e>
                    </m:d>
                  </m:oMath>
                </a14:m>
                <a:endParaRPr kumimoji="1" lang="en-US" altLang="zh-CN" sz="2200" dirty="0"/>
              </a:p>
              <a:p>
                <a:pPr marL="342900" indent="-342900">
                  <a:lnSpc>
                    <a:spcPct val="150000"/>
                  </a:lnSpc>
                  <a:buFont typeface="Wingdings" pitchFamily="2" charset="2"/>
                  <a:buChar char="n"/>
                </a:pPr>
                <a:r>
                  <a:rPr kumimoji="1" lang="zh-CN" altLang="en-US" sz="2400" dirty="0"/>
                  <a:t>输出层</a:t>
                </a:r>
                <a:r>
                  <a:rPr kumimoji="1" lang="en-US" altLang="zh-CN" sz="2400" dirty="0"/>
                  <a:t>(</a:t>
                </a:r>
                <a:r>
                  <a:rPr kumimoji="1" lang="zh-CN" altLang="en-US" sz="2400" dirty="0"/>
                  <a:t>第</a:t>
                </a:r>
                <a14:m>
                  <m:oMath xmlns:m="http://schemas.openxmlformats.org/officeDocument/2006/math">
                    <m:r>
                      <a:rPr kumimoji="1" lang="en-US" altLang="zh-CN" sz="2400" b="0" i="1" smtClean="0">
                        <a:latin typeface="Cambria Math" panose="02040503050406030204" pitchFamily="18" charset="0"/>
                      </a:rPr>
                      <m:t>𝐿</m:t>
                    </m:r>
                  </m:oMath>
                </a14:m>
                <a:r>
                  <a:rPr kumimoji="1" lang="zh-CN" altLang="en-US" sz="2400" dirty="0"/>
                  <a:t>层</a:t>
                </a:r>
                <a:r>
                  <a:rPr kumimoji="1" lang="en-US" altLang="zh-CN" sz="2400" dirty="0"/>
                  <a:t>)</a:t>
                </a:r>
              </a:p>
              <a:p>
                <a:pPr>
                  <a:lnSpc>
                    <a:spcPct val="150000"/>
                  </a:lnSpc>
                </a:pPr>
                <a:endParaRPr kumimoji="1" lang="en-US" altLang="zh-CN" sz="2000" dirty="0"/>
              </a:p>
              <a:p>
                <a:pPr>
                  <a:lnSpc>
                    <a:spcPct val="150000"/>
                  </a:lnSpc>
                </a:pPr>
                <a:endParaRPr kumimoji="1" lang="en-US" altLang="zh-CN" sz="2000" dirty="0"/>
              </a:p>
              <a:p>
                <a:pPr marL="342900" indent="-342900">
                  <a:lnSpc>
                    <a:spcPct val="150000"/>
                  </a:lnSpc>
                  <a:buFont typeface="Wingdings" pitchFamily="2" charset="2"/>
                  <a:buChar char="n"/>
                </a:pPr>
                <a:r>
                  <a:rPr kumimoji="1" lang="en-US" altLang="zh-CN" sz="2400" dirty="0"/>
                  <a:t>MLP</a:t>
                </a:r>
                <a:r>
                  <a:rPr kumimoji="1" lang="zh-CN" altLang="en-US" sz="2400" dirty="0"/>
                  <a:t>可以被视为黑盒映射</a:t>
                </a:r>
                <a:endParaRPr kumimoji="1" lang="en-US" altLang="zh-CN" sz="24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6441440" y="2751900"/>
                <a:ext cx="5547360" cy="2823722"/>
              </a:xfrm>
              <a:prstGeom prst="rect">
                <a:avLst/>
              </a:prstGeom>
              <a:blipFill>
                <a:blip r:embed="rId4"/>
                <a:stretch>
                  <a:fillRect l="-1598" b="-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B19CBE4-F347-FF49-8EDB-795D38F762CF}"/>
                  </a:ext>
                </a:extLst>
              </p:cNvPr>
              <p:cNvSpPr txBox="1"/>
              <p:nvPr/>
            </p:nvSpPr>
            <p:spPr>
              <a:xfrm>
                <a:off x="7520181" y="4455300"/>
                <a:ext cx="4807026" cy="5990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rPr>
                        <m:t>=</m:t>
                      </m:r>
                      <m:d>
                        <m:dPr>
                          <m:begChr m:val="["/>
                          <m:endChr m:val="]"/>
                          <m:ctrlPr>
                            <a:rPr kumimoji="1" lang="en-US" altLang="zh-CN" sz="2200" b="0" i="1" smtClean="0">
                              <a:latin typeface="Cambria Math" panose="02040503050406030204" pitchFamily="18" charset="0"/>
                            </a:rPr>
                          </m:ctrlPr>
                        </m:dPr>
                        <m:e>
                          <m:sSup>
                            <m:sSupPr>
                              <m:ctrlPr>
                                <a:rPr kumimoji="1" lang="en-US" altLang="zh-CN" sz="2200" i="1">
                                  <a:latin typeface="Cambria Math" panose="02040503050406030204" pitchFamily="18" charset="0"/>
                                </a:rPr>
                              </m:ctrlPr>
                            </m:sSupPr>
                            <m:e>
                              <m:r>
                                <a:rPr kumimoji="1" lang="en-US" altLang="zh-CN" sz="2200" i="1">
                                  <a:latin typeface="Cambria Math" panose="02040503050406030204" pitchFamily="18" charset="0"/>
                                </a:rPr>
                                <m:t>𝜎</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d>
                            <m:dPr>
                              <m:ctrlPr>
                                <a:rPr kumimoji="1" lang="en-US" altLang="zh-CN" sz="2200" i="1">
                                  <a:latin typeface="Cambria Math" panose="02040503050406030204" pitchFamily="18" charset="0"/>
                                </a:rPr>
                              </m:ctrlPr>
                            </m:dPr>
                            <m:e>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r>
                                    <a:rPr kumimoji="1" lang="en-US" altLang="zh-CN" sz="2200" i="1">
                                      <a:latin typeface="Cambria Math" panose="02040503050406030204" pitchFamily="18" charset="0"/>
                                    </a:rPr>
                                    <m:t>1</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e>
                          </m:d>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m:t>
                          </m:r>
                          <m:r>
                            <a:rPr kumimoji="1" lang="en-US" altLang="zh-CN" sz="2200" b="0" i="1" smtClean="0">
                              <a:latin typeface="Cambria Math" panose="02040503050406030204" pitchFamily="18" charset="0"/>
                            </a:rPr>
                            <m:t>;</m:t>
                          </m:r>
                          <m:sSup>
                            <m:sSupPr>
                              <m:ctrlPr>
                                <a:rPr kumimoji="1" lang="en-US" altLang="zh-CN" sz="2200" i="1">
                                  <a:latin typeface="Cambria Math" panose="02040503050406030204" pitchFamily="18" charset="0"/>
                                </a:rPr>
                              </m:ctrlPr>
                            </m:sSupPr>
                            <m:e>
                              <m:r>
                                <a:rPr kumimoji="1" lang="en-US" altLang="zh-CN" sz="2200" i="1">
                                  <a:latin typeface="Cambria Math" panose="02040503050406030204" pitchFamily="18" charset="0"/>
                                </a:rPr>
                                <m:t>𝜎</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d>
                            <m:dPr>
                              <m:ctrlPr>
                                <a:rPr kumimoji="1" lang="en-US" altLang="zh-CN" sz="2200" i="1">
                                  <a:latin typeface="Cambria Math" panose="02040503050406030204" pitchFamily="18" charset="0"/>
                                </a:rPr>
                              </m:ctrlPr>
                            </m:dPr>
                            <m:e>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𝑛</m:t>
                                      </m:r>
                                    </m:e>
                                    <m:sub>
                                      <m:r>
                                        <a:rPr kumimoji="1" lang="en-US" altLang="zh-CN" sz="2200" i="1">
                                          <a:latin typeface="Cambria Math" panose="02040503050406030204" pitchFamily="18" charset="0"/>
                                        </a:rPr>
                                        <m:t>𝐿</m:t>
                                      </m:r>
                                    </m:sub>
                                  </m:sSub>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e>
                          </m:d>
                        </m:e>
                      </m:d>
                    </m:oMath>
                  </m:oMathPara>
                </a14:m>
                <a:endParaRPr lang="zh-CN" altLang="en-US" sz="2200" dirty="0"/>
              </a:p>
            </p:txBody>
          </p:sp>
        </mc:Choice>
        <mc:Fallback xmlns="">
          <p:sp>
            <p:nvSpPr>
              <p:cNvPr id="12" name="文本框 11">
                <a:extLst>
                  <a:ext uri="{FF2B5EF4-FFF2-40B4-BE49-F238E27FC236}">
                    <a16:creationId xmlns:a16="http://schemas.microsoft.com/office/drawing/2014/main" id="{5B19CBE4-F347-FF49-8EDB-795D38F762CF}"/>
                  </a:ext>
                </a:extLst>
              </p:cNvPr>
              <p:cNvSpPr txBox="1">
                <a:spLocks noRot="1" noChangeAspect="1" noMove="1" noResize="1" noEditPoints="1" noAdjustHandles="1" noChangeArrowheads="1" noChangeShapeType="1" noTextEdit="1"/>
              </p:cNvSpPr>
              <p:nvPr/>
            </p:nvSpPr>
            <p:spPr>
              <a:xfrm>
                <a:off x="7520181" y="4455300"/>
                <a:ext cx="4807026" cy="5990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39625BB-2E88-0A40-80EC-E6E4C2665DCB}"/>
                  </a:ext>
                </a:extLst>
              </p:cNvPr>
              <p:cNvSpPr txBox="1"/>
              <p:nvPr/>
            </p:nvSpPr>
            <p:spPr>
              <a:xfrm>
                <a:off x="6818865" y="4052326"/>
                <a:ext cx="3559426" cy="4809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i="1">
                              <a:latin typeface="Cambria Math" panose="02040503050406030204" pitchFamily="18" charset="0"/>
                            </a:rPr>
                            <m:t>𝑥</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r>
                        <a:rPr kumimoji="1" lang="en-US" altLang="zh-CN" sz="2200" i="1">
                          <a:latin typeface="Cambria Math" panose="02040503050406030204" pitchFamily="18" charset="0"/>
                        </a:rPr>
                        <m:t>=</m:t>
                      </m:r>
                      <m:sSup>
                        <m:sSupPr>
                          <m:ctrlPr>
                            <a:rPr kumimoji="1" lang="en-US" altLang="zh-CN" sz="2200" i="1">
                              <a:latin typeface="Cambria Math" panose="02040503050406030204" pitchFamily="18" charset="0"/>
                            </a:rPr>
                          </m:ctrlPr>
                        </m:sSupPr>
                        <m:e>
                          <m:r>
                            <a:rPr kumimoji="1" lang="en-US" altLang="zh-CN" sz="2200" i="1">
                              <a:latin typeface="Cambria Math" panose="02040503050406030204" pitchFamily="18" charset="0"/>
                            </a:rPr>
                            <m:t>𝜎</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d>
                        <m:dPr>
                          <m:ctrlPr>
                            <a:rPr kumimoji="1" lang="en-US" altLang="zh-CN" sz="2200" i="1">
                              <a:latin typeface="Cambria Math" panose="02040503050406030204" pitchFamily="18" charset="0"/>
                            </a:rPr>
                          </m:ctrlPr>
                        </m:dPr>
                        <m:e>
                          <m:sSup>
                            <m:sSupPr>
                              <m:ctrlPr>
                                <a:rPr kumimoji="1" lang="en-US" altLang="zh-CN" sz="2200" i="1">
                                  <a:latin typeface="Cambria Math" panose="02040503050406030204" pitchFamily="18" charset="0"/>
                                </a:rPr>
                              </m:ctrlPr>
                            </m:sSupPr>
                            <m:e>
                              <m:r>
                                <m:rPr>
                                  <m:brk m:alnAt="7"/>
                                </m:rPr>
                                <a:rPr kumimoji="1" lang="en-US" altLang="zh-CN" sz="2200" i="1">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e>
                      </m:d>
                    </m:oMath>
                  </m:oMathPara>
                </a14:m>
                <a:endParaRPr lang="zh-CN" altLang="en-US" sz="2200" dirty="0"/>
              </a:p>
            </p:txBody>
          </p:sp>
        </mc:Choice>
        <mc:Fallback xmlns="">
          <p:sp>
            <p:nvSpPr>
              <p:cNvPr id="14" name="文本框 13">
                <a:extLst>
                  <a:ext uri="{FF2B5EF4-FFF2-40B4-BE49-F238E27FC236}">
                    <a16:creationId xmlns:a16="http://schemas.microsoft.com/office/drawing/2014/main" id="{039625BB-2E88-0A40-80EC-E6E4C2665DCB}"/>
                  </a:ext>
                </a:extLst>
              </p:cNvPr>
              <p:cNvSpPr txBox="1">
                <a:spLocks noRot="1" noChangeAspect="1" noMove="1" noResize="1" noEditPoints="1" noAdjustHandles="1" noChangeArrowheads="1" noChangeShapeType="1" noTextEdit="1"/>
              </p:cNvSpPr>
              <p:nvPr/>
            </p:nvSpPr>
            <p:spPr>
              <a:xfrm>
                <a:off x="6818865" y="4052326"/>
                <a:ext cx="3559426" cy="48096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CC19B252-32EF-D842-9984-41E0592AB1D9}"/>
                  </a:ext>
                </a:extLst>
              </p:cNvPr>
              <p:cNvSpPr/>
              <p:nvPr/>
            </p:nvSpPr>
            <p:spPr>
              <a:xfrm>
                <a:off x="7874744" y="5639999"/>
                <a:ext cx="2565400" cy="5689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1800" b="0" i="1" smtClean="0">
                          <a:latin typeface="Cambria Math" panose="02040503050406030204" pitchFamily="18" charset="0"/>
                        </a:rPr>
                        <m:t>𝑓</m:t>
                      </m:r>
                      <m:d>
                        <m:dPr>
                          <m:ctrlPr>
                            <a:rPr kumimoji="1" lang="en-US" altLang="zh-CN" sz="1800" b="0" i="1" smtClean="0">
                              <a:latin typeface="Cambria Math" panose="02040503050406030204" pitchFamily="18" charset="0"/>
                            </a:rPr>
                          </m:ctrlPr>
                        </m:dPr>
                        <m:e>
                          <m:r>
                            <a:rPr kumimoji="1" lang="en-US" altLang="zh-CN" sz="1800" b="0" i="1" smtClean="0">
                              <a:latin typeface="Cambria Math" panose="02040503050406030204" pitchFamily="18" charset="0"/>
                            </a:rPr>
                            <m:t>𝑥</m:t>
                          </m:r>
                        </m:e>
                      </m:d>
                      <m:r>
                        <a:rPr kumimoji="1" lang="en-US" altLang="zh-CN" sz="1800" b="0" i="1" smtClean="0">
                          <a:latin typeface="Cambria Math" panose="02040503050406030204" pitchFamily="18" charset="0"/>
                        </a:rPr>
                        <m:t>=</m:t>
                      </m:r>
                    </m:oMath>
                  </m:oMathPara>
                </a14:m>
                <a:endParaRPr kumimoji="1" lang="zh-CN" altLang="en-US" dirty="0"/>
              </a:p>
            </p:txBody>
          </p:sp>
        </mc:Choice>
        <mc:Fallback xmlns="">
          <p:sp>
            <p:nvSpPr>
              <p:cNvPr id="15" name="矩形 14">
                <a:extLst>
                  <a:ext uri="{FF2B5EF4-FFF2-40B4-BE49-F238E27FC236}">
                    <a16:creationId xmlns:a16="http://schemas.microsoft.com/office/drawing/2014/main" id="{CC19B252-32EF-D842-9984-41E0592AB1D9}"/>
                  </a:ext>
                </a:extLst>
              </p:cNvPr>
              <p:cNvSpPr>
                <a:spLocks noRot="1" noChangeAspect="1" noMove="1" noResize="1" noEditPoints="1" noAdjustHandles="1" noChangeArrowheads="1" noChangeShapeType="1" noTextEdit="1"/>
              </p:cNvSpPr>
              <p:nvPr/>
            </p:nvSpPr>
            <p:spPr>
              <a:xfrm>
                <a:off x="7874744" y="5639999"/>
                <a:ext cx="2565400" cy="568937"/>
              </a:xfrm>
              <a:prstGeom prst="rect">
                <a:avLst/>
              </a:prstGeom>
              <a:blipFill>
                <a:blip r:embed="rId7"/>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36CB1E8-D1A1-DD4F-849B-4133888511C7}"/>
                  </a:ext>
                </a:extLst>
              </p:cNvPr>
              <p:cNvSpPr txBox="1"/>
              <p:nvPr/>
            </p:nvSpPr>
            <p:spPr>
              <a:xfrm>
                <a:off x="7685753" y="5709024"/>
                <a:ext cx="2943382"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𝑓</m:t>
                          </m:r>
                        </m:e>
                        <m:sub>
                          <m:r>
                            <m:rPr>
                              <m:sty m:val="p"/>
                            </m:rPr>
                            <a:rPr kumimoji="1" lang="en-US" altLang="zh-CN" sz="2200" b="0" i="0" smtClean="0">
                              <a:latin typeface="Cambria Math" panose="02040503050406030204" pitchFamily="18" charset="0"/>
                            </a:rPr>
                            <m:t>MLP</m:t>
                          </m:r>
                        </m:sub>
                      </m:sSub>
                      <m:d>
                        <m:dPr>
                          <m:ctrlPr>
                            <a:rPr kumimoji="1" lang="en-US" altLang="zh-CN" sz="2200" b="0" i="1" smtClean="0">
                              <a:latin typeface="Cambria Math" panose="02040503050406030204" pitchFamily="18" charset="0"/>
                            </a:rPr>
                          </m:ctrlPr>
                        </m:dPr>
                        <m:e>
                          <m:r>
                            <a:rPr kumimoji="1" lang="en-US" altLang="zh-CN" sz="2200" b="0" i="1" smtClean="0">
                              <a:latin typeface="Cambria Math" panose="02040503050406030204" pitchFamily="18" charset="0"/>
                            </a:rPr>
                            <m:t>⋅</m:t>
                          </m:r>
                        </m:e>
                      </m:d>
                      <m:r>
                        <a:rPr kumimoji="1" lang="en-US" altLang="zh-CN" sz="2200" b="0" i="1" smtClean="0">
                          <a:latin typeface="Cambria Math" panose="02040503050406030204" pitchFamily="18" charset="0"/>
                        </a:rPr>
                        <m:t>:</m:t>
                      </m:r>
                      <m:sSup>
                        <m:sSupPr>
                          <m:ctrlPr>
                            <a:rPr lang="en-US" altLang="zh-CN" sz="22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t>𝑛</m:t>
                              </m:r>
                            </m:e>
                            <m:sub>
                              <m: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t>0</m:t>
                              </m:r>
                            </m:sub>
                          </m:sSub>
                        </m:sup>
                      </m:sSup>
                      <m: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a:latin typeface="Cambria Math" panose="02040503050406030204" pitchFamily="18" charset="0"/>
                              <a:ea typeface="Cambria Math" panose="02040503050406030204" pitchFamily="18" charset="0"/>
                              <a:cs typeface="Times New Roman" panose="02020603050405020304" pitchFamily="18" charset="0"/>
                            </a:rPr>
                            <m:t>ℝ</m:t>
                          </m:r>
                        </m:e>
                        <m:sup>
                          <m:sSub>
                            <m:sSubPr>
                              <m:ctrlP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t>𝑛</m:t>
                              </m:r>
                            </m:e>
                            <m:sub>
                              <m:r>
                                <a:rPr lang="en-US" altLang="zh-CN" sz="2200" b="0" i="1" smtClean="0">
                                  <a:latin typeface="Cambria Math" panose="02040503050406030204" pitchFamily="18" charset="0"/>
                                  <a:ea typeface="Cambria Math" panose="02040503050406030204" pitchFamily="18" charset="0"/>
                                  <a:cs typeface="Times New Roman" panose="02020603050405020304" pitchFamily="18" charset="0"/>
                                </a:rPr>
                                <m:t>𝐿</m:t>
                              </m:r>
                            </m:sub>
                          </m:sSub>
                        </m:sup>
                      </m:sSup>
                    </m:oMath>
                  </m:oMathPara>
                </a14:m>
                <a:endParaRPr lang="zh-CN" altLang="en-US" sz="2200" dirty="0"/>
              </a:p>
            </p:txBody>
          </p:sp>
        </mc:Choice>
        <mc:Fallback xmlns="">
          <p:sp>
            <p:nvSpPr>
              <p:cNvPr id="16" name="文本框 15">
                <a:extLst>
                  <a:ext uri="{FF2B5EF4-FFF2-40B4-BE49-F238E27FC236}">
                    <a16:creationId xmlns:a16="http://schemas.microsoft.com/office/drawing/2014/main" id="{536CB1E8-D1A1-DD4F-849B-4133888511C7}"/>
                  </a:ext>
                </a:extLst>
              </p:cNvPr>
              <p:cNvSpPr txBox="1">
                <a:spLocks noRot="1" noChangeAspect="1" noMove="1" noResize="1" noEditPoints="1" noAdjustHandles="1" noChangeArrowheads="1" noChangeShapeType="1" noTextEdit="1"/>
              </p:cNvSpPr>
              <p:nvPr/>
            </p:nvSpPr>
            <p:spPr>
              <a:xfrm>
                <a:off x="7685753" y="5709024"/>
                <a:ext cx="2943382" cy="430887"/>
              </a:xfrm>
              <a:prstGeom prst="rect">
                <a:avLst/>
              </a:prstGeom>
              <a:blipFill>
                <a:blip r:embed="rId8"/>
                <a:stretch>
                  <a:fillRect b="-17143"/>
                </a:stretch>
              </a:blipFill>
            </p:spPr>
            <p:txBody>
              <a:bodyPr/>
              <a:lstStyle/>
              <a:p>
                <a:r>
                  <a:rPr lang="zh-CN" altLang="en-US">
                    <a:noFill/>
                  </a:rPr>
                  <a:t> </a:t>
                </a:r>
              </a:p>
            </p:txBody>
          </p:sp>
        </mc:Fallback>
      </mc:AlternateContent>
      <p:sp>
        <p:nvSpPr>
          <p:cNvPr id="17" name="燕尾形箭头 16">
            <a:extLst>
              <a:ext uri="{FF2B5EF4-FFF2-40B4-BE49-F238E27FC236}">
                <a16:creationId xmlns:a16="http://schemas.microsoft.com/office/drawing/2014/main" id="{CD88DEC0-62A4-7D48-9F32-6F1EC0F5D9BA}"/>
              </a:ext>
            </a:extLst>
          </p:cNvPr>
          <p:cNvSpPr/>
          <p:nvPr/>
        </p:nvSpPr>
        <p:spPr bwMode="auto">
          <a:xfrm>
            <a:off x="7465180" y="5683110"/>
            <a:ext cx="308989"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116528B-F551-2F4A-B11E-8AF318D5B03B}"/>
                  </a:ext>
                </a:extLst>
              </p:cNvPr>
              <p:cNvSpPr txBox="1"/>
              <p:nvPr/>
            </p:nvSpPr>
            <p:spPr>
              <a:xfrm>
                <a:off x="6536272" y="5780112"/>
                <a:ext cx="928908" cy="344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rPr>
                        <m:t>𝑥</m:t>
                      </m:r>
                      <m:r>
                        <a:rPr kumimoji="1" lang="en-US" altLang="zh-CN" sz="2200" b="0" i="1" smtClean="0">
                          <a:latin typeface="Cambria Math" panose="02040503050406030204" pitchFamily="18" charset="0"/>
                        </a:rPr>
                        <m:t>∈</m:t>
                      </m:r>
                      <m:sSup>
                        <m:sSupPr>
                          <m:ctrlPr>
                            <a:rPr kumimoji="1" lang="en-US" altLang="zh-CN" sz="2200" b="0" i="1" smtClean="0">
                              <a:latin typeface="Cambria Math" panose="02040503050406030204" pitchFamily="18" charset="0"/>
                              <a:ea typeface="Cambria Math" panose="02040503050406030204" pitchFamily="18" charset="0"/>
                            </a:rPr>
                          </m:ctrlPr>
                        </m:sSupPr>
                        <m:e>
                          <m:r>
                            <a:rPr kumimoji="1" lang="en-US" altLang="zh-CN" sz="2200" b="0" i="1" smtClean="0">
                              <a:latin typeface="Cambria Math" panose="02040503050406030204" pitchFamily="18" charset="0"/>
                              <a:ea typeface="Cambria Math" panose="02040503050406030204" pitchFamily="18" charset="0"/>
                            </a:rPr>
                            <m:t>ℝ</m:t>
                          </m:r>
                        </m:e>
                        <m:sup>
                          <m:r>
                            <a:rPr kumimoji="1" lang="en-US" altLang="zh-CN" sz="2200" b="0" i="1" smtClean="0">
                              <a:latin typeface="Cambria Math" panose="02040503050406030204" pitchFamily="18" charset="0"/>
                              <a:ea typeface="Cambria Math" panose="02040503050406030204" pitchFamily="18" charset="0"/>
                            </a:rPr>
                            <m:t>𝑑</m:t>
                          </m:r>
                        </m:sup>
                      </m:sSup>
                    </m:oMath>
                  </m:oMathPara>
                </a14:m>
                <a:endParaRPr kumimoji="1" lang="zh-CN" altLang="en-US" sz="2200" dirty="0"/>
              </a:p>
            </p:txBody>
          </p:sp>
        </mc:Choice>
        <mc:Fallback xmlns="">
          <p:sp>
            <p:nvSpPr>
              <p:cNvPr id="11" name="文本框 10">
                <a:extLst>
                  <a:ext uri="{FF2B5EF4-FFF2-40B4-BE49-F238E27FC236}">
                    <a16:creationId xmlns:a16="http://schemas.microsoft.com/office/drawing/2014/main" id="{D116528B-F551-2F4A-B11E-8AF318D5B03B}"/>
                  </a:ext>
                </a:extLst>
              </p:cNvPr>
              <p:cNvSpPr txBox="1">
                <a:spLocks noRot="1" noChangeAspect="1" noMove="1" noResize="1" noEditPoints="1" noAdjustHandles="1" noChangeArrowheads="1" noChangeShapeType="1" noTextEdit="1"/>
              </p:cNvSpPr>
              <p:nvPr/>
            </p:nvSpPr>
            <p:spPr>
              <a:xfrm>
                <a:off x="6536272" y="5780112"/>
                <a:ext cx="928908" cy="344646"/>
              </a:xfrm>
              <a:prstGeom prst="rect">
                <a:avLst/>
              </a:prstGeom>
              <a:blipFill>
                <a:blip r:embed="rId9"/>
                <a:stretch>
                  <a:fillRect l="-2703" t="-3571" r="-1351" b="-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D7215C3-1BE2-6B47-9BD5-3BDD737095F3}"/>
                  </a:ext>
                </a:extLst>
              </p:cNvPr>
              <p:cNvSpPr txBox="1"/>
              <p:nvPr/>
            </p:nvSpPr>
            <p:spPr>
              <a:xfrm>
                <a:off x="10849708" y="5715791"/>
                <a:ext cx="987193" cy="379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rPr>
                        <m:t> </m:t>
                      </m:r>
                      <m:acc>
                        <m:accPr>
                          <m:chr m:val="̂"/>
                          <m:ctrlPr>
                            <a:rPr kumimoji="1" lang="en-US" altLang="zh-CN" sz="2200" b="0" i="1" smtClean="0">
                              <a:latin typeface="Cambria Math" panose="02040503050406030204" pitchFamily="18" charset="0"/>
                            </a:rPr>
                          </m:ctrlPr>
                        </m:accPr>
                        <m:e>
                          <m:r>
                            <a:rPr kumimoji="1" lang="en-US" altLang="zh-CN" sz="2200" b="0" i="1" smtClean="0">
                              <a:latin typeface="Cambria Math" panose="02040503050406030204" pitchFamily="18" charset="0"/>
                            </a:rPr>
                            <m:t>𝑦</m:t>
                          </m:r>
                        </m:e>
                      </m:acc>
                      <m:r>
                        <a:rPr kumimoji="1" lang="en-US" altLang="zh-CN" sz="2200" b="0" i="1" smtClean="0">
                          <a:latin typeface="Cambria Math" panose="02040503050406030204" pitchFamily="18" charset="0"/>
                        </a:rPr>
                        <m:t>∈</m:t>
                      </m:r>
                      <m:sSup>
                        <m:sSupPr>
                          <m:ctrlPr>
                            <a:rPr kumimoji="1" lang="en-US" altLang="zh-CN" sz="2200" i="1">
                              <a:latin typeface="Cambria Math" panose="02040503050406030204" pitchFamily="18" charset="0"/>
                              <a:ea typeface="Cambria Math" panose="02040503050406030204" pitchFamily="18" charset="0"/>
                            </a:rPr>
                          </m:ctrlPr>
                        </m:sSupPr>
                        <m:e>
                          <m:r>
                            <a:rPr kumimoji="1" lang="en-US" altLang="zh-CN" sz="2200" i="1">
                              <a:latin typeface="Cambria Math" panose="02040503050406030204" pitchFamily="18" charset="0"/>
                              <a:ea typeface="Cambria Math" panose="02040503050406030204" pitchFamily="18" charset="0"/>
                            </a:rPr>
                            <m:t>ℝ</m:t>
                          </m:r>
                        </m:e>
                        <m:sup>
                          <m:r>
                            <a:rPr kumimoji="1" lang="en-US" altLang="zh-CN" sz="2200" b="0" i="1" smtClean="0">
                              <a:latin typeface="Cambria Math" panose="02040503050406030204" pitchFamily="18" charset="0"/>
                              <a:ea typeface="Cambria Math" panose="02040503050406030204" pitchFamily="18" charset="0"/>
                            </a:rPr>
                            <m:t>𝑘</m:t>
                          </m:r>
                        </m:sup>
                      </m:sSup>
                    </m:oMath>
                  </m:oMathPara>
                </a14:m>
                <a:endParaRPr kumimoji="1" lang="zh-CN" altLang="en-US" sz="2200" dirty="0"/>
              </a:p>
            </p:txBody>
          </p:sp>
        </mc:Choice>
        <mc:Fallback xmlns="">
          <p:sp>
            <p:nvSpPr>
              <p:cNvPr id="20" name="文本框 19">
                <a:extLst>
                  <a:ext uri="{FF2B5EF4-FFF2-40B4-BE49-F238E27FC236}">
                    <a16:creationId xmlns:a16="http://schemas.microsoft.com/office/drawing/2014/main" id="{6D7215C3-1BE2-6B47-9BD5-3BDD737095F3}"/>
                  </a:ext>
                </a:extLst>
              </p:cNvPr>
              <p:cNvSpPr txBox="1">
                <a:spLocks noRot="1" noChangeAspect="1" noMove="1" noResize="1" noEditPoints="1" noAdjustHandles="1" noChangeArrowheads="1" noChangeShapeType="1" noTextEdit="1"/>
              </p:cNvSpPr>
              <p:nvPr/>
            </p:nvSpPr>
            <p:spPr>
              <a:xfrm>
                <a:off x="10849708" y="5715791"/>
                <a:ext cx="987193" cy="379912"/>
              </a:xfrm>
              <a:prstGeom prst="rect">
                <a:avLst/>
              </a:prstGeom>
              <a:blipFill>
                <a:blip r:embed="rId10"/>
                <a:stretch>
                  <a:fillRect l="-13924" t="-16129" r="-1266" b="-41935"/>
                </a:stretch>
              </a:blipFill>
            </p:spPr>
            <p:txBody>
              <a:bodyPr/>
              <a:lstStyle/>
              <a:p>
                <a:r>
                  <a:rPr lang="zh-CN" altLang="en-US">
                    <a:noFill/>
                  </a:rPr>
                  <a:t> </a:t>
                </a:r>
              </a:p>
            </p:txBody>
          </p:sp>
        </mc:Fallback>
      </mc:AlternateContent>
      <p:sp>
        <p:nvSpPr>
          <p:cNvPr id="21" name="燕尾形箭头 20">
            <a:extLst>
              <a:ext uri="{FF2B5EF4-FFF2-40B4-BE49-F238E27FC236}">
                <a16:creationId xmlns:a16="http://schemas.microsoft.com/office/drawing/2014/main" id="{DE41A873-D9AA-5247-956C-CF9C5A3A9D3D}"/>
              </a:ext>
            </a:extLst>
          </p:cNvPr>
          <p:cNvSpPr/>
          <p:nvPr/>
        </p:nvSpPr>
        <p:spPr bwMode="auto">
          <a:xfrm>
            <a:off x="10569136" y="5713988"/>
            <a:ext cx="308989"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6767AEC-49F0-6D49-B63F-4703A71545A4}"/>
                  </a:ext>
                </a:extLst>
              </p:cNvPr>
              <p:cNvSpPr txBox="1"/>
              <p:nvPr/>
            </p:nvSpPr>
            <p:spPr>
              <a:xfrm>
                <a:off x="8239981" y="6369635"/>
                <a:ext cx="1834926"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𝑛</m:t>
                          </m:r>
                        </m:e>
                        <m:sub>
                          <m:r>
                            <a:rPr kumimoji="1" lang="en-US" altLang="zh-CN" sz="2200" b="0" i="1" smtClean="0">
                              <a:latin typeface="Cambria Math" panose="02040503050406030204" pitchFamily="18" charset="0"/>
                            </a:rPr>
                            <m:t>0</m:t>
                          </m:r>
                        </m:sub>
                      </m:sSub>
                      <m:r>
                        <a:rPr kumimoji="1" lang="en-US" altLang="zh-CN" sz="2200" b="0" i="1" smtClean="0">
                          <a:latin typeface="Cambria Math" panose="02040503050406030204" pitchFamily="18" charset="0"/>
                        </a:rPr>
                        <m:t>=</m:t>
                      </m:r>
                      <m:r>
                        <a:rPr kumimoji="1" lang="en-US" altLang="zh-CN" sz="2200" b="0" i="1" smtClean="0">
                          <a:latin typeface="Cambria Math" panose="02040503050406030204" pitchFamily="18" charset="0"/>
                        </a:rPr>
                        <m:t>𝑑</m:t>
                      </m:r>
                      <m:r>
                        <a:rPr kumimoji="1" lang="en-US" altLang="zh-CN" sz="2200" b="0" i="1" smtClean="0">
                          <a:latin typeface="Cambria Math" panose="02040503050406030204" pitchFamily="18" charset="0"/>
                        </a:rPr>
                        <m:t>,</m:t>
                      </m:r>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𝑛</m:t>
                          </m:r>
                        </m:e>
                        <m:sub>
                          <m:r>
                            <a:rPr kumimoji="1" lang="en-US" altLang="zh-CN" sz="2200" b="0" i="1" smtClean="0">
                              <a:latin typeface="Cambria Math" panose="02040503050406030204" pitchFamily="18" charset="0"/>
                            </a:rPr>
                            <m:t>𝐿</m:t>
                          </m:r>
                        </m:sub>
                      </m:sSub>
                      <m:r>
                        <a:rPr kumimoji="1" lang="en-US" altLang="zh-CN" sz="2200" b="0" i="1" smtClean="0">
                          <a:latin typeface="Cambria Math" panose="02040503050406030204" pitchFamily="18" charset="0"/>
                        </a:rPr>
                        <m:t>=</m:t>
                      </m:r>
                      <m:r>
                        <a:rPr kumimoji="1" lang="en-US" altLang="zh-CN" sz="2200" b="0" i="1" smtClean="0">
                          <a:latin typeface="Cambria Math" panose="02040503050406030204" pitchFamily="18" charset="0"/>
                        </a:rPr>
                        <m:t>𝑘</m:t>
                      </m:r>
                    </m:oMath>
                  </m:oMathPara>
                </a14:m>
                <a:endParaRPr kumimoji="1" lang="zh-CN" altLang="en-US" sz="2200" dirty="0"/>
              </a:p>
            </p:txBody>
          </p:sp>
        </mc:Choice>
        <mc:Fallback xmlns="">
          <p:sp>
            <p:nvSpPr>
              <p:cNvPr id="22" name="文本框 21">
                <a:extLst>
                  <a:ext uri="{FF2B5EF4-FFF2-40B4-BE49-F238E27FC236}">
                    <a16:creationId xmlns:a16="http://schemas.microsoft.com/office/drawing/2014/main" id="{66767AEC-49F0-6D49-B63F-4703A71545A4}"/>
                  </a:ext>
                </a:extLst>
              </p:cNvPr>
              <p:cNvSpPr txBox="1">
                <a:spLocks noRot="1" noChangeAspect="1" noMove="1" noResize="1" noEditPoints="1" noAdjustHandles="1" noChangeArrowheads="1" noChangeShapeType="1" noTextEdit="1"/>
              </p:cNvSpPr>
              <p:nvPr/>
            </p:nvSpPr>
            <p:spPr>
              <a:xfrm>
                <a:off x="8239981" y="6369635"/>
                <a:ext cx="1834926" cy="338554"/>
              </a:xfrm>
              <a:prstGeom prst="rect">
                <a:avLst/>
              </a:prstGeom>
              <a:blipFill>
                <a:blip r:embed="rId11"/>
                <a:stretch>
                  <a:fillRect l="-685" r="-2055" b="-18519"/>
                </a:stretch>
              </a:blipFill>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1420A4EE-6706-1D40-A5D6-E00AC5AD7132}"/>
              </a:ext>
            </a:extLst>
          </p:cNvPr>
          <p:cNvGrpSpPr/>
          <p:nvPr/>
        </p:nvGrpSpPr>
        <p:grpSpPr>
          <a:xfrm>
            <a:off x="752368" y="3339055"/>
            <a:ext cx="6047344" cy="3158057"/>
            <a:chOff x="752368" y="3339055"/>
            <a:chExt cx="6047344" cy="3158057"/>
          </a:xfrm>
        </p:grpSpPr>
        <p:pic>
          <p:nvPicPr>
            <p:cNvPr id="19" name="图片 18">
              <a:extLst>
                <a:ext uri="{FF2B5EF4-FFF2-40B4-BE49-F238E27FC236}">
                  <a16:creationId xmlns:a16="http://schemas.microsoft.com/office/drawing/2014/main" id="{A0C30FE5-CC0A-DA48-8578-999FF66CE987}"/>
                </a:ext>
              </a:extLst>
            </p:cNvPr>
            <p:cNvPicPr>
              <a:picLocks noChangeAspect="1"/>
            </p:cNvPicPr>
            <p:nvPr/>
          </p:nvPicPr>
          <p:blipFill>
            <a:blip r:embed="rId12"/>
            <a:stretch>
              <a:fillRect/>
            </a:stretch>
          </p:blipFill>
          <p:spPr>
            <a:xfrm>
              <a:off x="752368" y="3339055"/>
              <a:ext cx="6047344" cy="3158057"/>
            </a:xfrm>
            <a:prstGeom prst="rect">
              <a:avLst/>
            </a:prstGeom>
          </p:spPr>
        </p:pic>
        <p:cxnSp>
          <p:nvCxnSpPr>
            <p:cNvPr id="23" name="直线箭头连接符 22">
              <a:extLst>
                <a:ext uri="{FF2B5EF4-FFF2-40B4-BE49-F238E27FC236}">
                  <a16:creationId xmlns:a16="http://schemas.microsoft.com/office/drawing/2014/main" id="{878FB0E3-85E2-AD48-B9EE-055150FABD89}"/>
                </a:ext>
              </a:extLst>
            </p:cNvPr>
            <p:cNvCxnSpPr>
              <a:cxnSpLocks/>
            </p:cNvCxnSpPr>
            <p:nvPr/>
          </p:nvCxnSpPr>
          <p:spPr>
            <a:xfrm flipV="1">
              <a:off x="5141626" y="4422098"/>
              <a:ext cx="689548" cy="1274165"/>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1FB3A2CA-DA4E-704E-AB26-FC503A28A861}"/>
                </a:ext>
              </a:extLst>
            </p:cNvPr>
            <p:cNvCxnSpPr>
              <a:cxnSpLocks/>
            </p:cNvCxnSpPr>
            <p:nvPr/>
          </p:nvCxnSpPr>
          <p:spPr>
            <a:xfrm>
              <a:off x="5141626" y="3777521"/>
              <a:ext cx="689548" cy="1274164"/>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BD12D8B1-5130-1941-8CCA-8A8170B18ABF}"/>
                </a:ext>
              </a:extLst>
            </p:cNvPr>
            <p:cNvCxnSpPr>
              <a:cxnSpLocks/>
            </p:cNvCxnSpPr>
            <p:nvPr/>
          </p:nvCxnSpPr>
          <p:spPr>
            <a:xfrm>
              <a:off x="5141626" y="4317167"/>
              <a:ext cx="689548" cy="734518"/>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0569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p:bldP spid="20" grpId="0"/>
      <p:bldP spid="21" grpId="0" animBg="1"/>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37</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p:pic>
        <p:nvPicPr>
          <p:cNvPr id="27" name="图片 26">
            <a:extLst>
              <a:ext uri="{FF2B5EF4-FFF2-40B4-BE49-F238E27FC236}">
                <a16:creationId xmlns:a16="http://schemas.microsoft.com/office/drawing/2014/main" id="{9337B07C-5288-4DFB-9F01-93BA17F0B01A}"/>
              </a:ext>
            </a:extLst>
          </p:cNvPr>
          <p:cNvPicPr>
            <a:picLocks noChangeAspect="1"/>
          </p:cNvPicPr>
          <p:nvPr/>
        </p:nvPicPr>
        <p:blipFill rotWithShape="1">
          <a:blip r:embed="rId5"/>
          <a:srcRect t="7058"/>
          <a:stretch/>
        </p:blipFill>
        <p:spPr>
          <a:xfrm>
            <a:off x="2619610" y="2827281"/>
            <a:ext cx="6369664" cy="3329371"/>
          </a:xfrm>
          <a:prstGeom prst="rect">
            <a:avLst/>
          </a:prstGeom>
        </p:spPr>
      </p:pic>
      <p:sp>
        <p:nvSpPr>
          <p:cNvPr id="28" name="标题 1">
            <a:extLst>
              <a:ext uri="{FF2B5EF4-FFF2-40B4-BE49-F238E27FC236}">
                <a16:creationId xmlns:a16="http://schemas.microsoft.com/office/drawing/2014/main" id="{CD3F4B64-95C9-487F-8434-FBDEEBF9CBEE}"/>
              </a:ext>
            </a:extLst>
          </p:cNvPr>
          <p:cNvSpPr>
            <a:spLocks noGrp="1"/>
          </p:cNvSpPr>
          <p:nvPr>
            <p:custDataLst>
              <p:tags r:id="rId1"/>
            </p:custDataLst>
          </p:nvPr>
        </p:nvSpPr>
        <p:spPr>
          <a:xfrm>
            <a:off x="1488516" y="5556158"/>
            <a:ext cx="4363223" cy="1109824"/>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en-US" sz="1800" dirty="0">
                <a:solidFill>
                  <a:srgbClr val="1F1F1F"/>
                </a:solidFill>
                <a:latin typeface="Times New Roman"/>
                <a:ea typeface="微软雅黑"/>
                <a:cs typeface="Times New Roman"/>
                <a:sym typeface="Roboto"/>
              </a:rPr>
              <a:t>Regression </a:t>
            </a:r>
            <a:r>
              <a:rPr lang="en-US" sz="1800" b="0" dirty="0">
                <a:solidFill>
                  <a:srgbClr val="1F1F1F"/>
                </a:solidFill>
                <a:latin typeface="Times New Roman"/>
                <a:ea typeface="微软雅黑"/>
                <a:cs typeface="Times New Roman"/>
                <a:sym typeface="Roboto"/>
              </a:rPr>
              <a:t>is the problem of how to model one or more variables/responses Y by a set of predictors X.</a:t>
            </a:r>
            <a:endParaRPr lang="zh-CN" sz="1800" dirty="0">
              <a:latin typeface="Times New Roman"/>
              <a:cs typeface="Times New Roman"/>
            </a:endParaRPr>
          </a:p>
        </p:txBody>
      </p:sp>
      <p:sp>
        <p:nvSpPr>
          <p:cNvPr id="29" name="标题 1">
            <a:extLst>
              <a:ext uri="{FF2B5EF4-FFF2-40B4-BE49-F238E27FC236}">
                <a16:creationId xmlns:a16="http://schemas.microsoft.com/office/drawing/2014/main" id="{FD8EAD8C-4C92-4D7C-85AD-31F5CC174ED5}"/>
              </a:ext>
            </a:extLst>
          </p:cNvPr>
          <p:cNvSpPr>
            <a:spLocks noGrp="1"/>
          </p:cNvSpPr>
          <p:nvPr>
            <p:custDataLst>
              <p:tags r:id="rId2"/>
            </p:custDataLst>
          </p:nvPr>
        </p:nvSpPr>
        <p:spPr>
          <a:xfrm>
            <a:off x="6108570" y="5556158"/>
            <a:ext cx="4500520" cy="1109824"/>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en-US" sz="1800" dirty="0">
                <a:solidFill>
                  <a:srgbClr val="1F1F1F"/>
                </a:solidFill>
                <a:latin typeface="Times New Roman"/>
                <a:ea typeface="微软雅黑"/>
                <a:cs typeface="Times New Roman"/>
                <a:sym typeface="Roboto"/>
              </a:rPr>
              <a:t>Classification</a:t>
            </a:r>
            <a:r>
              <a:rPr lang="en-US" sz="1800" b="0" dirty="0">
                <a:solidFill>
                  <a:srgbClr val="1F1F1F"/>
                </a:solidFill>
                <a:latin typeface="Times New Roman"/>
                <a:ea typeface="微软雅黑"/>
                <a:cs typeface="Times New Roman"/>
                <a:sym typeface="Roboto"/>
              </a:rPr>
              <a:t> is the problem of identifying which of a set of categories (sub-populations) an observation (or observations) belongs to.</a:t>
            </a:r>
            <a:endParaRPr lang="zh-CN" sz="1800">
              <a:latin typeface="Times New Roman"/>
              <a:cs typeface="Times New Roman"/>
            </a:endParaRPr>
          </a:p>
        </p:txBody>
      </p:sp>
      <p:sp>
        <p:nvSpPr>
          <p:cNvPr id="30" name="文本框 29">
            <a:extLst>
              <a:ext uri="{FF2B5EF4-FFF2-40B4-BE49-F238E27FC236}">
                <a16:creationId xmlns:a16="http://schemas.microsoft.com/office/drawing/2014/main" id="{9132B54F-C5A4-47D0-8730-05B13E7A4A12}"/>
              </a:ext>
            </a:extLst>
          </p:cNvPr>
          <p:cNvSpPr txBox="1"/>
          <p:nvPr/>
        </p:nvSpPr>
        <p:spPr>
          <a:xfrm>
            <a:off x="270642" y="2977821"/>
            <a:ext cx="6101254" cy="369332"/>
          </a:xfrm>
          <a:prstGeom prst="rect">
            <a:avLst/>
          </a:prstGeom>
          <a:noFill/>
        </p:spPr>
        <p:txBody>
          <a:bodyPr wrap="square">
            <a:spAutoFit/>
          </a:bodyPr>
          <a:lstStyle/>
          <a:p>
            <a:r>
              <a:rPr lang="zh-CN" altLang="en-US" sz="1800" dirty="0"/>
              <a:t>机器学习领域的两大核心任务：</a:t>
            </a:r>
            <a:endParaRPr lang="zh-CN" altLang="en-US" dirty="0"/>
          </a:p>
        </p:txBody>
      </p:sp>
    </p:spTree>
    <p:extLst>
      <p:ext uri="{BB962C8B-B14F-4D97-AF65-F5344CB8AC3E}">
        <p14:creationId xmlns:p14="http://schemas.microsoft.com/office/powerpoint/2010/main" val="185777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38</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6441439" y="2751900"/>
                <a:ext cx="5528887" cy="3564950"/>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多变量回归任务</a:t>
                </a:r>
                <a:endParaRPr kumimoji="1" lang="en-US" altLang="zh-CN" sz="2400" dirty="0"/>
              </a:p>
              <a:p>
                <a:pPr marL="800100" lvl="1" indent="-342900">
                  <a:lnSpc>
                    <a:spcPct val="150000"/>
                  </a:lnSpc>
                  <a:buFont typeface="Wingdings" pitchFamily="2" charset="2"/>
                  <a:buChar char="p"/>
                </a:pPr>
                <a:r>
                  <a:rPr kumimoji="1" lang="zh-CN" altLang="en-US" sz="2200" dirty="0"/>
                  <a:t>给定数据集</a:t>
                </a:r>
                <a14:m>
                  <m:oMath xmlns:m="http://schemas.openxmlformats.org/officeDocument/2006/math">
                    <m:sSubSup>
                      <m:sSubSupPr>
                        <m:ctrlPr>
                          <a:rPr lang="en-US" altLang="zh-CN" sz="2200" i="1">
                            <a:latin typeface="Cambria Math" panose="02040503050406030204" pitchFamily="18" charset="0"/>
                            <a:cs typeface="Times New Roman" panose="02020603050405020304" pitchFamily="18" charset="0"/>
                          </a:rPr>
                        </m:ctrlPr>
                      </m:sSubSupPr>
                      <m:e>
                        <m:r>
                          <a:rPr lang="en-US" altLang="zh-CN" sz="2200" i="1">
                            <a:latin typeface="Cambria Math" panose="02040503050406030204" pitchFamily="18" charset="0"/>
                            <a:cs typeface="Times New Roman" panose="02020603050405020304" pitchFamily="18" charset="0"/>
                          </a:rPr>
                          <m:t>𝐷</m:t>
                        </m:r>
                        <m:r>
                          <a:rPr lang="en-US" altLang="zh-CN" sz="2200" i="1">
                            <a:latin typeface="Cambria Math" panose="02040503050406030204" pitchFamily="18" charset="0"/>
                            <a:cs typeface="Times New Roman" panose="02020603050405020304" pitchFamily="18" charset="0"/>
                          </a:rPr>
                          <m:t>=</m:t>
                        </m:r>
                        <m:d>
                          <m:dPr>
                            <m:begChr m:val="{"/>
                            <m:endChr m:val="}"/>
                            <m:ctrlPr>
                              <a:rPr lang="en-US" altLang="zh-CN" sz="2200" i="1">
                                <a:latin typeface="Cambria Math" panose="02040503050406030204" pitchFamily="18" charset="0"/>
                                <a:cs typeface="Times New Roman" panose="02020603050405020304" pitchFamily="18" charset="0"/>
                              </a:rPr>
                            </m:ctrlPr>
                          </m:dPr>
                          <m:e>
                            <m:d>
                              <m:dPr>
                                <m:ctrlPr>
                                  <a:rPr lang="en-US" altLang="zh-CN" sz="2200" i="1">
                                    <a:latin typeface="Cambria Math" panose="02040503050406030204" pitchFamily="18" charset="0"/>
                                    <a:cs typeface="Times New Roman" panose="02020603050405020304" pitchFamily="18" charset="0"/>
                                  </a:rPr>
                                </m:ctrlPr>
                              </m:dPr>
                              <m:e>
                                <m:sSub>
                                  <m:sSubPr>
                                    <m:ctrlPr>
                                      <a:rPr lang="en-US" altLang="zh-CN" sz="2200" i="1">
                                        <a:latin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cs typeface="Times New Roman" panose="02020603050405020304" pitchFamily="18" charset="0"/>
                                      </a:rPr>
                                      <m:t>𝑥</m:t>
                                    </m:r>
                                  </m:e>
                                  <m:sub>
                                    <m:r>
                                      <a:rPr lang="en-US" altLang="zh-CN" sz="2200" i="1">
                                        <a:latin typeface="Cambria Math" panose="02040503050406030204" pitchFamily="18" charset="0"/>
                                        <a:cs typeface="Times New Roman" panose="02020603050405020304" pitchFamily="18" charset="0"/>
                                      </a:rPr>
                                      <m:t>𝑖</m:t>
                                    </m:r>
                                  </m:sub>
                                </m:sSub>
                                <m:r>
                                  <a:rPr lang="en-US" altLang="zh-CN" sz="2200" i="1">
                                    <a:latin typeface="Cambria Math" panose="02040503050406030204" pitchFamily="18" charset="0"/>
                                    <a:cs typeface="Times New Roman" panose="02020603050405020304" pitchFamily="18" charset="0"/>
                                  </a:rPr>
                                  <m:t>,</m:t>
                                </m:r>
                                <m:sSub>
                                  <m:sSubPr>
                                    <m:ctrlPr>
                                      <a:rPr lang="en-US" altLang="zh-CN" sz="2200" i="1">
                                        <a:latin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cs typeface="Times New Roman" panose="02020603050405020304" pitchFamily="18" charset="0"/>
                                      </a:rPr>
                                      <m:t>𝑦</m:t>
                                    </m:r>
                                  </m:e>
                                  <m:sub>
                                    <m:r>
                                      <a:rPr lang="en-US" altLang="zh-CN" sz="2200" i="1">
                                        <a:latin typeface="Cambria Math" panose="02040503050406030204" pitchFamily="18" charset="0"/>
                                        <a:cs typeface="Times New Roman" panose="02020603050405020304" pitchFamily="18" charset="0"/>
                                      </a:rPr>
                                      <m:t>𝑖</m:t>
                                    </m:r>
                                  </m:sub>
                                </m:sSub>
                              </m:e>
                            </m:d>
                          </m:e>
                        </m:d>
                      </m:e>
                      <m:sub>
                        <m:r>
                          <a:rPr lang="en-US" altLang="zh-CN" sz="2200" i="1">
                            <a:latin typeface="Cambria Math" panose="02040503050406030204" pitchFamily="18" charset="0"/>
                            <a:cs typeface="Times New Roman" panose="02020603050405020304" pitchFamily="18" charset="0"/>
                          </a:rPr>
                          <m:t>𝑖</m:t>
                        </m:r>
                        <m:r>
                          <a:rPr lang="en-US" altLang="zh-CN" sz="2200" i="1">
                            <a:latin typeface="Cambria Math" panose="02040503050406030204" pitchFamily="18" charset="0"/>
                            <a:cs typeface="Times New Roman" panose="02020603050405020304" pitchFamily="18" charset="0"/>
                          </a:rPr>
                          <m:t>=1</m:t>
                        </m:r>
                      </m:sub>
                      <m:sup>
                        <m:r>
                          <a:rPr lang="en-US" altLang="zh-CN" sz="2200" i="1">
                            <a:latin typeface="Cambria Math" panose="02040503050406030204" pitchFamily="18" charset="0"/>
                            <a:cs typeface="Times New Roman" panose="02020603050405020304" pitchFamily="18" charset="0"/>
                          </a:rPr>
                          <m:t>𝑚</m:t>
                        </m:r>
                      </m:sup>
                    </m:sSubSup>
                  </m:oMath>
                </a14:m>
                <a:r>
                  <a:rPr lang="zh-CN" altLang="en-US" sz="22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en-US" altLang="zh-CN" sz="2200" i="1">
                            <a:latin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cs typeface="Times New Roman" panose="02020603050405020304" pitchFamily="18" charset="0"/>
                          </a:rPr>
                          <m:t>𝑥</m:t>
                        </m:r>
                      </m:e>
                      <m:sub>
                        <m:r>
                          <a:rPr lang="en-US" altLang="zh-CN" sz="2200" i="1">
                            <a:latin typeface="Cambria Math" panose="02040503050406030204" pitchFamily="18" charset="0"/>
                            <a:cs typeface="Times New Roman" panose="02020603050405020304" pitchFamily="18" charset="0"/>
                          </a:rPr>
                          <m:t>𝑖</m:t>
                        </m:r>
                      </m:sub>
                    </m:sSub>
                    <m:r>
                      <a:rPr lang="en-US" altLang="zh-CN" sz="2200" i="1">
                        <a:latin typeface="Cambria Math" panose="02040503050406030204" pitchFamily="18" charset="0"/>
                        <a:cs typeface="Times New Roman" panose="02020603050405020304" pitchFamily="18" charset="0"/>
                      </a:rPr>
                      <m:t>∈</m:t>
                    </m:r>
                    <m:sSup>
                      <m:sSupPr>
                        <m:ctrlPr>
                          <a:rPr lang="en-US" altLang="zh-CN" sz="22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𝑑</m:t>
                        </m:r>
                      </m:sup>
                    </m:sSup>
                  </m:oMath>
                </a14:m>
                <a:r>
                  <a:rPr kumimoji="1" lang="zh-CN" altLang="en-US" sz="2200" dirty="0"/>
                  <a:t>且</a:t>
                </a:r>
                <a14:m>
                  <m:oMath xmlns:m="http://schemas.openxmlformats.org/officeDocument/2006/math">
                    <m:sSub>
                      <m:sSubPr>
                        <m:ctrlPr>
                          <a:rPr lang="en-US" altLang="zh-CN" sz="2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200" i="1">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1" lang="en-US" altLang="zh-CN" sz="2200" i="1">
                            <a:latin typeface="Cambria Math" panose="02040503050406030204" pitchFamily="18" charset="0"/>
                            <a:ea typeface="Cambria Math" panose="02040503050406030204" pitchFamily="18" charset="0"/>
                          </a:rPr>
                        </m:ctrlPr>
                      </m:sSupPr>
                      <m:e>
                        <m:r>
                          <a:rPr kumimoji="1" lang="en-US" altLang="zh-CN" sz="2200" i="1">
                            <a:latin typeface="Cambria Math" panose="02040503050406030204" pitchFamily="18" charset="0"/>
                            <a:ea typeface="Cambria Math" panose="02040503050406030204" pitchFamily="18" charset="0"/>
                          </a:rPr>
                          <m:t>ℝ</m:t>
                        </m:r>
                      </m:e>
                      <m:sup>
                        <m:r>
                          <a:rPr kumimoji="1" lang="en-US" altLang="zh-CN" sz="2200" i="1">
                            <a:latin typeface="Cambria Math" panose="02040503050406030204" pitchFamily="18" charset="0"/>
                            <a:ea typeface="Cambria Math" panose="02040503050406030204" pitchFamily="18" charset="0"/>
                          </a:rPr>
                          <m:t>𝑘</m:t>
                        </m:r>
                      </m:sup>
                    </m:sSup>
                  </m:oMath>
                </a14:m>
                <a:endParaRPr lang="en-US" altLang="zh-CN" sz="2200" dirty="0"/>
              </a:p>
              <a:p>
                <a:pPr marL="800100" lvl="1" indent="-342900">
                  <a:lnSpc>
                    <a:spcPct val="150000"/>
                  </a:lnSpc>
                  <a:buFont typeface="Wingdings" pitchFamily="2" charset="2"/>
                  <a:buChar char="p"/>
                </a:pPr>
                <a:r>
                  <a:rPr lang="en-US" altLang="zh-CN" sz="2200" dirty="0"/>
                  <a:t>MLP</a:t>
                </a:r>
                <a:r>
                  <a:rPr lang="zh-CN" altLang="en-US" sz="2200" dirty="0"/>
                  <a:t>预测</a:t>
                </a:r>
                <a:endParaRPr lang="en-US" altLang="zh-CN" sz="2200" dirty="0"/>
              </a:p>
              <a:p>
                <a:pPr lvl="1">
                  <a:lnSpc>
                    <a:spcPct val="150000"/>
                  </a:lnSpc>
                </a:pPr>
                <a:endParaRPr lang="zh-CN" altLang="en-US" sz="2200" dirty="0"/>
              </a:p>
              <a:p>
                <a:pPr marL="800100" lvl="1" indent="-342900">
                  <a:lnSpc>
                    <a:spcPct val="150000"/>
                  </a:lnSpc>
                  <a:buFont typeface="Wingdings" pitchFamily="2" charset="2"/>
                  <a:buChar char="p"/>
                </a:pPr>
                <a:endParaRPr kumimoji="1" lang="en-US" altLang="zh-CN" sz="2000" dirty="0"/>
              </a:p>
              <a:p>
                <a:pPr>
                  <a:lnSpc>
                    <a:spcPct val="150000"/>
                  </a:lnSpc>
                </a:pPr>
                <a:endParaRPr kumimoji="1" lang="en-US" altLang="zh-CN" sz="20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6441439" y="2751900"/>
                <a:ext cx="5528887" cy="3564950"/>
              </a:xfrm>
              <a:prstGeom prst="rect">
                <a:avLst/>
              </a:prstGeom>
              <a:blipFill>
                <a:blip r:embed="rId4"/>
                <a:stretch>
                  <a:fillRect l="-1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104ECD0-D1F3-9B4D-9FF8-968A9CE08EC7}"/>
                  </a:ext>
                </a:extLst>
              </p:cNvPr>
              <p:cNvSpPr txBox="1"/>
              <p:nvPr/>
            </p:nvSpPr>
            <p:spPr>
              <a:xfrm>
                <a:off x="6355804" y="4852106"/>
                <a:ext cx="6103916" cy="5990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𝑓</m:t>
                          </m:r>
                        </m:e>
                        <m:sub>
                          <m:r>
                            <m:rPr>
                              <m:sty m:val="p"/>
                            </m:rPr>
                            <a:rPr kumimoji="1" lang="en-US" altLang="zh-CN" sz="2200" b="0" i="0" smtClean="0">
                              <a:latin typeface="Cambria Math" panose="02040503050406030204" pitchFamily="18" charset="0"/>
                            </a:rPr>
                            <m:t>MLP</m:t>
                          </m:r>
                        </m:sub>
                      </m:sSub>
                      <m:d>
                        <m:dPr>
                          <m:ctrlPr>
                            <a:rPr kumimoji="1" lang="en-US" altLang="zh-CN" sz="2200" b="0" i="1" smtClean="0">
                              <a:latin typeface="Cambria Math" panose="02040503050406030204" pitchFamily="18" charset="0"/>
                            </a:rPr>
                          </m:ctrlPr>
                        </m:dPr>
                        <m:e>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𝑥</m:t>
                              </m:r>
                            </m:e>
                            <m:sub>
                              <m:r>
                                <a:rPr kumimoji="1" lang="en-US" altLang="zh-CN" sz="2200" b="0" i="1" smtClean="0">
                                  <a:latin typeface="Cambria Math" panose="02040503050406030204" pitchFamily="18" charset="0"/>
                                </a:rPr>
                                <m:t>𝑖</m:t>
                              </m:r>
                            </m:sub>
                          </m:sSub>
                        </m:e>
                      </m:d>
                      <m:r>
                        <a:rPr kumimoji="1" lang="en-US" altLang="zh-CN" sz="2200" b="0" i="1" smtClean="0">
                          <a:latin typeface="Cambria Math" panose="02040503050406030204" pitchFamily="18" charset="0"/>
                        </a:rPr>
                        <m:t>=</m:t>
                      </m:r>
                      <m:d>
                        <m:dPr>
                          <m:begChr m:val="["/>
                          <m:endChr m:val="]"/>
                          <m:ctrlPr>
                            <a:rPr kumimoji="1" lang="en-US" altLang="zh-CN" sz="2200" b="0" i="1" smtClean="0">
                              <a:latin typeface="Cambria Math" panose="02040503050406030204" pitchFamily="18" charset="0"/>
                            </a:rPr>
                          </m:ctrlPr>
                        </m:dPr>
                        <m:e>
                          <m:sSup>
                            <m:sSupPr>
                              <m:ctrlPr>
                                <a:rPr kumimoji="1" lang="en-US" altLang="zh-CN" sz="2200" i="1">
                                  <a:latin typeface="Cambria Math" panose="02040503050406030204" pitchFamily="18" charset="0"/>
                                </a:rPr>
                              </m:ctrlPr>
                            </m:sSupPr>
                            <m:e>
                              <m:r>
                                <a:rPr kumimoji="1" lang="en-US" altLang="zh-CN" sz="2200" i="1">
                                  <a:latin typeface="Cambria Math" panose="02040503050406030204" pitchFamily="18" charset="0"/>
                                </a:rPr>
                                <m:t>𝜎</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d>
                            <m:dPr>
                              <m:ctrlPr>
                                <a:rPr kumimoji="1" lang="en-US" altLang="zh-CN" sz="2200" i="1">
                                  <a:latin typeface="Cambria Math" panose="02040503050406030204" pitchFamily="18" charset="0"/>
                                </a:rPr>
                              </m:ctrlPr>
                            </m:dPr>
                            <m:e>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r>
                                    <a:rPr kumimoji="1" lang="en-US" altLang="zh-CN" sz="2200" i="1">
                                      <a:latin typeface="Cambria Math" panose="02040503050406030204" pitchFamily="18" charset="0"/>
                                    </a:rPr>
                                    <m:t>1</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e>
                          </m:d>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m:t>
                          </m:r>
                          <m:r>
                            <a:rPr kumimoji="1" lang="en-US" altLang="zh-CN" sz="2200" b="0" i="1" smtClean="0">
                              <a:latin typeface="Cambria Math" panose="02040503050406030204" pitchFamily="18" charset="0"/>
                            </a:rPr>
                            <m:t>;</m:t>
                          </m:r>
                          <m:sSup>
                            <m:sSupPr>
                              <m:ctrlPr>
                                <a:rPr kumimoji="1" lang="en-US" altLang="zh-CN" sz="2200" i="1">
                                  <a:latin typeface="Cambria Math" panose="02040503050406030204" pitchFamily="18" charset="0"/>
                                </a:rPr>
                              </m:ctrlPr>
                            </m:sSupPr>
                            <m:e>
                              <m:r>
                                <a:rPr kumimoji="1" lang="en-US" altLang="zh-CN" sz="2200" i="1">
                                  <a:latin typeface="Cambria Math" panose="02040503050406030204" pitchFamily="18" charset="0"/>
                                </a:rPr>
                                <m:t>𝜎</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d>
                            <m:dPr>
                              <m:ctrlPr>
                                <a:rPr kumimoji="1" lang="en-US" altLang="zh-CN" sz="2200" i="1">
                                  <a:latin typeface="Cambria Math" panose="02040503050406030204" pitchFamily="18" charset="0"/>
                                </a:rPr>
                              </m:ctrlPr>
                            </m:dPr>
                            <m:e>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r>
                                    <a:rPr kumimoji="1" lang="en-US" altLang="zh-CN" sz="2200" i="1">
                                      <a:latin typeface="Cambria Math" panose="02040503050406030204" pitchFamily="18" charset="0"/>
                                    </a:rPr>
                                    <m:t>𝑘</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e>
                          </m:d>
                        </m:e>
                      </m:d>
                    </m:oMath>
                  </m:oMathPara>
                </a14:m>
                <a:endParaRPr lang="zh-CN" altLang="en-US" sz="2200" dirty="0"/>
              </a:p>
            </p:txBody>
          </p:sp>
        </mc:Choice>
        <mc:Fallback xmlns="">
          <p:sp>
            <p:nvSpPr>
              <p:cNvPr id="18" name="文本框 17">
                <a:extLst>
                  <a:ext uri="{FF2B5EF4-FFF2-40B4-BE49-F238E27FC236}">
                    <a16:creationId xmlns:a16="http://schemas.microsoft.com/office/drawing/2014/main" id="{1104ECD0-D1F3-9B4D-9FF8-968A9CE08EC7}"/>
                  </a:ext>
                </a:extLst>
              </p:cNvPr>
              <p:cNvSpPr txBox="1">
                <a:spLocks noRot="1" noChangeAspect="1" noMove="1" noResize="1" noEditPoints="1" noAdjustHandles="1" noChangeArrowheads="1" noChangeShapeType="1" noTextEdit="1"/>
              </p:cNvSpPr>
              <p:nvPr/>
            </p:nvSpPr>
            <p:spPr>
              <a:xfrm>
                <a:off x="6355804" y="4852106"/>
                <a:ext cx="6103916" cy="599010"/>
              </a:xfrm>
              <a:prstGeom prst="rect">
                <a:avLst/>
              </a:prstGeom>
              <a:blipFill>
                <a:blip r:embed="rId5"/>
                <a:stretch>
                  <a:fillRect/>
                </a:stretch>
              </a:blipFill>
            </p:spPr>
            <p:txBody>
              <a:bodyPr/>
              <a:lstStyle/>
              <a:p>
                <a:r>
                  <a:rPr lang="zh-CN" altLang="en-US">
                    <a:noFill/>
                  </a:rPr>
                  <a:t> </a:t>
                </a:r>
              </a:p>
            </p:txBody>
          </p:sp>
        </mc:Fallback>
      </mc:AlternateContent>
      <p:sp>
        <p:nvSpPr>
          <p:cNvPr id="19" name="燕尾形箭头 18">
            <a:extLst>
              <a:ext uri="{FF2B5EF4-FFF2-40B4-BE49-F238E27FC236}">
                <a16:creationId xmlns:a16="http://schemas.microsoft.com/office/drawing/2014/main" id="{1086FE83-54E1-4D40-9291-0FEE2E76AA2A}"/>
              </a:ext>
            </a:extLst>
          </p:cNvPr>
          <p:cNvSpPr/>
          <p:nvPr/>
        </p:nvSpPr>
        <p:spPr bwMode="auto">
          <a:xfrm rot="5400000">
            <a:off x="9253267" y="5547126"/>
            <a:ext cx="308989"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70D8F0B-15B2-E449-89FE-F592F908302C}"/>
                  </a:ext>
                </a:extLst>
              </p:cNvPr>
              <p:cNvSpPr txBox="1"/>
              <p:nvPr/>
            </p:nvSpPr>
            <p:spPr>
              <a:xfrm>
                <a:off x="5996940" y="6024165"/>
                <a:ext cx="6103916" cy="596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𝑓</m:t>
                          </m:r>
                        </m:e>
                        <m:sub>
                          <m:r>
                            <m:rPr>
                              <m:sty m:val="p"/>
                            </m:rPr>
                            <a:rPr kumimoji="1" lang="en-US" altLang="zh-CN" sz="2200" b="0" i="0" smtClean="0">
                              <a:latin typeface="Cambria Math" panose="02040503050406030204" pitchFamily="18" charset="0"/>
                            </a:rPr>
                            <m:t>MLP</m:t>
                          </m:r>
                        </m:sub>
                      </m:sSub>
                      <m:d>
                        <m:dPr>
                          <m:ctrlPr>
                            <a:rPr kumimoji="1" lang="en-US" altLang="zh-CN" sz="2200" b="0" i="1" smtClean="0">
                              <a:latin typeface="Cambria Math" panose="02040503050406030204" pitchFamily="18" charset="0"/>
                            </a:rPr>
                          </m:ctrlPr>
                        </m:dPr>
                        <m:e>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𝑥</m:t>
                              </m:r>
                            </m:e>
                            <m:sub>
                              <m:r>
                                <a:rPr kumimoji="1" lang="en-US" altLang="zh-CN" sz="2200" b="0" i="1" smtClean="0">
                                  <a:latin typeface="Cambria Math" panose="02040503050406030204" pitchFamily="18" charset="0"/>
                                </a:rPr>
                                <m:t>𝑖</m:t>
                              </m:r>
                            </m:sub>
                          </m:sSub>
                        </m:e>
                      </m:d>
                      <m:r>
                        <a:rPr kumimoji="1" lang="en-US" altLang="zh-CN" sz="2200" b="0" i="1" smtClean="0">
                          <a:latin typeface="Cambria Math" panose="02040503050406030204" pitchFamily="18" charset="0"/>
                        </a:rPr>
                        <m:t>=</m:t>
                      </m:r>
                      <m:d>
                        <m:dPr>
                          <m:begChr m:val="["/>
                          <m:endChr m:val="]"/>
                          <m:ctrlPr>
                            <a:rPr kumimoji="1" lang="en-US" altLang="zh-CN" sz="2200" b="0" i="1" smtClean="0">
                              <a:latin typeface="Cambria Math" panose="02040503050406030204" pitchFamily="18" charset="0"/>
                            </a:rPr>
                          </m:ctrlPr>
                        </m:dPr>
                        <m:e>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r>
                                <a:rPr kumimoji="1" lang="en-US" altLang="zh-CN" sz="2200" i="1">
                                  <a:latin typeface="Cambria Math" panose="02040503050406030204" pitchFamily="18" charset="0"/>
                                </a:rPr>
                                <m:t>1</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m:t>
                          </m:r>
                          <m:r>
                            <a:rPr kumimoji="1" lang="en-US" altLang="zh-CN" sz="2200" b="0" i="1" smtClean="0">
                              <a:latin typeface="Cambria Math" panose="02040503050406030204" pitchFamily="18" charset="0"/>
                            </a:rPr>
                            <m:t>;</m:t>
                          </m:r>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r>
                                <a:rPr kumimoji="1" lang="en-US" altLang="zh-CN" sz="2200" i="1">
                                  <a:latin typeface="Cambria Math" panose="02040503050406030204" pitchFamily="18" charset="0"/>
                                </a:rPr>
                                <m:t>𝑘</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e>
                      </m:d>
                    </m:oMath>
                  </m:oMathPara>
                </a14:m>
                <a:endParaRPr lang="zh-CN" altLang="en-US" sz="2200" dirty="0"/>
              </a:p>
            </p:txBody>
          </p:sp>
        </mc:Choice>
        <mc:Fallback xmlns="">
          <p:sp>
            <p:nvSpPr>
              <p:cNvPr id="20" name="文本框 19">
                <a:extLst>
                  <a:ext uri="{FF2B5EF4-FFF2-40B4-BE49-F238E27FC236}">
                    <a16:creationId xmlns:a16="http://schemas.microsoft.com/office/drawing/2014/main" id="{A70D8F0B-15B2-E449-89FE-F592F908302C}"/>
                  </a:ext>
                </a:extLst>
              </p:cNvPr>
              <p:cNvSpPr txBox="1">
                <a:spLocks noRot="1" noChangeAspect="1" noMove="1" noResize="1" noEditPoints="1" noAdjustHandles="1" noChangeArrowheads="1" noChangeShapeType="1" noTextEdit="1"/>
              </p:cNvSpPr>
              <p:nvPr/>
            </p:nvSpPr>
            <p:spPr>
              <a:xfrm>
                <a:off x="5996940" y="6024165"/>
                <a:ext cx="6103916" cy="59657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AE118638-E5C4-8A4F-8EDF-7746847935FD}"/>
                  </a:ext>
                </a:extLst>
              </p:cNvPr>
              <p:cNvSpPr txBox="1"/>
              <p:nvPr/>
            </p:nvSpPr>
            <p:spPr>
              <a:xfrm>
                <a:off x="9780435" y="5582693"/>
                <a:ext cx="1623059"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i="1" smtClean="0">
                              <a:solidFill>
                                <a:srgbClr val="C00000"/>
                              </a:solidFill>
                              <a:latin typeface="Cambria Math" panose="02040503050406030204" pitchFamily="18" charset="0"/>
                            </a:rPr>
                          </m:ctrlPr>
                        </m:sSupPr>
                        <m:e>
                          <m:r>
                            <a:rPr kumimoji="1" lang="en-US" altLang="zh-CN" sz="2200" i="1">
                              <a:solidFill>
                                <a:srgbClr val="C00000"/>
                              </a:solidFill>
                              <a:latin typeface="Cambria Math" panose="02040503050406030204" pitchFamily="18" charset="0"/>
                            </a:rPr>
                            <m:t>𝜎</m:t>
                          </m:r>
                        </m:e>
                        <m:sup>
                          <m:d>
                            <m:dPr>
                              <m:ctrlPr>
                                <a:rPr kumimoji="1" lang="en-US" altLang="zh-CN" sz="2200" i="1">
                                  <a:solidFill>
                                    <a:srgbClr val="C00000"/>
                                  </a:solidFill>
                                  <a:latin typeface="Cambria Math" panose="02040503050406030204" pitchFamily="18" charset="0"/>
                                </a:rPr>
                              </m:ctrlPr>
                            </m:dPr>
                            <m:e>
                              <m:r>
                                <a:rPr kumimoji="1" lang="en-US" altLang="zh-CN" sz="2200" i="1">
                                  <a:solidFill>
                                    <a:srgbClr val="C00000"/>
                                  </a:solidFill>
                                  <a:latin typeface="Cambria Math" panose="02040503050406030204" pitchFamily="18" charset="0"/>
                                </a:rPr>
                                <m:t>𝐿</m:t>
                              </m:r>
                            </m:e>
                          </m:d>
                        </m:sup>
                      </m:sSup>
                      <m:d>
                        <m:dPr>
                          <m:ctrlPr>
                            <a:rPr kumimoji="1" lang="en-US" altLang="zh-CN" sz="2200" b="0" i="1" smtClean="0">
                              <a:solidFill>
                                <a:srgbClr val="C00000"/>
                              </a:solidFill>
                              <a:latin typeface="Cambria Math" panose="02040503050406030204" pitchFamily="18" charset="0"/>
                            </a:rPr>
                          </m:ctrlPr>
                        </m:dPr>
                        <m:e>
                          <m:r>
                            <a:rPr kumimoji="1" lang="en-US" altLang="zh-CN" sz="2200" b="0" i="1" smtClean="0">
                              <a:solidFill>
                                <a:srgbClr val="C00000"/>
                              </a:solidFill>
                              <a:latin typeface="Cambria Math" panose="02040503050406030204" pitchFamily="18" charset="0"/>
                            </a:rPr>
                            <m:t>𝑧</m:t>
                          </m:r>
                        </m:e>
                      </m:d>
                      <m:r>
                        <a:rPr kumimoji="1" lang="en-US" altLang="zh-CN" sz="2200" b="0" i="1" smtClean="0">
                          <a:solidFill>
                            <a:srgbClr val="C00000"/>
                          </a:solidFill>
                          <a:latin typeface="Cambria Math" panose="02040503050406030204" pitchFamily="18" charset="0"/>
                        </a:rPr>
                        <m:t>=</m:t>
                      </m:r>
                      <m:r>
                        <a:rPr kumimoji="1" lang="en-US" altLang="zh-CN" sz="2200" b="0" i="1" smtClean="0">
                          <a:solidFill>
                            <a:srgbClr val="C00000"/>
                          </a:solidFill>
                          <a:latin typeface="Cambria Math" panose="02040503050406030204" pitchFamily="18" charset="0"/>
                        </a:rPr>
                        <m:t>𝑧</m:t>
                      </m:r>
                    </m:oMath>
                  </m:oMathPara>
                </a14:m>
                <a:endParaRPr lang="zh-CN" altLang="en-US" sz="2200" dirty="0"/>
              </a:p>
            </p:txBody>
          </p:sp>
        </mc:Choice>
        <mc:Fallback xmlns="">
          <p:sp>
            <p:nvSpPr>
              <p:cNvPr id="21" name="文本框 20">
                <a:extLst>
                  <a:ext uri="{FF2B5EF4-FFF2-40B4-BE49-F238E27FC236}">
                    <a16:creationId xmlns:a16="http://schemas.microsoft.com/office/drawing/2014/main" id="{AE118638-E5C4-8A4F-8EDF-7746847935FD}"/>
                  </a:ext>
                </a:extLst>
              </p:cNvPr>
              <p:cNvSpPr txBox="1">
                <a:spLocks noRot="1" noChangeAspect="1" noMove="1" noResize="1" noEditPoints="1" noAdjustHandles="1" noChangeArrowheads="1" noChangeShapeType="1" noTextEdit="1"/>
              </p:cNvSpPr>
              <p:nvPr/>
            </p:nvSpPr>
            <p:spPr>
              <a:xfrm>
                <a:off x="9780435" y="5582693"/>
                <a:ext cx="1623059" cy="453842"/>
              </a:xfrm>
              <a:prstGeom prst="rect">
                <a:avLst/>
              </a:prstGeom>
              <a:blipFill>
                <a:blip r:embed="rId7"/>
                <a:stretch>
                  <a:fillRect/>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DB7D0AC0-A880-C445-B0F3-19297AB5AFEE}"/>
              </a:ext>
            </a:extLst>
          </p:cNvPr>
          <p:cNvGrpSpPr/>
          <p:nvPr/>
        </p:nvGrpSpPr>
        <p:grpSpPr>
          <a:xfrm>
            <a:off x="752368" y="3339055"/>
            <a:ext cx="6047344" cy="3158057"/>
            <a:chOff x="752368" y="3339055"/>
            <a:chExt cx="6047344" cy="3158057"/>
          </a:xfrm>
        </p:grpSpPr>
        <p:pic>
          <p:nvPicPr>
            <p:cNvPr id="13" name="图片 12">
              <a:extLst>
                <a:ext uri="{FF2B5EF4-FFF2-40B4-BE49-F238E27FC236}">
                  <a16:creationId xmlns:a16="http://schemas.microsoft.com/office/drawing/2014/main" id="{173592EB-2B63-5A41-8528-2B530072178F}"/>
                </a:ext>
              </a:extLst>
            </p:cNvPr>
            <p:cNvPicPr>
              <a:picLocks noChangeAspect="1"/>
            </p:cNvPicPr>
            <p:nvPr/>
          </p:nvPicPr>
          <p:blipFill>
            <a:blip r:embed="rId8"/>
            <a:stretch>
              <a:fillRect/>
            </a:stretch>
          </p:blipFill>
          <p:spPr>
            <a:xfrm>
              <a:off x="752368" y="3339055"/>
              <a:ext cx="6047344" cy="3158057"/>
            </a:xfrm>
            <a:prstGeom prst="rect">
              <a:avLst/>
            </a:prstGeom>
          </p:spPr>
        </p:pic>
        <p:cxnSp>
          <p:nvCxnSpPr>
            <p:cNvPr id="14" name="直线箭头连接符 13">
              <a:extLst>
                <a:ext uri="{FF2B5EF4-FFF2-40B4-BE49-F238E27FC236}">
                  <a16:creationId xmlns:a16="http://schemas.microsoft.com/office/drawing/2014/main" id="{5DDC1B2E-F4FA-C64A-9777-E632F55D519F}"/>
                </a:ext>
              </a:extLst>
            </p:cNvPr>
            <p:cNvCxnSpPr>
              <a:cxnSpLocks/>
            </p:cNvCxnSpPr>
            <p:nvPr/>
          </p:nvCxnSpPr>
          <p:spPr>
            <a:xfrm flipV="1">
              <a:off x="5141626" y="4422098"/>
              <a:ext cx="689548" cy="1274165"/>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A0283F20-A37B-D84A-ADCF-73FC01905650}"/>
                </a:ext>
              </a:extLst>
            </p:cNvPr>
            <p:cNvCxnSpPr>
              <a:cxnSpLocks/>
            </p:cNvCxnSpPr>
            <p:nvPr/>
          </p:nvCxnSpPr>
          <p:spPr>
            <a:xfrm>
              <a:off x="5141626" y="3777521"/>
              <a:ext cx="689548" cy="1274164"/>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D3C894F1-E7F1-874C-9281-D9DDF80B1ACD}"/>
                </a:ext>
              </a:extLst>
            </p:cNvPr>
            <p:cNvCxnSpPr>
              <a:cxnSpLocks/>
            </p:cNvCxnSpPr>
            <p:nvPr/>
          </p:nvCxnSpPr>
          <p:spPr>
            <a:xfrm>
              <a:off x="5141626" y="4317167"/>
              <a:ext cx="689548" cy="734518"/>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29125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1" animBg="1"/>
      <p:bldP spid="20" grpId="0"/>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39</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6441439" y="2751900"/>
                <a:ext cx="5528887" cy="4072782"/>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多变量回归任务</a:t>
                </a:r>
                <a:endParaRPr kumimoji="1" lang="en-US" altLang="zh-CN" sz="2400" dirty="0"/>
              </a:p>
              <a:p>
                <a:pPr marL="800100" lvl="1" indent="-342900">
                  <a:lnSpc>
                    <a:spcPct val="150000"/>
                  </a:lnSpc>
                  <a:buFont typeface="Wingdings" pitchFamily="2" charset="2"/>
                  <a:buChar char="p"/>
                </a:pPr>
                <a:r>
                  <a:rPr kumimoji="1" lang="zh-CN" altLang="en-US" sz="2200" dirty="0"/>
                  <a:t>给定数据集</a:t>
                </a:r>
                <a14:m>
                  <m:oMath xmlns:m="http://schemas.openxmlformats.org/officeDocument/2006/math">
                    <m:sSubSup>
                      <m:sSubSupPr>
                        <m:ctrlPr>
                          <a:rPr lang="en-US" altLang="zh-CN" sz="2200" i="1">
                            <a:latin typeface="Cambria Math" panose="02040503050406030204" pitchFamily="18" charset="0"/>
                            <a:cs typeface="Times New Roman" panose="02020603050405020304" pitchFamily="18" charset="0"/>
                          </a:rPr>
                        </m:ctrlPr>
                      </m:sSubSupPr>
                      <m:e>
                        <m:r>
                          <a:rPr lang="en-US" altLang="zh-CN" sz="2200" i="1">
                            <a:latin typeface="Cambria Math" panose="02040503050406030204" pitchFamily="18" charset="0"/>
                            <a:cs typeface="Times New Roman" panose="02020603050405020304" pitchFamily="18" charset="0"/>
                          </a:rPr>
                          <m:t>𝐷</m:t>
                        </m:r>
                        <m:r>
                          <a:rPr lang="en-US" altLang="zh-CN" sz="2200" i="1">
                            <a:latin typeface="Cambria Math" panose="02040503050406030204" pitchFamily="18" charset="0"/>
                            <a:cs typeface="Times New Roman" panose="02020603050405020304" pitchFamily="18" charset="0"/>
                          </a:rPr>
                          <m:t>=</m:t>
                        </m:r>
                        <m:d>
                          <m:dPr>
                            <m:begChr m:val="{"/>
                            <m:endChr m:val="}"/>
                            <m:ctrlPr>
                              <a:rPr lang="en-US" altLang="zh-CN" sz="2200" i="1">
                                <a:latin typeface="Cambria Math" panose="02040503050406030204" pitchFamily="18" charset="0"/>
                                <a:cs typeface="Times New Roman" panose="02020603050405020304" pitchFamily="18" charset="0"/>
                              </a:rPr>
                            </m:ctrlPr>
                          </m:dPr>
                          <m:e>
                            <m:d>
                              <m:dPr>
                                <m:ctrlPr>
                                  <a:rPr lang="en-US" altLang="zh-CN" sz="2200" i="1">
                                    <a:latin typeface="Cambria Math" panose="02040503050406030204" pitchFamily="18" charset="0"/>
                                    <a:cs typeface="Times New Roman" panose="02020603050405020304" pitchFamily="18" charset="0"/>
                                  </a:rPr>
                                </m:ctrlPr>
                              </m:dPr>
                              <m:e>
                                <m:sSub>
                                  <m:sSubPr>
                                    <m:ctrlPr>
                                      <a:rPr lang="en-US" altLang="zh-CN" sz="2200" i="1">
                                        <a:latin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cs typeface="Times New Roman" panose="02020603050405020304" pitchFamily="18" charset="0"/>
                                      </a:rPr>
                                      <m:t>𝑥</m:t>
                                    </m:r>
                                  </m:e>
                                  <m:sub>
                                    <m:r>
                                      <a:rPr lang="en-US" altLang="zh-CN" sz="2200" i="1">
                                        <a:latin typeface="Cambria Math" panose="02040503050406030204" pitchFamily="18" charset="0"/>
                                        <a:cs typeface="Times New Roman" panose="02020603050405020304" pitchFamily="18" charset="0"/>
                                      </a:rPr>
                                      <m:t>𝑖</m:t>
                                    </m:r>
                                  </m:sub>
                                </m:sSub>
                                <m:r>
                                  <a:rPr lang="en-US" altLang="zh-CN" sz="2200" i="1">
                                    <a:latin typeface="Cambria Math" panose="02040503050406030204" pitchFamily="18" charset="0"/>
                                    <a:cs typeface="Times New Roman" panose="02020603050405020304" pitchFamily="18" charset="0"/>
                                  </a:rPr>
                                  <m:t>,</m:t>
                                </m:r>
                                <m:sSub>
                                  <m:sSubPr>
                                    <m:ctrlPr>
                                      <a:rPr lang="en-US" altLang="zh-CN" sz="2200" i="1">
                                        <a:latin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cs typeface="Times New Roman" panose="02020603050405020304" pitchFamily="18" charset="0"/>
                                      </a:rPr>
                                      <m:t>𝑦</m:t>
                                    </m:r>
                                  </m:e>
                                  <m:sub>
                                    <m:r>
                                      <a:rPr lang="en-US" altLang="zh-CN" sz="2200" i="1">
                                        <a:latin typeface="Cambria Math" panose="02040503050406030204" pitchFamily="18" charset="0"/>
                                        <a:cs typeface="Times New Roman" panose="02020603050405020304" pitchFamily="18" charset="0"/>
                                      </a:rPr>
                                      <m:t>𝑖</m:t>
                                    </m:r>
                                  </m:sub>
                                </m:sSub>
                              </m:e>
                            </m:d>
                          </m:e>
                        </m:d>
                      </m:e>
                      <m:sub>
                        <m:r>
                          <a:rPr lang="en-US" altLang="zh-CN" sz="2200" i="1">
                            <a:latin typeface="Cambria Math" panose="02040503050406030204" pitchFamily="18" charset="0"/>
                            <a:cs typeface="Times New Roman" panose="02020603050405020304" pitchFamily="18" charset="0"/>
                          </a:rPr>
                          <m:t>𝑖</m:t>
                        </m:r>
                        <m:r>
                          <a:rPr lang="en-US" altLang="zh-CN" sz="2200" i="1">
                            <a:latin typeface="Cambria Math" panose="02040503050406030204" pitchFamily="18" charset="0"/>
                            <a:cs typeface="Times New Roman" panose="02020603050405020304" pitchFamily="18" charset="0"/>
                          </a:rPr>
                          <m:t>=1</m:t>
                        </m:r>
                      </m:sub>
                      <m:sup>
                        <m:r>
                          <a:rPr lang="en-US" altLang="zh-CN" sz="2200" i="1">
                            <a:latin typeface="Cambria Math" panose="02040503050406030204" pitchFamily="18" charset="0"/>
                            <a:cs typeface="Times New Roman" panose="02020603050405020304" pitchFamily="18" charset="0"/>
                          </a:rPr>
                          <m:t>𝑚</m:t>
                        </m:r>
                      </m:sup>
                    </m:sSubSup>
                  </m:oMath>
                </a14:m>
                <a:r>
                  <a:rPr lang="zh-CN" altLang="en-US" sz="22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en-US" altLang="zh-CN" sz="2200" i="1">
                            <a:latin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cs typeface="Times New Roman" panose="02020603050405020304" pitchFamily="18" charset="0"/>
                          </a:rPr>
                          <m:t>𝑥</m:t>
                        </m:r>
                      </m:e>
                      <m:sub>
                        <m:r>
                          <a:rPr lang="en-US" altLang="zh-CN" sz="2200" i="1">
                            <a:latin typeface="Cambria Math" panose="02040503050406030204" pitchFamily="18" charset="0"/>
                            <a:cs typeface="Times New Roman" panose="02020603050405020304" pitchFamily="18" charset="0"/>
                          </a:rPr>
                          <m:t>𝑖</m:t>
                        </m:r>
                      </m:sub>
                    </m:sSub>
                    <m:r>
                      <a:rPr lang="en-US" altLang="zh-CN" sz="2200" i="1">
                        <a:latin typeface="Cambria Math" panose="02040503050406030204" pitchFamily="18" charset="0"/>
                        <a:cs typeface="Times New Roman" panose="02020603050405020304" pitchFamily="18" charset="0"/>
                      </a:rPr>
                      <m:t>∈</m:t>
                    </m:r>
                    <m:sSup>
                      <m:sSupPr>
                        <m:ctrlPr>
                          <a:rPr lang="en-US" altLang="zh-CN" sz="22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𝑑</m:t>
                        </m:r>
                      </m:sup>
                    </m:sSup>
                  </m:oMath>
                </a14:m>
                <a:r>
                  <a:rPr kumimoji="1" lang="zh-CN" altLang="en-US" sz="2200" dirty="0"/>
                  <a:t>且</a:t>
                </a:r>
                <a14:m>
                  <m:oMath xmlns:m="http://schemas.openxmlformats.org/officeDocument/2006/math">
                    <m:sSub>
                      <m:sSubPr>
                        <m:ctrlPr>
                          <a:rPr lang="en-US" altLang="zh-CN" sz="2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200" i="1">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1" lang="en-US" altLang="zh-CN" sz="2200" i="1">
                            <a:latin typeface="Cambria Math" panose="02040503050406030204" pitchFamily="18" charset="0"/>
                            <a:ea typeface="Cambria Math" panose="02040503050406030204" pitchFamily="18" charset="0"/>
                          </a:rPr>
                        </m:ctrlPr>
                      </m:sSupPr>
                      <m:e>
                        <m:r>
                          <a:rPr kumimoji="1" lang="en-US" altLang="zh-CN" sz="2200" i="1">
                            <a:latin typeface="Cambria Math" panose="02040503050406030204" pitchFamily="18" charset="0"/>
                            <a:ea typeface="Cambria Math" panose="02040503050406030204" pitchFamily="18" charset="0"/>
                          </a:rPr>
                          <m:t>ℝ</m:t>
                        </m:r>
                      </m:e>
                      <m:sup>
                        <m:r>
                          <a:rPr kumimoji="1" lang="en-US" altLang="zh-CN" sz="2200" i="1">
                            <a:latin typeface="Cambria Math" panose="02040503050406030204" pitchFamily="18" charset="0"/>
                            <a:ea typeface="Cambria Math" panose="02040503050406030204" pitchFamily="18" charset="0"/>
                          </a:rPr>
                          <m:t>𝑘</m:t>
                        </m:r>
                      </m:sup>
                    </m:sSup>
                  </m:oMath>
                </a14:m>
                <a:endParaRPr lang="en-US" altLang="zh-CN" sz="2200" dirty="0"/>
              </a:p>
              <a:p>
                <a:pPr marL="800100" lvl="1" indent="-342900">
                  <a:lnSpc>
                    <a:spcPct val="150000"/>
                  </a:lnSpc>
                  <a:buFont typeface="Wingdings" pitchFamily="2" charset="2"/>
                  <a:buChar char="p"/>
                </a:pPr>
                <a:r>
                  <a:rPr lang="en-US" altLang="zh-CN" sz="2200" dirty="0"/>
                  <a:t>MLP</a:t>
                </a:r>
                <a:r>
                  <a:rPr lang="zh-CN" altLang="en-US" sz="2200" dirty="0"/>
                  <a:t>预测</a:t>
                </a:r>
                <a:endParaRPr lang="en-US" altLang="zh-CN" sz="2200" dirty="0"/>
              </a:p>
              <a:p>
                <a:pPr marL="800100" lvl="1" indent="-342900">
                  <a:lnSpc>
                    <a:spcPct val="150000"/>
                  </a:lnSpc>
                  <a:buFont typeface="Wingdings" pitchFamily="2" charset="2"/>
                  <a:buChar char="p"/>
                </a:pPr>
                <a:endParaRPr lang="en-US" altLang="zh-CN" sz="2200" dirty="0"/>
              </a:p>
              <a:p>
                <a:pPr marL="800100" lvl="1" indent="-342900">
                  <a:lnSpc>
                    <a:spcPct val="150000"/>
                  </a:lnSpc>
                  <a:buFont typeface="Wingdings" pitchFamily="2" charset="2"/>
                  <a:buChar char="p"/>
                </a:pPr>
                <a:r>
                  <a:rPr lang="zh-CN" altLang="en-US" sz="2200" dirty="0"/>
                  <a:t>多变量均方误差损失</a:t>
                </a:r>
              </a:p>
              <a:p>
                <a:pPr marL="800100" lvl="1" indent="-342900">
                  <a:lnSpc>
                    <a:spcPct val="150000"/>
                  </a:lnSpc>
                  <a:buFont typeface="Wingdings" pitchFamily="2" charset="2"/>
                  <a:buChar char="p"/>
                </a:pPr>
                <a:endParaRPr kumimoji="1" lang="en-US" altLang="zh-CN" sz="2000" dirty="0"/>
              </a:p>
              <a:p>
                <a:pPr>
                  <a:lnSpc>
                    <a:spcPct val="150000"/>
                  </a:lnSpc>
                </a:pPr>
                <a:endParaRPr kumimoji="1" lang="en-US" altLang="zh-CN" sz="20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6441439" y="2751900"/>
                <a:ext cx="5528887" cy="4072782"/>
              </a:xfrm>
              <a:prstGeom prst="rect">
                <a:avLst/>
              </a:prstGeom>
              <a:blipFill>
                <a:blip r:embed="rId4"/>
                <a:stretch>
                  <a:fillRect l="-1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70D8F0B-15B2-E449-89FE-F592F908302C}"/>
                  </a:ext>
                </a:extLst>
              </p:cNvPr>
              <p:cNvSpPr txBox="1"/>
              <p:nvPr/>
            </p:nvSpPr>
            <p:spPr>
              <a:xfrm>
                <a:off x="6088084" y="4822078"/>
                <a:ext cx="6103916" cy="596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b="0" i="1" smtClean="0">
                              <a:latin typeface="Cambria Math" panose="02040503050406030204" pitchFamily="18" charset="0"/>
                            </a:rPr>
                          </m:ctrlPr>
                        </m:sSubPr>
                        <m:e>
                          <m:sSub>
                            <m:sSubPr>
                              <m:ctrlPr>
                                <a:rPr kumimoji="1" lang="en-US" altLang="zh-CN" sz="2200" b="0" i="1" smtClean="0">
                                  <a:latin typeface="Cambria Math" panose="02040503050406030204" pitchFamily="18" charset="0"/>
                                </a:rPr>
                              </m:ctrlPr>
                            </m:sSubPr>
                            <m:e>
                              <m:acc>
                                <m:accPr>
                                  <m:chr m:val="̂"/>
                                  <m:ctrlPr>
                                    <a:rPr kumimoji="1" lang="en-US" altLang="zh-CN" sz="2200" i="1">
                                      <a:latin typeface="Cambria Math" panose="02040503050406030204" pitchFamily="18" charset="0"/>
                                    </a:rPr>
                                  </m:ctrlPr>
                                </m:accPr>
                                <m:e>
                                  <m:r>
                                    <a:rPr kumimoji="1" lang="en-US" altLang="zh-CN" sz="2200" i="1">
                                      <a:latin typeface="Cambria Math" panose="02040503050406030204" pitchFamily="18" charset="0"/>
                                    </a:rPr>
                                    <m:t>𝑦</m:t>
                                  </m:r>
                                </m:e>
                              </m:acc>
                            </m:e>
                            <m:sub>
                              <m:r>
                                <a:rPr kumimoji="1" lang="en-US" altLang="zh-CN" sz="2200" b="0" i="1" smtClean="0">
                                  <a:latin typeface="Cambria Math" panose="02040503050406030204" pitchFamily="18" charset="0"/>
                                </a:rPr>
                                <m:t>𝑖</m:t>
                              </m:r>
                            </m:sub>
                          </m:sSub>
                          <m:r>
                            <a:rPr kumimoji="1" lang="en-US" altLang="zh-CN" sz="2200" b="0" i="1" smtClean="0">
                              <a:latin typeface="Cambria Math" panose="02040503050406030204" pitchFamily="18" charset="0"/>
                            </a:rPr>
                            <m:t>=</m:t>
                          </m:r>
                          <m:r>
                            <a:rPr kumimoji="1" lang="en-US" altLang="zh-CN" sz="2200" b="0" i="1" smtClean="0">
                              <a:latin typeface="Cambria Math" panose="02040503050406030204" pitchFamily="18" charset="0"/>
                            </a:rPr>
                            <m:t>𝑓</m:t>
                          </m:r>
                        </m:e>
                        <m:sub>
                          <m:r>
                            <m:rPr>
                              <m:sty m:val="p"/>
                            </m:rPr>
                            <a:rPr kumimoji="1" lang="en-US" altLang="zh-CN" sz="2200" b="0" i="0" smtClean="0">
                              <a:latin typeface="Cambria Math" panose="02040503050406030204" pitchFamily="18" charset="0"/>
                            </a:rPr>
                            <m:t>MLP</m:t>
                          </m:r>
                        </m:sub>
                      </m:sSub>
                      <m:d>
                        <m:dPr>
                          <m:ctrlPr>
                            <a:rPr kumimoji="1" lang="en-US" altLang="zh-CN" sz="2200" b="0" i="1" smtClean="0">
                              <a:latin typeface="Cambria Math" panose="02040503050406030204" pitchFamily="18" charset="0"/>
                            </a:rPr>
                          </m:ctrlPr>
                        </m:dPr>
                        <m:e>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𝑥</m:t>
                              </m:r>
                            </m:e>
                            <m:sub>
                              <m:r>
                                <a:rPr kumimoji="1" lang="en-US" altLang="zh-CN" sz="2200" b="0" i="1" smtClean="0">
                                  <a:latin typeface="Cambria Math" panose="02040503050406030204" pitchFamily="18" charset="0"/>
                                </a:rPr>
                                <m:t>𝑖</m:t>
                              </m:r>
                            </m:sub>
                          </m:sSub>
                        </m:e>
                      </m:d>
                      <m:r>
                        <a:rPr kumimoji="1" lang="en-US" altLang="zh-CN" sz="2200" b="0" i="1" smtClean="0">
                          <a:latin typeface="Cambria Math" panose="02040503050406030204" pitchFamily="18" charset="0"/>
                        </a:rPr>
                        <m:t>=</m:t>
                      </m:r>
                      <m:d>
                        <m:dPr>
                          <m:begChr m:val="["/>
                          <m:endChr m:val="]"/>
                          <m:ctrlPr>
                            <a:rPr kumimoji="1" lang="en-US" altLang="zh-CN" sz="2200" b="0" i="1" smtClean="0">
                              <a:latin typeface="Cambria Math" panose="02040503050406030204" pitchFamily="18" charset="0"/>
                            </a:rPr>
                          </m:ctrlPr>
                        </m:dPr>
                        <m:e>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r>
                                <a:rPr kumimoji="1" lang="en-US" altLang="zh-CN" sz="2200" i="1">
                                  <a:latin typeface="Cambria Math" panose="02040503050406030204" pitchFamily="18" charset="0"/>
                                </a:rPr>
                                <m:t>1</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m:t>
                          </m:r>
                          <m:r>
                            <a:rPr kumimoji="1" lang="en-US" altLang="zh-CN" sz="2200" b="0" i="1" smtClean="0">
                              <a:latin typeface="Cambria Math" panose="02040503050406030204" pitchFamily="18" charset="0"/>
                            </a:rPr>
                            <m:t>;</m:t>
                          </m:r>
                          <m:sSubSup>
                            <m:sSubSupPr>
                              <m:ctrlPr>
                                <a:rPr kumimoji="1" lang="en-US" altLang="zh-CN" sz="2200" i="1">
                                  <a:latin typeface="Cambria Math" panose="02040503050406030204" pitchFamily="18" charset="0"/>
                                </a:rPr>
                              </m:ctrlPr>
                            </m:sSubSupPr>
                            <m:e>
                              <m:r>
                                <m:rPr>
                                  <m:brk m:alnAt="7"/>
                                </m:rPr>
                                <a:rPr kumimoji="1" lang="en-US" altLang="zh-CN" sz="2200" i="1">
                                  <a:latin typeface="Cambria Math" panose="02040503050406030204" pitchFamily="18" charset="0"/>
                                </a:rPr>
                                <m:t>𝑧</m:t>
                              </m:r>
                            </m:e>
                            <m:sub>
                              <m:r>
                                <a:rPr kumimoji="1" lang="en-US" altLang="zh-CN" sz="2200" i="1">
                                  <a:latin typeface="Cambria Math" panose="02040503050406030204" pitchFamily="18" charset="0"/>
                                </a:rPr>
                                <m:t>𝑘</m:t>
                              </m:r>
                            </m:sub>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bSup>
                        </m:e>
                      </m:d>
                    </m:oMath>
                  </m:oMathPara>
                </a14:m>
                <a:endParaRPr lang="zh-CN" altLang="en-US" sz="2200" dirty="0"/>
              </a:p>
            </p:txBody>
          </p:sp>
        </mc:Choice>
        <mc:Fallback xmlns="">
          <p:sp>
            <p:nvSpPr>
              <p:cNvPr id="20" name="文本框 19">
                <a:extLst>
                  <a:ext uri="{FF2B5EF4-FFF2-40B4-BE49-F238E27FC236}">
                    <a16:creationId xmlns:a16="http://schemas.microsoft.com/office/drawing/2014/main" id="{A70D8F0B-15B2-E449-89FE-F592F908302C}"/>
                  </a:ext>
                </a:extLst>
              </p:cNvPr>
              <p:cNvSpPr txBox="1">
                <a:spLocks noRot="1" noChangeAspect="1" noMove="1" noResize="1" noEditPoints="1" noAdjustHandles="1" noChangeArrowheads="1" noChangeShapeType="1" noTextEdit="1"/>
              </p:cNvSpPr>
              <p:nvPr/>
            </p:nvSpPr>
            <p:spPr>
              <a:xfrm>
                <a:off x="6088084" y="4822078"/>
                <a:ext cx="6103916" cy="59657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26A6158-783F-F74E-9A75-C5AE76ACB507}"/>
                  </a:ext>
                </a:extLst>
              </p:cNvPr>
              <p:cNvSpPr txBox="1"/>
              <p:nvPr/>
            </p:nvSpPr>
            <p:spPr>
              <a:xfrm>
                <a:off x="6441438" y="5867107"/>
                <a:ext cx="5528887" cy="7720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ea typeface="Cambria Math" panose="02040503050406030204" pitchFamily="18" charset="0"/>
                        </a:rPr>
                        <m:t>ℒ</m:t>
                      </m:r>
                      <m:d>
                        <m:dPr>
                          <m:ctrlPr>
                            <a:rPr kumimoji="1" lang="en-US" altLang="zh-CN" sz="2200" b="0" i="1" smtClean="0">
                              <a:solidFill>
                                <a:srgbClr val="C00000"/>
                              </a:solidFill>
                              <a:latin typeface="Cambria Math" panose="02040503050406030204" pitchFamily="18" charset="0"/>
                              <a:ea typeface="Cambria Math" panose="02040503050406030204" pitchFamily="18" charset="0"/>
                            </a:rPr>
                          </m:ctrlPr>
                        </m:dPr>
                        <m:e>
                          <m:r>
                            <a:rPr kumimoji="1" lang="en-US" altLang="zh-CN" sz="2200" b="0" i="1" smtClean="0">
                              <a:solidFill>
                                <a:srgbClr val="C00000"/>
                              </a:solidFill>
                              <a:latin typeface="Cambria Math" panose="02040503050406030204" pitchFamily="18" charset="0"/>
                              <a:ea typeface="Cambria Math" panose="02040503050406030204" pitchFamily="18" charset="0"/>
                            </a:rPr>
                            <m:t>𝜃</m:t>
                          </m:r>
                          <m:r>
                            <a:rPr kumimoji="1" lang="en-US" altLang="zh-CN" sz="2200" b="0" i="1" smtClean="0">
                              <a:solidFill>
                                <a:srgbClr val="C00000"/>
                              </a:solidFill>
                              <a:latin typeface="Cambria Math" panose="02040503050406030204" pitchFamily="18" charset="0"/>
                              <a:ea typeface="Cambria Math" panose="02040503050406030204" pitchFamily="18" charset="0"/>
                            </a:rPr>
                            <m:t>,</m:t>
                          </m:r>
                          <m:r>
                            <a:rPr lang="en-US" altLang="zh-CN" sz="2200" i="1">
                              <a:solidFill>
                                <a:srgbClr val="C00000"/>
                              </a:solidFill>
                              <a:latin typeface="Cambria Math" panose="02040503050406030204" pitchFamily="18" charset="0"/>
                              <a:cs typeface="Times New Roman" panose="02020603050405020304" pitchFamily="18" charset="0"/>
                            </a:rPr>
                            <m:t>𝐷</m:t>
                          </m:r>
                        </m:e>
                      </m:d>
                      <m:r>
                        <a:rPr kumimoji="1" lang="en-US" altLang="zh-CN" sz="2200" b="0" i="1" smtClean="0">
                          <a:latin typeface="Cambria Math" panose="02040503050406030204" pitchFamily="18" charset="0"/>
                          <a:ea typeface="Cambria Math" panose="02040503050406030204" pitchFamily="18" charset="0"/>
                        </a:rPr>
                        <m:t>=</m:t>
                      </m:r>
                      <m:f>
                        <m:fPr>
                          <m:ctrlPr>
                            <a:rPr kumimoji="1" lang="en-US" altLang="zh-CN" sz="2200" b="0" i="1" smtClean="0">
                              <a:latin typeface="Cambria Math" panose="02040503050406030204" pitchFamily="18" charset="0"/>
                            </a:rPr>
                          </m:ctrlPr>
                        </m:fPr>
                        <m:num>
                          <m:r>
                            <a:rPr kumimoji="1" lang="en-US" altLang="zh-CN" sz="2200" b="0" i="1" smtClean="0">
                              <a:latin typeface="Cambria Math" panose="02040503050406030204" pitchFamily="18" charset="0"/>
                            </a:rPr>
                            <m:t>1</m:t>
                          </m:r>
                        </m:num>
                        <m:den>
                          <m:r>
                            <a:rPr kumimoji="1" lang="en-US" altLang="zh-CN" sz="2200" b="0" i="1" smtClean="0">
                              <a:latin typeface="Cambria Math" panose="02040503050406030204" pitchFamily="18" charset="0"/>
                            </a:rPr>
                            <m:t>𝑚</m:t>
                          </m:r>
                        </m:den>
                      </m:f>
                      <m:nary>
                        <m:naryPr>
                          <m:chr m:val="∑"/>
                          <m:limLoc m:val="subSup"/>
                          <m:ctrlPr>
                            <a:rPr kumimoji="1" lang="en-US" altLang="zh-CN" sz="2200" b="0" i="1" smtClean="0">
                              <a:latin typeface="Cambria Math" panose="02040503050406030204" pitchFamily="18" charset="0"/>
                            </a:rPr>
                          </m:ctrlPr>
                        </m:naryPr>
                        <m:sub>
                          <m:r>
                            <m:rPr>
                              <m:brk m:alnAt="25"/>
                            </m:rPr>
                            <a:rPr kumimoji="1" lang="en-US" altLang="zh-CN" sz="2200" b="0" i="1" smtClean="0">
                              <a:latin typeface="Cambria Math" panose="02040503050406030204" pitchFamily="18" charset="0"/>
                            </a:rPr>
                            <m:t>𝑖</m:t>
                          </m:r>
                          <m:r>
                            <a:rPr kumimoji="1" lang="en-US" altLang="zh-CN" sz="2200" b="0" i="1" smtClean="0">
                              <a:latin typeface="Cambria Math" panose="02040503050406030204" pitchFamily="18" charset="0"/>
                            </a:rPr>
                            <m:t>=1</m:t>
                          </m:r>
                        </m:sub>
                        <m:sup>
                          <m:r>
                            <a:rPr kumimoji="1" lang="en-US" altLang="zh-CN" sz="2200" b="0" i="1" smtClean="0">
                              <a:latin typeface="Cambria Math" panose="02040503050406030204" pitchFamily="18" charset="0"/>
                            </a:rPr>
                            <m:t>𝑚</m:t>
                          </m:r>
                        </m:sup>
                        <m:e>
                          <m:sSup>
                            <m:sSupPr>
                              <m:ctrlPr>
                                <a:rPr kumimoji="1" lang="en-US" altLang="zh-CN" sz="2200" b="0" i="1" smtClean="0">
                                  <a:latin typeface="Cambria Math" panose="02040503050406030204" pitchFamily="18" charset="0"/>
                                </a:rPr>
                              </m:ctrlPr>
                            </m:sSupPr>
                            <m:e>
                              <m:d>
                                <m:dPr>
                                  <m:begChr m:val="‖"/>
                                  <m:endChr m:val="‖"/>
                                  <m:ctrlPr>
                                    <a:rPr kumimoji="1" lang="en-US" altLang="zh-CN" sz="2200" b="0" i="1" smtClean="0">
                                      <a:latin typeface="Cambria Math" panose="02040503050406030204" pitchFamily="18" charset="0"/>
                                    </a:rPr>
                                  </m:ctrlPr>
                                </m:dPr>
                                <m:e>
                                  <m:sSub>
                                    <m:sSubPr>
                                      <m:ctrlPr>
                                        <a:rPr kumimoji="1" lang="en-US" altLang="zh-CN" sz="2200" i="1">
                                          <a:latin typeface="Cambria Math" panose="02040503050406030204" pitchFamily="18" charset="0"/>
                                        </a:rPr>
                                      </m:ctrlPr>
                                    </m:sSubPr>
                                    <m:e>
                                      <m:acc>
                                        <m:accPr>
                                          <m:chr m:val="̂"/>
                                          <m:ctrlPr>
                                            <a:rPr kumimoji="1" lang="en-US" altLang="zh-CN" sz="2200" i="1">
                                              <a:latin typeface="Cambria Math" panose="02040503050406030204" pitchFamily="18" charset="0"/>
                                            </a:rPr>
                                          </m:ctrlPr>
                                        </m:accPr>
                                        <m:e>
                                          <m:r>
                                            <a:rPr kumimoji="1" lang="en-US" altLang="zh-CN" sz="2200" i="1">
                                              <a:latin typeface="Cambria Math" panose="02040503050406030204" pitchFamily="18" charset="0"/>
                                            </a:rPr>
                                            <m:t>𝑦</m:t>
                                          </m:r>
                                        </m:e>
                                      </m:acc>
                                    </m:e>
                                    <m:sub>
                                      <m:r>
                                        <a:rPr kumimoji="1" lang="en-US" altLang="zh-CN" sz="2200" i="1">
                                          <a:latin typeface="Cambria Math" panose="02040503050406030204" pitchFamily="18" charset="0"/>
                                        </a:rPr>
                                        <m:t>𝑖</m:t>
                                      </m:r>
                                    </m:sub>
                                  </m:sSub>
                                  <m:r>
                                    <a:rPr kumimoji="1" lang="en-US" altLang="zh-CN" sz="2200" b="0" i="1" smtClean="0">
                                      <a:latin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200" i="1">
                                          <a:latin typeface="Cambria Math" panose="02040503050406030204" pitchFamily="18" charset="0"/>
                                          <a:ea typeface="Cambria Math" panose="02040503050406030204" pitchFamily="18" charset="0"/>
                                          <a:cs typeface="Times New Roman" panose="02020603050405020304" pitchFamily="18" charset="0"/>
                                        </a:rPr>
                                        <m:t>𝑖</m:t>
                                      </m:r>
                                    </m:sub>
                                  </m:sSub>
                                </m:e>
                              </m:d>
                            </m:e>
                            <m:sup>
                              <m:r>
                                <a:rPr kumimoji="1" lang="en-US" altLang="zh-CN" sz="2200" b="0" i="1" smtClean="0">
                                  <a:latin typeface="Cambria Math" panose="02040503050406030204" pitchFamily="18" charset="0"/>
                                </a:rPr>
                                <m:t>2</m:t>
                              </m:r>
                            </m:sup>
                          </m:sSup>
                        </m:e>
                      </m:nary>
                    </m:oMath>
                  </m:oMathPara>
                </a14:m>
                <a:endParaRPr lang="zh-CN" altLang="en-US" sz="2200" dirty="0"/>
              </a:p>
            </p:txBody>
          </p:sp>
        </mc:Choice>
        <mc:Fallback xmlns="">
          <p:sp>
            <p:nvSpPr>
              <p:cNvPr id="14" name="文本框 13">
                <a:extLst>
                  <a:ext uri="{FF2B5EF4-FFF2-40B4-BE49-F238E27FC236}">
                    <a16:creationId xmlns:a16="http://schemas.microsoft.com/office/drawing/2014/main" id="{C26A6158-783F-F74E-9A75-C5AE76ACB507}"/>
                  </a:ext>
                </a:extLst>
              </p:cNvPr>
              <p:cNvSpPr txBox="1">
                <a:spLocks noRot="1" noChangeAspect="1" noMove="1" noResize="1" noEditPoints="1" noAdjustHandles="1" noChangeArrowheads="1" noChangeShapeType="1" noTextEdit="1"/>
              </p:cNvSpPr>
              <p:nvPr/>
            </p:nvSpPr>
            <p:spPr>
              <a:xfrm>
                <a:off x="6441438" y="5867107"/>
                <a:ext cx="5528887" cy="772071"/>
              </a:xfrm>
              <a:prstGeom prst="rect">
                <a:avLst/>
              </a:prstGeom>
              <a:blipFill>
                <a:blip r:embed="rId6"/>
                <a:stretch>
                  <a:fillRect t="-150000" b="-225806"/>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4DCBFD27-14CC-9B47-82C6-4202FFD9C502}"/>
              </a:ext>
            </a:extLst>
          </p:cNvPr>
          <p:cNvGrpSpPr/>
          <p:nvPr/>
        </p:nvGrpSpPr>
        <p:grpSpPr>
          <a:xfrm>
            <a:off x="752368" y="3339055"/>
            <a:ext cx="6047344" cy="3158057"/>
            <a:chOff x="752368" y="3339055"/>
            <a:chExt cx="6047344" cy="3158057"/>
          </a:xfrm>
        </p:grpSpPr>
        <p:pic>
          <p:nvPicPr>
            <p:cNvPr id="12" name="图片 11">
              <a:extLst>
                <a:ext uri="{FF2B5EF4-FFF2-40B4-BE49-F238E27FC236}">
                  <a16:creationId xmlns:a16="http://schemas.microsoft.com/office/drawing/2014/main" id="{60E29213-7A90-104F-A306-145DBFA5C241}"/>
                </a:ext>
              </a:extLst>
            </p:cNvPr>
            <p:cNvPicPr>
              <a:picLocks noChangeAspect="1"/>
            </p:cNvPicPr>
            <p:nvPr/>
          </p:nvPicPr>
          <p:blipFill>
            <a:blip r:embed="rId7"/>
            <a:stretch>
              <a:fillRect/>
            </a:stretch>
          </p:blipFill>
          <p:spPr>
            <a:xfrm>
              <a:off x="752368" y="3339055"/>
              <a:ext cx="6047344" cy="3158057"/>
            </a:xfrm>
            <a:prstGeom prst="rect">
              <a:avLst/>
            </a:prstGeom>
          </p:spPr>
        </p:pic>
        <p:cxnSp>
          <p:nvCxnSpPr>
            <p:cNvPr id="13" name="直线箭头连接符 12">
              <a:extLst>
                <a:ext uri="{FF2B5EF4-FFF2-40B4-BE49-F238E27FC236}">
                  <a16:creationId xmlns:a16="http://schemas.microsoft.com/office/drawing/2014/main" id="{31D736DB-3D69-3B4D-A351-7BB98DDD074A}"/>
                </a:ext>
              </a:extLst>
            </p:cNvPr>
            <p:cNvCxnSpPr>
              <a:cxnSpLocks/>
            </p:cNvCxnSpPr>
            <p:nvPr/>
          </p:nvCxnSpPr>
          <p:spPr>
            <a:xfrm flipV="1">
              <a:off x="5141626" y="4422098"/>
              <a:ext cx="689548" cy="1274165"/>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4A18118F-121B-7742-9CED-F681948486A5}"/>
                </a:ext>
              </a:extLst>
            </p:cNvPr>
            <p:cNvCxnSpPr>
              <a:cxnSpLocks/>
            </p:cNvCxnSpPr>
            <p:nvPr/>
          </p:nvCxnSpPr>
          <p:spPr>
            <a:xfrm>
              <a:off x="5141626" y="3777521"/>
              <a:ext cx="689548" cy="1274164"/>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0B61F214-1602-1146-B8E6-776063D320B4}"/>
                </a:ext>
              </a:extLst>
            </p:cNvPr>
            <p:cNvCxnSpPr>
              <a:cxnSpLocks/>
            </p:cNvCxnSpPr>
            <p:nvPr/>
          </p:nvCxnSpPr>
          <p:spPr>
            <a:xfrm>
              <a:off x="5141626" y="4317167"/>
              <a:ext cx="689548" cy="734518"/>
            </a:xfrm>
            <a:prstGeom prst="straightConnector1">
              <a:avLst/>
            </a:prstGeom>
            <a:ln w="19050">
              <a:solidFill>
                <a:schemeClr val="tx1"/>
              </a:solidFill>
              <a:headEnd w="med"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35832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40</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4255267"/>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a:t>
                </a:r>
                <a:endParaRPr lang="en-US" altLang="zh-CN" sz="2400" dirty="0"/>
              </a:p>
              <a:p>
                <a:pPr marL="800100" lvl="1" indent="-342900">
                  <a:lnSpc>
                    <a:spcPct val="150000"/>
                  </a:lnSpc>
                  <a:buFont typeface="Wingdings" pitchFamily="2" charset="2"/>
                  <a:buChar char="p"/>
                </a:pPr>
                <a:r>
                  <a:rPr kumimoji="1" lang="zh-CN" altLang="en-US" sz="2400" dirty="0"/>
                  <a:t>定义</a:t>
                </a:r>
                <a:r>
                  <a:rPr kumimoji="1" lang="en-US" altLang="zh-CN" sz="2400" dirty="0"/>
                  <a:t>1</a:t>
                </a:r>
                <a:r>
                  <a:rPr kumimoji="1" lang="zh-CN" altLang="en-US" sz="2400" dirty="0"/>
                  <a:t>：给定数据集</a:t>
                </a:r>
                <a14:m>
                  <m:oMath xmlns:m="http://schemas.openxmlformats.org/officeDocument/2006/math">
                    <m:sSubSup>
                      <m:sSubSupPr>
                        <m:ctrlPr>
                          <a:rPr lang="en-US" altLang="zh-CN" sz="2400" i="1">
                            <a:latin typeface="Cambria Math" panose="02040503050406030204" pitchFamily="18" charset="0"/>
                            <a:cs typeface="Times New Roman" panose="02020603050405020304" pitchFamily="18" charset="0"/>
                          </a:rPr>
                        </m:ctrlPr>
                      </m:sSubSupPr>
                      <m:e>
                        <m:r>
                          <a:rPr lang="en-US" altLang="zh-CN" sz="2400" i="1">
                            <a:latin typeface="Cambria Math" panose="02040503050406030204" pitchFamily="18" charset="0"/>
                            <a:cs typeface="Times New Roman" panose="02020603050405020304" pitchFamily="18" charset="0"/>
                          </a:rPr>
                          <m:t>𝐷</m:t>
                        </m:r>
                        <m:r>
                          <a:rPr lang="en-US" altLang="zh-CN" sz="2400" i="1">
                            <a:latin typeface="Cambria Math" panose="02040503050406030204" pitchFamily="18" charset="0"/>
                            <a:cs typeface="Times New Roman" panose="02020603050405020304" pitchFamily="18" charset="0"/>
                          </a:rPr>
                          <m:t>=</m:t>
                        </m:r>
                        <m:d>
                          <m:dPr>
                            <m:begChr m:val="{"/>
                            <m:endChr m:val="}"/>
                            <m:ctrlPr>
                              <a:rPr lang="en-US" altLang="zh-CN" sz="2400" i="1">
                                <a:latin typeface="Cambria Math" panose="02040503050406030204" pitchFamily="18" charset="0"/>
                                <a:cs typeface="Times New Roman" panose="02020603050405020304" pitchFamily="18" charset="0"/>
                              </a:rPr>
                            </m:ctrlPr>
                          </m:dPr>
                          <m:e>
                            <m:d>
                              <m:dPr>
                                <m:ctrlPr>
                                  <a:rPr lang="en-US" altLang="zh-CN" sz="2400" i="1">
                                    <a:latin typeface="Cambria Math" panose="02040503050406030204" pitchFamily="18" charset="0"/>
                                    <a:cs typeface="Times New Roman" panose="02020603050405020304" pitchFamily="18" charset="0"/>
                                  </a:rPr>
                                </m:ctrlPr>
                              </m:dPr>
                              <m:e>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𝑦</m:t>
                                    </m:r>
                                  </m:e>
                                  <m:sub>
                                    <m:r>
                                      <a:rPr lang="en-US" altLang="zh-CN" sz="2400" i="1">
                                        <a:latin typeface="Cambria Math" panose="02040503050406030204" pitchFamily="18" charset="0"/>
                                        <a:cs typeface="Times New Roman" panose="02020603050405020304" pitchFamily="18" charset="0"/>
                                      </a:rPr>
                                      <m:t>𝑖</m:t>
                                    </m:r>
                                  </m:sub>
                                </m:sSub>
                              </m:e>
                            </m:d>
                          </m:e>
                        </m:d>
                      </m:e>
                      <m:sub>
                        <m:r>
                          <a:rPr lang="en-US" altLang="zh-CN" sz="2400" i="1">
                            <a:latin typeface="Cambria Math" panose="02040503050406030204" pitchFamily="18" charset="0"/>
                            <a:cs typeface="Times New Roman" panose="02020603050405020304" pitchFamily="18" charset="0"/>
                          </a:rPr>
                          <m:t>𝑖</m:t>
                        </m:r>
                        <m:r>
                          <a:rPr lang="en-US" altLang="zh-CN" sz="2400" i="1">
                            <a:latin typeface="Cambria Math" panose="02040503050406030204" pitchFamily="18" charset="0"/>
                            <a:cs typeface="Times New Roman" panose="02020603050405020304" pitchFamily="18" charset="0"/>
                          </a:rPr>
                          <m:t>=1</m:t>
                        </m:r>
                      </m:sub>
                      <m:sup>
                        <m:r>
                          <a:rPr lang="en-US" altLang="zh-CN" sz="2400" i="1">
                            <a:latin typeface="Cambria Math" panose="02040503050406030204" pitchFamily="18" charset="0"/>
                            <a:cs typeface="Times New Roman" panose="02020603050405020304" pitchFamily="18" charset="0"/>
                          </a:rPr>
                          <m:t>𝑚</m:t>
                        </m:r>
                      </m:sup>
                    </m:sSubSup>
                  </m:oMath>
                </a14:m>
                <a:r>
                  <a:rPr lang="zh-CN" altLang="en-US" sz="24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p>
                      <m:sSup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400" i="1">
                            <a:latin typeface="Cambria Math" panose="02040503050406030204" pitchFamily="18" charset="0"/>
                            <a:ea typeface="Cambria Math" panose="02040503050406030204" pitchFamily="18" charset="0"/>
                            <a:cs typeface="Times New Roman" panose="02020603050405020304" pitchFamily="18" charset="0"/>
                          </a:rPr>
                          <m:t>𝑑</m:t>
                        </m:r>
                      </m:sup>
                    </m:sSup>
                  </m:oMath>
                </a14:m>
                <a:r>
                  <a:rPr kumimoji="1" lang="zh-CN" altLang="en-US" sz="2400" dirty="0"/>
                  <a:t>且</a:t>
                </a:r>
                <a14:m>
                  <m:oMath xmlns:m="http://schemas.openxmlformats.org/officeDocument/2006/math">
                    <m:sSub>
                      <m:sSubPr>
                        <m:ctrlPr>
                          <a:rPr lang="en-US" altLang="zh-CN" sz="240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240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1,2,…, </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𝑘</m:t>
                        </m:r>
                      </m:e>
                    </m:d>
                  </m:oMath>
                </a14:m>
                <a:endParaRPr kumimoji="1" lang="en-US" altLang="zh-CN" sz="2400" dirty="0"/>
              </a:p>
              <a:p>
                <a:pPr marL="1257300" lvl="2" indent="-342900">
                  <a:lnSpc>
                    <a:spcPct val="150000"/>
                  </a:lnSpc>
                  <a:buFont typeface="Arial" panose="020B0604020202020204" pitchFamily="34" charset="0"/>
                  <a:buChar char="•"/>
                </a:pPr>
                <a:r>
                  <a:rPr kumimoji="1" lang="zh-CN" altLang="en-US" sz="2400" dirty="0"/>
                  <a:t>从</a:t>
                </a:r>
                <a14:m>
                  <m:oMath xmlns:m="http://schemas.openxmlformats.org/officeDocument/2006/math">
                    <m:sSup>
                      <m:sSupPr>
                        <m:ctrlPr>
                          <a:rPr lang="en-US" altLang="zh-CN" sz="24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400" i="1">
                            <a:latin typeface="Cambria Math" panose="02040503050406030204" pitchFamily="18" charset="0"/>
                            <a:ea typeface="Cambria Math" panose="02040503050406030204" pitchFamily="18" charset="0"/>
                            <a:cs typeface="Times New Roman" panose="02020603050405020304" pitchFamily="18" charset="0"/>
                          </a:rPr>
                          <m:t>𝑑</m:t>
                        </m:r>
                      </m:sup>
                    </m:sSup>
                  </m:oMath>
                </a14:m>
                <a:r>
                  <a:rPr kumimoji="1" lang="zh-CN" altLang="en-US" sz="2400" dirty="0"/>
                  <a:t>到离散集合</a:t>
                </a:r>
                <a14:m>
                  <m:oMath xmlns:m="http://schemas.openxmlformats.org/officeDocument/2006/math">
                    <m:d>
                      <m:dPr>
                        <m:begChr m:val="{"/>
                        <m:endChr m:val="}"/>
                        <m:ctrlPr>
                          <a:rPr lang="en-US" altLang="zh-CN" sz="24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1,2,…, </m:t>
                        </m:r>
                        <m:r>
                          <a:rPr lang="en-US" altLang="zh-CN"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𝑘</m:t>
                        </m:r>
                      </m:e>
                    </m:d>
                  </m:oMath>
                </a14:m>
                <a:r>
                  <a:rPr kumimoji="1" lang="zh-CN" altLang="en-US" sz="2400" dirty="0"/>
                  <a:t>的映射难以学习</a:t>
                </a:r>
                <a:endParaRPr kumimoji="1" lang="en-US" altLang="zh-CN" sz="2400" dirty="0"/>
              </a:p>
              <a:p>
                <a:pPr marL="800100" lvl="1" indent="-342900">
                  <a:lnSpc>
                    <a:spcPct val="150000"/>
                  </a:lnSpc>
                  <a:buFont typeface="Wingdings" pitchFamily="2" charset="2"/>
                  <a:buChar char="p"/>
                </a:pPr>
                <a:r>
                  <a:rPr kumimoji="1" lang="zh-CN" altLang="en-US" sz="2400" dirty="0"/>
                  <a:t>多分类逻辑回归</a:t>
                </a:r>
                <a:endParaRPr kumimoji="1" lang="en-US" altLang="zh-CN" sz="2400" dirty="0"/>
              </a:p>
              <a:p>
                <a:pPr marL="1257300" lvl="2" indent="-342900">
                  <a:lnSpc>
                    <a:spcPct val="150000"/>
                  </a:lnSpc>
                  <a:buFont typeface="Arial" panose="020B0604020202020204" pitchFamily="34" charset="0"/>
                  <a:buChar char="•"/>
                </a:pPr>
                <a:r>
                  <a:rPr kumimoji="1" lang="zh-CN" altLang="en-US" sz="2400" dirty="0"/>
                  <a:t>每个类别</a:t>
                </a:r>
                <a14:m>
                  <m:oMath xmlns:m="http://schemas.openxmlformats.org/officeDocument/2006/math">
                    <m:r>
                      <a:rPr kumimoji="1" lang="en-US" altLang="zh-CN" sz="2400" b="0" i="1" smtClean="0">
                        <a:latin typeface="Cambria Math" panose="02040503050406030204" pitchFamily="18" charset="0"/>
                      </a:rPr>
                      <m:t>𝑐</m:t>
                    </m:r>
                    <m:r>
                      <a:rPr kumimoji="1" lang="en-US" altLang="zh-CN" sz="2400" b="0" i="1" smtClean="0">
                        <a:latin typeface="Cambria Math" panose="02040503050406030204" pitchFamily="18" charset="0"/>
                      </a:rPr>
                      <m:t>∈</m:t>
                    </m:r>
                    <m:d>
                      <m:dPr>
                        <m:begChr m:val="["/>
                        <m:endChr m:val="]"/>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𝑘</m:t>
                        </m:r>
                      </m:e>
                    </m:d>
                  </m:oMath>
                </a14:m>
                <a:r>
                  <a:rPr kumimoji="1" lang="zh-CN" altLang="en-US" sz="2400" dirty="0"/>
                  <a:t>计算得分（</a:t>
                </a:r>
                <a:r>
                  <a:rPr kumimoji="1" lang="en-US" altLang="zh-CN" sz="2400" dirty="0"/>
                  <a:t>logits</a:t>
                </a:r>
                <a:r>
                  <a:rPr kumimoji="1" lang="zh-CN" altLang="en-US" sz="2400" dirty="0"/>
                  <a:t>）：</a:t>
                </a:r>
                <a:endParaRPr kumimoji="1" lang="en-US" altLang="zh-CN" sz="2400" dirty="0"/>
              </a:p>
              <a:p>
                <a:pPr marL="1257300" lvl="2" indent="-342900">
                  <a:spcBef>
                    <a:spcPts val="600"/>
                  </a:spcBef>
                  <a:spcAft>
                    <a:spcPts val="600"/>
                  </a:spcAft>
                  <a:buFont typeface="Arial" panose="020B0604020202020204" pitchFamily="34" charset="0"/>
                  <a:buChar char="•"/>
                </a:pPr>
                <a:r>
                  <a:rPr kumimoji="1" lang="zh-CN" altLang="en-US" sz="2400" dirty="0"/>
                  <a:t>给定</a:t>
                </a:r>
                <a14:m>
                  <m:oMath xmlns:m="http://schemas.openxmlformats.org/officeDocument/2006/math">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oMath>
                </a14:m>
                <a:r>
                  <a:rPr kumimoji="1" lang="zh-CN" altLang="en-US" sz="2400" dirty="0"/>
                  <a:t>，根据</a:t>
                </a:r>
                <a:r>
                  <a:rPr kumimoji="1" lang="en-US" altLang="zh-CN" sz="2400" dirty="0" err="1"/>
                  <a:t>Softmax</a:t>
                </a:r>
                <a:r>
                  <a:rPr kumimoji="1" lang="zh-CN" altLang="en-US" sz="2400" dirty="0"/>
                  <a:t>函数假设</a:t>
                </a:r>
                <a:endParaRPr kumimoji="1" lang="en-US" altLang="zh-CN" sz="2400" dirty="0"/>
              </a:p>
              <a:p>
                <a:pPr lvl="1">
                  <a:spcBef>
                    <a:spcPts val="600"/>
                  </a:spcBef>
                  <a:spcAft>
                    <a:spcPts val="600"/>
                  </a:spcAft>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𝑝</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𝑦</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𝑐</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e>
                      </m:d>
                      <m:r>
                        <a:rPr kumimoji="1" lang="en-US" altLang="zh-CN" sz="2400" i="1">
                          <a:latin typeface="Cambria Math" panose="02040503050406030204" pitchFamily="18" charset="0"/>
                        </a:rPr>
                        <m:t>=</m:t>
                      </m:r>
                      <m:f>
                        <m:fPr>
                          <m:type m:val="lin"/>
                          <m:ctrlPr>
                            <a:rPr kumimoji="1" lang="en-US" altLang="zh-CN" sz="2400" i="1">
                              <a:latin typeface="Cambria Math" panose="02040503050406030204" pitchFamily="18" charset="0"/>
                            </a:rPr>
                          </m:ctrlPr>
                        </m:fPr>
                        <m:num>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r>
                                <a:rPr kumimoji="1" lang="en-US" altLang="zh-CN" sz="2400" i="1">
                                  <a:latin typeface="Cambria Math" panose="02040503050406030204" pitchFamily="18" charset="0"/>
                                </a:rPr>
                                <m:t>(</m:t>
                              </m:r>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𝑤</m:t>
                                      </m:r>
                                    </m:e>
                                    <m:sub>
                                      <m:r>
                                        <a:rPr kumimoji="1" lang="en-US" altLang="zh-CN" sz="2400" i="1">
                                          <a:latin typeface="Cambria Math" panose="02040503050406030204" pitchFamily="18" charset="0"/>
                                        </a:rPr>
                                        <m:t>𝑐</m:t>
                                      </m:r>
                                    </m:sub>
                                    <m:sup>
                                      <m:r>
                                        <a:rPr kumimoji="1" lang="en-US" altLang="zh-CN" sz="2400" i="1">
                                          <a:latin typeface="Cambria Math" panose="02040503050406030204" pitchFamily="18" charset="0"/>
                                        </a:rPr>
                                        <m:t>⊤</m:t>
                                      </m:r>
                                    </m:sup>
                                  </m:sSubSup>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𝑏</m:t>
                                      </m:r>
                                    </m:e>
                                    <m:sub>
                                      <m:r>
                                        <a:rPr kumimoji="1" lang="en-US" altLang="zh-CN" sz="2400" i="1">
                                          <a:latin typeface="Cambria Math" panose="02040503050406030204" pitchFamily="18" charset="0"/>
                                        </a:rPr>
                                        <m:t>𝑐</m:t>
                                      </m:r>
                                    </m:sub>
                                  </m:sSub>
                                </m:e>
                              </m:d>
                              <m:r>
                                <a:rPr kumimoji="1" lang="en-US" altLang="zh-CN" sz="2400" i="1">
                                  <a:latin typeface="Cambria Math" panose="02040503050406030204" pitchFamily="18" charset="0"/>
                                </a:rPr>
                                <m:t>)</m:t>
                              </m:r>
                            </m:e>
                          </m:func>
                        </m:num>
                        <m:den>
                          <m:nary>
                            <m:naryPr>
                              <m:chr m:val="∑"/>
                              <m:limLoc m:val="subSup"/>
                              <m:ctrlPr>
                                <a:rPr kumimoji="1" lang="en-US" altLang="zh-CN" sz="2400" i="1">
                                  <a:latin typeface="Cambria Math" panose="02040503050406030204" pitchFamily="18" charset="0"/>
                                </a:rPr>
                              </m:ctrlPr>
                            </m:naryPr>
                            <m:sub>
                              <m:sSup>
                                <m:sSupPr>
                                  <m:ctrlPr>
                                    <a:rPr kumimoji="1" lang="en-US" altLang="zh-CN" sz="2400" i="1">
                                      <a:latin typeface="Cambria Math" panose="02040503050406030204" pitchFamily="18" charset="0"/>
                                    </a:rPr>
                                  </m:ctrlPr>
                                </m:sSupPr>
                                <m:e>
                                  <m:r>
                                    <m:rPr>
                                      <m:brk m:alnAt="25"/>
                                    </m:rPr>
                                    <a:rPr kumimoji="1" lang="en-US" altLang="zh-CN" sz="2400" i="1">
                                      <a:latin typeface="Cambria Math" panose="02040503050406030204" pitchFamily="18" charset="0"/>
                                    </a:rPr>
                                    <m:t>𝑐</m:t>
                                  </m:r>
                                </m:e>
                                <m:sup>
                                  <m:r>
                                    <m:rPr>
                                      <m:brk m:alnAt="25"/>
                                    </m:rPr>
                                    <a:rPr kumimoji="1" lang="en-US" altLang="zh-CN" sz="2400" i="1">
                                      <a:latin typeface="Cambria Math" panose="02040503050406030204" pitchFamily="18" charset="0"/>
                                    </a:rPr>
                                    <m:t>′</m:t>
                                  </m:r>
                                </m:sup>
                              </m:sSup>
                              <m:r>
                                <m:rPr>
                                  <m:brk m:alnAt="25"/>
                                </m:rPr>
                                <a:rPr kumimoji="1" lang="en-US" altLang="zh-CN" sz="2400" i="1">
                                  <a:latin typeface="Cambria Math" panose="02040503050406030204" pitchFamily="18" charset="0"/>
                                </a:rPr>
                                <m:t>=</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a:rPr kumimoji="1" lang="en-US" altLang="zh-CN" sz="2400" i="1">
                                                  <a:latin typeface="Cambria Math" panose="02040503050406030204" pitchFamily="18" charset="0"/>
                                                </a:rPr>
                                                <m:t>𝑤</m:t>
                                              </m:r>
                                            </m:e>
                                            <m:sub>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𝑐</m:t>
                                                  </m:r>
                                                </m:e>
                                                <m:sup>
                                                  <m:r>
                                                    <a:rPr kumimoji="1" lang="en-US" altLang="zh-CN" sz="2400" i="1">
                                                      <a:latin typeface="Cambria Math" panose="02040503050406030204" pitchFamily="18" charset="0"/>
                                                    </a:rPr>
                                                    <m:t>′</m:t>
                                                  </m:r>
                                                </m:sup>
                                              </m:sSup>
                                            </m:sub>
                                            <m:sup>
                                              <m:r>
                                                <a:rPr kumimoji="1" lang="en-US" altLang="zh-CN" sz="2400" i="1">
                                                  <a:latin typeface="Cambria Math" panose="02040503050406030204" pitchFamily="18" charset="0"/>
                                                </a:rPr>
                                                <m:t>⊤</m:t>
                                              </m:r>
                                            </m:sup>
                                          </m:sSubSup>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𝑏</m:t>
                                              </m:r>
                                            </m:e>
                                            <m:sub>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𝑐</m:t>
                                                  </m:r>
                                                </m:e>
                                                <m:sup>
                                                  <m:r>
                                                    <a:rPr kumimoji="1" lang="en-US" altLang="zh-CN" sz="2400" i="1">
                                                      <a:latin typeface="Cambria Math" panose="02040503050406030204" pitchFamily="18" charset="0"/>
                                                    </a:rPr>
                                                    <m:t>′</m:t>
                                                  </m:r>
                                                </m:sup>
                                              </m:sSup>
                                            </m:sub>
                                          </m:sSub>
                                        </m:e>
                                      </m:d>
                                    </m:e>
                                  </m:d>
                                </m:e>
                              </m:func>
                            </m:e>
                          </m:nary>
                        </m:den>
                      </m:f>
                    </m:oMath>
                  </m:oMathPara>
                </a14:m>
                <a:endParaRPr kumimoji="1" lang="en-US" altLang="zh-CN" sz="24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548640" y="2680650"/>
                <a:ext cx="11440160" cy="4255267"/>
              </a:xfrm>
              <a:prstGeom prst="rect">
                <a:avLst/>
              </a:prstGeom>
              <a:blipFill>
                <a:blip r:embed="rId3"/>
                <a:stretch>
                  <a:fillRect l="-69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054E0AA-ED40-47E3-B730-C87E3E003356}"/>
              </a:ext>
            </a:extLst>
          </p:cNvPr>
          <p:cNvPicPr>
            <a:picLocks noChangeAspect="1"/>
          </p:cNvPicPr>
          <p:nvPr/>
        </p:nvPicPr>
        <p:blipFill>
          <a:blip r:embed="rId4"/>
          <a:stretch>
            <a:fillRect/>
          </a:stretch>
        </p:blipFill>
        <p:spPr>
          <a:xfrm>
            <a:off x="6819110" y="4863296"/>
            <a:ext cx="3104762" cy="742857"/>
          </a:xfrm>
          <a:prstGeom prst="rect">
            <a:avLst/>
          </a:prstGeom>
        </p:spPr>
      </p:pic>
      <p:sp>
        <p:nvSpPr>
          <p:cNvPr id="8" name="爆炸形 2 7">
            <a:extLst>
              <a:ext uri="{FF2B5EF4-FFF2-40B4-BE49-F238E27FC236}">
                <a16:creationId xmlns:a16="http://schemas.microsoft.com/office/drawing/2014/main" id="{E2592B9B-234A-C542-8A1C-D20A6C62E16E}"/>
              </a:ext>
            </a:extLst>
          </p:cNvPr>
          <p:cNvSpPr/>
          <p:nvPr/>
        </p:nvSpPr>
        <p:spPr>
          <a:xfrm>
            <a:off x="7960452" y="4347387"/>
            <a:ext cx="3926840" cy="1547904"/>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概率映射！</a:t>
            </a:r>
          </a:p>
        </p:txBody>
      </p:sp>
    </p:spTree>
    <p:extLst>
      <p:ext uri="{BB962C8B-B14F-4D97-AF65-F5344CB8AC3E}">
        <p14:creationId xmlns:p14="http://schemas.microsoft.com/office/powerpoint/2010/main" val="184811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41</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3739165"/>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a:t>
                </a:r>
                <a:endParaRPr lang="en-US" altLang="zh-CN" sz="2400" dirty="0"/>
              </a:p>
              <a:p>
                <a:pPr marL="800100" lvl="1" indent="-342900">
                  <a:lnSpc>
                    <a:spcPct val="150000"/>
                  </a:lnSpc>
                  <a:buFont typeface="Wingdings" pitchFamily="2" charset="2"/>
                  <a:buChar char="p"/>
                </a:pPr>
                <a:r>
                  <a:rPr kumimoji="1" lang="zh-CN" altLang="en-US" sz="2400" dirty="0"/>
                  <a:t>定义</a:t>
                </a:r>
                <a:r>
                  <a:rPr kumimoji="1" lang="en-US" altLang="zh-CN" sz="2400" dirty="0"/>
                  <a:t>1</a:t>
                </a:r>
                <a:r>
                  <a:rPr kumimoji="1" lang="zh-CN" altLang="en-US" sz="2400" dirty="0"/>
                  <a:t>：给定数据集</a:t>
                </a:r>
                <a14:m>
                  <m:oMath xmlns:m="http://schemas.openxmlformats.org/officeDocument/2006/math">
                    <m:sSubSup>
                      <m:sSubSupPr>
                        <m:ctrlPr>
                          <a:rPr lang="en-US" altLang="zh-CN" sz="2400" i="1">
                            <a:latin typeface="Cambria Math" panose="02040503050406030204" pitchFamily="18" charset="0"/>
                            <a:cs typeface="Times New Roman" panose="02020603050405020304" pitchFamily="18" charset="0"/>
                          </a:rPr>
                        </m:ctrlPr>
                      </m:sSubSupPr>
                      <m:e>
                        <m:r>
                          <a:rPr lang="en-US" altLang="zh-CN" sz="2400" i="1">
                            <a:latin typeface="Cambria Math" panose="02040503050406030204" pitchFamily="18" charset="0"/>
                            <a:cs typeface="Times New Roman" panose="02020603050405020304" pitchFamily="18" charset="0"/>
                          </a:rPr>
                          <m:t>𝐷</m:t>
                        </m:r>
                        <m:r>
                          <a:rPr lang="en-US" altLang="zh-CN" sz="2400" i="1">
                            <a:latin typeface="Cambria Math" panose="02040503050406030204" pitchFamily="18" charset="0"/>
                            <a:cs typeface="Times New Roman" panose="02020603050405020304" pitchFamily="18" charset="0"/>
                          </a:rPr>
                          <m:t>=</m:t>
                        </m:r>
                        <m:d>
                          <m:dPr>
                            <m:begChr m:val="{"/>
                            <m:endChr m:val="}"/>
                            <m:ctrlPr>
                              <a:rPr lang="en-US" altLang="zh-CN" sz="2400" i="1">
                                <a:latin typeface="Cambria Math" panose="02040503050406030204" pitchFamily="18" charset="0"/>
                                <a:cs typeface="Times New Roman" panose="02020603050405020304" pitchFamily="18" charset="0"/>
                              </a:rPr>
                            </m:ctrlPr>
                          </m:dPr>
                          <m:e>
                            <m:d>
                              <m:dPr>
                                <m:ctrlPr>
                                  <a:rPr lang="en-US" altLang="zh-CN" sz="2400" i="1">
                                    <a:latin typeface="Cambria Math" panose="02040503050406030204" pitchFamily="18" charset="0"/>
                                    <a:cs typeface="Times New Roman" panose="02020603050405020304" pitchFamily="18" charset="0"/>
                                  </a:rPr>
                                </m:ctrlPr>
                              </m:dPr>
                              <m:e>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𝑦</m:t>
                                    </m:r>
                                  </m:e>
                                  <m:sub>
                                    <m:r>
                                      <a:rPr lang="en-US" altLang="zh-CN" sz="2400" i="1">
                                        <a:latin typeface="Cambria Math" panose="02040503050406030204" pitchFamily="18" charset="0"/>
                                        <a:cs typeface="Times New Roman" panose="02020603050405020304" pitchFamily="18" charset="0"/>
                                      </a:rPr>
                                      <m:t>𝑖</m:t>
                                    </m:r>
                                  </m:sub>
                                </m:sSub>
                              </m:e>
                            </m:d>
                          </m:e>
                        </m:d>
                      </m:e>
                      <m:sub>
                        <m:r>
                          <a:rPr lang="en-US" altLang="zh-CN" sz="2400" i="1">
                            <a:latin typeface="Cambria Math" panose="02040503050406030204" pitchFamily="18" charset="0"/>
                            <a:cs typeface="Times New Roman" panose="02020603050405020304" pitchFamily="18" charset="0"/>
                          </a:rPr>
                          <m:t>𝑖</m:t>
                        </m:r>
                        <m:r>
                          <a:rPr lang="en-US" altLang="zh-CN" sz="2400" i="1">
                            <a:latin typeface="Cambria Math" panose="02040503050406030204" pitchFamily="18" charset="0"/>
                            <a:cs typeface="Times New Roman" panose="02020603050405020304" pitchFamily="18" charset="0"/>
                          </a:rPr>
                          <m:t>=1</m:t>
                        </m:r>
                      </m:sub>
                      <m:sup>
                        <m:r>
                          <a:rPr lang="en-US" altLang="zh-CN" sz="2400" i="1">
                            <a:latin typeface="Cambria Math" panose="02040503050406030204" pitchFamily="18" charset="0"/>
                            <a:cs typeface="Times New Roman" panose="02020603050405020304" pitchFamily="18" charset="0"/>
                          </a:rPr>
                          <m:t>𝑚</m:t>
                        </m:r>
                      </m:sup>
                    </m:sSubSup>
                  </m:oMath>
                </a14:m>
                <a:r>
                  <a:rPr lang="zh-CN" altLang="en-US" sz="24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p>
                      <m:sSup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400" i="1">
                            <a:latin typeface="Cambria Math" panose="02040503050406030204" pitchFamily="18" charset="0"/>
                            <a:ea typeface="Cambria Math" panose="02040503050406030204" pitchFamily="18" charset="0"/>
                            <a:cs typeface="Times New Roman" panose="02020603050405020304" pitchFamily="18" charset="0"/>
                          </a:rPr>
                          <m:t>𝑑</m:t>
                        </m:r>
                      </m:sup>
                    </m:sSup>
                  </m:oMath>
                </a14:m>
                <a:r>
                  <a:rPr kumimoji="1" lang="zh-CN" altLang="en-US" sz="2400" dirty="0"/>
                  <a:t>且</a:t>
                </a:r>
                <a14:m>
                  <m:oMath xmlns:m="http://schemas.openxmlformats.org/officeDocument/2006/math">
                    <m:sSub>
                      <m:sSubPr>
                        <m:ctrlPr>
                          <a:rPr lang="en-US" altLang="zh-CN" sz="240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240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1,2,…, </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𝑘</m:t>
                        </m:r>
                      </m:e>
                    </m:d>
                  </m:oMath>
                </a14:m>
                <a:endParaRPr kumimoji="1" lang="en-US" altLang="zh-CN" sz="2400" dirty="0"/>
              </a:p>
              <a:p>
                <a:pPr marL="800100" lvl="1" indent="-342900">
                  <a:lnSpc>
                    <a:spcPct val="150000"/>
                  </a:lnSpc>
                  <a:buFont typeface="Wingdings" pitchFamily="2" charset="2"/>
                  <a:buChar char="p"/>
                </a:pPr>
                <a:r>
                  <a:rPr lang="en-US" altLang="zh-CN" sz="2400" dirty="0"/>
                  <a:t>MLP</a:t>
                </a:r>
                <a:r>
                  <a:rPr lang="zh-CN" altLang="en-US" sz="2400" dirty="0"/>
                  <a:t>输出层</a:t>
                </a: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buFont typeface="Wingdings" pitchFamily="2" charset="2"/>
                  <a:buChar char="p"/>
                </a:pPr>
                <a:r>
                  <a:rPr lang="en-US" altLang="zh-CN" sz="2400" dirty="0"/>
                  <a:t>MLP</a:t>
                </a:r>
                <a:r>
                  <a:rPr lang="zh-CN" altLang="en-US" sz="2400" dirty="0"/>
                  <a:t>预测</a:t>
                </a:r>
                <a:endParaRPr lang="en-US" altLang="zh-CN" sz="2400" dirty="0"/>
              </a:p>
              <a:p>
                <a:pPr lvl="1">
                  <a:lnSpc>
                    <a:spcPct val="150000"/>
                  </a:lnSpc>
                </a:pPr>
                <a:endParaRPr lang="en-US" altLang="zh-CN" sz="24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548640" y="2680650"/>
                <a:ext cx="11440160" cy="3739165"/>
              </a:xfrm>
              <a:prstGeom prst="rect">
                <a:avLst/>
              </a:prstGeom>
              <a:blipFill>
                <a:blip r:embed="rId3"/>
                <a:stretch>
                  <a:fillRect l="-7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37B7C14-8F7B-4B49-BC60-DBA332495A3F}"/>
                  </a:ext>
                </a:extLst>
              </p:cNvPr>
              <p:cNvSpPr txBox="1"/>
              <p:nvPr/>
            </p:nvSpPr>
            <p:spPr>
              <a:xfrm>
                <a:off x="1233365" y="4470428"/>
                <a:ext cx="5476869" cy="6450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b="0" i="1" smtClean="0">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m:t>
                          </m:r>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𝑘</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e>
                      </m:d>
                    </m:oMath>
                  </m:oMathPara>
                </a14:m>
                <a:endParaRPr lang="zh-CN" altLang="en-US" sz="2400" dirty="0"/>
              </a:p>
            </p:txBody>
          </p:sp>
        </mc:Choice>
        <mc:Fallback xmlns="">
          <p:sp>
            <p:nvSpPr>
              <p:cNvPr id="9" name="文本框 8">
                <a:extLst>
                  <a:ext uri="{FF2B5EF4-FFF2-40B4-BE49-F238E27FC236}">
                    <a16:creationId xmlns:a16="http://schemas.microsoft.com/office/drawing/2014/main" id="{037B7C14-8F7B-4B49-BC60-DBA332495A3F}"/>
                  </a:ext>
                </a:extLst>
              </p:cNvPr>
              <p:cNvSpPr txBox="1">
                <a:spLocks noRot="1" noChangeAspect="1" noMove="1" noResize="1" noEditPoints="1" noAdjustHandles="1" noChangeArrowheads="1" noChangeShapeType="1" noTextEdit="1"/>
              </p:cNvSpPr>
              <p:nvPr/>
            </p:nvSpPr>
            <p:spPr>
              <a:xfrm>
                <a:off x="1233365" y="4470428"/>
                <a:ext cx="5476869" cy="64504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B173E07-F85D-E144-ABC1-7CCF4CBC7E60}"/>
                  </a:ext>
                </a:extLst>
              </p:cNvPr>
              <p:cNvSpPr txBox="1"/>
              <p:nvPr/>
            </p:nvSpPr>
            <p:spPr>
              <a:xfrm>
                <a:off x="7020048" y="4488186"/>
                <a:ext cx="2503963" cy="6423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b="0" i="1" smtClean="0">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m:t>
                          </m:r>
                          <m:r>
                            <a:rPr kumimoji="1" lang="en-US" altLang="zh-CN" sz="2400" b="0" i="1" smtClean="0">
                              <a:latin typeface="Cambria Math" panose="02040503050406030204" pitchFamily="18" charset="0"/>
                            </a:rPr>
                            <m:t>;</m:t>
                          </m:r>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𝑘</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oMath>
                  </m:oMathPara>
                </a14:m>
                <a:endParaRPr lang="zh-CN" altLang="en-US" sz="2400" dirty="0"/>
              </a:p>
            </p:txBody>
          </p:sp>
        </mc:Choice>
        <mc:Fallback xmlns="">
          <p:sp>
            <p:nvSpPr>
              <p:cNvPr id="14" name="文本框 13">
                <a:extLst>
                  <a:ext uri="{FF2B5EF4-FFF2-40B4-BE49-F238E27FC236}">
                    <a16:creationId xmlns:a16="http://schemas.microsoft.com/office/drawing/2014/main" id="{7B173E07-F85D-E144-ABC1-7CCF4CBC7E60}"/>
                  </a:ext>
                </a:extLst>
              </p:cNvPr>
              <p:cNvSpPr txBox="1">
                <a:spLocks noRot="1" noChangeAspect="1" noMove="1" noResize="1" noEditPoints="1" noAdjustHandles="1" noChangeArrowheads="1" noChangeShapeType="1" noTextEdit="1"/>
              </p:cNvSpPr>
              <p:nvPr/>
            </p:nvSpPr>
            <p:spPr>
              <a:xfrm>
                <a:off x="7020048" y="4488186"/>
                <a:ext cx="2503963" cy="642355"/>
              </a:xfrm>
              <a:prstGeom prst="rect">
                <a:avLst/>
              </a:prstGeom>
              <a:blipFill>
                <a:blip r:embed="rId5"/>
                <a:stretch>
                  <a:fillRect/>
                </a:stretch>
              </a:blipFill>
            </p:spPr>
            <p:txBody>
              <a:bodyPr/>
              <a:lstStyle/>
              <a:p>
                <a:r>
                  <a:rPr lang="zh-CN" altLang="en-US">
                    <a:noFill/>
                  </a:rPr>
                  <a:t> </a:t>
                </a:r>
              </a:p>
            </p:txBody>
          </p:sp>
        </mc:Fallback>
      </mc:AlternateContent>
      <p:sp>
        <p:nvSpPr>
          <p:cNvPr id="15" name="燕尾形箭头 14">
            <a:extLst>
              <a:ext uri="{FF2B5EF4-FFF2-40B4-BE49-F238E27FC236}">
                <a16:creationId xmlns:a16="http://schemas.microsoft.com/office/drawing/2014/main" id="{22445A75-101B-7148-B123-4E2CFD2C253B}"/>
              </a:ext>
            </a:extLst>
          </p:cNvPr>
          <p:cNvSpPr/>
          <p:nvPr/>
        </p:nvSpPr>
        <p:spPr bwMode="auto">
          <a:xfrm>
            <a:off x="6178114" y="4621488"/>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66E9790A-38CC-054D-979F-A8E839192227}"/>
                  </a:ext>
                </a:extLst>
              </p:cNvPr>
              <p:cNvSpPr txBox="1"/>
              <p:nvPr/>
            </p:nvSpPr>
            <p:spPr>
              <a:xfrm>
                <a:off x="5654492" y="4163662"/>
                <a:ext cx="1623059"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i="1" smtClean="0">
                              <a:solidFill>
                                <a:srgbClr val="C00000"/>
                              </a:solidFill>
                              <a:latin typeface="Cambria Math" panose="02040503050406030204" pitchFamily="18" charset="0"/>
                            </a:rPr>
                          </m:ctrlPr>
                        </m:sSupPr>
                        <m:e>
                          <m:r>
                            <a:rPr kumimoji="1" lang="en-US" altLang="zh-CN" sz="2200" i="1">
                              <a:solidFill>
                                <a:srgbClr val="C00000"/>
                              </a:solidFill>
                              <a:latin typeface="Cambria Math" panose="02040503050406030204" pitchFamily="18" charset="0"/>
                            </a:rPr>
                            <m:t>𝜎</m:t>
                          </m:r>
                        </m:e>
                        <m:sup>
                          <m:d>
                            <m:dPr>
                              <m:ctrlPr>
                                <a:rPr kumimoji="1" lang="en-US" altLang="zh-CN" sz="2200" i="1">
                                  <a:solidFill>
                                    <a:srgbClr val="C00000"/>
                                  </a:solidFill>
                                  <a:latin typeface="Cambria Math" panose="02040503050406030204" pitchFamily="18" charset="0"/>
                                </a:rPr>
                              </m:ctrlPr>
                            </m:dPr>
                            <m:e>
                              <m:r>
                                <a:rPr kumimoji="1" lang="en-US" altLang="zh-CN" sz="2200" i="1">
                                  <a:solidFill>
                                    <a:srgbClr val="C00000"/>
                                  </a:solidFill>
                                  <a:latin typeface="Cambria Math" panose="02040503050406030204" pitchFamily="18" charset="0"/>
                                </a:rPr>
                                <m:t>𝐿</m:t>
                              </m:r>
                            </m:e>
                          </m:d>
                        </m:sup>
                      </m:sSup>
                      <m:d>
                        <m:dPr>
                          <m:ctrlPr>
                            <a:rPr kumimoji="1" lang="en-US" altLang="zh-CN" sz="2200" b="0" i="1" smtClean="0">
                              <a:solidFill>
                                <a:srgbClr val="C00000"/>
                              </a:solidFill>
                              <a:latin typeface="Cambria Math" panose="02040503050406030204" pitchFamily="18" charset="0"/>
                            </a:rPr>
                          </m:ctrlPr>
                        </m:dPr>
                        <m:e>
                          <m:r>
                            <a:rPr kumimoji="1" lang="en-US" altLang="zh-CN" sz="2200" b="0" i="1" smtClean="0">
                              <a:solidFill>
                                <a:srgbClr val="C00000"/>
                              </a:solidFill>
                              <a:latin typeface="Cambria Math" panose="02040503050406030204" pitchFamily="18" charset="0"/>
                            </a:rPr>
                            <m:t>𝑧</m:t>
                          </m:r>
                        </m:e>
                      </m:d>
                      <m:r>
                        <a:rPr kumimoji="1" lang="en-US" altLang="zh-CN" sz="2200" b="0" i="1" smtClean="0">
                          <a:solidFill>
                            <a:srgbClr val="C00000"/>
                          </a:solidFill>
                          <a:latin typeface="Cambria Math" panose="02040503050406030204" pitchFamily="18" charset="0"/>
                        </a:rPr>
                        <m:t>=</m:t>
                      </m:r>
                      <m:r>
                        <a:rPr kumimoji="1" lang="en-US" altLang="zh-CN" sz="2200" b="0" i="1" smtClean="0">
                          <a:solidFill>
                            <a:srgbClr val="C00000"/>
                          </a:solidFill>
                          <a:latin typeface="Cambria Math" panose="02040503050406030204" pitchFamily="18" charset="0"/>
                        </a:rPr>
                        <m:t>𝑧</m:t>
                      </m:r>
                    </m:oMath>
                  </m:oMathPara>
                </a14:m>
                <a:endParaRPr lang="zh-CN" altLang="en-US" sz="2200" dirty="0"/>
              </a:p>
            </p:txBody>
          </p:sp>
        </mc:Choice>
        <mc:Fallback xmlns="">
          <p:sp>
            <p:nvSpPr>
              <p:cNvPr id="16" name="文本框 15">
                <a:extLst>
                  <a:ext uri="{FF2B5EF4-FFF2-40B4-BE49-F238E27FC236}">
                    <a16:creationId xmlns:a16="http://schemas.microsoft.com/office/drawing/2014/main" id="{66E9790A-38CC-054D-979F-A8E839192227}"/>
                  </a:ext>
                </a:extLst>
              </p:cNvPr>
              <p:cNvSpPr txBox="1">
                <a:spLocks noRot="1" noChangeAspect="1" noMove="1" noResize="1" noEditPoints="1" noAdjustHandles="1" noChangeArrowheads="1" noChangeShapeType="1" noTextEdit="1"/>
              </p:cNvSpPr>
              <p:nvPr/>
            </p:nvSpPr>
            <p:spPr>
              <a:xfrm>
                <a:off x="5654492" y="4163662"/>
                <a:ext cx="1623059" cy="45384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343C126-FAE4-654A-8A49-8397F90075C6}"/>
                  </a:ext>
                </a:extLst>
              </p:cNvPr>
              <p:cNvSpPr txBox="1"/>
              <p:nvPr/>
            </p:nvSpPr>
            <p:spPr>
              <a:xfrm>
                <a:off x="1928289" y="5487342"/>
                <a:ext cx="7849589" cy="1266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sSub>
                            <m:sSubPr>
                              <m:ctrlPr>
                                <a:rPr kumimoji="1" lang="en-US" altLang="zh-CN" sz="2400" i="1">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𝑓</m:t>
                          </m:r>
                        </m:e>
                        <m:sub>
                          <m:r>
                            <m:rPr>
                              <m:sty m:val="p"/>
                            </m:rPr>
                            <a:rPr kumimoji="1" lang="en-US" altLang="zh-CN" sz="2400" b="0" i="0" smtClean="0">
                              <a:latin typeface="Cambria Math" panose="02040503050406030204" pitchFamily="18" charset="0"/>
                            </a:rPr>
                            <m:t>MLP</m:t>
                          </m:r>
                        </m:sub>
                      </m:sSub>
                      <m:d>
                        <m:dPr>
                          <m:ctrlPr>
                            <a:rPr kumimoji="1" lang="en-US" altLang="zh-CN" sz="2400" b="0" i="1" smtClean="0">
                              <a:latin typeface="Cambria Math" panose="02040503050406030204" pitchFamily="18" charset="0"/>
                            </a:rPr>
                          </m:ctrlPr>
                        </m:dPr>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e>
                      </m:d>
                      <m:r>
                        <a:rPr kumimoji="1" lang="en-US" altLang="zh-CN" sz="2400" b="0" i="1" smtClean="0">
                          <a:latin typeface="Cambria Math" panose="02040503050406030204" pitchFamily="18" charset="0"/>
                        </a:rPr>
                        <m:t>=</m:t>
                      </m:r>
                      <m:d>
                        <m:dPr>
                          <m:begChr m:val="["/>
                          <m:endChr m:val="]"/>
                          <m:ctrlPr>
                            <a:rPr kumimoji="1" lang="en-US" altLang="zh-CN" sz="2400" b="0" i="1" smtClean="0">
                              <a:latin typeface="Cambria Math" panose="02040503050406030204" pitchFamily="18" charset="0"/>
                            </a:rPr>
                          </m:ctrlPr>
                        </m:dPr>
                        <m:e>
                          <m:f>
                            <m:fPr>
                              <m:ctrlPr>
                                <a:rPr kumimoji="1" lang="en-US" altLang="zh-CN" sz="2400" i="1">
                                  <a:latin typeface="Cambria Math" panose="02040503050406030204" pitchFamily="18" charset="0"/>
                                </a:rPr>
                              </m:ctrlPr>
                            </m:fPr>
                            <m:num>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num>
                            <m:den>
                              <m:nary>
                                <m:naryPr>
                                  <m:chr m:val="∑"/>
                                  <m:limLoc m:val="subSup"/>
                                  <m:ctrlPr>
                                    <a:rPr kumimoji="1" lang="en-US" altLang="zh-CN" sz="2400" i="1">
                                      <a:latin typeface="Cambria Math" panose="02040503050406030204" pitchFamily="18" charset="0"/>
                                    </a:rPr>
                                  </m:ctrlPr>
                                </m:naryPr>
                                <m:sub>
                                  <m:r>
                                    <m:rPr>
                                      <m:brk m:alnAt="1"/>
                                    </m:rPr>
                                    <a:rPr kumimoji="1" lang="en-US" altLang="zh-CN" sz="2400" i="1">
                                      <a:latin typeface="Cambria Math" panose="02040503050406030204" pitchFamily="18" charset="0"/>
                                    </a:rPr>
                                    <m:t>𝑐</m:t>
                                  </m:r>
                                  <m:r>
                                    <m:rPr>
                                      <m:brk m:alnAt="25"/>
                                    </m:rPr>
                                    <a:rPr kumimoji="1" lang="en-US" altLang="zh-CN" sz="2400" i="1">
                                      <a:latin typeface="Cambria Math" panose="02040503050406030204" pitchFamily="18" charset="0"/>
                                    </a:rPr>
                                    <m:t>=</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𝑐</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e>
                              </m:nary>
                            </m:den>
                          </m:f>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m:t>
                          </m:r>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𝑘</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num>
                            <m:den>
                              <m:nary>
                                <m:naryPr>
                                  <m:chr m:val="∑"/>
                                  <m:limLoc m:val="subSup"/>
                                  <m:ctrlPr>
                                    <a:rPr kumimoji="1" lang="en-US" altLang="zh-CN" sz="2400" i="1">
                                      <a:latin typeface="Cambria Math" panose="02040503050406030204" pitchFamily="18" charset="0"/>
                                    </a:rPr>
                                  </m:ctrlPr>
                                </m:naryPr>
                                <m:sub>
                                  <m:sSup>
                                    <m:sSupPr>
                                      <m:ctrlPr>
                                        <a:rPr kumimoji="1" lang="en-US" altLang="zh-CN" sz="2400" i="1">
                                          <a:latin typeface="Cambria Math" panose="02040503050406030204" pitchFamily="18" charset="0"/>
                                        </a:rPr>
                                      </m:ctrlPr>
                                    </m:sSupPr>
                                    <m:e>
                                      <m:r>
                                        <m:rPr>
                                          <m:brk m:alnAt="25"/>
                                        </m:rPr>
                                        <a:rPr kumimoji="1" lang="en-US" altLang="zh-CN" sz="2400" i="1">
                                          <a:latin typeface="Cambria Math" panose="02040503050406030204" pitchFamily="18" charset="0"/>
                                        </a:rPr>
                                        <m:t>𝑐</m:t>
                                      </m:r>
                                    </m:e>
                                    <m:sup>
                                      <m:r>
                                        <m:rPr>
                                          <m:brk m:alnAt="25"/>
                                        </m:rPr>
                                        <a:rPr kumimoji="1" lang="en-US" altLang="zh-CN" sz="2400" i="1">
                                          <a:latin typeface="Cambria Math" panose="02040503050406030204" pitchFamily="18" charset="0"/>
                                        </a:rPr>
                                        <m:t>′</m:t>
                                      </m:r>
                                    </m:sup>
                                  </m:sSup>
                                  <m:r>
                                    <m:rPr>
                                      <m:brk m:alnAt="25"/>
                                    </m:rPr>
                                    <a:rPr kumimoji="1" lang="en-US" altLang="zh-CN" sz="2400" i="1">
                                      <a:latin typeface="Cambria Math" panose="02040503050406030204" pitchFamily="18" charset="0"/>
                                    </a:rPr>
                                    <m:t>=</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𝑐</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e>
                              </m:nary>
                            </m:den>
                          </m:f>
                        </m:e>
                      </m:d>
                    </m:oMath>
                  </m:oMathPara>
                </a14:m>
                <a:endParaRPr lang="zh-CN" altLang="en-US" sz="2400" dirty="0"/>
              </a:p>
            </p:txBody>
          </p:sp>
        </mc:Choice>
        <mc:Fallback xmlns="">
          <p:sp>
            <p:nvSpPr>
              <p:cNvPr id="19" name="文本框 18">
                <a:extLst>
                  <a:ext uri="{FF2B5EF4-FFF2-40B4-BE49-F238E27FC236}">
                    <a16:creationId xmlns:a16="http://schemas.microsoft.com/office/drawing/2014/main" id="{0343C126-FAE4-654A-8A49-8397F90075C6}"/>
                  </a:ext>
                </a:extLst>
              </p:cNvPr>
              <p:cNvSpPr txBox="1">
                <a:spLocks noRot="1" noChangeAspect="1" noMove="1" noResize="1" noEditPoints="1" noAdjustHandles="1" noChangeArrowheads="1" noChangeShapeType="1" noTextEdit="1"/>
              </p:cNvSpPr>
              <p:nvPr/>
            </p:nvSpPr>
            <p:spPr>
              <a:xfrm>
                <a:off x="1928289" y="5487342"/>
                <a:ext cx="7849589" cy="1266180"/>
              </a:xfrm>
              <a:prstGeom prst="rect">
                <a:avLst/>
              </a:prstGeom>
              <a:blipFill>
                <a:blip r:embed="rId7"/>
                <a:stretch>
                  <a:fillRect b="-63000"/>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839E7837-43EC-4D44-A273-7700CACC1BF0}"/>
              </a:ext>
            </a:extLst>
          </p:cNvPr>
          <p:cNvSpPr txBox="1"/>
          <p:nvPr/>
        </p:nvSpPr>
        <p:spPr>
          <a:xfrm>
            <a:off x="8869184" y="5073685"/>
            <a:ext cx="1817387" cy="430887"/>
          </a:xfrm>
          <a:prstGeom prst="rect">
            <a:avLst/>
          </a:prstGeom>
          <a:noFill/>
        </p:spPr>
        <p:txBody>
          <a:bodyPr wrap="square">
            <a:spAutoFit/>
          </a:bodyPr>
          <a:lstStyle/>
          <a:p>
            <a:r>
              <a:rPr kumimoji="1" lang="en-US" altLang="zh-CN" sz="2200" dirty="0" err="1"/>
              <a:t>Softmax</a:t>
            </a:r>
            <a:r>
              <a:rPr kumimoji="1" lang="zh-CN" altLang="en-US" sz="2200" dirty="0"/>
              <a:t>函数</a:t>
            </a:r>
            <a:endParaRPr lang="zh-CN" altLang="en-US" sz="2200" dirty="0"/>
          </a:p>
        </p:txBody>
      </p:sp>
      <p:cxnSp>
        <p:nvCxnSpPr>
          <p:cNvPr id="24" name="直线箭头连接符 23">
            <a:extLst>
              <a:ext uri="{FF2B5EF4-FFF2-40B4-BE49-F238E27FC236}">
                <a16:creationId xmlns:a16="http://schemas.microsoft.com/office/drawing/2014/main" id="{5B25087E-FB7F-F240-BCB3-636E703B6101}"/>
              </a:ext>
            </a:extLst>
          </p:cNvPr>
          <p:cNvCxnSpPr>
            <a:stCxn id="14" idx="2"/>
          </p:cNvCxnSpPr>
          <p:nvPr/>
        </p:nvCxnSpPr>
        <p:spPr>
          <a:xfrm flipH="1">
            <a:off x="6466022" y="5130541"/>
            <a:ext cx="1806008" cy="56961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902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42</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4164794"/>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a:t>
                </a:r>
                <a:endParaRPr lang="en-US" altLang="zh-CN" sz="2400" dirty="0"/>
              </a:p>
              <a:p>
                <a:pPr marL="800100" lvl="1" indent="-342900">
                  <a:lnSpc>
                    <a:spcPct val="150000"/>
                  </a:lnSpc>
                  <a:buFont typeface="Wingdings" pitchFamily="2" charset="2"/>
                  <a:buChar char="p"/>
                </a:pPr>
                <a:r>
                  <a:rPr kumimoji="1" lang="zh-CN" altLang="en-US" sz="2400" dirty="0"/>
                  <a:t>定义</a:t>
                </a:r>
                <a:r>
                  <a:rPr kumimoji="1" lang="en-US" altLang="zh-CN" sz="2400" dirty="0"/>
                  <a:t>2</a:t>
                </a:r>
                <a:r>
                  <a:rPr kumimoji="1" lang="zh-CN" altLang="en-US" sz="2400" dirty="0"/>
                  <a:t>：给定数据集</a:t>
                </a:r>
                <a14:m>
                  <m:oMath xmlns:m="http://schemas.openxmlformats.org/officeDocument/2006/math">
                    <m:sSubSup>
                      <m:sSubSupPr>
                        <m:ctrlPr>
                          <a:rPr lang="en-US" altLang="zh-CN" sz="2400" i="1">
                            <a:latin typeface="Cambria Math" panose="02040503050406030204" pitchFamily="18" charset="0"/>
                            <a:cs typeface="Times New Roman" panose="02020603050405020304" pitchFamily="18" charset="0"/>
                          </a:rPr>
                        </m:ctrlPr>
                      </m:sSubSupPr>
                      <m:e>
                        <m:r>
                          <a:rPr lang="en-US" altLang="zh-CN" sz="2400" i="1">
                            <a:latin typeface="Cambria Math" panose="02040503050406030204" pitchFamily="18" charset="0"/>
                            <a:cs typeface="Times New Roman" panose="02020603050405020304" pitchFamily="18" charset="0"/>
                          </a:rPr>
                          <m:t>𝐷</m:t>
                        </m:r>
                        <m:r>
                          <a:rPr lang="en-US" altLang="zh-CN" sz="2400" i="1">
                            <a:latin typeface="Cambria Math" panose="02040503050406030204" pitchFamily="18" charset="0"/>
                            <a:cs typeface="Times New Roman" panose="02020603050405020304" pitchFamily="18" charset="0"/>
                          </a:rPr>
                          <m:t>=</m:t>
                        </m:r>
                        <m:d>
                          <m:dPr>
                            <m:begChr m:val="{"/>
                            <m:endChr m:val="}"/>
                            <m:ctrlPr>
                              <a:rPr lang="en-US" altLang="zh-CN" sz="2400" i="1">
                                <a:latin typeface="Cambria Math" panose="02040503050406030204" pitchFamily="18" charset="0"/>
                                <a:cs typeface="Times New Roman" panose="02020603050405020304" pitchFamily="18" charset="0"/>
                              </a:rPr>
                            </m:ctrlPr>
                          </m:dPr>
                          <m:e>
                            <m:d>
                              <m:dPr>
                                <m:ctrlPr>
                                  <a:rPr lang="en-US" altLang="zh-CN" sz="2400" i="1">
                                    <a:latin typeface="Cambria Math" panose="02040503050406030204" pitchFamily="18" charset="0"/>
                                    <a:cs typeface="Times New Roman" panose="02020603050405020304" pitchFamily="18" charset="0"/>
                                  </a:rPr>
                                </m:ctrlPr>
                              </m:dPr>
                              <m:e>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𝑦</m:t>
                                    </m:r>
                                  </m:e>
                                  <m:sub>
                                    <m:r>
                                      <a:rPr lang="en-US" altLang="zh-CN" sz="2400" i="1">
                                        <a:latin typeface="Cambria Math" panose="02040503050406030204" pitchFamily="18" charset="0"/>
                                        <a:cs typeface="Times New Roman" panose="02020603050405020304" pitchFamily="18" charset="0"/>
                                      </a:rPr>
                                      <m:t>𝑖</m:t>
                                    </m:r>
                                  </m:sub>
                                </m:sSub>
                              </m:e>
                            </m:d>
                          </m:e>
                        </m:d>
                      </m:e>
                      <m:sub>
                        <m:r>
                          <a:rPr lang="en-US" altLang="zh-CN" sz="2400" i="1">
                            <a:latin typeface="Cambria Math" panose="02040503050406030204" pitchFamily="18" charset="0"/>
                            <a:cs typeface="Times New Roman" panose="02020603050405020304" pitchFamily="18" charset="0"/>
                          </a:rPr>
                          <m:t>𝑖</m:t>
                        </m:r>
                        <m:r>
                          <a:rPr lang="en-US" altLang="zh-CN" sz="2400" i="1">
                            <a:latin typeface="Cambria Math" panose="02040503050406030204" pitchFamily="18" charset="0"/>
                            <a:cs typeface="Times New Roman" panose="02020603050405020304" pitchFamily="18" charset="0"/>
                          </a:rPr>
                          <m:t>=1</m:t>
                        </m:r>
                      </m:sub>
                      <m:sup>
                        <m:r>
                          <a:rPr lang="en-US" altLang="zh-CN" sz="2400" i="1">
                            <a:latin typeface="Cambria Math" panose="02040503050406030204" pitchFamily="18" charset="0"/>
                            <a:cs typeface="Times New Roman" panose="02020603050405020304" pitchFamily="18" charset="0"/>
                          </a:rPr>
                          <m:t>𝑚</m:t>
                        </m:r>
                      </m:sup>
                    </m:sSubSup>
                  </m:oMath>
                </a14:m>
                <a:r>
                  <a:rPr lang="zh-CN" altLang="en-US" sz="24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p>
                      <m:sSup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400" i="1">
                            <a:latin typeface="Cambria Math" panose="02040503050406030204" pitchFamily="18" charset="0"/>
                            <a:ea typeface="Cambria Math" panose="02040503050406030204" pitchFamily="18" charset="0"/>
                            <a:cs typeface="Times New Roman" panose="02020603050405020304" pitchFamily="18" charset="0"/>
                          </a:rPr>
                          <m:t>𝑑</m:t>
                        </m:r>
                      </m:sup>
                    </m:sSup>
                  </m:oMath>
                </a14:m>
                <a:r>
                  <a:rPr kumimoji="1" lang="zh-CN" altLang="en-US" sz="2400" dirty="0"/>
                  <a:t>且</a:t>
                </a:r>
                <a14:m>
                  <m:oMath xmlns:m="http://schemas.openxmlformats.org/officeDocument/2006/math">
                    <m:sSub>
                      <m:sSubPr>
                        <m:ctrlP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1,2,…, </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𝑘</m:t>
                        </m:r>
                      </m:e>
                    </m:d>
                  </m:oMath>
                </a14:m>
                <a:endParaRPr lang="en-US" altLang="zh-CN" sz="2400" dirty="0"/>
              </a:p>
              <a:p>
                <a:pPr marL="800100" lvl="1" indent="-342900">
                  <a:buFont typeface="Wingdings" pitchFamily="2" charset="2"/>
                  <a:buChar char="p"/>
                </a:pPr>
                <a:r>
                  <a:rPr lang="en-US" altLang="zh-CN" sz="2400" dirty="0"/>
                  <a:t>MLP</a:t>
                </a:r>
                <a:r>
                  <a:rPr lang="zh-CN" altLang="en-US" sz="2400" dirty="0"/>
                  <a:t>预测</a:t>
                </a: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r>
                  <a:rPr lang="zh-CN" altLang="en-US" sz="2400" dirty="0"/>
                  <a:t>最大对数似然</a:t>
                </a: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1257300" lvl="2" indent="-342900">
                  <a:buFont typeface="Arial" panose="020B0604020202020204" pitchFamily="34" charset="0"/>
                  <a:buChar char="•"/>
                </a:pPr>
                <a:r>
                  <a:rPr lang="zh-CN" altLang="en-US" sz="2400" dirty="0"/>
                  <a:t>该形式在实践中相对少见：</a:t>
                </a:r>
                <a:r>
                  <a:rPr lang="en-US" altLang="zh-CN" sz="2400" dirty="0">
                    <a:solidFill>
                      <a:srgbClr val="C00000"/>
                    </a:solidFill>
                    <a:ea typeface="Cambria Math" panose="02040503050406030204" pitchFamily="18" charset="0"/>
                    <a:cs typeface="Times New Roman" panose="02020603050405020304" pitchFamily="18" charset="0"/>
                  </a:rPr>
                  <a:t> </a:t>
                </a:r>
                <a14:m>
                  <m:oMath xmlns:m="http://schemas.openxmlformats.org/officeDocument/2006/math">
                    <m:sSub>
                      <m:sSubPr>
                        <m:ctrlPr>
                          <a:rPr lang="en-US" altLang="zh-CN" sz="240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1,2,…, </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𝑘</m:t>
                        </m:r>
                      </m:e>
                    </m:d>
                  </m:oMath>
                </a14:m>
                <a:r>
                  <a:rPr lang="en-US" altLang="zh-CN" sz="2400" dirty="0">
                    <a:solidFill>
                      <a:srgbClr val="C00000"/>
                    </a:solidFill>
                  </a:rPr>
                  <a:t> vs. </a:t>
                </a:r>
                <a14:m>
                  <m:oMath xmlns:m="http://schemas.openxmlformats.org/officeDocument/2006/math">
                    <m:sSub>
                      <m:sSubPr>
                        <m:ctrlPr>
                          <a:rPr kumimoji="1" lang="en-US" altLang="zh-CN" sz="2400" i="1">
                            <a:solidFill>
                              <a:srgbClr val="C00000"/>
                            </a:solidFill>
                            <a:latin typeface="Cambria Math" panose="02040503050406030204" pitchFamily="18" charset="0"/>
                          </a:rPr>
                        </m:ctrlPr>
                      </m:sSubPr>
                      <m:e>
                        <m:acc>
                          <m:accPr>
                            <m:chr m:val="̂"/>
                            <m:ctrlPr>
                              <a:rPr kumimoji="1" lang="en-US" altLang="zh-CN" sz="2400" i="1">
                                <a:solidFill>
                                  <a:srgbClr val="C00000"/>
                                </a:solidFill>
                                <a:latin typeface="Cambria Math" panose="02040503050406030204" pitchFamily="18" charset="0"/>
                              </a:rPr>
                            </m:ctrlPr>
                          </m:accPr>
                          <m:e>
                            <m:r>
                              <a:rPr kumimoji="1" lang="en-US" altLang="zh-CN" sz="2400" i="1">
                                <a:solidFill>
                                  <a:srgbClr val="C00000"/>
                                </a:solidFill>
                                <a:latin typeface="Cambria Math" panose="02040503050406030204" pitchFamily="18" charset="0"/>
                              </a:rPr>
                              <m:t>𝑦</m:t>
                            </m:r>
                          </m:e>
                        </m:acc>
                      </m:e>
                      <m:sub>
                        <m:r>
                          <a:rPr kumimoji="1" lang="en-US" altLang="zh-CN" sz="2400" i="1">
                            <a:solidFill>
                              <a:srgbClr val="C00000"/>
                            </a:solidFill>
                            <a:latin typeface="Cambria Math" panose="02040503050406030204" pitchFamily="18" charset="0"/>
                          </a:rPr>
                          <m:t>𝑖</m:t>
                        </m:r>
                      </m:sub>
                    </m:sSub>
                    <m:r>
                      <a:rPr kumimoji="1" lang="en-US" altLang="zh-CN" sz="2400" b="0" i="1" smtClean="0">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ea typeface="Cambria Math" panose="02040503050406030204" pitchFamily="18" charset="0"/>
                          </a:rPr>
                        </m:ctrlPr>
                      </m:sSupPr>
                      <m:e>
                        <m:r>
                          <a:rPr kumimoji="1" lang="en-US" altLang="zh-CN" sz="2400" i="1">
                            <a:solidFill>
                              <a:srgbClr val="C00000"/>
                            </a:solidFill>
                            <a:latin typeface="Cambria Math" panose="02040503050406030204" pitchFamily="18" charset="0"/>
                            <a:ea typeface="Cambria Math" panose="02040503050406030204" pitchFamily="18" charset="0"/>
                          </a:rPr>
                          <m:t>ℝ</m:t>
                        </m:r>
                      </m:e>
                      <m:sup>
                        <m:r>
                          <a:rPr kumimoji="1" lang="en-US" altLang="zh-CN" sz="2400" i="1">
                            <a:solidFill>
                              <a:srgbClr val="C00000"/>
                            </a:solidFill>
                            <a:latin typeface="Cambria Math" panose="02040503050406030204" pitchFamily="18" charset="0"/>
                            <a:ea typeface="Cambria Math" panose="02040503050406030204" pitchFamily="18" charset="0"/>
                          </a:rPr>
                          <m:t>𝑘</m:t>
                        </m:r>
                      </m:sup>
                    </m:sSup>
                  </m:oMath>
                </a14:m>
                <a:endParaRPr lang="en-US" altLang="zh-CN" sz="24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548640" y="2680650"/>
                <a:ext cx="11440160" cy="4164794"/>
              </a:xfrm>
              <a:prstGeom prst="rect">
                <a:avLst/>
              </a:prstGeom>
              <a:blipFill>
                <a:blip r:embed="rId3"/>
                <a:stretch>
                  <a:fillRect l="-776" b="-24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343C126-FAE4-654A-8A49-8397F90075C6}"/>
                  </a:ext>
                </a:extLst>
              </p:cNvPr>
              <p:cNvSpPr txBox="1"/>
              <p:nvPr/>
            </p:nvSpPr>
            <p:spPr>
              <a:xfrm>
                <a:off x="1928289" y="4134809"/>
                <a:ext cx="7849589" cy="1266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sSub>
                            <m:sSubPr>
                              <m:ctrlPr>
                                <a:rPr kumimoji="1" lang="en-US" altLang="zh-CN" sz="2400" i="1">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𝑓</m:t>
                          </m:r>
                        </m:e>
                        <m:sub>
                          <m:r>
                            <m:rPr>
                              <m:sty m:val="p"/>
                            </m:rPr>
                            <a:rPr kumimoji="1" lang="en-US" altLang="zh-CN" sz="2400" b="0" i="0" smtClean="0">
                              <a:latin typeface="Cambria Math" panose="02040503050406030204" pitchFamily="18" charset="0"/>
                            </a:rPr>
                            <m:t>MLP</m:t>
                          </m:r>
                        </m:sub>
                      </m:sSub>
                      <m:d>
                        <m:dPr>
                          <m:ctrlPr>
                            <a:rPr kumimoji="1" lang="en-US" altLang="zh-CN" sz="2400" b="0" i="1" smtClean="0">
                              <a:latin typeface="Cambria Math" panose="02040503050406030204" pitchFamily="18" charset="0"/>
                            </a:rPr>
                          </m:ctrlPr>
                        </m:dPr>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e>
                      </m:d>
                      <m:r>
                        <a:rPr kumimoji="1" lang="en-US" altLang="zh-CN" sz="2400" b="0" i="1" smtClean="0">
                          <a:latin typeface="Cambria Math" panose="02040503050406030204" pitchFamily="18" charset="0"/>
                        </a:rPr>
                        <m:t>=</m:t>
                      </m:r>
                      <m:d>
                        <m:dPr>
                          <m:begChr m:val="["/>
                          <m:endChr m:val="]"/>
                          <m:ctrlPr>
                            <a:rPr kumimoji="1" lang="en-US" altLang="zh-CN" sz="2400" b="0" i="1" smtClean="0">
                              <a:latin typeface="Cambria Math" panose="02040503050406030204" pitchFamily="18" charset="0"/>
                            </a:rPr>
                          </m:ctrlPr>
                        </m:dPr>
                        <m:e>
                          <m:f>
                            <m:fPr>
                              <m:ctrlPr>
                                <a:rPr kumimoji="1" lang="en-US" altLang="zh-CN" sz="2400" i="1">
                                  <a:latin typeface="Cambria Math" panose="02040503050406030204" pitchFamily="18" charset="0"/>
                                </a:rPr>
                              </m:ctrlPr>
                            </m:fPr>
                            <m:num>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num>
                            <m:den>
                              <m:nary>
                                <m:naryPr>
                                  <m:chr m:val="∑"/>
                                  <m:limLoc m:val="subSup"/>
                                  <m:ctrlPr>
                                    <a:rPr kumimoji="1" lang="en-US" altLang="zh-CN" sz="2400" i="1">
                                      <a:latin typeface="Cambria Math" panose="02040503050406030204" pitchFamily="18" charset="0"/>
                                    </a:rPr>
                                  </m:ctrlPr>
                                </m:naryPr>
                                <m:sub>
                                  <m:r>
                                    <m:rPr>
                                      <m:brk m:alnAt="1"/>
                                    </m:rPr>
                                    <a:rPr kumimoji="1" lang="en-US" altLang="zh-CN" sz="2400" i="1">
                                      <a:latin typeface="Cambria Math" panose="02040503050406030204" pitchFamily="18" charset="0"/>
                                    </a:rPr>
                                    <m:t>𝑐</m:t>
                                  </m:r>
                                  <m:r>
                                    <m:rPr>
                                      <m:brk m:alnAt="25"/>
                                    </m:rPr>
                                    <a:rPr kumimoji="1" lang="en-US" altLang="zh-CN" sz="2400" i="1">
                                      <a:latin typeface="Cambria Math" panose="02040503050406030204" pitchFamily="18" charset="0"/>
                                    </a:rPr>
                                    <m:t>=</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𝑐</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e>
                              </m:nary>
                            </m:den>
                          </m:f>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m:t>
                          </m:r>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𝑘</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num>
                            <m:den>
                              <m:nary>
                                <m:naryPr>
                                  <m:chr m:val="∑"/>
                                  <m:limLoc m:val="subSup"/>
                                  <m:ctrlPr>
                                    <a:rPr kumimoji="1" lang="en-US" altLang="zh-CN" sz="2400" i="1">
                                      <a:latin typeface="Cambria Math" panose="02040503050406030204" pitchFamily="18" charset="0"/>
                                    </a:rPr>
                                  </m:ctrlPr>
                                </m:naryPr>
                                <m:sub>
                                  <m:r>
                                    <m:rPr>
                                      <m:brk m:alnAt="1"/>
                                    </m:rPr>
                                    <a:rPr kumimoji="1" lang="en-US" altLang="zh-CN" sz="2400" i="1">
                                      <a:latin typeface="Cambria Math" panose="02040503050406030204" pitchFamily="18" charset="0"/>
                                    </a:rPr>
                                    <m:t>𝑐</m:t>
                                  </m:r>
                                  <m:r>
                                    <m:rPr>
                                      <m:brk m:alnAt="25"/>
                                    </m:rPr>
                                    <a:rPr kumimoji="1" lang="en-US" altLang="zh-CN" sz="2400" i="1">
                                      <a:latin typeface="Cambria Math" panose="02040503050406030204" pitchFamily="18" charset="0"/>
                                    </a:rPr>
                                    <m:t>=</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𝑐</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e>
                              </m:nary>
                            </m:den>
                          </m:f>
                        </m:e>
                      </m:d>
                    </m:oMath>
                  </m:oMathPara>
                </a14:m>
                <a:endParaRPr lang="zh-CN" altLang="en-US" sz="2400" dirty="0"/>
              </a:p>
            </p:txBody>
          </p:sp>
        </mc:Choice>
        <mc:Fallback xmlns="">
          <p:sp>
            <p:nvSpPr>
              <p:cNvPr id="19" name="文本框 18">
                <a:extLst>
                  <a:ext uri="{FF2B5EF4-FFF2-40B4-BE49-F238E27FC236}">
                    <a16:creationId xmlns:a16="http://schemas.microsoft.com/office/drawing/2014/main" id="{0343C126-FAE4-654A-8A49-8397F90075C6}"/>
                  </a:ext>
                </a:extLst>
              </p:cNvPr>
              <p:cNvSpPr txBox="1">
                <a:spLocks noRot="1" noChangeAspect="1" noMove="1" noResize="1" noEditPoints="1" noAdjustHandles="1" noChangeArrowheads="1" noChangeShapeType="1" noTextEdit="1"/>
              </p:cNvSpPr>
              <p:nvPr/>
            </p:nvSpPr>
            <p:spPr>
              <a:xfrm>
                <a:off x="1928289" y="4134809"/>
                <a:ext cx="7849589" cy="1266180"/>
              </a:xfrm>
              <a:prstGeom prst="rect">
                <a:avLst/>
              </a:prstGeom>
              <a:blipFill>
                <a:blip r:embed="rId4"/>
                <a:stretch>
                  <a:fillRect b="-623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156D63F-B9D8-E345-9EDB-22F2392D4DAF}"/>
                  </a:ext>
                </a:extLst>
              </p:cNvPr>
              <p:cNvSpPr txBox="1"/>
              <p:nvPr/>
            </p:nvSpPr>
            <p:spPr>
              <a:xfrm>
                <a:off x="2790338" y="5510986"/>
                <a:ext cx="7191862" cy="855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i="1" smtClean="0">
                          <a:latin typeface="Cambria Math" panose="02040503050406030204" pitchFamily="18" charset="0"/>
                        </a:rPr>
                        <m:t>𝑝</m:t>
                      </m:r>
                      <m:d>
                        <m:dPr>
                          <m:ctrlPr>
                            <a:rPr kumimoji="1" lang="en-US" altLang="zh-CN" sz="2400" i="1">
                              <a:latin typeface="Cambria Math" panose="02040503050406030204" pitchFamily="18" charset="0"/>
                            </a:rPr>
                          </m:ctrlPr>
                        </m:dPr>
                        <m:e>
                          <m:d>
                            <m:dPr>
                              <m:begChr m:val="{"/>
                              <m:endChr m:val="}"/>
                              <m:ctrlPr>
                                <a:rPr kumimoji="1" lang="en-US" altLang="zh-CN" sz="2400" i="1">
                                  <a:latin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e>
                          </m:d>
                          <m:r>
                            <a:rPr kumimoji="1" lang="en-US" altLang="zh-CN" sz="2400" i="1">
                              <a:latin typeface="Cambria Math" panose="02040503050406030204" pitchFamily="18" charset="0"/>
                            </a:rPr>
                            <m:t>|</m:t>
                          </m:r>
                          <m:d>
                            <m:dPr>
                              <m:begChr m:val="{"/>
                              <m:endChr m:val="}"/>
                              <m:ctrlPr>
                                <a:rPr kumimoji="1" lang="en-US" altLang="zh-CN" sz="2400" i="1">
                                  <a:latin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𝑥</m:t>
                                  </m:r>
                                </m:e>
                                <m:sub>
                                  <m:r>
                                    <a:rPr kumimoji="1" lang="en-US" altLang="zh-CN" sz="2400" i="1">
                                      <a:latin typeface="Cambria Math" panose="02040503050406030204" pitchFamily="18" charset="0"/>
                                    </a:rPr>
                                    <m:t>𝑖</m:t>
                                  </m:r>
                                </m:sub>
                              </m:sSub>
                            </m:e>
                          </m:d>
                          <m:r>
                            <a:rPr kumimoji="1" lang="en-US" altLang="zh-CN" sz="2400" i="1">
                              <a:latin typeface="Cambria Math" panose="02040503050406030204" pitchFamily="18" charset="0"/>
                            </a:rPr>
                            <m:t>;</m:t>
                          </m:r>
                          <m:r>
                            <a:rPr kumimoji="1" lang="en-US" altLang="zh-CN" sz="2400" b="0" i="1" dirty="0" smtClean="0">
                              <a:latin typeface="Cambria Math" panose="02040503050406030204" pitchFamily="18" charset="0"/>
                            </a:rPr>
                            <m:t>𝜃</m:t>
                          </m:r>
                        </m:e>
                      </m:d>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limLoc m:val="subSup"/>
                          <m:ctrlPr>
                            <a:rPr kumimoji="1" lang="en-US" altLang="zh-CN" sz="2400" b="0" i="1" smtClean="0">
                              <a:latin typeface="Cambria Math" panose="02040503050406030204" pitchFamily="18" charset="0"/>
                            </a:rPr>
                          </m:ctrlPr>
                        </m:naryPr>
                        <m:sub>
                          <m:r>
                            <m:rPr>
                              <m:brk m:alnAt="25"/>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𝑚</m:t>
                          </m:r>
                        </m:sup>
                        <m:e>
                          <m:nary>
                            <m:naryPr>
                              <m:chr m:val="∑"/>
                              <m:limLoc m:val="subSup"/>
                              <m:ctrlPr>
                                <a:rPr kumimoji="1" lang="en-US" altLang="zh-CN" sz="2400" b="0" i="1" smtClean="0">
                                  <a:latin typeface="Cambria Math" panose="02040503050406030204" pitchFamily="18" charset="0"/>
                                </a:rPr>
                              </m:ctrlPr>
                            </m:naryPr>
                            <m:sub>
                              <m:r>
                                <m:rPr>
                                  <m:brk m:alnAt="25"/>
                                </m:rPr>
                                <a:rPr kumimoji="1" lang="en-US" altLang="zh-CN" sz="2400" b="0" i="1" smtClean="0">
                                  <a:latin typeface="Cambria Math" panose="02040503050406030204" pitchFamily="18" charset="0"/>
                                </a:rPr>
                                <m:t>𝑐</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𝑘</m:t>
                              </m:r>
                            </m:sup>
                            <m:e>
                              <m:r>
                                <a:rPr kumimoji="1" lang="en-US" altLang="zh-CN" sz="2400" i="1">
                                  <a:latin typeface="Cambria Math" panose="02040503050406030204" pitchFamily="18" charset="0"/>
                                  <a:ea typeface="Cambria Math" panose="02040503050406030204" pitchFamily="18" charset="0"/>
                                </a:rPr>
                                <m:t>𝕀</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𝑦</m:t>
                                      </m:r>
                                    </m:e>
                                    <m:sub>
                                      <m:r>
                                        <a:rPr kumimoji="1" lang="en-US" altLang="zh-CN" sz="2400" i="1">
                                          <a:latin typeface="Cambria Math" panose="02040503050406030204" pitchFamily="18" charset="0"/>
                                          <a:ea typeface="Cambria Math" panose="02040503050406030204" pitchFamily="18" charset="0"/>
                                        </a:rPr>
                                        <m:t>𝑖</m:t>
                                      </m:r>
                                    </m:sub>
                                  </m:sSub>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𝑐</m:t>
                                  </m:r>
                                </m:e>
                              </m:d>
                              <m:func>
                                <m:funcPr>
                                  <m:ctrlPr>
                                    <a:rPr kumimoji="1" lang="en-US" altLang="zh-CN" sz="2400" b="0" i="1" smtClean="0">
                                      <a:latin typeface="Cambria Math" panose="02040503050406030204" pitchFamily="18" charset="0"/>
                                      <a:ea typeface="Cambria Math" panose="02040503050406030204" pitchFamily="18" charset="0"/>
                                    </a:rPr>
                                  </m:ctrlPr>
                                </m:funcPr>
                                <m:fName>
                                  <m:r>
                                    <m:rPr>
                                      <m:sty m:val="p"/>
                                    </m:rPr>
                                    <a:rPr kumimoji="1" lang="en-US" altLang="zh-CN" sz="2400" b="0" i="0" smtClean="0">
                                      <a:latin typeface="Cambria Math" panose="02040503050406030204" pitchFamily="18" charset="0"/>
                                      <a:ea typeface="Cambria Math" panose="02040503050406030204" pitchFamily="18" charset="0"/>
                                    </a:rPr>
                                    <m:t>log</m:t>
                                  </m:r>
                                </m:fName>
                                <m:e>
                                  <m:sSub>
                                    <m:sSubPr>
                                      <m:ctrlPr>
                                        <a:rPr kumimoji="1" lang="en-US" altLang="zh-CN" sz="2400" i="1">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𝑐</m:t>
                                      </m:r>
                                    </m:sub>
                                  </m:sSub>
                                </m:e>
                              </m:func>
                            </m:e>
                          </m:nary>
                        </m:e>
                      </m:nary>
                    </m:oMath>
                  </m:oMathPara>
                </a14:m>
                <a:endParaRPr lang="zh-CN" altLang="en-US" sz="2400" dirty="0"/>
              </a:p>
            </p:txBody>
          </p:sp>
        </mc:Choice>
        <mc:Fallback xmlns="">
          <p:sp>
            <p:nvSpPr>
              <p:cNvPr id="17" name="文本框 16">
                <a:extLst>
                  <a:ext uri="{FF2B5EF4-FFF2-40B4-BE49-F238E27FC236}">
                    <a16:creationId xmlns:a16="http://schemas.microsoft.com/office/drawing/2014/main" id="{1156D63F-B9D8-E345-9EDB-22F2392D4DAF}"/>
                  </a:ext>
                </a:extLst>
              </p:cNvPr>
              <p:cNvSpPr txBox="1">
                <a:spLocks noRot="1" noChangeAspect="1" noMove="1" noResize="1" noEditPoints="1" noAdjustHandles="1" noChangeArrowheads="1" noChangeShapeType="1" noTextEdit="1"/>
              </p:cNvSpPr>
              <p:nvPr/>
            </p:nvSpPr>
            <p:spPr>
              <a:xfrm>
                <a:off x="2790338" y="5510986"/>
                <a:ext cx="7191862" cy="855683"/>
              </a:xfrm>
              <a:prstGeom prst="rect">
                <a:avLst/>
              </a:prstGeom>
              <a:blipFill>
                <a:blip r:embed="rId5"/>
                <a:stretch>
                  <a:fillRect t="-146377" b="-2217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5727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43</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4164794"/>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a:t>
                </a:r>
                <a:endParaRPr lang="en-US" altLang="zh-CN" sz="2400" dirty="0"/>
              </a:p>
              <a:p>
                <a:pPr marL="800100" lvl="1" indent="-342900">
                  <a:lnSpc>
                    <a:spcPct val="150000"/>
                  </a:lnSpc>
                  <a:buFont typeface="Wingdings" pitchFamily="2" charset="2"/>
                  <a:buChar char="p"/>
                </a:pPr>
                <a:r>
                  <a:rPr kumimoji="1" lang="zh-CN" altLang="en-US" sz="2400" dirty="0"/>
                  <a:t>定义</a:t>
                </a:r>
                <a:r>
                  <a:rPr kumimoji="1" lang="en-US" altLang="zh-CN" sz="2400" dirty="0"/>
                  <a:t>2</a:t>
                </a:r>
                <a:r>
                  <a:rPr kumimoji="1" lang="zh-CN" altLang="en-US" sz="2400" dirty="0"/>
                  <a:t>：给定数据集</a:t>
                </a:r>
                <a14:m>
                  <m:oMath xmlns:m="http://schemas.openxmlformats.org/officeDocument/2006/math">
                    <m:sSubSup>
                      <m:sSubSupPr>
                        <m:ctrlPr>
                          <a:rPr lang="en-US" altLang="zh-CN" sz="2400" i="1">
                            <a:latin typeface="Cambria Math" panose="02040503050406030204" pitchFamily="18" charset="0"/>
                            <a:cs typeface="Times New Roman" panose="02020603050405020304" pitchFamily="18" charset="0"/>
                          </a:rPr>
                        </m:ctrlPr>
                      </m:sSubSupPr>
                      <m:e>
                        <m:r>
                          <a:rPr lang="en-US" altLang="zh-CN" sz="2400" i="1">
                            <a:latin typeface="Cambria Math" panose="02040503050406030204" pitchFamily="18" charset="0"/>
                            <a:cs typeface="Times New Roman" panose="02020603050405020304" pitchFamily="18" charset="0"/>
                          </a:rPr>
                          <m:t>𝐷</m:t>
                        </m:r>
                        <m:r>
                          <a:rPr lang="en-US" altLang="zh-CN" sz="2400" i="1">
                            <a:latin typeface="Cambria Math" panose="02040503050406030204" pitchFamily="18" charset="0"/>
                            <a:cs typeface="Times New Roman" panose="02020603050405020304" pitchFamily="18" charset="0"/>
                          </a:rPr>
                          <m:t>=</m:t>
                        </m:r>
                        <m:d>
                          <m:dPr>
                            <m:begChr m:val="{"/>
                            <m:endChr m:val="}"/>
                            <m:ctrlPr>
                              <a:rPr lang="en-US" altLang="zh-CN" sz="2400" i="1">
                                <a:latin typeface="Cambria Math" panose="02040503050406030204" pitchFamily="18" charset="0"/>
                                <a:cs typeface="Times New Roman" panose="02020603050405020304" pitchFamily="18" charset="0"/>
                              </a:rPr>
                            </m:ctrlPr>
                          </m:dPr>
                          <m:e>
                            <m:d>
                              <m:dPr>
                                <m:ctrlPr>
                                  <a:rPr lang="en-US" altLang="zh-CN" sz="2400" i="1">
                                    <a:latin typeface="Cambria Math" panose="02040503050406030204" pitchFamily="18" charset="0"/>
                                    <a:cs typeface="Times New Roman" panose="02020603050405020304" pitchFamily="18" charset="0"/>
                                  </a:rPr>
                                </m:ctrlPr>
                              </m:dPr>
                              <m:e>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𝑦</m:t>
                                    </m:r>
                                  </m:e>
                                  <m:sub>
                                    <m:r>
                                      <a:rPr lang="en-US" altLang="zh-CN" sz="2400" i="1">
                                        <a:latin typeface="Cambria Math" panose="02040503050406030204" pitchFamily="18" charset="0"/>
                                        <a:cs typeface="Times New Roman" panose="02020603050405020304" pitchFamily="18" charset="0"/>
                                      </a:rPr>
                                      <m:t>𝑖</m:t>
                                    </m:r>
                                  </m:sub>
                                </m:sSub>
                              </m:e>
                            </m:d>
                          </m:e>
                        </m:d>
                      </m:e>
                      <m:sub>
                        <m:r>
                          <a:rPr lang="en-US" altLang="zh-CN" sz="2400" i="1">
                            <a:latin typeface="Cambria Math" panose="02040503050406030204" pitchFamily="18" charset="0"/>
                            <a:cs typeface="Times New Roman" panose="02020603050405020304" pitchFamily="18" charset="0"/>
                          </a:rPr>
                          <m:t>𝑖</m:t>
                        </m:r>
                        <m:r>
                          <a:rPr lang="en-US" altLang="zh-CN" sz="2400" i="1">
                            <a:latin typeface="Cambria Math" panose="02040503050406030204" pitchFamily="18" charset="0"/>
                            <a:cs typeface="Times New Roman" panose="02020603050405020304" pitchFamily="18" charset="0"/>
                          </a:rPr>
                          <m:t>=1</m:t>
                        </m:r>
                      </m:sub>
                      <m:sup>
                        <m:r>
                          <a:rPr lang="en-US" altLang="zh-CN" sz="2400" i="1">
                            <a:latin typeface="Cambria Math" panose="02040503050406030204" pitchFamily="18" charset="0"/>
                            <a:cs typeface="Times New Roman" panose="02020603050405020304" pitchFamily="18" charset="0"/>
                          </a:rPr>
                          <m:t>𝑚</m:t>
                        </m:r>
                      </m:sup>
                    </m:sSubSup>
                  </m:oMath>
                </a14:m>
                <a:r>
                  <a:rPr lang="zh-CN" altLang="en-US" sz="24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𝑖</m:t>
                        </m:r>
                      </m:sub>
                    </m:sSub>
                    <m:r>
                      <a:rPr lang="en-US" altLang="zh-CN" sz="2400" i="1">
                        <a:latin typeface="Cambria Math" panose="02040503050406030204" pitchFamily="18" charset="0"/>
                        <a:cs typeface="Times New Roman" panose="02020603050405020304" pitchFamily="18" charset="0"/>
                      </a:rPr>
                      <m:t>∈</m:t>
                    </m:r>
                    <m:sSup>
                      <m:sSup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400" i="1">
                            <a:latin typeface="Cambria Math" panose="02040503050406030204" pitchFamily="18" charset="0"/>
                            <a:ea typeface="Cambria Math" panose="02040503050406030204" pitchFamily="18" charset="0"/>
                            <a:cs typeface="Times New Roman" panose="02020603050405020304" pitchFamily="18" charset="0"/>
                          </a:rPr>
                          <m:t>𝑑</m:t>
                        </m:r>
                      </m:sup>
                    </m:sSup>
                  </m:oMath>
                </a14:m>
                <a:r>
                  <a:rPr kumimoji="1" lang="zh-CN" altLang="en-US" sz="2400" dirty="0"/>
                  <a:t>且</a:t>
                </a:r>
                <a14:m>
                  <m:oMath xmlns:m="http://schemas.openxmlformats.org/officeDocument/2006/math">
                    <m:sSub>
                      <m:sSubPr>
                        <m:ctrlPr>
                          <a:rPr lang="en-US" altLang="zh-CN" sz="240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0</m:t>
                        </m:r>
                        <m: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0</m:t>
                        </m:r>
                      </m:e>
                    </m:d>
                    <m:r>
                      <a:rPr lang="en-US" altLang="zh-CN" sz="2400"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1" lang="en-US" altLang="zh-CN" sz="2400" i="1">
                            <a:solidFill>
                              <a:srgbClr val="C00000"/>
                            </a:solidFill>
                            <a:latin typeface="Cambria Math" panose="02040503050406030204" pitchFamily="18" charset="0"/>
                            <a:ea typeface="Cambria Math" panose="02040503050406030204" pitchFamily="18" charset="0"/>
                          </a:rPr>
                        </m:ctrlPr>
                      </m:sSupPr>
                      <m:e>
                        <m:r>
                          <a:rPr kumimoji="1" lang="en-US" altLang="zh-CN" sz="2400" i="1">
                            <a:solidFill>
                              <a:srgbClr val="C00000"/>
                            </a:solidFill>
                            <a:latin typeface="Cambria Math" panose="02040503050406030204" pitchFamily="18" charset="0"/>
                            <a:ea typeface="Cambria Math" panose="02040503050406030204" pitchFamily="18" charset="0"/>
                          </a:rPr>
                          <m:t>ℝ</m:t>
                        </m:r>
                      </m:e>
                      <m:sup>
                        <m:r>
                          <a:rPr kumimoji="1" lang="en-US" altLang="zh-CN" sz="2400" i="1">
                            <a:solidFill>
                              <a:srgbClr val="C00000"/>
                            </a:solidFill>
                            <a:latin typeface="Cambria Math" panose="02040503050406030204" pitchFamily="18" charset="0"/>
                            <a:ea typeface="Cambria Math" panose="02040503050406030204" pitchFamily="18" charset="0"/>
                          </a:rPr>
                          <m:t>𝑘</m:t>
                        </m:r>
                      </m:sup>
                    </m:sSup>
                  </m:oMath>
                </a14:m>
                <a:endParaRPr lang="en-US" altLang="zh-CN" sz="2400" dirty="0"/>
              </a:p>
              <a:p>
                <a:pPr marL="800100" lvl="1" indent="-342900">
                  <a:buFont typeface="Wingdings" pitchFamily="2" charset="2"/>
                  <a:buChar char="p"/>
                </a:pPr>
                <a:r>
                  <a:rPr lang="en-US" altLang="zh-CN" sz="2400" dirty="0"/>
                  <a:t>MLP</a:t>
                </a:r>
                <a:r>
                  <a:rPr lang="zh-CN" altLang="en-US" sz="2400" dirty="0"/>
                  <a:t>预测</a:t>
                </a: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r>
                  <a:rPr lang="zh-CN" altLang="en-US" sz="2400" dirty="0"/>
                  <a:t>最大对数似然</a:t>
                </a: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r>
                  <a:rPr lang="zh-CN" altLang="en-US" sz="2400" dirty="0"/>
                  <a:t>交叉熵损失</a:t>
                </a:r>
                <a:r>
                  <a:rPr lang="en-US" altLang="zh-CN" sz="2400" dirty="0"/>
                  <a:t>(Cross-entropy Loss)</a:t>
                </a:r>
                <a:r>
                  <a:rPr lang="zh-CN" altLang="en-US" sz="2400" dirty="0"/>
                  <a:t>：</a:t>
                </a:r>
                <a:r>
                  <a:rPr kumimoji="1" lang="en-US" altLang="zh-CN" sz="2400" b="0" dirty="0">
                    <a:ea typeface="Cambria Math" panose="02040503050406030204" pitchFamily="18" charset="0"/>
                  </a:rPr>
                  <a:t> </a:t>
                </a:r>
                <a14:m>
                  <m:oMath xmlns:m="http://schemas.openxmlformats.org/officeDocument/2006/math">
                    <m:r>
                      <a:rPr kumimoji="1" lang="en-US" altLang="zh-CN" sz="2400" b="0" i="1" smtClean="0">
                        <a:solidFill>
                          <a:schemeClr val="tx1"/>
                        </a:solidFill>
                        <a:latin typeface="Cambria Math" panose="02040503050406030204" pitchFamily="18" charset="0"/>
                        <a:ea typeface="Cambria Math" panose="02040503050406030204" pitchFamily="18" charset="0"/>
                      </a:rPr>
                      <m:t>ℒ</m:t>
                    </m:r>
                    <m:d>
                      <m:dPr>
                        <m:ctrlPr>
                          <a:rPr kumimoji="1" lang="en-US" altLang="zh-CN" sz="2400" b="0" i="1" smtClean="0">
                            <a:solidFill>
                              <a:schemeClr val="tx1"/>
                            </a:solidFill>
                            <a:latin typeface="Cambria Math" panose="02040503050406030204" pitchFamily="18" charset="0"/>
                            <a:ea typeface="Cambria Math" panose="02040503050406030204" pitchFamily="18" charset="0"/>
                          </a:rPr>
                        </m:ctrlPr>
                      </m:dPr>
                      <m:e>
                        <m:r>
                          <a:rPr kumimoji="1" lang="en-US" altLang="zh-CN" sz="2400" b="0" i="1" smtClean="0">
                            <a:solidFill>
                              <a:schemeClr val="tx1"/>
                            </a:solidFill>
                            <a:latin typeface="Cambria Math" panose="02040503050406030204" pitchFamily="18" charset="0"/>
                            <a:ea typeface="Cambria Math" panose="02040503050406030204" pitchFamily="18" charset="0"/>
                          </a:rPr>
                          <m:t>𝜃</m:t>
                        </m:r>
                        <m:r>
                          <a:rPr kumimoji="1"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cs typeface="Times New Roman" panose="02020603050405020304" pitchFamily="18" charset="0"/>
                          </a:rPr>
                          <m:t>𝐷</m:t>
                        </m:r>
                      </m:e>
                    </m:d>
                    <m:r>
                      <a:rPr lang="en-US" altLang="zh-CN" sz="2400" b="0" i="1" smtClean="0">
                        <a:solidFill>
                          <a:schemeClr val="tx1"/>
                        </a:solidFill>
                        <a:latin typeface="Cambria Math" panose="02040503050406030204" pitchFamily="18" charset="0"/>
                        <a:cs typeface="Times New Roman" panose="02020603050405020304" pitchFamily="18" charset="0"/>
                      </a:rPr>
                      <m:t>=−</m:t>
                    </m:r>
                    <m:r>
                      <a:rPr kumimoji="1" lang="en-US" altLang="zh-CN" sz="2400" i="1">
                        <a:solidFill>
                          <a:schemeClr val="tx1"/>
                        </a:solidFill>
                        <a:latin typeface="Cambria Math" panose="02040503050406030204" pitchFamily="18" charset="0"/>
                      </a:rPr>
                      <m:t>𝑝</m:t>
                    </m:r>
                    <m:d>
                      <m:dPr>
                        <m:ctrlPr>
                          <a:rPr kumimoji="1" lang="en-US" altLang="zh-CN" sz="2400" i="1">
                            <a:solidFill>
                              <a:schemeClr val="tx1"/>
                            </a:solidFill>
                            <a:latin typeface="Cambria Math" panose="02040503050406030204" pitchFamily="18" charset="0"/>
                          </a:rPr>
                        </m:ctrlPr>
                      </m:dPr>
                      <m:e>
                        <m:d>
                          <m:dPr>
                            <m:begChr m:val="{"/>
                            <m:endChr m:val="}"/>
                            <m:ctrlPr>
                              <a:rPr kumimoji="1" lang="en-US" altLang="zh-CN" sz="2400" i="1">
                                <a:solidFill>
                                  <a:schemeClr val="tx1"/>
                                </a:solidFill>
                                <a:latin typeface="Cambria Math" panose="02040503050406030204" pitchFamily="18" charset="0"/>
                              </a:rPr>
                            </m:ctrlPr>
                          </m:dPr>
                          <m:e>
                            <m:sSub>
                              <m:sSubPr>
                                <m:ctrlPr>
                                  <a:rPr kumimoji="1" lang="en-US" altLang="zh-CN" sz="2400" i="1">
                                    <a:solidFill>
                                      <a:schemeClr val="tx1"/>
                                    </a:solidFill>
                                    <a:latin typeface="Cambria Math" panose="02040503050406030204" pitchFamily="18" charset="0"/>
                                  </a:rPr>
                                </m:ctrlPr>
                              </m:sSubPr>
                              <m:e>
                                <m:r>
                                  <a:rPr kumimoji="1" lang="en-US" altLang="zh-CN" sz="2400" i="1">
                                    <a:solidFill>
                                      <a:schemeClr val="tx1"/>
                                    </a:solidFill>
                                    <a:latin typeface="Cambria Math" panose="02040503050406030204" pitchFamily="18" charset="0"/>
                                  </a:rPr>
                                  <m:t>𝑦</m:t>
                                </m:r>
                              </m:e>
                              <m:sub>
                                <m:r>
                                  <a:rPr kumimoji="1" lang="en-US" altLang="zh-CN" sz="2400" i="1">
                                    <a:solidFill>
                                      <a:schemeClr val="tx1"/>
                                    </a:solidFill>
                                    <a:latin typeface="Cambria Math" panose="02040503050406030204" pitchFamily="18" charset="0"/>
                                  </a:rPr>
                                  <m:t>𝑖</m:t>
                                </m:r>
                              </m:sub>
                            </m:sSub>
                          </m:e>
                        </m:d>
                        <m:r>
                          <a:rPr kumimoji="1" lang="en-US" altLang="zh-CN" sz="2400" i="1">
                            <a:solidFill>
                              <a:schemeClr val="tx1"/>
                            </a:solidFill>
                            <a:latin typeface="Cambria Math" panose="02040503050406030204" pitchFamily="18" charset="0"/>
                          </a:rPr>
                          <m:t>|</m:t>
                        </m:r>
                        <m:d>
                          <m:dPr>
                            <m:begChr m:val="{"/>
                            <m:endChr m:val="}"/>
                            <m:ctrlPr>
                              <a:rPr kumimoji="1" lang="en-US" altLang="zh-CN" sz="2400" i="1">
                                <a:solidFill>
                                  <a:schemeClr val="tx1"/>
                                </a:solidFill>
                                <a:latin typeface="Cambria Math" panose="02040503050406030204" pitchFamily="18" charset="0"/>
                              </a:rPr>
                            </m:ctrlPr>
                          </m:dPr>
                          <m:e>
                            <m:sSub>
                              <m:sSubPr>
                                <m:ctrlPr>
                                  <a:rPr kumimoji="1" lang="en-US" altLang="zh-CN" sz="2400" i="1">
                                    <a:solidFill>
                                      <a:schemeClr val="tx1"/>
                                    </a:solidFill>
                                    <a:latin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rPr>
                                  <m:t>𝑖</m:t>
                                </m:r>
                              </m:sub>
                            </m:sSub>
                          </m:e>
                        </m:d>
                        <m:r>
                          <a:rPr kumimoji="1" lang="en-US" altLang="zh-CN" sz="2400" i="1">
                            <a:solidFill>
                              <a:schemeClr val="tx1"/>
                            </a:solidFill>
                            <a:latin typeface="Cambria Math" panose="02040503050406030204" pitchFamily="18" charset="0"/>
                          </a:rPr>
                          <m:t>;</m:t>
                        </m:r>
                        <m:r>
                          <a:rPr kumimoji="1" lang="en-US" altLang="zh-CN" sz="2400" i="1" dirty="0">
                            <a:solidFill>
                              <a:schemeClr val="tx1"/>
                            </a:solidFill>
                            <a:latin typeface="Cambria Math" panose="02040503050406030204" pitchFamily="18" charset="0"/>
                          </a:rPr>
                          <m:t>𝜃</m:t>
                        </m:r>
                      </m:e>
                    </m:d>
                  </m:oMath>
                </a14:m>
                <a:endParaRPr lang="en-US" altLang="zh-CN" sz="24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548640" y="2680650"/>
                <a:ext cx="11440160" cy="4164794"/>
              </a:xfrm>
              <a:prstGeom prst="rect">
                <a:avLst/>
              </a:prstGeom>
              <a:blipFill>
                <a:blip r:embed="rId3"/>
                <a:stretch>
                  <a:fillRect l="-776" b="-2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343C126-FAE4-654A-8A49-8397F90075C6}"/>
                  </a:ext>
                </a:extLst>
              </p:cNvPr>
              <p:cNvSpPr txBox="1"/>
              <p:nvPr/>
            </p:nvSpPr>
            <p:spPr>
              <a:xfrm>
                <a:off x="1928289" y="4134809"/>
                <a:ext cx="7849589" cy="12813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rPr>
                          </m:ctrlPr>
                        </m:sSubPr>
                        <m:e>
                          <m:sSub>
                            <m:sSubPr>
                              <m:ctrlPr>
                                <a:rPr kumimoji="1" lang="en-US" altLang="zh-CN" sz="2400" i="1">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𝑓</m:t>
                          </m:r>
                        </m:e>
                        <m:sub>
                          <m:r>
                            <m:rPr>
                              <m:sty m:val="p"/>
                            </m:rPr>
                            <a:rPr kumimoji="1" lang="en-US" altLang="zh-CN" sz="2400" b="0" i="0" smtClean="0">
                              <a:latin typeface="Cambria Math" panose="02040503050406030204" pitchFamily="18" charset="0"/>
                            </a:rPr>
                            <m:t>MLP</m:t>
                          </m:r>
                        </m:sub>
                      </m:sSub>
                      <m:d>
                        <m:dPr>
                          <m:ctrlPr>
                            <a:rPr kumimoji="1" lang="en-US" altLang="zh-CN" sz="2400" b="0" i="1" smtClean="0">
                              <a:latin typeface="Cambria Math" panose="02040503050406030204" pitchFamily="18" charset="0"/>
                            </a:rPr>
                          </m:ctrlPr>
                        </m:dPr>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e>
                      </m:d>
                      <m:r>
                        <a:rPr kumimoji="1" lang="en-US" altLang="zh-CN" sz="2400" b="0" i="1" smtClean="0">
                          <a:latin typeface="Cambria Math" panose="02040503050406030204" pitchFamily="18" charset="0"/>
                        </a:rPr>
                        <m:t>=</m:t>
                      </m:r>
                      <m:d>
                        <m:dPr>
                          <m:begChr m:val="["/>
                          <m:endChr m:val="]"/>
                          <m:ctrlPr>
                            <a:rPr kumimoji="1" lang="en-US" altLang="zh-CN" sz="2400" i="1">
                              <a:latin typeface="Cambria Math" panose="02040503050406030204" pitchFamily="18" charset="0"/>
                            </a:rPr>
                          </m:ctrlPr>
                        </m:dPr>
                        <m:e>
                          <m:f>
                            <m:fPr>
                              <m:ctrlPr>
                                <a:rPr kumimoji="1" lang="en-US" altLang="zh-CN" sz="2400" i="1">
                                  <a:latin typeface="Cambria Math" panose="02040503050406030204" pitchFamily="18" charset="0"/>
                                </a:rPr>
                              </m:ctrlPr>
                            </m:fPr>
                            <m:num>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1</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num>
                            <m:den>
                              <m:nary>
                                <m:naryPr>
                                  <m:chr m:val="∑"/>
                                  <m:limLoc m:val="subSup"/>
                                  <m:ctrlPr>
                                    <a:rPr kumimoji="1" lang="en-US" altLang="zh-CN" sz="2400" i="1">
                                      <a:latin typeface="Cambria Math" panose="02040503050406030204" pitchFamily="18" charset="0"/>
                                    </a:rPr>
                                  </m:ctrlPr>
                                </m:naryPr>
                                <m:sub>
                                  <m:r>
                                    <m:rPr>
                                      <m:brk m:alnAt="1"/>
                                    </m:rPr>
                                    <a:rPr kumimoji="1" lang="en-US" altLang="zh-CN" sz="2400" i="1">
                                      <a:latin typeface="Cambria Math" panose="02040503050406030204" pitchFamily="18" charset="0"/>
                                    </a:rPr>
                                    <m:t>𝑐</m:t>
                                  </m:r>
                                  <m:r>
                                    <m:rPr>
                                      <m:brk m:alnAt="25"/>
                                    </m:rPr>
                                    <a:rPr kumimoji="1" lang="en-US" altLang="zh-CN" sz="2400" i="1">
                                      <a:latin typeface="Cambria Math" panose="02040503050406030204" pitchFamily="18" charset="0"/>
                                    </a:rPr>
                                    <m:t>=</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𝑐</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e>
                              </m:nary>
                            </m:den>
                          </m:f>
                          <m:r>
                            <a:rPr kumimoji="1" lang="en-US" altLang="zh-CN" sz="2400" i="1">
                              <a:latin typeface="Cambria Math" panose="02040503050406030204" pitchFamily="18" charset="0"/>
                            </a:rPr>
                            <m:t>;…;</m:t>
                          </m:r>
                          <m:f>
                            <m:fPr>
                              <m:ctrlPr>
                                <a:rPr kumimoji="1" lang="en-US" altLang="zh-CN" sz="2400" i="1">
                                  <a:latin typeface="Cambria Math" panose="02040503050406030204" pitchFamily="18" charset="0"/>
                                </a:rPr>
                              </m:ctrlPr>
                            </m:fPr>
                            <m:num>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𝑘</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num>
                            <m:den>
                              <m:nary>
                                <m:naryPr>
                                  <m:chr m:val="∑"/>
                                  <m:limLoc m:val="subSup"/>
                                  <m:ctrlPr>
                                    <a:rPr kumimoji="1" lang="en-US" altLang="zh-CN" sz="2400" i="1">
                                      <a:latin typeface="Cambria Math" panose="02040503050406030204" pitchFamily="18" charset="0"/>
                                    </a:rPr>
                                  </m:ctrlPr>
                                </m:naryPr>
                                <m:sub>
                                  <m:r>
                                    <m:rPr>
                                      <m:brk m:alnAt="1"/>
                                    </m:rPr>
                                    <a:rPr kumimoji="1" lang="en-US" altLang="zh-CN" sz="2400" i="1">
                                      <a:latin typeface="Cambria Math" panose="02040503050406030204" pitchFamily="18" charset="0"/>
                                    </a:rPr>
                                    <m:t>𝑐</m:t>
                                  </m:r>
                                  <m:r>
                                    <m:rPr>
                                      <m:brk m:alnAt="25"/>
                                    </m:rPr>
                                    <a:rPr kumimoji="1" lang="en-US" altLang="zh-CN" sz="2400" i="1">
                                      <a:latin typeface="Cambria Math" panose="02040503050406030204" pitchFamily="18" charset="0"/>
                                    </a:rPr>
                                    <m:t>=</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func>
                                    <m:funcPr>
                                      <m:ctrlPr>
                                        <a:rPr kumimoji="1" lang="en-US" altLang="zh-CN" sz="2400" i="1">
                                          <a:latin typeface="Cambria Math" panose="02040503050406030204" pitchFamily="18" charset="0"/>
                                        </a:rPr>
                                      </m:ctrlPr>
                                    </m:funcPr>
                                    <m:fName>
                                      <m:r>
                                        <m:rPr>
                                          <m:sty m:val="p"/>
                                        </m:rPr>
                                        <a:rPr kumimoji="1" lang="en-US" altLang="zh-CN" sz="2400">
                                          <a:latin typeface="Cambria Math" panose="02040503050406030204" pitchFamily="18" charset="0"/>
                                        </a:rPr>
                                        <m:t>exp</m:t>
                                      </m:r>
                                    </m:fName>
                                    <m:e>
                                      <m:d>
                                        <m:dPr>
                                          <m:ctrlPr>
                                            <a:rPr kumimoji="1" lang="en-US" altLang="zh-CN" sz="2400" i="1">
                                              <a:latin typeface="Cambria Math" panose="02040503050406030204" pitchFamily="18" charset="0"/>
                                            </a:rPr>
                                          </m:ctrlPr>
                                        </m:dPr>
                                        <m:e>
                                          <m:sSubSup>
                                            <m:sSubSupPr>
                                              <m:ctrlPr>
                                                <a:rPr kumimoji="1" lang="en-US" altLang="zh-CN" sz="2400" i="1">
                                                  <a:latin typeface="Cambria Math" panose="02040503050406030204" pitchFamily="18" charset="0"/>
                                                </a:rPr>
                                              </m:ctrlPr>
                                            </m:sSubSupPr>
                                            <m:e>
                                              <m:r>
                                                <m:rPr>
                                                  <m:brk m:alnAt="7"/>
                                                </m:rPr>
                                                <a:rPr kumimoji="1" lang="en-US" altLang="zh-CN" sz="2400" i="1">
                                                  <a:latin typeface="Cambria Math" panose="02040503050406030204" pitchFamily="18" charset="0"/>
                                                </a:rPr>
                                                <m:t>𝑧</m:t>
                                              </m:r>
                                            </m:e>
                                            <m:sub>
                                              <m:r>
                                                <a:rPr kumimoji="1" lang="en-US" altLang="zh-CN" sz="2400" i="1">
                                                  <a:latin typeface="Cambria Math" panose="02040503050406030204" pitchFamily="18" charset="0"/>
                                                </a:rPr>
                                                <m:t>𝑐</m:t>
                                              </m:r>
                                            </m:sub>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bSup>
                                        </m:e>
                                      </m:d>
                                      <m:r>
                                        <a:rPr kumimoji="1" lang="en-US" altLang="zh-CN" sz="2400" i="1">
                                          <a:latin typeface="Cambria Math" panose="02040503050406030204" pitchFamily="18" charset="0"/>
                                        </a:rPr>
                                        <m:t> </m:t>
                                      </m:r>
                                    </m:e>
                                  </m:func>
                                </m:e>
                              </m:nary>
                            </m:den>
                          </m:f>
                        </m:e>
                      </m:d>
                    </m:oMath>
                  </m:oMathPara>
                </a14:m>
                <a:endParaRPr lang="zh-CN" altLang="en-US" sz="2400" dirty="0"/>
              </a:p>
            </p:txBody>
          </p:sp>
        </mc:Choice>
        <mc:Fallback xmlns="">
          <p:sp>
            <p:nvSpPr>
              <p:cNvPr id="19" name="文本框 18">
                <a:extLst>
                  <a:ext uri="{FF2B5EF4-FFF2-40B4-BE49-F238E27FC236}">
                    <a16:creationId xmlns:a16="http://schemas.microsoft.com/office/drawing/2014/main" id="{0343C126-FAE4-654A-8A49-8397F90075C6}"/>
                  </a:ext>
                </a:extLst>
              </p:cNvPr>
              <p:cNvSpPr txBox="1">
                <a:spLocks noRot="1" noChangeAspect="1" noMove="1" noResize="1" noEditPoints="1" noAdjustHandles="1" noChangeArrowheads="1" noChangeShapeType="1" noTextEdit="1"/>
              </p:cNvSpPr>
              <p:nvPr/>
            </p:nvSpPr>
            <p:spPr>
              <a:xfrm>
                <a:off x="1928289" y="4134809"/>
                <a:ext cx="7849589" cy="1281376"/>
              </a:xfrm>
              <a:prstGeom prst="rect">
                <a:avLst/>
              </a:prstGeom>
              <a:blipFill>
                <a:blip r:embed="rId4"/>
                <a:stretch>
                  <a:fillRect b="-607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156D63F-B9D8-E345-9EDB-22F2392D4DAF}"/>
                  </a:ext>
                </a:extLst>
              </p:cNvPr>
              <p:cNvSpPr txBox="1"/>
              <p:nvPr/>
            </p:nvSpPr>
            <p:spPr>
              <a:xfrm>
                <a:off x="2790338" y="5510986"/>
                <a:ext cx="7191862" cy="855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i="1" smtClean="0">
                          <a:latin typeface="Cambria Math" panose="02040503050406030204" pitchFamily="18" charset="0"/>
                        </a:rPr>
                        <m:t>𝑝</m:t>
                      </m:r>
                      <m:d>
                        <m:dPr>
                          <m:ctrlPr>
                            <a:rPr kumimoji="1" lang="en-US" altLang="zh-CN" sz="2400" i="1">
                              <a:latin typeface="Cambria Math" panose="02040503050406030204" pitchFamily="18" charset="0"/>
                            </a:rPr>
                          </m:ctrlPr>
                        </m:dPr>
                        <m:e>
                          <m:d>
                            <m:dPr>
                              <m:begChr m:val="{"/>
                              <m:endChr m:val="}"/>
                              <m:ctrlPr>
                                <a:rPr kumimoji="1" lang="en-US" altLang="zh-CN" sz="2400" i="1">
                                  <a:latin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e>
                          </m:d>
                          <m:r>
                            <a:rPr kumimoji="1" lang="en-US" altLang="zh-CN" sz="2400" i="1">
                              <a:latin typeface="Cambria Math" panose="02040503050406030204" pitchFamily="18" charset="0"/>
                            </a:rPr>
                            <m:t>|</m:t>
                          </m:r>
                          <m:d>
                            <m:dPr>
                              <m:begChr m:val="{"/>
                              <m:endChr m:val="}"/>
                              <m:ctrlPr>
                                <a:rPr kumimoji="1" lang="en-US" altLang="zh-CN" sz="2400" i="1">
                                  <a:latin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𝑥</m:t>
                                  </m:r>
                                </m:e>
                                <m:sub>
                                  <m:r>
                                    <a:rPr kumimoji="1" lang="en-US" altLang="zh-CN" sz="2400" i="1">
                                      <a:latin typeface="Cambria Math" panose="02040503050406030204" pitchFamily="18" charset="0"/>
                                    </a:rPr>
                                    <m:t>𝑖</m:t>
                                  </m:r>
                                </m:sub>
                              </m:sSub>
                            </m:e>
                          </m:d>
                          <m:r>
                            <a:rPr kumimoji="1" lang="en-US" altLang="zh-CN" sz="2400" i="1">
                              <a:latin typeface="Cambria Math" panose="02040503050406030204" pitchFamily="18" charset="0"/>
                            </a:rPr>
                            <m:t>;</m:t>
                          </m:r>
                          <m:r>
                            <a:rPr kumimoji="1" lang="en-US" altLang="zh-CN" sz="2400" b="0" i="1" dirty="0" smtClean="0">
                              <a:latin typeface="Cambria Math" panose="02040503050406030204" pitchFamily="18" charset="0"/>
                            </a:rPr>
                            <m:t>𝜃</m:t>
                          </m:r>
                        </m:e>
                      </m:d>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limLoc m:val="subSup"/>
                          <m:ctrlPr>
                            <a:rPr kumimoji="1" lang="en-US" altLang="zh-CN" sz="2400" b="0" i="1" smtClean="0">
                              <a:latin typeface="Cambria Math" panose="02040503050406030204" pitchFamily="18" charset="0"/>
                            </a:rPr>
                          </m:ctrlPr>
                        </m:naryPr>
                        <m:sub>
                          <m:r>
                            <m:rPr>
                              <m:brk m:alnAt="25"/>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𝑚</m:t>
                          </m:r>
                        </m:sup>
                        <m:e>
                          <m:nary>
                            <m:naryPr>
                              <m:chr m:val="∑"/>
                              <m:limLoc m:val="subSup"/>
                              <m:ctrlPr>
                                <a:rPr kumimoji="1" lang="en-US" altLang="zh-CN" sz="2400" b="0" i="1" smtClean="0">
                                  <a:latin typeface="Cambria Math" panose="02040503050406030204" pitchFamily="18" charset="0"/>
                                </a:rPr>
                              </m:ctrlPr>
                            </m:naryPr>
                            <m:sub>
                              <m:r>
                                <m:rPr>
                                  <m:brk m:alnAt="25"/>
                                </m:rPr>
                                <a:rPr kumimoji="1" lang="en-US" altLang="zh-CN" sz="2400" b="0" i="1" smtClean="0">
                                  <a:latin typeface="Cambria Math" panose="02040503050406030204" pitchFamily="18" charset="0"/>
                                </a:rPr>
                                <m:t>𝑐</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𝑘</m:t>
                              </m:r>
                            </m:sup>
                            <m:e>
                              <m:sSub>
                                <m:sSubPr>
                                  <m:ctrlPr>
                                    <a:rPr kumimoji="1" lang="en-US" altLang="zh-CN" sz="2400" b="0" i="1" smtClean="0">
                                      <a:solidFill>
                                        <a:srgbClr val="C00000"/>
                                      </a:solidFill>
                                      <a:latin typeface="Cambria Math" panose="02040503050406030204" pitchFamily="18" charset="0"/>
                                      <a:ea typeface="Cambria Math" panose="02040503050406030204" pitchFamily="18" charset="0"/>
                                    </a:rPr>
                                  </m:ctrlPr>
                                </m:sSubPr>
                                <m:e>
                                  <m:r>
                                    <a:rPr kumimoji="1" lang="en-US" altLang="zh-CN" sz="2400" b="0" i="1" smtClean="0">
                                      <a:solidFill>
                                        <a:srgbClr val="C00000"/>
                                      </a:solidFill>
                                      <a:latin typeface="Cambria Math" panose="02040503050406030204" pitchFamily="18" charset="0"/>
                                      <a:ea typeface="Cambria Math" panose="02040503050406030204" pitchFamily="18" charset="0"/>
                                    </a:rPr>
                                    <m:t>𝑦</m:t>
                                  </m:r>
                                </m:e>
                                <m:sub>
                                  <m:r>
                                    <a:rPr kumimoji="1" lang="en-US" altLang="zh-CN" sz="2400" b="0" i="1" smtClean="0">
                                      <a:solidFill>
                                        <a:srgbClr val="C00000"/>
                                      </a:solidFill>
                                      <a:latin typeface="Cambria Math" panose="02040503050406030204" pitchFamily="18" charset="0"/>
                                      <a:ea typeface="Cambria Math" panose="02040503050406030204" pitchFamily="18" charset="0"/>
                                    </a:rPr>
                                    <m:t>𝑖</m:t>
                                  </m:r>
                                  <m:r>
                                    <a:rPr kumimoji="1" lang="en-US" altLang="zh-CN" sz="2400" b="0" i="1" smtClean="0">
                                      <a:solidFill>
                                        <a:srgbClr val="C00000"/>
                                      </a:solidFill>
                                      <a:latin typeface="Cambria Math" panose="02040503050406030204" pitchFamily="18" charset="0"/>
                                      <a:ea typeface="Cambria Math" panose="02040503050406030204" pitchFamily="18" charset="0"/>
                                    </a:rPr>
                                    <m:t>,</m:t>
                                  </m:r>
                                  <m:r>
                                    <a:rPr kumimoji="1" lang="en-US" altLang="zh-CN" sz="2400" b="0" i="1" smtClean="0">
                                      <a:solidFill>
                                        <a:srgbClr val="C00000"/>
                                      </a:solidFill>
                                      <a:latin typeface="Cambria Math" panose="02040503050406030204" pitchFamily="18" charset="0"/>
                                      <a:ea typeface="Cambria Math" panose="02040503050406030204" pitchFamily="18" charset="0"/>
                                    </a:rPr>
                                    <m:t>𝑐</m:t>
                                  </m:r>
                                </m:sub>
                              </m:sSub>
                              <m:func>
                                <m:funcPr>
                                  <m:ctrlPr>
                                    <a:rPr kumimoji="1" lang="en-US" altLang="zh-CN" sz="2400" b="0" i="1" smtClean="0">
                                      <a:latin typeface="Cambria Math" panose="02040503050406030204" pitchFamily="18" charset="0"/>
                                      <a:ea typeface="Cambria Math" panose="02040503050406030204" pitchFamily="18" charset="0"/>
                                    </a:rPr>
                                  </m:ctrlPr>
                                </m:funcPr>
                                <m:fName>
                                  <m:r>
                                    <m:rPr>
                                      <m:sty m:val="p"/>
                                    </m:rPr>
                                    <a:rPr kumimoji="1" lang="en-US" altLang="zh-CN" sz="2400" b="0" i="0" smtClean="0">
                                      <a:latin typeface="Cambria Math" panose="02040503050406030204" pitchFamily="18" charset="0"/>
                                      <a:ea typeface="Cambria Math" panose="02040503050406030204" pitchFamily="18" charset="0"/>
                                    </a:rPr>
                                    <m:t>log</m:t>
                                  </m:r>
                                </m:fName>
                                <m:e>
                                  <m:sSub>
                                    <m:sSubPr>
                                      <m:ctrlPr>
                                        <a:rPr kumimoji="1" lang="en-US" altLang="zh-CN" sz="2400" i="1">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𝑐</m:t>
                                      </m:r>
                                    </m:sub>
                                  </m:sSub>
                                </m:e>
                              </m:func>
                            </m:e>
                          </m:nary>
                        </m:e>
                      </m:nary>
                    </m:oMath>
                  </m:oMathPara>
                </a14:m>
                <a:endParaRPr lang="zh-CN" altLang="en-US" sz="2400" dirty="0"/>
              </a:p>
            </p:txBody>
          </p:sp>
        </mc:Choice>
        <mc:Fallback xmlns="">
          <p:sp>
            <p:nvSpPr>
              <p:cNvPr id="17" name="文本框 16">
                <a:extLst>
                  <a:ext uri="{FF2B5EF4-FFF2-40B4-BE49-F238E27FC236}">
                    <a16:creationId xmlns:a16="http://schemas.microsoft.com/office/drawing/2014/main" id="{1156D63F-B9D8-E345-9EDB-22F2392D4DAF}"/>
                  </a:ext>
                </a:extLst>
              </p:cNvPr>
              <p:cNvSpPr txBox="1">
                <a:spLocks noRot="1" noChangeAspect="1" noMove="1" noResize="1" noEditPoints="1" noAdjustHandles="1" noChangeArrowheads="1" noChangeShapeType="1" noTextEdit="1"/>
              </p:cNvSpPr>
              <p:nvPr/>
            </p:nvSpPr>
            <p:spPr>
              <a:xfrm>
                <a:off x="2790338" y="5510986"/>
                <a:ext cx="7191862" cy="855683"/>
              </a:xfrm>
              <a:prstGeom prst="rect">
                <a:avLst/>
              </a:prstGeom>
              <a:blipFill>
                <a:blip r:embed="rId5"/>
                <a:stretch>
                  <a:fillRect t="-146377" b="-2217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64288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44</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1015663"/>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多分类任务：以手写字识别为例</a:t>
            </a:r>
            <a:endParaRPr lang="en-US" altLang="zh-CN" sz="2400" dirty="0"/>
          </a:p>
          <a:p>
            <a:pPr lvl="1"/>
            <a:endParaRPr lang="en-US" altLang="zh-CN" sz="2400" dirty="0"/>
          </a:p>
        </p:txBody>
      </p:sp>
      <p:pic>
        <p:nvPicPr>
          <p:cNvPr id="9" name="圖片 6">
            <a:extLst>
              <a:ext uri="{FF2B5EF4-FFF2-40B4-BE49-F238E27FC236}">
                <a16:creationId xmlns:a16="http://schemas.microsoft.com/office/drawing/2014/main" id="{4F351886-54E3-934D-848B-3C506531D50B}"/>
              </a:ext>
            </a:extLst>
          </p:cNvPr>
          <p:cNvPicPr>
            <a:picLocks noChangeAspect="1"/>
          </p:cNvPicPr>
          <p:nvPr/>
        </p:nvPicPr>
        <p:blipFill>
          <a:blip r:embed="rId3"/>
          <a:stretch>
            <a:fillRect/>
          </a:stretch>
        </p:blipFill>
        <p:spPr>
          <a:xfrm>
            <a:off x="681429" y="3893855"/>
            <a:ext cx="2130022" cy="2116455"/>
          </a:xfrm>
          <a:prstGeom prst="rect">
            <a:avLst/>
          </a:prstGeom>
        </p:spPr>
      </p:pic>
      <p:sp>
        <p:nvSpPr>
          <p:cNvPr id="11" name="文字方塊 7">
            <a:extLst>
              <a:ext uri="{FF2B5EF4-FFF2-40B4-BE49-F238E27FC236}">
                <a16:creationId xmlns:a16="http://schemas.microsoft.com/office/drawing/2014/main" id="{3AF45172-F779-A549-BF34-C15AFFD7BA7C}"/>
              </a:ext>
            </a:extLst>
          </p:cNvPr>
          <p:cNvSpPr txBox="1"/>
          <p:nvPr/>
        </p:nvSpPr>
        <p:spPr>
          <a:xfrm>
            <a:off x="928788" y="5997337"/>
            <a:ext cx="1601872" cy="369332"/>
          </a:xfrm>
          <a:prstGeom prst="rect">
            <a:avLst/>
          </a:prstGeom>
          <a:noFill/>
        </p:spPr>
        <p:txBody>
          <a:bodyPr wrap="square" rtlCol="0">
            <a:spAutoFit/>
          </a:bodyPr>
          <a:lstStyle/>
          <a:p>
            <a:r>
              <a:rPr lang="en-US" altLang="zh-TW" dirty="0">
                <a:latin typeface="Times New Roman" panose="02020603050405020304" charset="0"/>
                <a:cs typeface="Times New Roman" panose="02020603050405020304" charset="0"/>
              </a:rPr>
              <a:t>16 x 16 = 256</a:t>
            </a:r>
            <a:endParaRPr lang="zh-TW" altLang="en-US" dirty="0">
              <a:latin typeface="Times New Roman" panose="02020603050405020304" charset="0"/>
              <a:cs typeface="Times New Roman" panose="02020603050405020304" charset="0"/>
            </a:endParaRPr>
          </a:p>
        </p:txBody>
      </p:sp>
      <p:sp>
        <p:nvSpPr>
          <p:cNvPr id="12" name="矩形 11">
            <a:extLst>
              <a:ext uri="{FF2B5EF4-FFF2-40B4-BE49-F238E27FC236}">
                <a16:creationId xmlns:a16="http://schemas.microsoft.com/office/drawing/2014/main" id="{04662A04-BEDD-824A-B55F-2C51F08B1794}"/>
              </a:ext>
            </a:extLst>
          </p:cNvPr>
          <p:cNvSpPr/>
          <p:nvPr/>
        </p:nvSpPr>
        <p:spPr>
          <a:xfrm>
            <a:off x="3041134" y="35907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3" name="矩形 12">
            <a:extLst>
              <a:ext uri="{FF2B5EF4-FFF2-40B4-BE49-F238E27FC236}">
                <a16:creationId xmlns:a16="http://schemas.microsoft.com/office/drawing/2014/main" id="{7E08CD4D-AE2D-514F-A137-569880831284}"/>
              </a:ext>
            </a:extLst>
          </p:cNvPr>
          <p:cNvSpPr/>
          <p:nvPr/>
        </p:nvSpPr>
        <p:spPr>
          <a:xfrm>
            <a:off x="3109522" y="430846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4" name="矩形 13">
            <a:extLst>
              <a:ext uri="{FF2B5EF4-FFF2-40B4-BE49-F238E27FC236}">
                <a16:creationId xmlns:a16="http://schemas.microsoft.com/office/drawing/2014/main" id="{B033D85B-49DD-CF46-B2F9-9D1032A6BE10}"/>
              </a:ext>
            </a:extLst>
          </p:cNvPr>
          <p:cNvSpPr/>
          <p:nvPr/>
        </p:nvSpPr>
        <p:spPr>
          <a:xfrm>
            <a:off x="3115340" y="37381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15" name="Object 12">
                <a:extLst>
                  <a:ext uri="{FF2B5EF4-FFF2-40B4-BE49-F238E27FC236}">
                    <a16:creationId xmlns:a16="http://schemas.microsoft.com/office/drawing/2014/main" id="{9447875E-B423-F041-9786-3BA5B62C15A6}"/>
                  </a:ext>
                </a:extLst>
              </p:cNvPr>
              <p:cNvSpPr txBox="1"/>
              <p:nvPr/>
            </p:nvSpPr>
            <p:spPr bwMode="auto">
              <a:xfrm>
                <a:off x="3128039" y="3642889"/>
                <a:ext cx="325438" cy="46196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5" name="Object 12">
                <a:extLst>
                  <a:ext uri="{FF2B5EF4-FFF2-40B4-BE49-F238E27FC236}">
                    <a16:creationId xmlns:a16="http://schemas.microsoft.com/office/drawing/2014/main" id="{9447875E-B423-F041-9786-3BA5B62C15A6}"/>
                  </a:ext>
                </a:extLst>
              </p:cNvPr>
              <p:cNvSpPr txBox="1">
                <a:spLocks noRot="1" noChangeAspect="1" noMove="1" noResize="1" noEditPoints="1" noAdjustHandles="1" noChangeArrowheads="1" noChangeShapeType="1" noTextEdit="1"/>
              </p:cNvSpPr>
              <p:nvPr/>
            </p:nvSpPr>
            <p:spPr bwMode="auto">
              <a:xfrm>
                <a:off x="3128039" y="3642889"/>
                <a:ext cx="325438" cy="461962"/>
              </a:xfrm>
              <a:prstGeom prst="rect">
                <a:avLst/>
              </a:prstGeom>
              <a:blipFill>
                <a:blip r:embed="rId4"/>
                <a:stretch>
                  <a:fillRect r="-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Object 12">
                <a:extLst>
                  <a:ext uri="{FF2B5EF4-FFF2-40B4-BE49-F238E27FC236}">
                    <a16:creationId xmlns:a16="http://schemas.microsoft.com/office/drawing/2014/main" id="{2918E6E6-BF26-9E4B-B361-594DC01206E3}"/>
                  </a:ext>
                </a:extLst>
              </p:cNvPr>
              <p:cNvSpPr txBox="1"/>
              <p:nvPr/>
            </p:nvSpPr>
            <p:spPr bwMode="auto">
              <a:xfrm>
                <a:off x="3133335" y="4225618"/>
                <a:ext cx="352425" cy="46196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oMath>
                  </m:oMathPara>
                </a14:m>
                <a:endParaRPr lang="zh-CN" altLang="en-US" dirty="0"/>
              </a:p>
            </p:txBody>
          </p:sp>
        </mc:Choice>
        <mc:Fallback xmlns="">
          <p:sp>
            <p:nvSpPr>
              <p:cNvPr id="16" name="Object 12">
                <a:extLst>
                  <a:ext uri="{FF2B5EF4-FFF2-40B4-BE49-F238E27FC236}">
                    <a16:creationId xmlns:a16="http://schemas.microsoft.com/office/drawing/2014/main" id="{2918E6E6-BF26-9E4B-B361-594DC01206E3}"/>
                  </a:ext>
                </a:extLst>
              </p:cNvPr>
              <p:cNvSpPr txBox="1">
                <a:spLocks noRot="1" noChangeAspect="1" noMove="1" noResize="1" noEditPoints="1" noAdjustHandles="1" noChangeArrowheads="1" noChangeShapeType="1" noTextEdit="1"/>
              </p:cNvSpPr>
              <p:nvPr/>
            </p:nvSpPr>
            <p:spPr bwMode="auto">
              <a:xfrm>
                <a:off x="3133335" y="4225618"/>
                <a:ext cx="352425" cy="461963"/>
              </a:xfrm>
              <a:prstGeom prst="rect">
                <a:avLst/>
              </a:prstGeom>
              <a:blipFill>
                <a:blip r:embed="rId5"/>
                <a:stretch>
                  <a:fillRect r="-3448"/>
                </a:stretch>
              </a:blipFill>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55C85D6B-C15C-4A46-BB93-5ADFA165C5C3}"/>
              </a:ext>
            </a:extLst>
          </p:cNvPr>
          <p:cNvSpPr/>
          <p:nvPr/>
        </p:nvSpPr>
        <p:spPr>
          <a:xfrm>
            <a:off x="3119047" y="570622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0" name="Object 12">
                <a:extLst>
                  <a:ext uri="{FF2B5EF4-FFF2-40B4-BE49-F238E27FC236}">
                    <a16:creationId xmlns:a16="http://schemas.microsoft.com/office/drawing/2014/main" id="{C068EBF9-8346-9248-A53F-132FF2AABF64}"/>
                  </a:ext>
                </a:extLst>
              </p:cNvPr>
              <p:cNvSpPr txBox="1"/>
              <p:nvPr/>
            </p:nvSpPr>
            <p:spPr bwMode="auto">
              <a:xfrm>
                <a:off x="3047124" y="5609458"/>
                <a:ext cx="544512" cy="488950"/>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m:rPr>
                              <m:nor/>
                            </m:rPr>
                            <a:rPr lang="zh-CN" altLang="en-US" i="0">
                              <a:solidFill>
                                <a:srgbClr val="000000"/>
                              </a:solidFill>
                              <a:latin typeface="Cambria Math" panose="02040503050406030204" pitchFamily="18" charset="0"/>
                            </a:rPr>
                            <m:t>256</m:t>
                          </m:r>
                        </m:sub>
                      </m:sSub>
                    </m:oMath>
                  </m:oMathPara>
                </a14:m>
                <a:endParaRPr lang="zh-CN" altLang="en-US"/>
              </a:p>
            </p:txBody>
          </p:sp>
        </mc:Choice>
        <mc:Fallback xmlns="">
          <p:sp>
            <p:nvSpPr>
              <p:cNvPr id="20" name="Object 12">
                <a:extLst>
                  <a:ext uri="{FF2B5EF4-FFF2-40B4-BE49-F238E27FC236}">
                    <a16:creationId xmlns:a16="http://schemas.microsoft.com/office/drawing/2014/main" id="{C068EBF9-8346-9248-A53F-132FF2AABF64}"/>
                  </a:ext>
                </a:extLst>
              </p:cNvPr>
              <p:cNvSpPr txBox="1">
                <a:spLocks noRot="1" noChangeAspect="1" noMove="1" noResize="1" noEditPoints="1" noAdjustHandles="1" noChangeArrowheads="1" noChangeShapeType="1" noTextEdit="1"/>
              </p:cNvSpPr>
              <p:nvPr/>
            </p:nvSpPr>
            <p:spPr bwMode="auto">
              <a:xfrm>
                <a:off x="3047124" y="5609458"/>
                <a:ext cx="544512" cy="488950"/>
              </a:xfrm>
              <a:prstGeom prst="rect">
                <a:avLst/>
              </a:prstGeom>
              <a:blipFill>
                <a:blip r:embed="rId6"/>
                <a:stretch>
                  <a:fillRect r="-18605"/>
                </a:stretch>
              </a:blipFill>
            </p:spPr>
            <p:txBody>
              <a:bodyPr/>
              <a:lstStyle/>
              <a:p>
                <a:r>
                  <a:rPr lang="zh-CN" altLang="en-US">
                    <a:noFill/>
                  </a:rPr>
                  <a:t> </a:t>
                </a:r>
              </a:p>
            </p:txBody>
          </p:sp>
        </mc:Fallback>
      </mc:AlternateContent>
      <p:sp>
        <p:nvSpPr>
          <p:cNvPr id="21" name="文字方塊 15">
            <a:extLst>
              <a:ext uri="{FF2B5EF4-FFF2-40B4-BE49-F238E27FC236}">
                <a16:creationId xmlns:a16="http://schemas.microsoft.com/office/drawing/2014/main" id="{CE2C76B7-BEDF-DB41-B401-F61156D269E7}"/>
              </a:ext>
            </a:extLst>
          </p:cNvPr>
          <p:cNvSpPr txBox="1"/>
          <p:nvPr/>
        </p:nvSpPr>
        <p:spPr>
          <a:xfrm rot="5400000">
            <a:off x="3014592" y="5021490"/>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22" name="手繪多邊形 16">
            <a:extLst>
              <a:ext uri="{FF2B5EF4-FFF2-40B4-BE49-F238E27FC236}">
                <a16:creationId xmlns:a16="http://schemas.microsoft.com/office/drawing/2014/main" id="{54242462-3614-CE48-9E6D-AECC36FE74A3}"/>
              </a:ext>
            </a:extLst>
          </p:cNvPr>
          <p:cNvSpPr/>
          <p:nvPr/>
        </p:nvSpPr>
        <p:spPr>
          <a:xfrm>
            <a:off x="807161" y="3652170"/>
            <a:ext cx="2305050" cy="363941"/>
          </a:xfrm>
          <a:custGeom>
            <a:avLst/>
            <a:gdLst>
              <a:gd name="connsiteX0" fmla="*/ 0 w 2305050"/>
              <a:gd name="connsiteY0" fmla="*/ 374550 h 374550"/>
              <a:gd name="connsiteX1" fmla="*/ 876300 w 2305050"/>
              <a:gd name="connsiteY1" fmla="*/ 6250 h 374550"/>
              <a:gd name="connsiteX2" fmla="*/ 2305050 w 2305050"/>
              <a:gd name="connsiteY2" fmla="*/ 177700 h 374550"/>
            </a:gdLst>
            <a:ahLst/>
            <a:cxnLst>
              <a:cxn ang="0">
                <a:pos x="connsiteX0" y="connsiteY0"/>
              </a:cxn>
              <a:cxn ang="0">
                <a:pos x="connsiteX1" y="connsiteY1"/>
              </a:cxn>
              <a:cxn ang="0">
                <a:pos x="connsiteX2" y="connsiteY2"/>
              </a:cxn>
            </a:cxnLst>
            <a:rect l="l" t="t" r="r" b="b"/>
            <a:pathLst>
              <a:path w="2305050" h="374550">
                <a:moveTo>
                  <a:pt x="0" y="374550"/>
                </a:moveTo>
                <a:cubicBezTo>
                  <a:pt x="246062" y="206804"/>
                  <a:pt x="492125" y="39058"/>
                  <a:pt x="876300" y="6250"/>
                </a:cubicBezTo>
                <a:cubicBezTo>
                  <a:pt x="1260475" y="-26558"/>
                  <a:pt x="1782762" y="75571"/>
                  <a:pt x="2305050" y="17770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3" name="手繪多邊形 17">
            <a:extLst>
              <a:ext uri="{FF2B5EF4-FFF2-40B4-BE49-F238E27FC236}">
                <a16:creationId xmlns:a16="http://schemas.microsoft.com/office/drawing/2014/main" id="{4ABED81D-13EF-834C-B406-AE66CB31C57E}"/>
              </a:ext>
            </a:extLst>
          </p:cNvPr>
          <p:cNvSpPr/>
          <p:nvPr/>
        </p:nvSpPr>
        <p:spPr>
          <a:xfrm>
            <a:off x="940511" y="3825111"/>
            <a:ext cx="2171700" cy="646109"/>
          </a:xfrm>
          <a:custGeom>
            <a:avLst/>
            <a:gdLst>
              <a:gd name="connsiteX0" fmla="*/ 0 w 2171700"/>
              <a:gd name="connsiteY0" fmla="*/ 188909 h 646109"/>
              <a:gd name="connsiteX1" fmla="*/ 1073150 w 2171700"/>
              <a:gd name="connsiteY1" fmla="*/ 23809 h 646109"/>
              <a:gd name="connsiteX2" fmla="*/ 2171700 w 2171700"/>
              <a:gd name="connsiteY2" fmla="*/ 646109 h 646109"/>
            </a:gdLst>
            <a:ahLst/>
            <a:cxnLst>
              <a:cxn ang="0">
                <a:pos x="connsiteX0" y="connsiteY0"/>
              </a:cxn>
              <a:cxn ang="0">
                <a:pos x="connsiteX1" y="connsiteY1"/>
              </a:cxn>
              <a:cxn ang="0">
                <a:pos x="connsiteX2" y="connsiteY2"/>
              </a:cxn>
            </a:cxnLst>
            <a:rect l="l" t="t" r="r" b="b"/>
            <a:pathLst>
              <a:path w="2171700" h="646109">
                <a:moveTo>
                  <a:pt x="0" y="188909"/>
                </a:moveTo>
                <a:cubicBezTo>
                  <a:pt x="355600" y="68259"/>
                  <a:pt x="711200" y="-52391"/>
                  <a:pt x="1073150" y="23809"/>
                </a:cubicBezTo>
                <a:cubicBezTo>
                  <a:pt x="1435100" y="100009"/>
                  <a:pt x="1803400" y="373059"/>
                  <a:pt x="2171700" y="646109"/>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4" name="手繪多邊形 18">
            <a:extLst>
              <a:ext uri="{FF2B5EF4-FFF2-40B4-BE49-F238E27FC236}">
                <a16:creationId xmlns:a16="http://schemas.microsoft.com/office/drawing/2014/main" id="{CDC085CF-79E5-DC44-8CDC-1D3795116FBD}"/>
              </a:ext>
            </a:extLst>
          </p:cNvPr>
          <p:cNvSpPr/>
          <p:nvPr/>
        </p:nvSpPr>
        <p:spPr>
          <a:xfrm>
            <a:off x="2674061" y="5868220"/>
            <a:ext cx="463550" cy="243308"/>
          </a:xfrm>
          <a:custGeom>
            <a:avLst/>
            <a:gdLst>
              <a:gd name="connsiteX0" fmla="*/ 0 w 463550"/>
              <a:gd name="connsiteY0" fmla="*/ 0 h 243308"/>
              <a:gd name="connsiteX1" fmla="*/ 101600 w 463550"/>
              <a:gd name="connsiteY1" fmla="*/ 241300 h 243308"/>
              <a:gd name="connsiteX2" fmla="*/ 463550 w 463550"/>
              <a:gd name="connsiteY2" fmla="*/ 95250 h 243308"/>
            </a:gdLst>
            <a:ahLst/>
            <a:cxnLst>
              <a:cxn ang="0">
                <a:pos x="connsiteX0" y="connsiteY0"/>
              </a:cxn>
              <a:cxn ang="0">
                <a:pos x="connsiteX1" y="connsiteY1"/>
              </a:cxn>
              <a:cxn ang="0">
                <a:pos x="connsiteX2" y="connsiteY2"/>
              </a:cxn>
            </a:cxnLst>
            <a:rect l="l" t="t" r="r" b="b"/>
            <a:pathLst>
              <a:path w="463550" h="243308">
                <a:moveTo>
                  <a:pt x="0" y="0"/>
                </a:moveTo>
                <a:cubicBezTo>
                  <a:pt x="12171" y="112712"/>
                  <a:pt x="24342" y="225425"/>
                  <a:pt x="101600" y="241300"/>
                </a:cubicBezTo>
                <a:cubicBezTo>
                  <a:pt x="178858" y="257175"/>
                  <a:pt x="321204" y="176212"/>
                  <a:pt x="463550" y="9525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6" name="文本框 25">
            <a:extLst>
              <a:ext uri="{FF2B5EF4-FFF2-40B4-BE49-F238E27FC236}">
                <a16:creationId xmlns:a16="http://schemas.microsoft.com/office/drawing/2014/main" id="{98CA6112-0070-5044-9AB2-B39EE406531A}"/>
              </a:ext>
            </a:extLst>
          </p:cNvPr>
          <p:cNvSpPr txBox="1"/>
          <p:nvPr/>
        </p:nvSpPr>
        <p:spPr>
          <a:xfrm>
            <a:off x="2778077" y="6339041"/>
            <a:ext cx="1151517" cy="430887"/>
          </a:xfrm>
          <a:prstGeom prst="rect">
            <a:avLst/>
          </a:prstGeom>
          <a:noFill/>
        </p:spPr>
        <p:txBody>
          <a:bodyPr wrap="square">
            <a:spAutoFit/>
          </a:bodyPr>
          <a:lstStyle/>
          <a:p>
            <a:r>
              <a:rPr kumimoji="1" lang="zh-CN" altLang="en-US" sz="2200" dirty="0"/>
              <a:t>输入层</a:t>
            </a:r>
            <a:endParaRPr lang="zh-CN" altLang="en-US" sz="2200" dirty="0"/>
          </a:p>
        </p:txBody>
      </p:sp>
      <p:sp>
        <p:nvSpPr>
          <p:cNvPr id="150" name="矩形 149">
            <a:extLst>
              <a:ext uri="{FF2B5EF4-FFF2-40B4-BE49-F238E27FC236}">
                <a16:creationId xmlns:a16="http://schemas.microsoft.com/office/drawing/2014/main" id="{118FB392-0D35-0340-A7B3-B13E7A37EC08}"/>
              </a:ext>
            </a:extLst>
          </p:cNvPr>
          <p:cNvSpPr/>
          <p:nvPr/>
        </p:nvSpPr>
        <p:spPr>
          <a:xfrm>
            <a:off x="4249632" y="3942747"/>
            <a:ext cx="2034073" cy="151675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2400" dirty="0">
                <a:solidFill>
                  <a:schemeClr val="tx1"/>
                </a:solidFill>
                <a:cs typeface="Times New Roman" panose="02020603050405020304" charset="0"/>
              </a:rPr>
              <a:t>隐藏层</a:t>
            </a:r>
          </a:p>
        </p:txBody>
      </p:sp>
      <p:sp>
        <p:nvSpPr>
          <p:cNvPr id="151" name="向右箭號 7">
            <a:extLst>
              <a:ext uri="{FF2B5EF4-FFF2-40B4-BE49-F238E27FC236}">
                <a16:creationId xmlns:a16="http://schemas.microsoft.com/office/drawing/2014/main" id="{4D67F5E2-9269-E94D-BE1F-E0A4850FCD18}"/>
              </a:ext>
            </a:extLst>
          </p:cNvPr>
          <p:cNvSpPr/>
          <p:nvPr/>
        </p:nvSpPr>
        <p:spPr>
          <a:xfrm>
            <a:off x="3669482" y="4400016"/>
            <a:ext cx="520225" cy="706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52" name="向右箭號 8">
            <a:extLst>
              <a:ext uri="{FF2B5EF4-FFF2-40B4-BE49-F238E27FC236}">
                <a16:creationId xmlns:a16="http://schemas.microsoft.com/office/drawing/2014/main" id="{C4835187-FB2B-F044-B0D0-8D885B1B4166}"/>
              </a:ext>
            </a:extLst>
          </p:cNvPr>
          <p:cNvSpPr/>
          <p:nvPr/>
        </p:nvSpPr>
        <p:spPr>
          <a:xfrm>
            <a:off x="6335014" y="4452312"/>
            <a:ext cx="539483" cy="6015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grpSp>
        <p:nvGrpSpPr>
          <p:cNvPr id="155" name="群組 19">
            <a:extLst>
              <a:ext uri="{FF2B5EF4-FFF2-40B4-BE49-F238E27FC236}">
                <a16:creationId xmlns:a16="http://schemas.microsoft.com/office/drawing/2014/main" id="{378B5F22-4CC7-044E-B061-62F66FBCB5F2}"/>
              </a:ext>
            </a:extLst>
          </p:cNvPr>
          <p:cNvGrpSpPr/>
          <p:nvPr/>
        </p:nvGrpSpPr>
        <p:grpSpPr>
          <a:xfrm>
            <a:off x="6913047" y="3277678"/>
            <a:ext cx="671956" cy="2819805"/>
            <a:chOff x="7081524" y="1810193"/>
            <a:chExt cx="671956" cy="2819805"/>
          </a:xfrm>
        </p:grpSpPr>
        <p:sp>
          <p:nvSpPr>
            <p:cNvPr id="156" name="矩形 155">
              <a:extLst>
                <a:ext uri="{FF2B5EF4-FFF2-40B4-BE49-F238E27FC236}">
                  <a16:creationId xmlns:a16="http://schemas.microsoft.com/office/drawing/2014/main" id="{CF29C415-798E-6248-A0A8-A9500D788813}"/>
                </a:ext>
              </a:extLst>
            </p:cNvPr>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57" name="文字方塊 21">
              <a:extLst>
                <a:ext uri="{FF2B5EF4-FFF2-40B4-BE49-F238E27FC236}">
                  <a16:creationId xmlns:a16="http://schemas.microsoft.com/office/drawing/2014/main" id="{7A1EE276-7EE7-284B-9F70-F9D7B2FD83CE}"/>
                </a:ext>
              </a:extLst>
            </p:cNvPr>
            <p:cNvSpPr txBox="1"/>
            <p:nvPr/>
          </p:nvSpPr>
          <p:spPr>
            <a:xfrm rot="5400000">
              <a:off x="7107241" y="3482548"/>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158" name="文字方塊 22">
                  <a:extLst>
                    <a:ext uri="{FF2B5EF4-FFF2-40B4-BE49-F238E27FC236}">
                      <a16:creationId xmlns:a16="http://schemas.microsoft.com/office/drawing/2014/main" id="{880ADEAB-126C-8E4D-999A-B47B8D26C48D}"/>
                    </a:ext>
                  </a:extLst>
                </p:cNvPr>
                <p:cNvSpPr txBox="1"/>
                <p:nvPr/>
              </p:nvSpPr>
              <p:spPr>
                <a:xfrm>
                  <a:off x="7081524" y="1810193"/>
                  <a:ext cx="631069" cy="543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000" b="0" i="1" baseline="-25000" smtClean="0">
                                <a:latin typeface="Cambria Math" panose="02040503050406030204" pitchFamily="18" charset="0"/>
                                <a:cs typeface="Times New Roman" panose="02020603050405020304" charset="0"/>
                              </a:rPr>
                            </m:ctrlPr>
                          </m:sSubPr>
                          <m:e>
                            <m:r>
                              <a:rPr lang="en-US" altLang="zh-TW" sz="3000" b="0" i="1" baseline="-25000" smtClean="0">
                                <a:latin typeface="Cambria Math" panose="02040503050406030204" pitchFamily="18" charset="0"/>
                                <a:cs typeface="Times New Roman" panose="02020603050405020304" charset="0"/>
                              </a:rPr>
                              <m:t>𝑍</m:t>
                            </m:r>
                          </m:e>
                          <m:sub>
                            <m:r>
                              <a:rPr lang="en-US" altLang="zh-TW" sz="3000" b="0" i="1" baseline="-25000" smtClean="0">
                                <a:latin typeface="Cambria Math" panose="02040503050406030204" pitchFamily="18" charset="0"/>
                                <a:cs typeface="Times New Roman" panose="02020603050405020304" charset="0"/>
                              </a:rPr>
                              <m:t>1</m:t>
                            </m:r>
                          </m:sub>
                        </m:sSub>
                      </m:oMath>
                    </m:oMathPara>
                  </a14:m>
                  <a:endParaRPr lang="zh-TW" altLang="en-US" sz="3000" baseline="-25000" dirty="0">
                    <a:latin typeface="Times New Roman" panose="02020603050405020304" charset="0"/>
                    <a:cs typeface="Times New Roman" panose="02020603050405020304" charset="0"/>
                  </a:endParaRPr>
                </a:p>
              </p:txBody>
            </p:sp>
          </mc:Choice>
          <mc:Fallback xmlns="">
            <p:sp>
              <p:nvSpPr>
                <p:cNvPr id="158" name="文字方塊 22">
                  <a:extLst>
                    <a:ext uri="{FF2B5EF4-FFF2-40B4-BE49-F238E27FC236}">
                      <a16:creationId xmlns:a16="http://schemas.microsoft.com/office/drawing/2014/main" id="{880ADEAB-126C-8E4D-999A-B47B8D26C48D}"/>
                    </a:ext>
                  </a:extLst>
                </p:cNvPr>
                <p:cNvSpPr txBox="1">
                  <a:spLocks noRot="1" noChangeAspect="1" noMove="1" noResize="1" noEditPoints="1" noAdjustHandles="1" noChangeArrowheads="1" noChangeShapeType="1" noTextEdit="1"/>
                </p:cNvSpPr>
                <p:nvPr/>
              </p:nvSpPr>
              <p:spPr>
                <a:xfrm>
                  <a:off x="7081524" y="1810193"/>
                  <a:ext cx="631069" cy="543354"/>
                </a:xfrm>
                <a:prstGeom prst="rect">
                  <a:avLst/>
                </a:prstGeom>
                <a:blipFill>
                  <a:blip r:embed="rId7"/>
                  <a:stretch>
                    <a:fillRect b="-34884"/>
                  </a:stretch>
                </a:blipFill>
              </p:spPr>
              <p:txBody>
                <a:bodyPr/>
                <a:lstStyle/>
                <a:p>
                  <a:r>
                    <a:rPr lang="zh-CN" altLang="en-US">
                      <a:noFill/>
                    </a:rPr>
                    <a:t> </a:t>
                  </a:r>
                </a:p>
              </p:txBody>
            </p:sp>
          </mc:Fallback>
        </mc:AlternateContent>
      </p:grpSp>
      <p:sp>
        <p:nvSpPr>
          <p:cNvPr id="161" name="文本框 160">
            <a:extLst>
              <a:ext uri="{FF2B5EF4-FFF2-40B4-BE49-F238E27FC236}">
                <a16:creationId xmlns:a16="http://schemas.microsoft.com/office/drawing/2014/main" id="{697FF0DB-67D3-8840-911E-83100ECE99F6}"/>
              </a:ext>
            </a:extLst>
          </p:cNvPr>
          <p:cNvSpPr txBox="1"/>
          <p:nvPr/>
        </p:nvSpPr>
        <p:spPr>
          <a:xfrm>
            <a:off x="6712108" y="6290588"/>
            <a:ext cx="1151517" cy="430887"/>
          </a:xfrm>
          <a:prstGeom prst="rect">
            <a:avLst/>
          </a:prstGeom>
          <a:noFill/>
        </p:spPr>
        <p:txBody>
          <a:bodyPr wrap="square">
            <a:spAutoFit/>
          </a:bodyPr>
          <a:lstStyle/>
          <a:p>
            <a:r>
              <a:rPr kumimoji="1" lang="zh-CN" altLang="en-US" sz="2200" dirty="0"/>
              <a:t>输出层</a:t>
            </a:r>
            <a:endParaRPr lang="zh-CN" altLang="en-US" sz="2200" dirty="0"/>
          </a:p>
        </p:txBody>
      </p:sp>
      <p:grpSp>
        <p:nvGrpSpPr>
          <p:cNvPr id="162" name="群組 19">
            <a:extLst>
              <a:ext uri="{FF2B5EF4-FFF2-40B4-BE49-F238E27FC236}">
                <a16:creationId xmlns:a16="http://schemas.microsoft.com/office/drawing/2014/main" id="{575C2B0E-4DB5-7F44-BBFF-51E02BB4E5C0}"/>
              </a:ext>
            </a:extLst>
          </p:cNvPr>
          <p:cNvGrpSpPr/>
          <p:nvPr/>
        </p:nvGrpSpPr>
        <p:grpSpPr>
          <a:xfrm>
            <a:off x="8392165" y="3450115"/>
            <a:ext cx="638227" cy="2625052"/>
            <a:chOff x="7142066" y="2004946"/>
            <a:chExt cx="638227" cy="2625052"/>
          </a:xfrm>
        </p:grpSpPr>
        <p:sp>
          <p:nvSpPr>
            <p:cNvPr id="163" name="矩形 162">
              <a:extLst>
                <a:ext uri="{FF2B5EF4-FFF2-40B4-BE49-F238E27FC236}">
                  <a16:creationId xmlns:a16="http://schemas.microsoft.com/office/drawing/2014/main" id="{C106C051-A690-B94F-893F-B80FC4EA3195}"/>
                </a:ext>
              </a:extLst>
            </p:cNvPr>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64" name="文字方塊 21">
              <a:extLst>
                <a:ext uri="{FF2B5EF4-FFF2-40B4-BE49-F238E27FC236}">
                  <a16:creationId xmlns:a16="http://schemas.microsoft.com/office/drawing/2014/main" id="{4F6EFB06-FB67-9F4B-898F-AFDF90294AB4}"/>
                </a:ext>
              </a:extLst>
            </p:cNvPr>
            <p:cNvSpPr txBox="1"/>
            <p:nvPr/>
          </p:nvSpPr>
          <p:spPr>
            <a:xfrm rot="5400000">
              <a:off x="7134054" y="3530447"/>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grpSp>
      <p:sp>
        <p:nvSpPr>
          <p:cNvPr id="168" name="文本框 167">
            <a:extLst>
              <a:ext uri="{FF2B5EF4-FFF2-40B4-BE49-F238E27FC236}">
                <a16:creationId xmlns:a16="http://schemas.microsoft.com/office/drawing/2014/main" id="{80902430-7325-6C4E-89CD-652DED4A55B0}"/>
              </a:ext>
            </a:extLst>
          </p:cNvPr>
          <p:cNvSpPr txBox="1"/>
          <p:nvPr/>
        </p:nvSpPr>
        <p:spPr>
          <a:xfrm>
            <a:off x="7463743" y="4982557"/>
            <a:ext cx="1509890" cy="369332"/>
          </a:xfrm>
          <a:prstGeom prst="rect">
            <a:avLst/>
          </a:prstGeom>
          <a:noFill/>
        </p:spPr>
        <p:txBody>
          <a:bodyPr wrap="square">
            <a:spAutoFit/>
          </a:bodyPr>
          <a:lstStyle/>
          <a:p>
            <a:r>
              <a:rPr kumimoji="1" lang="en-US" altLang="zh-CN" dirty="0" err="1"/>
              <a:t>Softmax</a:t>
            </a:r>
            <a:endParaRPr lang="zh-CN" altLang="en-US" dirty="0"/>
          </a:p>
        </p:txBody>
      </p:sp>
      <mc:AlternateContent xmlns:mc="http://schemas.openxmlformats.org/markup-compatibility/2006" xmlns:a14="http://schemas.microsoft.com/office/drawing/2010/main">
        <mc:Choice Requires="a14">
          <p:sp>
            <p:nvSpPr>
              <p:cNvPr id="169" name="文字方塊 22">
                <a:extLst>
                  <a:ext uri="{FF2B5EF4-FFF2-40B4-BE49-F238E27FC236}">
                    <a16:creationId xmlns:a16="http://schemas.microsoft.com/office/drawing/2014/main" id="{F48CB006-7DCF-7346-805F-D99DE50E8C03}"/>
                  </a:ext>
                </a:extLst>
              </p:cNvPr>
              <p:cNvSpPr txBox="1"/>
              <p:nvPr/>
            </p:nvSpPr>
            <p:spPr>
              <a:xfrm>
                <a:off x="6951229" y="3818909"/>
                <a:ext cx="631069" cy="543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000" b="0" i="1" baseline="-25000" smtClean="0">
                              <a:latin typeface="Cambria Math" panose="02040503050406030204" pitchFamily="18" charset="0"/>
                              <a:cs typeface="Times New Roman" panose="02020603050405020304" charset="0"/>
                            </a:rPr>
                          </m:ctrlPr>
                        </m:sSubPr>
                        <m:e>
                          <m:r>
                            <a:rPr lang="en-US" altLang="zh-TW" sz="3000" b="0" i="1" baseline="-25000" smtClean="0">
                              <a:latin typeface="Cambria Math" panose="02040503050406030204" pitchFamily="18" charset="0"/>
                              <a:cs typeface="Times New Roman" panose="02020603050405020304" charset="0"/>
                            </a:rPr>
                            <m:t>𝑍</m:t>
                          </m:r>
                        </m:e>
                        <m:sub>
                          <m:r>
                            <a:rPr lang="en-US" altLang="zh-TW" sz="3000" b="0" i="1" baseline="-25000" smtClean="0">
                              <a:latin typeface="Cambria Math" panose="02040503050406030204" pitchFamily="18" charset="0"/>
                              <a:cs typeface="Times New Roman" panose="02020603050405020304" charset="0"/>
                            </a:rPr>
                            <m:t>2</m:t>
                          </m:r>
                        </m:sub>
                      </m:sSub>
                    </m:oMath>
                  </m:oMathPara>
                </a14:m>
                <a:endParaRPr lang="zh-TW" altLang="en-US" sz="3000" baseline="-25000" dirty="0">
                  <a:latin typeface="Times New Roman" panose="02020603050405020304" charset="0"/>
                  <a:cs typeface="Times New Roman" panose="02020603050405020304" charset="0"/>
                </a:endParaRPr>
              </a:p>
            </p:txBody>
          </p:sp>
        </mc:Choice>
        <mc:Fallback xmlns="">
          <p:sp>
            <p:nvSpPr>
              <p:cNvPr id="169" name="文字方塊 22">
                <a:extLst>
                  <a:ext uri="{FF2B5EF4-FFF2-40B4-BE49-F238E27FC236}">
                    <a16:creationId xmlns:a16="http://schemas.microsoft.com/office/drawing/2014/main" id="{F48CB006-7DCF-7346-805F-D99DE50E8C03}"/>
                  </a:ext>
                </a:extLst>
              </p:cNvPr>
              <p:cNvSpPr txBox="1">
                <a:spLocks noRot="1" noChangeAspect="1" noMove="1" noResize="1" noEditPoints="1" noAdjustHandles="1" noChangeArrowheads="1" noChangeShapeType="1" noTextEdit="1"/>
              </p:cNvSpPr>
              <p:nvPr/>
            </p:nvSpPr>
            <p:spPr>
              <a:xfrm>
                <a:off x="6951229" y="3818909"/>
                <a:ext cx="631069" cy="543354"/>
              </a:xfrm>
              <a:prstGeom prst="rect">
                <a:avLst/>
              </a:prstGeom>
              <a:blipFill>
                <a:blip r:embed="rId8"/>
                <a:stretch>
                  <a:fillRect b="-34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文字方塊 22">
                <a:extLst>
                  <a:ext uri="{FF2B5EF4-FFF2-40B4-BE49-F238E27FC236}">
                    <a16:creationId xmlns:a16="http://schemas.microsoft.com/office/drawing/2014/main" id="{5BDF4A06-56DE-4948-B1B3-C34D3BB8C077}"/>
                  </a:ext>
                </a:extLst>
              </p:cNvPr>
              <p:cNvSpPr txBox="1"/>
              <p:nvPr/>
            </p:nvSpPr>
            <p:spPr>
              <a:xfrm>
                <a:off x="6947696" y="5303124"/>
                <a:ext cx="631069" cy="543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000" b="0" i="1" baseline="-25000" smtClean="0">
                              <a:latin typeface="Cambria Math" panose="02040503050406030204" pitchFamily="18" charset="0"/>
                              <a:cs typeface="Times New Roman" panose="02020603050405020304" charset="0"/>
                            </a:rPr>
                          </m:ctrlPr>
                        </m:sSubPr>
                        <m:e>
                          <m:r>
                            <a:rPr lang="en-US" altLang="zh-TW" sz="3000" b="0" i="1" baseline="-25000" smtClean="0">
                              <a:latin typeface="Cambria Math" panose="02040503050406030204" pitchFamily="18" charset="0"/>
                              <a:cs typeface="Times New Roman" panose="02020603050405020304" charset="0"/>
                            </a:rPr>
                            <m:t>𝑍</m:t>
                          </m:r>
                        </m:e>
                        <m:sub>
                          <m:r>
                            <a:rPr lang="en-US" altLang="zh-TW" sz="3000" b="0" i="1" baseline="-25000" smtClean="0">
                              <a:latin typeface="Cambria Math" panose="02040503050406030204" pitchFamily="18" charset="0"/>
                              <a:cs typeface="Times New Roman" panose="02020603050405020304" charset="0"/>
                            </a:rPr>
                            <m:t>10</m:t>
                          </m:r>
                        </m:sub>
                      </m:sSub>
                    </m:oMath>
                  </m:oMathPara>
                </a14:m>
                <a:endParaRPr lang="zh-TW" altLang="en-US" sz="3000" baseline="-25000" dirty="0">
                  <a:latin typeface="Times New Roman" panose="02020603050405020304" charset="0"/>
                  <a:cs typeface="Times New Roman" panose="02020603050405020304" charset="0"/>
                </a:endParaRPr>
              </a:p>
            </p:txBody>
          </p:sp>
        </mc:Choice>
        <mc:Fallback xmlns="">
          <p:sp>
            <p:nvSpPr>
              <p:cNvPr id="170" name="文字方塊 22">
                <a:extLst>
                  <a:ext uri="{FF2B5EF4-FFF2-40B4-BE49-F238E27FC236}">
                    <a16:creationId xmlns:a16="http://schemas.microsoft.com/office/drawing/2014/main" id="{5BDF4A06-56DE-4948-B1B3-C34D3BB8C077}"/>
                  </a:ext>
                </a:extLst>
              </p:cNvPr>
              <p:cNvSpPr txBox="1">
                <a:spLocks noRot="1" noChangeAspect="1" noMove="1" noResize="1" noEditPoints="1" noAdjustHandles="1" noChangeArrowheads="1" noChangeShapeType="1" noTextEdit="1"/>
              </p:cNvSpPr>
              <p:nvPr/>
            </p:nvSpPr>
            <p:spPr>
              <a:xfrm>
                <a:off x="6947696" y="5303124"/>
                <a:ext cx="631069" cy="543354"/>
              </a:xfrm>
              <a:prstGeom prst="rect">
                <a:avLst/>
              </a:prstGeom>
              <a:blipFill>
                <a:blip r:embed="rId9"/>
                <a:stretch>
                  <a:fillRect b="-34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FDECDAEF-02D3-454A-83D6-6FE04FF01AD7}"/>
                  </a:ext>
                </a:extLst>
              </p:cNvPr>
              <p:cNvSpPr txBox="1"/>
              <p:nvPr/>
            </p:nvSpPr>
            <p:spPr>
              <a:xfrm>
                <a:off x="8032021" y="3507306"/>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172" name="文本框 171">
                <a:extLst>
                  <a:ext uri="{FF2B5EF4-FFF2-40B4-BE49-F238E27FC236}">
                    <a16:creationId xmlns:a16="http://schemas.microsoft.com/office/drawing/2014/main" id="{FDECDAEF-02D3-454A-83D6-6FE04FF01AD7}"/>
                  </a:ext>
                </a:extLst>
              </p:cNvPr>
              <p:cNvSpPr txBox="1">
                <a:spLocks noRot="1" noChangeAspect="1" noMove="1" noResize="1" noEditPoints="1" noAdjustHandles="1" noChangeArrowheads="1" noChangeShapeType="1" noTextEdit="1"/>
              </p:cNvSpPr>
              <p:nvPr/>
            </p:nvSpPr>
            <p:spPr>
              <a:xfrm>
                <a:off x="8032021" y="3507306"/>
                <a:ext cx="1228657" cy="461665"/>
              </a:xfrm>
              <a:prstGeom prst="rect">
                <a:avLst/>
              </a:prstGeom>
              <a:blipFill>
                <a:blip r:embed="rId10"/>
                <a:stretch>
                  <a:fillRect t="-5405"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75077562-2577-2043-8AF2-8626981B4299}"/>
                  </a:ext>
                </a:extLst>
              </p:cNvPr>
              <p:cNvSpPr txBox="1"/>
              <p:nvPr/>
            </p:nvSpPr>
            <p:spPr>
              <a:xfrm>
                <a:off x="8034653" y="4077635"/>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173" name="文本框 172">
                <a:extLst>
                  <a:ext uri="{FF2B5EF4-FFF2-40B4-BE49-F238E27FC236}">
                    <a16:creationId xmlns:a16="http://schemas.microsoft.com/office/drawing/2014/main" id="{75077562-2577-2043-8AF2-8626981B4299}"/>
                  </a:ext>
                </a:extLst>
              </p:cNvPr>
              <p:cNvSpPr txBox="1">
                <a:spLocks noRot="1" noChangeAspect="1" noMove="1" noResize="1" noEditPoints="1" noAdjustHandles="1" noChangeArrowheads="1" noChangeShapeType="1" noTextEdit="1"/>
              </p:cNvSpPr>
              <p:nvPr/>
            </p:nvSpPr>
            <p:spPr>
              <a:xfrm>
                <a:off x="8034653" y="4077635"/>
                <a:ext cx="1228657" cy="461665"/>
              </a:xfrm>
              <a:prstGeom prst="rect">
                <a:avLst/>
              </a:prstGeom>
              <a:blipFill>
                <a:blip r:embed="rId11"/>
                <a:stretch>
                  <a:fillRect t="-5405"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667A777C-6149-9142-BD9F-FEF9E8FA610B}"/>
                  </a:ext>
                </a:extLst>
              </p:cNvPr>
              <p:cNvSpPr txBox="1"/>
              <p:nvPr/>
            </p:nvSpPr>
            <p:spPr>
              <a:xfrm>
                <a:off x="8073534" y="5548645"/>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10</m:t>
                          </m:r>
                        </m:sub>
                      </m:sSub>
                    </m:oMath>
                  </m:oMathPara>
                </a14:m>
                <a:endParaRPr lang="zh-CN" altLang="en-US" sz="2400" dirty="0"/>
              </a:p>
            </p:txBody>
          </p:sp>
        </mc:Choice>
        <mc:Fallback xmlns="">
          <p:sp>
            <p:nvSpPr>
              <p:cNvPr id="174" name="文本框 173">
                <a:extLst>
                  <a:ext uri="{FF2B5EF4-FFF2-40B4-BE49-F238E27FC236}">
                    <a16:creationId xmlns:a16="http://schemas.microsoft.com/office/drawing/2014/main" id="{667A777C-6149-9142-BD9F-FEF9E8FA610B}"/>
                  </a:ext>
                </a:extLst>
              </p:cNvPr>
              <p:cNvSpPr txBox="1">
                <a:spLocks noRot="1" noChangeAspect="1" noMove="1" noResize="1" noEditPoints="1" noAdjustHandles="1" noChangeArrowheads="1" noChangeShapeType="1" noTextEdit="1"/>
              </p:cNvSpPr>
              <p:nvPr/>
            </p:nvSpPr>
            <p:spPr>
              <a:xfrm>
                <a:off x="8073534" y="5548645"/>
                <a:ext cx="1228657" cy="461665"/>
              </a:xfrm>
              <a:prstGeom prst="rect">
                <a:avLst/>
              </a:prstGeom>
              <a:blipFill>
                <a:blip r:embed="rId12"/>
                <a:stretch>
                  <a:fillRect t="-2632" b="-5263"/>
                </a:stretch>
              </a:blipFill>
            </p:spPr>
            <p:txBody>
              <a:bodyPr/>
              <a:lstStyle/>
              <a:p>
                <a:r>
                  <a:rPr lang="zh-CN" altLang="en-US">
                    <a:noFill/>
                  </a:rPr>
                  <a:t> </a:t>
                </a:r>
              </a:p>
            </p:txBody>
          </p:sp>
        </mc:Fallback>
      </mc:AlternateContent>
      <p:sp>
        <p:nvSpPr>
          <p:cNvPr id="175" name="向右箭號 8">
            <a:extLst>
              <a:ext uri="{FF2B5EF4-FFF2-40B4-BE49-F238E27FC236}">
                <a16:creationId xmlns:a16="http://schemas.microsoft.com/office/drawing/2014/main" id="{77E42004-E283-7A4E-8B7E-41411958A685}"/>
              </a:ext>
            </a:extLst>
          </p:cNvPr>
          <p:cNvSpPr/>
          <p:nvPr/>
        </p:nvSpPr>
        <p:spPr>
          <a:xfrm>
            <a:off x="7599107" y="4463805"/>
            <a:ext cx="724529" cy="518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76" name="文字方塊 25">
            <a:extLst>
              <a:ext uri="{FF2B5EF4-FFF2-40B4-BE49-F238E27FC236}">
                <a16:creationId xmlns:a16="http://schemas.microsoft.com/office/drawing/2014/main" id="{0F167007-059D-BA44-9C0A-7424914DD1D4}"/>
              </a:ext>
            </a:extLst>
          </p:cNvPr>
          <p:cNvSpPr txBox="1"/>
          <p:nvPr/>
        </p:nvSpPr>
        <p:spPr>
          <a:xfrm>
            <a:off x="9056896" y="3421337"/>
            <a:ext cx="86163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1</a:t>
            </a:r>
            <a:endParaRPr lang="zh-TW" altLang="en-US" sz="2400" dirty="0">
              <a:latin typeface="Times New Roman" panose="02020603050405020304" charset="0"/>
              <a:cs typeface="Times New Roman" panose="02020603050405020304" charset="0"/>
            </a:endParaRPr>
          </a:p>
        </p:txBody>
      </p:sp>
      <p:sp>
        <p:nvSpPr>
          <p:cNvPr id="177" name="文字方塊 26">
            <a:extLst>
              <a:ext uri="{FF2B5EF4-FFF2-40B4-BE49-F238E27FC236}">
                <a16:creationId xmlns:a16="http://schemas.microsoft.com/office/drawing/2014/main" id="{98D23ED7-687E-D34D-B812-9363A57DCE76}"/>
              </a:ext>
            </a:extLst>
          </p:cNvPr>
          <p:cNvSpPr txBox="1"/>
          <p:nvPr/>
        </p:nvSpPr>
        <p:spPr>
          <a:xfrm>
            <a:off x="9064205" y="4202619"/>
            <a:ext cx="84701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2</a:t>
            </a:r>
            <a:endParaRPr lang="zh-TW" altLang="en-US" sz="2400" dirty="0">
              <a:latin typeface="Times New Roman" panose="02020603050405020304" charset="0"/>
              <a:cs typeface="Times New Roman" panose="02020603050405020304" charset="0"/>
            </a:endParaRPr>
          </a:p>
        </p:txBody>
      </p:sp>
      <p:sp>
        <p:nvSpPr>
          <p:cNvPr id="178" name="文字方塊 27">
            <a:extLst>
              <a:ext uri="{FF2B5EF4-FFF2-40B4-BE49-F238E27FC236}">
                <a16:creationId xmlns:a16="http://schemas.microsoft.com/office/drawing/2014/main" id="{6654CDD6-31AF-1042-9944-794DEDFA5BE3}"/>
              </a:ext>
            </a:extLst>
          </p:cNvPr>
          <p:cNvSpPr txBox="1"/>
          <p:nvPr/>
        </p:nvSpPr>
        <p:spPr>
          <a:xfrm>
            <a:off x="9090536" y="5577707"/>
            <a:ext cx="834766"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0</a:t>
            </a:r>
            <a:endParaRPr lang="zh-TW" altLang="en-US" sz="2400" dirty="0">
              <a:latin typeface="Times New Roman" panose="02020603050405020304" charset="0"/>
              <a:cs typeface="Times New Roman" panose="02020603050405020304" charset="0"/>
            </a:endParaRPr>
          </a:p>
        </p:txBody>
      </p:sp>
      <p:sp>
        <p:nvSpPr>
          <p:cNvPr id="179" name="文字方塊 29">
            <a:extLst>
              <a:ext uri="{FF2B5EF4-FFF2-40B4-BE49-F238E27FC236}">
                <a16:creationId xmlns:a16="http://schemas.microsoft.com/office/drawing/2014/main" id="{B609C96E-75FE-6947-B54E-582A7D189224}"/>
              </a:ext>
            </a:extLst>
          </p:cNvPr>
          <p:cNvSpPr txBox="1"/>
          <p:nvPr/>
        </p:nvSpPr>
        <p:spPr>
          <a:xfrm rot="5400000">
            <a:off x="9196900" y="4859385"/>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6" name="右大括号 5">
            <a:extLst>
              <a:ext uri="{FF2B5EF4-FFF2-40B4-BE49-F238E27FC236}">
                <a16:creationId xmlns:a16="http://schemas.microsoft.com/office/drawing/2014/main" id="{31FCC8A8-38AC-7641-8CCB-884F363EC0CE}"/>
              </a:ext>
            </a:extLst>
          </p:cNvPr>
          <p:cNvSpPr/>
          <p:nvPr/>
        </p:nvSpPr>
        <p:spPr>
          <a:xfrm rot="5400000">
            <a:off x="9084604" y="5421136"/>
            <a:ext cx="223747" cy="1601871"/>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80" name="文本框 179">
            <a:extLst>
              <a:ext uri="{FF2B5EF4-FFF2-40B4-BE49-F238E27FC236}">
                <a16:creationId xmlns:a16="http://schemas.microsoft.com/office/drawing/2014/main" id="{3809248D-0626-104A-9F37-3CF9691F0558}"/>
              </a:ext>
            </a:extLst>
          </p:cNvPr>
          <p:cNvSpPr txBox="1"/>
          <p:nvPr/>
        </p:nvSpPr>
        <p:spPr>
          <a:xfrm>
            <a:off x="8493863" y="6301904"/>
            <a:ext cx="1405231" cy="430887"/>
          </a:xfrm>
          <a:prstGeom prst="rect">
            <a:avLst/>
          </a:prstGeom>
          <a:noFill/>
        </p:spPr>
        <p:txBody>
          <a:bodyPr wrap="square">
            <a:spAutoFit/>
          </a:bodyPr>
          <a:lstStyle/>
          <a:p>
            <a:r>
              <a:rPr kumimoji="1" lang="zh-CN" altLang="en-US" sz="2200" dirty="0"/>
              <a:t>预测概率</a:t>
            </a:r>
            <a:endParaRPr lang="zh-CN" altLang="en-US" sz="2200" dirty="0"/>
          </a:p>
        </p:txBody>
      </p:sp>
    </p:spTree>
    <p:extLst>
      <p:ext uri="{BB962C8B-B14F-4D97-AF65-F5344CB8AC3E}">
        <p14:creationId xmlns:p14="http://schemas.microsoft.com/office/powerpoint/2010/main" val="652427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45</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1015663"/>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多分类任务：以手写字识别为例</a:t>
            </a:r>
            <a:endParaRPr lang="en-US" altLang="zh-CN" sz="2400" dirty="0"/>
          </a:p>
          <a:p>
            <a:pPr lvl="1"/>
            <a:endParaRPr lang="en-US" altLang="zh-CN" sz="2400" dirty="0"/>
          </a:p>
        </p:txBody>
      </p:sp>
      <p:pic>
        <p:nvPicPr>
          <p:cNvPr id="45" name="圖片 36">
            <a:extLst>
              <a:ext uri="{FF2B5EF4-FFF2-40B4-BE49-F238E27FC236}">
                <a16:creationId xmlns:a16="http://schemas.microsoft.com/office/drawing/2014/main" id="{C6B04651-ADA4-4CFC-9F64-10359A37331B}"/>
              </a:ext>
            </a:extLst>
          </p:cNvPr>
          <p:cNvPicPr>
            <a:picLocks noChangeAspect="1"/>
          </p:cNvPicPr>
          <p:nvPr/>
        </p:nvPicPr>
        <p:blipFill>
          <a:blip r:embed="rId3"/>
          <a:stretch>
            <a:fillRect/>
          </a:stretch>
        </p:blipFill>
        <p:spPr>
          <a:xfrm>
            <a:off x="4139148" y="3334202"/>
            <a:ext cx="3355824" cy="887357"/>
          </a:xfrm>
          <a:prstGeom prst="rect">
            <a:avLst/>
          </a:prstGeom>
        </p:spPr>
      </p:pic>
      <p:pic>
        <p:nvPicPr>
          <p:cNvPr id="4" name="图片 3">
            <a:extLst>
              <a:ext uri="{FF2B5EF4-FFF2-40B4-BE49-F238E27FC236}">
                <a16:creationId xmlns:a16="http://schemas.microsoft.com/office/drawing/2014/main" id="{E27E69ED-E8AF-4587-B515-4FD28D467F0C}"/>
              </a:ext>
            </a:extLst>
          </p:cNvPr>
          <p:cNvPicPr>
            <a:picLocks noChangeAspect="1"/>
          </p:cNvPicPr>
          <p:nvPr/>
        </p:nvPicPr>
        <p:blipFill>
          <a:blip r:embed="rId4"/>
          <a:stretch>
            <a:fillRect/>
          </a:stretch>
        </p:blipFill>
        <p:spPr>
          <a:xfrm>
            <a:off x="1734206" y="4104937"/>
            <a:ext cx="2126655" cy="2433975"/>
          </a:xfrm>
          <a:prstGeom prst="rect">
            <a:avLst/>
          </a:prstGeom>
        </p:spPr>
      </p:pic>
      <p:pic>
        <p:nvPicPr>
          <p:cNvPr id="8" name="图片 7">
            <a:extLst>
              <a:ext uri="{FF2B5EF4-FFF2-40B4-BE49-F238E27FC236}">
                <a16:creationId xmlns:a16="http://schemas.microsoft.com/office/drawing/2014/main" id="{E47D7A0F-C329-4544-B88E-C10B7C5CFB22}"/>
              </a:ext>
            </a:extLst>
          </p:cNvPr>
          <p:cNvPicPr>
            <a:picLocks noChangeAspect="1"/>
          </p:cNvPicPr>
          <p:nvPr/>
        </p:nvPicPr>
        <p:blipFill>
          <a:blip r:embed="rId5"/>
          <a:stretch>
            <a:fillRect/>
          </a:stretch>
        </p:blipFill>
        <p:spPr>
          <a:xfrm>
            <a:off x="7307155" y="4104936"/>
            <a:ext cx="3410769" cy="2433976"/>
          </a:xfrm>
          <a:prstGeom prst="rect">
            <a:avLst/>
          </a:prstGeom>
        </p:spPr>
      </p:pic>
      <p:sp>
        <p:nvSpPr>
          <p:cNvPr id="65" name="文本框 64">
            <a:extLst>
              <a:ext uri="{FF2B5EF4-FFF2-40B4-BE49-F238E27FC236}">
                <a16:creationId xmlns:a16="http://schemas.microsoft.com/office/drawing/2014/main" id="{D3444D97-C2AD-4E0E-B59B-1C709A5C8859}"/>
              </a:ext>
            </a:extLst>
          </p:cNvPr>
          <p:cNvSpPr txBox="1"/>
          <p:nvPr/>
        </p:nvSpPr>
        <p:spPr>
          <a:xfrm>
            <a:off x="6284722" y="5474324"/>
            <a:ext cx="806904" cy="369332"/>
          </a:xfrm>
          <a:prstGeom prst="rect">
            <a:avLst/>
          </a:prstGeom>
          <a:noFill/>
        </p:spPr>
        <p:txBody>
          <a:bodyPr wrap="square">
            <a:spAutoFit/>
          </a:bodyPr>
          <a:lstStyle/>
          <a:p>
            <a:r>
              <a:rPr kumimoji="1" lang="zh-CN" altLang="en-US" sz="1800" dirty="0"/>
              <a:t>输出</a:t>
            </a:r>
            <a:endParaRPr lang="zh-CN" altLang="en-US" dirty="0"/>
          </a:p>
        </p:txBody>
      </p:sp>
      <p:sp>
        <p:nvSpPr>
          <p:cNvPr id="66" name="文本框 65">
            <a:extLst>
              <a:ext uri="{FF2B5EF4-FFF2-40B4-BE49-F238E27FC236}">
                <a16:creationId xmlns:a16="http://schemas.microsoft.com/office/drawing/2014/main" id="{A6732866-C270-4DF4-942F-1A483B4AAFEE}"/>
              </a:ext>
            </a:extLst>
          </p:cNvPr>
          <p:cNvSpPr txBox="1"/>
          <p:nvPr/>
        </p:nvSpPr>
        <p:spPr>
          <a:xfrm>
            <a:off x="801415" y="5474324"/>
            <a:ext cx="806904" cy="369332"/>
          </a:xfrm>
          <a:prstGeom prst="rect">
            <a:avLst/>
          </a:prstGeom>
          <a:noFill/>
        </p:spPr>
        <p:txBody>
          <a:bodyPr wrap="square">
            <a:spAutoFit/>
          </a:bodyPr>
          <a:lstStyle/>
          <a:p>
            <a:r>
              <a:rPr kumimoji="1" lang="zh-CN" altLang="en-US" sz="1800" dirty="0"/>
              <a:t>输入</a:t>
            </a:r>
            <a:endParaRPr lang="zh-CN" altLang="en-US" dirty="0"/>
          </a:p>
        </p:txBody>
      </p:sp>
    </p:spTree>
    <p:extLst>
      <p:ext uri="{BB962C8B-B14F-4D97-AF65-F5344CB8AC3E}">
        <p14:creationId xmlns:p14="http://schemas.microsoft.com/office/powerpoint/2010/main" val="22313354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46</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1015663"/>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多分类任务：以手写字识别为例</a:t>
            </a:r>
            <a:endParaRPr lang="en-US" altLang="zh-CN" sz="2400" dirty="0"/>
          </a:p>
          <a:p>
            <a:pPr lvl="1"/>
            <a:endParaRPr lang="en-US" altLang="zh-CN" sz="2400" dirty="0"/>
          </a:p>
        </p:txBody>
      </p:sp>
      <p:pic>
        <p:nvPicPr>
          <p:cNvPr id="9" name="圖片 6">
            <a:extLst>
              <a:ext uri="{FF2B5EF4-FFF2-40B4-BE49-F238E27FC236}">
                <a16:creationId xmlns:a16="http://schemas.microsoft.com/office/drawing/2014/main" id="{4F351886-54E3-934D-848B-3C506531D50B}"/>
              </a:ext>
            </a:extLst>
          </p:cNvPr>
          <p:cNvPicPr>
            <a:picLocks noChangeAspect="1"/>
          </p:cNvPicPr>
          <p:nvPr/>
        </p:nvPicPr>
        <p:blipFill>
          <a:blip r:embed="rId3"/>
          <a:stretch>
            <a:fillRect/>
          </a:stretch>
        </p:blipFill>
        <p:spPr>
          <a:xfrm>
            <a:off x="632002" y="3893855"/>
            <a:ext cx="2130022" cy="2116455"/>
          </a:xfrm>
          <a:prstGeom prst="rect">
            <a:avLst/>
          </a:prstGeom>
        </p:spPr>
      </p:pic>
      <p:sp>
        <p:nvSpPr>
          <p:cNvPr id="11" name="文字方塊 7">
            <a:extLst>
              <a:ext uri="{FF2B5EF4-FFF2-40B4-BE49-F238E27FC236}">
                <a16:creationId xmlns:a16="http://schemas.microsoft.com/office/drawing/2014/main" id="{3AF45172-F779-A549-BF34-C15AFFD7BA7C}"/>
              </a:ext>
            </a:extLst>
          </p:cNvPr>
          <p:cNvSpPr txBox="1"/>
          <p:nvPr/>
        </p:nvSpPr>
        <p:spPr>
          <a:xfrm>
            <a:off x="879361" y="5997337"/>
            <a:ext cx="1601872" cy="369332"/>
          </a:xfrm>
          <a:prstGeom prst="rect">
            <a:avLst/>
          </a:prstGeom>
          <a:noFill/>
        </p:spPr>
        <p:txBody>
          <a:bodyPr wrap="square" rtlCol="0">
            <a:spAutoFit/>
          </a:bodyPr>
          <a:lstStyle/>
          <a:p>
            <a:r>
              <a:rPr lang="en-US" altLang="zh-TW" dirty="0">
                <a:latin typeface="Times New Roman" panose="02020603050405020304" charset="0"/>
                <a:cs typeface="Times New Roman" panose="02020603050405020304" charset="0"/>
              </a:rPr>
              <a:t>16 x 16 = 256</a:t>
            </a:r>
            <a:endParaRPr lang="zh-TW" altLang="en-US" dirty="0">
              <a:latin typeface="Times New Roman" panose="02020603050405020304" charset="0"/>
              <a:cs typeface="Times New Roman" panose="02020603050405020304" charset="0"/>
            </a:endParaRPr>
          </a:p>
        </p:txBody>
      </p:sp>
      <p:sp>
        <p:nvSpPr>
          <p:cNvPr id="12" name="矩形 11">
            <a:extLst>
              <a:ext uri="{FF2B5EF4-FFF2-40B4-BE49-F238E27FC236}">
                <a16:creationId xmlns:a16="http://schemas.microsoft.com/office/drawing/2014/main" id="{04662A04-BEDD-824A-B55F-2C51F08B1794}"/>
              </a:ext>
            </a:extLst>
          </p:cNvPr>
          <p:cNvSpPr/>
          <p:nvPr/>
        </p:nvSpPr>
        <p:spPr>
          <a:xfrm>
            <a:off x="2991707" y="35907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3" name="矩形 12">
            <a:extLst>
              <a:ext uri="{FF2B5EF4-FFF2-40B4-BE49-F238E27FC236}">
                <a16:creationId xmlns:a16="http://schemas.microsoft.com/office/drawing/2014/main" id="{7E08CD4D-AE2D-514F-A137-569880831284}"/>
              </a:ext>
            </a:extLst>
          </p:cNvPr>
          <p:cNvSpPr/>
          <p:nvPr/>
        </p:nvSpPr>
        <p:spPr>
          <a:xfrm>
            <a:off x="3060095" y="430846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4" name="矩形 13">
            <a:extLst>
              <a:ext uri="{FF2B5EF4-FFF2-40B4-BE49-F238E27FC236}">
                <a16:creationId xmlns:a16="http://schemas.microsoft.com/office/drawing/2014/main" id="{B033D85B-49DD-CF46-B2F9-9D1032A6BE10}"/>
              </a:ext>
            </a:extLst>
          </p:cNvPr>
          <p:cNvSpPr/>
          <p:nvPr/>
        </p:nvSpPr>
        <p:spPr>
          <a:xfrm>
            <a:off x="3065913" y="37381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15" name="Object 12">
                <a:extLst>
                  <a:ext uri="{FF2B5EF4-FFF2-40B4-BE49-F238E27FC236}">
                    <a16:creationId xmlns:a16="http://schemas.microsoft.com/office/drawing/2014/main" id="{9447875E-B423-F041-9786-3BA5B62C15A6}"/>
                  </a:ext>
                </a:extLst>
              </p:cNvPr>
              <p:cNvSpPr txBox="1"/>
              <p:nvPr/>
            </p:nvSpPr>
            <p:spPr bwMode="auto">
              <a:xfrm>
                <a:off x="3078612" y="3642889"/>
                <a:ext cx="325438" cy="46196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5" name="Object 12">
                <a:extLst>
                  <a:ext uri="{FF2B5EF4-FFF2-40B4-BE49-F238E27FC236}">
                    <a16:creationId xmlns:a16="http://schemas.microsoft.com/office/drawing/2014/main" id="{9447875E-B423-F041-9786-3BA5B62C15A6}"/>
                  </a:ext>
                </a:extLst>
              </p:cNvPr>
              <p:cNvSpPr txBox="1">
                <a:spLocks noRot="1" noChangeAspect="1" noMove="1" noResize="1" noEditPoints="1" noAdjustHandles="1" noChangeArrowheads="1" noChangeShapeType="1" noTextEdit="1"/>
              </p:cNvSpPr>
              <p:nvPr/>
            </p:nvSpPr>
            <p:spPr bwMode="auto">
              <a:xfrm>
                <a:off x="3078612" y="3642889"/>
                <a:ext cx="325438" cy="461962"/>
              </a:xfrm>
              <a:prstGeom prst="rect">
                <a:avLst/>
              </a:prstGeom>
              <a:blipFill>
                <a:blip r:embed="rId4"/>
                <a:stretch>
                  <a:fillRect r="-1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Object 12">
                <a:extLst>
                  <a:ext uri="{FF2B5EF4-FFF2-40B4-BE49-F238E27FC236}">
                    <a16:creationId xmlns:a16="http://schemas.microsoft.com/office/drawing/2014/main" id="{2918E6E6-BF26-9E4B-B361-594DC01206E3}"/>
                  </a:ext>
                </a:extLst>
              </p:cNvPr>
              <p:cNvSpPr txBox="1"/>
              <p:nvPr/>
            </p:nvSpPr>
            <p:spPr bwMode="auto">
              <a:xfrm>
                <a:off x="3083908" y="4225618"/>
                <a:ext cx="352425" cy="46196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oMath>
                  </m:oMathPara>
                </a14:m>
                <a:endParaRPr lang="zh-CN" altLang="en-US" dirty="0"/>
              </a:p>
            </p:txBody>
          </p:sp>
        </mc:Choice>
        <mc:Fallback xmlns="">
          <p:sp>
            <p:nvSpPr>
              <p:cNvPr id="16" name="Object 12">
                <a:extLst>
                  <a:ext uri="{FF2B5EF4-FFF2-40B4-BE49-F238E27FC236}">
                    <a16:creationId xmlns:a16="http://schemas.microsoft.com/office/drawing/2014/main" id="{2918E6E6-BF26-9E4B-B361-594DC01206E3}"/>
                  </a:ext>
                </a:extLst>
              </p:cNvPr>
              <p:cNvSpPr txBox="1">
                <a:spLocks noRot="1" noChangeAspect="1" noMove="1" noResize="1" noEditPoints="1" noAdjustHandles="1" noChangeArrowheads="1" noChangeShapeType="1" noTextEdit="1"/>
              </p:cNvSpPr>
              <p:nvPr/>
            </p:nvSpPr>
            <p:spPr bwMode="auto">
              <a:xfrm>
                <a:off x="3083908" y="4225618"/>
                <a:ext cx="352425" cy="461963"/>
              </a:xfrm>
              <a:prstGeom prst="rect">
                <a:avLst/>
              </a:prstGeom>
              <a:blipFill>
                <a:blip r:embed="rId5"/>
                <a:stretch>
                  <a:fillRect r="-3448"/>
                </a:stretch>
              </a:blipFill>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55C85D6B-C15C-4A46-BB93-5ADFA165C5C3}"/>
              </a:ext>
            </a:extLst>
          </p:cNvPr>
          <p:cNvSpPr/>
          <p:nvPr/>
        </p:nvSpPr>
        <p:spPr>
          <a:xfrm>
            <a:off x="3069620" y="570622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0" name="Object 12">
                <a:extLst>
                  <a:ext uri="{FF2B5EF4-FFF2-40B4-BE49-F238E27FC236}">
                    <a16:creationId xmlns:a16="http://schemas.microsoft.com/office/drawing/2014/main" id="{C068EBF9-8346-9248-A53F-132FF2AABF64}"/>
                  </a:ext>
                </a:extLst>
              </p:cNvPr>
              <p:cNvSpPr txBox="1"/>
              <p:nvPr/>
            </p:nvSpPr>
            <p:spPr bwMode="auto">
              <a:xfrm>
                <a:off x="2997697" y="5609458"/>
                <a:ext cx="544512" cy="488950"/>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m:rPr>
                              <m:nor/>
                            </m:rPr>
                            <a:rPr lang="zh-CN" altLang="en-US" i="0">
                              <a:solidFill>
                                <a:srgbClr val="000000"/>
                              </a:solidFill>
                              <a:latin typeface="Cambria Math" panose="02040503050406030204" pitchFamily="18" charset="0"/>
                            </a:rPr>
                            <m:t>256</m:t>
                          </m:r>
                        </m:sub>
                      </m:sSub>
                    </m:oMath>
                  </m:oMathPara>
                </a14:m>
                <a:endParaRPr lang="zh-CN" altLang="en-US"/>
              </a:p>
            </p:txBody>
          </p:sp>
        </mc:Choice>
        <mc:Fallback xmlns="">
          <p:sp>
            <p:nvSpPr>
              <p:cNvPr id="20" name="Object 12">
                <a:extLst>
                  <a:ext uri="{FF2B5EF4-FFF2-40B4-BE49-F238E27FC236}">
                    <a16:creationId xmlns:a16="http://schemas.microsoft.com/office/drawing/2014/main" id="{C068EBF9-8346-9248-A53F-132FF2AABF64}"/>
                  </a:ext>
                </a:extLst>
              </p:cNvPr>
              <p:cNvSpPr txBox="1">
                <a:spLocks noRot="1" noChangeAspect="1" noMove="1" noResize="1" noEditPoints="1" noAdjustHandles="1" noChangeArrowheads="1" noChangeShapeType="1" noTextEdit="1"/>
              </p:cNvSpPr>
              <p:nvPr/>
            </p:nvSpPr>
            <p:spPr bwMode="auto">
              <a:xfrm>
                <a:off x="2997697" y="5609458"/>
                <a:ext cx="544512" cy="488950"/>
              </a:xfrm>
              <a:prstGeom prst="rect">
                <a:avLst/>
              </a:prstGeom>
              <a:blipFill>
                <a:blip r:embed="rId6"/>
                <a:stretch>
                  <a:fillRect r="-18605"/>
                </a:stretch>
              </a:blipFill>
            </p:spPr>
            <p:txBody>
              <a:bodyPr/>
              <a:lstStyle/>
              <a:p>
                <a:r>
                  <a:rPr lang="zh-CN" altLang="en-US">
                    <a:noFill/>
                  </a:rPr>
                  <a:t> </a:t>
                </a:r>
              </a:p>
            </p:txBody>
          </p:sp>
        </mc:Fallback>
      </mc:AlternateContent>
      <p:sp>
        <p:nvSpPr>
          <p:cNvPr id="21" name="文字方塊 15">
            <a:extLst>
              <a:ext uri="{FF2B5EF4-FFF2-40B4-BE49-F238E27FC236}">
                <a16:creationId xmlns:a16="http://schemas.microsoft.com/office/drawing/2014/main" id="{CE2C76B7-BEDF-DB41-B401-F61156D269E7}"/>
              </a:ext>
            </a:extLst>
          </p:cNvPr>
          <p:cNvSpPr txBox="1"/>
          <p:nvPr/>
        </p:nvSpPr>
        <p:spPr>
          <a:xfrm rot="5400000">
            <a:off x="2965165" y="5021490"/>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22" name="手繪多邊形 16">
            <a:extLst>
              <a:ext uri="{FF2B5EF4-FFF2-40B4-BE49-F238E27FC236}">
                <a16:creationId xmlns:a16="http://schemas.microsoft.com/office/drawing/2014/main" id="{54242462-3614-CE48-9E6D-AECC36FE74A3}"/>
              </a:ext>
            </a:extLst>
          </p:cNvPr>
          <p:cNvSpPr/>
          <p:nvPr/>
        </p:nvSpPr>
        <p:spPr>
          <a:xfrm>
            <a:off x="757734" y="3652170"/>
            <a:ext cx="2305050" cy="363941"/>
          </a:xfrm>
          <a:custGeom>
            <a:avLst/>
            <a:gdLst>
              <a:gd name="connsiteX0" fmla="*/ 0 w 2305050"/>
              <a:gd name="connsiteY0" fmla="*/ 374550 h 374550"/>
              <a:gd name="connsiteX1" fmla="*/ 876300 w 2305050"/>
              <a:gd name="connsiteY1" fmla="*/ 6250 h 374550"/>
              <a:gd name="connsiteX2" fmla="*/ 2305050 w 2305050"/>
              <a:gd name="connsiteY2" fmla="*/ 177700 h 374550"/>
            </a:gdLst>
            <a:ahLst/>
            <a:cxnLst>
              <a:cxn ang="0">
                <a:pos x="connsiteX0" y="connsiteY0"/>
              </a:cxn>
              <a:cxn ang="0">
                <a:pos x="connsiteX1" y="connsiteY1"/>
              </a:cxn>
              <a:cxn ang="0">
                <a:pos x="connsiteX2" y="connsiteY2"/>
              </a:cxn>
            </a:cxnLst>
            <a:rect l="l" t="t" r="r" b="b"/>
            <a:pathLst>
              <a:path w="2305050" h="374550">
                <a:moveTo>
                  <a:pt x="0" y="374550"/>
                </a:moveTo>
                <a:cubicBezTo>
                  <a:pt x="246062" y="206804"/>
                  <a:pt x="492125" y="39058"/>
                  <a:pt x="876300" y="6250"/>
                </a:cubicBezTo>
                <a:cubicBezTo>
                  <a:pt x="1260475" y="-26558"/>
                  <a:pt x="1782762" y="75571"/>
                  <a:pt x="2305050" y="17770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3" name="手繪多邊形 17">
            <a:extLst>
              <a:ext uri="{FF2B5EF4-FFF2-40B4-BE49-F238E27FC236}">
                <a16:creationId xmlns:a16="http://schemas.microsoft.com/office/drawing/2014/main" id="{4ABED81D-13EF-834C-B406-AE66CB31C57E}"/>
              </a:ext>
            </a:extLst>
          </p:cNvPr>
          <p:cNvSpPr/>
          <p:nvPr/>
        </p:nvSpPr>
        <p:spPr>
          <a:xfrm>
            <a:off x="891084" y="3825111"/>
            <a:ext cx="2171700" cy="646109"/>
          </a:xfrm>
          <a:custGeom>
            <a:avLst/>
            <a:gdLst>
              <a:gd name="connsiteX0" fmla="*/ 0 w 2171700"/>
              <a:gd name="connsiteY0" fmla="*/ 188909 h 646109"/>
              <a:gd name="connsiteX1" fmla="*/ 1073150 w 2171700"/>
              <a:gd name="connsiteY1" fmla="*/ 23809 h 646109"/>
              <a:gd name="connsiteX2" fmla="*/ 2171700 w 2171700"/>
              <a:gd name="connsiteY2" fmla="*/ 646109 h 646109"/>
            </a:gdLst>
            <a:ahLst/>
            <a:cxnLst>
              <a:cxn ang="0">
                <a:pos x="connsiteX0" y="connsiteY0"/>
              </a:cxn>
              <a:cxn ang="0">
                <a:pos x="connsiteX1" y="connsiteY1"/>
              </a:cxn>
              <a:cxn ang="0">
                <a:pos x="connsiteX2" y="connsiteY2"/>
              </a:cxn>
            </a:cxnLst>
            <a:rect l="l" t="t" r="r" b="b"/>
            <a:pathLst>
              <a:path w="2171700" h="646109">
                <a:moveTo>
                  <a:pt x="0" y="188909"/>
                </a:moveTo>
                <a:cubicBezTo>
                  <a:pt x="355600" y="68259"/>
                  <a:pt x="711200" y="-52391"/>
                  <a:pt x="1073150" y="23809"/>
                </a:cubicBezTo>
                <a:cubicBezTo>
                  <a:pt x="1435100" y="100009"/>
                  <a:pt x="1803400" y="373059"/>
                  <a:pt x="2171700" y="646109"/>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4" name="手繪多邊形 18">
            <a:extLst>
              <a:ext uri="{FF2B5EF4-FFF2-40B4-BE49-F238E27FC236}">
                <a16:creationId xmlns:a16="http://schemas.microsoft.com/office/drawing/2014/main" id="{CDC085CF-79E5-DC44-8CDC-1D3795116FBD}"/>
              </a:ext>
            </a:extLst>
          </p:cNvPr>
          <p:cNvSpPr/>
          <p:nvPr/>
        </p:nvSpPr>
        <p:spPr>
          <a:xfrm>
            <a:off x="2624634" y="5868220"/>
            <a:ext cx="463550" cy="243308"/>
          </a:xfrm>
          <a:custGeom>
            <a:avLst/>
            <a:gdLst>
              <a:gd name="connsiteX0" fmla="*/ 0 w 463550"/>
              <a:gd name="connsiteY0" fmla="*/ 0 h 243308"/>
              <a:gd name="connsiteX1" fmla="*/ 101600 w 463550"/>
              <a:gd name="connsiteY1" fmla="*/ 241300 h 243308"/>
              <a:gd name="connsiteX2" fmla="*/ 463550 w 463550"/>
              <a:gd name="connsiteY2" fmla="*/ 95250 h 243308"/>
            </a:gdLst>
            <a:ahLst/>
            <a:cxnLst>
              <a:cxn ang="0">
                <a:pos x="connsiteX0" y="connsiteY0"/>
              </a:cxn>
              <a:cxn ang="0">
                <a:pos x="connsiteX1" y="connsiteY1"/>
              </a:cxn>
              <a:cxn ang="0">
                <a:pos x="connsiteX2" y="connsiteY2"/>
              </a:cxn>
            </a:cxnLst>
            <a:rect l="l" t="t" r="r" b="b"/>
            <a:pathLst>
              <a:path w="463550" h="243308">
                <a:moveTo>
                  <a:pt x="0" y="0"/>
                </a:moveTo>
                <a:cubicBezTo>
                  <a:pt x="12171" y="112712"/>
                  <a:pt x="24342" y="225425"/>
                  <a:pt x="101600" y="241300"/>
                </a:cubicBezTo>
                <a:cubicBezTo>
                  <a:pt x="178858" y="257175"/>
                  <a:pt x="321204" y="176212"/>
                  <a:pt x="463550" y="9525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6" name="文本框 25">
            <a:extLst>
              <a:ext uri="{FF2B5EF4-FFF2-40B4-BE49-F238E27FC236}">
                <a16:creationId xmlns:a16="http://schemas.microsoft.com/office/drawing/2014/main" id="{98CA6112-0070-5044-9AB2-B39EE406531A}"/>
              </a:ext>
            </a:extLst>
          </p:cNvPr>
          <p:cNvSpPr txBox="1"/>
          <p:nvPr/>
        </p:nvSpPr>
        <p:spPr>
          <a:xfrm>
            <a:off x="2827236" y="6366068"/>
            <a:ext cx="1151517" cy="430887"/>
          </a:xfrm>
          <a:prstGeom prst="rect">
            <a:avLst/>
          </a:prstGeom>
          <a:noFill/>
        </p:spPr>
        <p:txBody>
          <a:bodyPr wrap="square">
            <a:spAutoFit/>
          </a:bodyPr>
          <a:lstStyle/>
          <a:p>
            <a:r>
              <a:rPr kumimoji="1" lang="zh-CN" altLang="en-US" sz="2200" dirty="0"/>
              <a:t>输入层</a:t>
            </a:r>
            <a:endParaRPr lang="zh-CN" altLang="en-US" sz="2200" dirty="0"/>
          </a:p>
        </p:txBody>
      </p:sp>
      <p:sp>
        <p:nvSpPr>
          <p:cNvPr id="150" name="矩形 149">
            <a:extLst>
              <a:ext uri="{FF2B5EF4-FFF2-40B4-BE49-F238E27FC236}">
                <a16:creationId xmlns:a16="http://schemas.microsoft.com/office/drawing/2014/main" id="{118FB392-0D35-0340-A7B3-B13E7A37EC08}"/>
              </a:ext>
            </a:extLst>
          </p:cNvPr>
          <p:cNvSpPr/>
          <p:nvPr/>
        </p:nvSpPr>
        <p:spPr>
          <a:xfrm>
            <a:off x="4200205" y="3942747"/>
            <a:ext cx="2034073" cy="151675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2400" dirty="0">
                <a:solidFill>
                  <a:schemeClr val="tx1"/>
                </a:solidFill>
                <a:cs typeface="Times New Roman" panose="02020603050405020304" charset="0"/>
              </a:rPr>
              <a:t>隐藏层</a:t>
            </a:r>
            <a:endParaRPr lang="en-US" altLang="zh-TW" sz="2400" dirty="0">
              <a:solidFill>
                <a:schemeClr val="tx1"/>
              </a:solidFill>
              <a:cs typeface="Times New Roman" panose="02020603050405020304" charset="0"/>
            </a:endParaRPr>
          </a:p>
          <a:p>
            <a:pPr algn="ctr"/>
            <a:r>
              <a:rPr lang="en-US" altLang="zh-CN" sz="2400" dirty="0">
                <a:solidFill>
                  <a:schemeClr val="tx1"/>
                </a:solidFill>
                <a:cs typeface="Times New Roman" panose="02020603050405020304" charset="0"/>
              </a:rPr>
              <a:t>+</a:t>
            </a:r>
          </a:p>
          <a:p>
            <a:pPr algn="ctr"/>
            <a:r>
              <a:rPr lang="zh-CN" altLang="en-US" sz="2400" dirty="0">
                <a:solidFill>
                  <a:schemeClr val="tx1"/>
                </a:solidFill>
                <a:cs typeface="Times New Roman" panose="02020603050405020304" charset="0"/>
              </a:rPr>
              <a:t>输出层</a:t>
            </a:r>
            <a:endParaRPr lang="zh-TW" altLang="en-US" sz="2400" dirty="0">
              <a:solidFill>
                <a:schemeClr val="tx1"/>
              </a:solidFill>
              <a:cs typeface="Times New Roman" panose="02020603050405020304" charset="0"/>
            </a:endParaRPr>
          </a:p>
        </p:txBody>
      </p:sp>
      <p:sp>
        <p:nvSpPr>
          <p:cNvPr id="151" name="向右箭號 7">
            <a:extLst>
              <a:ext uri="{FF2B5EF4-FFF2-40B4-BE49-F238E27FC236}">
                <a16:creationId xmlns:a16="http://schemas.microsoft.com/office/drawing/2014/main" id="{4D67F5E2-9269-E94D-BE1F-E0A4850FCD18}"/>
              </a:ext>
            </a:extLst>
          </p:cNvPr>
          <p:cNvSpPr/>
          <p:nvPr/>
        </p:nvSpPr>
        <p:spPr>
          <a:xfrm>
            <a:off x="3620055" y="4400016"/>
            <a:ext cx="520225" cy="706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grpSp>
        <p:nvGrpSpPr>
          <p:cNvPr id="162" name="群組 19">
            <a:extLst>
              <a:ext uri="{FF2B5EF4-FFF2-40B4-BE49-F238E27FC236}">
                <a16:creationId xmlns:a16="http://schemas.microsoft.com/office/drawing/2014/main" id="{575C2B0E-4DB5-7F44-BBFF-51E02BB4E5C0}"/>
              </a:ext>
            </a:extLst>
          </p:cNvPr>
          <p:cNvGrpSpPr/>
          <p:nvPr/>
        </p:nvGrpSpPr>
        <p:grpSpPr>
          <a:xfrm>
            <a:off x="7107052" y="3450115"/>
            <a:ext cx="638227" cy="2625052"/>
            <a:chOff x="7142066" y="2004946"/>
            <a:chExt cx="638227" cy="2625052"/>
          </a:xfrm>
        </p:grpSpPr>
        <p:sp>
          <p:nvSpPr>
            <p:cNvPr id="163" name="矩形 162">
              <a:extLst>
                <a:ext uri="{FF2B5EF4-FFF2-40B4-BE49-F238E27FC236}">
                  <a16:creationId xmlns:a16="http://schemas.microsoft.com/office/drawing/2014/main" id="{C106C051-A690-B94F-893F-B80FC4EA3195}"/>
                </a:ext>
              </a:extLst>
            </p:cNvPr>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64" name="文字方塊 21">
              <a:extLst>
                <a:ext uri="{FF2B5EF4-FFF2-40B4-BE49-F238E27FC236}">
                  <a16:creationId xmlns:a16="http://schemas.microsoft.com/office/drawing/2014/main" id="{4F6EFB06-FB67-9F4B-898F-AFDF90294AB4}"/>
                </a:ext>
              </a:extLst>
            </p:cNvPr>
            <p:cNvSpPr txBox="1"/>
            <p:nvPr/>
          </p:nvSpPr>
          <p:spPr>
            <a:xfrm rot="5400000">
              <a:off x="7134054" y="3530447"/>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grpSp>
      <p:sp>
        <p:nvSpPr>
          <p:cNvPr id="168" name="文本框 167">
            <a:extLst>
              <a:ext uri="{FF2B5EF4-FFF2-40B4-BE49-F238E27FC236}">
                <a16:creationId xmlns:a16="http://schemas.microsoft.com/office/drawing/2014/main" id="{80902430-7325-6C4E-89CD-652DED4A55B0}"/>
              </a:ext>
            </a:extLst>
          </p:cNvPr>
          <p:cNvSpPr txBox="1"/>
          <p:nvPr/>
        </p:nvSpPr>
        <p:spPr>
          <a:xfrm>
            <a:off x="6178630" y="4982557"/>
            <a:ext cx="1509890" cy="369332"/>
          </a:xfrm>
          <a:prstGeom prst="rect">
            <a:avLst/>
          </a:prstGeom>
          <a:noFill/>
        </p:spPr>
        <p:txBody>
          <a:bodyPr wrap="square">
            <a:spAutoFit/>
          </a:bodyPr>
          <a:lstStyle/>
          <a:p>
            <a:r>
              <a:rPr kumimoji="1" lang="en-US" altLang="zh-CN" dirty="0" err="1"/>
              <a:t>Softmax</a:t>
            </a:r>
            <a:endParaRPr lang="zh-CN" altLang="en-US" dirty="0"/>
          </a:p>
        </p:txBody>
      </p:sp>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FDECDAEF-02D3-454A-83D6-6FE04FF01AD7}"/>
                  </a:ext>
                </a:extLst>
              </p:cNvPr>
              <p:cNvSpPr txBox="1"/>
              <p:nvPr/>
            </p:nvSpPr>
            <p:spPr>
              <a:xfrm>
                <a:off x="6746908" y="3507306"/>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172" name="文本框 171">
                <a:extLst>
                  <a:ext uri="{FF2B5EF4-FFF2-40B4-BE49-F238E27FC236}">
                    <a16:creationId xmlns:a16="http://schemas.microsoft.com/office/drawing/2014/main" id="{FDECDAEF-02D3-454A-83D6-6FE04FF01AD7}"/>
                  </a:ext>
                </a:extLst>
              </p:cNvPr>
              <p:cNvSpPr txBox="1">
                <a:spLocks noRot="1" noChangeAspect="1" noMove="1" noResize="1" noEditPoints="1" noAdjustHandles="1" noChangeArrowheads="1" noChangeShapeType="1" noTextEdit="1"/>
              </p:cNvSpPr>
              <p:nvPr/>
            </p:nvSpPr>
            <p:spPr>
              <a:xfrm>
                <a:off x="6746908" y="3507306"/>
                <a:ext cx="1228657" cy="461665"/>
              </a:xfrm>
              <a:prstGeom prst="rect">
                <a:avLst/>
              </a:prstGeom>
              <a:blipFill>
                <a:blip r:embed="rId7"/>
                <a:stretch>
                  <a:fillRect t="-5405"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75077562-2577-2043-8AF2-8626981B4299}"/>
                  </a:ext>
                </a:extLst>
              </p:cNvPr>
              <p:cNvSpPr txBox="1"/>
              <p:nvPr/>
            </p:nvSpPr>
            <p:spPr>
              <a:xfrm>
                <a:off x="6749540" y="4077635"/>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173" name="文本框 172">
                <a:extLst>
                  <a:ext uri="{FF2B5EF4-FFF2-40B4-BE49-F238E27FC236}">
                    <a16:creationId xmlns:a16="http://schemas.microsoft.com/office/drawing/2014/main" id="{75077562-2577-2043-8AF2-8626981B4299}"/>
                  </a:ext>
                </a:extLst>
              </p:cNvPr>
              <p:cNvSpPr txBox="1">
                <a:spLocks noRot="1" noChangeAspect="1" noMove="1" noResize="1" noEditPoints="1" noAdjustHandles="1" noChangeArrowheads="1" noChangeShapeType="1" noTextEdit="1"/>
              </p:cNvSpPr>
              <p:nvPr/>
            </p:nvSpPr>
            <p:spPr>
              <a:xfrm>
                <a:off x="6749540" y="4077635"/>
                <a:ext cx="1228657" cy="461665"/>
              </a:xfrm>
              <a:prstGeom prst="rect">
                <a:avLst/>
              </a:prstGeom>
              <a:blipFill>
                <a:blip r:embed="rId8"/>
                <a:stretch>
                  <a:fillRect t="-5405"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667A777C-6149-9142-BD9F-FEF9E8FA610B}"/>
                  </a:ext>
                </a:extLst>
              </p:cNvPr>
              <p:cNvSpPr txBox="1"/>
              <p:nvPr/>
            </p:nvSpPr>
            <p:spPr>
              <a:xfrm>
                <a:off x="6788421" y="5548645"/>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10</m:t>
                          </m:r>
                        </m:sub>
                      </m:sSub>
                    </m:oMath>
                  </m:oMathPara>
                </a14:m>
                <a:endParaRPr lang="zh-CN" altLang="en-US" sz="2400" dirty="0"/>
              </a:p>
            </p:txBody>
          </p:sp>
        </mc:Choice>
        <mc:Fallback xmlns="">
          <p:sp>
            <p:nvSpPr>
              <p:cNvPr id="174" name="文本框 173">
                <a:extLst>
                  <a:ext uri="{FF2B5EF4-FFF2-40B4-BE49-F238E27FC236}">
                    <a16:creationId xmlns:a16="http://schemas.microsoft.com/office/drawing/2014/main" id="{667A777C-6149-9142-BD9F-FEF9E8FA610B}"/>
                  </a:ext>
                </a:extLst>
              </p:cNvPr>
              <p:cNvSpPr txBox="1">
                <a:spLocks noRot="1" noChangeAspect="1" noMove="1" noResize="1" noEditPoints="1" noAdjustHandles="1" noChangeArrowheads="1" noChangeShapeType="1" noTextEdit="1"/>
              </p:cNvSpPr>
              <p:nvPr/>
            </p:nvSpPr>
            <p:spPr>
              <a:xfrm>
                <a:off x="6788421" y="5548645"/>
                <a:ext cx="1228657" cy="461665"/>
              </a:xfrm>
              <a:prstGeom prst="rect">
                <a:avLst/>
              </a:prstGeom>
              <a:blipFill>
                <a:blip r:embed="rId9"/>
                <a:stretch>
                  <a:fillRect t="-2632" b="-5263"/>
                </a:stretch>
              </a:blipFill>
            </p:spPr>
            <p:txBody>
              <a:bodyPr/>
              <a:lstStyle/>
              <a:p>
                <a:r>
                  <a:rPr lang="zh-CN" altLang="en-US">
                    <a:noFill/>
                  </a:rPr>
                  <a:t> </a:t>
                </a:r>
              </a:p>
            </p:txBody>
          </p:sp>
        </mc:Fallback>
      </mc:AlternateContent>
      <p:sp>
        <p:nvSpPr>
          <p:cNvPr id="175" name="向右箭號 8">
            <a:extLst>
              <a:ext uri="{FF2B5EF4-FFF2-40B4-BE49-F238E27FC236}">
                <a16:creationId xmlns:a16="http://schemas.microsoft.com/office/drawing/2014/main" id="{77E42004-E283-7A4E-8B7E-41411958A685}"/>
              </a:ext>
            </a:extLst>
          </p:cNvPr>
          <p:cNvSpPr/>
          <p:nvPr/>
        </p:nvSpPr>
        <p:spPr>
          <a:xfrm>
            <a:off x="6313994" y="4463805"/>
            <a:ext cx="724529" cy="518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76" name="文字方塊 25">
            <a:extLst>
              <a:ext uri="{FF2B5EF4-FFF2-40B4-BE49-F238E27FC236}">
                <a16:creationId xmlns:a16="http://schemas.microsoft.com/office/drawing/2014/main" id="{0F167007-059D-BA44-9C0A-7424914DD1D4}"/>
              </a:ext>
            </a:extLst>
          </p:cNvPr>
          <p:cNvSpPr txBox="1"/>
          <p:nvPr/>
        </p:nvSpPr>
        <p:spPr>
          <a:xfrm>
            <a:off x="7771783" y="3421337"/>
            <a:ext cx="86163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1</a:t>
            </a:r>
            <a:endParaRPr lang="zh-TW" altLang="en-US" sz="2400" dirty="0">
              <a:latin typeface="Times New Roman" panose="02020603050405020304" charset="0"/>
              <a:cs typeface="Times New Roman" panose="02020603050405020304" charset="0"/>
            </a:endParaRPr>
          </a:p>
        </p:txBody>
      </p:sp>
      <p:sp>
        <p:nvSpPr>
          <p:cNvPr id="177" name="文字方塊 26">
            <a:extLst>
              <a:ext uri="{FF2B5EF4-FFF2-40B4-BE49-F238E27FC236}">
                <a16:creationId xmlns:a16="http://schemas.microsoft.com/office/drawing/2014/main" id="{98D23ED7-687E-D34D-B812-9363A57DCE76}"/>
              </a:ext>
            </a:extLst>
          </p:cNvPr>
          <p:cNvSpPr txBox="1"/>
          <p:nvPr/>
        </p:nvSpPr>
        <p:spPr>
          <a:xfrm>
            <a:off x="7779092" y="4202619"/>
            <a:ext cx="84701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2</a:t>
            </a:r>
            <a:endParaRPr lang="zh-TW" altLang="en-US" sz="2400" dirty="0">
              <a:latin typeface="Times New Roman" panose="02020603050405020304" charset="0"/>
              <a:cs typeface="Times New Roman" panose="02020603050405020304" charset="0"/>
            </a:endParaRPr>
          </a:p>
        </p:txBody>
      </p:sp>
      <p:sp>
        <p:nvSpPr>
          <p:cNvPr id="178" name="文字方塊 27">
            <a:extLst>
              <a:ext uri="{FF2B5EF4-FFF2-40B4-BE49-F238E27FC236}">
                <a16:creationId xmlns:a16="http://schemas.microsoft.com/office/drawing/2014/main" id="{6654CDD6-31AF-1042-9944-794DEDFA5BE3}"/>
              </a:ext>
            </a:extLst>
          </p:cNvPr>
          <p:cNvSpPr txBox="1"/>
          <p:nvPr/>
        </p:nvSpPr>
        <p:spPr>
          <a:xfrm>
            <a:off x="7805423" y="5577707"/>
            <a:ext cx="834766"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0</a:t>
            </a:r>
            <a:endParaRPr lang="zh-TW" altLang="en-US" sz="2400" dirty="0">
              <a:latin typeface="Times New Roman" panose="02020603050405020304" charset="0"/>
              <a:cs typeface="Times New Roman" panose="02020603050405020304" charset="0"/>
            </a:endParaRPr>
          </a:p>
        </p:txBody>
      </p:sp>
      <p:sp>
        <p:nvSpPr>
          <p:cNvPr id="179" name="文字方塊 29">
            <a:extLst>
              <a:ext uri="{FF2B5EF4-FFF2-40B4-BE49-F238E27FC236}">
                <a16:creationId xmlns:a16="http://schemas.microsoft.com/office/drawing/2014/main" id="{B609C96E-75FE-6947-B54E-582A7D189224}"/>
              </a:ext>
            </a:extLst>
          </p:cNvPr>
          <p:cNvSpPr txBox="1"/>
          <p:nvPr/>
        </p:nvSpPr>
        <p:spPr>
          <a:xfrm rot="5400000">
            <a:off x="7911787" y="4859385"/>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6" name="右大括号 5">
            <a:extLst>
              <a:ext uri="{FF2B5EF4-FFF2-40B4-BE49-F238E27FC236}">
                <a16:creationId xmlns:a16="http://schemas.microsoft.com/office/drawing/2014/main" id="{31FCC8A8-38AC-7641-8CCB-884F363EC0CE}"/>
              </a:ext>
            </a:extLst>
          </p:cNvPr>
          <p:cNvSpPr/>
          <p:nvPr/>
        </p:nvSpPr>
        <p:spPr>
          <a:xfrm rot="5400000">
            <a:off x="7799491" y="5421136"/>
            <a:ext cx="223747" cy="1601871"/>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80" name="文本框 179">
            <a:extLst>
              <a:ext uri="{FF2B5EF4-FFF2-40B4-BE49-F238E27FC236}">
                <a16:creationId xmlns:a16="http://schemas.microsoft.com/office/drawing/2014/main" id="{3809248D-0626-104A-9F37-3CF9691F0558}"/>
              </a:ext>
            </a:extLst>
          </p:cNvPr>
          <p:cNvSpPr txBox="1"/>
          <p:nvPr/>
        </p:nvSpPr>
        <p:spPr>
          <a:xfrm>
            <a:off x="7208750" y="6301904"/>
            <a:ext cx="1405231" cy="430887"/>
          </a:xfrm>
          <a:prstGeom prst="rect">
            <a:avLst/>
          </a:prstGeom>
          <a:noFill/>
        </p:spPr>
        <p:txBody>
          <a:bodyPr wrap="square">
            <a:spAutoFit/>
          </a:bodyPr>
          <a:lstStyle/>
          <a:p>
            <a:r>
              <a:rPr kumimoji="1" lang="zh-CN" altLang="en-US" sz="2200" dirty="0"/>
              <a:t>预测概率</a:t>
            </a:r>
            <a:endParaRPr lang="zh-CN" altLang="en-US" sz="2200" dirty="0"/>
          </a:p>
        </p:txBody>
      </p:sp>
    </p:spTree>
    <p:extLst>
      <p:ext uri="{BB962C8B-B14F-4D97-AF65-F5344CB8AC3E}">
        <p14:creationId xmlns:p14="http://schemas.microsoft.com/office/powerpoint/2010/main" val="7686054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47</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1015663"/>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多分类任务：以手写字识别为例</a:t>
            </a:r>
            <a:endParaRPr lang="en-US" altLang="zh-CN" sz="2400" dirty="0"/>
          </a:p>
          <a:p>
            <a:pPr lvl="1"/>
            <a:endParaRPr lang="en-US" altLang="zh-CN" sz="2400" dirty="0"/>
          </a:p>
        </p:txBody>
      </p:sp>
      <p:pic>
        <p:nvPicPr>
          <p:cNvPr id="9" name="圖片 6">
            <a:extLst>
              <a:ext uri="{FF2B5EF4-FFF2-40B4-BE49-F238E27FC236}">
                <a16:creationId xmlns:a16="http://schemas.microsoft.com/office/drawing/2014/main" id="{4F351886-54E3-934D-848B-3C506531D50B}"/>
              </a:ext>
            </a:extLst>
          </p:cNvPr>
          <p:cNvPicPr>
            <a:picLocks noChangeAspect="1"/>
          </p:cNvPicPr>
          <p:nvPr/>
        </p:nvPicPr>
        <p:blipFill>
          <a:blip r:embed="rId3"/>
          <a:stretch>
            <a:fillRect/>
          </a:stretch>
        </p:blipFill>
        <p:spPr>
          <a:xfrm>
            <a:off x="632002" y="3893855"/>
            <a:ext cx="2130022" cy="2116455"/>
          </a:xfrm>
          <a:prstGeom prst="rect">
            <a:avLst/>
          </a:prstGeom>
        </p:spPr>
      </p:pic>
      <p:sp>
        <p:nvSpPr>
          <p:cNvPr id="11" name="文字方塊 7">
            <a:extLst>
              <a:ext uri="{FF2B5EF4-FFF2-40B4-BE49-F238E27FC236}">
                <a16:creationId xmlns:a16="http://schemas.microsoft.com/office/drawing/2014/main" id="{3AF45172-F779-A549-BF34-C15AFFD7BA7C}"/>
              </a:ext>
            </a:extLst>
          </p:cNvPr>
          <p:cNvSpPr txBox="1"/>
          <p:nvPr/>
        </p:nvSpPr>
        <p:spPr>
          <a:xfrm>
            <a:off x="879361" y="5997337"/>
            <a:ext cx="1601872" cy="369332"/>
          </a:xfrm>
          <a:prstGeom prst="rect">
            <a:avLst/>
          </a:prstGeom>
          <a:noFill/>
        </p:spPr>
        <p:txBody>
          <a:bodyPr wrap="square" rtlCol="0">
            <a:spAutoFit/>
          </a:bodyPr>
          <a:lstStyle/>
          <a:p>
            <a:r>
              <a:rPr lang="en-US" altLang="zh-TW" dirty="0">
                <a:latin typeface="Times New Roman" panose="02020603050405020304" charset="0"/>
                <a:cs typeface="Times New Roman" panose="02020603050405020304" charset="0"/>
              </a:rPr>
              <a:t>16 x 16 = 256</a:t>
            </a:r>
            <a:endParaRPr lang="zh-TW" altLang="en-US" dirty="0">
              <a:latin typeface="Times New Roman" panose="02020603050405020304" charset="0"/>
              <a:cs typeface="Times New Roman" panose="02020603050405020304" charset="0"/>
            </a:endParaRPr>
          </a:p>
        </p:txBody>
      </p:sp>
      <p:sp>
        <p:nvSpPr>
          <p:cNvPr id="12" name="矩形 11">
            <a:extLst>
              <a:ext uri="{FF2B5EF4-FFF2-40B4-BE49-F238E27FC236}">
                <a16:creationId xmlns:a16="http://schemas.microsoft.com/office/drawing/2014/main" id="{04662A04-BEDD-824A-B55F-2C51F08B1794}"/>
              </a:ext>
            </a:extLst>
          </p:cNvPr>
          <p:cNvSpPr/>
          <p:nvPr/>
        </p:nvSpPr>
        <p:spPr>
          <a:xfrm>
            <a:off x="2991707" y="35907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3" name="矩形 12">
            <a:extLst>
              <a:ext uri="{FF2B5EF4-FFF2-40B4-BE49-F238E27FC236}">
                <a16:creationId xmlns:a16="http://schemas.microsoft.com/office/drawing/2014/main" id="{7E08CD4D-AE2D-514F-A137-569880831284}"/>
              </a:ext>
            </a:extLst>
          </p:cNvPr>
          <p:cNvSpPr/>
          <p:nvPr/>
        </p:nvSpPr>
        <p:spPr>
          <a:xfrm>
            <a:off x="3060095" y="430846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4" name="矩形 13">
            <a:extLst>
              <a:ext uri="{FF2B5EF4-FFF2-40B4-BE49-F238E27FC236}">
                <a16:creationId xmlns:a16="http://schemas.microsoft.com/office/drawing/2014/main" id="{B033D85B-49DD-CF46-B2F9-9D1032A6BE10}"/>
              </a:ext>
            </a:extLst>
          </p:cNvPr>
          <p:cNvSpPr/>
          <p:nvPr/>
        </p:nvSpPr>
        <p:spPr>
          <a:xfrm>
            <a:off x="3065913" y="37381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15" name="Object 12">
                <a:extLst>
                  <a:ext uri="{FF2B5EF4-FFF2-40B4-BE49-F238E27FC236}">
                    <a16:creationId xmlns:a16="http://schemas.microsoft.com/office/drawing/2014/main" id="{9447875E-B423-F041-9786-3BA5B62C15A6}"/>
                  </a:ext>
                </a:extLst>
              </p:cNvPr>
              <p:cNvSpPr txBox="1"/>
              <p:nvPr/>
            </p:nvSpPr>
            <p:spPr bwMode="auto">
              <a:xfrm>
                <a:off x="3078612" y="3642889"/>
                <a:ext cx="325438" cy="46196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5" name="Object 12">
                <a:extLst>
                  <a:ext uri="{FF2B5EF4-FFF2-40B4-BE49-F238E27FC236}">
                    <a16:creationId xmlns:a16="http://schemas.microsoft.com/office/drawing/2014/main" id="{9447875E-B423-F041-9786-3BA5B62C15A6}"/>
                  </a:ext>
                </a:extLst>
              </p:cNvPr>
              <p:cNvSpPr txBox="1">
                <a:spLocks noRot="1" noChangeAspect="1" noMove="1" noResize="1" noEditPoints="1" noAdjustHandles="1" noChangeArrowheads="1" noChangeShapeType="1" noTextEdit="1"/>
              </p:cNvSpPr>
              <p:nvPr/>
            </p:nvSpPr>
            <p:spPr bwMode="auto">
              <a:xfrm>
                <a:off x="3078612" y="3642889"/>
                <a:ext cx="325438" cy="461962"/>
              </a:xfrm>
              <a:prstGeom prst="rect">
                <a:avLst/>
              </a:prstGeom>
              <a:blipFill>
                <a:blip r:embed="rId4"/>
                <a:stretch>
                  <a:fillRect r="-13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Object 12">
                <a:extLst>
                  <a:ext uri="{FF2B5EF4-FFF2-40B4-BE49-F238E27FC236}">
                    <a16:creationId xmlns:a16="http://schemas.microsoft.com/office/drawing/2014/main" id="{2918E6E6-BF26-9E4B-B361-594DC01206E3}"/>
                  </a:ext>
                </a:extLst>
              </p:cNvPr>
              <p:cNvSpPr txBox="1"/>
              <p:nvPr/>
            </p:nvSpPr>
            <p:spPr bwMode="auto">
              <a:xfrm>
                <a:off x="3083908" y="4225618"/>
                <a:ext cx="352425" cy="46196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oMath>
                  </m:oMathPara>
                </a14:m>
                <a:endParaRPr lang="zh-CN" altLang="en-US" dirty="0"/>
              </a:p>
            </p:txBody>
          </p:sp>
        </mc:Choice>
        <mc:Fallback xmlns="">
          <p:sp>
            <p:nvSpPr>
              <p:cNvPr id="16" name="Object 12">
                <a:extLst>
                  <a:ext uri="{FF2B5EF4-FFF2-40B4-BE49-F238E27FC236}">
                    <a16:creationId xmlns:a16="http://schemas.microsoft.com/office/drawing/2014/main" id="{2918E6E6-BF26-9E4B-B361-594DC01206E3}"/>
                  </a:ext>
                </a:extLst>
              </p:cNvPr>
              <p:cNvSpPr txBox="1">
                <a:spLocks noRot="1" noChangeAspect="1" noMove="1" noResize="1" noEditPoints="1" noAdjustHandles="1" noChangeArrowheads="1" noChangeShapeType="1" noTextEdit="1"/>
              </p:cNvSpPr>
              <p:nvPr/>
            </p:nvSpPr>
            <p:spPr bwMode="auto">
              <a:xfrm>
                <a:off x="3083908" y="4225618"/>
                <a:ext cx="352425" cy="461963"/>
              </a:xfrm>
              <a:prstGeom prst="rect">
                <a:avLst/>
              </a:prstGeom>
              <a:blipFill>
                <a:blip r:embed="rId5"/>
                <a:stretch>
                  <a:fillRect r="-3448"/>
                </a:stretch>
              </a:blipFill>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55C85D6B-C15C-4A46-BB93-5ADFA165C5C3}"/>
              </a:ext>
            </a:extLst>
          </p:cNvPr>
          <p:cNvSpPr/>
          <p:nvPr/>
        </p:nvSpPr>
        <p:spPr>
          <a:xfrm>
            <a:off x="3069620" y="570622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0" name="Object 12">
                <a:extLst>
                  <a:ext uri="{FF2B5EF4-FFF2-40B4-BE49-F238E27FC236}">
                    <a16:creationId xmlns:a16="http://schemas.microsoft.com/office/drawing/2014/main" id="{C068EBF9-8346-9248-A53F-132FF2AABF64}"/>
                  </a:ext>
                </a:extLst>
              </p:cNvPr>
              <p:cNvSpPr txBox="1"/>
              <p:nvPr/>
            </p:nvSpPr>
            <p:spPr bwMode="auto">
              <a:xfrm>
                <a:off x="2997697" y="5609458"/>
                <a:ext cx="544512" cy="488950"/>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m:rPr>
                              <m:nor/>
                            </m:rPr>
                            <a:rPr lang="zh-CN" altLang="en-US" i="0">
                              <a:solidFill>
                                <a:srgbClr val="000000"/>
                              </a:solidFill>
                              <a:latin typeface="Cambria Math" panose="02040503050406030204" pitchFamily="18" charset="0"/>
                            </a:rPr>
                            <m:t>256</m:t>
                          </m:r>
                        </m:sub>
                      </m:sSub>
                    </m:oMath>
                  </m:oMathPara>
                </a14:m>
                <a:endParaRPr lang="zh-CN" altLang="en-US"/>
              </a:p>
            </p:txBody>
          </p:sp>
        </mc:Choice>
        <mc:Fallback xmlns="">
          <p:sp>
            <p:nvSpPr>
              <p:cNvPr id="20" name="Object 12">
                <a:extLst>
                  <a:ext uri="{FF2B5EF4-FFF2-40B4-BE49-F238E27FC236}">
                    <a16:creationId xmlns:a16="http://schemas.microsoft.com/office/drawing/2014/main" id="{C068EBF9-8346-9248-A53F-132FF2AABF64}"/>
                  </a:ext>
                </a:extLst>
              </p:cNvPr>
              <p:cNvSpPr txBox="1">
                <a:spLocks noRot="1" noChangeAspect="1" noMove="1" noResize="1" noEditPoints="1" noAdjustHandles="1" noChangeArrowheads="1" noChangeShapeType="1" noTextEdit="1"/>
              </p:cNvSpPr>
              <p:nvPr/>
            </p:nvSpPr>
            <p:spPr bwMode="auto">
              <a:xfrm>
                <a:off x="2997697" y="5609458"/>
                <a:ext cx="544512" cy="488950"/>
              </a:xfrm>
              <a:prstGeom prst="rect">
                <a:avLst/>
              </a:prstGeom>
              <a:blipFill>
                <a:blip r:embed="rId6"/>
                <a:stretch>
                  <a:fillRect r="-16854"/>
                </a:stretch>
              </a:blipFill>
            </p:spPr>
            <p:txBody>
              <a:bodyPr/>
              <a:lstStyle/>
              <a:p>
                <a:r>
                  <a:rPr lang="zh-CN" altLang="en-US">
                    <a:noFill/>
                  </a:rPr>
                  <a:t> </a:t>
                </a:r>
              </a:p>
            </p:txBody>
          </p:sp>
        </mc:Fallback>
      </mc:AlternateContent>
      <p:sp>
        <p:nvSpPr>
          <p:cNvPr id="21" name="文字方塊 15">
            <a:extLst>
              <a:ext uri="{FF2B5EF4-FFF2-40B4-BE49-F238E27FC236}">
                <a16:creationId xmlns:a16="http://schemas.microsoft.com/office/drawing/2014/main" id="{CE2C76B7-BEDF-DB41-B401-F61156D269E7}"/>
              </a:ext>
            </a:extLst>
          </p:cNvPr>
          <p:cNvSpPr txBox="1"/>
          <p:nvPr/>
        </p:nvSpPr>
        <p:spPr>
          <a:xfrm rot="5400000">
            <a:off x="2965165" y="5021490"/>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22" name="手繪多邊形 16">
            <a:extLst>
              <a:ext uri="{FF2B5EF4-FFF2-40B4-BE49-F238E27FC236}">
                <a16:creationId xmlns:a16="http://schemas.microsoft.com/office/drawing/2014/main" id="{54242462-3614-CE48-9E6D-AECC36FE74A3}"/>
              </a:ext>
            </a:extLst>
          </p:cNvPr>
          <p:cNvSpPr/>
          <p:nvPr/>
        </p:nvSpPr>
        <p:spPr>
          <a:xfrm>
            <a:off x="757734" y="3652170"/>
            <a:ext cx="2305050" cy="363941"/>
          </a:xfrm>
          <a:custGeom>
            <a:avLst/>
            <a:gdLst>
              <a:gd name="connsiteX0" fmla="*/ 0 w 2305050"/>
              <a:gd name="connsiteY0" fmla="*/ 374550 h 374550"/>
              <a:gd name="connsiteX1" fmla="*/ 876300 w 2305050"/>
              <a:gd name="connsiteY1" fmla="*/ 6250 h 374550"/>
              <a:gd name="connsiteX2" fmla="*/ 2305050 w 2305050"/>
              <a:gd name="connsiteY2" fmla="*/ 177700 h 374550"/>
            </a:gdLst>
            <a:ahLst/>
            <a:cxnLst>
              <a:cxn ang="0">
                <a:pos x="connsiteX0" y="connsiteY0"/>
              </a:cxn>
              <a:cxn ang="0">
                <a:pos x="connsiteX1" y="connsiteY1"/>
              </a:cxn>
              <a:cxn ang="0">
                <a:pos x="connsiteX2" y="connsiteY2"/>
              </a:cxn>
            </a:cxnLst>
            <a:rect l="l" t="t" r="r" b="b"/>
            <a:pathLst>
              <a:path w="2305050" h="374550">
                <a:moveTo>
                  <a:pt x="0" y="374550"/>
                </a:moveTo>
                <a:cubicBezTo>
                  <a:pt x="246062" y="206804"/>
                  <a:pt x="492125" y="39058"/>
                  <a:pt x="876300" y="6250"/>
                </a:cubicBezTo>
                <a:cubicBezTo>
                  <a:pt x="1260475" y="-26558"/>
                  <a:pt x="1782762" y="75571"/>
                  <a:pt x="2305050" y="17770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3" name="手繪多邊形 17">
            <a:extLst>
              <a:ext uri="{FF2B5EF4-FFF2-40B4-BE49-F238E27FC236}">
                <a16:creationId xmlns:a16="http://schemas.microsoft.com/office/drawing/2014/main" id="{4ABED81D-13EF-834C-B406-AE66CB31C57E}"/>
              </a:ext>
            </a:extLst>
          </p:cNvPr>
          <p:cNvSpPr/>
          <p:nvPr/>
        </p:nvSpPr>
        <p:spPr>
          <a:xfrm>
            <a:off x="891084" y="3825111"/>
            <a:ext cx="2171700" cy="646109"/>
          </a:xfrm>
          <a:custGeom>
            <a:avLst/>
            <a:gdLst>
              <a:gd name="connsiteX0" fmla="*/ 0 w 2171700"/>
              <a:gd name="connsiteY0" fmla="*/ 188909 h 646109"/>
              <a:gd name="connsiteX1" fmla="*/ 1073150 w 2171700"/>
              <a:gd name="connsiteY1" fmla="*/ 23809 h 646109"/>
              <a:gd name="connsiteX2" fmla="*/ 2171700 w 2171700"/>
              <a:gd name="connsiteY2" fmla="*/ 646109 h 646109"/>
            </a:gdLst>
            <a:ahLst/>
            <a:cxnLst>
              <a:cxn ang="0">
                <a:pos x="connsiteX0" y="connsiteY0"/>
              </a:cxn>
              <a:cxn ang="0">
                <a:pos x="connsiteX1" y="connsiteY1"/>
              </a:cxn>
              <a:cxn ang="0">
                <a:pos x="connsiteX2" y="connsiteY2"/>
              </a:cxn>
            </a:cxnLst>
            <a:rect l="l" t="t" r="r" b="b"/>
            <a:pathLst>
              <a:path w="2171700" h="646109">
                <a:moveTo>
                  <a:pt x="0" y="188909"/>
                </a:moveTo>
                <a:cubicBezTo>
                  <a:pt x="355600" y="68259"/>
                  <a:pt x="711200" y="-52391"/>
                  <a:pt x="1073150" y="23809"/>
                </a:cubicBezTo>
                <a:cubicBezTo>
                  <a:pt x="1435100" y="100009"/>
                  <a:pt x="1803400" y="373059"/>
                  <a:pt x="2171700" y="646109"/>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4" name="手繪多邊形 18">
            <a:extLst>
              <a:ext uri="{FF2B5EF4-FFF2-40B4-BE49-F238E27FC236}">
                <a16:creationId xmlns:a16="http://schemas.microsoft.com/office/drawing/2014/main" id="{CDC085CF-79E5-DC44-8CDC-1D3795116FBD}"/>
              </a:ext>
            </a:extLst>
          </p:cNvPr>
          <p:cNvSpPr/>
          <p:nvPr/>
        </p:nvSpPr>
        <p:spPr>
          <a:xfrm>
            <a:off x="2624634" y="5868220"/>
            <a:ext cx="463550" cy="243308"/>
          </a:xfrm>
          <a:custGeom>
            <a:avLst/>
            <a:gdLst>
              <a:gd name="connsiteX0" fmla="*/ 0 w 463550"/>
              <a:gd name="connsiteY0" fmla="*/ 0 h 243308"/>
              <a:gd name="connsiteX1" fmla="*/ 101600 w 463550"/>
              <a:gd name="connsiteY1" fmla="*/ 241300 h 243308"/>
              <a:gd name="connsiteX2" fmla="*/ 463550 w 463550"/>
              <a:gd name="connsiteY2" fmla="*/ 95250 h 243308"/>
            </a:gdLst>
            <a:ahLst/>
            <a:cxnLst>
              <a:cxn ang="0">
                <a:pos x="connsiteX0" y="connsiteY0"/>
              </a:cxn>
              <a:cxn ang="0">
                <a:pos x="connsiteX1" y="connsiteY1"/>
              </a:cxn>
              <a:cxn ang="0">
                <a:pos x="connsiteX2" y="connsiteY2"/>
              </a:cxn>
            </a:cxnLst>
            <a:rect l="l" t="t" r="r" b="b"/>
            <a:pathLst>
              <a:path w="463550" h="243308">
                <a:moveTo>
                  <a:pt x="0" y="0"/>
                </a:moveTo>
                <a:cubicBezTo>
                  <a:pt x="12171" y="112712"/>
                  <a:pt x="24342" y="225425"/>
                  <a:pt x="101600" y="241300"/>
                </a:cubicBezTo>
                <a:cubicBezTo>
                  <a:pt x="178858" y="257175"/>
                  <a:pt x="321204" y="176212"/>
                  <a:pt x="463550" y="9525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26" name="文本框 25">
            <a:extLst>
              <a:ext uri="{FF2B5EF4-FFF2-40B4-BE49-F238E27FC236}">
                <a16:creationId xmlns:a16="http://schemas.microsoft.com/office/drawing/2014/main" id="{98CA6112-0070-5044-9AB2-B39EE406531A}"/>
              </a:ext>
            </a:extLst>
          </p:cNvPr>
          <p:cNvSpPr txBox="1"/>
          <p:nvPr/>
        </p:nvSpPr>
        <p:spPr>
          <a:xfrm>
            <a:off x="2827236" y="6366068"/>
            <a:ext cx="1151517" cy="430887"/>
          </a:xfrm>
          <a:prstGeom prst="rect">
            <a:avLst/>
          </a:prstGeom>
          <a:noFill/>
        </p:spPr>
        <p:txBody>
          <a:bodyPr wrap="square">
            <a:spAutoFit/>
          </a:bodyPr>
          <a:lstStyle/>
          <a:p>
            <a:r>
              <a:rPr kumimoji="1" lang="zh-CN" altLang="en-US" sz="2200" dirty="0"/>
              <a:t>输入层</a:t>
            </a:r>
            <a:endParaRPr lang="zh-CN" altLang="en-US" sz="2200" dirty="0"/>
          </a:p>
        </p:txBody>
      </p:sp>
      <p:sp>
        <p:nvSpPr>
          <p:cNvPr id="150" name="矩形 149">
            <a:extLst>
              <a:ext uri="{FF2B5EF4-FFF2-40B4-BE49-F238E27FC236}">
                <a16:creationId xmlns:a16="http://schemas.microsoft.com/office/drawing/2014/main" id="{118FB392-0D35-0340-A7B3-B13E7A37EC08}"/>
              </a:ext>
            </a:extLst>
          </p:cNvPr>
          <p:cNvSpPr/>
          <p:nvPr/>
        </p:nvSpPr>
        <p:spPr>
          <a:xfrm>
            <a:off x="4200205" y="3942747"/>
            <a:ext cx="2034073" cy="151675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2400" dirty="0">
                <a:solidFill>
                  <a:schemeClr val="tx1"/>
                </a:solidFill>
                <a:cs typeface="Times New Roman" panose="02020603050405020304" charset="0"/>
              </a:rPr>
              <a:t>隐藏层</a:t>
            </a:r>
            <a:endParaRPr lang="en-US" altLang="zh-TW" sz="2400" dirty="0">
              <a:solidFill>
                <a:schemeClr val="tx1"/>
              </a:solidFill>
              <a:cs typeface="Times New Roman" panose="02020603050405020304" charset="0"/>
            </a:endParaRPr>
          </a:p>
          <a:p>
            <a:pPr algn="ctr"/>
            <a:r>
              <a:rPr lang="en-US" altLang="zh-CN" sz="2400" dirty="0">
                <a:solidFill>
                  <a:schemeClr val="tx1"/>
                </a:solidFill>
                <a:cs typeface="Times New Roman" panose="02020603050405020304" charset="0"/>
              </a:rPr>
              <a:t>+</a:t>
            </a:r>
          </a:p>
          <a:p>
            <a:pPr algn="ctr"/>
            <a:r>
              <a:rPr lang="zh-CN" altLang="en-US" sz="2400" dirty="0">
                <a:solidFill>
                  <a:schemeClr val="tx1"/>
                </a:solidFill>
                <a:cs typeface="Times New Roman" panose="02020603050405020304" charset="0"/>
              </a:rPr>
              <a:t>输出层</a:t>
            </a:r>
            <a:endParaRPr lang="zh-TW" altLang="en-US" sz="2400" dirty="0">
              <a:solidFill>
                <a:schemeClr val="tx1"/>
              </a:solidFill>
              <a:cs typeface="Times New Roman" panose="02020603050405020304" charset="0"/>
            </a:endParaRPr>
          </a:p>
        </p:txBody>
      </p:sp>
      <p:sp>
        <p:nvSpPr>
          <p:cNvPr id="151" name="向右箭號 7">
            <a:extLst>
              <a:ext uri="{FF2B5EF4-FFF2-40B4-BE49-F238E27FC236}">
                <a16:creationId xmlns:a16="http://schemas.microsoft.com/office/drawing/2014/main" id="{4D67F5E2-9269-E94D-BE1F-E0A4850FCD18}"/>
              </a:ext>
            </a:extLst>
          </p:cNvPr>
          <p:cNvSpPr/>
          <p:nvPr/>
        </p:nvSpPr>
        <p:spPr>
          <a:xfrm>
            <a:off x="3620055" y="4400016"/>
            <a:ext cx="520225" cy="706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grpSp>
        <p:nvGrpSpPr>
          <p:cNvPr id="162" name="群組 19">
            <a:extLst>
              <a:ext uri="{FF2B5EF4-FFF2-40B4-BE49-F238E27FC236}">
                <a16:creationId xmlns:a16="http://schemas.microsoft.com/office/drawing/2014/main" id="{575C2B0E-4DB5-7F44-BBFF-51E02BB4E5C0}"/>
              </a:ext>
            </a:extLst>
          </p:cNvPr>
          <p:cNvGrpSpPr/>
          <p:nvPr/>
        </p:nvGrpSpPr>
        <p:grpSpPr>
          <a:xfrm>
            <a:off x="7107052" y="3450115"/>
            <a:ext cx="638227" cy="2625052"/>
            <a:chOff x="7142066" y="2004946"/>
            <a:chExt cx="638227" cy="2625052"/>
          </a:xfrm>
        </p:grpSpPr>
        <p:sp>
          <p:nvSpPr>
            <p:cNvPr id="163" name="矩形 162">
              <a:extLst>
                <a:ext uri="{FF2B5EF4-FFF2-40B4-BE49-F238E27FC236}">
                  <a16:creationId xmlns:a16="http://schemas.microsoft.com/office/drawing/2014/main" id="{C106C051-A690-B94F-893F-B80FC4EA3195}"/>
                </a:ext>
              </a:extLst>
            </p:cNvPr>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64" name="文字方塊 21">
              <a:extLst>
                <a:ext uri="{FF2B5EF4-FFF2-40B4-BE49-F238E27FC236}">
                  <a16:creationId xmlns:a16="http://schemas.microsoft.com/office/drawing/2014/main" id="{4F6EFB06-FB67-9F4B-898F-AFDF90294AB4}"/>
                </a:ext>
              </a:extLst>
            </p:cNvPr>
            <p:cNvSpPr txBox="1"/>
            <p:nvPr/>
          </p:nvSpPr>
          <p:spPr>
            <a:xfrm rot="5400000">
              <a:off x="7134054" y="3530447"/>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grpSp>
      <p:sp>
        <p:nvSpPr>
          <p:cNvPr id="168" name="文本框 167">
            <a:extLst>
              <a:ext uri="{FF2B5EF4-FFF2-40B4-BE49-F238E27FC236}">
                <a16:creationId xmlns:a16="http://schemas.microsoft.com/office/drawing/2014/main" id="{80902430-7325-6C4E-89CD-652DED4A55B0}"/>
              </a:ext>
            </a:extLst>
          </p:cNvPr>
          <p:cNvSpPr txBox="1"/>
          <p:nvPr/>
        </p:nvSpPr>
        <p:spPr>
          <a:xfrm>
            <a:off x="6178630" y="4982557"/>
            <a:ext cx="1509890" cy="369332"/>
          </a:xfrm>
          <a:prstGeom prst="rect">
            <a:avLst/>
          </a:prstGeom>
          <a:noFill/>
        </p:spPr>
        <p:txBody>
          <a:bodyPr wrap="square">
            <a:spAutoFit/>
          </a:bodyPr>
          <a:lstStyle/>
          <a:p>
            <a:r>
              <a:rPr kumimoji="1" lang="en-US" altLang="zh-CN" dirty="0" err="1"/>
              <a:t>Softmax</a:t>
            </a:r>
            <a:endParaRPr lang="zh-CN" altLang="en-US" dirty="0"/>
          </a:p>
        </p:txBody>
      </p:sp>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FDECDAEF-02D3-454A-83D6-6FE04FF01AD7}"/>
                  </a:ext>
                </a:extLst>
              </p:cNvPr>
              <p:cNvSpPr txBox="1"/>
              <p:nvPr/>
            </p:nvSpPr>
            <p:spPr>
              <a:xfrm>
                <a:off x="6746908" y="3507306"/>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172" name="文本框 171">
                <a:extLst>
                  <a:ext uri="{FF2B5EF4-FFF2-40B4-BE49-F238E27FC236}">
                    <a16:creationId xmlns:a16="http://schemas.microsoft.com/office/drawing/2014/main" id="{FDECDAEF-02D3-454A-83D6-6FE04FF01AD7}"/>
                  </a:ext>
                </a:extLst>
              </p:cNvPr>
              <p:cNvSpPr txBox="1">
                <a:spLocks noRot="1" noChangeAspect="1" noMove="1" noResize="1" noEditPoints="1" noAdjustHandles="1" noChangeArrowheads="1" noChangeShapeType="1" noTextEdit="1"/>
              </p:cNvSpPr>
              <p:nvPr/>
            </p:nvSpPr>
            <p:spPr>
              <a:xfrm>
                <a:off x="6746908" y="3507306"/>
                <a:ext cx="1228657" cy="461665"/>
              </a:xfrm>
              <a:prstGeom prst="rect">
                <a:avLst/>
              </a:prstGeom>
              <a:blipFill>
                <a:blip r:embed="rId7"/>
                <a:stretch>
                  <a:fillRect t="-3947"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75077562-2577-2043-8AF2-8626981B4299}"/>
                  </a:ext>
                </a:extLst>
              </p:cNvPr>
              <p:cNvSpPr txBox="1"/>
              <p:nvPr/>
            </p:nvSpPr>
            <p:spPr>
              <a:xfrm>
                <a:off x="6749540" y="4077635"/>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173" name="文本框 172">
                <a:extLst>
                  <a:ext uri="{FF2B5EF4-FFF2-40B4-BE49-F238E27FC236}">
                    <a16:creationId xmlns:a16="http://schemas.microsoft.com/office/drawing/2014/main" id="{75077562-2577-2043-8AF2-8626981B4299}"/>
                  </a:ext>
                </a:extLst>
              </p:cNvPr>
              <p:cNvSpPr txBox="1">
                <a:spLocks noRot="1" noChangeAspect="1" noMove="1" noResize="1" noEditPoints="1" noAdjustHandles="1" noChangeArrowheads="1" noChangeShapeType="1" noTextEdit="1"/>
              </p:cNvSpPr>
              <p:nvPr/>
            </p:nvSpPr>
            <p:spPr>
              <a:xfrm>
                <a:off x="6749540" y="4077635"/>
                <a:ext cx="1228657" cy="461665"/>
              </a:xfrm>
              <a:prstGeom prst="rect">
                <a:avLst/>
              </a:prstGeom>
              <a:blipFill>
                <a:blip r:embed="rId8"/>
                <a:stretch>
                  <a:fillRect t="-3947"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667A777C-6149-9142-BD9F-FEF9E8FA610B}"/>
                  </a:ext>
                </a:extLst>
              </p:cNvPr>
              <p:cNvSpPr txBox="1"/>
              <p:nvPr/>
            </p:nvSpPr>
            <p:spPr>
              <a:xfrm>
                <a:off x="6788421" y="5548645"/>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b="0" i="1" smtClean="0">
                              <a:latin typeface="Cambria Math" panose="02040503050406030204" pitchFamily="18" charset="0"/>
                            </a:rPr>
                            <m:t>10</m:t>
                          </m:r>
                        </m:sub>
                      </m:sSub>
                    </m:oMath>
                  </m:oMathPara>
                </a14:m>
                <a:endParaRPr lang="zh-CN" altLang="en-US" sz="2400" dirty="0"/>
              </a:p>
            </p:txBody>
          </p:sp>
        </mc:Choice>
        <mc:Fallback xmlns="">
          <p:sp>
            <p:nvSpPr>
              <p:cNvPr id="174" name="文本框 173">
                <a:extLst>
                  <a:ext uri="{FF2B5EF4-FFF2-40B4-BE49-F238E27FC236}">
                    <a16:creationId xmlns:a16="http://schemas.microsoft.com/office/drawing/2014/main" id="{667A777C-6149-9142-BD9F-FEF9E8FA610B}"/>
                  </a:ext>
                </a:extLst>
              </p:cNvPr>
              <p:cNvSpPr txBox="1">
                <a:spLocks noRot="1" noChangeAspect="1" noMove="1" noResize="1" noEditPoints="1" noAdjustHandles="1" noChangeArrowheads="1" noChangeShapeType="1" noTextEdit="1"/>
              </p:cNvSpPr>
              <p:nvPr/>
            </p:nvSpPr>
            <p:spPr>
              <a:xfrm>
                <a:off x="6788421" y="5548645"/>
                <a:ext cx="1228657" cy="461665"/>
              </a:xfrm>
              <a:prstGeom prst="rect">
                <a:avLst/>
              </a:prstGeom>
              <a:blipFill>
                <a:blip r:embed="rId9"/>
                <a:stretch>
                  <a:fillRect t="-3947" b="-10526"/>
                </a:stretch>
              </a:blipFill>
            </p:spPr>
            <p:txBody>
              <a:bodyPr/>
              <a:lstStyle/>
              <a:p>
                <a:r>
                  <a:rPr lang="zh-CN" altLang="en-US">
                    <a:noFill/>
                  </a:rPr>
                  <a:t> </a:t>
                </a:r>
              </a:p>
            </p:txBody>
          </p:sp>
        </mc:Fallback>
      </mc:AlternateContent>
      <p:sp>
        <p:nvSpPr>
          <p:cNvPr id="175" name="向右箭號 8">
            <a:extLst>
              <a:ext uri="{FF2B5EF4-FFF2-40B4-BE49-F238E27FC236}">
                <a16:creationId xmlns:a16="http://schemas.microsoft.com/office/drawing/2014/main" id="{77E42004-E283-7A4E-8B7E-41411958A685}"/>
              </a:ext>
            </a:extLst>
          </p:cNvPr>
          <p:cNvSpPr/>
          <p:nvPr/>
        </p:nvSpPr>
        <p:spPr>
          <a:xfrm>
            <a:off x="6313994" y="4463805"/>
            <a:ext cx="724529" cy="518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176" name="文字方塊 25">
            <a:extLst>
              <a:ext uri="{FF2B5EF4-FFF2-40B4-BE49-F238E27FC236}">
                <a16:creationId xmlns:a16="http://schemas.microsoft.com/office/drawing/2014/main" id="{0F167007-059D-BA44-9C0A-7424914DD1D4}"/>
              </a:ext>
            </a:extLst>
          </p:cNvPr>
          <p:cNvSpPr txBox="1"/>
          <p:nvPr/>
        </p:nvSpPr>
        <p:spPr>
          <a:xfrm>
            <a:off x="7771783" y="3421337"/>
            <a:ext cx="86163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1</a:t>
            </a:r>
            <a:endParaRPr lang="zh-TW" altLang="en-US" sz="2400" dirty="0">
              <a:latin typeface="Times New Roman" panose="02020603050405020304" charset="0"/>
              <a:cs typeface="Times New Roman" panose="02020603050405020304" charset="0"/>
            </a:endParaRPr>
          </a:p>
        </p:txBody>
      </p:sp>
      <p:sp>
        <p:nvSpPr>
          <p:cNvPr id="177" name="文字方塊 26">
            <a:extLst>
              <a:ext uri="{FF2B5EF4-FFF2-40B4-BE49-F238E27FC236}">
                <a16:creationId xmlns:a16="http://schemas.microsoft.com/office/drawing/2014/main" id="{98D23ED7-687E-D34D-B812-9363A57DCE76}"/>
              </a:ext>
            </a:extLst>
          </p:cNvPr>
          <p:cNvSpPr txBox="1"/>
          <p:nvPr/>
        </p:nvSpPr>
        <p:spPr>
          <a:xfrm>
            <a:off x="7779092" y="4202619"/>
            <a:ext cx="84701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2</a:t>
            </a:r>
            <a:endParaRPr lang="zh-TW" altLang="en-US" sz="2400" dirty="0">
              <a:latin typeface="Times New Roman" panose="02020603050405020304" charset="0"/>
              <a:cs typeface="Times New Roman" panose="02020603050405020304" charset="0"/>
            </a:endParaRPr>
          </a:p>
        </p:txBody>
      </p:sp>
      <p:sp>
        <p:nvSpPr>
          <p:cNvPr id="178" name="文字方塊 27">
            <a:extLst>
              <a:ext uri="{FF2B5EF4-FFF2-40B4-BE49-F238E27FC236}">
                <a16:creationId xmlns:a16="http://schemas.microsoft.com/office/drawing/2014/main" id="{6654CDD6-31AF-1042-9944-794DEDFA5BE3}"/>
              </a:ext>
            </a:extLst>
          </p:cNvPr>
          <p:cNvSpPr txBox="1"/>
          <p:nvPr/>
        </p:nvSpPr>
        <p:spPr>
          <a:xfrm>
            <a:off x="7805423" y="5577707"/>
            <a:ext cx="834766"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is 0</a:t>
            </a:r>
            <a:endParaRPr lang="zh-TW" altLang="en-US" sz="2400" dirty="0">
              <a:latin typeface="Times New Roman" panose="02020603050405020304" charset="0"/>
              <a:cs typeface="Times New Roman" panose="02020603050405020304" charset="0"/>
            </a:endParaRPr>
          </a:p>
        </p:txBody>
      </p:sp>
      <p:sp>
        <p:nvSpPr>
          <p:cNvPr id="179" name="文字方塊 29">
            <a:extLst>
              <a:ext uri="{FF2B5EF4-FFF2-40B4-BE49-F238E27FC236}">
                <a16:creationId xmlns:a16="http://schemas.microsoft.com/office/drawing/2014/main" id="{B609C96E-75FE-6947-B54E-582A7D189224}"/>
              </a:ext>
            </a:extLst>
          </p:cNvPr>
          <p:cNvSpPr txBox="1"/>
          <p:nvPr/>
        </p:nvSpPr>
        <p:spPr>
          <a:xfrm rot="5400000">
            <a:off x="7911787" y="4859385"/>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sp>
        <p:nvSpPr>
          <p:cNvPr id="6" name="右大括号 5">
            <a:extLst>
              <a:ext uri="{FF2B5EF4-FFF2-40B4-BE49-F238E27FC236}">
                <a16:creationId xmlns:a16="http://schemas.microsoft.com/office/drawing/2014/main" id="{31FCC8A8-38AC-7641-8CCB-884F363EC0CE}"/>
              </a:ext>
            </a:extLst>
          </p:cNvPr>
          <p:cNvSpPr/>
          <p:nvPr/>
        </p:nvSpPr>
        <p:spPr>
          <a:xfrm rot="5400000">
            <a:off x="7799491" y="5421136"/>
            <a:ext cx="223747" cy="1601871"/>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80" name="文本框 179">
            <a:extLst>
              <a:ext uri="{FF2B5EF4-FFF2-40B4-BE49-F238E27FC236}">
                <a16:creationId xmlns:a16="http://schemas.microsoft.com/office/drawing/2014/main" id="{3809248D-0626-104A-9F37-3CF9691F0558}"/>
              </a:ext>
            </a:extLst>
          </p:cNvPr>
          <p:cNvSpPr txBox="1"/>
          <p:nvPr/>
        </p:nvSpPr>
        <p:spPr>
          <a:xfrm>
            <a:off x="7208750" y="6301904"/>
            <a:ext cx="1405231" cy="430887"/>
          </a:xfrm>
          <a:prstGeom prst="rect">
            <a:avLst/>
          </a:prstGeom>
          <a:noFill/>
        </p:spPr>
        <p:txBody>
          <a:bodyPr wrap="square">
            <a:spAutoFit/>
          </a:bodyPr>
          <a:lstStyle/>
          <a:p>
            <a:r>
              <a:rPr kumimoji="1" lang="zh-CN" altLang="en-US" sz="2200" dirty="0"/>
              <a:t>预测概率</a:t>
            </a:r>
            <a:endParaRPr lang="zh-CN" altLang="en-US" sz="2200" dirty="0"/>
          </a:p>
        </p:txBody>
      </p:sp>
      <p:grpSp>
        <p:nvGrpSpPr>
          <p:cNvPr id="45" name="群組 19">
            <a:extLst>
              <a:ext uri="{FF2B5EF4-FFF2-40B4-BE49-F238E27FC236}">
                <a16:creationId xmlns:a16="http://schemas.microsoft.com/office/drawing/2014/main" id="{64EF2647-4598-524B-95EE-D07D731886B7}"/>
              </a:ext>
            </a:extLst>
          </p:cNvPr>
          <p:cNvGrpSpPr/>
          <p:nvPr/>
        </p:nvGrpSpPr>
        <p:grpSpPr>
          <a:xfrm>
            <a:off x="9211257" y="3455342"/>
            <a:ext cx="638227" cy="2625052"/>
            <a:chOff x="7142066" y="2004946"/>
            <a:chExt cx="638227" cy="2625052"/>
          </a:xfrm>
        </p:grpSpPr>
        <p:sp>
          <p:nvSpPr>
            <p:cNvPr id="46" name="矩形 45">
              <a:extLst>
                <a:ext uri="{FF2B5EF4-FFF2-40B4-BE49-F238E27FC236}">
                  <a16:creationId xmlns:a16="http://schemas.microsoft.com/office/drawing/2014/main" id="{0FAEABD8-3BD4-CF4C-BEAE-065258B5CE82}"/>
                </a:ext>
              </a:extLst>
            </p:cNvPr>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47" name="文字方塊 21">
              <a:extLst>
                <a:ext uri="{FF2B5EF4-FFF2-40B4-BE49-F238E27FC236}">
                  <a16:creationId xmlns:a16="http://schemas.microsoft.com/office/drawing/2014/main" id="{60183763-AB63-FE4D-8C76-63D287416541}"/>
                </a:ext>
              </a:extLst>
            </p:cNvPr>
            <p:cNvSpPr txBox="1"/>
            <p:nvPr/>
          </p:nvSpPr>
          <p:spPr>
            <a:xfrm rot="5400000">
              <a:off x="7134054" y="3530447"/>
              <a:ext cx="769257" cy="523220"/>
            </a:xfrm>
            <a:prstGeom prst="rect">
              <a:avLst/>
            </a:prstGeom>
            <a:noFill/>
          </p:spPr>
          <p:txBody>
            <a:bodyPr wrap="square" rtlCol="0">
              <a:spAutoFit/>
            </a:bodyPr>
            <a:lstStyle/>
            <a:p>
              <a:pPr algn="ctr"/>
              <a:r>
                <a:rPr lang="en-US" altLang="zh-TW" sz="2800" dirty="0">
                  <a:latin typeface="Times New Roman" panose="02020603050405020304" charset="0"/>
                  <a:cs typeface="Times New Roman" panose="02020603050405020304" charset="0"/>
                </a:rPr>
                <a:t>…</a:t>
              </a:r>
              <a:endParaRPr lang="zh-TW" altLang="en-US" sz="2800" dirty="0">
                <a:latin typeface="Times New Roman" panose="02020603050405020304" charset="0"/>
                <a:cs typeface="Times New Roman" panose="02020603050405020304" charset="0"/>
              </a:endParaRPr>
            </a:p>
          </p:txBody>
        </p:sp>
      </p:gr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272A12B7-60DF-0743-A894-125D78EE598B}"/>
                  </a:ext>
                </a:extLst>
              </p:cNvPr>
              <p:cNvSpPr txBox="1"/>
              <p:nvPr/>
            </p:nvSpPr>
            <p:spPr>
              <a:xfrm>
                <a:off x="8825147" y="3486193"/>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48" name="文本框 47">
                <a:extLst>
                  <a:ext uri="{FF2B5EF4-FFF2-40B4-BE49-F238E27FC236}">
                    <a16:creationId xmlns:a16="http://schemas.microsoft.com/office/drawing/2014/main" id="{272A12B7-60DF-0743-A894-125D78EE598B}"/>
                  </a:ext>
                </a:extLst>
              </p:cNvPr>
              <p:cNvSpPr txBox="1">
                <a:spLocks noRot="1" noChangeAspect="1" noMove="1" noResize="1" noEditPoints="1" noAdjustHandles="1" noChangeArrowheads="1" noChangeShapeType="1" noTextEdit="1"/>
              </p:cNvSpPr>
              <p:nvPr/>
            </p:nvSpPr>
            <p:spPr>
              <a:xfrm>
                <a:off x="8825147" y="3486193"/>
                <a:ext cx="1228657" cy="461665"/>
              </a:xfrm>
              <a:prstGeom prst="rect">
                <a:avLst/>
              </a:prstGeom>
              <a:blipFill>
                <a:blip r:embed="rId10"/>
                <a:stretch>
                  <a:fillRect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0BD8A667-772B-9D4C-AE66-C9739C16DAF0}"/>
                  </a:ext>
                </a:extLst>
              </p:cNvPr>
              <p:cNvSpPr txBox="1"/>
              <p:nvPr/>
            </p:nvSpPr>
            <p:spPr>
              <a:xfrm>
                <a:off x="8850971" y="4102006"/>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49" name="文本框 48">
                <a:extLst>
                  <a:ext uri="{FF2B5EF4-FFF2-40B4-BE49-F238E27FC236}">
                    <a16:creationId xmlns:a16="http://schemas.microsoft.com/office/drawing/2014/main" id="{0BD8A667-772B-9D4C-AE66-C9739C16DAF0}"/>
                  </a:ext>
                </a:extLst>
              </p:cNvPr>
              <p:cNvSpPr txBox="1">
                <a:spLocks noRot="1" noChangeAspect="1" noMove="1" noResize="1" noEditPoints="1" noAdjustHandles="1" noChangeArrowheads="1" noChangeShapeType="1" noTextEdit="1"/>
              </p:cNvSpPr>
              <p:nvPr/>
            </p:nvSpPr>
            <p:spPr>
              <a:xfrm>
                <a:off x="8850971" y="4102006"/>
                <a:ext cx="1228657" cy="461665"/>
              </a:xfrm>
              <a:prstGeom prst="rect">
                <a:avLst/>
              </a:prstGeom>
              <a:blipFill>
                <a:blip r:embed="rId11"/>
                <a:stretch>
                  <a:fillRect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84B72BFD-0505-8249-89C0-364CCC071B7D}"/>
                  </a:ext>
                </a:extLst>
              </p:cNvPr>
              <p:cNvSpPr txBox="1"/>
              <p:nvPr/>
            </p:nvSpPr>
            <p:spPr>
              <a:xfrm>
                <a:off x="8872657" y="5536278"/>
                <a:ext cx="12286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10</m:t>
                          </m:r>
                        </m:sub>
                      </m:sSub>
                    </m:oMath>
                  </m:oMathPara>
                </a14:m>
                <a:endParaRPr lang="zh-CN" altLang="en-US" sz="2400" dirty="0"/>
              </a:p>
            </p:txBody>
          </p:sp>
        </mc:Choice>
        <mc:Fallback xmlns="">
          <p:sp>
            <p:nvSpPr>
              <p:cNvPr id="50" name="文本框 49">
                <a:extLst>
                  <a:ext uri="{FF2B5EF4-FFF2-40B4-BE49-F238E27FC236}">
                    <a16:creationId xmlns:a16="http://schemas.microsoft.com/office/drawing/2014/main" id="{84B72BFD-0505-8249-89C0-364CCC071B7D}"/>
                  </a:ext>
                </a:extLst>
              </p:cNvPr>
              <p:cNvSpPr txBox="1">
                <a:spLocks noRot="1" noChangeAspect="1" noMove="1" noResize="1" noEditPoints="1" noAdjustHandles="1" noChangeArrowheads="1" noChangeShapeType="1" noTextEdit="1"/>
              </p:cNvSpPr>
              <p:nvPr/>
            </p:nvSpPr>
            <p:spPr>
              <a:xfrm>
                <a:off x="8872657" y="5536278"/>
                <a:ext cx="1228657" cy="461665"/>
              </a:xfrm>
              <a:prstGeom prst="rect">
                <a:avLst/>
              </a:prstGeom>
              <a:blipFill>
                <a:blip r:embed="rId12"/>
                <a:stretch>
                  <a:fillRect b="-10526"/>
                </a:stretch>
              </a:blipFill>
            </p:spPr>
            <p:txBody>
              <a:bodyPr/>
              <a:lstStyle/>
              <a:p>
                <a:r>
                  <a:rPr lang="zh-CN" altLang="en-US">
                    <a:noFill/>
                  </a:rPr>
                  <a:t> </a:t>
                </a:r>
              </a:p>
            </p:txBody>
          </p:sp>
        </mc:Fallback>
      </mc:AlternateContent>
      <p:sp>
        <p:nvSpPr>
          <p:cNvPr id="51" name="文本框 50">
            <a:extLst>
              <a:ext uri="{FF2B5EF4-FFF2-40B4-BE49-F238E27FC236}">
                <a16:creationId xmlns:a16="http://schemas.microsoft.com/office/drawing/2014/main" id="{D736DFF9-D055-4E48-AD04-783BE201227B}"/>
              </a:ext>
            </a:extLst>
          </p:cNvPr>
          <p:cNvSpPr txBox="1"/>
          <p:nvPr/>
        </p:nvSpPr>
        <p:spPr>
          <a:xfrm>
            <a:off x="8850971" y="6273899"/>
            <a:ext cx="1405231" cy="430887"/>
          </a:xfrm>
          <a:prstGeom prst="rect">
            <a:avLst/>
          </a:prstGeom>
          <a:noFill/>
        </p:spPr>
        <p:txBody>
          <a:bodyPr wrap="square">
            <a:spAutoFit/>
          </a:bodyPr>
          <a:lstStyle/>
          <a:p>
            <a:r>
              <a:rPr kumimoji="1" lang="zh-CN" altLang="en-US" sz="2200" dirty="0"/>
              <a:t>真实标签</a:t>
            </a:r>
            <a:endParaRPr lang="zh-CN" altLang="en-US" sz="2200" dirty="0"/>
          </a:p>
        </p:txBody>
      </p:sp>
      <p:sp>
        <p:nvSpPr>
          <p:cNvPr id="4" name="加号 3">
            <a:extLst>
              <a:ext uri="{FF2B5EF4-FFF2-40B4-BE49-F238E27FC236}">
                <a16:creationId xmlns:a16="http://schemas.microsoft.com/office/drawing/2014/main" id="{CAC6314C-B073-5E40-8544-5AEAD89C817E}"/>
              </a:ext>
            </a:extLst>
          </p:cNvPr>
          <p:cNvSpPr/>
          <p:nvPr/>
        </p:nvSpPr>
        <p:spPr>
          <a:xfrm>
            <a:off x="8592010" y="4505367"/>
            <a:ext cx="647241" cy="64960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1F6F99DE-9287-D64B-BCF4-8010111A6DB4}"/>
                  </a:ext>
                </a:extLst>
              </p:cNvPr>
              <p:cNvSpPr txBox="1"/>
              <p:nvPr/>
            </p:nvSpPr>
            <p:spPr>
              <a:xfrm>
                <a:off x="9571925" y="4564612"/>
                <a:ext cx="2604873" cy="7922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i="1" smtClean="0">
                          <a:latin typeface="Cambria Math" panose="02040503050406030204" pitchFamily="18" charset="0"/>
                        </a:rPr>
                        <m:t>⇒</m:t>
                      </m:r>
                      <m:nary>
                        <m:naryPr>
                          <m:chr m:val="∑"/>
                          <m:limLoc m:val="subSup"/>
                          <m:ctrlPr>
                            <a:rPr kumimoji="1" lang="en-US" altLang="zh-CN" sz="2200" b="0" i="1" smtClean="0">
                              <a:latin typeface="Cambria Math" panose="02040503050406030204" pitchFamily="18" charset="0"/>
                            </a:rPr>
                          </m:ctrlPr>
                        </m:naryPr>
                        <m:sub>
                          <m:r>
                            <m:rPr>
                              <m:brk m:alnAt="25"/>
                            </m:rPr>
                            <a:rPr kumimoji="1" lang="en-US" altLang="zh-CN" sz="2200" b="0" i="1" smtClean="0">
                              <a:latin typeface="Cambria Math" panose="02040503050406030204" pitchFamily="18" charset="0"/>
                            </a:rPr>
                            <m:t>𝑐</m:t>
                          </m:r>
                          <m:r>
                            <a:rPr kumimoji="1" lang="en-US" altLang="zh-CN" sz="2200" b="0" i="1" smtClean="0">
                              <a:latin typeface="Cambria Math" panose="02040503050406030204" pitchFamily="18" charset="0"/>
                            </a:rPr>
                            <m:t>=1</m:t>
                          </m:r>
                        </m:sub>
                        <m:sup>
                          <m:r>
                            <a:rPr kumimoji="1" lang="en-US" altLang="zh-CN" sz="2200" b="0" i="1" smtClean="0">
                              <a:latin typeface="Cambria Math" panose="02040503050406030204" pitchFamily="18" charset="0"/>
                            </a:rPr>
                            <m:t>𝑘</m:t>
                          </m:r>
                        </m:sup>
                        <m:e>
                          <m:sSub>
                            <m:sSubPr>
                              <m:ctrlPr>
                                <a:rPr kumimoji="1" lang="en-US" altLang="zh-CN" sz="2200" b="0" i="1" smtClean="0">
                                  <a:solidFill>
                                    <a:schemeClr val="tx1"/>
                                  </a:solidFill>
                                  <a:latin typeface="Cambria Math" panose="02040503050406030204" pitchFamily="18" charset="0"/>
                                  <a:ea typeface="Cambria Math" panose="02040503050406030204" pitchFamily="18" charset="0"/>
                                </a:rPr>
                              </m:ctrlPr>
                            </m:sSubPr>
                            <m:e>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sub>
                              <m:r>
                                <a:rPr kumimoji="1" lang="en-US" altLang="zh-CN" sz="2200" b="0" i="1" smtClean="0">
                                  <a:solidFill>
                                    <a:schemeClr val="tx1"/>
                                  </a:solidFill>
                                  <a:latin typeface="Cambria Math" panose="02040503050406030204" pitchFamily="18" charset="0"/>
                                  <a:ea typeface="Cambria Math" panose="02040503050406030204" pitchFamily="18" charset="0"/>
                                </a:rPr>
                                <m:t>𝑐</m:t>
                              </m:r>
                            </m:sub>
                          </m:sSub>
                          <m:func>
                            <m:funcPr>
                              <m:ctrlPr>
                                <a:rPr kumimoji="1" lang="en-US" altLang="zh-CN" sz="2200" b="0" i="1" smtClean="0">
                                  <a:latin typeface="Cambria Math" panose="02040503050406030204" pitchFamily="18" charset="0"/>
                                  <a:ea typeface="Cambria Math" panose="02040503050406030204" pitchFamily="18" charset="0"/>
                                </a:rPr>
                              </m:ctrlPr>
                            </m:funcPr>
                            <m:fName>
                              <m:r>
                                <m:rPr>
                                  <m:sty m:val="p"/>
                                </m:rPr>
                                <a:rPr kumimoji="1" lang="en-US" altLang="zh-CN" sz="2200" b="0" i="0" smtClean="0">
                                  <a:latin typeface="Cambria Math" panose="02040503050406030204" pitchFamily="18" charset="0"/>
                                  <a:ea typeface="Cambria Math" panose="02040503050406030204" pitchFamily="18" charset="0"/>
                                </a:rPr>
                                <m:t>log</m:t>
                              </m:r>
                            </m:fName>
                            <m:e>
                              <m:sSub>
                                <m:sSubPr>
                                  <m:ctrlPr>
                                    <a:rPr kumimoji="1" lang="en-US" altLang="zh-CN" sz="2200" i="1">
                                      <a:latin typeface="Cambria Math" panose="02040503050406030204" pitchFamily="18" charset="0"/>
                                    </a:rPr>
                                  </m:ctrlPr>
                                </m:sSubPr>
                                <m:e>
                                  <m:acc>
                                    <m:accPr>
                                      <m:chr m:val="̂"/>
                                      <m:ctrlPr>
                                        <a:rPr kumimoji="1" lang="en-US" altLang="zh-CN" sz="2200" i="1">
                                          <a:latin typeface="Cambria Math" panose="02040503050406030204" pitchFamily="18" charset="0"/>
                                        </a:rPr>
                                      </m:ctrlPr>
                                    </m:accPr>
                                    <m:e>
                                      <m:r>
                                        <a:rPr kumimoji="1" lang="en-US" altLang="zh-CN" sz="2200" i="1">
                                          <a:latin typeface="Cambria Math" panose="02040503050406030204" pitchFamily="18" charset="0"/>
                                        </a:rPr>
                                        <m:t>𝑦</m:t>
                                      </m:r>
                                    </m:e>
                                  </m:acc>
                                </m:e>
                                <m:sub>
                                  <m:r>
                                    <a:rPr kumimoji="1" lang="en-US" altLang="zh-CN" sz="2200" b="0" i="1" smtClean="0">
                                      <a:latin typeface="Cambria Math" panose="02040503050406030204" pitchFamily="18" charset="0"/>
                                    </a:rPr>
                                    <m:t>𝑐</m:t>
                                  </m:r>
                                </m:sub>
                              </m:sSub>
                            </m:e>
                          </m:func>
                        </m:e>
                      </m:nary>
                    </m:oMath>
                  </m:oMathPara>
                </a14:m>
                <a:endParaRPr lang="zh-CN" altLang="en-US" sz="2200" dirty="0"/>
              </a:p>
            </p:txBody>
          </p:sp>
        </mc:Choice>
        <mc:Fallback xmlns="">
          <p:sp>
            <p:nvSpPr>
              <p:cNvPr id="56" name="文本框 55">
                <a:extLst>
                  <a:ext uri="{FF2B5EF4-FFF2-40B4-BE49-F238E27FC236}">
                    <a16:creationId xmlns:a16="http://schemas.microsoft.com/office/drawing/2014/main" id="{1F6F99DE-9287-D64B-BCF4-8010111A6DB4}"/>
                  </a:ext>
                </a:extLst>
              </p:cNvPr>
              <p:cNvSpPr txBox="1">
                <a:spLocks noRot="1" noChangeAspect="1" noMove="1" noResize="1" noEditPoints="1" noAdjustHandles="1" noChangeArrowheads="1" noChangeShapeType="1" noTextEdit="1"/>
              </p:cNvSpPr>
              <p:nvPr/>
            </p:nvSpPr>
            <p:spPr>
              <a:xfrm>
                <a:off x="9571925" y="4564612"/>
                <a:ext cx="2604873" cy="792205"/>
              </a:xfrm>
              <a:prstGeom prst="rect">
                <a:avLst/>
              </a:prstGeom>
              <a:blipFill>
                <a:blip r:embed="rId13"/>
                <a:stretch>
                  <a:fillRect/>
                </a:stretch>
              </a:blipFill>
            </p:spPr>
            <p:txBody>
              <a:bodyPr/>
              <a:lstStyle/>
              <a:p>
                <a:r>
                  <a:rPr lang="zh-CN" altLang="en-US">
                    <a:noFill/>
                  </a:rPr>
                  <a:t> </a:t>
                </a:r>
              </a:p>
            </p:txBody>
          </p:sp>
        </mc:Fallback>
      </mc:AlternateContent>
      <p:sp>
        <p:nvSpPr>
          <p:cNvPr id="57" name="文本框 56">
            <a:extLst>
              <a:ext uri="{FF2B5EF4-FFF2-40B4-BE49-F238E27FC236}">
                <a16:creationId xmlns:a16="http://schemas.microsoft.com/office/drawing/2014/main" id="{779D9BF6-B3AB-D141-BA09-7AAF4D9175C8}"/>
              </a:ext>
            </a:extLst>
          </p:cNvPr>
          <p:cNvSpPr txBox="1"/>
          <p:nvPr/>
        </p:nvSpPr>
        <p:spPr>
          <a:xfrm>
            <a:off x="10169816" y="5417329"/>
            <a:ext cx="1673130" cy="430887"/>
          </a:xfrm>
          <a:prstGeom prst="rect">
            <a:avLst/>
          </a:prstGeom>
          <a:noFill/>
        </p:spPr>
        <p:txBody>
          <a:bodyPr wrap="square">
            <a:spAutoFit/>
          </a:bodyPr>
          <a:lstStyle/>
          <a:p>
            <a:r>
              <a:rPr kumimoji="1" lang="zh-CN" altLang="en-US" sz="2200" dirty="0"/>
              <a:t>交叉熵损失</a:t>
            </a:r>
            <a:endParaRPr lang="zh-CN" altLang="en-US" sz="2200" dirty="0"/>
          </a:p>
        </p:txBody>
      </p:sp>
    </p:spTree>
    <p:extLst>
      <p:ext uri="{BB962C8B-B14F-4D97-AF65-F5344CB8AC3E}">
        <p14:creationId xmlns:p14="http://schemas.microsoft.com/office/powerpoint/2010/main" val="33418709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48</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3046988"/>
              </a:xfrm>
              <a:prstGeom prst="rect">
                <a:avLst/>
              </a:prstGeom>
              <a:noFill/>
            </p:spPr>
            <p:txBody>
              <a:bodyPr wrap="square" rtlCol="0">
                <a:spAutoFit/>
              </a:bodyPr>
              <a:lstStyle/>
              <a:p>
                <a:pPr marL="342900" indent="-342900">
                  <a:lnSpc>
                    <a:spcPct val="150000"/>
                  </a:lnSpc>
                  <a:buFont typeface="Wingdings" pitchFamily="2" charset="2"/>
                  <a:buChar char="n"/>
                </a:pPr>
                <a:r>
                  <a:rPr kumimoji="1" lang="zh-CN" altLang="en-US" sz="2400" dirty="0"/>
                  <a:t>其它关于真实目标</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400" i="1">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zh-CN" altLang="en-US" sz="2400" dirty="0"/>
                  <a:t>和预测输出</a:t>
                </a:r>
                <a14:m>
                  <m:oMath xmlns:m="http://schemas.openxmlformats.org/officeDocument/2006/math">
                    <m:sSub>
                      <m:sSubPr>
                        <m:ctrlPr>
                          <a:rPr kumimoji="1" lang="en-US" altLang="zh-CN" sz="2400" i="1">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sub>
                    </m:sSub>
                  </m:oMath>
                </a14:m>
                <a:r>
                  <a:rPr lang="zh-CN" altLang="en-US" sz="2400" dirty="0">
                    <a:solidFill>
                      <a:schemeClr val="tx1"/>
                    </a:solidFill>
                  </a:rPr>
                  <a:t>的差异度量亦可作为损失函数</a:t>
                </a:r>
                <a:endParaRPr lang="en-US" altLang="zh-CN" sz="2400" dirty="0">
                  <a:solidFill>
                    <a:schemeClr val="tx1"/>
                  </a:solidFill>
                </a:endParaRPr>
              </a:p>
              <a:p>
                <a:pPr marL="800100" lvl="1" indent="-342900">
                  <a:lnSpc>
                    <a:spcPct val="150000"/>
                  </a:lnSpc>
                  <a:buFont typeface="Wingdings" pitchFamily="2" charset="2"/>
                  <a:buChar char="p"/>
                </a:pPr>
                <a:r>
                  <a:rPr kumimoji="1" lang="zh-CN" altLang="en-US" sz="2400" dirty="0"/>
                  <a:t>多变量回归任务</a:t>
                </a: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r>
                  <a:rPr lang="zh-CN" altLang="en-US" sz="2400" dirty="0"/>
                  <a:t>多分类任务</a:t>
                </a:r>
                <a:endParaRPr lang="en-US" altLang="zh-CN" sz="2400" dirty="0"/>
              </a:p>
              <a:p>
                <a:pPr lvl="1"/>
                <a:endParaRPr lang="en-US" altLang="zh-CN" sz="2400" dirty="0"/>
              </a:p>
            </p:txBody>
          </p:sp>
        </mc:Choice>
        <mc:Fallback xmlns="">
          <p:sp>
            <p:nvSpPr>
              <p:cNvPr id="10" name="文本框 9">
                <a:extLst>
                  <a:ext uri="{FF2B5EF4-FFF2-40B4-BE49-F238E27FC236}">
                    <a16:creationId xmlns:a16="http://schemas.microsoft.com/office/drawing/2014/main" id="{FBD4AEBE-E747-034C-AC17-AC74B22209B5}"/>
                  </a:ext>
                </a:extLst>
              </p:cNvPr>
              <p:cNvSpPr txBox="1">
                <a:spLocks noRot="1" noChangeAspect="1" noMove="1" noResize="1" noEditPoints="1" noAdjustHandles="1" noChangeArrowheads="1" noChangeShapeType="1" noTextEdit="1"/>
              </p:cNvSpPr>
              <p:nvPr/>
            </p:nvSpPr>
            <p:spPr>
              <a:xfrm>
                <a:off x="548640" y="2680650"/>
                <a:ext cx="11440160" cy="3046988"/>
              </a:xfrm>
              <a:prstGeom prst="rect">
                <a:avLst/>
              </a:prstGeom>
              <a:blipFill>
                <a:blip r:embed="rId3"/>
                <a:stretch>
                  <a:fillRect l="-7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EF57F01-E1BD-DC46-A50D-0B88C260C0AB}"/>
                  </a:ext>
                </a:extLst>
              </p:cNvPr>
              <p:cNvSpPr txBox="1"/>
              <p:nvPr/>
            </p:nvSpPr>
            <p:spPr>
              <a:xfrm>
                <a:off x="868171" y="3964903"/>
                <a:ext cx="4650314" cy="7720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ea typeface="Cambria Math" panose="02040503050406030204" pitchFamily="18" charset="0"/>
                        </a:rPr>
                        <m:t>ℒ</m:t>
                      </m:r>
                      <m:d>
                        <m:dPr>
                          <m:ctrlPr>
                            <a:rPr kumimoji="1" lang="en-US" altLang="zh-CN" sz="2200" b="0" i="1" smtClean="0">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lang="en-US" altLang="zh-CN" sz="2200" i="1">
                              <a:solidFill>
                                <a:schemeClr val="tx1"/>
                              </a:solidFill>
                              <a:latin typeface="Cambria Math" panose="02040503050406030204" pitchFamily="18" charset="0"/>
                              <a:cs typeface="Times New Roman" panose="02020603050405020304" pitchFamily="18" charset="0"/>
                            </a:rPr>
                            <m:t>𝐷</m:t>
                          </m:r>
                        </m:e>
                      </m:d>
                      <m:r>
                        <a:rPr kumimoji="1" lang="en-US" altLang="zh-CN" sz="2200" b="0" i="1" smtClean="0">
                          <a:solidFill>
                            <a:schemeClr val="tx1"/>
                          </a:solidFill>
                          <a:latin typeface="Cambria Math" panose="02040503050406030204" pitchFamily="18" charset="0"/>
                          <a:ea typeface="Cambria Math" panose="02040503050406030204" pitchFamily="18" charset="0"/>
                        </a:rPr>
                        <m:t>=</m:t>
                      </m:r>
                      <m:f>
                        <m:fPr>
                          <m:ctrlPr>
                            <a:rPr kumimoji="1" lang="en-US" altLang="zh-CN" sz="2200" b="0" i="1" smtClean="0">
                              <a:solidFill>
                                <a:schemeClr val="tx1"/>
                              </a:solidFill>
                              <a:latin typeface="Cambria Math" panose="02040503050406030204" pitchFamily="18" charset="0"/>
                            </a:rPr>
                          </m:ctrlPr>
                        </m:fPr>
                        <m:num>
                          <m:r>
                            <a:rPr kumimoji="1" lang="en-US" altLang="zh-CN" sz="2200" b="0" i="1" smtClean="0">
                              <a:solidFill>
                                <a:schemeClr val="tx1"/>
                              </a:solidFill>
                              <a:latin typeface="Cambria Math" panose="02040503050406030204" pitchFamily="18" charset="0"/>
                            </a:rPr>
                            <m:t>1</m:t>
                          </m:r>
                        </m:num>
                        <m:den>
                          <m:r>
                            <a:rPr kumimoji="1" lang="en-US" altLang="zh-CN" sz="2200" b="0" i="1" smtClean="0">
                              <a:solidFill>
                                <a:schemeClr val="tx1"/>
                              </a:solidFill>
                              <a:latin typeface="Cambria Math" panose="02040503050406030204" pitchFamily="18" charset="0"/>
                            </a:rPr>
                            <m:t>𝑚</m:t>
                          </m:r>
                        </m:den>
                      </m:f>
                      <m:nary>
                        <m:naryPr>
                          <m:chr m:val="∑"/>
                          <m:limLoc m:val="subSup"/>
                          <m:ctrlPr>
                            <a:rPr kumimoji="1" lang="en-US" altLang="zh-CN" sz="2200" b="0" i="1" smtClean="0">
                              <a:solidFill>
                                <a:schemeClr val="tx1"/>
                              </a:solidFill>
                              <a:latin typeface="Cambria Math" panose="02040503050406030204" pitchFamily="18" charset="0"/>
                            </a:rPr>
                          </m:ctrlPr>
                        </m:naryPr>
                        <m:sub>
                          <m:r>
                            <m:rPr>
                              <m:brk m:alnAt="25"/>
                            </m:rPr>
                            <a:rPr kumimoji="1" lang="en-US" altLang="zh-CN" sz="2200" b="0" i="1" smtClean="0">
                              <a:solidFill>
                                <a:schemeClr val="tx1"/>
                              </a:solidFill>
                              <a:latin typeface="Cambria Math" panose="02040503050406030204" pitchFamily="18" charset="0"/>
                            </a:rPr>
                            <m:t>𝑖</m:t>
                          </m:r>
                          <m:r>
                            <a:rPr kumimoji="1" lang="en-US" altLang="zh-CN" sz="2200" b="0" i="1" smtClean="0">
                              <a:solidFill>
                                <a:schemeClr val="tx1"/>
                              </a:solidFill>
                              <a:latin typeface="Cambria Math" panose="02040503050406030204" pitchFamily="18" charset="0"/>
                            </a:rPr>
                            <m:t>=1</m:t>
                          </m:r>
                        </m:sub>
                        <m:sup>
                          <m:r>
                            <a:rPr kumimoji="1" lang="en-US" altLang="zh-CN" sz="2200" b="0" i="1" smtClean="0">
                              <a:solidFill>
                                <a:schemeClr val="tx1"/>
                              </a:solidFill>
                              <a:latin typeface="Cambria Math" panose="02040503050406030204" pitchFamily="18" charset="0"/>
                            </a:rPr>
                            <m:t>𝑚</m:t>
                          </m:r>
                        </m:sup>
                        <m:e>
                          <m:sSup>
                            <m:sSupPr>
                              <m:ctrlPr>
                                <a:rPr kumimoji="1" lang="en-US" altLang="zh-CN" sz="2200" b="0" i="1" smtClean="0">
                                  <a:solidFill>
                                    <a:schemeClr val="tx1"/>
                                  </a:solidFill>
                                  <a:latin typeface="Cambria Math" panose="02040503050406030204" pitchFamily="18" charset="0"/>
                                </a:rPr>
                              </m:ctrlPr>
                            </m:sSupPr>
                            <m:e>
                              <m:d>
                                <m:dPr>
                                  <m:begChr m:val="‖"/>
                                  <m:endChr m:val="‖"/>
                                  <m:ctrlPr>
                                    <a:rPr kumimoji="1" lang="en-US" altLang="zh-CN" sz="2200" b="0" i="1" smtClean="0">
                                      <a:solidFill>
                                        <a:schemeClr val="tx1"/>
                                      </a:solidFill>
                                      <a:latin typeface="Cambria Math" panose="02040503050406030204" pitchFamily="18" charset="0"/>
                                    </a:rPr>
                                  </m:ctrlPr>
                                </m:dPr>
                                <m:e>
                                  <m:sSub>
                                    <m:sSubPr>
                                      <m:ctrlPr>
                                        <a:rPr kumimoji="1" lang="en-US" altLang="zh-CN" sz="2200" i="1">
                                          <a:solidFill>
                                            <a:schemeClr val="tx1"/>
                                          </a:solidFill>
                                          <a:latin typeface="Cambria Math" panose="02040503050406030204" pitchFamily="18" charset="0"/>
                                        </a:rPr>
                                      </m:ctrlPr>
                                    </m:sSubPr>
                                    <m:e>
                                      <m:acc>
                                        <m:accPr>
                                          <m:chr m:val="̂"/>
                                          <m:ctrlPr>
                                            <a:rPr kumimoji="1" lang="en-US" altLang="zh-CN" sz="2200" i="1">
                                              <a:solidFill>
                                                <a:schemeClr val="tx1"/>
                                              </a:solidFill>
                                              <a:latin typeface="Cambria Math" panose="02040503050406030204" pitchFamily="18" charset="0"/>
                                            </a:rPr>
                                          </m:ctrlPr>
                                        </m:accPr>
                                        <m:e>
                                          <m:r>
                                            <a:rPr kumimoji="1" lang="en-US" altLang="zh-CN" sz="2200" i="1">
                                              <a:solidFill>
                                                <a:schemeClr val="tx1"/>
                                              </a:solidFill>
                                              <a:latin typeface="Cambria Math" panose="02040503050406030204" pitchFamily="18" charset="0"/>
                                            </a:rPr>
                                            <m:t>𝑦</m:t>
                                          </m:r>
                                        </m:e>
                                      </m:acc>
                                    </m:e>
                                    <m:sub>
                                      <m:r>
                                        <a:rPr kumimoji="1" lang="en-US" altLang="zh-CN" sz="2200" i="1">
                                          <a:solidFill>
                                            <a:schemeClr val="tx1"/>
                                          </a:solidFill>
                                          <a:latin typeface="Cambria Math" panose="02040503050406030204" pitchFamily="18" charset="0"/>
                                        </a:rPr>
                                        <m:t>𝑖</m:t>
                                      </m:r>
                                    </m:sub>
                                  </m:sSub>
                                  <m:r>
                                    <a:rPr kumimoji="1" lang="en-US" altLang="zh-CN" sz="2200" b="0" i="1" smtClean="0">
                                      <a:solidFill>
                                        <a:schemeClr val="tx1"/>
                                      </a:solidFill>
                                      <a:latin typeface="Cambria Math" panose="02040503050406030204" pitchFamily="18" charset="0"/>
                                    </a:rPr>
                                    <m:t>−</m:t>
                                  </m:r>
                                  <m:sSub>
                                    <m:sSubPr>
                                      <m:ctrlPr>
                                        <a:rPr lang="en-US" altLang="zh-CN"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𝑖</m:t>
                                      </m:r>
                                    </m:sub>
                                  </m:sSub>
                                </m:e>
                              </m:d>
                            </m:e>
                            <m:sup>
                              <m:r>
                                <a:rPr kumimoji="1" lang="en-US" altLang="zh-CN" sz="2200" b="0" i="1" smtClean="0">
                                  <a:solidFill>
                                    <a:schemeClr val="tx1"/>
                                  </a:solidFill>
                                  <a:latin typeface="Cambria Math" panose="02040503050406030204" pitchFamily="18" charset="0"/>
                                </a:rPr>
                                <m:t>2</m:t>
                              </m:r>
                            </m:sup>
                          </m:sSup>
                        </m:e>
                      </m:nary>
                    </m:oMath>
                  </m:oMathPara>
                </a14:m>
                <a:endParaRPr lang="zh-CN" altLang="en-US" sz="2200" dirty="0"/>
              </a:p>
            </p:txBody>
          </p:sp>
        </mc:Choice>
        <mc:Fallback xmlns="">
          <p:sp>
            <p:nvSpPr>
              <p:cNvPr id="9" name="文本框 8">
                <a:extLst>
                  <a:ext uri="{FF2B5EF4-FFF2-40B4-BE49-F238E27FC236}">
                    <a16:creationId xmlns:a16="http://schemas.microsoft.com/office/drawing/2014/main" id="{1EF57F01-E1BD-DC46-A50D-0B88C260C0AB}"/>
                  </a:ext>
                </a:extLst>
              </p:cNvPr>
              <p:cNvSpPr txBox="1">
                <a:spLocks noRot="1" noChangeAspect="1" noMove="1" noResize="1" noEditPoints="1" noAdjustHandles="1" noChangeArrowheads="1" noChangeShapeType="1" noTextEdit="1"/>
              </p:cNvSpPr>
              <p:nvPr/>
            </p:nvSpPr>
            <p:spPr>
              <a:xfrm>
                <a:off x="868171" y="3964903"/>
                <a:ext cx="4650314" cy="772071"/>
              </a:xfrm>
              <a:prstGeom prst="rect">
                <a:avLst/>
              </a:prstGeom>
              <a:blipFill>
                <a:blip r:embed="rId4"/>
                <a:stretch>
                  <a:fillRect t="-154098" b="-2311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4A90F16-85E9-1141-ACDC-3352C8C75598}"/>
                  </a:ext>
                </a:extLst>
              </p:cNvPr>
              <p:cNvSpPr txBox="1"/>
              <p:nvPr/>
            </p:nvSpPr>
            <p:spPr>
              <a:xfrm>
                <a:off x="1209267" y="5680487"/>
                <a:ext cx="4650314" cy="7922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solidFill>
                            <a:schemeClr val="tx1"/>
                          </a:solidFill>
                          <a:latin typeface="Cambria Math" panose="02040503050406030204" pitchFamily="18" charset="0"/>
                          <a:ea typeface="Cambria Math" panose="02040503050406030204" pitchFamily="18" charset="0"/>
                        </a:rPr>
                        <m:t>ℒ</m:t>
                      </m:r>
                      <m:d>
                        <m:dPr>
                          <m:ctrlPr>
                            <a:rPr kumimoji="1" lang="en-US" altLang="zh-CN" sz="2200" b="0" i="1" smtClean="0">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lang="en-US" altLang="zh-CN" sz="2200" i="1">
                              <a:solidFill>
                                <a:schemeClr val="tx1"/>
                              </a:solidFill>
                              <a:latin typeface="Cambria Math" panose="02040503050406030204" pitchFamily="18" charset="0"/>
                              <a:cs typeface="Times New Roman" panose="02020603050405020304" pitchFamily="18" charset="0"/>
                            </a:rPr>
                            <m:t>𝐷</m:t>
                          </m:r>
                        </m:e>
                      </m:d>
                      <m:r>
                        <a:rPr lang="en-US" altLang="zh-CN" sz="2200" b="0" i="1" smtClean="0">
                          <a:solidFill>
                            <a:schemeClr val="tx1"/>
                          </a:solidFill>
                          <a:latin typeface="Cambria Math" panose="02040503050406030204" pitchFamily="18" charset="0"/>
                          <a:cs typeface="Times New Roman" panose="02020603050405020304" pitchFamily="18" charset="0"/>
                        </a:rPr>
                        <m:t>=</m:t>
                      </m:r>
                      <m:nary>
                        <m:naryPr>
                          <m:chr m:val="∑"/>
                          <m:limLoc m:val="subSup"/>
                          <m:ctrlPr>
                            <a:rPr kumimoji="1" lang="en-US" altLang="zh-CN" sz="2200" i="1" smtClean="0">
                              <a:solidFill>
                                <a:schemeClr val="tx1"/>
                              </a:solidFill>
                              <a:latin typeface="Cambria Math" panose="02040503050406030204" pitchFamily="18" charset="0"/>
                            </a:rPr>
                          </m:ctrlPr>
                        </m:naryPr>
                        <m:sub>
                          <m:r>
                            <m:rPr>
                              <m:brk m:alnAt="25"/>
                            </m:rPr>
                            <a:rPr kumimoji="1" lang="en-US" altLang="zh-CN" sz="2200" i="1">
                              <a:solidFill>
                                <a:schemeClr val="tx1"/>
                              </a:solidFill>
                              <a:latin typeface="Cambria Math" panose="02040503050406030204" pitchFamily="18" charset="0"/>
                            </a:rPr>
                            <m:t>𝑖</m:t>
                          </m:r>
                          <m:r>
                            <a:rPr kumimoji="1" lang="en-US" altLang="zh-CN" sz="2200" i="1">
                              <a:solidFill>
                                <a:schemeClr val="tx1"/>
                              </a:solidFill>
                              <a:latin typeface="Cambria Math" panose="02040503050406030204" pitchFamily="18" charset="0"/>
                            </a:rPr>
                            <m:t>=1</m:t>
                          </m:r>
                        </m:sub>
                        <m:sup>
                          <m:r>
                            <a:rPr kumimoji="1" lang="en-US" altLang="zh-CN" sz="2200" i="1">
                              <a:solidFill>
                                <a:schemeClr val="tx1"/>
                              </a:solidFill>
                              <a:latin typeface="Cambria Math" panose="02040503050406030204" pitchFamily="18" charset="0"/>
                            </a:rPr>
                            <m:t>𝑚</m:t>
                          </m:r>
                        </m:sup>
                        <m:e>
                          <m:nary>
                            <m:naryPr>
                              <m:chr m:val="∑"/>
                              <m:limLoc m:val="subSup"/>
                              <m:ctrlPr>
                                <a:rPr kumimoji="1" lang="en-US" altLang="zh-CN" sz="2200" i="1">
                                  <a:solidFill>
                                    <a:schemeClr val="tx1"/>
                                  </a:solidFill>
                                  <a:latin typeface="Cambria Math" panose="02040503050406030204" pitchFamily="18" charset="0"/>
                                </a:rPr>
                              </m:ctrlPr>
                            </m:naryPr>
                            <m:sub>
                              <m:r>
                                <m:rPr>
                                  <m:brk m:alnAt="25"/>
                                </m:rPr>
                                <a:rPr kumimoji="1" lang="en-US" altLang="zh-CN" sz="2200" i="1">
                                  <a:solidFill>
                                    <a:schemeClr val="tx1"/>
                                  </a:solidFill>
                                  <a:latin typeface="Cambria Math" panose="02040503050406030204" pitchFamily="18" charset="0"/>
                                </a:rPr>
                                <m:t>𝑐</m:t>
                              </m:r>
                              <m:r>
                                <a:rPr kumimoji="1" lang="en-US" altLang="zh-CN" sz="2200" i="1">
                                  <a:solidFill>
                                    <a:schemeClr val="tx1"/>
                                  </a:solidFill>
                                  <a:latin typeface="Cambria Math" panose="02040503050406030204" pitchFamily="18" charset="0"/>
                                </a:rPr>
                                <m:t>=1</m:t>
                              </m:r>
                            </m:sub>
                            <m:sup>
                              <m:r>
                                <a:rPr kumimoji="1" lang="en-US" altLang="zh-CN" sz="2200" i="1">
                                  <a:solidFill>
                                    <a:schemeClr val="tx1"/>
                                  </a:solidFill>
                                  <a:latin typeface="Cambria Math" panose="02040503050406030204" pitchFamily="18" charset="0"/>
                                </a:rPr>
                                <m:t>𝑘</m:t>
                              </m:r>
                            </m:sup>
                            <m:e>
                              <m:sSub>
                                <m:sSubPr>
                                  <m:ctrlPr>
                                    <a:rPr kumimoji="1" lang="en-US" altLang="zh-CN" sz="2200" i="1">
                                      <a:solidFill>
                                        <a:schemeClr val="tx1"/>
                                      </a:solidFill>
                                      <a:latin typeface="Cambria Math" panose="02040503050406030204" pitchFamily="18" charset="0"/>
                                      <a:ea typeface="Cambria Math" panose="02040503050406030204" pitchFamily="18" charset="0"/>
                                    </a:rPr>
                                  </m:ctrlPr>
                                </m:sSubPr>
                                <m:e>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i="1">
                                      <a:solidFill>
                                        <a:schemeClr val="tx1"/>
                                      </a:solidFill>
                                      <a:latin typeface="Cambria Math" panose="02040503050406030204" pitchFamily="18" charset="0"/>
                                      <a:ea typeface="Cambria Math" panose="02040503050406030204" pitchFamily="18" charset="0"/>
                                    </a:rPr>
                                    <m:t>𝑦</m:t>
                                  </m:r>
                                </m:e>
                                <m:sub>
                                  <m:r>
                                    <a:rPr kumimoji="1" lang="en-US" altLang="zh-CN" sz="2200" i="1">
                                      <a:solidFill>
                                        <a:schemeClr val="tx1"/>
                                      </a:solidFill>
                                      <a:latin typeface="Cambria Math" panose="02040503050406030204" pitchFamily="18" charset="0"/>
                                      <a:ea typeface="Cambria Math" panose="02040503050406030204" pitchFamily="18" charset="0"/>
                                    </a:rPr>
                                    <m:t>𝑖</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i="1">
                                      <a:solidFill>
                                        <a:schemeClr val="tx1"/>
                                      </a:solidFill>
                                      <a:latin typeface="Cambria Math" panose="02040503050406030204" pitchFamily="18" charset="0"/>
                                      <a:ea typeface="Cambria Math" panose="02040503050406030204" pitchFamily="18" charset="0"/>
                                    </a:rPr>
                                    <m:t>𝑐</m:t>
                                  </m:r>
                                </m:sub>
                              </m:sSub>
                              <m:func>
                                <m:funcPr>
                                  <m:ctrlPr>
                                    <a:rPr kumimoji="1" lang="en-US" altLang="zh-CN" sz="2200" i="1">
                                      <a:solidFill>
                                        <a:schemeClr val="tx1"/>
                                      </a:solidFill>
                                      <a:latin typeface="Cambria Math" panose="02040503050406030204" pitchFamily="18" charset="0"/>
                                      <a:ea typeface="Cambria Math" panose="02040503050406030204" pitchFamily="18" charset="0"/>
                                    </a:rPr>
                                  </m:ctrlPr>
                                </m:funcPr>
                                <m:fName>
                                  <m:r>
                                    <m:rPr>
                                      <m:sty m:val="p"/>
                                    </m:rPr>
                                    <a:rPr kumimoji="1" lang="en-US" altLang="zh-CN" sz="2200">
                                      <a:solidFill>
                                        <a:schemeClr val="tx1"/>
                                      </a:solidFill>
                                      <a:latin typeface="Cambria Math" panose="02040503050406030204" pitchFamily="18" charset="0"/>
                                      <a:ea typeface="Cambria Math" panose="02040503050406030204" pitchFamily="18" charset="0"/>
                                    </a:rPr>
                                    <m:t>log</m:t>
                                  </m:r>
                                </m:fName>
                                <m:e>
                                  <m:sSub>
                                    <m:sSubPr>
                                      <m:ctrlPr>
                                        <a:rPr kumimoji="1" lang="en-US" altLang="zh-CN" sz="2200" i="1">
                                          <a:solidFill>
                                            <a:schemeClr val="tx1"/>
                                          </a:solidFill>
                                          <a:latin typeface="Cambria Math" panose="02040503050406030204" pitchFamily="18" charset="0"/>
                                        </a:rPr>
                                      </m:ctrlPr>
                                    </m:sSubPr>
                                    <m:e>
                                      <m:acc>
                                        <m:accPr>
                                          <m:chr m:val="̂"/>
                                          <m:ctrlPr>
                                            <a:rPr kumimoji="1" lang="en-US" altLang="zh-CN" sz="2200" i="1">
                                              <a:solidFill>
                                                <a:schemeClr val="tx1"/>
                                              </a:solidFill>
                                              <a:latin typeface="Cambria Math" panose="02040503050406030204" pitchFamily="18" charset="0"/>
                                            </a:rPr>
                                          </m:ctrlPr>
                                        </m:accPr>
                                        <m:e>
                                          <m:r>
                                            <a:rPr kumimoji="1" lang="en-US" altLang="zh-CN" sz="2200" i="1">
                                              <a:solidFill>
                                                <a:schemeClr val="tx1"/>
                                              </a:solidFill>
                                              <a:latin typeface="Cambria Math" panose="02040503050406030204" pitchFamily="18" charset="0"/>
                                            </a:rPr>
                                            <m:t>𝑦</m:t>
                                          </m:r>
                                        </m:e>
                                      </m:acc>
                                    </m:e>
                                    <m:sub>
                                      <m:r>
                                        <a:rPr kumimoji="1" lang="en-US" altLang="zh-CN" sz="2200" i="1">
                                          <a:solidFill>
                                            <a:schemeClr val="tx1"/>
                                          </a:solidFill>
                                          <a:latin typeface="Cambria Math" panose="02040503050406030204" pitchFamily="18" charset="0"/>
                                        </a:rPr>
                                        <m:t>𝑖</m:t>
                                      </m:r>
                                      <m:r>
                                        <a:rPr kumimoji="1" lang="en-US" altLang="zh-CN" sz="2200" i="1">
                                          <a:solidFill>
                                            <a:schemeClr val="tx1"/>
                                          </a:solidFill>
                                          <a:latin typeface="Cambria Math" panose="02040503050406030204" pitchFamily="18" charset="0"/>
                                        </a:rPr>
                                        <m:t>,</m:t>
                                      </m:r>
                                      <m:r>
                                        <a:rPr kumimoji="1" lang="en-US" altLang="zh-CN" sz="2200" i="1">
                                          <a:solidFill>
                                            <a:schemeClr val="tx1"/>
                                          </a:solidFill>
                                          <a:latin typeface="Cambria Math" panose="02040503050406030204" pitchFamily="18" charset="0"/>
                                        </a:rPr>
                                        <m:t>𝑐</m:t>
                                      </m:r>
                                    </m:sub>
                                  </m:sSub>
                                </m:e>
                              </m:func>
                            </m:e>
                          </m:nary>
                        </m:e>
                      </m:nary>
                    </m:oMath>
                  </m:oMathPara>
                </a14:m>
                <a:endParaRPr lang="zh-CN" altLang="en-US" sz="2200" dirty="0"/>
              </a:p>
            </p:txBody>
          </p:sp>
        </mc:Choice>
        <mc:Fallback xmlns="">
          <p:sp>
            <p:nvSpPr>
              <p:cNvPr id="11" name="文本框 10">
                <a:extLst>
                  <a:ext uri="{FF2B5EF4-FFF2-40B4-BE49-F238E27FC236}">
                    <a16:creationId xmlns:a16="http://schemas.microsoft.com/office/drawing/2014/main" id="{E4A90F16-85E9-1141-ACDC-3352C8C75598}"/>
                  </a:ext>
                </a:extLst>
              </p:cNvPr>
              <p:cNvSpPr txBox="1">
                <a:spLocks noRot="1" noChangeAspect="1" noMove="1" noResize="1" noEditPoints="1" noAdjustHandles="1" noChangeArrowheads="1" noChangeShapeType="1" noTextEdit="1"/>
              </p:cNvSpPr>
              <p:nvPr/>
            </p:nvSpPr>
            <p:spPr>
              <a:xfrm>
                <a:off x="1209267" y="5680487"/>
                <a:ext cx="4650314" cy="79220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A02D675-5486-5D41-B9E1-B7218B681C81}"/>
                  </a:ext>
                </a:extLst>
              </p:cNvPr>
              <p:cNvSpPr txBox="1"/>
              <p:nvPr/>
            </p:nvSpPr>
            <p:spPr>
              <a:xfrm>
                <a:off x="5859581" y="3964903"/>
                <a:ext cx="4650314" cy="7720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ea typeface="Cambria Math" panose="02040503050406030204" pitchFamily="18" charset="0"/>
                        </a:rPr>
                        <m:t>ℒ</m:t>
                      </m:r>
                      <m:d>
                        <m:dPr>
                          <m:ctrlPr>
                            <a:rPr kumimoji="1" lang="en-US" altLang="zh-CN" sz="2200" b="0" i="1" smtClean="0">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lang="en-US" altLang="zh-CN" sz="2200" i="1">
                              <a:solidFill>
                                <a:schemeClr val="tx1"/>
                              </a:solidFill>
                              <a:latin typeface="Cambria Math" panose="02040503050406030204" pitchFamily="18" charset="0"/>
                              <a:cs typeface="Times New Roman" panose="02020603050405020304" pitchFamily="18" charset="0"/>
                            </a:rPr>
                            <m:t>𝐷</m:t>
                          </m:r>
                        </m:e>
                      </m:d>
                      <m:r>
                        <a:rPr kumimoji="1" lang="en-US" altLang="zh-CN" sz="2200" b="0" i="1" smtClean="0">
                          <a:solidFill>
                            <a:schemeClr val="tx1"/>
                          </a:solidFill>
                          <a:latin typeface="Cambria Math" panose="02040503050406030204" pitchFamily="18" charset="0"/>
                          <a:ea typeface="Cambria Math" panose="02040503050406030204" pitchFamily="18" charset="0"/>
                        </a:rPr>
                        <m:t>=</m:t>
                      </m:r>
                      <m:f>
                        <m:fPr>
                          <m:ctrlPr>
                            <a:rPr kumimoji="1" lang="en-US" altLang="zh-CN" sz="2200" b="0" i="1" smtClean="0">
                              <a:solidFill>
                                <a:schemeClr val="tx1"/>
                              </a:solidFill>
                              <a:latin typeface="Cambria Math" panose="02040503050406030204" pitchFamily="18" charset="0"/>
                            </a:rPr>
                          </m:ctrlPr>
                        </m:fPr>
                        <m:num>
                          <m:r>
                            <a:rPr kumimoji="1" lang="en-US" altLang="zh-CN" sz="2200" b="0" i="1" smtClean="0">
                              <a:solidFill>
                                <a:schemeClr val="tx1"/>
                              </a:solidFill>
                              <a:latin typeface="Cambria Math" panose="02040503050406030204" pitchFamily="18" charset="0"/>
                            </a:rPr>
                            <m:t>1</m:t>
                          </m:r>
                        </m:num>
                        <m:den>
                          <m:r>
                            <a:rPr kumimoji="1" lang="en-US" altLang="zh-CN" sz="2200" b="0" i="1" smtClean="0">
                              <a:solidFill>
                                <a:schemeClr val="tx1"/>
                              </a:solidFill>
                              <a:latin typeface="Cambria Math" panose="02040503050406030204" pitchFamily="18" charset="0"/>
                            </a:rPr>
                            <m:t>𝑚</m:t>
                          </m:r>
                        </m:den>
                      </m:f>
                      <m:nary>
                        <m:naryPr>
                          <m:chr m:val="∑"/>
                          <m:limLoc m:val="subSup"/>
                          <m:ctrlPr>
                            <a:rPr kumimoji="1" lang="en-US" altLang="zh-CN" sz="2200" b="0" i="1" smtClean="0">
                              <a:solidFill>
                                <a:schemeClr val="tx1"/>
                              </a:solidFill>
                              <a:latin typeface="Cambria Math" panose="02040503050406030204" pitchFamily="18" charset="0"/>
                            </a:rPr>
                          </m:ctrlPr>
                        </m:naryPr>
                        <m:sub>
                          <m:r>
                            <m:rPr>
                              <m:brk m:alnAt="25"/>
                            </m:rPr>
                            <a:rPr kumimoji="1" lang="en-US" altLang="zh-CN" sz="2200" b="0" i="1" smtClean="0">
                              <a:solidFill>
                                <a:schemeClr val="tx1"/>
                              </a:solidFill>
                              <a:latin typeface="Cambria Math" panose="02040503050406030204" pitchFamily="18" charset="0"/>
                            </a:rPr>
                            <m:t>𝑖</m:t>
                          </m:r>
                          <m:r>
                            <a:rPr kumimoji="1" lang="en-US" altLang="zh-CN" sz="2200" b="0" i="1" smtClean="0">
                              <a:solidFill>
                                <a:schemeClr val="tx1"/>
                              </a:solidFill>
                              <a:latin typeface="Cambria Math" panose="02040503050406030204" pitchFamily="18" charset="0"/>
                            </a:rPr>
                            <m:t>=1</m:t>
                          </m:r>
                        </m:sub>
                        <m:sup>
                          <m:r>
                            <a:rPr kumimoji="1" lang="en-US" altLang="zh-CN" sz="2200" b="0" i="1" smtClean="0">
                              <a:solidFill>
                                <a:schemeClr val="tx1"/>
                              </a:solidFill>
                              <a:latin typeface="Cambria Math" panose="02040503050406030204" pitchFamily="18" charset="0"/>
                            </a:rPr>
                            <m:t>𝑚</m:t>
                          </m:r>
                        </m:sup>
                        <m:e>
                          <m:sSubSup>
                            <m:sSubSupPr>
                              <m:ctrlPr>
                                <a:rPr kumimoji="1" lang="en-US" altLang="zh-CN" sz="2200" b="0" i="1" smtClean="0">
                                  <a:solidFill>
                                    <a:schemeClr val="tx1"/>
                                  </a:solidFill>
                                  <a:latin typeface="Cambria Math" panose="02040503050406030204" pitchFamily="18" charset="0"/>
                                </a:rPr>
                              </m:ctrlPr>
                            </m:sSubSupPr>
                            <m:e>
                              <m:d>
                                <m:dPr>
                                  <m:begChr m:val="‖"/>
                                  <m:endChr m:val="‖"/>
                                  <m:ctrlPr>
                                    <a:rPr kumimoji="1" lang="en-US" altLang="zh-CN" sz="2200" b="0" i="1" smtClean="0">
                                      <a:solidFill>
                                        <a:schemeClr val="tx1"/>
                                      </a:solidFill>
                                      <a:latin typeface="Cambria Math" panose="02040503050406030204" pitchFamily="18" charset="0"/>
                                    </a:rPr>
                                  </m:ctrlPr>
                                </m:dPr>
                                <m:e>
                                  <m:sSub>
                                    <m:sSubPr>
                                      <m:ctrlPr>
                                        <a:rPr kumimoji="1" lang="en-US" altLang="zh-CN" sz="2200" i="1">
                                          <a:solidFill>
                                            <a:schemeClr val="tx1"/>
                                          </a:solidFill>
                                          <a:latin typeface="Cambria Math" panose="02040503050406030204" pitchFamily="18" charset="0"/>
                                        </a:rPr>
                                      </m:ctrlPr>
                                    </m:sSubPr>
                                    <m:e>
                                      <m:acc>
                                        <m:accPr>
                                          <m:chr m:val="̂"/>
                                          <m:ctrlPr>
                                            <a:rPr kumimoji="1" lang="en-US" altLang="zh-CN" sz="2200" i="1">
                                              <a:solidFill>
                                                <a:schemeClr val="tx1"/>
                                              </a:solidFill>
                                              <a:latin typeface="Cambria Math" panose="02040503050406030204" pitchFamily="18" charset="0"/>
                                            </a:rPr>
                                          </m:ctrlPr>
                                        </m:accPr>
                                        <m:e>
                                          <m:r>
                                            <a:rPr kumimoji="1" lang="en-US" altLang="zh-CN" sz="2200" i="1">
                                              <a:solidFill>
                                                <a:schemeClr val="tx1"/>
                                              </a:solidFill>
                                              <a:latin typeface="Cambria Math" panose="02040503050406030204" pitchFamily="18" charset="0"/>
                                            </a:rPr>
                                            <m:t>𝑦</m:t>
                                          </m:r>
                                        </m:e>
                                      </m:acc>
                                    </m:e>
                                    <m:sub>
                                      <m:r>
                                        <a:rPr kumimoji="1" lang="en-US" altLang="zh-CN" sz="2200" i="1">
                                          <a:solidFill>
                                            <a:schemeClr val="tx1"/>
                                          </a:solidFill>
                                          <a:latin typeface="Cambria Math" panose="02040503050406030204" pitchFamily="18" charset="0"/>
                                        </a:rPr>
                                        <m:t>𝑖</m:t>
                                      </m:r>
                                    </m:sub>
                                  </m:sSub>
                                  <m:r>
                                    <a:rPr kumimoji="1" lang="en-US" altLang="zh-CN" sz="2200" b="0" i="1" smtClean="0">
                                      <a:solidFill>
                                        <a:schemeClr val="tx1"/>
                                      </a:solidFill>
                                      <a:latin typeface="Cambria Math" panose="02040503050406030204" pitchFamily="18" charset="0"/>
                                    </a:rPr>
                                    <m:t>−</m:t>
                                  </m:r>
                                  <m:sSub>
                                    <m:sSubPr>
                                      <m:ctrlPr>
                                        <a:rPr lang="en-US" altLang="zh-CN"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sz="22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𝑖</m:t>
                                      </m:r>
                                    </m:sub>
                                  </m:sSub>
                                </m:e>
                              </m:d>
                            </m:e>
                            <m:sub>
                              <m:r>
                                <a:rPr kumimoji="1" lang="en-US" altLang="zh-CN" sz="2200" b="0" i="1" smtClean="0">
                                  <a:solidFill>
                                    <a:schemeClr val="tx1"/>
                                  </a:solidFill>
                                  <a:latin typeface="Cambria Math" panose="02040503050406030204" pitchFamily="18" charset="0"/>
                                </a:rPr>
                                <m:t>1</m:t>
                              </m:r>
                            </m:sub>
                            <m:sup>
                              <m:r>
                                <a:rPr kumimoji="1" lang="en-US" altLang="zh-CN" sz="2200" b="0" i="1" smtClean="0">
                                  <a:solidFill>
                                    <a:schemeClr val="tx1"/>
                                  </a:solidFill>
                                  <a:latin typeface="Cambria Math" panose="02040503050406030204" pitchFamily="18" charset="0"/>
                                </a:rPr>
                                <m:t> </m:t>
                              </m:r>
                            </m:sup>
                          </m:sSubSup>
                        </m:e>
                      </m:nary>
                    </m:oMath>
                  </m:oMathPara>
                </a14:m>
                <a:endParaRPr lang="zh-CN" altLang="en-US" sz="2200" dirty="0"/>
              </a:p>
            </p:txBody>
          </p:sp>
        </mc:Choice>
        <mc:Fallback xmlns="">
          <p:sp>
            <p:nvSpPr>
              <p:cNvPr id="12" name="文本框 11">
                <a:extLst>
                  <a:ext uri="{FF2B5EF4-FFF2-40B4-BE49-F238E27FC236}">
                    <a16:creationId xmlns:a16="http://schemas.microsoft.com/office/drawing/2014/main" id="{BA02D675-5486-5D41-B9E1-B7218B681C81}"/>
                  </a:ext>
                </a:extLst>
              </p:cNvPr>
              <p:cNvSpPr txBox="1">
                <a:spLocks noRot="1" noChangeAspect="1" noMove="1" noResize="1" noEditPoints="1" noAdjustHandles="1" noChangeArrowheads="1" noChangeShapeType="1" noTextEdit="1"/>
              </p:cNvSpPr>
              <p:nvPr/>
            </p:nvSpPr>
            <p:spPr>
              <a:xfrm>
                <a:off x="5859581" y="3964903"/>
                <a:ext cx="4650314" cy="772071"/>
              </a:xfrm>
              <a:prstGeom prst="rect">
                <a:avLst/>
              </a:prstGeom>
              <a:blipFill>
                <a:blip r:embed="rId6"/>
                <a:stretch>
                  <a:fillRect t="-154098" b="-231148"/>
                </a:stretch>
              </a:blipFill>
            </p:spPr>
            <p:txBody>
              <a:bodyPr/>
              <a:lstStyle/>
              <a:p>
                <a:r>
                  <a:rPr lang="zh-CN" altLang="en-US">
                    <a:noFill/>
                  </a:rPr>
                  <a:t> </a:t>
                </a:r>
              </a:p>
            </p:txBody>
          </p:sp>
        </mc:Fallback>
      </mc:AlternateContent>
      <p:sp>
        <p:nvSpPr>
          <p:cNvPr id="13" name="燕尾形箭头 12">
            <a:extLst>
              <a:ext uri="{FF2B5EF4-FFF2-40B4-BE49-F238E27FC236}">
                <a16:creationId xmlns:a16="http://schemas.microsoft.com/office/drawing/2014/main" id="{14AC43E9-E908-A246-A699-CD714D752A42}"/>
              </a:ext>
            </a:extLst>
          </p:cNvPr>
          <p:cNvSpPr/>
          <p:nvPr/>
        </p:nvSpPr>
        <p:spPr bwMode="auto">
          <a:xfrm>
            <a:off x="5319307" y="4122537"/>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14" name="燕尾形箭头 13">
            <a:extLst>
              <a:ext uri="{FF2B5EF4-FFF2-40B4-BE49-F238E27FC236}">
                <a16:creationId xmlns:a16="http://schemas.microsoft.com/office/drawing/2014/main" id="{8481495B-0D31-7D4F-AD30-CD5028C08D3E}"/>
              </a:ext>
            </a:extLst>
          </p:cNvPr>
          <p:cNvSpPr/>
          <p:nvPr/>
        </p:nvSpPr>
        <p:spPr bwMode="auto">
          <a:xfrm>
            <a:off x="5962695" y="5899549"/>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15" name="文本框 14">
            <a:extLst>
              <a:ext uri="{FF2B5EF4-FFF2-40B4-BE49-F238E27FC236}">
                <a16:creationId xmlns:a16="http://schemas.microsoft.com/office/drawing/2014/main" id="{60B856D1-6A52-FF41-AA80-F71BAD390216}"/>
              </a:ext>
            </a:extLst>
          </p:cNvPr>
          <p:cNvSpPr txBox="1"/>
          <p:nvPr/>
        </p:nvSpPr>
        <p:spPr>
          <a:xfrm>
            <a:off x="7221603" y="5871500"/>
            <a:ext cx="1926269" cy="430887"/>
          </a:xfrm>
          <a:prstGeom prst="rect">
            <a:avLst/>
          </a:prstGeom>
          <a:noFill/>
        </p:spPr>
        <p:txBody>
          <a:bodyPr wrap="square">
            <a:spAutoFit/>
          </a:bodyPr>
          <a:lstStyle/>
          <a:p>
            <a:r>
              <a:rPr kumimoji="1" lang="en-US" altLang="zh-CN" sz="2200" dirty="0"/>
              <a:t>KL</a:t>
            </a:r>
            <a:r>
              <a:rPr kumimoji="1" lang="zh-CN" altLang="en-US" sz="2200" dirty="0"/>
              <a:t>散度</a:t>
            </a:r>
            <a:r>
              <a:rPr kumimoji="1" lang="en-US" altLang="zh-CN" sz="2200" dirty="0"/>
              <a:t>?</a:t>
            </a:r>
            <a:endParaRPr lang="zh-CN" altLang="en-US" sz="2200" dirty="0"/>
          </a:p>
        </p:txBody>
      </p:sp>
      <p:pic>
        <p:nvPicPr>
          <p:cNvPr id="4" name="图片 3">
            <a:extLst>
              <a:ext uri="{FF2B5EF4-FFF2-40B4-BE49-F238E27FC236}">
                <a16:creationId xmlns:a16="http://schemas.microsoft.com/office/drawing/2014/main" id="{149CC5EB-95A2-431E-BF97-0CC01538875A}"/>
              </a:ext>
            </a:extLst>
          </p:cNvPr>
          <p:cNvPicPr>
            <a:picLocks noChangeAspect="1"/>
          </p:cNvPicPr>
          <p:nvPr/>
        </p:nvPicPr>
        <p:blipFill>
          <a:blip r:embed="rId7"/>
          <a:stretch>
            <a:fillRect/>
          </a:stretch>
        </p:blipFill>
        <p:spPr>
          <a:xfrm>
            <a:off x="8448866" y="5781601"/>
            <a:ext cx="3066667" cy="628571"/>
          </a:xfrm>
          <a:prstGeom prst="rect">
            <a:avLst/>
          </a:prstGeom>
        </p:spPr>
      </p:pic>
    </p:spTree>
    <p:extLst>
      <p:ext uri="{BB962C8B-B14F-4D97-AF65-F5344CB8AC3E}">
        <p14:creationId xmlns:p14="http://schemas.microsoft.com/office/powerpoint/2010/main" val="16044650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49</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2"/>
            <a:ext cx="11132848" cy="1284253"/>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t>尽管多层感知机具有强大的函数逼近能力，但要从“能够表示”走向“学到目标映射”，仍需要通过</a:t>
            </a:r>
            <a:r>
              <a:rPr lang="zh-CN" altLang="en-US" sz="2400" b="1" dirty="0"/>
              <a:t>损失函数</a:t>
            </a:r>
            <a:r>
              <a:rPr lang="zh-CN" altLang="en-US" sz="2400" dirty="0"/>
              <a:t>来度量预测输出与真实目标之间的差异，并据此优化参数。</a:t>
            </a:r>
            <a:endParaRPr lang="zh-CN" altLang="en-US" sz="2400"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多层感知机：损失函数</a:t>
            </a:r>
          </a:p>
        </p:txBody>
      </p:sp>
      <p:sp>
        <p:nvSpPr>
          <p:cNvPr id="10" name="文本框 9">
            <a:extLst>
              <a:ext uri="{FF2B5EF4-FFF2-40B4-BE49-F238E27FC236}">
                <a16:creationId xmlns:a16="http://schemas.microsoft.com/office/drawing/2014/main" id="{FBD4AEBE-E747-034C-AC17-AC74B22209B5}"/>
              </a:ext>
            </a:extLst>
          </p:cNvPr>
          <p:cNvSpPr txBox="1"/>
          <p:nvPr/>
        </p:nvSpPr>
        <p:spPr>
          <a:xfrm>
            <a:off x="548640" y="2680650"/>
            <a:ext cx="11440160" cy="4339650"/>
          </a:xfrm>
          <a:prstGeom prst="rect">
            <a:avLst/>
          </a:prstGeom>
          <a:noFill/>
        </p:spPr>
        <p:txBody>
          <a:bodyPr wrap="square" rtlCol="0">
            <a:spAutoFit/>
          </a:bodyPr>
          <a:lstStyle/>
          <a:p>
            <a:r>
              <a:rPr lang="zh-CN" altLang="en-US" b="1" dirty="0"/>
              <a:t>损失函数：判断好坏的标尺</a:t>
            </a:r>
          </a:p>
          <a:p>
            <a:r>
              <a:rPr lang="zh-CN" altLang="en-US" dirty="0"/>
              <a:t>损失函数本质上是一个</a:t>
            </a:r>
            <a:r>
              <a:rPr lang="zh-CN" altLang="en-US" b="1" dirty="0"/>
              <a:t>可量化的评价准则</a:t>
            </a:r>
            <a:r>
              <a:rPr lang="zh-CN" altLang="en-US" dirty="0"/>
              <a:t>，核心功能是</a:t>
            </a:r>
            <a:r>
              <a:rPr lang="zh-CN" altLang="en-US" b="1" dirty="0"/>
              <a:t>判断模型预测的“好坏”程度</a:t>
            </a:r>
            <a:r>
              <a:rPr lang="zh-CN" altLang="en-US" dirty="0"/>
              <a:t>。每一次前向传播，损失函数都将模型的预测结果与真实目标之间的差距压缩成一个标量值</a:t>
            </a:r>
            <a:r>
              <a:rPr lang="en-US" altLang="zh-CN" dirty="0"/>
              <a:t>——</a:t>
            </a:r>
            <a:r>
              <a:rPr lang="zh-CN" altLang="en-US" dirty="0"/>
              <a:t>这个数值越小，模型表现越好；越大，则意味着偏差越大。</a:t>
            </a:r>
          </a:p>
          <a:p>
            <a:r>
              <a:rPr lang="en-US" altLang="zh-CN" b="1" dirty="0"/>
              <a:t>1. </a:t>
            </a:r>
            <a:r>
              <a:rPr lang="zh-CN" altLang="en-US" b="1" dirty="0"/>
              <a:t>定义了“好”的数学内涵</a:t>
            </a:r>
            <a:br>
              <a:rPr lang="zh-CN" altLang="en-US" dirty="0"/>
            </a:br>
            <a:r>
              <a:rPr lang="zh-CN" altLang="en-US" dirty="0"/>
              <a:t>不同的问题对“好”的定义完全不同。损失函数的选择直接决定了模型在学习什么：分类问题用交叉熵损失，意味着“好”的标准是概率分布的对齐；回归问题用均方误差，意味着“好”的标准是数值上的精准。</a:t>
            </a:r>
          </a:p>
          <a:p>
            <a:r>
              <a:rPr lang="en-US" altLang="zh-CN" b="1" dirty="0"/>
              <a:t>2. </a:t>
            </a:r>
            <a:r>
              <a:rPr lang="zh-CN" altLang="en-US" b="1" dirty="0"/>
              <a:t>提供了优化的方向</a:t>
            </a:r>
            <a:br>
              <a:rPr lang="zh-CN" altLang="en-US" dirty="0"/>
            </a:br>
            <a:r>
              <a:rPr lang="zh-CN" altLang="en-US" dirty="0"/>
              <a:t>损失函数通过梯度将“如何变好”的方向传递给网络参数。梯度指明了每个参数应当增加还是减少才能让损失下降</a:t>
            </a:r>
            <a:r>
              <a:rPr lang="en-US" altLang="zh-CN" dirty="0"/>
              <a:t>——</a:t>
            </a:r>
            <a:r>
              <a:rPr lang="zh-CN" altLang="en-US" dirty="0"/>
              <a:t>这是反向传播算法的起点，也是整个优化过程的驱动力。</a:t>
            </a:r>
          </a:p>
          <a:p>
            <a:r>
              <a:rPr lang="en-US" altLang="zh-CN" b="1" dirty="0"/>
              <a:t>3. </a:t>
            </a:r>
            <a:r>
              <a:rPr lang="zh-CN" altLang="en-US" b="1" dirty="0"/>
              <a:t>隐式嵌入了先验知识</a:t>
            </a:r>
            <a:br>
              <a:rPr lang="zh-CN" altLang="en-US" dirty="0"/>
            </a:br>
            <a:r>
              <a:rPr lang="zh-CN" altLang="en-US" dirty="0"/>
              <a:t>合适的损失函数往往编码了我们对问题的先验假设：交叉熵对应着最大似然估计，假设数据服从特定分布；</a:t>
            </a:r>
          </a:p>
          <a:p>
            <a:r>
              <a:rPr lang="zh-CN" altLang="en-US" dirty="0"/>
              <a:t>对比损失对应着相似性保持，假设样本间的相对关系是关键。对损失函数的设计也是构建深度神经网络解决实际问题的关键一环。</a:t>
            </a:r>
          </a:p>
          <a:p>
            <a:pPr lvl="1"/>
            <a:endParaRPr lang="en-US" altLang="zh-CN" sz="2400" dirty="0"/>
          </a:p>
        </p:txBody>
      </p:sp>
    </p:spTree>
    <p:extLst>
      <p:ext uri="{BB962C8B-B14F-4D97-AF65-F5344CB8AC3E}">
        <p14:creationId xmlns:p14="http://schemas.microsoft.com/office/powerpoint/2010/main" val="21166761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50</a:t>
            </a:fld>
            <a:endParaRPr lang="zh-CN" altLang="en-US" dirty="0"/>
          </a:p>
        </p:txBody>
      </p:sp>
      <p:sp>
        <p:nvSpPr>
          <p:cNvPr id="19" name="object 5">
            <a:extLst>
              <a:ext uri="{FF2B5EF4-FFF2-40B4-BE49-F238E27FC236}">
                <a16:creationId xmlns:a16="http://schemas.microsoft.com/office/drawing/2014/main" id="{C5A538C7-F9C0-5848-8021-A1D4AE240AAC}"/>
              </a:ext>
            </a:extLst>
          </p:cNvPr>
          <p:cNvSpPr txBox="1">
            <a:spLocks/>
          </p:cNvSpPr>
          <p:nvPr/>
        </p:nvSpPr>
        <p:spPr>
          <a:xfrm>
            <a:off x="375650" y="540118"/>
            <a:ext cx="2367549"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课程思路</a:t>
            </a:r>
          </a:p>
        </p:txBody>
      </p:sp>
      <p:graphicFrame>
        <p:nvGraphicFramePr>
          <p:cNvPr id="11" name="內容版面配置區 3">
            <a:extLst>
              <a:ext uri="{FF2B5EF4-FFF2-40B4-BE49-F238E27FC236}">
                <a16:creationId xmlns:a16="http://schemas.microsoft.com/office/drawing/2014/main" id="{4A1B2DCA-3AF7-4A34-8A1C-972889B61468}"/>
              </a:ext>
            </a:extLst>
          </p:cNvPr>
          <p:cNvGraphicFramePr/>
          <p:nvPr>
            <p:extLst>
              <p:ext uri="{D42A27DB-BD31-4B8C-83A1-F6EECF244321}">
                <p14:modId xmlns:p14="http://schemas.microsoft.com/office/powerpoint/2010/main" val="618595573"/>
              </p:ext>
            </p:extLst>
          </p:nvPr>
        </p:nvGraphicFramePr>
        <p:xfrm>
          <a:off x="2060408" y="152225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矩形 5">
            <a:extLst>
              <a:ext uri="{FF2B5EF4-FFF2-40B4-BE49-F238E27FC236}">
                <a16:creationId xmlns:a16="http://schemas.microsoft.com/office/drawing/2014/main" id="{13A6680B-2EE1-483D-82D2-4F66A6898F12}"/>
              </a:ext>
            </a:extLst>
          </p:cNvPr>
          <p:cNvSpPr/>
          <p:nvPr/>
        </p:nvSpPr>
        <p:spPr>
          <a:xfrm>
            <a:off x="2160974" y="4919888"/>
            <a:ext cx="7551563" cy="83172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390420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51</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1440160" cy="4543231"/>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经验风险最小化</a:t>
                </a:r>
                <a:r>
                  <a:rPr lang="en-US" altLang="zh-CN" sz="2400" dirty="0"/>
                  <a:t>(</a:t>
                </a:r>
                <a:r>
                  <a:rPr lang="zh-CN" altLang="en-US" sz="2400" dirty="0"/>
                  <a:t>以多分类问题为例</a:t>
                </a:r>
                <a:r>
                  <a:rPr lang="en-US" altLang="zh-CN" sz="2400" dirty="0"/>
                  <a:t>)</a:t>
                </a:r>
              </a:p>
              <a:p>
                <a:pPr>
                  <a:lnSpc>
                    <a:spcPct val="150000"/>
                  </a:lnSpc>
                </a:pPr>
                <a14:m>
                  <m:oMathPara xmlns:m="http://schemas.openxmlformats.org/officeDocument/2006/math">
                    <m:oMathParaPr>
                      <m:jc m:val="centerGroup"/>
                    </m:oMathParaPr>
                    <m:oMath xmlns:m="http://schemas.openxmlformats.org/officeDocument/2006/math">
                      <m:func>
                        <m:funcPr>
                          <m:ctrlPr>
                            <a:rPr lang="en-US" altLang="zh-CN" sz="2400" i="1" smtClean="0">
                              <a:solidFill>
                                <a:schemeClr val="tx1"/>
                              </a:solidFill>
                              <a:latin typeface="Cambria Math" panose="02040503050406030204" pitchFamily="18" charset="0"/>
                            </a:rPr>
                          </m:ctrlPr>
                        </m:funcPr>
                        <m:fName>
                          <m:limLow>
                            <m:limLowPr>
                              <m:ctrlPr>
                                <a:rPr lang="en-US" altLang="zh-CN" sz="2400" i="1" smtClean="0">
                                  <a:solidFill>
                                    <a:schemeClr val="tx1"/>
                                  </a:solidFill>
                                  <a:latin typeface="Cambria Math" panose="02040503050406030204" pitchFamily="18" charset="0"/>
                                </a:rPr>
                              </m:ctrlPr>
                            </m:limLowPr>
                            <m:e>
                              <m:r>
                                <m:rPr>
                                  <m:sty m:val="p"/>
                                </m:rPr>
                                <a:rPr lang="en-US" altLang="zh-CN" sz="2400" b="0" i="0" smtClean="0">
                                  <a:solidFill>
                                    <a:schemeClr val="tx1"/>
                                  </a:solidFill>
                                  <a:latin typeface="Cambria Math" panose="02040503050406030204" pitchFamily="18" charset="0"/>
                                </a:rPr>
                                <m:t>arg</m:t>
                              </m:r>
                              <m:r>
                                <m:rPr>
                                  <m:sty m:val="p"/>
                                </m:rPr>
                                <a:rPr lang="en-US" altLang="zh-CN" sz="2400" i="0" smtClean="0">
                                  <a:solidFill>
                                    <a:schemeClr val="tx1"/>
                                  </a:solidFill>
                                  <a:latin typeface="Cambria Math" panose="02040503050406030204" pitchFamily="18" charset="0"/>
                                </a:rPr>
                                <m:t>min</m:t>
                              </m:r>
                            </m:e>
                            <m:lim>
                              <m:r>
                                <a:rPr lang="en-US" altLang="zh-CN" sz="2400" b="0" i="1" smtClean="0">
                                  <a:solidFill>
                                    <a:schemeClr val="tx1"/>
                                  </a:solidFill>
                                  <a:latin typeface="Cambria Math" panose="02040503050406030204" pitchFamily="18" charset="0"/>
                                </a:rPr>
                                <m:t>𝜃</m:t>
                              </m:r>
                            </m:lim>
                          </m:limLow>
                        </m:fName>
                        <m:e>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r>
                                <a:rPr kumimoji="1" lang="en-US" altLang="zh-CN" sz="2400" i="1">
                                  <a:latin typeface="Cambria Math" panose="02040503050406030204" pitchFamily="18" charset="0"/>
                                  <a:ea typeface="Cambria Math" panose="02040503050406030204" pitchFamily="18" charset="0"/>
                                </a:rPr>
                                <m:t>𝜃</m:t>
                              </m:r>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r>
                            <a:rPr lang="en-US" altLang="zh-CN" sz="2400" b="0" i="1" smtClean="0">
                              <a:latin typeface="Cambria Math" panose="02040503050406030204" pitchFamily="18" charset="0"/>
                              <a:cs typeface="Times New Roman" panose="02020603050405020304" pitchFamily="18" charset="0"/>
                            </a:rPr>
                            <m:t>=</m:t>
                          </m:r>
                          <m:nary>
                            <m:naryPr>
                              <m:chr m:val="∑"/>
                              <m:limLoc m:val="subSup"/>
                              <m:ctrlPr>
                                <a:rPr kumimoji="1" lang="en-US" altLang="zh-CN" sz="2400" i="1">
                                  <a:latin typeface="Cambria Math" panose="02040503050406030204" pitchFamily="18" charset="0"/>
                                </a:rPr>
                              </m:ctrlPr>
                            </m:naryPr>
                            <m:sub>
                              <m:r>
                                <m:rPr>
                                  <m:brk m:alnAt="25"/>
                                </m:rPr>
                                <a:rPr kumimoji="1" lang="en-US" altLang="zh-CN" sz="2400" i="1">
                                  <a:latin typeface="Cambria Math" panose="02040503050406030204" pitchFamily="18" charset="0"/>
                                </a:rPr>
                                <m:t>𝑖</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𝑚</m:t>
                              </m:r>
                            </m:sup>
                            <m:e>
                              <m:nary>
                                <m:naryPr>
                                  <m:chr m:val="∑"/>
                                  <m:limLoc m:val="subSup"/>
                                  <m:ctrlPr>
                                    <a:rPr kumimoji="1" lang="en-US" altLang="zh-CN" sz="2400" i="1">
                                      <a:latin typeface="Cambria Math" panose="02040503050406030204" pitchFamily="18" charset="0"/>
                                    </a:rPr>
                                  </m:ctrlPr>
                                </m:naryPr>
                                <m:sub>
                                  <m:r>
                                    <m:rPr>
                                      <m:brk m:alnAt="25"/>
                                    </m:rPr>
                                    <a:rPr kumimoji="1" lang="en-US" altLang="zh-CN" sz="2400" i="1">
                                      <a:latin typeface="Cambria Math" panose="02040503050406030204" pitchFamily="18" charset="0"/>
                                    </a:rPr>
                                    <m:t>𝑐</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𝑘</m:t>
                                  </m:r>
                                </m:sup>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𝑦</m:t>
                                      </m:r>
                                    </m:e>
                                    <m:sub>
                                      <m:r>
                                        <a:rPr kumimoji="1" lang="en-US" altLang="zh-CN" sz="2400" i="1">
                                          <a:latin typeface="Cambria Math" panose="02040503050406030204" pitchFamily="18" charset="0"/>
                                          <a:ea typeface="Cambria Math" panose="02040503050406030204" pitchFamily="18" charset="0"/>
                                        </a:rPr>
                                        <m:t>𝑖</m:t>
                                      </m:r>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𝑐</m:t>
                                      </m:r>
                                    </m:sub>
                                  </m:sSub>
                                  <m:func>
                                    <m:funcPr>
                                      <m:ctrlPr>
                                        <a:rPr kumimoji="1" lang="en-US" altLang="zh-CN" sz="2400" i="1">
                                          <a:latin typeface="Cambria Math" panose="02040503050406030204" pitchFamily="18" charset="0"/>
                                          <a:ea typeface="Cambria Math" panose="02040503050406030204" pitchFamily="18" charset="0"/>
                                        </a:rPr>
                                      </m:ctrlPr>
                                    </m:funcPr>
                                    <m:fName>
                                      <m:r>
                                        <m:rPr>
                                          <m:sty m:val="p"/>
                                        </m:rPr>
                                        <a:rPr kumimoji="1" lang="en-US" altLang="zh-CN" sz="2400">
                                          <a:latin typeface="Cambria Math" panose="02040503050406030204" pitchFamily="18" charset="0"/>
                                          <a:ea typeface="Cambria Math" panose="02040503050406030204" pitchFamily="18" charset="0"/>
                                        </a:rPr>
                                        <m:t>log</m:t>
                                      </m:r>
                                    </m:fName>
                                    <m:e>
                                      <m:sSub>
                                        <m:sSubPr>
                                          <m:ctrlPr>
                                            <a:rPr kumimoji="1" lang="en-US" altLang="zh-CN" sz="2400" i="1">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𝑐</m:t>
                                          </m:r>
                                        </m:sub>
                                      </m:sSub>
                                    </m:e>
                                  </m:func>
                                </m:e>
                              </m:nary>
                            </m:e>
                          </m:nary>
                        </m:e>
                      </m:func>
                    </m:oMath>
                  </m:oMathPara>
                </a14:m>
                <a:endParaRPr lang="en-US" altLang="zh-CN" sz="2400" dirty="0">
                  <a:solidFill>
                    <a:schemeClr val="tx1"/>
                  </a:solidFill>
                </a:endParaRPr>
              </a:p>
              <a:p>
                <a:pPr marL="800100" lvl="1" indent="-342900">
                  <a:lnSpc>
                    <a:spcPct val="150000"/>
                  </a:lnSpc>
                  <a:buFont typeface="Wingdings" pitchFamily="2" charset="2"/>
                  <a:buChar char="p"/>
                </a:pPr>
                <a:r>
                  <a:rPr lang="zh-CN" altLang="en-US" sz="2400" dirty="0"/>
                  <a:t>其中</a:t>
                </a:r>
                <a14:m>
                  <m:oMath xmlns:m="http://schemas.openxmlformats.org/officeDocument/2006/math">
                    <m:sSub>
                      <m:sSubPr>
                        <m:ctrlPr>
                          <a:rPr kumimoji="1" lang="en-US" altLang="zh-CN" sz="2400" i="1" smtClean="0">
                            <a:latin typeface="Cambria Math" panose="02040503050406030204" pitchFamily="18" charset="0"/>
                          </a:rPr>
                        </m:ctrlPr>
                      </m:sSubPr>
                      <m:e>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𝑦</m:t>
                            </m:r>
                          </m:e>
                        </m:acc>
                      </m:e>
                      <m:sub>
                        <m:r>
                          <a:rPr kumimoji="1" lang="en-US" altLang="zh-CN" sz="2400" i="1">
                            <a:latin typeface="Cambria Math" panose="02040503050406030204" pitchFamily="18" charset="0"/>
                          </a:rPr>
                          <m:t>𝑖</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𝑐</m:t>
                        </m:r>
                      </m:sub>
                    </m:sSub>
                  </m:oMath>
                </a14:m>
                <a:r>
                  <a:rPr lang="zh-CN" altLang="en-US" sz="2400" dirty="0"/>
                  <a:t>由</a:t>
                </a:r>
                <a:r>
                  <a:rPr lang="zh-CN" altLang="en-US" sz="2400" dirty="0">
                    <a:latin typeface="Times New Roman" panose="02020603050405020304" pitchFamily="18" charset="0"/>
                    <a:cs typeface="Times New Roman" panose="02020603050405020304" pitchFamily="18" charset="0"/>
                  </a:rPr>
                  <a:t>多层感知机的</a:t>
                </a:r>
                <a:r>
                  <a:rPr lang="zh-CN" altLang="en-US" sz="2400" dirty="0"/>
                  <a:t>参数</a:t>
                </a:r>
                <a14:m>
                  <m:oMath xmlns:m="http://schemas.openxmlformats.org/officeDocument/2006/math">
                    <m:r>
                      <a:rPr kumimoji="1" lang="en-US" altLang="zh-CN" sz="2400" i="1">
                        <a:latin typeface="Cambria Math" panose="02040503050406030204" pitchFamily="18" charset="0"/>
                        <a:ea typeface="Cambria Math" panose="02040503050406030204" pitchFamily="18" charset="0"/>
                      </a:rPr>
                      <m:t>𝜃</m:t>
                    </m:r>
                  </m:oMath>
                </a14:m>
                <a:r>
                  <a:rPr lang="zh-CN" altLang="en-US" sz="2400" dirty="0"/>
                  <a:t>以及数据特征</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oMath>
                </a14:m>
                <a:r>
                  <a:rPr lang="zh-CN" altLang="en-US" sz="2400" dirty="0"/>
                  <a:t>确定</a:t>
                </a:r>
                <a:endParaRPr lang="en-US" altLang="zh-CN" sz="2400" dirty="0"/>
              </a:p>
              <a:p>
                <a:pPr marL="342900" indent="-342900">
                  <a:lnSpc>
                    <a:spcPct val="150000"/>
                  </a:lnSpc>
                  <a:buFont typeface="Wingdings" pitchFamily="2" charset="2"/>
                  <a:buChar char="n"/>
                </a:pPr>
                <a:r>
                  <a:rPr lang="zh-CN" altLang="en-US" sz="2400" dirty="0"/>
                  <a:t>经验风险最小化 </a:t>
                </a:r>
                <a:r>
                  <a:rPr lang="en-US" altLang="zh-CN" sz="2400" dirty="0"/>
                  <a:t>-&gt; </a:t>
                </a:r>
                <a:r>
                  <a:rPr lang="zh-CN" altLang="en-US" sz="2400" dirty="0"/>
                  <a:t>最优化问题</a:t>
                </a:r>
                <a:endParaRPr lang="en-US" altLang="zh-CN" sz="2400" dirty="0">
                  <a:solidFill>
                    <a:schemeClr val="tx1"/>
                  </a:solidFill>
                </a:endParaRPr>
              </a:p>
              <a:p>
                <a:pPr marL="800100" lvl="1" indent="-342900">
                  <a:lnSpc>
                    <a:spcPct val="150000"/>
                  </a:lnSpc>
                  <a:buFont typeface="Wingdings" pitchFamily="2" charset="2"/>
                  <a:buChar char="p"/>
                </a:pPr>
                <a:r>
                  <a:rPr lang="zh-CN" altLang="en-US" sz="2400" dirty="0"/>
                  <a:t>梯度下降（</a:t>
                </a:r>
                <a:r>
                  <a:rPr lang="en-US" altLang="zh-CN" sz="2400" dirty="0"/>
                  <a:t>GD</a:t>
                </a:r>
                <a:r>
                  <a:rPr lang="zh-CN" altLang="en-US" sz="2400" dirty="0"/>
                  <a:t>）、</a:t>
                </a:r>
                <a:r>
                  <a:rPr lang="zh-CN" altLang="en-US" sz="2400" dirty="0">
                    <a:solidFill>
                      <a:srgbClr val="C00000"/>
                    </a:solidFill>
                  </a:rPr>
                  <a:t>随机梯度下降（</a:t>
                </a:r>
                <a:r>
                  <a:rPr lang="en-US" altLang="zh-CN" sz="2400" dirty="0">
                    <a:solidFill>
                      <a:srgbClr val="C00000"/>
                    </a:solidFill>
                  </a:rPr>
                  <a:t>SGD</a:t>
                </a:r>
                <a:r>
                  <a:rPr lang="zh-CN" altLang="en-US" sz="2400" dirty="0">
                    <a:solidFill>
                      <a:srgbClr val="C00000"/>
                    </a:solidFill>
                  </a:rPr>
                  <a:t>）</a:t>
                </a:r>
                <a:r>
                  <a:rPr lang="zh-CN" altLang="en-US" sz="2400" dirty="0"/>
                  <a:t>、</a:t>
                </a:r>
                <a:r>
                  <a:rPr lang="en-US" altLang="zh-CN" sz="2400" dirty="0"/>
                  <a:t>…</a:t>
                </a:r>
              </a:p>
              <a:p>
                <a:pPr lvl="1">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Cambria Math" panose="02040503050406030204" pitchFamily="18" charset="0"/>
                            </a:rPr>
                          </m:ctrlPr>
                        </m:sSubPr>
                        <m:e>
                          <m:r>
                            <a:rPr kumimoji="1" lang="en-US" altLang="zh-CN" sz="2400" i="1" smtClean="0">
                              <a:latin typeface="Cambria Math" panose="02040503050406030204" pitchFamily="18" charset="0"/>
                              <a:ea typeface="Cambria Math" panose="02040503050406030204" pitchFamily="18" charset="0"/>
                            </a:rPr>
                            <m:t>𝜃</m:t>
                          </m:r>
                        </m:e>
                        <m:sub>
                          <m:r>
                            <a:rPr kumimoji="1" lang="en-US" altLang="zh-CN" sz="2400" b="0" i="1" smtClean="0">
                              <a:latin typeface="Cambria Math" panose="02040503050406030204" pitchFamily="18" charset="0"/>
                              <a:ea typeface="Cambria Math" panose="02040503050406030204" pitchFamily="18" charset="0"/>
                            </a:rPr>
                            <m:t>𝑡</m:t>
                          </m:r>
                          <m:r>
                            <a:rPr kumimoji="1" lang="en-US" altLang="zh-CN" sz="2400" b="0" i="1" smtClean="0">
                              <a:latin typeface="Cambria Math" panose="02040503050406030204" pitchFamily="18" charset="0"/>
                              <a:ea typeface="Cambria Math" panose="02040503050406030204" pitchFamily="18" charset="0"/>
                            </a:rPr>
                            <m:t>+1</m:t>
                          </m:r>
                        </m:sub>
                      </m:sSub>
                      <m:r>
                        <a:rPr kumimoji="1" lang="en-US" altLang="zh-CN" sz="2400" b="0" i="1" smtClean="0">
                          <a:latin typeface="Cambria Math" panose="02040503050406030204" pitchFamily="18" charset="0"/>
                          <a:ea typeface="Cambria Math" panose="02040503050406030204" pitchFamily="18" charset="0"/>
                        </a:rPr>
                        <m:t>=</m:t>
                      </m:r>
                      <m:sSub>
                        <m:sSubPr>
                          <m:ctrlPr>
                            <a:rPr kumimoji="1" lang="en-US" altLang="zh-CN" sz="2400" b="0" i="1" smtClean="0">
                              <a:latin typeface="Cambria Math" panose="02040503050406030204" pitchFamily="18" charset="0"/>
                              <a:ea typeface="Cambria Math" panose="02040503050406030204" pitchFamily="18" charset="0"/>
                            </a:rPr>
                          </m:ctrlPr>
                        </m:sSubPr>
                        <m:e>
                          <m:r>
                            <a:rPr kumimoji="1" lang="en-US" altLang="zh-CN" sz="2400" b="0" i="1" smtClean="0">
                              <a:latin typeface="Cambria Math" panose="02040503050406030204" pitchFamily="18" charset="0"/>
                              <a:ea typeface="Cambria Math" panose="02040503050406030204" pitchFamily="18" charset="0"/>
                            </a:rPr>
                            <m:t>𝜃</m:t>
                          </m:r>
                        </m:e>
                        <m:sub>
                          <m:r>
                            <a:rPr kumimoji="1" lang="en-US" altLang="zh-CN" sz="2400" b="0" i="1" smtClean="0">
                              <a:latin typeface="Cambria Math" panose="02040503050406030204" pitchFamily="18" charset="0"/>
                              <a:ea typeface="Cambria Math" panose="02040503050406030204" pitchFamily="18" charset="0"/>
                            </a:rPr>
                            <m:t>𝑡</m:t>
                          </m:r>
                        </m:sub>
                      </m:sSub>
                      <m:r>
                        <a:rPr kumimoji="1" lang="en-US" altLang="zh-CN" sz="2400" b="0" i="1" smtClean="0">
                          <a:latin typeface="Cambria Math" panose="02040503050406030204" pitchFamily="18" charset="0"/>
                          <a:ea typeface="Cambria Math" panose="02040503050406030204" pitchFamily="18" charset="0"/>
                        </a:rPr>
                        <m:t>−</m:t>
                      </m:r>
                      <m:sSub>
                        <m:sSubPr>
                          <m:ctrlPr>
                            <a:rPr kumimoji="1" lang="en-US" altLang="zh-CN" sz="2400" b="0" i="1" smtClean="0">
                              <a:latin typeface="Cambria Math" panose="02040503050406030204" pitchFamily="18" charset="0"/>
                              <a:ea typeface="Cambria Math" panose="02040503050406030204" pitchFamily="18" charset="0"/>
                            </a:rPr>
                          </m:ctrlPr>
                        </m:sSubPr>
                        <m:e>
                          <m:r>
                            <a:rPr kumimoji="1" lang="en-US" altLang="zh-CN" sz="2400" b="0" i="1" smtClean="0">
                              <a:latin typeface="Cambria Math" panose="02040503050406030204" pitchFamily="18" charset="0"/>
                              <a:ea typeface="Cambria Math" panose="02040503050406030204" pitchFamily="18" charset="0"/>
                            </a:rPr>
                            <m:t>𝜂</m:t>
                          </m:r>
                        </m:e>
                        <m:sub>
                          <m:r>
                            <a:rPr kumimoji="1" lang="en-US" altLang="zh-CN" sz="2400" b="0" i="1" smtClean="0">
                              <a:latin typeface="Cambria Math" panose="02040503050406030204" pitchFamily="18" charset="0"/>
                              <a:ea typeface="Cambria Math" panose="02040503050406030204" pitchFamily="18" charset="0"/>
                            </a:rPr>
                            <m:t>𝑡</m:t>
                          </m:r>
                        </m:sub>
                      </m:sSub>
                      <m:r>
                        <m:rPr>
                          <m:sty m:val="p"/>
                        </m:rPr>
                        <a:rPr kumimoji="1" lang="en-US" altLang="zh-CN" sz="2400" b="0" i="0"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b="0" i="1" smtClean="0">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b="0" i="1" smtClean="0">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r>
                        <a:rPr lang="en-US" altLang="zh-CN" sz="2400" b="0" i="1" smtClean="0">
                          <a:latin typeface="Cambria Math" panose="02040503050406030204" pitchFamily="18" charset="0"/>
                          <a:cs typeface="Times New Roman" panose="02020603050405020304" pitchFamily="18" charset="0"/>
                        </a:rPr>
                        <m:t>     </m:t>
                      </m:r>
                      <m:r>
                        <a:rPr lang="en-US" altLang="zh-CN" sz="2400" b="0" i="1" smtClean="0">
                          <a:latin typeface="Cambria Math" panose="02040503050406030204" pitchFamily="18" charset="0"/>
                          <a:cs typeface="Times New Roman" panose="02020603050405020304" pitchFamily="18" charset="0"/>
                        </a:rPr>
                        <m:t>𝑜𝑟</m:t>
                      </m:r>
                      <m:r>
                        <a:rPr lang="en-US" altLang="zh-CN" sz="2400" b="0" i="1" smtClean="0">
                          <a:latin typeface="Cambria Math" panose="02040503050406030204" pitchFamily="18" charset="0"/>
                          <a:cs typeface="Times New Roman" panose="02020603050405020304" pitchFamily="18" charset="0"/>
                        </a:rPr>
                        <m:t>    </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r>
                            <a:rPr kumimoji="1" lang="en-US" altLang="zh-CN" sz="2400" i="1">
                              <a:latin typeface="Cambria Math" panose="02040503050406030204" pitchFamily="18" charset="0"/>
                              <a:ea typeface="Cambria Math" panose="02040503050406030204" pitchFamily="18" charset="0"/>
                            </a:rPr>
                            <m:t>+1</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𝜂</m:t>
                          </m:r>
                        </m:e>
                        <m:sub>
                          <m:r>
                            <a:rPr kumimoji="1" lang="en-US" altLang="zh-CN" sz="2400" i="1">
                              <a:latin typeface="Cambria Math" panose="02040503050406030204" pitchFamily="18" charset="0"/>
                              <a:ea typeface="Cambria Math" panose="02040503050406030204" pitchFamily="18" charset="0"/>
                            </a:rPr>
                            <m:t>𝑡</m:t>
                          </m:r>
                        </m:sub>
                      </m:sSub>
                      <m:acc>
                        <m:accPr>
                          <m:chr m:val="̃"/>
                          <m:ctrlPr>
                            <a:rPr kumimoji="1" lang="en-US" altLang="zh-CN" sz="2400" b="0" i="1" smtClean="0">
                              <a:latin typeface="Cambria Math" panose="02040503050406030204" pitchFamily="18" charset="0"/>
                              <a:ea typeface="Cambria Math" panose="02040503050406030204" pitchFamily="18" charset="0"/>
                            </a:rPr>
                          </m:ctrlPr>
                        </m:accPr>
                        <m:e>
                          <m:r>
                            <m:rPr>
                              <m:sty m:val="p"/>
                            </m:rPr>
                            <a:rPr kumimoji="1" lang="en-US" altLang="zh-CN" sz="2400">
                              <a:latin typeface="Cambria Math" panose="02040503050406030204" pitchFamily="18" charset="0"/>
                              <a:ea typeface="Cambria Math" panose="02040503050406030204" pitchFamily="18" charset="0"/>
                            </a:rPr>
                            <m:t>∇</m:t>
                          </m:r>
                        </m:e>
                      </m:acc>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m:oMathPara>
                </a14:m>
                <a:endParaRPr lang="en-US" altLang="zh-CN" sz="2400" dirty="0"/>
              </a:p>
              <a:p>
                <a:pPr marL="800100" lvl="1" indent="-342900">
                  <a:lnSpc>
                    <a:spcPct val="150000"/>
                  </a:lnSpc>
                  <a:buFont typeface="Wingdings" pitchFamily="2" charset="2"/>
                  <a:buChar char="p"/>
                </a:pPr>
                <a:r>
                  <a:rPr lang="zh-CN" altLang="en-US" sz="2400" dirty="0"/>
                  <a:t>牛顿法、拟牛顿法、</a:t>
                </a:r>
                <a:r>
                  <a:rPr lang="en-US" altLang="zh-CN" sz="2400" dirty="0"/>
                  <a:t>…</a:t>
                </a:r>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11440160" cy="4543231"/>
              </a:xfrm>
              <a:prstGeom prst="rect">
                <a:avLst/>
              </a:prstGeom>
              <a:blipFill>
                <a:blip r:embed="rId3"/>
                <a:stretch>
                  <a:fillRect l="-693" b="-2282"/>
                </a:stretch>
              </a:blipFill>
            </p:spPr>
            <p:txBody>
              <a:bodyPr/>
              <a:lstStyle/>
              <a:p>
                <a:r>
                  <a:rPr lang="zh-CN" altLang="en-US">
                    <a:noFill/>
                  </a:rPr>
                  <a:t> </a:t>
                </a:r>
              </a:p>
            </p:txBody>
          </p:sp>
        </mc:Fallback>
      </mc:AlternateContent>
      <p:sp>
        <p:nvSpPr>
          <p:cNvPr id="9" name="云形标注 8">
            <a:extLst>
              <a:ext uri="{FF2B5EF4-FFF2-40B4-BE49-F238E27FC236}">
                <a16:creationId xmlns:a16="http://schemas.microsoft.com/office/drawing/2014/main" id="{172073D9-EFC3-9640-BFE4-A38ED95EE98C}"/>
              </a:ext>
            </a:extLst>
          </p:cNvPr>
          <p:cNvSpPr/>
          <p:nvPr/>
        </p:nvSpPr>
        <p:spPr bwMode="auto">
          <a:xfrm>
            <a:off x="8568420" y="4383120"/>
            <a:ext cx="3420380" cy="1061772"/>
          </a:xfrm>
          <a:prstGeom prst="cloudCallout">
            <a:avLst>
              <a:gd name="adj1" fmla="val -48219"/>
              <a:gd name="adj2" fmla="val 69957"/>
            </a:avLst>
          </a:prstGeom>
          <a:solidFill>
            <a:srgbClr val="FFC00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1" hangingPunct="1"/>
            <a:r>
              <a:rPr lang="zh-CN" altLang="en-US" sz="2400" dirty="0">
                <a:solidFill>
                  <a:srgbClr val="C00000"/>
                </a:solidFill>
                <a:latin typeface="Verdana" panose="020B0604030504040204" pitchFamily="34" charset="0"/>
                <a:cs typeface="Verdana" panose="020B0604030504040204" pitchFamily="34" charset="0"/>
              </a:rPr>
              <a:t>如何计算梯度？</a:t>
            </a:r>
            <a:endParaRPr kumimoji="0" lang="zh-CN" altLang="en-US" sz="2400" b="0" i="0" u="none" strike="noStrike" cap="none" normalizeH="0" baseline="0" dirty="0">
              <a:ln>
                <a:noFill/>
              </a:ln>
              <a:solidFill>
                <a:srgbClr val="C00000"/>
              </a:solidFill>
              <a:effectLst/>
              <a:latin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1001F60-A36E-429B-AEB0-F8846611E62F}"/>
                  </a:ext>
                </a:extLst>
              </p:cNvPr>
              <p:cNvSpPr txBox="1"/>
              <p:nvPr/>
            </p:nvSpPr>
            <p:spPr>
              <a:xfrm>
                <a:off x="8702059" y="2474880"/>
                <a:ext cx="4056992" cy="9169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i="1" smtClean="0">
                              <a:latin typeface="Cambria Math" panose="02040503050406030204" pitchFamily="18" charset="0"/>
                            </a:rPr>
                          </m:ctrlPr>
                        </m:accPr>
                        <m:e>
                          <m:r>
                            <a:rPr kumimoji="1" lang="en-US" altLang="zh-CN" i="1">
                              <a:latin typeface="Cambria Math" panose="02040503050406030204" pitchFamily="18" charset="0"/>
                            </a:rPr>
                            <m:t>𝑦</m:t>
                          </m:r>
                        </m:e>
                      </m:acc>
                      <m:r>
                        <a:rPr kumimoji="1" lang="en-US" altLang="zh-CN" sz="1800" b="0" i="1" smtClean="0">
                          <a:latin typeface="Cambria Math" panose="02040503050406030204" pitchFamily="18" charset="0"/>
                          <a:ea typeface="Cambria Math" panose="02040503050406030204" pitchFamily="18" charset="0"/>
                        </a:rPr>
                        <m:t>=</m:t>
                      </m:r>
                      <m:r>
                        <a:rPr kumimoji="1" lang="en-US" altLang="zh-CN" sz="1800" b="0" i="1" smtClean="0">
                          <a:latin typeface="Cambria Math" panose="02040503050406030204" pitchFamily="18" charset="0"/>
                          <a:ea typeface="Cambria Math" panose="02040503050406030204" pitchFamily="18" charset="0"/>
                        </a:rPr>
                        <m:t>𝑥𝑤</m:t>
                      </m:r>
                    </m:oMath>
                  </m:oMathPara>
                </a14:m>
                <a:endParaRPr lang="en-US" altLang="zh-CN" dirty="0"/>
              </a:p>
              <a:p>
                <a14:m>
                  <m:oMath xmlns:m="http://schemas.openxmlformats.org/officeDocument/2006/math">
                    <m:r>
                      <a:rPr kumimoji="1" lang="en-US" altLang="zh-CN" sz="1800" b="0" i="1" smtClean="0">
                        <a:latin typeface="Cambria Math" panose="02040503050406030204" pitchFamily="18" charset="0"/>
                        <a:ea typeface="Cambria Math" panose="02040503050406030204" pitchFamily="18" charset="0"/>
                      </a:rPr>
                      <m:t>                              </m:t>
                    </m:r>
                    <m:r>
                      <a:rPr kumimoji="1" lang="en-US" altLang="zh-CN" sz="1800" i="1" smtClean="0">
                        <a:latin typeface="Cambria Math" panose="02040503050406030204" pitchFamily="18" charset="0"/>
                        <a:ea typeface="Cambria Math" panose="02040503050406030204" pitchFamily="18" charset="0"/>
                      </a:rPr>
                      <m:t>ℒ</m:t>
                    </m:r>
                  </m:oMath>
                </a14:m>
                <a:r>
                  <a:rPr lang="zh-CN" altLang="en-US" dirty="0"/>
                  <a:t> </a:t>
                </a:r>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𝑦</m:t>
                    </m:r>
                    <m:r>
                      <a:rPr kumimoji="1" lang="en-US" altLang="zh-CN" i="1">
                        <a:latin typeface="Cambria Math" panose="02040503050406030204" pitchFamily="18" charset="0"/>
                        <a:ea typeface="Cambria Math" panose="02040503050406030204" pitchFamily="18" charset="0"/>
                      </a:rPr>
                      <m:t> </m:t>
                    </m:r>
                  </m:oMath>
                </a14:m>
                <a:r>
                  <a:rPr lang="en-US" altLang="zh-CN" dirty="0"/>
                  <a:t>-</a:t>
                </a:r>
                <a:r>
                  <a:rPr kumimoji="1" lang="en-US" altLang="zh-CN" dirty="0"/>
                  <a:t> </a:t>
                </a:r>
                <a14:m>
                  <m:oMath xmlns:m="http://schemas.openxmlformats.org/officeDocument/2006/math">
                    <m:acc>
                      <m:accPr>
                        <m:chr m:val="̂"/>
                        <m:ctrlPr>
                          <a:rPr kumimoji="1" lang="en-US" altLang="zh-CN" i="1">
                            <a:latin typeface="Cambria Math" panose="02040503050406030204" pitchFamily="18" charset="0"/>
                          </a:rPr>
                        </m:ctrlPr>
                      </m:accPr>
                      <m:e>
                        <m:r>
                          <a:rPr kumimoji="1" lang="en-US" altLang="zh-CN" i="1">
                            <a:latin typeface="Cambria Math" panose="02040503050406030204" pitchFamily="18" charset="0"/>
                          </a:rPr>
                          <m:t>𝑦</m:t>
                        </m:r>
                      </m:e>
                    </m:acc>
                  </m:oMath>
                </a14:m>
                <a:r>
                  <a:rPr lang="en-US" altLang="zh-CN" dirty="0"/>
                  <a:t>)</a:t>
                </a:r>
                <a:r>
                  <a:rPr lang="en-US" altLang="zh-CN" baseline="30000" dirty="0"/>
                  <a:t>2</a:t>
                </a:r>
              </a:p>
              <a:p>
                <a14:m>
                  <m:oMath xmlns:m="http://schemas.openxmlformats.org/officeDocument/2006/math">
                    <m:r>
                      <a:rPr kumimoji="1" lang="en-US" altLang="zh-CN" b="0" i="1" smtClean="0">
                        <a:latin typeface="Cambria Math" panose="02040503050406030204" pitchFamily="18" charset="0"/>
                      </a:rPr>
                      <m:t>                              </m:t>
                    </m:r>
                    <m:r>
                      <a:rPr kumimoji="1" lang="en-US" altLang="zh-CN" b="0" i="1" smtClean="0">
                        <a:latin typeface="Cambria Math" panose="02040503050406030204" pitchFamily="18" charset="0"/>
                      </a:rPr>
                      <m:t>𝑥</m:t>
                    </m:r>
                    <m:r>
                      <a:rPr kumimoji="1" lang="en-US" altLang="zh-CN" sz="1800" b="0" i="1" smtClean="0">
                        <a:latin typeface="Cambria Math" panose="02040503050406030204" pitchFamily="18" charset="0"/>
                        <a:ea typeface="Cambria Math" panose="02040503050406030204" pitchFamily="18" charset="0"/>
                      </a:rPr>
                      <m:t>=1, </m:t>
                    </m:r>
                    <m:r>
                      <a:rPr kumimoji="1" lang="en-US" altLang="zh-CN" sz="1800" b="0" i="1" smtClean="0">
                        <a:latin typeface="Cambria Math" panose="02040503050406030204" pitchFamily="18" charset="0"/>
                        <a:ea typeface="Cambria Math" panose="02040503050406030204" pitchFamily="18" charset="0"/>
                      </a:rPr>
                      <m:t>𝑦</m:t>
                    </m:r>
                  </m:oMath>
                </a14:m>
                <a:r>
                  <a:rPr lang="zh-CN" altLang="en-US" baseline="30000"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=2.5</m:t>
                    </m:r>
                  </m:oMath>
                </a14:m>
                <a:endParaRPr lang="zh-CN" altLang="en-US" baseline="30000" dirty="0"/>
              </a:p>
            </p:txBody>
          </p:sp>
        </mc:Choice>
        <mc:Fallback xmlns="">
          <p:sp>
            <p:nvSpPr>
              <p:cNvPr id="10" name="文本框 9">
                <a:extLst>
                  <a:ext uri="{FF2B5EF4-FFF2-40B4-BE49-F238E27FC236}">
                    <a16:creationId xmlns:a16="http://schemas.microsoft.com/office/drawing/2014/main" id="{41001F60-A36E-429B-AEB0-F8846611E62F}"/>
                  </a:ext>
                </a:extLst>
              </p:cNvPr>
              <p:cNvSpPr txBox="1">
                <a:spLocks noRot="1" noChangeAspect="1" noMove="1" noResize="1" noEditPoints="1" noAdjustHandles="1" noChangeArrowheads="1" noChangeShapeType="1" noTextEdit="1"/>
              </p:cNvSpPr>
              <p:nvPr/>
            </p:nvSpPr>
            <p:spPr>
              <a:xfrm>
                <a:off x="8702059" y="2474880"/>
                <a:ext cx="4056992" cy="916982"/>
              </a:xfrm>
              <a:prstGeom prst="rect">
                <a:avLst/>
              </a:prstGeom>
              <a:blipFill>
                <a:blip r:embed="rId4"/>
                <a:stretch>
                  <a:fillRect t="-2667" b="-3333"/>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39FE4159-95A5-4F6A-9B89-6FBA7C4AE30D}"/>
              </a:ext>
            </a:extLst>
          </p:cNvPr>
          <p:cNvSpPr/>
          <p:nvPr/>
        </p:nvSpPr>
        <p:spPr>
          <a:xfrm>
            <a:off x="8960069" y="2406869"/>
            <a:ext cx="2785241" cy="10821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27253DA5-F037-4F67-B607-BA5FACC69139}"/>
              </a:ext>
            </a:extLst>
          </p:cNvPr>
          <p:cNvSpPr txBox="1"/>
          <p:nvPr/>
        </p:nvSpPr>
        <p:spPr>
          <a:xfrm>
            <a:off x="9023131" y="2497136"/>
            <a:ext cx="1167962" cy="369332"/>
          </a:xfrm>
          <a:prstGeom prst="rect">
            <a:avLst/>
          </a:prstGeom>
          <a:noFill/>
        </p:spPr>
        <p:txBody>
          <a:bodyPr wrap="square">
            <a:spAutoFit/>
          </a:bodyPr>
          <a:lstStyle/>
          <a:p>
            <a:r>
              <a:rPr lang="zh-CN" altLang="en-US" dirty="0"/>
              <a:t>一个栗子</a:t>
            </a:r>
          </a:p>
        </p:txBody>
      </p:sp>
      <p:pic>
        <p:nvPicPr>
          <p:cNvPr id="11" name="图片 10">
            <a:extLst>
              <a:ext uri="{FF2B5EF4-FFF2-40B4-BE49-F238E27FC236}">
                <a16:creationId xmlns:a16="http://schemas.microsoft.com/office/drawing/2014/main" id="{9E0C4CC5-DDE3-4741-99F9-1468DE957DBD}"/>
              </a:ext>
            </a:extLst>
          </p:cNvPr>
          <p:cNvPicPr>
            <a:picLocks noChangeAspect="1"/>
          </p:cNvPicPr>
          <p:nvPr/>
        </p:nvPicPr>
        <p:blipFill>
          <a:blip r:embed="rId5"/>
          <a:stretch>
            <a:fillRect/>
          </a:stretch>
        </p:blipFill>
        <p:spPr>
          <a:xfrm>
            <a:off x="9304603" y="2865335"/>
            <a:ext cx="605017" cy="575111"/>
          </a:xfrm>
          <a:prstGeom prst="rect">
            <a:avLst/>
          </a:prstGeom>
        </p:spPr>
      </p:pic>
    </p:spTree>
    <p:extLst>
      <p:ext uri="{BB962C8B-B14F-4D97-AF65-F5344CB8AC3E}">
        <p14:creationId xmlns:p14="http://schemas.microsoft.com/office/powerpoint/2010/main" val="294018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52</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a:t>
            </a:r>
            <a:r>
              <a:rPr lang="zh-CN" altLang="en-US" sz="2400" b="1" dirty="0">
                <a:latin typeface="Times New Roman" panose="02020603050405020304" pitchFamily="18" charset="0"/>
                <a:cs typeface="Times New Roman" panose="02020603050405020304" pitchFamily="18" charset="0"/>
              </a:rPr>
              <a:t>化</a:t>
            </a:r>
            <a:r>
              <a:rPr lang="zh-CN" altLang="en-US" sz="2400" dirty="0">
                <a:latin typeface="Times New Roman" panose="02020603050405020304" pitchFamily="18" charset="0"/>
                <a:cs typeface="Times New Roman" panose="02020603050405020304" pitchFamily="18" charset="0"/>
              </a:rPr>
              <a:t>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10" name="文字方塊 3">
                <a:extLst>
                  <a:ext uri="{FF2B5EF4-FFF2-40B4-BE49-F238E27FC236}">
                    <a16:creationId xmlns:a16="http://schemas.microsoft.com/office/drawing/2014/main" id="{ACFB9083-79B0-4954-A639-A2D9B9A60D5D}"/>
                  </a:ext>
                </a:extLst>
              </p:cNvPr>
              <p:cNvSpPr txBox="1"/>
              <p:nvPr/>
            </p:nvSpPr>
            <p:spPr>
              <a:xfrm>
                <a:off x="375650" y="2633211"/>
                <a:ext cx="7696762" cy="407114"/>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400" dirty="0">
                    <a:latin typeface="Times New Roman" panose="02020603050405020304" charset="0"/>
                    <a:cs typeface="Times New Roman" panose="02020603050405020304" charset="0"/>
                  </a:rPr>
                  <a:t>Find </a:t>
                </a:r>
                <a:r>
                  <a:rPr lang="en-US" altLang="zh-TW" sz="2400" b="1" i="1" u="sng" dirty="0">
                    <a:latin typeface="Times New Roman" panose="02020603050405020304" charset="0"/>
                    <a:cs typeface="Times New Roman" panose="02020603050405020304" charset="0"/>
                  </a:rPr>
                  <a:t>network parameters </a:t>
                </a:r>
                <a14:m>
                  <m:oMath xmlns:m="http://schemas.openxmlformats.org/officeDocument/2006/math">
                    <m:sSup>
                      <m:sSupPr>
                        <m:ctrlPr>
                          <a:rPr lang="en-US" altLang="zh-TW" sz="2400" b="1" i="1" u="sng">
                            <a:latin typeface="Cambria Math" panose="02040503050406030204" pitchFamily="18" charset="0"/>
                          </a:rPr>
                        </m:ctrlPr>
                      </m:sSupPr>
                      <m:e>
                        <m:r>
                          <a:rPr lang="zh-TW" altLang="en-US" sz="2400" b="1" i="1" u="sng">
                            <a:latin typeface="Cambria Math" panose="02040503050406030204" pitchFamily="18" charset="0"/>
                          </a:rPr>
                          <m:t>𝜽</m:t>
                        </m:r>
                      </m:e>
                      <m:sup>
                        <m:r>
                          <a:rPr lang="en-US" altLang="zh-TW" sz="2400" b="1" i="1" u="sng">
                            <a:latin typeface="Cambria Math" panose="02040503050406030204" pitchFamily="18" charset="0"/>
                          </a:rPr>
                          <m:t>∗</m:t>
                        </m:r>
                      </m:sup>
                    </m:sSup>
                  </m:oMath>
                </a14:m>
                <a:r>
                  <a:rPr lang="en-US" altLang="zh-TW" sz="2400" dirty="0">
                    <a:latin typeface="Times New Roman" panose="02020603050405020304" charset="0"/>
                    <a:cs typeface="Times New Roman" panose="02020603050405020304" charset="0"/>
                  </a:rPr>
                  <a:t> that minimize total loss L</a:t>
                </a:r>
                <a:endParaRPr lang="zh-TW" altLang="en-US" sz="2400" dirty="0">
                  <a:latin typeface="Times New Roman" panose="02020603050405020304" charset="0"/>
                  <a:cs typeface="Times New Roman" panose="02020603050405020304" charset="0"/>
                </a:endParaRPr>
              </a:p>
            </p:txBody>
          </p:sp>
        </mc:Choice>
        <mc:Fallback xmlns="">
          <p:sp>
            <p:nvSpPr>
              <p:cNvPr id="10" name="文字方塊 3">
                <a:extLst>
                  <a:ext uri="{FF2B5EF4-FFF2-40B4-BE49-F238E27FC236}">
                    <a16:creationId xmlns:a16="http://schemas.microsoft.com/office/drawing/2014/main" id="{ACFB9083-79B0-4954-A639-A2D9B9A60D5D}"/>
                  </a:ext>
                </a:extLst>
              </p:cNvPr>
              <p:cNvSpPr txBox="1">
                <a:spLocks noRot="1" noChangeAspect="1" noMove="1" noResize="1" noEditPoints="1" noAdjustHandles="1" noChangeArrowheads="1" noChangeShapeType="1" noTextEdit="1"/>
              </p:cNvSpPr>
              <p:nvPr/>
            </p:nvSpPr>
            <p:spPr>
              <a:xfrm>
                <a:off x="375650" y="2633211"/>
                <a:ext cx="7696762" cy="40711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字方塊 4">
                <a:extLst>
                  <a:ext uri="{FF2B5EF4-FFF2-40B4-BE49-F238E27FC236}">
                    <a16:creationId xmlns:a16="http://schemas.microsoft.com/office/drawing/2014/main" id="{9575037E-5DCC-476E-A153-4F3D0687412C}"/>
                  </a:ext>
                </a:extLst>
              </p:cNvPr>
              <p:cNvSpPr txBox="1"/>
              <p:nvPr/>
            </p:nvSpPr>
            <p:spPr>
              <a:xfrm>
                <a:off x="709728" y="3896814"/>
                <a:ext cx="4109056" cy="732805"/>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Network parameters </a:t>
                </a:r>
                <a14:m>
                  <m:oMath xmlns:m="http://schemas.openxmlformats.org/officeDocument/2006/math">
                    <m:r>
                      <a:rPr lang="zh-TW" altLang="en-US" sz="2400" i="1" smtClean="0">
                        <a:latin typeface="Cambria Math" panose="02040503050406030204" pitchFamily="18" charset="0"/>
                      </a:rPr>
                      <m:t>𝜃</m:t>
                    </m:r>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3</m:t>
                            </m:r>
                          </m:sub>
                        </m:sSub>
                        <m:r>
                          <a:rPr lang="en-US" altLang="zh-TW" sz="2400" i="1">
                            <a:latin typeface="Cambria Math" panose="02040503050406030204" pitchFamily="18" charset="0"/>
                          </a:rPr>
                          <m:t>,</m:t>
                        </m:r>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r>
                          <a:rPr lang="en-US" altLang="zh-TW" sz="2400" i="1">
                            <a:latin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m:t>
                        </m:r>
                      </m:e>
                    </m:d>
                  </m:oMath>
                </a14:m>
                <a:endParaRPr lang="zh-TW" altLang="en-US" sz="2400" dirty="0">
                  <a:latin typeface="Times New Roman" panose="02020603050405020304" charset="0"/>
                  <a:cs typeface="Times New Roman" panose="02020603050405020304" charset="0"/>
                </a:endParaRPr>
              </a:p>
            </p:txBody>
          </p:sp>
        </mc:Choice>
        <mc:Fallback xmlns="">
          <p:sp>
            <p:nvSpPr>
              <p:cNvPr id="11" name="文字方塊 4">
                <a:extLst>
                  <a:ext uri="{FF2B5EF4-FFF2-40B4-BE49-F238E27FC236}">
                    <a16:creationId xmlns:a16="http://schemas.microsoft.com/office/drawing/2014/main" id="{9575037E-5DCC-476E-A153-4F3D0687412C}"/>
                  </a:ext>
                </a:extLst>
              </p:cNvPr>
              <p:cNvSpPr txBox="1">
                <a:spLocks noRot="1" noChangeAspect="1" noMove="1" noResize="1" noEditPoints="1" noAdjustHandles="1" noChangeArrowheads="1" noChangeShapeType="1" noTextEdit="1"/>
              </p:cNvSpPr>
              <p:nvPr/>
            </p:nvSpPr>
            <p:spPr>
              <a:xfrm>
                <a:off x="709728" y="3896814"/>
                <a:ext cx="4109056" cy="732805"/>
              </a:xfrm>
              <a:prstGeom prst="rect">
                <a:avLst/>
              </a:prstGeom>
              <a:blipFill>
                <a:blip r:embed="rId4"/>
                <a:stretch>
                  <a:fillRect l="-2226" t="-6667" b="-15000"/>
                </a:stretch>
              </a:blipFill>
            </p:spPr>
            <p:txBody>
              <a:bodyPr/>
              <a:lstStyle/>
              <a:p>
                <a:r>
                  <a:rPr lang="zh-CN" altLang="en-US">
                    <a:noFill/>
                  </a:rPr>
                  <a:t> </a:t>
                </a:r>
              </a:p>
            </p:txBody>
          </p:sp>
        </mc:Fallback>
      </mc:AlternateContent>
      <p:sp>
        <p:nvSpPr>
          <p:cNvPr id="12" name="文字方塊 5">
            <a:extLst>
              <a:ext uri="{FF2B5EF4-FFF2-40B4-BE49-F238E27FC236}">
                <a16:creationId xmlns:a16="http://schemas.microsoft.com/office/drawing/2014/main" id="{0AF50F70-615E-4F36-A51B-9547628DDFA8}"/>
              </a:ext>
            </a:extLst>
          </p:cNvPr>
          <p:cNvSpPr txBox="1"/>
          <p:nvPr/>
        </p:nvSpPr>
        <p:spPr>
          <a:xfrm>
            <a:off x="589666" y="3194669"/>
            <a:ext cx="4148274" cy="407114"/>
          </a:xfrm>
          <a:prstGeom prst="rect">
            <a:avLst/>
          </a:prstGeom>
          <a:noFill/>
        </p:spPr>
        <p:txBody>
          <a:bodyPr wrap="square" rtlCol="0">
            <a:spAutoFit/>
          </a:bodyPr>
          <a:lstStyle/>
          <a:p>
            <a:r>
              <a:rPr lang="en-US" altLang="zh-TW" sz="2400" dirty="0">
                <a:latin typeface="Times New Roman" panose="02020603050405020304" charset="0"/>
                <a:cs typeface="Times New Roman" panose="02020603050405020304" charset="0"/>
              </a:rPr>
              <a:t>Enumerate all possible values</a:t>
            </a:r>
            <a:endParaRPr lang="zh-TW" altLang="en-US" sz="2400" dirty="0">
              <a:latin typeface="Times New Roman" panose="02020603050405020304" charset="0"/>
              <a:cs typeface="Times New Roman" panose="02020603050405020304" charset="0"/>
            </a:endParaRPr>
          </a:p>
        </p:txBody>
      </p:sp>
      <p:grpSp>
        <p:nvGrpSpPr>
          <p:cNvPr id="13" name="群組 7">
            <a:extLst>
              <a:ext uri="{FF2B5EF4-FFF2-40B4-BE49-F238E27FC236}">
                <a16:creationId xmlns:a16="http://schemas.microsoft.com/office/drawing/2014/main" id="{9B3F288A-599F-4B8E-9676-19762D2F6035}"/>
              </a:ext>
            </a:extLst>
          </p:cNvPr>
          <p:cNvGrpSpPr/>
          <p:nvPr/>
        </p:nvGrpSpPr>
        <p:grpSpPr>
          <a:xfrm>
            <a:off x="5145149" y="2971229"/>
            <a:ext cx="1045479" cy="2760163"/>
            <a:chOff x="2332137" y="1770729"/>
            <a:chExt cx="1134648" cy="3130011"/>
          </a:xfrm>
        </p:grpSpPr>
        <p:sp>
          <p:nvSpPr>
            <p:cNvPr id="39" name="矩形 38">
              <a:extLst>
                <a:ext uri="{FF2B5EF4-FFF2-40B4-BE49-F238E27FC236}">
                  <a16:creationId xmlns:a16="http://schemas.microsoft.com/office/drawing/2014/main" id="{0EFA6B04-F770-4206-A0EB-5CB709D7D843}"/>
                </a:ext>
              </a:extLst>
            </p:cNvPr>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40" name="文字方塊 9">
              <a:extLst>
                <a:ext uri="{FF2B5EF4-FFF2-40B4-BE49-F238E27FC236}">
                  <a16:creationId xmlns:a16="http://schemas.microsoft.com/office/drawing/2014/main" id="{B1B94E23-EC84-477F-AE1C-DEA2F8C14343}"/>
                </a:ext>
              </a:extLst>
            </p:cNvPr>
            <p:cNvSpPr txBox="1"/>
            <p:nvPr/>
          </p:nvSpPr>
          <p:spPr>
            <a:xfrm>
              <a:off x="2332137" y="1770729"/>
              <a:ext cx="1134648" cy="400110"/>
            </a:xfrm>
            <a:prstGeom prst="rect">
              <a:avLst/>
            </a:prstGeom>
            <a:noFill/>
          </p:spPr>
          <p:txBody>
            <a:bodyPr wrap="square" rtlCol="0">
              <a:spAutoFit/>
            </a:bodyPr>
            <a:lstStyle/>
            <a:p>
              <a:pPr algn="ctr"/>
              <a:r>
                <a:rPr lang="en-US" altLang="zh-TW" sz="2000" dirty="0">
                  <a:latin typeface="Times New Roman" panose="02020603050405020304" charset="0"/>
                  <a:cs typeface="Times New Roman" panose="02020603050405020304" charset="0"/>
                </a:rPr>
                <a:t>Layer l</a:t>
              </a:r>
              <a:endParaRPr lang="zh-TW" altLang="en-US" sz="2000" dirty="0">
                <a:latin typeface="Times New Roman" panose="02020603050405020304" charset="0"/>
                <a:cs typeface="Times New Roman" panose="02020603050405020304" charset="0"/>
              </a:endParaRPr>
            </a:p>
          </p:txBody>
        </p:sp>
        <p:sp>
          <p:nvSpPr>
            <p:cNvPr id="41" name="橢圓 10">
              <a:extLst>
                <a:ext uri="{FF2B5EF4-FFF2-40B4-BE49-F238E27FC236}">
                  <a16:creationId xmlns:a16="http://schemas.microsoft.com/office/drawing/2014/main" id="{C91D7DE5-F480-4374-9D10-F7A3CF921C22}"/>
                </a:ext>
              </a:extLst>
            </p:cNvPr>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42" name="橢圓 11">
              <a:extLst>
                <a:ext uri="{FF2B5EF4-FFF2-40B4-BE49-F238E27FC236}">
                  <a16:creationId xmlns:a16="http://schemas.microsoft.com/office/drawing/2014/main" id="{95F00579-907B-4B0E-A8FA-FB30FDA59E6C}"/>
                </a:ext>
              </a:extLst>
            </p:cNvPr>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43" name="橢圓 12">
              <a:extLst>
                <a:ext uri="{FF2B5EF4-FFF2-40B4-BE49-F238E27FC236}">
                  <a16:creationId xmlns:a16="http://schemas.microsoft.com/office/drawing/2014/main" id="{3BA84254-BFFA-4C50-8301-A1CCF2066BF6}"/>
                </a:ext>
              </a:extLst>
            </p:cNvPr>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44" name="文字方塊 13">
              <a:extLst>
                <a:ext uri="{FF2B5EF4-FFF2-40B4-BE49-F238E27FC236}">
                  <a16:creationId xmlns:a16="http://schemas.microsoft.com/office/drawing/2014/main" id="{7CF34206-F933-429D-9742-A6009AAA9C0F}"/>
                </a:ext>
              </a:extLst>
            </p:cNvPr>
            <p:cNvSpPr txBox="1"/>
            <p:nvPr/>
          </p:nvSpPr>
          <p:spPr>
            <a:xfrm rot="5400000">
              <a:off x="2589637" y="3510861"/>
              <a:ext cx="769257" cy="830997"/>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a:t>
              </a:r>
              <a:endParaRPr lang="zh-TW" altLang="en-US" sz="2400" dirty="0">
                <a:latin typeface="Times New Roman" panose="02020603050405020304" charset="0"/>
                <a:cs typeface="Times New Roman" panose="02020603050405020304" charset="0"/>
              </a:endParaRPr>
            </a:p>
          </p:txBody>
        </p:sp>
      </p:grpSp>
      <p:grpSp>
        <p:nvGrpSpPr>
          <p:cNvPr id="14" name="群組 14">
            <a:extLst>
              <a:ext uri="{FF2B5EF4-FFF2-40B4-BE49-F238E27FC236}">
                <a16:creationId xmlns:a16="http://schemas.microsoft.com/office/drawing/2014/main" id="{DDDCF3C4-1C5E-4B6B-AB8C-C477E787AA2F}"/>
              </a:ext>
            </a:extLst>
          </p:cNvPr>
          <p:cNvGrpSpPr/>
          <p:nvPr/>
        </p:nvGrpSpPr>
        <p:grpSpPr>
          <a:xfrm>
            <a:off x="7047022" y="2946010"/>
            <a:ext cx="1260813" cy="2766796"/>
            <a:chOff x="4396222" y="1742131"/>
            <a:chExt cx="1368348" cy="3137533"/>
          </a:xfrm>
        </p:grpSpPr>
        <p:sp>
          <p:nvSpPr>
            <p:cNvPr id="33" name="矩形 32">
              <a:extLst>
                <a:ext uri="{FF2B5EF4-FFF2-40B4-BE49-F238E27FC236}">
                  <a16:creationId xmlns:a16="http://schemas.microsoft.com/office/drawing/2014/main" id="{12F0C3E8-D1E2-4565-8436-ADF741C9D870}"/>
                </a:ext>
              </a:extLst>
            </p:cNvPr>
            <p:cNvSpPr/>
            <p:nvPr/>
          </p:nvSpPr>
          <p:spPr>
            <a:xfrm>
              <a:off x="4715522" y="2203796"/>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34" name="文字方塊 16">
              <a:extLst>
                <a:ext uri="{FF2B5EF4-FFF2-40B4-BE49-F238E27FC236}">
                  <a16:creationId xmlns:a16="http://schemas.microsoft.com/office/drawing/2014/main" id="{74B0F7C5-8B46-4333-BAE5-732A195B5F3C}"/>
                </a:ext>
              </a:extLst>
            </p:cNvPr>
            <p:cNvSpPr txBox="1"/>
            <p:nvPr/>
          </p:nvSpPr>
          <p:spPr>
            <a:xfrm>
              <a:off x="4396222" y="1742131"/>
              <a:ext cx="1368348" cy="400110"/>
            </a:xfrm>
            <a:prstGeom prst="rect">
              <a:avLst/>
            </a:prstGeom>
            <a:noFill/>
          </p:spPr>
          <p:txBody>
            <a:bodyPr wrap="square" rtlCol="0">
              <a:spAutoFit/>
            </a:bodyPr>
            <a:lstStyle/>
            <a:p>
              <a:pPr algn="ctr"/>
              <a:r>
                <a:rPr lang="en-US" altLang="zh-TW" sz="2000" dirty="0">
                  <a:latin typeface="Times New Roman" panose="02020603050405020304" charset="0"/>
                  <a:cs typeface="Times New Roman" panose="02020603050405020304" charset="0"/>
                </a:rPr>
                <a:t>Layer l+1</a:t>
              </a:r>
              <a:endParaRPr lang="zh-TW" altLang="en-US" sz="2000" dirty="0">
                <a:latin typeface="Times New Roman" panose="02020603050405020304" charset="0"/>
                <a:cs typeface="Times New Roman" panose="02020603050405020304" charset="0"/>
              </a:endParaRPr>
            </a:p>
          </p:txBody>
        </p:sp>
        <p:sp>
          <p:nvSpPr>
            <p:cNvPr id="35" name="橢圓 17">
              <a:extLst>
                <a:ext uri="{FF2B5EF4-FFF2-40B4-BE49-F238E27FC236}">
                  <a16:creationId xmlns:a16="http://schemas.microsoft.com/office/drawing/2014/main" id="{24DC818A-9185-444A-8E23-FFBC363BA24E}"/>
                </a:ext>
              </a:extLst>
            </p:cNvPr>
            <p:cNvSpPr/>
            <p:nvPr/>
          </p:nvSpPr>
          <p:spPr>
            <a:xfrm>
              <a:off x="4802608" y="223114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36" name="橢圓 18">
              <a:extLst>
                <a:ext uri="{FF2B5EF4-FFF2-40B4-BE49-F238E27FC236}">
                  <a16:creationId xmlns:a16="http://schemas.microsoft.com/office/drawing/2014/main" id="{8DC16034-3157-44B1-BC4A-93F67B740E1A}"/>
                </a:ext>
              </a:extLst>
            </p:cNvPr>
            <p:cNvSpPr/>
            <p:nvPr/>
          </p:nvSpPr>
          <p:spPr>
            <a:xfrm>
              <a:off x="4804950" y="300971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37" name="橢圓 19">
              <a:extLst>
                <a:ext uri="{FF2B5EF4-FFF2-40B4-BE49-F238E27FC236}">
                  <a16:creationId xmlns:a16="http://schemas.microsoft.com/office/drawing/2014/main" id="{07BB8A40-866E-4A57-A0C1-09CA59E050AB}"/>
                </a:ext>
              </a:extLst>
            </p:cNvPr>
            <p:cNvSpPr/>
            <p:nvPr/>
          </p:nvSpPr>
          <p:spPr>
            <a:xfrm>
              <a:off x="4793317" y="423772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38" name="文字方塊 20">
              <a:extLst>
                <a:ext uri="{FF2B5EF4-FFF2-40B4-BE49-F238E27FC236}">
                  <a16:creationId xmlns:a16="http://schemas.microsoft.com/office/drawing/2014/main" id="{F0C44C91-4088-4830-81D4-2C9944CDED17}"/>
                </a:ext>
              </a:extLst>
            </p:cNvPr>
            <p:cNvSpPr txBox="1"/>
            <p:nvPr/>
          </p:nvSpPr>
          <p:spPr>
            <a:xfrm rot="5400000">
              <a:off x="4790570" y="3506132"/>
              <a:ext cx="769257" cy="830997"/>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a:t>
              </a:r>
              <a:endParaRPr lang="zh-TW" altLang="en-US" sz="2400" dirty="0">
                <a:latin typeface="Times New Roman" panose="02020603050405020304" charset="0"/>
                <a:cs typeface="Times New Roman" panose="02020603050405020304" charset="0"/>
              </a:endParaRPr>
            </a:p>
          </p:txBody>
        </p:sp>
      </p:grpSp>
      <p:cxnSp>
        <p:nvCxnSpPr>
          <p:cNvPr id="15" name="直線單箭頭接點 22">
            <a:extLst>
              <a:ext uri="{FF2B5EF4-FFF2-40B4-BE49-F238E27FC236}">
                <a16:creationId xmlns:a16="http://schemas.microsoft.com/office/drawing/2014/main" id="{E7E55A84-2A39-45EB-9672-6FA182D1B4AB}"/>
              </a:ext>
            </a:extLst>
          </p:cNvPr>
          <p:cNvCxnSpPr>
            <a:stCxn id="41" idx="6"/>
            <a:endCxn id="35" idx="2"/>
          </p:cNvCxnSpPr>
          <p:nvPr/>
        </p:nvCxnSpPr>
        <p:spPr>
          <a:xfrm flipV="1">
            <a:off x="5922541" y="3630399"/>
            <a:ext cx="1498931" cy="41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23">
            <a:extLst>
              <a:ext uri="{FF2B5EF4-FFF2-40B4-BE49-F238E27FC236}">
                <a16:creationId xmlns:a16="http://schemas.microsoft.com/office/drawing/2014/main" id="{73B4CAA2-127D-436C-9681-5A22173C9422}"/>
              </a:ext>
            </a:extLst>
          </p:cNvPr>
          <p:cNvCxnSpPr>
            <a:endCxn id="36" idx="2"/>
          </p:cNvCxnSpPr>
          <p:nvPr/>
        </p:nvCxnSpPr>
        <p:spPr>
          <a:xfrm flipV="1">
            <a:off x="5922541" y="4316972"/>
            <a:ext cx="1501089" cy="157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24">
            <a:extLst>
              <a:ext uri="{FF2B5EF4-FFF2-40B4-BE49-F238E27FC236}">
                <a16:creationId xmlns:a16="http://schemas.microsoft.com/office/drawing/2014/main" id="{8D65C2C0-97D2-4D45-8AD4-15B7FC1B5288}"/>
              </a:ext>
            </a:extLst>
          </p:cNvPr>
          <p:cNvCxnSpPr/>
          <p:nvPr/>
        </p:nvCxnSpPr>
        <p:spPr>
          <a:xfrm>
            <a:off x="5913980" y="5410345"/>
            <a:ext cx="149893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25">
            <a:extLst>
              <a:ext uri="{FF2B5EF4-FFF2-40B4-BE49-F238E27FC236}">
                <a16:creationId xmlns:a16="http://schemas.microsoft.com/office/drawing/2014/main" id="{EB911662-D347-4431-8C37-203C6B94FB4C}"/>
              </a:ext>
            </a:extLst>
          </p:cNvPr>
          <p:cNvCxnSpPr>
            <a:stCxn id="42" idx="6"/>
            <a:endCxn id="35" idx="2"/>
          </p:cNvCxnSpPr>
          <p:nvPr/>
        </p:nvCxnSpPr>
        <p:spPr>
          <a:xfrm flipV="1">
            <a:off x="5924699" y="3630399"/>
            <a:ext cx="1496773" cy="6907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26">
            <a:extLst>
              <a:ext uri="{FF2B5EF4-FFF2-40B4-BE49-F238E27FC236}">
                <a16:creationId xmlns:a16="http://schemas.microsoft.com/office/drawing/2014/main" id="{B423D32B-6609-41D5-96D2-1ABD0B32BD50}"/>
              </a:ext>
            </a:extLst>
          </p:cNvPr>
          <p:cNvCxnSpPr>
            <a:stCxn id="41" idx="6"/>
            <a:endCxn id="36" idx="2"/>
          </p:cNvCxnSpPr>
          <p:nvPr/>
        </p:nvCxnSpPr>
        <p:spPr>
          <a:xfrm>
            <a:off x="5922541" y="3634569"/>
            <a:ext cx="1501089" cy="6824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27">
            <a:extLst>
              <a:ext uri="{FF2B5EF4-FFF2-40B4-BE49-F238E27FC236}">
                <a16:creationId xmlns:a16="http://schemas.microsoft.com/office/drawing/2014/main" id="{E802CFBE-E0B5-41B0-B97F-32F93679216D}"/>
              </a:ext>
            </a:extLst>
          </p:cNvPr>
          <p:cNvCxnSpPr>
            <a:stCxn id="41" idx="6"/>
            <a:endCxn id="37" idx="2"/>
          </p:cNvCxnSpPr>
          <p:nvPr/>
        </p:nvCxnSpPr>
        <p:spPr>
          <a:xfrm>
            <a:off x="5922541" y="3634569"/>
            <a:ext cx="1490370" cy="17653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8">
            <a:extLst>
              <a:ext uri="{FF2B5EF4-FFF2-40B4-BE49-F238E27FC236}">
                <a16:creationId xmlns:a16="http://schemas.microsoft.com/office/drawing/2014/main" id="{FA4A6F4B-D85B-4067-B37F-5461F9252B21}"/>
              </a:ext>
            </a:extLst>
          </p:cNvPr>
          <p:cNvCxnSpPr>
            <a:stCxn id="42" idx="6"/>
            <a:endCxn id="37" idx="2"/>
          </p:cNvCxnSpPr>
          <p:nvPr/>
        </p:nvCxnSpPr>
        <p:spPr>
          <a:xfrm>
            <a:off x="5924699" y="4321142"/>
            <a:ext cx="1488212" cy="107873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9">
            <a:extLst>
              <a:ext uri="{FF2B5EF4-FFF2-40B4-BE49-F238E27FC236}">
                <a16:creationId xmlns:a16="http://schemas.microsoft.com/office/drawing/2014/main" id="{0FA59719-10FD-425E-A029-F1405FC860A8}"/>
              </a:ext>
            </a:extLst>
          </p:cNvPr>
          <p:cNvCxnSpPr>
            <a:stCxn id="43" idx="6"/>
            <a:endCxn id="35" idx="2"/>
          </p:cNvCxnSpPr>
          <p:nvPr/>
        </p:nvCxnSpPr>
        <p:spPr>
          <a:xfrm flipV="1">
            <a:off x="5913980" y="3630399"/>
            <a:ext cx="1507492" cy="17736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0">
            <a:extLst>
              <a:ext uri="{FF2B5EF4-FFF2-40B4-BE49-F238E27FC236}">
                <a16:creationId xmlns:a16="http://schemas.microsoft.com/office/drawing/2014/main" id="{17CB7C99-0686-4558-BC2E-87162FC59A7D}"/>
              </a:ext>
            </a:extLst>
          </p:cNvPr>
          <p:cNvCxnSpPr>
            <a:stCxn id="43" idx="6"/>
            <a:endCxn id="36" idx="2"/>
          </p:cNvCxnSpPr>
          <p:nvPr/>
        </p:nvCxnSpPr>
        <p:spPr>
          <a:xfrm flipV="1">
            <a:off x="5913980" y="4316972"/>
            <a:ext cx="1509650" cy="10870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46">
            <a:extLst>
              <a:ext uri="{FF2B5EF4-FFF2-40B4-BE49-F238E27FC236}">
                <a16:creationId xmlns:a16="http://schemas.microsoft.com/office/drawing/2014/main" id="{37FE1FB9-7CDE-46C4-9EE0-4A7836A8E640}"/>
              </a:ext>
            </a:extLst>
          </p:cNvPr>
          <p:cNvSpPr txBox="1"/>
          <p:nvPr/>
        </p:nvSpPr>
        <p:spPr>
          <a:xfrm>
            <a:off x="709728" y="5556780"/>
            <a:ext cx="4451452" cy="624241"/>
          </a:xfrm>
          <a:prstGeom prst="rect">
            <a:avLst/>
          </a:prstGeom>
          <a:noFill/>
        </p:spPr>
        <p:txBody>
          <a:bodyPr wrap="square" rtlCol="0">
            <a:spAutoFit/>
          </a:bodyPr>
          <a:lstStyle/>
          <a:p>
            <a:r>
              <a:rPr lang="en-US" altLang="zh-TW" sz="2000" dirty="0">
                <a:latin typeface="Times New Roman" panose="02020603050405020304" charset="0"/>
                <a:cs typeface="Times New Roman" panose="02020603050405020304" charset="0"/>
              </a:rPr>
              <a:t>E.g. speech recognition: 8 layers and 1000 neurons each layer</a:t>
            </a:r>
            <a:endParaRPr lang="zh-TW" altLang="en-US" sz="2000" dirty="0">
              <a:latin typeface="Times New Roman" panose="02020603050405020304" charset="0"/>
              <a:cs typeface="Times New Roman" panose="02020603050405020304" charset="0"/>
            </a:endParaRPr>
          </a:p>
        </p:txBody>
      </p:sp>
      <p:sp>
        <p:nvSpPr>
          <p:cNvPr id="26" name="文字方塊 48">
            <a:extLst>
              <a:ext uri="{FF2B5EF4-FFF2-40B4-BE49-F238E27FC236}">
                <a16:creationId xmlns:a16="http://schemas.microsoft.com/office/drawing/2014/main" id="{08457C04-AA6E-4CAF-8AFC-4E9DC05A5C07}"/>
              </a:ext>
            </a:extLst>
          </p:cNvPr>
          <p:cNvSpPr txBox="1"/>
          <p:nvPr/>
        </p:nvSpPr>
        <p:spPr>
          <a:xfrm>
            <a:off x="4957662" y="5706191"/>
            <a:ext cx="1420451" cy="624241"/>
          </a:xfrm>
          <a:prstGeom prst="rect">
            <a:avLst/>
          </a:prstGeom>
          <a:noFill/>
        </p:spPr>
        <p:txBody>
          <a:bodyPr wrap="square" rtlCol="0">
            <a:spAutoFit/>
          </a:bodyPr>
          <a:lstStyle/>
          <a:p>
            <a:pPr algn="ctr"/>
            <a:r>
              <a:rPr lang="en-US" altLang="zh-TW" sz="2000" dirty="0">
                <a:latin typeface="Times New Roman" panose="02020603050405020304" charset="0"/>
                <a:cs typeface="Times New Roman" panose="02020603050405020304" charset="0"/>
              </a:rPr>
              <a:t>1000</a:t>
            </a:r>
          </a:p>
          <a:p>
            <a:pPr algn="ctr"/>
            <a:r>
              <a:rPr lang="en-US" altLang="zh-TW" sz="2000" dirty="0">
                <a:latin typeface="Times New Roman" panose="02020603050405020304" charset="0"/>
                <a:cs typeface="Times New Roman" panose="02020603050405020304" charset="0"/>
              </a:rPr>
              <a:t>neurons</a:t>
            </a:r>
            <a:endParaRPr lang="zh-TW" altLang="en-US" sz="2000" dirty="0">
              <a:latin typeface="Times New Roman" panose="02020603050405020304" charset="0"/>
              <a:cs typeface="Times New Roman" panose="02020603050405020304" charset="0"/>
            </a:endParaRPr>
          </a:p>
        </p:txBody>
      </p:sp>
      <p:sp>
        <p:nvSpPr>
          <p:cNvPr id="27" name="文字方塊 49">
            <a:extLst>
              <a:ext uri="{FF2B5EF4-FFF2-40B4-BE49-F238E27FC236}">
                <a16:creationId xmlns:a16="http://schemas.microsoft.com/office/drawing/2014/main" id="{2C347BA6-7949-47CB-B7A6-CC0E03D09553}"/>
              </a:ext>
            </a:extLst>
          </p:cNvPr>
          <p:cNvSpPr txBox="1"/>
          <p:nvPr/>
        </p:nvSpPr>
        <p:spPr>
          <a:xfrm>
            <a:off x="7002619" y="5743065"/>
            <a:ext cx="1420451" cy="624241"/>
          </a:xfrm>
          <a:prstGeom prst="rect">
            <a:avLst/>
          </a:prstGeom>
          <a:noFill/>
        </p:spPr>
        <p:txBody>
          <a:bodyPr wrap="square" rtlCol="0">
            <a:spAutoFit/>
          </a:bodyPr>
          <a:lstStyle/>
          <a:p>
            <a:pPr algn="ctr"/>
            <a:r>
              <a:rPr lang="en-US" altLang="zh-TW" sz="2000" dirty="0">
                <a:latin typeface="Times New Roman" panose="02020603050405020304" charset="0"/>
                <a:cs typeface="Times New Roman" panose="02020603050405020304" charset="0"/>
              </a:rPr>
              <a:t>1000</a:t>
            </a:r>
          </a:p>
          <a:p>
            <a:pPr algn="ctr"/>
            <a:r>
              <a:rPr lang="en-US" altLang="zh-TW" sz="2000" dirty="0">
                <a:latin typeface="Times New Roman" panose="02020603050405020304" charset="0"/>
                <a:cs typeface="Times New Roman" panose="02020603050405020304" charset="0"/>
              </a:rPr>
              <a:t>neurons</a:t>
            </a:r>
            <a:endParaRPr lang="zh-TW" altLang="en-US" sz="2000" dirty="0">
              <a:latin typeface="Times New Roman" panose="02020603050405020304" charset="0"/>
              <a:cs typeface="Times New Roman" panose="02020603050405020304" charset="0"/>
            </a:endParaRPr>
          </a:p>
        </p:txBody>
      </p:sp>
      <p:sp>
        <p:nvSpPr>
          <p:cNvPr id="28" name="文字方塊 50">
            <a:extLst>
              <a:ext uri="{FF2B5EF4-FFF2-40B4-BE49-F238E27FC236}">
                <a16:creationId xmlns:a16="http://schemas.microsoft.com/office/drawing/2014/main" id="{7155C103-D381-4BA7-9C17-8EE533A3CC59}"/>
              </a:ext>
            </a:extLst>
          </p:cNvPr>
          <p:cNvSpPr txBox="1"/>
          <p:nvPr/>
        </p:nvSpPr>
        <p:spPr>
          <a:xfrm>
            <a:off x="6049331" y="4088798"/>
            <a:ext cx="1219666" cy="73280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10</a:t>
            </a:r>
            <a:r>
              <a:rPr lang="en-US" altLang="zh-TW" sz="2400" baseline="30000" dirty="0">
                <a:latin typeface="Times New Roman" panose="02020603050405020304" charset="0"/>
                <a:cs typeface="Times New Roman" panose="02020603050405020304" charset="0"/>
              </a:rPr>
              <a:t>6</a:t>
            </a:r>
          </a:p>
          <a:p>
            <a:pPr algn="ctr"/>
            <a:r>
              <a:rPr lang="en-US" altLang="zh-TW" sz="2400" dirty="0">
                <a:latin typeface="Times New Roman" panose="02020603050405020304" charset="0"/>
                <a:cs typeface="Times New Roman" panose="02020603050405020304" charset="0"/>
              </a:rPr>
              <a:t>weights</a:t>
            </a:r>
            <a:endParaRPr lang="zh-TW" altLang="en-US" sz="2400" dirty="0">
              <a:latin typeface="Times New Roman" panose="02020603050405020304" charset="0"/>
              <a:cs typeface="Times New Roman" panose="02020603050405020304" charset="0"/>
            </a:endParaRPr>
          </a:p>
        </p:txBody>
      </p:sp>
      <p:grpSp>
        <p:nvGrpSpPr>
          <p:cNvPr id="29" name="群組 2">
            <a:extLst>
              <a:ext uri="{FF2B5EF4-FFF2-40B4-BE49-F238E27FC236}">
                <a16:creationId xmlns:a16="http://schemas.microsoft.com/office/drawing/2014/main" id="{3AED47D3-2F6D-4A0E-A240-8EFEF35900E0}"/>
              </a:ext>
            </a:extLst>
          </p:cNvPr>
          <p:cNvGrpSpPr/>
          <p:nvPr/>
        </p:nvGrpSpPr>
        <p:grpSpPr>
          <a:xfrm>
            <a:off x="814423" y="4678182"/>
            <a:ext cx="3840733" cy="574200"/>
            <a:chOff x="588857" y="5086698"/>
            <a:chExt cx="4168310" cy="651140"/>
          </a:xfrm>
        </p:grpSpPr>
        <p:sp>
          <p:nvSpPr>
            <p:cNvPr id="31" name="文字方塊 47">
              <a:extLst>
                <a:ext uri="{FF2B5EF4-FFF2-40B4-BE49-F238E27FC236}">
                  <a16:creationId xmlns:a16="http://schemas.microsoft.com/office/drawing/2014/main" id="{5DEDD359-961A-45CD-A5E7-2FA2356B62F2}"/>
                </a:ext>
              </a:extLst>
            </p:cNvPr>
            <p:cNvSpPr txBox="1"/>
            <p:nvPr/>
          </p:nvSpPr>
          <p:spPr>
            <a:xfrm>
              <a:off x="765869" y="5276173"/>
              <a:ext cx="3783693" cy="461665"/>
            </a:xfrm>
            <a:prstGeom prst="rect">
              <a:avLst/>
            </a:prstGeom>
            <a:noFill/>
          </p:spPr>
          <p:txBody>
            <a:bodyPr wrap="square" rtlCol="0">
              <a:spAutoFit/>
            </a:bodyPr>
            <a:lstStyle/>
            <a:p>
              <a:pPr algn="ctr"/>
              <a:r>
                <a:rPr lang="en-US" altLang="zh-TW" sz="2400" dirty="0">
                  <a:latin typeface="Times New Roman" panose="02020603050405020304" charset="0"/>
                  <a:cs typeface="Times New Roman" panose="02020603050405020304" charset="0"/>
                </a:rPr>
                <a:t>Millions of parameters</a:t>
              </a:r>
              <a:endParaRPr lang="zh-TW" altLang="en-US" sz="2400" dirty="0">
                <a:latin typeface="Times New Roman" panose="02020603050405020304" charset="0"/>
                <a:cs typeface="Times New Roman" panose="02020603050405020304" charset="0"/>
              </a:endParaRPr>
            </a:p>
          </p:txBody>
        </p:sp>
        <p:sp>
          <p:nvSpPr>
            <p:cNvPr id="32" name="左大括弧 21">
              <a:extLst>
                <a:ext uri="{FF2B5EF4-FFF2-40B4-BE49-F238E27FC236}">
                  <a16:creationId xmlns:a16="http://schemas.microsoft.com/office/drawing/2014/main" id="{042244AF-AC50-4472-8BEB-C6BBA167F13E}"/>
                </a:ext>
              </a:extLst>
            </p:cNvPr>
            <p:cNvSpPr/>
            <p:nvPr/>
          </p:nvSpPr>
          <p:spPr>
            <a:xfrm rot="16200000">
              <a:off x="2612787" y="3062768"/>
              <a:ext cx="120449" cy="4168310"/>
            </a:xfrm>
            <a:prstGeom prst="leftBrace">
              <a:avLst>
                <a:gd name="adj1" fmla="val 51771"/>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600">
                <a:latin typeface="Times New Roman" panose="02020603050405020304" charset="0"/>
                <a:cs typeface="Times New Roman" panose="02020603050405020304" charset="0"/>
              </a:endParaRPr>
            </a:p>
          </p:txBody>
        </p:sp>
      </p:grpSp>
      <p:pic>
        <p:nvPicPr>
          <p:cNvPr id="30" name="Picture 2" descr="http://www.mobanwang.com/icon/UploadFiles_8971/200909/20090903224008317.png">
            <a:extLst>
              <a:ext uri="{FF2B5EF4-FFF2-40B4-BE49-F238E27FC236}">
                <a16:creationId xmlns:a16="http://schemas.microsoft.com/office/drawing/2014/main" id="{AA9F0869-2920-4EFA-8B73-62F9D0549D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05929" y="3857154"/>
            <a:ext cx="1715748" cy="164205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0A21E01C-F4E2-4154-998D-51570F73E7D3}"/>
                  </a:ext>
                </a:extLst>
              </p:cNvPr>
              <p:cNvSpPr txBox="1"/>
              <p:nvPr/>
            </p:nvSpPr>
            <p:spPr>
              <a:xfrm>
                <a:off x="8702059" y="2474880"/>
                <a:ext cx="4056992" cy="9169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i="1" smtClean="0">
                              <a:latin typeface="Cambria Math" panose="02040503050406030204" pitchFamily="18" charset="0"/>
                            </a:rPr>
                          </m:ctrlPr>
                        </m:accPr>
                        <m:e>
                          <m:r>
                            <a:rPr kumimoji="1" lang="en-US" altLang="zh-CN" i="1">
                              <a:latin typeface="Cambria Math" panose="02040503050406030204" pitchFamily="18" charset="0"/>
                            </a:rPr>
                            <m:t>𝑦</m:t>
                          </m:r>
                        </m:e>
                      </m:acc>
                      <m:r>
                        <a:rPr kumimoji="1" lang="en-US" altLang="zh-CN" sz="1800" b="0" i="1" smtClean="0">
                          <a:latin typeface="Cambria Math" panose="02040503050406030204" pitchFamily="18" charset="0"/>
                          <a:ea typeface="Cambria Math" panose="02040503050406030204" pitchFamily="18" charset="0"/>
                        </a:rPr>
                        <m:t>=</m:t>
                      </m:r>
                      <m:r>
                        <a:rPr kumimoji="1" lang="en-US" altLang="zh-CN" sz="1800" b="0" i="1" smtClean="0">
                          <a:latin typeface="Cambria Math" panose="02040503050406030204" pitchFamily="18" charset="0"/>
                          <a:ea typeface="Cambria Math" panose="02040503050406030204" pitchFamily="18" charset="0"/>
                        </a:rPr>
                        <m:t>𝑥𝑤</m:t>
                      </m:r>
                    </m:oMath>
                  </m:oMathPara>
                </a14:m>
                <a:endParaRPr lang="en-US" altLang="zh-CN" dirty="0"/>
              </a:p>
              <a:p>
                <a14:m>
                  <m:oMath xmlns:m="http://schemas.openxmlformats.org/officeDocument/2006/math">
                    <m:r>
                      <a:rPr kumimoji="1" lang="en-US" altLang="zh-CN" sz="1800" b="0" i="1" smtClean="0">
                        <a:latin typeface="Cambria Math" panose="02040503050406030204" pitchFamily="18" charset="0"/>
                        <a:ea typeface="Cambria Math" panose="02040503050406030204" pitchFamily="18" charset="0"/>
                      </a:rPr>
                      <m:t>                              </m:t>
                    </m:r>
                    <m:r>
                      <a:rPr kumimoji="1" lang="en-US" altLang="zh-CN" sz="1800" i="1" smtClean="0">
                        <a:latin typeface="Cambria Math" panose="02040503050406030204" pitchFamily="18" charset="0"/>
                        <a:ea typeface="Cambria Math" panose="02040503050406030204" pitchFamily="18" charset="0"/>
                      </a:rPr>
                      <m:t>ℒ</m:t>
                    </m:r>
                  </m:oMath>
                </a14:m>
                <a:r>
                  <a:rPr lang="zh-CN" altLang="en-US" dirty="0"/>
                  <a:t> </a:t>
                </a:r>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𝑦</m:t>
                    </m:r>
                    <m:r>
                      <a:rPr kumimoji="1" lang="en-US" altLang="zh-CN" i="1">
                        <a:latin typeface="Cambria Math" panose="02040503050406030204" pitchFamily="18" charset="0"/>
                        <a:ea typeface="Cambria Math" panose="02040503050406030204" pitchFamily="18" charset="0"/>
                      </a:rPr>
                      <m:t> </m:t>
                    </m:r>
                  </m:oMath>
                </a14:m>
                <a:r>
                  <a:rPr lang="en-US" altLang="zh-CN" dirty="0"/>
                  <a:t>-</a:t>
                </a:r>
                <a:r>
                  <a:rPr kumimoji="1" lang="en-US" altLang="zh-CN" dirty="0"/>
                  <a:t> </a:t>
                </a:r>
                <a14:m>
                  <m:oMath xmlns:m="http://schemas.openxmlformats.org/officeDocument/2006/math">
                    <m:acc>
                      <m:accPr>
                        <m:chr m:val="̂"/>
                        <m:ctrlPr>
                          <a:rPr kumimoji="1" lang="en-US" altLang="zh-CN" i="1">
                            <a:latin typeface="Cambria Math" panose="02040503050406030204" pitchFamily="18" charset="0"/>
                          </a:rPr>
                        </m:ctrlPr>
                      </m:accPr>
                      <m:e>
                        <m:r>
                          <a:rPr kumimoji="1" lang="en-US" altLang="zh-CN" i="1">
                            <a:latin typeface="Cambria Math" panose="02040503050406030204" pitchFamily="18" charset="0"/>
                          </a:rPr>
                          <m:t>𝑦</m:t>
                        </m:r>
                      </m:e>
                    </m:acc>
                  </m:oMath>
                </a14:m>
                <a:r>
                  <a:rPr lang="en-US" altLang="zh-CN" dirty="0"/>
                  <a:t>)</a:t>
                </a:r>
                <a:r>
                  <a:rPr lang="en-US" altLang="zh-CN" baseline="30000" dirty="0"/>
                  <a:t>2</a:t>
                </a:r>
              </a:p>
              <a:p>
                <a14:m>
                  <m:oMath xmlns:m="http://schemas.openxmlformats.org/officeDocument/2006/math">
                    <m:r>
                      <a:rPr kumimoji="1" lang="en-US" altLang="zh-CN" b="0" i="1" smtClean="0">
                        <a:latin typeface="Cambria Math" panose="02040503050406030204" pitchFamily="18" charset="0"/>
                      </a:rPr>
                      <m:t>                              </m:t>
                    </m:r>
                    <m:r>
                      <a:rPr kumimoji="1" lang="en-US" altLang="zh-CN" b="0" i="1" smtClean="0">
                        <a:latin typeface="Cambria Math" panose="02040503050406030204" pitchFamily="18" charset="0"/>
                      </a:rPr>
                      <m:t>𝑥</m:t>
                    </m:r>
                    <m:r>
                      <a:rPr kumimoji="1" lang="en-US" altLang="zh-CN" sz="1800" b="0" i="1" smtClean="0">
                        <a:latin typeface="Cambria Math" panose="02040503050406030204" pitchFamily="18" charset="0"/>
                        <a:ea typeface="Cambria Math" panose="02040503050406030204" pitchFamily="18" charset="0"/>
                      </a:rPr>
                      <m:t>=1, </m:t>
                    </m:r>
                    <m:r>
                      <a:rPr kumimoji="1" lang="en-US" altLang="zh-CN" sz="1800" b="0" i="1" smtClean="0">
                        <a:latin typeface="Cambria Math" panose="02040503050406030204" pitchFamily="18" charset="0"/>
                        <a:ea typeface="Cambria Math" panose="02040503050406030204" pitchFamily="18" charset="0"/>
                      </a:rPr>
                      <m:t>𝑦</m:t>
                    </m:r>
                  </m:oMath>
                </a14:m>
                <a:r>
                  <a:rPr lang="zh-CN" altLang="en-US" baseline="30000"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=2.5</m:t>
                    </m:r>
                  </m:oMath>
                </a14:m>
                <a:endParaRPr lang="zh-CN" altLang="en-US" baseline="30000" dirty="0"/>
              </a:p>
            </p:txBody>
          </p:sp>
        </mc:Choice>
        <mc:Fallback xmlns="">
          <p:sp>
            <p:nvSpPr>
              <p:cNvPr id="48" name="文本框 47">
                <a:extLst>
                  <a:ext uri="{FF2B5EF4-FFF2-40B4-BE49-F238E27FC236}">
                    <a16:creationId xmlns:a16="http://schemas.microsoft.com/office/drawing/2014/main" id="{0A21E01C-F4E2-4154-998D-51570F73E7D3}"/>
                  </a:ext>
                </a:extLst>
              </p:cNvPr>
              <p:cNvSpPr txBox="1">
                <a:spLocks noRot="1" noChangeAspect="1" noMove="1" noResize="1" noEditPoints="1" noAdjustHandles="1" noChangeArrowheads="1" noChangeShapeType="1" noTextEdit="1"/>
              </p:cNvSpPr>
              <p:nvPr/>
            </p:nvSpPr>
            <p:spPr>
              <a:xfrm>
                <a:off x="8702059" y="2474880"/>
                <a:ext cx="4056992" cy="916982"/>
              </a:xfrm>
              <a:prstGeom prst="rect">
                <a:avLst/>
              </a:prstGeom>
              <a:blipFill>
                <a:blip r:embed="rId6"/>
                <a:stretch>
                  <a:fillRect t="-2667" b="-3333"/>
                </a:stretch>
              </a:blipFill>
            </p:spPr>
            <p:txBody>
              <a:bodyPr/>
              <a:lstStyle/>
              <a:p>
                <a:r>
                  <a:rPr lang="zh-CN" altLang="en-US">
                    <a:noFill/>
                  </a:rPr>
                  <a:t> </a:t>
                </a:r>
              </a:p>
            </p:txBody>
          </p:sp>
        </mc:Fallback>
      </mc:AlternateContent>
      <p:sp>
        <p:nvSpPr>
          <p:cNvPr id="49" name="矩形 48">
            <a:extLst>
              <a:ext uri="{FF2B5EF4-FFF2-40B4-BE49-F238E27FC236}">
                <a16:creationId xmlns:a16="http://schemas.microsoft.com/office/drawing/2014/main" id="{325D7CC2-387E-4E0A-A8AE-99473D1BBB0C}"/>
              </a:ext>
            </a:extLst>
          </p:cNvPr>
          <p:cNvSpPr/>
          <p:nvPr/>
        </p:nvSpPr>
        <p:spPr>
          <a:xfrm>
            <a:off x="8960069" y="2406869"/>
            <a:ext cx="2785241" cy="10821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E62B6A0E-7D11-4250-93E2-CEFFD2A86A20}"/>
              </a:ext>
            </a:extLst>
          </p:cNvPr>
          <p:cNvSpPr txBox="1"/>
          <p:nvPr/>
        </p:nvSpPr>
        <p:spPr>
          <a:xfrm>
            <a:off x="9023131" y="2497136"/>
            <a:ext cx="1167962" cy="369332"/>
          </a:xfrm>
          <a:prstGeom prst="rect">
            <a:avLst/>
          </a:prstGeom>
          <a:noFill/>
        </p:spPr>
        <p:txBody>
          <a:bodyPr wrap="square">
            <a:spAutoFit/>
          </a:bodyPr>
          <a:lstStyle/>
          <a:p>
            <a:r>
              <a:rPr lang="zh-CN" altLang="en-US" dirty="0"/>
              <a:t>一个栗子</a:t>
            </a:r>
          </a:p>
        </p:txBody>
      </p:sp>
      <p:pic>
        <p:nvPicPr>
          <p:cNvPr id="51" name="图片 50">
            <a:extLst>
              <a:ext uri="{FF2B5EF4-FFF2-40B4-BE49-F238E27FC236}">
                <a16:creationId xmlns:a16="http://schemas.microsoft.com/office/drawing/2014/main" id="{AAE65B68-1BAA-4A42-A0D7-0534FC951D13}"/>
              </a:ext>
            </a:extLst>
          </p:cNvPr>
          <p:cNvPicPr>
            <a:picLocks noChangeAspect="1"/>
          </p:cNvPicPr>
          <p:nvPr/>
        </p:nvPicPr>
        <p:blipFill>
          <a:blip r:embed="rId7"/>
          <a:stretch>
            <a:fillRect/>
          </a:stretch>
        </p:blipFill>
        <p:spPr>
          <a:xfrm>
            <a:off x="9304603" y="2865335"/>
            <a:ext cx="605017" cy="575111"/>
          </a:xfrm>
          <a:prstGeom prst="rect">
            <a:avLst/>
          </a:prstGeom>
        </p:spPr>
      </p:pic>
    </p:spTree>
    <p:extLst>
      <p:ext uri="{BB962C8B-B14F-4D97-AF65-F5344CB8AC3E}">
        <p14:creationId xmlns:p14="http://schemas.microsoft.com/office/powerpoint/2010/main" val="9739180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53</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a:t>
            </a:r>
            <a:r>
              <a:rPr lang="zh-CN" altLang="en-US" sz="2400" b="1" dirty="0">
                <a:latin typeface="Times New Roman" panose="02020603050405020304" pitchFamily="18" charset="0"/>
                <a:cs typeface="Times New Roman" panose="02020603050405020304" pitchFamily="18" charset="0"/>
              </a:rPr>
              <a:t>化</a:t>
            </a:r>
            <a:r>
              <a:rPr lang="zh-CN" altLang="en-US" sz="2400" dirty="0">
                <a:latin typeface="Times New Roman" panose="02020603050405020304" pitchFamily="18" charset="0"/>
                <a:cs typeface="Times New Roman" panose="02020603050405020304" pitchFamily="18" charset="0"/>
              </a:rPr>
              <a:t>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grpSp>
        <p:nvGrpSpPr>
          <p:cNvPr id="3" name="组合 2">
            <a:extLst>
              <a:ext uri="{FF2B5EF4-FFF2-40B4-BE49-F238E27FC236}">
                <a16:creationId xmlns:a16="http://schemas.microsoft.com/office/drawing/2014/main" id="{9B1103A4-4E7F-4873-8F94-76762520067E}"/>
              </a:ext>
            </a:extLst>
          </p:cNvPr>
          <p:cNvGrpSpPr/>
          <p:nvPr/>
        </p:nvGrpSpPr>
        <p:grpSpPr>
          <a:xfrm>
            <a:off x="1891862" y="2436632"/>
            <a:ext cx="9331910" cy="4284843"/>
            <a:chOff x="1580667" y="2443123"/>
            <a:chExt cx="10005712" cy="4747830"/>
          </a:xfrm>
        </p:grpSpPr>
        <mc:AlternateContent xmlns:mc="http://schemas.openxmlformats.org/markup-compatibility/2006" xmlns:a14="http://schemas.microsoft.com/office/drawing/2010/main">
          <mc:Choice Requires="a14">
            <p:sp>
              <p:nvSpPr>
                <p:cNvPr id="6" name="文字方塊 61">
                  <a:extLst>
                    <a:ext uri="{FF2B5EF4-FFF2-40B4-BE49-F238E27FC236}">
                      <a16:creationId xmlns:a16="http://schemas.microsoft.com/office/drawing/2014/main" id="{9A160A1A-5FE8-4FAD-AA9E-E454CDBBA9E4}"/>
                    </a:ext>
                  </a:extLst>
                </p:cNvPr>
                <p:cNvSpPr txBox="1"/>
                <p:nvPr/>
              </p:nvSpPr>
              <p:spPr>
                <a:xfrm>
                  <a:off x="1580667" y="3736238"/>
                  <a:ext cx="1400487" cy="646331"/>
                </a:xfrm>
                <a:prstGeom prst="rect">
                  <a:avLst/>
                </a:prstGeom>
                <a:noFill/>
              </p:spPr>
              <p:txBody>
                <a:bodyPr wrap="square" rtlCol="0">
                  <a:spAutoFit/>
                </a:bodyPr>
                <a:lstStyle/>
                <a:p>
                  <a:pPr algn="ctr"/>
                  <a:r>
                    <a:rPr lang="en-US" altLang="zh-TW" dirty="0">
                      <a:latin typeface="Times New Roman" panose="02020603050405020304" charset="0"/>
                      <a:cs typeface="Times New Roman" panose="02020603050405020304" charset="0"/>
                    </a:rPr>
                    <a:t>Total </a:t>
                  </a:r>
                </a:p>
                <a:p>
                  <a:pPr algn="ctr"/>
                  <a:r>
                    <a:rPr lang="en-US" altLang="zh-TW" dirty="0">
                      <a:latin typeface="Times New Roman" panose="02020603050405020304" charset="0"/>
                      <a:cs typeface="Times New Roman" panose="02020603050405020304" charset="0"/>
                    </a:rPr>
                    <a:t>Loss </a:t>
                  </a:r>
                  <a14:m>
                    <m:oMath xmlns:m="http://schemas.openxmlformats.org/officeDocument/2006/math">
                      <m:r>
                        <a:rPr lang="en-US" altLang="zh-TW" b="0" i="1" smtClean="0">
                          <a:latin typeface="Cambria Math" panose="02040503050406030204" pitchFamily="18" charset="0"/>
                        </a:rPr>
                        <m:t>𝐿</m:t>
                      </m:r>
                    </m:oMath>
                  </a14:m>
                  <a:endParaRPr lang="zh-TW" altLang="en-US" dirty="0">
                    <a:latin typeface="Times New Roman" panose="02020603050405020304" charset="0"/>
                    <a:cs typeface="Times New Roman" panose="02020603050405020304" charset="0"/>
                  </a:endParaRPr>
                </a:p>
              </p:txBody>
            </p:sp>
          </mc:Choice>
          <mc:Fallback xmlns="">
            <p:sp>
              <p:nvSpPr>
                <p:cNvPr id="6" name="文字方塊 61">
                  <a:extLst>
                    <a:ext uri="{FF2B5EF4-FFF2-40B4-BE49-F238E27FC236}">
                      <a16:creationId xmlns:a16="http://schemas.microsoft.com/office/drawing/2014/main" id="{9A160A1A-5FE8-4FAD-AA9E-E454CDBBA9E4}"/>
                    </a:ext>
                  </a:extLst>
                </p:cNvPr>
                <p:cNvSpPr txBox="1">
                  <a:spLocks noRot="1" noChangeAspect="1" noMove="1" noResize="1" noEditPoints="1" noAdjustHandles="1" noChangeArrowheads="1" noChangeShapeType="1" noTextEdit="1"/>
                </p:cNvSpPr>
                <p:nvPr/>
              </p:nvSpPr>
              <p:spPr>
                <a:xfrm>
                  <a:off x="1580667" y="3736238"/>
                  <a:ext cx="1400487" cy="646331"/>
                </a:xfrm>
                <a:prstGeom prst="rect">
                  <a:avLst/>
                </a:prstGeom>
                <a:blipFill>
                  <a:blip r:embed="rId3"/>
                  <a:stretch>
                    <a:fillRect t="-5208" b="-26042"/>
                  </a:stretch>
                </a:blipFill>
              </p:spPr>
              <p:txBody>
                <a:bodyPr/>
                <a:lstStyle/>
                <a:p>
                  <a:r>
                    <a:rPr lang="zh-CN" altLang="en-US">
                      <a:noFill/>
                    </a:rPr>
                    <a:t> </a:t>
                  </a:r>
                </a:p>
              </p:txBody>
            </p:sp>
          </mc:Fallback>
        </mc:AlternateContent>
        <p:sp>
          <p:nvSpPr>
            <p:cNvPr id="8" name="文字方塊 63">
              <a:extLst>
                <a:ext uri="{FF2B5EF4-FFF2-40B4-BE49-F238E27FC236}">
                  <a16:creationId xmlns:a16="http://schemas.microsoft.com/office/drawing/2014/main" id="{CAEBAD4D-DA37-44A7-B31D-4FACA309DD44}"/>
                </a:ext>
              </a:extLst>
            </p:cNvPr>
            <p:cNvSpPr txBox="1"/>
            <p:nvPr/>
          </p:nvSpPr>
          <p:spPr>
            <a:xfrm>
              <a:off x="4862578" y="3829840"/>
              <a:ext cx="6723801" cy="409239"/>
            </a:xfrm>
            <a:prstGeom prst="rect">
              <a:avLst/>
            </a:prstGeom>
            <a:noFill/>
          </p:spPr>
          <p:txBody>
            <a:bodyPr wrap="square" rtlCol="0">
              <a:spAutoFit/>
            </a:bodyPr>
            <a:lstStyle/>
            <a:p>
              <a:r>
                <a:rPr lang="en-US" altLang="zh-TW" dirty="0">
                  <a:latin typeface="Times New Roman" panose="02020603050405020304" charset="0"/>
                  <a:cs typeface="Times New Roman" panose="02020603050405020304" charset="0"/>
                </a:rPr>
                <a:t>Random</a:t>
              </a:r>
              <a:endParaRPr lang="zh-TW" altLang="en-US" dirty="0">
                <a:latin typeface="Times New Roman" panose="02020603050405020304" charset="0"/>
                <a:cs typeface="Times New Roman" panose="02020603050405020304" charset="0"/>
              </a:endParaRPr>
            </a:p>
          </p:txBody>
        </p:sp>
        <p:sp>
          <p:nvSpPr>
            <p:cNvPr id="9" name="文字方塊 64">
              <a:extLst>
                <a:ext uri="{FF2B5EF4-FFF2-40B4-BE49-F238E27FC236}">
                  <a16:creationId xmlns:a16="http://schemas.microsoft.com/office/drawing/2014/main" id="{48B54975-10CD-410B-B87E-F6DBAD00B0F8}"/>
                </a:ext>
              </a:extLst>
            </p:cNvPr>
            <p:cNvSpPr txBox="1"/>
            <p:nvPr/>
          </p:nvSpPr>
          <p:spPr>
            <a:xfrm>
              <a:off x="5736201" y="4295930"/>
              <a:ext cx="2857500"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US" altLang="zh-TW" dirty="0">
                  <a:latin typeface="Times New Roman" panose="02020603050405020304" charset="0"/>
                  <a:cs typeface="Times New Roman" panose="02020603050405020304" charset="0"/>
                </a:rPr>
                <a:t>Usually good enough</a:t>
              </a:r>
              <a:endParaRPr lang="zh-TW" altLang="en-US" dirty="0">
                <a:latin typeface="Times New Roman" panose="02020603050405020304" charset="0"/>
                <a:cs typeface="Times New Roman" panose="02020603050405020304" charset="0"/>
              </a:endParaRPr>
            </a:p>
          </p:txBody>
        </p:sp>
        <p:sp>
          <p:nvSpPr>
            <p:cNvPr id="10" name="向右箭號 66">
              <a:extLst>
                <a:ext uri="{FF2B5EF4-FFF2-40B4-BE49-F238E27FC236}">
                  <a16:creationId xmlns:a16="http://schemas.microsoft.com/office/drawing/2014/main" id="{38E96BFE-E6F8-4D4D-BB04-BB8B5FFA73CE}"/>
                </a:ext>
              </a:extLst>
            </p:cNvPr>
            <p:cNvSpPr/>
            <p:nvPr/>
          </p:nvSpPr>
          <p:spPr>
            <a:xfrm rot="5400000" flipH="1">
              <a:off x="5222629" y="4237315"/>
              <a:ext cx="362012"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cxnSp>
          <p:nvCxnSpPr>
            <p:cNvPr id="11" name="直線單箭頭接點 27">
              <a:extLst>
                <a:ext uri="{FF2B5EF4-FFF2-40B4-BE49-F238E27FC236}">
                  <a16:creationId xmlns:a16="http://schemas.microsoft.com/office/drawing/2014/main" id="{77B3CFE7-AF49-49B3-9EAE-CE4675D1A588}"/>
                </a:ext>
              </a:extLst>
            </p:cNvPr>
            <p:cNvCxnSpPr/>
            <p:nvPr/>
          </p:nvCxnSpPr>
          <p:spPr>
            <a:xfrm>
              <a:off x="2073290" y="6625377"/>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Object 12">
                  <a:extLst>
                    <a:ext uri="{FF2B5EF4-FFF2-40B4-BE49-F238E27FC236}">
                      <a16:creationId xmlns:a16="http://schemas.microsoft.com/office/drawing/2014/main" id="{BFAC8F79-F387-4CAE-A50F-B65CC8F638B0}"/>
                    </a:ext>
                  </a:extLst>
                </p:cNvPr>
                <p:cNvSpPr txBox="1"/>
                <p:nvPr/>
              </p:nvSpPr>
              <p:spPr bwMode="auto">
                <a:xfrm>
                  <a:off x="9836820" y="6658235"/>
                  <a:ext cx="327025" cy="298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1100" i="1">
                            <a:solidFill>
                              <a:srgbClr val="000000"/>
                            </a:solidFill>
                            <a:latin typeface="Cambria Math" panose="02040503050406030204" pitchFamily="18" charset="0"/>
                          </a:rPr>
                          <m:t>𝑤</m:t>
                        </m:r>
                      </m:oMath>
                    </m:oMathPara>
                  </a14:m>
                  <a:endParaRPr lang="zh-CN" altLang="en-US" sz="1100"/>
                </a:p>
              </p:txBody>
            </p:sp>
          </mc:Choice>
          <mc:Fallback xmlns="">
            <p:sp>
              <p:nvSpPr>
                <p:cNvPr id="12" name="Object 12">
                  <a:extLst>
                    <a:ext uri="{FF2B5EF4-FFF2-40B4-BE49-F238E27FC236}">
                      <a16:creationId xmlns:a16="http://schemas.microsoft.com/office/drawing/2014/main" id="{BFAC8F79-F387-4CAE-A50F-B65CC8F638B0}"/>
                    </a:ext>
                  </a:extLst>
                </p:cNvPr>
                <p:cNvSpPr txBox="1">
                  <a:spLocks noRot="1" noChangeAspect="1" noMove="1" noResize="1" noEditPoints="1" noAdjustHandles="1" noChangeArrowheads="1" noChangeShapeType="1" noTextEdit="1"/>
                </p:cNvSpPr>
                <p:nvPr/>
              </p:nvSpPr>
              <p:spPr bwMode="auto">
                <a:xfrm>
                  <a:off x="9836820" y="6658235"/>
                  <a:ext cx="327025" cy="298450"/>
                </a:xfrm>
                <a:prstGeom prst="rect">
                  <a:avLst/>
                </a:prstGeom>
                <a:blipFill>
                  <a:blip r:embed="rId4"/>
                  <a:stretch>
                    <a:fillRect/>
                  </a:stretch>
                </a:blipFill>
              </p:spPr>
              <p:txBody>
                <a:bodyPr/>
                <a:lstStyle/>
                <a:p>
                  <a:r>
                    <a:rPr lang="zh-CN" altLang="en-US">
                      <a:noFill/>
                    </a:rPr>
                    <a:t> </a:t>
                  </a:r>
                </a:p>
              </p:txBody>
            </p:sp>
          </mc:Fallback>
        </mc:AlternateContent>
        <p:cxnSp>
          <p:nvCxnSpPr>
            <p:cNvPr id="13" name="直線單箭頭接點 29">
              <a:extLst>
                <a:ext uri="{FF2B5EF4-FFF2-40B4-BE49-F238E27FC236}">
                  <a16:creationId xmlns:a16="http://schemas.microsoft.com/office/drawing/2014/main" id="{A496FBDE-9F6F-4F6F-B310-F7CCE4E98B5C}"/>
                </a:ext>
              </a:extLst>
            </p:cNvPr>
            <p:cNvCxnSpPr/>
            <p:nvPr/>
          </p:nvCxnSpPr>
          <p:spPr>
            <a:xfrm flipV="1">
              <a:off x="2886345" y="3071741"/>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34">
              <a:extLst>
                <a:ext uri="{FF2B5EF4-FFF2-40B4-BE49-F238E27FC236}">
                  <a16:creationId xmlns:a16="http://schemas.microsoft.com/office/drawing/2014/main" id="{A660B8E3-5861-4119-9C9F-D941AC3ACEEE}"/>
                </a:ext>
              </a:extLst>
            </p:cNvPr>
            <p:cNvSpPr txBox="1"/>
            <p:nvPr/>
          </p:nvSpPr>
          <p:spPr>
            <a:xfrm>
              <a:off x="3930091" y="3071741"/>
              <a:ext cx="4578235" cy="369332"/>
            </a:xfrm>
            <a:prstGeom prst="rect">
              <a:avLst/>
            </a:prstGeom>
            <a:noFill/>
          </p:spPr>
          <p:txBody>
            <a:bodyPr wrap="square" rtlCol="0">
              <a:spAutoFit/>
            </a:bodyPr>
            <a:lstStyle/>
            <a:p>
              <a:pPr marL="457200" indent="-457200" algn="ctr">
                <a:buFont typeface="Wingdings" panose="05000000000000000000" pitchFamily="2" charset="2"/>
                <a:buChar char="Ø"/>
              </a:pPr>
              <a:r>
                <a:rPr lang="en-US" altLang="zh-TW" dirty="0">
                  <a:latin typeface="Times New Roman" panose="02020603050405020304" charset="0"/>
                  <a:cs typeface="Times New Roman" panose="02020603050405020304" charset="0"/>
                </a:rPr>
                <a:t>Pick an initial value for w</a:t>
              </a:r>
              <a:endParaRPr lang="zh-TW" altLang="en-US" dirty="0">
                <a:latin typeface="Times New Roman" panose="02020603050405020304" charset="0"/>
                <a:cs typeface="Times New Roman" panose="02020603050405020304" charset="0"/>
              </a:endParaRPr>
            </a:p>
          </p:txBody>
        </p:sp>
        <p:sp>
          <p:nvSpPr>
            <p:cNvPr id="15" name="手繪多邊形 54">
              <a:extLst>
                <a:ext uri="{FF2B5EF4-FFF2-40B4-BE49-F238E27FC236}">
                  <a16:creationId xmlns:a16="http://schemas.microsoft.com/office/drawing/2014/main" id="{27417720-F6C0-49EA-8C85-67CA5FC1EE97}"/>
                </a:ext>
              </a:extLst>
            </p:cNvPr>
            <p:cNvSpPr/>
            <p:nvPr/>
          </p:nvSpPr>
          <p:spPr>
            <a:xfrm>
              <a:off x="2540968" y="2982686"/>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1" fmla="*/ 0 w 7754816"/>
                <a:gd name="connsiteY0-2" fmla="*/ 0 h 4208267"/>
                <a:gd name="connsiteX1-3" fmla="*/ 1019908 w 7754816"/>
                <a:gd name="connsiteY1-4" fmla="*/ 2356339 h 4208267"/>
                <a:gd name="connsiteX2-5" fmla="*/ 3499339 w 7754816"/>
                <a:gd name="connsiteY2-6" fmla="*/ 2760785 h 4208267"/>
                <a:gd name="connsiteX3-7" fmla="*/ 5732254 w 7754816"/>
                <a:gd name="connsiteY3-8" fmla="*/ 3511062 h 4208267"/>
                <a:gd name="connsiteX4-9" fmla="*/ 5820508 w 7754816"/>
                <a:gd name="connsiteY4-10" fmla="*/ 2602523 h 4208267"/>
                <a:gd name="connsiteX5-11" fmla="*/ 6664570 w 7754816"/>
                <a:gd name="connsiteY5-12" fmla="*/ 2391508 h 4208267"/>
                <a:gd name="connsiteX6-13" fmla="*/ 7561385 w 7754816"/>
                <a:gd name="connsiteY6-14" fmla="*/ 3991708 h 4208267"/>
                <a:gd name="connsiteX7-15" fmla="*/ 7754816 w 7754816"/>
                <a:gd name="connsiteY7-16" fmla="*/ 4149970 h 4208267"/>
                <a:gd name="connsiteX0-17" fmla="*/ 0 w 7754816"/>
                <a:gd name="connsiteY0-18" fmla="*/ 0 h 4208267"/>
                <a:gd name="connsiteX1-19" fmla="*/ 1019908 w 7754816"/>
                <a:gd name="connsiteY1-20" fmla="*/ 2356339 h 4208267"/>
                <a:gd name="connsiteX2-21" fmla="*/ 3499339 w 7754816"/>
                <a:gd name="connsiteY2-22" fmla="*/ 2760785 h 4208267"/>
                <a:gd name="connsiteX3-23" fmla="*/ 5732254 w 7754816"/>
                <a:gd name="connsiteY3-24" fmla="*/ 3511062 h 4208267"/>
                <a:gd name="connsiteX4-25" fmla="*/ 6289268 w 7754816"/>
                <a:gd name="connsiteY4-26" fmla="*/ 2754923 h 4208267"/>
                <a:gd name="connsiteX5-27" fmla="*/ 6664570 w 7754816"/>
                <a:gd name="connsiteY5-28" fmla="*/ 2391508 h 4208267"/>
                <a:gd name="connsiteX6-29" fmla="*/ 7561385 w 7754816"/>
                <a:gd name="connsiteY6-30" fmla="*/ 3991708 h 4208267"/>
                <a:gd name="connsiteX7-31" fmla="*/ 7754816 w 7754816"/>
                <a:gd name="connsiteY7-32" fmla="*/ 4149970 h 4208267"/>
                <a:gd name="connsiteX0-33" fmla="*/ 0 w 7754816"/>
                <a:gd name="connsiteY0-34" fmla="*/ 0 h 4208267"/>
                <a:gd name="connsiteX1-35" fmla="*/ 1019908 w 7754816"/>
                <a:gd name="connsiteY1-36" fmla="*/ 2356339 h 4208267"/>
                <a:gd name="connsiteX2-37" fmla="*/ 3941312 w 7754816"/>
                <a:gd name="connsiteY2-38" fmla="*/ 2760785 h 4208267"/>
                <a:gd name="connsiteX3-39" fmla="*/ 5732254 w 7754816"/>
                <a:gd name="connsiteY3-40" fmla="*/ 3511062 h 4208267"/>
                <a:gd name="connsiteX4-41" fmla="*/ 6289268 w 7754816"/>
                <a:gd name="connsiteY4-42" fmla="*/ 2754923 h 4208267"/>
                <a:gd name="connsiteX5-43" fmla="*/ 6664570 w 7754816"/>
                <a:gd name="connsiteY5-44" fmla="*/ 2391508 h 4208267"/>
                <a:gd name="connsiteX6-45" fmla="*/ 7561385 w 7754816"/>
                <a:gd name="connsiteY6-46" fmla="*/ 3991708 h 4208267"/>
                <a:gd name="connsiteX7-47" fmla="*/ 7754816 w 7754816"/>
                <a:gd name="connsiteY7-48" fmla="*/ 4149970 h 4208267"/>
                <a:gd name="connsiteX0-49" fmla="*/ 0 w 7754816"/>
                <a:gd name="connsiteY0-50" fmla="*/ 0 h 4208267"/>
                <a:gd name="connsiteX1-51" fmla="*/ 1019908 w 7754816"/>
                <a:gd name="connsiteY1-52" fmla="*/ 2356339 h 4208267"/>
                <a:gd name="connsiteX2-53" fmla="*/ 3941312 w 7754816"/>
                <a:gd name="connsiteY2-54" fmla="*/ 2760785 h 4208267"/>
                <a:gd name="connsiteX3-55" fmla="*/ 5732254 w 7754816"/>
                <a:gd name="connsiteY3-56" fmla="*/ 3511062 h 4208267"/>
                <a:gd name="connsiteX4-57" fmla="*/ 6289268 w 7754816"/>
                <a:gd name="connsiteY4-58" fmla="*/ 2754923 h 4208267"/>
                <a:gd name="connsiteX5-59" fmla="*/ 6664570 w 7754816"/>
                <a:gd name="connsiteY5-60" fmla="*/ 2391508 h 4208267"/>
                <a:gd name="connsiteX6-61" fmla="*/ 7561385 w 7754816"/>
                <a:gd name="connsiteY6-62" fmla="*/ 3991708 h 4208267"/>
                <a:gd name="connsiteX7-63" fmla="*/ 7754816 w 7754816"/>
                <a:gd name="connsiteY7-64" fmla="*/ 4149970 h 4208267"/>
                <a:gd name="connsiteX0-65" fmla="*/ 0 w 7754816"/>
                <a:gd name="connsiteY0-66" fmla="*/ 0 h 4208267"/>
                <a:gd name="connsiteX1-67" fmla="*/ 1314558 w 7754816"/>
                <a:gd name="connsiteY1-68" fmla="*/ 2225710 h 4208267"/>
                <a:gd name="connsiteX2-69" fmla="*/ 3941312 w 7754816"/>
                <a:gd name="connsiteY2-70" fmla="*/ 2760785 h 4208267"/>
                <a:gd name="connsiteX3-71" fmla="*/ 5732254 w 7754816"/>
                <a:gd name="connsiteY3-72" fmla="*/ 3511062 h 4208267"/>
                <a:gd name="connsiteX4-73" fmla="*/ 6289268 w 7754816"/>
                <a:gd name="connsiteY4-74" fmla="*/ 2754923 h 4208267"/>
                <a:gd name="connsiteX5-75" fmla="*/ 6664570 w 7754816"/>
                <a:gd name="connsiteY5-76" fmla="*/ 2391508 h 4208267"/>
                <a:gd name="connsiteX6-77" fmla="*/ 7561385 w 7754816"/>
                <a:gd name="connsiteY6-78" fmla="*/ 3991708 h 4208267"/>
                <a:gd name="connsiteX7-79" fmla="*/ 7754816 w 7754816"/>
                <a:gd name="connsiteY7-80" fmla="*/ 4149970 h 4208267"/>
                <a:gd name="connsiteX0-81" fmla="*/ 0 w 7754816"/>
                <a:gd name="connsiteY0-82" fmla="*/ 0 h 4208267"/>
                <a:gd name="connsiteX1-83" fmla="*/ 1314558 w 7754816"/>
                <a:gd name="connsiteY1-84" fmla="*/ 2225710 h 4208267"/>
                <a:gd name="connsiteX2-85" fmla="*/ 3767202 w 7754816"/>
                <a:gd name="connsiteY2-86" fmla="*/ 2717243 h 4208267"/>
                <a:gd name="connsiteX3-87" fmla="*/ 5732254 w 7754816"/>
                <a:gd name="connsiteY3-88" fmla="*/ 3511062 h 4208267"/>
                <a:gd name="connsiteX4-89" fmla="*/ 6289268 w 7754816"/>
                <a:gd name="connsiteY4-90" fmla="*/ 2754923 h 4208267"/>
                <a:gd name="connsiteX5-91" fmla="*/ 6664570 w 7754816"/>
                <a:gd name="connsiteY5-92" fmla="*/ 2391508 h 4208267"/>
                <a:gd name="connsiteX6-93" fmla="*/ 7561385 w 7754816"/>
                <a:gd name="connsiteY6-94" fmla="*/ 3991708 h 4208267"/>
                <a:gd name="connsiteX7-95" fmla="*/ 7754816 w 7754816"/>
                <a:gd name="connsiteY7-96" fmla="*/ 4149970 h 4208267"/>
                <a:gd name="connsiteX0-97" fmla="*/ 0 w 7754816"/>
                <a:gd name="connsiteY0-98" fmla="*/ 0 h 4208267"/>
                <a:gd name="connsiteX1-99" fmla="*/ 1314558 w 7754816"/>
                <a:gd name="connsiteY1-100" fmla="*/ 2225710 h 4208267"/>
                <a:gd name="connsiteX2-101" fmla="*/ 3767202 w 7754816"/>
                <a:gd name="connsiteY2-102" fmla="*/ 2717243 h 4208267"/>
                <a:gd name="connsiteX3-103" fmla="*/ 5732254 w 7754816"/>
                <a:gd name="connsiteY3-104" fmla="*/ 3511062 h 4208267"/>
                <a:gd name="connsiteX4-105" fmla="*/ 6289268 w 7754816"/>
                <a:gd name="connsiteY4-106" fmla="*/ 2754923 h 4208267"/>
                <a:gd name="connsiteX5-107" fmla="*/ 6664570 w 7754816"/>
                <a:gd name="connsiteY5-108" fmla="*/ 2391508 h 4208267"/>
                <a:gd name="connsiteX6-109" fmla="*/ 7561385 w 7754816"/>
                <a:gd name="connsiteY6-110" fmla="*/ 3991708 h 4208267"/>
                <a:gd name="connsiteX7-111" fmla="*/ 7754816 w 7754816"/>
                <a:gd name="connsiteY7-112" fmla="*/ 4149970 h 4208267"/>
                <a:gd name="connsiteX0-113" fmla="*/ 0 w 7754816"/>
                <a:gd name="connsiteY0-114" fmla="*/ 0 h 4208267"/>
                <a:gd name="connsiteX1-115" fmla="*/ 1314558 w 7754816"/>
                <a:gd name="connsiteY1-116" fmla="*/ 2225710 h 4208267"/>
                <a:gd name="connsiteX2-117" fmla="*/ 3823199 w 7754816"/>
                <a:gd name="connsiteY2-118" fmla="*/ 2698193 h 4208267"/>
                <a:gd name="connsiteX3-119" fmla="*/ 5732254 w 7754816"/>
                <a:gd name="connsiteY3-120" fmla="*/ 3511062 h 4208267"/>
                <a:gd name="connsiteX4-121" fmla="*/ 6289268 w 7754816"/>
                <a:gd name="connsiteY4-122" fmla="*/ 2754923 h 4208267"/>
                <a:gd name="connsiteX5-123" fmla="*/ 6664570 w 7754816"/>
                <a:gd name="connsiteY5-124" fmla="*/ 2391508 h 4208267"/>
                <a:gd name="connsiteX6-125" fmla="*/ 7561385 w 7754816"/>
                <a:gd name="connsiteY6-126" fmla="*/ 3991708 h 4208267"/>
                <a:gd name="connsiteX7-127" fmla="*/ 7754816 w 7754816"/>
                <a:gd name="connsiteY7-128" fmla="*/ 4149970 h 42082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sp>
          <p:nvSpPr>
            <p:cNvPr id="16" name="橢圓 69">
              <a:extLst>
                <a:ext uri="{FF2B5EF4-FFF2-40B4-BE49-F238E27FC236}">
                  <a16:creationId xmlns:a16="http://schemas.microsoft.com/office/drawing/2014/main" id="{674255B6-3508-4DC0-9353-1246F2D3C664}"/>
                </a:ext>
              </a:extLst>
            </p:cNvPr>
            <p:cNvSpPr/>
            <p:nvPr/>
          </p:nvSpPr>
          <p:spPr>
            <a:xfrm>
              <a:off x="3441080" y="6466436"/>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cxnSp>
          <p:nvCxnSpPr>
            <p:cNvPr id="17" name="直線接點 70">
              <a:extLst>
                <a:ext uri="{FF2B5EF4-FFF2-40B4-BE49-F238E27FC236}">
                  <a16:creationId xmlns:a16="http://schemas.microsoft.com/office/drawing/2014/main" id="{3784E3BC-E854-41C6-9FE3-AA41FE84341C}"/>
                </a:ext>
              </a:extLst>
            </p:cNvPr>
            <p:cNvCxnSpPr/>
            <p:nvPr/>
          </p:nvCxnSpPr>
          <p:spPr>
            <a:xfrm>
              <a:off x="3517904" y="5081286"/>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9">
                  <a:extLst>
                    <a:ext uri="{FF2B5EF4-FFF2-40B4-BE49-F238E27FC236}">
                      <a16:creationId xmlns:a16="http://schemas.microsoft.com/office/drawing/2014/main" id="{9C8B2AD1-45FB-41A1-A0E7-0591F076BC32}"/>
                    </a:ext>
                  </a:extLst>
                </p:cNvPr>
                <p:cNvSpPr txBox="1"/>
                <p:nvPr/>
              </p:nvSpPr>
              <p:spPr>
                <a:xfrm>
                  <a:off x="1919390" y="2443123"/>
                  <a:ext cx="8353220"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000" dirty="0">
                      <a:latin typeface="Times New Roman" panose="02020603050405020304" charset="0"/>
                      <a:cs typeface="Times New Roman" panose="02020603050405020304" charset="0"/>
                    </a:rPr>
                    <a:t>Find </a:t>
                  </a:r>
                  <a:r>
                    <a:rPr lang="en-US" altLang="zh-TW" sz="2000" b="1" i="1" u="sng" dirty="0">
                      <a:latin typeface="Times New Roman" panose="02020603050405020304" charset="0"/>
                      <a:cs typeface="Times New Roman" panose="02020603050405020304" charset="0"/>
                    </a:rPr>
                    <a:t>network parameters </a:t>
                  </a:r>
                  <a14:m>
                    <m:oMath xmlns:m="http://schemas.openxmlformats.org/officeDocument/2006/math">
                      <m:sSup>
                        <m:sSupPr>
                          <m:ctrlPr>
                            <a:rPr lang="en-US" altLang="zh-TW" sz="2000" b="1" i="1" u="sng">
                              <a:latin typeface="Cambria Math" panose="02040503050406030204" pitchFamily="18" charset="0"/>
                            </a:rPr>
                          </m:ctrlPr>
                        </m:sSupPr>
                        <m:e>
                          <m:r>
                            <a:rPr lang="zh-TW" altLang="en-US" sz="2000" b="1" i="1" u="sng">
                              <a:latin typeface="Cambria Math" panose="02040503050406030204" pitchFamily="18" charset="0"/>
                            </a:rPr>
                            <m:t>𝜽</m:t>
                          </m:r>
                        </m:e>
                        <m:sup>
                          <m:r>
                            <a:rPr lang="en-US" altLang="zh-TW" sz="2000" b="1" i="1" u="sng">
                              <a:latin typeface="Cambria Math" panose="02040503050406030204" pitchFamily="18" charset="0"/>
                            </a:rPr>
                            <m:t>∗</m:t>
                          </m:r>
                        </m:sup>
                      </m:sSup>
                    </m:oMath>
                  </a14:m>
                  <a:r>
                    <a:rPr lang="en-US" altLang="zh-TW" sz="2000" dirty="0">
                      <a:latin typeface="Times New Roman" panose="02020603050405020304" charset="0"/>
                      <a:cs typeface="Times New Roman" panose="02020603050405020304" charset="0"/>
                    </a:rPr>
                    <a:t> that minimize total loss L</a:t>
                  </a:r>
                  <a:endParaRPr lang="zh-TW" altLang="en-US" sz="2000" dirty="0">
                    <a:latin typeface="Times New Roman" panose="02020603050405020304" charset="0"/>
                    <a:cs typeface="Times New Roman" panose="02020603050405020304" charset="0"/>
                  </a:endParaRPr>
                </a:p>
              </p:txBody>
            </p:sp>
          </mc:Choice>
          <mc:Fallback xmlns="">
            <p:sp>
              <p:nvSpPr>
                <p:cNvPr id="18" name="文字方塊 19">
                  <a:extLst>
                    <a:ext uri="{FF2B5EF4-FFF2-40B4-BE49-F238E27FC236}">
                      <a16:creationId xmlns:a16="http://schemas.microsoft.com/office/drawing/2014/main" id="{9C8B2AD1-45FB-41A1-A0E7-0591F076BC32}"/>
                    </a:ext>
                  </a:extLst>
                </p:cNvPr>
                <p:cNvSpPr txBox="1">
                  <a:spLocks noRot="1" noChangeAspect="1" noMove="1" noResize="1" noEditPoints="1" noAdjustHandles="1" noChangeArrowheads="1" noChangeShapeType="1" noTextEdit="1"/>
                </p:cNvSpPr>
                <p:nvPr/>
              </p:nvSpPr>
              <p:spPr>
                <a:xfrm>
                  <a:off x="1919390" y="2443123"/>
                  <a:ext cx="8353220" cy="400110"/>
                </a:xfrm>
                <a:prstGeom prst="rect">
                  <a:avLst/>
                </a:prstGeom>
                <a:blipFill>
                  <a:blip r:embed="rId5"/>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9257266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54</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a:t>
            </a:r>
            <a:r>
              <a:rPr lang="zh-CN" altLang="en-US" sz="2400" b="1" dirty="0">
                <a:latin typeface="Times New Roman" panose="02020603050405020304" pitchFamily="18" charset="0"/>
                <a:cs typeface="Times New Roman" panose="02020603050405020304" pitchFamily="18" charset="0"/>
              </a:rPr>
              <a:t>化</a:t>
            </a:r>
            <a:r>
              <a:rPr lang="zh-CN" altLang="en-US" sz="2400" dirty="0">
                <a:latin typeface="Times New Roman" panose="02020603050405020304" pitchFamily="18" charset="0"/>
                <a:cs typeface="Times New Roman" panose="02020603050405020304" pitchFamily="18" charset="0"/>
              </a:rPr>
              <a:t>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grpSp>
        <p:nvGrpSpPr>
          <p:cNvPr id="45" name="组合 44">
            <a:extLst>
              <a:ext uri="{FF2B5EF4-FFF2-40B4-BE49-F238E27FC236}">
                <a16:creationId xmlns:a16="http://schemas.microsoft.com/office/drawing/2014/main" id="{AD800C84-3675-43C3-A4D5-BFCB36B56584}"/>
              </a:ext>
            </a:extLst>
          </p:cNvPr>
          <p:cNvGrpSpPr/>
          <p:nvPr/>
        </p:nvGrpSpPr>
        <p:grpSpPr>
          <a:xfrm>
            <a:off x="1891862" y="2436632"/>
            <a:ext cx="8182889" cy="4284843"/>
            <a:chOff x="1580667" y="2443123"/>
            <a:chExt cx="8773727" cy="4747830"/>
          </a:xfrm>
        </p:grpSpPr>
        <mc:AlternateContent xmlns:mc="http://schemas.openxmlformats.org/markup-compatibility/2006" xmlns:a14="http://schemas.microsoft.com/office/drawing/2010/main">
          <mc:Choice Requires="a14">
            <p:sp>
              <p:nvSpPr>
                <p:cNvPr id="46" name="文字方塊 61">
                  <a:extLst>
                    <a:ext uri="{FF2B5EF4-FFF2-40B4-BE49-F238E27FC236}">
                      <a16:creationId xmlns:a16="http://schemas.microsoft.com/office/drawing/2014/main" id="{D1ADC22D-1113-42F1-9509-6F57D3358722}"/>
                    </a:ext>
                  </a:extLst>
                </p:cNvPr>
                <p:cNvSpPr txBox="1"/>
                <p:nvPr/>
              </p:nvSpPr>
              <p:spPr>
                <a:xfrm>
                  <a:off x="1580667" y="3736238"/>
                  <a:ext cx="1400487" cy="646331"/>
                </a:xfrm>
                <a:prstGeom prst="rect">
                  <a:avLst/>
                </a:prstGeom>
                <a:noFill/>
              </p:spPr>
              <p:txBody>
                <a:bodyPr wrap="square" rtlCol="0">
                  <a:spAutoFit/>
                </a:bodyPr>
                <a:lstStyle/>
                <a:p>
                  <a:pPr algn="ctr"/>
                  <a:r>
                    <a:rPr lang="en-US" altLang="zh-TW" dirty="0">
                      <a:latin typeface="Times New Roman" panose="02020603050405020304" charset="0"/>
                      <a:cs typeface="Times New Roman" panose="02020603050405020304" charset="0"/>
                    </a:rPr>
                    <a:t>Total </a:t>
                  </a:r>
                </a:p>
                <a:p>
                  <a:pPr algn="ctr"/>
                  <a:r>
                    <a:rPr lang="en-US" altLang="zh-TW" dirty="0">
                      <a:latin typeface="Times New Roman" panose="02020603050405020304" charset="0"/>
                      <a:cs typeface="Times New Roman" panose="02020603050405020304" charset="0"/>
                    </a:rPr>
                    <a:t>Loss </a:t>
                  </a:r>
                  <a14:m>
                    <m:oMath xmlns:m="http://schemas.openxmlformats.org/officeDocument/2006/math">
                      <m:r>
                        <a:rPr lang="en-US" altLang="zh-TW" b="0" i="1" smtClean="0">
                          <a:latin typeface="Cambria Math" panose="02040503050406030204" pitchFamily="18" charset="0"/>
                        </a:rPr>
                        <m:t>𝐿</m:t>
                      </m:r>
                    </m:oMath>
                  </a14:m>
                  <a:endParaRPr lang="zh-TW" altLang="en-US" dirty="0">
                    <a:latin typeface="Times New Roman" panose="02020603050405020304" charset="0"/>
                    <a:cs typeface="Times New Roman" panose="02020603050405020304" charset="0"/>
                  </a:endParaRPr>
                </a:p>
              </p:txBody>
            </p:sp>
          </mc:Choice>
          <mc:Fallback xmlns="">
            <p:sp>
              <p:nvSpPr>
                <p:cNvPr id="46" name="文字方塊 61">
                  <a:extLst>
                    <a:ext uri="{FF2B5EF4-FFF2-40B4-BE49-F238E27FC236}">
                      <a16:creationId xmlns:a16="http://schemas.microsoft.com/office/drawing/2014/main" id="{D1ADC22D-1113-42F1-9509-6F57D3358722}"/>
                    </a:ext>
                  </a:extLst>
                </p:cNvPr>
                <p:cNvSpPr txBox="1">
                  <a:spLocks noRot="1" noChangeAspect="1" noMove="1" noResize="1" noEditPoints="1" noAdjustHandles="1" noChangeArrowheads="1" noChangeShapeType="1" noTextEdit="1"/>
                </p:cNvSpPr>
                <p:nvPr/>
              </p:nvSpPr>
              <p:spPr>
                <a:xfrm>
                  <a:off x="1580667" y="3736238"/>
                  <a:ext cx="1400487" cy="646331"/>
                </a:xfrm>
                <a:prstGeom prst="rect">
                  <a:avLst/>
                </a:prstGeom>
                <a:blipFill>
                  <a:blip r:embed="rId3"/>
                  <a:stretch>
                    <a:fillRect t="-5208" b="-26042"/>
                  </a:stretch>
                </a:blipFill>
              </p:spPr>
              <p:txBody>
                <a:bodyPr/>
                <a:lstStyle/>
                <a:p>
                  <a:r>
                    <a:rPr lang="zh-CN" altLang="en-US">
                      <a:noFill/>
                    </a:rPr>
                    <a:t> </a:t>
                  </a:r>
                </a:p>
              </p:txBody>
            </p:sp>
          </mc:Fallback>
        </mc:AlternateContent>
        <p:cxnSp>
          <p:nvCxnSpPr>
            <p:cNvPr id="50" name="直線單箭頭接點 27">
              <a:extLst>
                <a:ext uri="{FF2B5EF4-FFF2-40B4-BE49-F238E27FC236}">
                  <a16:creationId xmlns:a16="http://schemas.microsoft.com/office/drawing/2014/main" id="{2142E27A-DB1A-451E-86C4-C2C6CBA020C6}"/>
                </a:ext>
              </a:extLst>
            </p:cNvPr>
            <p:cNvCxnSpPr/>
            <p:nvPr/>
          </p:nvCxnSpPr>
          <p:spPr>
            <a:xfrm>
              <a:off x="2073290" y="6625377"/>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Object 12">
                  <a:extLst>
                    <a:ext uri="{FF2B5EF4-FFF2-40B4-BE49-F238E27FC236}">
                      <a16:creationId xmlns:a16="http://schemas.microsoft.com/office/drawing/2014/main" id="{149CE936-8C7C-4843-9C5F-3200BC07C71C}"/>
                    </a:ext>
                  </a:extLst>
                </p:cNvPr>
                <p:cNvSpPr txBox="1"/>
                <p:nvPr/>
              </p:nvSpPr>
              <p:spPr bwMode="auto">
                <a:xfrm>
                  <a:off x="9836820" y="6658235"/>
                  <a:ext cx="327025" cy="298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1100" i="1">
                            <a:solidFill>
                              <a:srgbClr val="000000"/>
                            </a:solidFill>
                            <a:latin typeface="Cambria Math" panose="02040503050406030204" pitchFamily="18" charset="0"/>
                          </a:rPr>
                          <m:t>𝑤</m:t>
                        </m:r>
                      </m:oMath>
                    </m:oMathPara>
                  </a14:m>
                  <a:endParaRPr lang="zh-CN" altLang="en-US" sz="1100"/>
                </a:p>
              </p:txBody>
            </p:sp>
          </mc:Choice>
          <mc:Fallback xmlns="">
            <p:sp>
              <p:nvSpPr>
                <p:cNvPr id="51" name="Object 12">
                  <a:extLst>
                    <a:ext uri="{FF2B5EF4-FFF2-40B4-BE49-F238E27FC236}">
                      <a16:creationId xmlns:a16="http://schemas.microsoft.com/office/drawing/2014/main" id="{149CE936-8C7C-4843-9C5F-3200BC07C71C}"/>
                    </a:ext>
                  </a:extLst>
                </p:cNvPr>
                <p:cNvSpPr txBox="1">
                  <a:spLocks noRot="1" noChangeAspect="1" noMove="1" noResize="1" noEditPoints="1" noAdjustHandles="1" noChangeArrowheads="1" noChangeShapeType="1" noTextEdit="1"/>
                </p:cNvSpPr>
                <p:nvPr/>
              </p:nvSpPr>
              <p:spPr bwMode="auto">
                <a:xfrm>
                  <a:off x="9836820" y="6658235"/>
                  <a:ext cx="327025" cy="298450"/>
                </a:xfrm>
                <a:prstGeom prst="rect">
                  <a:avLst/>
                </a:prstGeom>
                <a:blipFill>
                  <a:blip r:embed="rId4"/>
                  <a:stretch>
                    <a:fillRect/>
                  </a:stretch>
                </a:blipFill>
              </p:spPr>
              <p:txBody>
                <a:bodyPr/>
                <a:lstStyle/>
                <a:p>
                  <a:r>
                    <a:rPr lang="zh-CN" altLang="en-US">
                      <a:noFill/>
                    </a:rPr>
                    <a:t> </a:t>
                  </a:r>
                </a:p>
              </p:txBody>
            </p:sp>
          </mc:Fallback>
        </mc:AlternateContent>
        <p:cxnSp>
          <p:nvCxnSpPr>
            <p:cNvPr id="52" name="直線單箭頭接點 29">
              <a:extLst>
                <a:ext uri="{FF2B5EF4-FFF2-40B4-BE49-F238E27FC236}">
                  <a16:creationId xmlns:a16="http://schemas.microsoft.com/office/drawing/2014/main" id="{0C14BADC-7B92-4EAE-A1CB-9BE7CEE516C3}"/>
                </a:ext>
              </a:extLst>
            </p:cNvPr>
            <p:cNvCxnSpPr/>
            <p:nvPr/>
          </p:nvCxnSpPr>
          <p:spPr>
            <a:xfrm flipV="1">
              <a:off x="2886345" y="3071741"/>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手繪多邊形 54">
              <a:extLst>
                <a:ext uri="{FF2B5EF4-FFF2-40B4-BE49-F238E27FC236}">
                  <a16:creationId xmlns:a16="http://schemas.microsoft.com/office/drawing/2014/main" id="{4771A40A-0E10-4BF6-8FCC-D8D60DD11C71}"/>
                </a:ext>
              </a:extLst>
            </p:cNvPr>
            <p:cNvSpPr/>
            <p:nvPr/>
          </p:nvSpPr>
          <p:spPr>
            <a:xfrm>
              <a:off x="2540968" y="2982686"/>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1" fmla="*/ 0 w 7754816"/>
                <a:gd name="connsiteY0-2" fmla="*/ 0 h 4208267"/>
                <a:gd name="connsiteX1-3" fmla="*/ 1019908 w 7754816"/>
                <a:gd name="connsiteY1-4" fmla="*/ 2356339 h 4208267"/>
                <a:gd name="connsiteX2-5" fmla="*/ 3499339 w 7754816"/>
                <a:gd name="connsiteY2-6" fmla="*/ 2760785 h 4208267"/>
                <a:gd name="connsiteX3-7" fmla="*/ 5732254 w 7754816"/>
                <a:gd name="connsiteY3-8" fmla="*/ 3511062 h 4208267"/>
                <a:gd name="connsiteX4-9" fmla="*/ 5820508 w 7754816"/>
                <a:gd name="connsiteY4-10" fmla="*/ 2602523 h 4208267"/>
                <a:gd name="connsiteX5-11" fmla="*/ 6664570 w 7754816"/>
                <a:gd name="connsiteY5-12" fmla="*/ 2391508 h 4208267"/>
                <a:gd name="connsiteX6-13" fmla="*/ 7561385 w 7754816"/>
                <a:gd name="connsiteY6-14" fmla="*/ 3991708 h 4208267"/>
                <a:gd name="connsiteX7-15" fmla="*/ 7754816 w 7754816"/>
                <a:gd name="connsiteY7-16" fmla="*/ 4149970 h 4208267"/>
                <a:gd name="connsiteX0-17" fmla="*/ 0 w 7754816"/>
                <a:gd name="connsiteY0-18" fmla="*/ 0 h 4208267"/>
                <a:gd name="connsiteX1-19" fmla="*/ 1019908 w 7754816"/>
                <a:gd name="connsiteY1-20" fmla="*/ 2356339 h 4208267"/>
                <a:gd name="connsiteX2-21" fmla="*/ 3499339 w 7754816"/>
                <a:gd name="connsiteY2-22" fmla="*/ 2760785 h 4208267"/>
                <a:gd name="connsiteX3-23" fmla="*/ 5732254 w 7754816"/>
                <a:gd name="connsiteY3-24" fmla="*/ 3511062 h 4208267"/>
                <a:gd name="connsiteX4-25" fmla="*/ 6289268 w 7754816"/>
                <a:gd name="connsiteY4-26" fmla="*/ 2754923 h 4208267"/>
                <a:gd name="connsiteX5-27" fmla="*/ 6664570 w 7754816"/>
                <a:gd name="connsiteY5-28" fmla="*/ 2391508 h 4208267"/>
                <a:gd name="connsiteX6-29" fmla="*/ 7561385 w 7754816"/>
                <a:gd name="connsiteY6-30" fmla="*/ 3991708 h 4208267"/>
                <a:gd name="connsiteX7-31" fmla="*/ 7754816 w 7754816"/>
                <a:gd name="connsiteY7-32" fmla="*/ 4149970 h 4208267"/>
                <a:gd name="connsiteX0-33" fmla="*/ 0 w 7754816"/>
                <a:gd name="connsiteY0-34" fmla="*/ 0 h 4208267"/>
                <a:gd name="connsiteX1-35" fmla="*/ 1019908 w 7754816"/>
                <a:gd name="connsiteY1-36" fmla="*/ 2356339 h 4208267"/>
                <a:gd name="connsiteX2-37" fmla="*/ 3941312 w 7754816"/>
                <a:gd name="connsiteY2-38" fmla="*/ 2760785 h 4208267"/>
                <a:gd name="connsiteX3-39" fmla="*/ 5732254 w 7754816"/>
                <a:gd name="connsiteY3-40" fmla="*/ 3511062 h 4208267"/>
                <a:gd name="connsiteX4-41" fmla="*/ 6289268 w 7754816"/>
                <a:gd name="connsiteY4-42" fmla="*/ 2754923 h 4208267"/>
                <a:gd name="connsiteX5-43" fmla="*/ 6664570 w 7754816"/>
                <a:gd name="connsiteY5-44" fmla="*/ 2391508 h 4208267"/>
                <a:gd name="connsiteX6-45" fmla="*/ 7561385 w 7754816"/>
                <a:gd name="connsiteY6-46" fmla="*/ 3991708 h 4208267"/>
                <a:gd name="connsiteX7-47" fmla="*/ 7754816 w 7754816"/>
                <a:gd name="connsiteY7-48" fmla="*/ 4149970 h 4208267"/>
                <a:gd name="connsiteX0-49" fmla="*/ 0 w 7754816"/>
                <a:gd name="connsiteY0-50" fmla="*/ 0 h 4208267"/>
                <a:gd name="connsiteX1-51" fmla="*/ 1019908 w 7754816"/>
                <a:gd name="connsiteY1-52" fmla="*/ 2356339 h 4208267"/>
                <a:gd name="connsiteX2-53" fmla="*/ 3941312 w 7754816"/>
                <a:gd name="connsiteY2-54" fmla="*/ 2760785 h 4208267"/>
                <a:gd name="connsiteX3-55" fmla="*/ 5732254 w 7754816"/>
                <a:gd name="connsiteY3-56" fmla="*/ 3511062 h 4208267"/>
                <a:gd name="connsiteX4-57" fmla="*/ 6289268 w 7754816"/>
                <a:gd name="connsiteY4-58" fmla="*/ 2754923 h 4208267"/>
                <a:gd name="connsiteX5-59" fmla="*/ 6664570 w 7754816"/>
                <a:gd name="connsiteY5-60" fmla="*/ 2391508 h 4208267"/>
                <a:gd name="connsiteX6-61" fmla="*/ 7561385 w 7754816"/>
                <a:gd name="connsiteY6-62" fmla="*/ 3991708 h 4208267"/>
                <a:gd name="connsiteX7-63" fmla="*/ 7754816 w 7754816"/>
                <a:gd name="connsiteY7-64" fmla="*/ 4149970 h 4208267"/>
                <a:gd name="connsiteX0-65" fmla="*/ 0 w 7754816"/>
                <a:gd name="connsiteY0-66" fmla="*/ 0 h 4208267"/>
                <a:gd name="connsiteX1-67" fmla="*/ 1314558 w 7754816"/>
                <a:gd name="connsiteY1-68" fmla="*/ 2225710 h 4208267"/>
                <a:gd name="connsiteX2-69" fmla="*/ 3941312 w 7754816"/>
                <a:gd name="connsiteY2-70" fmla="*/ 2760785 h 4208267"/>
                <a:gd name="connsiteX3-71" fmla="*/ 5732254 w 7754816"/>
                <a:gd name="connsiteY3-72" fmla="*/ 3511062 h 4208267"/>
                <a:gd name="connsiteX4-73" fmla="*/ 6289268 w 7754816"/>
                <a:gd name="connsiteY4-74" fmla="*/ 2754923 h 4208267"/>
                <a:gd name="connsiteX5-75" fmla="*/ 6664570 w 7754816"/>
                <a:gd name="connsiteY5-76" fmla="*/ 2391508 h 4208267"/>
                <a:gd name="connsiteX6-77" fmla="*/ 7561385 w 7754816"/>
                <a:gd name="connsiteY6-78" fmla="*/ 3991708 h 4208267"/>
                <a:gd name="connsiteX7-79" fmla="*/ 7754816 w 7754816"/>
                <a:gd name="connsiteY7-80" fmla="*/ 4149970 h 4208267"/>
                <a:gd name="connsiteX0-81" fmla="*/ 0 w 7754816"/>
                <a:gd name="connsiteY0-82" fmla="*/ 0 h 4208267"/>
                <a:gd name="connsiteX1-83" fmla="*/ 1314558 w 7754816"/>
                <a:gd name="connsiteY1-84" fmla="*/ 2225710 h 4208267"/>
                <a:gd name="connsiteX2-85" fmla="*/ 3767202 w 7754816"/>
                <a:gd name="connsiteY2-86" fmla="*/ 2717243 h 4208267"/>
                <a:gd name="connsiteX3-87" fmla="*/ 5732254 w 7754816"/>
                <a:gd name="connsiteY3-88" fmla="*/ 3511062 h 4208267"/>
                <a:gd name="connsiteX4-89" fmla="*/ 6289268 w 7754816"/>
                <a:gd name="connsiteY4-90" fmla="*/ 2754923 h 4208267"/>
                <a:gd name="connsiteX5-91" fmla="*/ 6664570 w 7754816"/>
                <a:gd name="connsiteY5-92" fmla="*/ 2391508 h 4208267"/>
                <a:gd name="connsiteX6-93" fmla="*/ 7561385 w 7754816"/>
                <a:gd name="connsiteY6-94" fmla="*/ 3991708 h 4208267"/>
                <a:gd name="connsiteX7-95" fmla="*/ 7754816 w 7754816"/>
                <a:gd name="connsiteY7-96" fmla="*/ 4149970 h 4208267"/>
                <a:gd name="connsiteX0-97" fmla="*/ 0 w 7754816"/>
                <a:gd name="connsiteY0-98" fmla="*/ 0 h 4208267"/>
                <a:gd name="connsiteX1-99" fmla="*/ 1314558 w 7754816"/>
                <a:gd name="connsiteY1-100" fmla="*/ 2225710 h 4208267"/>
                <a:gd name="connsiteX2-101" fmla="*/ 3767202 w 7754816"/>
                <a:gd name="connsiteY2-102" fmla="*/ 2717243 h 4208267"/>
                <a:gd name="connsiteX3-103" fmla="*/ 5732254 w 7754816"/>
                <a:gd name="connsiteY3-104" fmla="*/ 3511062 h 4208267"/>
                <a:gd name="connsiteX4-105" fmla="*/ 6289268 w 7754816"/>
                <a:gd name="connsiteY4-106" fmla="*/ 2754923 h 4208267"/>
                <a:gd name="connsiteX5-107" fmla="*/ 6664570 w 7754816"/>
                <a:gd name="connsiteY5-108" fmla="*/ 2391508 h 4208267"/>
                <a:gd name="connsiteX6-109" fmla="*/ 7561385 w 7754816"/>
                <a:gd name="connsiteY6-110" fmla="*/ 3991708 h 4208267"/>
                <a:gd name="connsiteX7-111" fmla="*/ 7754816 w 7754816"/>
                <a:gd name="connsiteY7-112" fmla="*/ 4149970 h 4208267"/>
                <a:gd name="connsiteX0-113" fmla="*/ 0 w 7754816"/>
                <a:gd name="connsiteY0-114" fmla="*/ 0 h 4208267"/>
                <a:gd name="connsiteX1-115" fmla="*/ 1314558 w 7754816"/>
                <a:gd name="connsiteY1-116" fmla="*/ 2225710 h 4208267"/>
                <a:gd name="connsiteX2-117" fmla="*/ 3823199 w 7754816"/>
                <a:gd name="connsiteY2-118" fmla="*/ 2698193 h 4208267"/>
                <a:gd name="connsiteX3-119" fmla="*/ 5732254 w 7754816"/>
                <a:gd name="connsiteY3-120" fmla="*/ 3511062 h 4208267"/>
                <a:gd name="connsiteX4-121" fmla="*/ 6289268 w 7754816"/>
                <a:gd name="connsiteY4-122" fmla="*/ 2754923 h 4208267"/>
                <a:gd name="connsiteX5-123" fmla="*/ 6664570 w 7754816"/>
                <a:gd name="connsiteY5-124" fmla="*/ 2391508 h 4208267"/>
                <a:gd name="connsiteX6-125" fmla="*/ 7561385 w 7754816"/>
                <a:gd name="connsiteY6-126" fmla="*/ 3991708 h 4208267"/>
                <a:gd name="connsiteX7-127" fmla="*/ 7754816 w 7754816"/>
                <a:gd name="connsiteY7-128" fmla="*/ 4149970 h 42082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sp>
          <p:nvSpPr>
            <p:cNvPr id="56" name="橢圓 69">
              <a:extLst>
                <a:ext uri="{FF2B5EF4-FFF2-40B4-BE49-F238E27FC236}">
                  <a16:creationId xmlns:a16="http://schemas.microsoft.com/office/drawing/2014/main" id="{8C6BC539-6E56-4B3B-96A4-893C4936C532}"/>
                </a:ext>
              </a:extLst>
            </p:cNvPr>
            <p:cNvSpPr/>
            <p:nvPr/>
          </p:nvSpPr>
          <p:spPr>
            <a:xfrm>
              <a:off x="3441080" y="6466436"/>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cxnSp>
          <p:nvCxnSpPr>
            <p:cNvPr id="57" name="直線接點 70">
              <a:extLst>
                <a:ext uri="{FF2B5EF4-FFF2-40B4-BE49-F238E27FC236}">
                  <a16:creationId xmlns:a16="http://schemas.microsoft.com/office/drawing/2014/main" id="{471AC729-6E1B-4FB0-BB42-BD5DACB22B0D}"/>
                </a:ext>
              </a:extLst>
            </p:cNvPr>
            <p:cNvCxnSpPr/>
            <p:nvPr/>
          </p:nvCxnSpPr>
          <p:spPr>
            <a:xfrm>
              <a:off x="3517904" y="5081286"/>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字方塊 19">
                  <a:extLst>
                    <a:ext uri="{FF2B5EF4-FFF2-40B4-BE49-F238E27FC236}">
                      <a16:creationId xmlns:a16="http://schemas.microsoft.com/office/drawing/2014/main" id="{F77D9080-FC9C-45DE-A6A9-1360E09A8B6E}"/>
                    </a:ext>
                  </a:extLst>
                </p:cNvPr>
                <p:cNvSpPr txBox="1"/>
                <p:nvPr/>
              </p:nvSpPr>
              <p:spPr>
                <a:xfrm>
                  <a:off x="1919390" y="2443123"/>
                  <a:ext cx="8353220"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000" dirty="0">
                      <a:latin typeface="Times New Roman" panose="02020603050405020304" charset="0"/>
                      <a:cs typeface="Times New Roman" panose="02020603050405020304" charset="0"/>
                    </a:rPr>
                    <a:t>Find </a:t>
                  </a:r>
                  <a:r>
                    <a:rPr lang="en-US" altLang="zh-TW" sz="2000" b="1" i="1" u="sng" dirty="0">
                      <a:latin typeface="Times New Roman" panose="02020603050405020304" charset="0"/>
                      <a:cs typeface="Times New Roman" panose="02020603050405020304" charset="0"/>
                    </a:rPr>
                    <a:t>network parameters </a:t>
                  </a:r>
                  <a14:m>
                    <m:oMath xmlns:m="http://schemas.openxmlformats.org/officeDocument/2006/math">
                      <m:sSup>
                        <m:sSupPr>
                          <m:ctrlPr>
                            <a:rPr lang="en-US" altLang="zh-TW" sz="2000" b="1" i="1" u="sng">
                              <a:latin typeface="Cambria Math" panose="02040503050406030204" pitchFamily="18" charset="0"/>
                            </a:rPr>
                          </m:ctrlPr>
                        </m:sSupPr>
                        <m:e>
                          <m:r>
                            <a:rPr lang="zh-TW" altLang="en-US" sz="2000" b="1" i="1" u="sng">
                              <a:latin typeface="Cambria Math" panose="02040503050406030204" pitchFamily="18" charset="0"/>
                            </a:rPr>
                            <m:t>𝜽</m:t>
                          </m:r>
                        </m:e>
                        <m:sup>
                          <m:r>
                            <a:rPr lang="en-US" altLang="zh-TW" sz="2000" b="1" i="1" u="sng">
                              <a:latin typeface="Cambria Math" panose="02040503050406030204" pitchFamily="18" charset="0"/>
                            </a:rPr>
                            <m:t>∗</m:t>
                          </m:r>
                        </m:sup>
                      </m:sSup>
                    </m:oMath>
                  </a14:m>
                  <a:r>
                    <a:rPr lang="en-US" altLang="zh-TW" sz="2000" dirty="0">
                      <a:latin typeface="Times New Roman" panose="02020603050405020304" charset="0"/>
                      <a:cs typeface="Times New Roman" panose="02020603050405020304" charset="0"/>
                    </a:rPr>
                    <a:t> that minimize total loss L</a:t>
                  </a:r>
                  <a:endParaRPr lang="zh-TW" altLang="en-US" sz="2000" dirty="0">
                    <a:latin typeface="Times New Roman" panose="02020603050405020304" charset="0"/>
                    <a:cs typeface="Times New Roman" panose="02020603050405020304" charset="0"/>
                  </a:endParaRPr>
                </a:p>
              </p:txBody>
            </p:sp>
          </mc:Choice>
          <mc:Fallback xmlns="">
            <p:sp>
              <p:nvSpPr>
                <p:cNvPr id="58" name="文字方塊 19">
                  <a:extLst>
                    <a:ext uri="{FF2B5EF4-FFF2-40B4-BE49-F238E27FC236}">
                      <a16:creationId xmlns:a16="http://schemas.microsoft.com/office/drawing/2014/main" id="{F77D9080-FC9C-45DE-A6A9-1360E09A8B6E}"/>
                    </a:ext>
                  </a:extLst>
                </p:cNvPr>
                <p:cNvSpPr txBox="1">
                  <a:spLocks noRot="1" noChangeAspect="1" noMove="1" noResize="1" noEditPoints="1" noAdjustHandles="1" noChangeArrowheads="1" noChangeShapeType="1" noTextEdit="1"/>
                </p:cNvSpPr>
                <p:nvPr/>
              </p:nvSpPr>
              <p:spPr>
                <a:xfrm>
                  <a:off x="1919390" y="2443123"/>
                  <a:ext cx="8353220" cy="400110"/>
                </a:xfrm>
                <a:prstGeom prst="rect">
                  <a:avLst/>
                </a:prstGeom>
                <a:blipFill>
                  <a:blip r:embed="rId5"/>
                  <a:stretch>
                    <a:fillRect/>
                  </a:stretch>
                </a:blipFill>
              </p:spPr>
              <p:txBody>
                <a:bodyPr/>
                <a:lstStyle/>
                <a:p>
                  <a:r>
                    <a:rPr lang="zh-CN" altLang="en-US">
                      <a:noFill/>
                    </a:rPr>
                    <a:t> </a:t>
                  </a:r>
                </a:p>
              </p:txBody>
            </p:sp>
          </mc:Fallback>
        </mc:AlternateContent>
      </p:grpSp>
      <p:sp>
        <p:nvSpPr>
          <p:cNvPr id="60" name="橢圓 69">
            <a:extLst>
              <a:ext uri="{FF2B5EF4-FFF2-40B4-BE49-F238E27FC236}">
                <a16:creationId xmlns:a16="http://schemas.microsoft.com/office/drawing/2014/main" id="{0DB1DD5E-28A3-48E7-932C-056F1DCBD544}"/>
              </a:ext>
            </a:extLst>
          </p:cNvPr>
          <p:cNvSpPr/>
          <p:nvPr/>
        </p:nvSpPr>
        <p:spPr>
          <a:xfrm>
            <a:off x="3628712" y="6098857"/>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62" name="文字方塊 17">
                <a:extLst>
                  <a:ext uri="{FF2B5EF4-FFF2-40B4-BE49-F238E27FC236}">
                    <a16:creationId xmlns:a16="http://schemas.microsoft.com/office/drawing/2014/main" id="{3C04CABB-CDD6-4029-8ED0-C5CA698E67B9}"/>
                  </a:ext>
                </a:extLst>
              </p:cNvPr>
              <p:cNvSpPr txBox="1"/>
              <p:nvPr/>
            </p:nvSpPr>
            <p:spPr>
              <a:xfrm>
                <a:off x="4716363" y="3266590"/>
                <a:ext cx="4406380" cy="369332"/>
              </a:xfrm>
              <a:prstGeom prst="rect">
                <a:avLst/>
              </a:prstGeom>
              <a:noFill/>
            </p:spPr>
            <p:txBody>
              <a:bodyPr wrap="square" rtlCol="0">
                <a:spAutoFit/>
              </a:bodyPr>
              <a:lstStyle/>
              <a:p>
                <a:pPr marL="457200" indent="-457200">
                  <a:buFont typeface="Wingdings" panose="05000000000000000000" pitchFamily="2" charset="2"/>
                  <a:buChar char="Ø"/>
                </a:pPr>
                <a:r>
                  <a:rPr lang="en-US" altLang="zh-TW" dirty="0">
                    <a:latin typeface="Times New Roman" panose="02020603050405020304" charset="0"/>
                    <a:cs typeface="Times New Roman" panose="02020603050405020304" charset="0"/>
                  </a:rPr>
                  <a:t>Compute </a:t>
                </a:r>
                <a14:m>
                  <m:oMath xmlns:m="http://schemas.openxmlformats.org/officeDocument/2006/math">
                    <m:f>
                      <m:fPr>
                        <m:type m:val="lin"/>
                        <m:ctrlPr>
                          <a:rPr lang="en-US" altLang="zh-TW" i="1">
                            <a:latin typeface="Cambria Math" panose="02040503050406030204" pitchFamily="18" charset="0"/>
                          </a:rPr>
                        </m:ctrlPr>
                      </m:fPr>
                      <m:num>
                        <m:r>
                          <a:rPr lang="en-US" altLang="zh-TW" i="1">
                            <a:latin typeface="Cambria Math" panose="02040503050406030204" pitchFamily="18" charset="0"/>
                          </a:rPr>
                          <m:t>𝜕</m:t>
                        </m:r>
                        <m:r>
                          <a:rPr lang="en-US" altLang="zh-TW" i="1">
                            <a:latin typeface="Cambria Math" panose="02040503050406030204" pitchFamily="18" charset="0"/>
                          </a:rPr>
                          <m:t>𝐿</m:t>
                        </m:r>
                      </m:num>
                      <m:den>
                        <m:r>
                          <a:rPr lang="en-US" altLang="zh-TW" i="1">
                            <a:latin typeface="Cambria Math" panose="02040503050406030204" pitchFamily="18" charset="0"/>
                          </a:rPr>
                          <m:t>𝜕</m:t>
                        </m:r>
                        <m:r>
                          <a:rPr lang="en-US" altLang="zh-TW" i="1">
                            <a:latin typeface="Cambria Math" panose="02040503050406030204" pitchFamily="18" charset="0"/>
                          </a:rPr>
                          <m:t>𝑤</m:t>
                        </m:r>
                      </m:den>
                    </m:f>
                  </m:oMath>
                </a14:m>
                <a:endParaRPr lang="zh-TW" altLang="en-US" dirty="0">
                  <a:latin typeface="Times New Roman" panose="02020603050405020304" charset="0"/>
                  <a:cs typeface="Times New Roman" panose="02020603050405020304" charset="0"/>
                </a:endParaRPr>
              </a:p>
            </p:txBody>
          </p:sp>
        </mc:Choice>
        <mc:Fallback xmlns="">
          <p:sp>
            <p:nvSpPr>
              <p:cNvPr id="62" name="文字方塊 17">
                <a:extLst>
                  <a:ext uri="{FF2B5EF4-FFF2-40B4-BE49-F238E27FC236}">
                    <a16:creationId xmlns:a16="http://schemas.microsoft.com/office/drawing/2014/main" id="{3C04CABB-CDD6-4029-8ED0-C5CA698E67B9}"/>
                  </a:ext>
                </a:extLst>
              </p:cNvPr>
              <p:cNvSpPr txBox="1">
                <a:spLocks noRot="1" noChangeAspect="1" noMove="1" noResize="1" noEditPoints="1" noAdjustHandles="1" noChangeArrowheads="1" noChangeShapeType="1" noTextEdit="1"/>
              </p:cNvSpPr>
              <p:nvPr/>
            </p:nvSpPr>
            <p:spPr>
              <a:xfrm>
                <a:off x="4716363" y="3266590"/>
                <a:ext cx="4406380" cy="369332"/>
              </a:xfrm>
              <a:prstGeom prst="rect">
                <a:avLst/>
              </a:prstGeom>
              <a:blipFill>
                <a:blip r:embed="rId6"/>
                <a:stretch>
                  <a:fillRect l="-968" t="-116667" b="-181667"/>
                </a:stretch>
              </a:blipFill>
            </p:spPr>
            <p:txBody>
              <a:bodyPr/>
              <a:lstStyle/>
              <a:p>
                <a:r>
                  <a:rPr lang="zh-CN" altLang="en-US">
                    <a:noFill/>
                  </a:rPr>
                  <a:t> </a:t>
                </a:r>
              </a:p>
            </p:txBody>
          </p:sp>
        </mc:Fallback>
      </mc:AlternateContent>
      <p:cxnSp>
        <p:nvCxnSpPr>
          <p:cNvPr id="63" name="直線接點 18">
            <a:extLst>
              <a:ext uri="{FF2B5EF4-FFF2-40B4-BE49-F238E27FC236}">
                <a16:creationId xmlns:a16="http://schemas.microsoft.com/office/drawing/2014/main" id="{881942C3-0D30-4D93-90DE-B83BBD6D9A1F}"/>
              </a:ext>
            </a:extLst>
          </p:cNvPr>
          <p:cNvCxnSpPr/>
          <p:nvPr/>
        </p:nvCxnSpPr>
        <p:spPr>
          <a:xfrm>
            <a:off x="3006039" y="4083556"/>
            <a:ext cx="1591247" cy="1508056"/>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64" name="文字方塊 2">
            <a:extLst>
              <a:ext uri="{FF2B5EF4-FFF2-40B4-BE49-F238E27FC236}">
                <a16:creationId xmlns:a16="http://schemas.microsoft.com/office/drawing/2014/main" id="{3BC00F23-E017-4B07-8B42-807DFF64BF35}"/>
              </a:ext>
            </a:extLst>
          </p:cNvPr>
          <p:cNvSpPr txBox="1"/>
          <p:nvPr/>
        </p:nvSpPr>
        <p:spPr>
          <a:xfrm>
            <a:off x="6233228" y="4311598"/>
            <a:ext cx="1633045"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Positive </a:t>
            </a:r>
            <a:endParaRPr lang="zh-TW" altLang="en-US" sz="2400" dirty="0">
              <a:latin typeface="Times New Roman" panose="02020603050405020304" charset="0"/>
              <a:cs typeface="Times New Roman" panose="02020603050405020304" charset="0"/>
            </a:endParaRPr>
          </a:p>
        </p:txBody>
      </p:sp>
      <p:sp>
        <p:nvSpPr>
          <p:cNvPr id="65" name="文字方塊 20">
            <a:extLst>
              <a:ext uri="{FF2B5EF4-FFF2-40B4-BE49-F238E27FC236}">
                <a16:creationId xmlns:a16="http://schemas.microsoft.com/office/drawing/2014/main" id="{A7707B73-2E20-4157-B276-CF440D87D14D}"/>
              </a:ext>
            </a:extLst>
          </p:cNvPr>
          <p:cNvSpPr txBox="1"/>
          <p:nvPr/>
        </p:nvSpPr>
        <p:spPr>
          <a:xfrm>
            <a:off x="6239067" y="3695234"/>
            <a:ext cx="1633045" cy="461665"/>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Negative</a:t>
            </a:r>
            <a:endParaRPr lang="zh-TW" altLang="en-US" sz="2400" dirty="0">
              <a:latin typeface="Times New Roman" panose="02020603050405020304" charset="0"/>
              <a:cs typeface="Times New Roman" panose="02020603050405020304" charset="0"/>
            </a:endParaRPr>
          </a:p>
        </p:txBody>
      </p:sp>
      <p:sp>
        <p:nvSpPr>
          <p:cNvPr id="66" name="向右箭號 3">
            <a:extLst>
              <a:ext uri="{FF2B5EF4-FFF2-40B4-BE49-F238E27FC236}">
                <a16:creationId xmlns:a16="http://schemas.microsoft.com/office/drawing/2014/main" id="{1DD3D0B7-28BC-4346-A7E6-73C6F4D01C33}"/>
              </a:ext>
            </a:extLst>
          </p:cNvPr>
          <p:cNvSpPr/>
          <p:nvPr/>
        </p:nvSpPr>
        <p:spPr>
          <a:xfrm>
            <a:off x="7982401" y="4348817"/>
            <a:ext cx="657843" cy="424446"/>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67" name="向右箭號 22">
            <a:extLst>
              <a:ext uri="{FF2B5EF4-FFF2-40B4-BE49-F238E27FC236}">
                <a16:creationId xmlns:a16="http://schemas.microsoft.com/office/drawing/2014/main" id="{A2CE3870-B459-43FD-8136-BBBE5B27C891}"/>
              </a:ext>
            </a:extLst>
          </p:cNvPr>
          <p:cNvSpPr/>
          <p:nvPr/>
        </p:nvSpPr>
        <p:spPr>
          <a:xfrm>
            <a:off x="7992612" y="3700271"/>
            <a:ext cx="657843" cy="424446"/>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68" name="文字方塊 23">
            <a:extLst>
              <a:ext uri="{FF2B5EF4-FFF2-40B4-BE49-F238E27FC236}">
                <a16:creationId xmlns:a16="http://schemas.microsoft.com/office/drawing/2014/main" id="{64F6F4BB-63A1-488C-B7FE-2D55E206C4A3}"/>
              </a:ext>
            </a:extLst>
          </p:cNvPr>
          <p:cNvSpPr txBox="1"/>
          <p:nvPr/>
        </p:nvSpPr>
        <p:spPr>
          <a:xfrm>
            <a:off x="8776468" y="4299416"/>
            <a:ext cx="1633045" cy="46166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Decrease w</a:t>
            </a:r>
            <a:endParaRPr lang="zh-TW" altLang="en-US" sz="2400" dirty="0">
              <a:latin typeface="Times New Roman" panose="02020603050405020304" charset="0"/>
              <a:cs typeface="Times New Roman" panose="02020603050405020304" charset="0"/>
            </a:endParaRPr>
          </a:p>
        </p:txBody>
      </p:sp>
      <p:sp>
        <p:nvSpPr>
          <p:cNvPr id="69" name="文字方塊 30">
            <a:extLst>
              <a:ext uri="{FF2B5EF4-FFF2-40B4-BE49-F238E27FC236}">
                <a16:creationId xmlns:a16="http://schemas.microsoft.com/office/drawing/2014/main" id="{7B9D99E5-A322-4E0D-B89F-B8494666693F}"/>
              </a:ext>
            </a:extLst>
          </p:cNvPr>
          <p:cNvSpPr txBox="1"/>
          <p:nvPr/>
        </p:nvSpPr>
        <p:spPr>
          <a:xfrm>
            <a:off x="8776468" y="3681374"/>
            <a:ext cx="1633045" cy="46166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Increase w</a:t>
            </a:r>
            <a:endParaRPr lang="zh-TW" altLang="en-US" sz="2400" dirty="0">
              <a:latin typeface="Times New Roman" panose="02020603050405020304" charset="0"/>
              <a:cs typeface="Times New Roman" panose="02020603050405020304" charset="0"/>
            </a:endParaRPr>
          </a:p>
        </p:txBody>
      </p:sp>
      <p:sp>
        <p:nvSpPr>
          <p:cNvPr id="70" name="向右箭號 31">
            <a:extLst>
              <a:ext uri="{FF2B5EF4-FFF2-40B4-BE49-F238E27FC236}">
                <a16:creationId xmlns:a16="http://schemas.microsoft.com/office/drawing/2014/main" id="{9E70B21B-BB8E-4641-8A27-3093D6A69017}"/>
              </a:ext>
            </a:extLst>
          </p:cNvPr>
          <p:cNvSpPr/>
          <p:nvPr/>
        </p:nvSpPr>
        <p:spPr>
          <a:xfrm>
            <a:off x="3897335" y="6118389"/>
            <a:ext cx="603767" cy="24828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71" name="直線單箭頭接點 6">
            <a:extLst>
              <a:ext uri="{FF2B5EF4-FFF2-40B4-BE49-F238E27FC236}">
                <a16:creationId xmlns:a16="http://schemas.microsoft.com/office/drawing/2014/main" id="{641B87D9-9277-4737-A0A9-33CB5FFC85BF}"/>
              </a:ext>
            </a:extLst>
          </p:cNvPr>
          <p:cNvCxnSpPr>
            <a:cxnSpLocks/>
          </p:cNvCxnSpPr>
          <p:nvPr/>
        </p:nvCxnSpPr>
        <p:spPr>
          <a:xfrm flipH="1">
            <a:off x="3724612" y="3709198"/>
            <a:ext cx="1038791" cy="1004509"/>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72" name="圖片 8">
            <a:extLst>
              <a:ext uri="{FF2B5EF4-FFF2-40B4-BE49-F238E27FC236}">
                <a16:creationId xmlns:a16="http://schemas.microsoft.com/office/drawing/2014/main" id="{54C4B697-4140-4F03-9966-E743FFD0DB2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96364" y="3704003"/>
            <a:ext cx="1163839" cy="1163839"/>
          </a:xfrm>
          <a:prstGeom prst="rect">
            <a:avLst/>
          </a:prstGeom>
        </p:spPr>
      </p:pic>
      <p:sp>
        <p:nvSpPr>
          <p:cNvPr id="73" name="文字方塊 34">
            <a:extLst>
              <a:ext uri="{FF2B5EF4-FFF2-40B4-BE49-F238E27FC236}">
                <a16:creationId xmlns:a16="http://schemas.microsoft.com/office/drawing/2014/main" id="{917AB21E-6F78-4EAE-8791-847BE1D3CC50}"/>
              </a:ext>
            </a:extLst>
          </p:cNvPr>
          <p:cNvSpPr txBox="1"/>
          <p:nvPr/>
        </p:nvSpPr>
        <p:spPr>
          <a:xfrm>
            <a:off x="4083072" y="3003950"/>
            <a:ext cx="4269929" cy="333316"/>
          </a:xfrm>
          <a:prstGeom prst="rect">
            <a:avLst/>
          </a:prstGeom>
          <a:noFill/>
        </p:spPr>
        <p:txBody>
          <a:bodyPr wrap="square" rtlCol="0">
            <a:spAutoFit/>
          </a:bodyPr>
          <a:lstStyle/>
          <a:p>
            <a:pPr marL="457200" indent="-457200" algn="ctr">
              <a:buFont typeface="Wingdings" panose="05000000000000000000" pitchFamily="2" charset="2"/>
              <a:buChar char="Ø"/>
            </a:pPr>
            <a:r>
              <a:rPr lang="en-US" altLang="zh-TW" dirty="0">
                <a:latin typeface="Times New Roman" panose="02020603050405020304" charset="0"/>
                <a:cs typeface="Times New Roman" panose="02020603050405020304" charset="0"/>
              </a:rPr>
              <a:t>Pick an initial value for w</a:t>
            </a:r>
            <a:endParaRPr lang="zh-TW" altLang="en-US"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24569485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55</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a:t>
            </a:r>
            <a:r>
              <a:rPr lang="zh-CN" altLang="en-US" sz="2400" b="1" dirty="0">
                <a:latin typeface="Times New Roman" panose="02020603050405020304" pitchFamily="18" charset="0"/>
                <a:cs typeface="Times New Roman" panose="02020603050405020304" pitchFamily="18" charset="0"/>
              </a:rPr>
              <a:t>化</a:t>
            </a:r>
            <a:r>
              <a:rPr lang="zh-CN" altLang="en-US" sz="2400" dirty="0">
                <a:latin typeface="Times New Roman" panose="02020603050405020304" pitchFamily="18" charset="0"/>
                <a:cs typeface="Times New Roman" panose="02020603050405020304" pitchFamily="18" charset="0"/>
              </a:rPr>
              <a:t>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grpSp>
        <p:nvGrpSpPr>
          <p:cNvPr id="45" name="组合 44">
            <a:extLst>
              <a:ext uri="{FF2B5EF4-FFF2-40B4-BE49-F238E27FC236}">
                <a16:creationId xmlns:a16="http://schemas.microsoft.com/office/drawing/2014/main" id="{AD800C84-3675-43C3-A4D5-BFCB36B56584}"/>
              </a:ext>
            </a:extLst>
          </p:cNvPr>
          <p:cNvGrpSpPr/>
          <p:nvPr/>
        </p:nvGrpSpPr>
        <p:grpSpPr>
          <a:xfrm>
            <a:off x="1891862" y="2436632"/>
            <a:ext cx="8182889" cy="4284843"/>
            <a:chOff x="1580667" y="2443123"/>
            <a:chExt cx="8773727" cy="4747830"/>
          </a:xfrm>
        </p:grpSpPr>
        <mc:AlternateContent xmlns:mc="http://schemas.openxmlformats.org/markup-compatibility/2006" xmlns:a14="http://schemas.microsoft.com/office/drawing/2010/main">
          <mc:Choice Requires="a14">
            <p:sp>
              <p:nvSpPr>
                <p:cNvPr id="46" name="文字方塊 61">
                  <a:extLst>
                    <a:ext uri="{FF2B5EF4-FFF2-40B4-BE49-F238E27FC236}">
                      <a16:creationId xmlns:a16="http://schemas.microsoft.com/office/drawing/2014/main" id="{D1ADC22D-1113-42F1-9509-6F57D3358722}"/>
                    </a:ext>
                  </a:extLst>
                </p:cNvPr>
                <p:cNvSpPr txBox="1"/>
                <p:nvPr/>
              </p:nvSpPr>
              <p:spPr>
                <a:xfrm>
                  <a:off x="1580667" y="3736238"/>
                  <a:ext cx="1400487" cy="646331"/>
                </a:xfrm>
                <a:prstGeom prst="rect">
                  <a:avLst/>
                </a:prstGeom>
                <a:noFill/>
              </p:spPr>
              <p:txBody>
                <a:bodyPr wrap="square" rtlCol="0">
                  <a:spAutoFit/>
                </a:bodyPr>
                <a:lstStyle/>
                <a:p>
                  <a:pPr algn="ctr"/>
                  <a:r>
                    <a:rPr lang="en-US" altLang="zh-TW" dirty="0">
                      <a:latin typeface="Times New Roman" panose="02020603050405020304" charset="0"/>
                      <a:cs typeface="Times New Roman" panose="02020603050405020304" charset="0"/>
                    </a:rPr>
                    <a:t>Total </a:t>
                  </a:r>
                </a:p>
                <a:p>
                  <a:pPr algn="ctr"/>
                  <a:r>
                    <a:rPr lang="en-US" altLang="zh-TW" dirty="0">
                      <a:latin typeface="Times New Roman" panose="02020603050405020304" charset="0"/>
                      <a:cs typeface="Times New Roman" panose="02020603050405020304" charset="0"/>
                    </a:rPr>
                    <a:t>Loss </a:t>
                  </a:r>
                  <a14:m>
                    <m:oMath xmlns:m="http://schemas.openxmlformats.org/officeDocument/2006/math">
                      <m:r>
                        <a:rPr lang="en-US" altLang="zh-TW" b="0" i="1" smtClean="0">
                          <a:latin typeface="Cambria Math" panose="02040503050406030204" pitchFamily="18" charset="0"/>
                        </a:rPr>
                        <m:t>𝐿</m:t>
                      </m:r>
                    </m:oMath>
                  </a14:m>
                  <a:endParaRPr lang="zh-TW" altLang="en-US" dirty="0">
                    <a:latin typeface="Times New Roman" panose="02020603050405020304" charset="0"/>
                    <a:cs typeface="Times New Roman" panose="02020603050405020304" charset="0"/>
                  </a:endParaRPr>
                </a:p>
              </p:txBody>
            </p:sp>
          </mc:Choice>
          <mc:Fallback xmlns="">
            <p:sp>
              <p:nvSpPr>
                <p:cNvPr id="46" name="文字方塊 61">
                  <a:extLst>
                    <a:ext uri="{FF2B5EF4-FFF2-40B4-BE49-F238E27FC236}">
                      <a16:creationId xmlns:a16="http://schemas.microsoft.com/office/drawing/2014/main" id="{D1ADC22D-1113-42F1-9509-6F57D3358722}"/>
                    </a:ext>
                  </a:extLst>
                </p:cNvPr>
                <p:cNvSpPr txBox="1">
                  <a:spLocks noRot="1" noChangeAspect="1" noMove="1" noResize="1" noEditPoints="1" noAdjustHandles="1" noChangeArrowheads="1" noChangeShapeType="1" noTextEdit="1"/>
                </p:cNvSpPr>
                <p:nvPr/>
              </p:nvSpPr>
              <p:spPr>
                <a:xfrm>
                  <a:off x="1580667" y="3736238"/>
                  <a:ext cx="1400487" cy="646331"/>
                </a:xfrm>
                <a:prstGeom prst="rect">
                  <a:avLst/>
                </a:prstGeom>
                <a:blipFill>
                  <a:blip r:embed="rId3"/>
                  <a:stretch>
                    <a:fillRect t="-5208" b="-26042"/>
                  </a:stretch>
                </a:blipFill>
              </p:spPr>
              <p:txBody>
                <a:bodyPr/>
                <a:lstStyle/>
                <a:p>
                  <a:r>
                    <a:rPr lang="zh-CN" altLang="en-US">
                      <a:noFill/>
                    </a:rPr>
                    <a:t> </a:t>
                  </a:r>
                </a:p>
              </p:txBody>
            </p:sp>
          </mc:Fallback>
        </mc:AlternateContent>
        <p:cxnSp>
          <p:nvCxnSpPr>
            <p:cNvPr id="50" name="直線單箭頭接點 27">
              <a:extLst>
                <a:ext uri="{FF2B5EF4-FFF2-40B4-BE49-F238E27FC236}">
                  <a16:creationId xmlns:a16="http://schemas.microsoft.com/office/drawing/2014/main" id="{2142E27A-DB1A-451E-86C4-C2C6CBA020C6}"/>
                </a:ext>
              </a:extLst>
            </p:cNvPr>
            <p:cNvCxnSpPr/>
            <p:nvPr/>
          </p:nvCxnSpPr>
          <p:spPr>
            <a:xfrm>
              <a:off x="2073290" y="6625377"/>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Object 12">
                  <a:extLst>
                    <a:ext uri="{FF2B5EF4-FFF2-40B4-BE49-F238E27FC236}">
                      <a16:creationId xmlns:a16="http://schemas.microsoft.com/office/drawing/2014/main" id="{149CE936-8C7C-4843-9C5F-3200BC07C71C}"/>
                    </a:ext>
                  </a:extLst>
                </p:cNvPr>
                <p:cNvSpPr txBox="1"/>
                <p:nvPr/>
              </p:nvSpPr>
              <p:spPr bwMode="auto">
                <a:xfrm>
                  <a:off x="9836820" y="6658235"/>
                  <a:ext cx="327025" cy="298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1100" i="1">
                            <a:solidFill>
                              <a:srgbClr val="000000"/>
                            </a:solidFill>
                            <a:latin typeface="Cambria Math" panose="02040503050406030204" pitchFamily="18" charset="0"/>
                          </a:rPr>
                          <m:t>𝑤</m:t>
                        </m:r>
                      </m:oMath>
                    </m:oMathPara>
                  </a14:m>
                  <a:endParaRPr lang="zh-CN" altLang="en-US" sz="1100"/>
                </a:p>
              </p:txBody>
            </p:sp>
          </mc:Choice>
          <mc:Fallback xmlns="">
            <p:sp>
              <p:nvSpPr>
                <p:cNvPr id="51" name="Object 12">
                  <a:extLst>
                    <a:ext uri="{FF2B5EF4-FFF2-40B4-BE49-F238E27FC236}">
                      <a16:creationId xmlns:a16="http://schemas.microsoft.com/office/drawing/2014/main" id="{149CE936-8C7C-4843-9C5F-3200BC07C71C}"/>
                    </a:ext>
                  </a:extLst>
                </p:cNvPr>
                <p:cNvSpPr txBox="1">
                  <a:spLocks noRot="1" noChangeAspect="1" noMove="1" noResize="1" noEditPoints="1" noAdjustHandles="1" noChangeArrowheads="1" noChangeShapeType="1" noTextEdit="1"/>
                </p:cNvSpPr>
                <p:nvPr/>
              </p:nvSpPr>
              <p:spPr bwMode="auto">
                <a:xfrm>
                  <a:off x="9836820" y="6658235"/>
                  <a:ext cx="327025" cy="298450"/>
                </a:xfrm>
                <a:prstGeom prst="rect">
                  <a:avLst/>
                </a:prstGeom>
                <a:blipFill>
                  <a:blip r:embed="rId4"/>
                  <a:stretch>
                    <a:fillRect/>
                  </a:stretch>
                </a:blipFill>
              </p:spPr>
              <p:txBody>
                <a:bodyPr/>
                <a:lstStyle/>
                <a:p>
                  <a:r>
                    <a:rPr lang="zh-CN" altLang="en-US">
                      <a:noFill/>
                    </a:rPr>
                    <a:t> </a:t>
                  </a:r>
                </a:p>
              </p:txBody>
            </p:sp>
          </mc:Fallback>
        </mc:AlternateContent>
        <p:cxnSp>
          <p:nvCxnSpPr>
            <p:cNvPr id="52" name="直線單箭頭接點 29">
              <a:extLst>
                <a:ext uri="{FF2B5EF4-FFF2-40B4-BE49-F238E27FC236}">
                  <a16:creationId xmlns:a16="http://schemas.microsoft.com/office/drawing/2014/main" id="{0C14BADC-7B92-4EAE-A1CB-9BE7CEE516C3}"/>
                </a:ext>
              </a:extLst>
            </p:cNvPr>
            <p:cNvCxnSpPr/>
            <p:nvPr/>
          </p:nvCxnSpPr>
          <p:spPr>
            <a:xfrm flipV="1">
              <a:off x="2886345" y="3071741"/>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手繪多邊形 54">
              <a:extLst>
                <a:ext uri="{FF2B5EF4-FFF2-40B4-BE49-F238E27FC236}">
                  <a16:creationId xmlns:a16="http://schemas.microsoft.com/office/drawing/2014/main" id="{4771A40A-0E10-4BF6-8FCC-D8D60DD11C71}"/>
                </a:ext>
              </a:extLst>
            </p:cNvPr>
            <p:cNvSpPr/>
            <p:nvPr/>
          </p:nvSpPr>
          <p:spPr>
            <a:xfrm>
              <a:off x="2540968" y="2982686"/>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1" fmla="*/ 0 w 7754816"/>
                <a:gd name="connsiteY0-2" fmla="*/ 0 h 4208267"/>
                <a:gd name="connsiteX1-3" fmla="*/ 1019908 w 7754816"/>
                <a:gd name="connsiteY1-4" fmla="*/ 2356339 h 4208267"/>
                <a:gd name="connsiteX2-5" fmla="*/ 3499339 w 7754816"/>
                <a:gd name="connsiteY2-6" fmla="*/ 2760785 h 4208267"/>
                <a:gd name="connsiteX3-7" fmla="*/ 5732254 w 7754816"/>
                <a:gd name="connsiteY3-8" fmla="*/ 3511062 h 4208267"/>
                <a:gd name="connsiteX4-9" fmla="*/ 5820508 w 7754816"/>
                <a:gd name="connsiteY4-10" fmla="*/ 2602523 h 4208267"/>
                <a:gd name="connsiteX5-11" fmla="*/ 6664570 w 7754816"/>
                <a:gd name="connsiteY5-12" fmla="*/ 2391508 h 4208267"/>
                <a:gd name="connsiteX6-13" fmla="*/ 7561385 w 7754816"/>
                <a:gd name="connsiteY6-14" fmla="*/ 3991708 h 4208267"/>
                <a:gd name="connsiteX7-15" fmla="*/ 7754816 w 7754816"/>
                <a:gd name="connsiteY7-16" fmla="*/ 4149970 h 4208267"/>
                <a:gd name="connsiteX0-17" fmla="*/ 0 w 7754816"/>
                <a:gd name="connsiteY0-18" fmla="*/ 0 h 4208267"/>
                <a:gd name="connsiteX1-19" fmla="*/ 1019908 w 7754816"/>
                <a:gd name="connsiteY1-20" fmla="*/ 2356339 h 4208267"/>
                <a:gd name="connsiteX2-21" fmla="*/ 3499339 w 7754816"/>
                <a:gd name="connsiteY2-22" fmla="*/ 2760785 h 4208267"/>
                <a:gd name="connsiteX3-23" fmla="*/ 5732254 w 7754816"/>
                <a:gd name="connsiteY3-24" fmla="*/ 3511062 h 4208267"/>
                <a:gd name="connsiteX4-25" fmla="*/ 6289268 w 7754816"/>
                <a:gd name="connsiteY4-26" fmla="*/ 2754923 h 4208267"/>
                <a:gd name="connsiteX5-27" fmla="*/ 6664570 w 7754816"/>
                <a:gd name="connsiteY5-28" fmla="*/ 2391508 h 4208267"/>
                <a:gd name="connsiteX6-29" fmla="*/ 7561385 w 7754816"/>
                <a:gd name="connsiteY6-30" fmla="*/ 3991708 h 4208267"/>
                <a:gd name="connsiteX7-31" fmla="*/ 7754816 w 7754816"/>
                <a:gd name="connsiteY7-32" fmla="*/ 4149970 h 4208267"/>
                <a:gd name="connsiteX0-33" fmla="*/ 0 w 7754816"/>
                <a:gd name="connsiteY0-34" fmla="*/ 0 h 4208267"/>
                <a:gd name="connsiteX1-35" fmla="*/ 1019908 w 7754816"/>
                <a:gd name="connsiteY1-36" fmla="*/ 2356339 h 4208267"/>
                <a:gd name="connsiteX2-37" fmla="*/ 3941312 w 7754816"/>
                <a:gd name="connsiteY2-38" fmla="*/ 2760785 h 4208267"/>
                <a:gd name="connsiteX3-39" fmla="*/ 5732254 w 7754816"/>
                <a:gd name="connsiteY3-40" fmla="*/ 3511062 h 4208267"/>
                <a:gd name="connsiteX4-41" fmla="*/ 6289268 w 7754816"/>
                <a:gd name="connsiteY4-42" fmla="*/ 2754923 h 4208267"/>
                <a:gd name="connsiteX5-43" fmla="*/ 6664570 w 7754816"/>
                <a:gd name="connsiteY5-44" fmla="*/ 2391508 h 4208267"/>
                <a:gd name="connsiteX6-45" fmla="*/ 7561385 w 7754816"/>
                <a:gd name="connsiteY6-46" fmla="*/ 3991708 h 4208267"/>
                <a:gd name="connsiteX7-47" fmla="*/ 7754816 w 7754816"/>
                <a:gd name="connsiteY7-48" fmla="*/ 4149970 h 4208267"/>
                <a:gd name="connsiteX0-49" fmla="*/ 0 w 7754816"/>
                <a:gd name="connsiteY0-50" fmla="*/ 0 h 4208267"/>
                <a:gd name="connsiteX1-51" fmla="*/ 1019908 w 7754816"/>
                <a:gd name="connsiteY1-52" fmla="*/ 2356339 h 4208267"/>
                <a:gd name="connsiteX2-53" fmla="*/ 3941312 w 7754816"/>
                <a:gd name="connsiteY2-54" fmla="*/ 2760785 h 4208267"/>
                <a:gd name="connsiteX3-55" fmla="*/ 5732254 w 7754816"/>
                <a:gd name="connsiteY3-56" fmla="*/ 3511062 h 4208267"/>
                <a:gd name="connsiteX4-57" fmla="*/ 6289268 w 7754816"/>
                <a:gd name="connsiteY4-58" fmla="*/ 2754923 h 4208267"/>
                <a:gd name="connsiteX5-59" fmla="*/ 6664570 w 7754816"/>
                <a:gd name="connsiteY5-60" fmla="*/ 2391508 h 4208267"/>
                <a:gd name="connsiteX6-61" fmla="*/ 7561385 w 7754816"/>
                <a:gd name="connsiteY6-62" fmla="*/ 3991708 h 4208267"/>
                <a:gd name="connsiteX7-63" fmla="*/ 7754816 w 7754816"/>
                <a:gd name="connsiteY7-64" fmla="*/ 4149970 h 4208267"/>
                <a:gd name="connsiteX0-65" fmla="*/ 0 w 7754816"/>
                <a:gd name="connsiteY0-66" fmla="*/ 0 h 4208267"/>
                <a:gd name="connsiteX1-67" fmla="*/ 1314558 w 7754816"/>
                <a:gd name="connsiteY1-68" fmla="*/ 2225710 h 4208267"/>
                <a:gd name="connsiteX2-69" fmla="*/ 3941312 w 7754816"/>
                <a:gd name="connsiteY2-70" fmla="*/ 2760785 h 4208267"/>
                <a:gd name="connsiteX3-71" fmla="*/ 5732254 w 7754816"/>
                <a:gd name="connsiteY3-72" fmla="*/ 3511062 h 4208267"/>
                <a:gd name="connsiteX4-73" fmla="*/ 6289268 w 7754816"/>
                <a:gd name="connsiteY4-74" fmla="*/ 2754923 h 4208267"/>
                <a:gd name="connsiteX5-75" fmla="*/ 6664570 w 7754816"/>
                <a:gd name="connsiteY5-76" fmla="*/ 2391508 h 4208267"/>
                <a:gd name="connsiteX6-77" fmla="*/ 7561385 w 7754816"/>
                <a:gd name="connsiteY6-78" fmla="*/ 3991708 h 4208267"/>
                <a:gd name="connsiteX7-79" fmla="*/ 7754816 w 7754816"/>
                <a:gd name="connsiteY7-80" fmla="*/ 4149970 h 4208267"/>
                <a:gd name="connsiteX0-81" fmla="*/ 0 w 7754816"/>
                <a:gd name="connsiteY0-82" fmla="*/ 0 h 4208267"/>
                <a:gd name="connsiteX1-83" fmla="*/ 1314558 w 7754816"/>
                <a:gd name="connsiteY1-84" fmla="*/ 2225710 h 4208267"/>
                <a:gd name="connsiteX2-85" fmla="*/ 3767202 w 7754816"/>
                <a:gd name="connsiteY2-86" fmla="*/ 2717243 h 4208267"/>
                <a:gd name="connsiteX3-87" fmla="*/ 5732254 w 7754816"/>
                <a:gd name="connsiteY3-88" fmla="*/ 3511062 h 4208267"/>
                <a:gd name="connsiteX4-89" fmla="*/ 6289268 w 7754816"/>
                <a:gd name="connsiteY4-90" fmla="*/ 2754923 h 4208267"/>
                <a:gd name="connsiteX5-91" fmla="*/ 6664570 w 7754816"/>
                <a:gd name="connsiteY5-92" fmla="*/ 2391508 h 4208267"/>
                <a:gd name="connsiteX6-93" fmla="*/ 7561385 w 7754816"/>
                <a:gd name="connsiteY6-94" fmla="*/ 3991708 h 4208267"/>
                <a:gd name="connsiteX7-95" fmla="*/ 7754816 w 7754816"/>
                <a:gd name="connsiteY7-96" fmla="*/ 4149970 h 4208267"/>
                <a:gd name="connsiteX0-97" fmla="*/ 0 w 7754816"/>
                <a:gd name="connsiteY0-98" fmla="*/ 0 h 4208267"/>
                <a:gd name="connsiteX1-99" fmla="*/ 1314558 w 7754816"/>
                <a:gd name="connsiteY1-100" fmla="*/ 2225710 h 4208267"/>
                <a:gd name="connsiteX2-101" fmla="*/ 3767202 w 7754816"/>
                <a:gd name="connsiteY2-102" fmla="*/ 2717243 h 4208267"/>
                <a:gd name="connsiteX3-103" fmla="*/ 5732254 w 7754816"/>
                <a:gd name="connsiteY3-104" fmla="*/ 3511062 h 4208267"/>
                <a:gd name="connsiteX4-105" fmla="*/ 6289268 w 7754816"/>
                <a:gd name="connsiteY4-106" fmla="*/ 2754923 h 4208267"/>
                <a:gd name="connsiteX5-107" fmla="*/ 6664570 w 7754816"/>
                <a:gd name="connsiteY5-108" fmla="*/ 2391508 h 4208267"/>
                <a:gd name="connsiteX6-109" fmla="*/ 7561385 w 7754816"/>
                <a:gd name="connsiteY6-110" fmla="*/ 3991708 h 4208267"/>
                <a:gd name="connsiteX7-111" fmla="*/ 7754816 w 7754816"/>
                <a:gd name="connsiteY7-112" fmla="*/ 4149970 h 4208267"/>
                <a:gd name="connsiteX0-113" fmla="*/ 0 w 7754816"/>
                <a:gd name="connsiteY0-114" fmla="*/ 0 h 4208267"/>
                <a:gd name="connsiteX1-115" fmla="*/ 1314558 w 7754816"/>
                <a:gd name="connsiteY1-116" fmla="*/ 2225710 h 4208267"/>
                <a:gd name="connsiteX2-117" fmla="*/ 3823199 w 7754816"/>
                <a:gd name="connsiteY2-118" fmla="*/ 2698193 h 4208267"/>
                <a:gd name="connsiteX3-119" fmla="*/ 5732254 w 7754816"/>
                <a:gd name="connsiteY3-120" fmla="*/ 3511062 h 4208267"/>
                <a:gd name="connsiteX4-121" fmla="*/ 6289268 w 7754816"/>
                <a:gd name="connsiteY4-122" fmla="*/ 2754923 h 4208267"/>
                <a:gd name="connsiteX5-123" fmla="*/ 6664570 w 7754816"/>
                <a:gd name="connsiteY5-124" fmla="*/ 2391508 h 4208267"/>
                <a:gd name="connsiteX6-125" fmla="*/ 7561385 w 7754816"/>
                <a:gd name="connsiteY6-126" fmla="*/ 3991708 h 4208267"/>
                <a:gd name="connsiteX7-127" fmla="*/ 7754816 w 7754816"/>
                <a:gd name="connsiteY7-128" fmla="*/ 4149970 h 42082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sp>
          <p:nvSpPr>
            <p:cNvPr id="56" name="橢圓 69">
              <a:extLst>
                <a:ext uri="{FF2B5EF4-FFF2-40B4-BE49-F238E27FC236}">
                  <a16:creationId xmlns:a16="http://schemas.microsoft.com/office/drawing/2014/main" id="{8C6BC539-6E56-4B3B-96A4-893C4936C532}"/>
                </a:ext>
              </a:extLst>
            </p:cNvPr>
            <p:cNvSpPr/>
            <p:nvPr/>
          </p:nvSpPr>
          <p:spPr>
            <a:xfrm>
              <a:off x="3441080" y="6466436"/>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cxnSp>
          <p:nvCxnSpPr>
            <p:cNvPr id="57" name="直線接點 70">
              <a:extLst>
                <a:ext uri="{FF2B5EF4-FFF2-40B4-BE49-F238E27FC236}">
                  <a16:creationId xmlns:a16="http://schemas.microsoft.com/office/drawing/2014/main" id="{471AC729-6E1B-4FB0-BB42-BD5DACB22B0D}"/>
                </a:ext>
              </a:extLst>
            </p:cNvPr>
            <p:cNvCxnSpPr/>
            <p:nvPr/>
          </p:nvCxnSpPr>
          <p:spPr>
            <a:xfrm>
              <a:off x="3517904" y="5081286"/>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字方塊 19">
                  <a:extLst>
                    <a:ext uri="{FF2B5EF4-FFF2-40B4-BE49-F238E27FC236}">
                      <a16:creationId xmlns:a16="http://schemas.microsoft.com/office/drawing/2014/main" id="{F77D9080-FC9C-45DE-A6A9-1360E09A8B6E}"/>
                    </a:ext>
                  </a:extLst>
                </p:cNvPr>
                <p:cNvSpPr txBox="1"/>
                <p:nvPr/>
              </p:nvSpPr>
              <p:spPr>
                <a:xfrm>
                  <a:off x="1919390" y="2443123"/>
                  <a:ext cx="8353220"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000" dirty="0">
                      <a:latin typeface="Times New Roman" panose="02020603050405020304" charset="0"/>
                      <a:cs typeface="Times New Roman" panose="02020603050405020304" charset="0"/>
                    </a:rPr>
                    <a:t>Find </a:t>
                  </a:r>
                  <a:r>
                    <a:rPr lang="en-US" altLang="zh-TW" sz="2000" b="1" i="1" u="sng" dirty="0">
                      <a:latin typeface="Times New Roman" panose="02020603050405020304" charset="0"/>
                      <a:cs typeface="Times New Roman" panose="02020603050405020304" charset="0"/>
                    </a:rPr>
                    <a:t>network parameters </a:t>
                  </a:r>
                  <a14:m>
                    <m:oMath xmlns:m="http://schemas.openxmlformats.org/officeDocument/2006/math">
                      <m:sSup>
                        <m:sSupPr>
                          <m:ctrlPr>
                            <a:rPr lang="en-US" altLang="zh-TW" sz="2000" b="1" i="1" u="sng">
                              <a:latin typeface="Cambria Math" panose="02040503050406030204" pitchFamily="18" charset="0"/>
                            </a:rPr>
                          </m:ctrlPr>
                        </m:sSupPr>
                        <m:e>
                          <m:r>
                            <a:rPr lang="zh-TW" altLang="en-US" sz="2000" b="1" i="1" u="sng">
                              <a:latin typeface="Cambria Math" panose="02040503050406030204" pitchFamily="18" charset="0"/>
                            </a:rPr>
                            <m:t>𝜽</m:t>
                          </m:r>
                        </m:e>
                        <m:sup>
                          <m:r>
                            <a:rPr lang="en-US" altLang="zh-TW" sz="2000" b="1" i="1" u="sng">
                              <a:latin typeface="Cambria Math" panose="02040503050406030204" pitchFamily="18" charset="0"/>
                            </a:rPr>
                            <m:t>∗</m:t>
                          </m:r>
                        </m:sup>
                      </m:sSup>
                    </m:oMath>
                  </a14:m>
                  <a:r>
                    <a:rPr lang="en-US" altLang="zh-TW" sz="2000" dirty="0">
                      <a:latin typeface="Times New Roman" panose="02020603050405020304" charset="0"/>
                      <a:cs typeface="Times New Roman" panose="02020603050405020304" charset="0"/>
                    </a:rPr>
                    <a:t> that minimize total loss L</a:t>
                  </a:r>
                  <a:endParaRPr lang="zh-TW" altLang="en-US" sz="2000" dirty="0">
                    <a:latin typeface="Times New Roman" panose="02020603050405020304" charset="0"/>
                    <a:cs typeface="Times New Roman" panose="02020603050405020304" charset="0"/>
                  </a:endParaRPr>
                </a:p>
              </p:txBody>
            </p:sp>
          </mc:Choice>
          <mc:Fallback xmlns="">
            <p:sp>
              <p:nvSpPr>
                <p:cNvPr id="58" name="文字方塊 19">
                  <a:extLst>
                    <a:ext uri="{FF2B5EF4-FFF2-40B4-BE49-F238E27FC236}">
                      <a16:creationId xmlns:a16="http://schemas.microsoft.com/office/drawing/2014/main" id="{F77D9080-FC9C-45DE-A6A9-1360E09A8B6E}"/>
                    </a:ext>
                  </a:extLst>
                </p:cNvPr>
                <p:cNvSpPr txBox="1">
                  <a:spLocks noRot="1" noChangeAspect="1" noMove="1" noResize="1" noEditPoints="1" noAdjustHandles="1" noChangeArrowheads="1" noChangeShapeType="1" noTextEdit="1"/>
                </p:cNvSpPr>
                <p:nvPr/>
              </p:nvSpPr>
              <p:spPr>
                <a:xfrm>
                  <a:off x="1919390" y="2443123"/>
                  <a:ext cx="8353220" cy="400110"/>
                </a:xfrm>
                <a:prstGeom prst="rect">
                  <a:avLst/>
                </a:prstGeom>
                <a:blipFill>
                  <a:blip r:embed="rId5"/>
                  <a:stretch>
                    <a:fillRect/>
                  </a:stretch>
                </a:blipFill>
              </p:spPr>
              <p:txBody>
                <a:bodyPr/>
                <a:lstStyle/>
                <a:p>
                  <a:r>
                    <a:rPr lang="zh-CN" altLang="en-US">
                      <a:noFill/>
                    </a:rPr>
                    <a:t> </a:t>
                  </a:r>
                </a:p>
              </p:txBody>
            </p:sp>
          </mc:Fallback>
        </mc:AlternateContent>
      </p:grpSp>
      <p:sp>
        <p:nvSpPr>
          <p:cNvPr id="60" name="橢圓 69">
            <a:extLst>
              <a:ext uri="{FF2B5EF4-FFF2-40B4-BE49-F238E27FC236}">
                <a16:creationId xmlns:a16="http://schemas.microsoft.com/office/drawing/2014/main" id="{0DB1DD5E-28A3-48E7-932C-056F1DCBD544}"/>
              </a:ext>
            </a:extLst>
          </p:cNvPr>
          <p:cNvSpPr/>
          <p:nvPr/>
        </p:nvSpPr>
        <p:spPr>
          <a:xfrm>
            <a:off x="3628712" y="6098857"/>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62" name="文字方塊 17">
                <a:extLst>
                  <a:ext uri="{FF2B5EF4-FFF2-40B4-BE49-F238E27FC236}">
                    <a16:creationId xmlns:a16="http://schemas.microsoft.com/office/drawing/2014/main" id="{3C04CABB-CDD6-4029-8ED0-C5CA698E67B9}"/>
                  </a:ext>
                </a:extLst>
              </p:cNvPr>
              <p:cNvSpPr txBox="1"/>
              <p:nvPr/>
            </p:nvSpPr>
            <p:spPr>
              <a:xfrm>
                <a:off x="4716363" y="3266590"/>
                <a:ext cx="4406380" cy="369332"/>
              </a:xfrm>
              <a:prstGeom prst="rect">
                <a:avLst/>
              </a:prstGeom>
              <a:noFill/>
            </p:spPr>
            <p:txBody>
              <a:bodyPr wrap="square" rtlCol="0">
                <a:spAutoFit/>
              </a:bodyPr>
              <a:lstStyle/>
              <a:p>
                <a:pPr marL="457200" indent="-457200">
                  <a:buFont typeface="Wingdings" panose="05000000000000000000" pitchFamily="2" charset="2"/>
                  <a:buChar char="Ø"/>
                </a:pPr>
                <a:r>
                  <a:rPr lang="en-US" altLang="zh-TW" dirty="0">
                    <a:latin typeface="Times New Roman" panose="02020603050405020304" charset="0"/>
                    <a:cs typeface="Times New Roman" panose="02020603050405020304" charset="0"/>
                  </a:rPr>
                  <a:t>Compute </a:t>
                </a:r>
                <a14:m>
                  <m:oMath xmlns:m="http://schemas.openxmlformats.org/officeDocument/2006/math">
                    <m:f>
                      <m:fPr>
                        <m:type m:val="lin"/>
                        <m:ctrlPr>
                          <a:rPr lang="en-US" altLang="zh-TW" i="1">
                            <a:latin typeface="Cambria Math" panose="02040503050406030204" pitchFamily="18" charset="0"/>
                          </a:rPr>
                        </m:ctrlPr>
                      </m:fPr>
                      <m:num>
                        <m:r>
                          <a:rPr lang="en-US" altLang="zh-TW" i="1">
                            <a:latin typeface="Cambria Math" panose="02040503050406030204" pitchFamily="18" charset="0"/>
                          </a:rPr>
                          <m:t>𝜕</m:t>
                        </m:r>
                        <m:r>
                          <a:rPr lang="en-US" altLang="zh-TW" i="1">
                            <a:latin typeface="Cambria Math" panose="02040503050406030204" pitchFamily="18" charset="0"/>
                          </a:rPr>
                          <m:t>𝐿</m:t>
                        </m:r>
                      </m:num>
                      <m:den>
                        <m:r>
                          <a:rPr lang="en-US" altLang="zh-TW" i="1">
                            <a:latin typeface="Cambria Math" panose="02040503050406030204" pitchFamily="18" charset="0"/>
                          </a:rPr>
                          <m:t>𝜕</m:t>
                        </m:r>
                        <m:r>
                          <a:rPr lang="en-US" altLang="zh-TW" i="1">
                            <a:latin typeface="Cambria Math" panose="02040503050406030204" pitchFamily="18" charset="0"/>
                          </a:rPr>
                          <m:t>𝑤</m:t>
                        </m:r>
                      </m:den>
                    </m:f>
                  </m:oMath>
                </a14:m>
                <a:endParaRPr lang="zh-TW" altLang="en-US" dirty="0">
                  <a:latin typeface="Times New Roman" panose="02020603050405020304" charset="0"/>
                  <a:cs typeface="Times New Roman" panose="02020603050405020304" charset="0"/>
                </a:endParaRPr>
              </a:p>
            </p:txBody>
          </p:sp>
        </mc:Choice>
        <mc:Fallback xmlns="">
          <p:sp>
            <p:nvSpPr>
              <p:cNvPr id="62" name="文字方塊 17">
                <a:extLst>
                  <a:ext uri="{FF2B5EF4-FFF2-40B4-BE49-F238E27FC236}">
                    <a16:creationId xmlns:a16="http://schemas.microsoft.com/office/drawing/2014/main" id="{3C04CABB-CDD6-4029-8ED0-C5CA698E67B9}"/>
                  </a:ext>
                </a:extLst>
              </p:cNvPr>
              <p:cNvSpPr txBox="1">
                <a:spLocks noRot="1" noChangeAspect="1" noMove="1" noResize="1" noEditPoints="1" noAdjustHandles="1" noChangeArrowheads="1" noChangeShapeType="1" noTextEdit="1"/>
              </p:cNvSpPr>
              <p:nvPr/>
            </p:nvSpPr>
            <p:spPr>
              <a:xfrm>
                <a:off x="4716363" y="3266590"/>
                <a:ext cx="4406380" cy="369332"/>
              </a:xfrm>
              <a:prstGeom prst="rect">
                <a:avLst/>
              </a:prstGeom>
              <a:blipFill>
                <a:blip r:embed="rId6"/>
                <a:stretch>
                  <a:fillRect l="-968" t="-116667" b="-181667"/>
                </a:stretch>
              </a:blipFill>
            </p:spPr>
            <p:txBody>
              <a:bodyPr/>
              <a:lstStyle/>
              <a:p>
                <a:r>
                  <a:rPr lang="zh-CN" altLang="en-US">
                    <a:noFill/>
                  </a:rPr>
                  <a:t> </a:t>
                </a:r>
              </a:p>
            </p:txBody>
          </p:sp>
        </mc:Fallback>
      </mc:AlternateContent>
      <p:cxnSp>
        <p:nvCxnSpPr>
          <p:cNvPr id="63" name="直線接點 18">
            <a:extLst>
              <a:ext uri="{FF2B5EF4-FFF2-40B4-BE49-F238E27FC236}">
                <a16:creationId xmlns:a16="http://schemas.microsoft.com/office/drawing/2014/main" id="{881942C3-0D30-4D93-90DE-B83BBD6D9A1F}"/>
              </a:ext>
            </a:extLst>
          </p:cNvPr>
          <p:cNvCxnSpPr/>
          <p:nvPr/>
        </p:nvCxnSpPr>
        <p:spPr>
          <a:xfrm>
            <a:off x="3006039" y="4083556"/>
            <a:ext cx="1591247" cy="1508056"/>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70" name="向右箭號 31">
            <a:extLst>
              <a:ext uri="{FF2B5EF4-FFF2-40B4-BE49-F238E27FC236}">
                <a16:creationId xmlns:a16="http://schemas.microsoft.com/office/drawing/2014/main" id="{9E70B21B-BB8E-4641-8A27-3093D6A69017}"/>
              </a:ext>
            </a:extLst>
          </p:cNvPr>
          <p:cNvSpPr/>
          <p:nvPr/>
        </p:nvSpPr>
        <p:spPr>
          <a:xfrm>
            <a:off x="3897335" y="6118389"/>
            <a:ext cx="603767" cy="24828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71" name="直線單箭頭接點 6">
            <a:extLst>
              <a:ext uri="{FF2B5EF4-FFF2-40B4-BE49-F238E27FC236}">
                <a16:creationId xmlns:a16="http://schemas.microsoft.com/office/drawing/2014/main" id="{641B87D9-9277-4737-A0A9-33CB5FFC85BF}"/>
              </a:ext>
            </a:extLst>
          </p:cNvPr>
          <p:cNvCxnSpPr>
            <a:cxnSpLocks/>
          </p:cNvCxnSpPr>
          <p:nvPr/>
        </p:nvCxnSpPr>
        <p:spPr>
          <a:xfrm flipH="1">
            <a:off x="3724612" y="3709198"/>
            <a:ext cx="1038791" cy="1004509"/>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72" name="圖片 8">
            <a:extLst>
              <a:ext uri="{FF2B5EF4-FFF2-40B4-BE49-F238E27FC236}">
                <a16:creationId xmlns:a16="http://schemas.microsoft.com/office/drawing/2014/main" id="{54C4B697-4140-4F03-9966-E743FFD0DB2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96364" y="3704003"/>
            <a:ext cx="1163839" cy="1163839"/>
          </a:xfrm>
          <a:prstGeom prst="rect">
            <a:avLst/>
          </a:prstGeom>
        </p:spPr>
      </p:pic>
      <p:sp>
        <p:nvSpPr>
          <p:cNvPr id="73" name="文字方塊 34">
            <a:extLst>
              <a:ext uri="{FF2B5EF4-FFF2-40B4-BE49-F238E27FC236}">
                <a16:creationId xmlns:a16="http://schemas.microsoft.com/office/drawing/2014/main" id="{917AB21E-6F78-4EAE-8791-847BE1D3CC50}"/>
              </a:ext>
            </a:extLst>
          </p:cNvPr>
          <p:cNvSpPr txBox="1"/>
          <p:nvPr/>
        </p:nvSpPr>
        <p:spPr>
          <a:xfrm>
            <a:off x="4083072" y="3003950"/>
            <a:ext cx="4269929" cy="333316"/>
          </a:xfrm>
          <a:prstGeom prst="rect">
            <a:avLst/>
          </a:prstGeom>
          <a:noFill/>
        </p:spPr>
        <p:txBody>
          <a:bodyPr wrap="square" rtlCol="0">
            <a:spAutoFit/>
          </a:bodyPr>
          <a:lstStyle/>
          <a:p>
            <a:pPr marL="457200" indent="-457200" algn="ctr">
              <a:buFont typeface="Wingdings" panose="05000000000000000000" pitchFamily="2" charset="2"/>
              <a:buChar char="Ø"/>
            </a:pPr>
            <a:r>
              <a:rPr lang="en-US" altLang="zh-TW" dirty="0">
                <a:latin typeface="Times New Roman" panose="02020603050405020304" charset="0"/>
                <a:cs typeface="Times New Roman" panose="02020603050405020304" charset="0"/>
              </a:rPr>
              <a:t>Pick an initial value for w</a:t>
            </a:r>
            <a:endParaRPr lang="zh-TW" altLang="en-US"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8" name="文字方塊 36">
                <a:extLst>
                  <a:ext uri="{FF2B5EF4-FFF2-40B4-BE49-F238E27FC236}">
                    <a16:creationId xmlns:a16="http://schemas.microsoft.com/office/drawing/2014/main" id="{6463DB18-9954-4C02-BB8B-2CEB6A2709C8}"/>
                  </a:ext>
                </a:extLst>
              </p:cNvPr>
              <p:cNvSpPr txBox="1"/>
              <p:nvPr/>
            </p:nvSpPr>
            <p:spPr>
              <a:xfrm>
                <a:off x="5507939" y="3522862"/>
                <a:ext cx="350232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𝑤</m:t>
                      </m:r>
                      <m:f>
                        <m:fPr>
                          <m:type m:val="lin"/>
                          <m:ctrlPr>
                            <a:rPr lang="en-US" altLang="zh-TW" sz="2000" i="1">
                              <a:latin typeface="Cambria Math" panose="02040503050406030204" pitchFamily="18" charset="0"/>
                            </a:rPr>
                          </m:ctrlPr>
                        </m:fPr>
                        <m:num>
                          <m:r>
                            <a:rPr lang="en-US" altLang="zh-TW" sz="200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𝑤</m:t>
                          </m:r>
                          <m:r>
                            <a:rPr lang="en-US" altLang="zh-TW" sz="2000" b="0" i="1" smtClean="0">
                              <a:latin typeface="Cambria Math" panose="02040503050406030204" pitchFamily="18" charset="0"/>
                              <a:ea typeface="Cambria Math" panose="02040503050406030204" pitchFamily="18" charset="0"/>
                            </a:rPr>
                            <m:t>−</m:t>
                          </m:r>
                          <m:r>
                            <a:rPr lang="zh-TW" altLang="en-US" sz="2000" b="0" i="1" smtClean="0">
                              <a:latin typeface="Cambria Math" panose="02040503050406030204" pitchFamily="18" charset="0"/>
                              <a:ea typeface="Cambria Math" panose="02040503050406030204" pitchFamily="18" charset="0"/>
                            </a:rPr>
                            <m:t>𝜂</m:t>
                          </m:r>
                          <m:r>
                            <a:rPr lang="en-US" altLang="zh-TW" sz="2000" i="1">
                              <a:latin typeface="Cambria Math" panose="02040503050406030204" pitchFamily="18" charset="0"/>
                            </a:rPr>
                            <m:t>𝜕</m:t>
                          </m:r>
                          <m:r>
                            <a:rPr lang="en-US" altLang="zh-TW" sz="2000" i="1">
                              <a:latin typeface="Cambria Math" panose="02040503050406030204" pitchFamily="18" charset="0"/>
                            </a:rPr>
                            <m:t>𝐿</m:t>
                          </m:r>
                        </m:num>
                        <m:den>
                          <m:r>
                            <a:rPr lang="en-US" altLang="zh-TW" sz="2000" i="1">
                              <a:latin typeface="Cambria Math" panose="02040503050406030204" pitchFamily="18" charset="0"/>
                            </a:rPr>
                            <m:t>𝜕</m:t>
                          </m:r>
                          <m:r>
                            <a:rPr lang="en-US" altLang="zh-TW" sz="2000" i="1">
                              <a:latin typeface="Cambria Math" panose="02040503050406030204" pitchFamily="18" charset="0"/>
                            </a:rPr>
                            <m:t>𝑤</m:t>
                          </m:r>
                        </m:den>
                      </m:f>
                    </m:oMath>
                  </m:oMathPara>
                </a14:m>
                <a:endParaRPr lang="zh-TW" altLang="en-US" sz="2000" dirty="0"/>
              </a:p>
            </p:txBody>
          </p:sp>
        </mc:Choice>
        <mc:Fallback xmlns="">
          <p:sp>
            <p:nvSpPr>
              <p:cNvPr id="28" name="文字方塊 36">
                <a:extLst>
                  <a:ext uri="{FF2B5EF4-FFF2-40B4-BE49-F238E27FC236}">
                    <a16:creationId xmlns:a16="http://schemas.microsoft.com/office/drawing/2014/main" id="{6463DB18-9954-4C02-BB8B-2CEB6A2709C8}"/>
                  </a:ext>
                </a:extLst>
              </p:cNvPr>
              <p:cNvSpPr txBox="1">
                <a:spLocks noRot="1" noChangeAspect="1" noMove="1" noResize="1" noEditPoints="1" noAdjustHandles="1" noChangeArrowheads="1" noChangeShapeType="1" noTextEdit="1"/>
              </p:cNvSpPr>
              <p:nvPr/>
            </p:nvSpPr>
            <p:spPr>
              <a:xfrm>
                <a:off x="5507939" y="3522862"/>
                <a:ext cx="3502325" cy="400110"/>
              </a:xfrm>
              <a:prstGeom prst="rect">
                <a:avLst/>
              </a:prstGeom>
              <a:blipFill>
                <a:blip r:embed="rId8"/>
                <a:stretch>
                  <a:fillRect t="-116667" b="-177273"/>
                </a:stretch>
              </a:blipFill>
            </p:spPr>
            <p:txBody>
              <a:bodyPr/>
              <a:lstStyle/>
              <a:p>
                <a:r>
                  <a:rPr lang="zh-CN" altLang="en-US">
                    <a:noFill/>
                  </a:rPr>
                  <a:t> </a:t>
                </a:r>
              </a:p>
            </p:txBody>
          </p:sp>
        </mc:Fallback>
      </mc:AlternateContent>
      <p:sp>
        <p:nvSpPr>
          <p:cNvPr id="29" name="矩形 28">
            <a:extLst>
              <a:ext uri="{FF2B5EF4-FFF2-40B4-BE49-F238E27FC236}">
                <a16:creationId xmlns:a16="http://schemas.microsoft.com/office/drawing/2014/main" id="{CB1A8AB8-E479-4E79-88BA-1408612A318B}"/>
              </a:ext>
            </a:extLst>
          </p:cNvPr>
          <p:cNvSpPr/>
          <p:nvPr/>
        </p:nvSpPr>
        <p:spPr>
          <a:xfrm>
            <a:off x="4717407" y="3337266"/>
            <a:ext cx="3656614" cy="583305"/>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33">
            <a:extLst>
              <a:ext uri="{FF2B5EF4-FFF2-40B4-BE49-F238E27FC236}">
                <a16:creationId xmlns:a16="http://schemas.microsoft.com/office/drawing/2014/main" id="{B9AF0910-32BF-4816-972F-03A3690C3F2F}"/>
              </a:ext>
            </a:extLst>
          </p:cNvPr>
          <p:cNvSpPr txBox="1"/>
          <p:nvPr/>
        </p:nvSpPr>
        <p:spPr>
          <a:xfrm>
            <a:off x="6092975" y="5643135"/>
            <a:ext cx="2377921"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l-GR" altLang="zh-TW" sz="2400" dirty="0">
                <a:latin typeface="Times New Roman" panose="02020603050405020304" charset="0"/>
                <a:cs typeface="Times New Roman" panose="02020603050405020304" charset="0"/>
              </a:rPr>
              <a:t>η</a:t>
            </a:r>
            <a:r>
              <a:rPr lang="en-US" altLang="zh-TW" sz="2400" dirty="0">
                <a:latin typeface="Times New Roman" panose="02020603050405020304" charset="0"/>
                <a:cs typeface="Times New Roman" panose="02020603050405020304" charset="0"/>
              </a:rPr>
              <a:t> is called “</a:t>
            </a:r>
            <a:r>
              <a:rPr lang="en-US" altLang="zh-TW" sz="2400" b="1" i="1" dirty="0">
                <a:latin typeface="Times New Roman" panose="02020603050405020304" charset="0"/>
                <a:cs typeface="Times New Roman" panose="02020603050405020304" charset="0"/>
              </a:rPr>
              <a:t>learning rate</a:t>
            </a:r>
            <a:r>
              <a:rPr lang="en-US" altLang="zh-TW" sz="2400" dirty="0">
                <a:latin typeface="Times New Roman" panose="02020603050405020304" charset="0"/>
                <a:cs typeface="Times New Roman" panose="02020603050405020304" charset="0"/>
              </a:rPr>
              <a:t>”</a:t>
            </a:r>
            <a:endParaRPr lang="zh-TW" altLang="en-US" sz="2400" dirty="0">
              <a:latin typeface="Times New Roman" panose="02020603050405020304" charset="0"/>
              <a:cs typeface="Times New Roman" panose="02020603050405020304" charset="0"/>
            </a:endParaRPr>
          </a:p>
        </p:txBody>
      </p:sp>
      <p:sp>
        <p:nvSpPr>
          <p:cNvPr id="31" name="左大括弧 4">
            <a:extLst>
              <a:ext uri="{FF2B5EF4-FFF2-40B4-BE49-F238E27FC236}">
                <a16:creationId xmlns:a16="http://schemas.microsoft.com/office/drawing/2014/main" id="{4F008A49-029A-4D96-B277-15D554E90272}"/>
              </a:ext>
            </a:extLst>
          </p:cNvPr>
          <p:cNvSpPr/>
          <p:nvPr/>
        </p:nvSpPr>
        <p:spPr>
          <a:xfrm rot="5400000">
            <a:off x="4372105" y="5088146"/>
            <a:ext cx="312400" cy="1663274"/>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32" name="直線接點 3">
            <a:extLst>
              <a:ext uri="{FF2B5EF4-FFF2-40B4-BE49-F238E27FC236}">
                <a16:creationId xmlns:a16="http://schemas.microsoft.com/office/drawing/2014/main" id="{6292A183-A069-4963-94A0-67042781CA73}"/>
              </a:ext>
            </a:extLst>
          </p:cNvPr>
          <p:cNvCxnSpPr/>
          <p:nvPr/>
        </p:nvCxnSpPr>
        <p:spPr>
          <a:xfrm>
            <a:off x="4343392" y="6674011"/>
            <a:ext cx="895573"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8735FAAB-DD2D-4022-AB80-CCE5DA80B96F}"/>
                  </a:ext>
                </a:extLst>
              </p:cNvPr>
              <p:cNvSpPr txBox="1"/>
              <p:nvPr/>
            </p:nvSpPr>
            <p:spPr>
              <a:xfrm>
                <a:off x="4179971" y="6197133"/>
                <a:ext cx="125156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2400" i="1" smtClean="0">
                              <a:solidFill>
                                <a:srgbClr val="FF0000"/>
                              </a:solidFill>
                              <a:latin typeface="Cambria Math" panose="02040503050406030204" pitchFamily="18" charset="0"/>
                            </a:rPr>
                          </m:ctrlPr>
                        </m:fPr>
                        <m:num>
                          <m:r>
                            <a:rPr lang="en-US" altLang="zh-TW" sz="2400" b="0" i="1" smtClean="0">
                              <a:solidFill>
                                <a:srgbClr val="FF0000"/>
                              </a:solidFill>
                              <a:latin typeface="Cambria Math" panose="02040503050406030204" pitchFamily="18" charset="0"/>
                            </a:rPr>
                            <m:t>−</m:t>
                          </m:r>
                          <m:r>
                            <a:rPr lang="zh-TW" altLang="en-US" sz="2400" i="1" smtClean="0">
                              <a:solidFill>
                                <a:srgbClr val="FF0000"/>
                              </a:solidFill>
                              <a:latin typeface="Cambria Math" panose="02040503050406030204" pitchFamily="18" charset="0"/>
                            </a:rPr>
                            <m:t>𝜂</m:t>
                          </m:r>
                          <m:r>
                            <a:rPr lang="en-US" altLang="zh-TW" sz="2400" i="1">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𝐿</m:t>
                          </m:r>
                        </m:num>
                        <m:den>
                          <m:r>
                            <a:rPr lang="en-US" altLang="zh-TW" sz="2400" i="1">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𝑤</m:t>
                          </m:r>
                        </m:den>
                      </m:f>
                    </m:oMath>
                  </m:oMathPara>
                </a14:m>
                <a:endParaRPr lang="zh-TW" altLang="en-US" sz="2400" dirty="0">
                  <a:solidFill>
                    <a:srgbClr val="FF0000"/>
                  </a:solidFill>
                </a:endParaRPr>
              </a:p>
            </p:txBody>
          </p:sp>
        </mc:Choice>
        <mc:Fallback xmlns="">
          <p:sp>
            <p:nvSpPr>
              <p:cNvPr id="33" name="文字方塊 32">
                <a:extLst>
                  <a:ext uri="{FF2B5EF4-FFF2-40B4-BE49-F238E27FC236}">
                    <a16:creationId xmlns:a16="http://schemas.microsoft.com/office/drawing/2014/main" id="{8735FAAB-DD2D-4022-AB80-CCE5DA80B96F}"/>
                  </a:ext>
                </a:extLst>
              </p:cNvPr>
              <p:cNvSpPr txBox="1">
                <a:spLocks noRot="1" noChangeAspect="1" noMove="1" noResize="1" noEditPoints="1" noAdjustHandles="1" noChangeArrowheads="1" noChangeShapeType="1" noTextEdit="1"/>
              </p:cNvSpPr>
              <p:nvPr/>
            </p:nvSpPr>
            <p:spPr>
              <a:xfrm>
                <a:off x="4179971" y="6197133"/>
                <a:ext cx="1251565" cy="461665"/>
              </a:xfrm>
              <a:prstGeom prst="rect">
                <a:avLst/>
              </a:prstGeom>
              <a:blipFill>
                <a:blip r:embed="rId9"/>
                <a:stretch>
                  <a:fillRect t="-126667" r="-56098" b="-194667"/>
                </a:stretch>
              </a:blipFill>
            </p:spPr>
            <p:txBody>
              <a:bodyPr/>
              <a:lstStyle/>
              <a:p>
                <a:r>
                  <a:rPr lang="zh-CN" altLang="en-US">
                    <a:noFill/>
                  </a:rPr>
                  <a:t> </a:t>
                </a:r>
              </a:p>
            </p:txBody>
          </p:sp>
        </mc:Fallback>
      </mc:AlternateContent>
      <p:sp>
        <p:nvSpPr>
          <p:cNvPr id="34" name="文字方塊 7">
            <a:extLst>
              <a:ext uri="{FF2B5EF4-FFF2-40B4-BE49-F238E27FC236}">
                <a16:creationId xmlns:a16="http://schemas.microsoft.com/office/drawing/2014/main" id="{E0C5BB3F-1A40-4AC1-9559-B141F1708939}"/>
              </a:ext>
            </a:extLst>
          </p:cNvPr>
          <p:cNvSpPr txBox="1"/>
          <p:nvPr/>
        </p:nvSpPr>
        <p:spPr>
          <a:xfrm>
            <a:off x="5659036" y="3973005"/>
            <a:ext cx="2053825" cy="461665"/>
          </a:xfrm>
          <a:prstGeom prst="rect">
            <a:avLst/>
          </a:prstGeom>
          <a:noFill/>
        </p:spPr>
        <p:txBody>
          <a:bodyPr wrap="square" rtlCol="0">
            <a:spAutoFit/>
          </a:bodyPr>
          <a:lstStyle/>
          <a:p>
            <a:pPr algn="ctr"/>
            <a:r>
              <a:rPr lang="en-US" altLang="zh-TW" sz="2400" dirty="0">
                <a:solidFill>
                  <a:srgbClr val="0000FF"/>
                </a:solidFill>
              </a:rPr>
              <a:t>Repeat</a:t>
            </a:r>
            <a:endParaRPr lang="zh-TW" altLang="en-US" sz="2400" dirty="0">
              <a:solidFill>
                <a:srgbClr val="0000FF"/>
              </a:solidFill>
            </a:endParaRPr>
          </a:p>
        </p:txBody>
      </p:sp>
    </p:spTree>
    <p:extLst>
      <p:ext uri="{BB962C8B-B14F-4D97-AF65-F5344CB8AC3E}">
        <p14:creationId xmlns:p14="http://schemas.microsoft.com/office/powerpoint/2010/main" val="2290587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56</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a:t>
            </a:r>
            <a:r>
              <a:rPr lang="zh-CN" altLang="en-US" sz="2400" b="1" dirty="0">
                <a:latin typeface="Times New Roman" panose="02020603050405020304" pitchFamily="18" charset="0"/>
                <a:cs typeface="Times New Roman" panose="02020603050405020304" pitchFamily="18" charset="0"/>
              </a:rPr>
              <a:t>化</a:t>
            </a:r>
            <a:r>
              <a:rPr lang="zh-CN" altLang="en-US" sz="2400" dirty="0">
                <a:latin typeface="Times New Roman" panose="02020603050405020304" pitchFamily="18" charset="0"/>
                <a:cs typeface="Times New Roman" panose="02020603050405020304" pitchFamily="18" charset="0"/>
              </a:rPr>
              <a:t>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grpSp>
        <p:nvGrpSpPr>
          <p:cNvPr id="45" name="组合 44">
            <a:extLst>
              <a:ext uri="{FF2B5EF4-FFF2-40B4-BE49-F238E27FC236}">
                <a16:creationId xmlns:a16="http://schemas.microsoft.com/office/drawing/2014/main" id="{AD800C84-3675-43C3-A4D5-BFCB36B56584}"/>
              </a:ext>
            </a:extLst>
          </p:cNvPr>
          <p:cNvGrpSpPr/>
          <p:nvPr/>
        </p:nvGrpSpPr>
        <p:grpSpPr>
          <a:xfrm>
            <a:off x="1891862" y="2436632"/>
            <a:ext cx="8182889" cy="4284843"/>
            <a:chOff x="1580667" y="2443123"/>
            <a:chExt cx="8773727" cy="4747830"/>
          </a:xfrm>
        </p:grpSpPr>
        <mc:AlternateContent xmlns:mc="http://schemas.openxmlformats.org/markup-compatibility/2006" xmlns:a14="http://schemas.microsoft.com/office/drawing/2010/main">
          <mc:Choice Requires="a14">
            <p:sp>
              <p:nvSpPr>
                <p:cNvPr id="46" name="文字方塊 61">
                  <a:extLst>
                    <a:ext uri="{FF2B5EF4-FFF2-40B4-BE49-F238E27FC236}">
                      <a16:creationId xmlns:a16="http://schemas.microsoft.com/office/drawing/2014/main" id="{D1ADC22D-1113-42F1-9509-6F57D3358722}"/>
                    </a:ext>
                  </a:extLst>
                </p:cNvPr>
                <p:cNvSpPr txBox="1"/>
                <p:nvPr/>
              </p:nvSpPr>
              <p:spPr>
                <a:xfrm>
                  <a:off x="1580667" y="3736238"/>
                  <a:ext cx="1400487" cy="646331"/>
                </a:xfrm>
                <a:prstGeom prst="rect">
                  <a:avLst/>
                </a:prstGeom>
                <a:noFill/>
              </p:spPr>
              <p:txBody>
                <a:bodyPr wrap="square" rtlCol="0">
                  <a:spAutoFit/>
                </a:bodyPr>
                <a:lstStyle/>
                <a:p>
                  <a:pPr algn="ctr"/>
                  <a:r>
                    <a:rPr lang="en-US" altLang="zh-TW" dirty="0">
                      <a:latin typeface="Times New Roman" panose="02020603050405020304" charset="0"/>
                      <a:cs typeface="Times New Roman" panose="02020603050405020304" charset="0"/>
                    </a:rPr>
                    <a:t>Total </a:t>
                  </a:r>
                </a:p>
                <a:p>
                  <a:pPr algn="ctr"/>
                  <a:r>
                    <a:rPr lang="en-US" altLang="zh-TW" dirty="0">
                      <a:latin typeface="Times New Roman" panose="02020603050405020304" charset="0"/>
                      <a:cs typeface="Times New Roman" panose="02020603050405020304" charset="0"/>
                    </a:rPr>
                    <a:t>Loss </a:t>
                  </a:r>
                  <a14:m>
                    <m:oMath xmlns:m="http://schemas.openxmlformats.org/officeDocument/2006/math">
                      <m:r>
                        <a:rPr lang="en-US" altLang="zh-TW" b="0" i="1" smtClean="0">
                          <a:latin typeface="Cambria Math" panose="02040503050406030204" pitchFamily="18" charset="0"/>
                        </a:rPr>
                        <m:t>𝐿</m:t>
                      </m:r>
                    </m:oMath>
                  </a14:m>
                  <a:endParaRPr lang="zh-TW" altLang="en-US" dirty="0">
                    <a:latin typeface="Times New Roman" panose="02020603050405020304" charset="0"/>
                    <a:cs typeface="Times New Roman" panose="02020603050405020304" charset="0"/>
                  </a:endParaRPr>
                </a:p>
              </p:txBody>
            </p:sp>
          </mc:Choice>
          <mc:Fallback xmlns="">
            <p:sp>
              <p:nvSpPr>
                <p:cNvPr id="46" name="文字方塊 61">
                  <a:extLst>
                    <a:ext uri="{FF2B5EF4-FFF2-40B4-BE49-F238E27FC236}">
                      <a16:creationId xmlns:a16="http://schemas.microsoft.com/office/drawing/2014/main" id="{D1ADC22D-1113-42F1-9509-6F57D3358722}"/>
                    </a:ext>
                  </a:extLst>
                </p:cNvPr>
                <p:cNvSpPr txBox="1">
                  <a:spLocks noRot="1" noChangeAspect="1" noMove="1" noResize="1" noEditPoints="1" noAdjustHandles="1" noChangeArrowheads="1" noChangeShapeType="1" noTextEdit="1"/>
                </p:cNvSpPr>
                <p:nvPr/>
              </p:nvSpPr>
              <p:spPr>
                <a:xfrm>
                  <a:off x="1580667" y="3736238"/>
                  <a:ext cx="1400487" cy="646331"/>
                </a:xfrm>
                <a:prstGeom prst="rect">
                  <a:avLst/>
                </a:prstGeom>
                <a:blipFill>
                  <a:blip r:embed="rId3"/>
                  <a:stretch>
                    <a:fillRect t="-5208" b="-26042"/>
                  </a:stretch>
                </a:blipFill>
              </p:spPr>
              <p:txBody>
                <a:bodyPr/>
                <a:lstStyle/>
                <a:p>
                  <a:r>
                    <a:rPr lang="zh-CN" altLang="en-US">
                      <a:noFill/>
                    </a:rPr>
                    <a:t> </a:t>
                  </a:r>
                </a:p>
              </p:txBody>
            </p:sp>
          </mc:Fallback>
        </mc:AlternateContent>
        <p:cxnSp>
          <p:nvCxnSpPr>
            <p:cNvPr id="50" name="直線單箭頭接點 27">
              <a:extLst>
                <a:ext uri="{FF2B5EF4-FFF2-40B4-BE49-F238E27FC236}">
                  <a16:creationId xmlns:a16="http://schemas.microsoft.com/office/drawing/2014/main" id="{2142E27A-DB1A-451E-86C4-C2C6CBA020C6}"/>
                </a:ext>
              </a:extLst>
            </p:cNvPr>
            <p:cNvCxnSpPr/>
            <p:nvPr/>
          </p:nvCxnSpPr>
          <p:spPr>
            <a:xfrm>
              <a:off x="2073290" y="6625377"/>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Object 12">
                  <a:extLst>
                    <a:ext uri="{FF2B5EF4-FFF2-40B4-BE49-F238E27FC236}">
                      <a16:creationId xmlns:a16="http://schemas.microsoft.com/office/drawing/2014/main" id="{149CE936-8C7C-4843-9C5F-3200BC07C71C}"/>
                    </a:ext>
                  </a:extLst>
                </p:cNvPr>
                <p:cNvSpPr txBox="1"/>
                <p:nvPr/>
              </p:nvSpPr>
              <p:spPr bwMode="auto">
                <a:xfrm>
                  <a:off x="9836820" y="6658235"/>
                  <a:ext cx="327025" cy="298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1100" i="1">
                            <a:solidFill>
                              <a:srgbClr val="000000"/>
                            </a:solidFill>
                            <a:latin typeface="Cambria Math" panose="02040503050406030204" pitchFamily="18" charset="0"/>
                          </a:rPr>
                          <m:t>𝑤</m:t>
                        </m:r>
                      </m:oMath>
                    </m:oMathPara>
                  </a14:m>
                  <a:endParaRPr lang="zh-CN" altLang="en-US" sz="1100"/>
                </a:p>
              </p:txBody>
            </p:sp>
          </mc:Choice>
          <mc:Fallback xmlns="">
            <p:sp>
              <p:nvSpPr>
                <p:cNvPr id="51" name="Object 12">
                  <a:extLst>
                    <a:ext uri="{FF2B5EF4-FFF2-40B4-BE49-F238E27FC236}">
                      <a16:creationId xmlns:a16="http://schemas.microsoft.com/office/drawing/2014/main" id="{149CE936-8C7C-4843-9C5F-3200BC07C71C}"/>
                    </a:ext>
                  </a:extLst>
                </p:cNvPr>
                <p:cNvSpPr txBox="1">
                  <a:spLocks noRot="1" noChangeAspect="1" noMove="1" noResize="1" noEditPoints="1" noAdjustHandles="1" noChangeArrowheads="1" noChangeShapeType="1" noTextEdit="1"/>
                </p:cNvSpPr>
                <p:nvPr/>
              </p:nvSpPr>
              <p:spPr bwMode="auto">
                <a:xfrm>
                  <a:off x="9836820" y="6658235"/>
                  <a:ext cx="327025" cy="298450"/>
                </a:xfrm>
                <a:prstGeom prst="rect">
                  <a:avLst/>
                </a:prstGeom>
                <a:blipFill>
                  <a:blip r:embed="rId4"/>
                  <a:stretch>
                    <a:fillRect/>
                  </a:stretch>
                </a:blipFill>
              </p:spPr>
              <p:txBody>
                <a:bodyPr/>
                <a:lstStyle/>
                <a:p>
                  <a:r>
                    <a:rPr lang="zh-CN" altLang="en-US">
                      <a:noFill/>
                    </a:rPr>
                    <a:t> </a:t>
                  </a:r>
                </a:p>
              </p:txBody>
            </p:sp>
          </mc:Fallback>
        </mc:AlternateContent>
        <p:cxnSp>
          <p:nvCxnSpPr>
            <p:cNvPr id="52" name="直線單箭頭接點 29">
              <a:extLst>
                <a:ext uri="{FF2B5EF4-FFF2-40B4-BE49-F238E27FC236}">
                  <a16:creationId xmlns:a16="http://schemas.microsoft.com/office/drawing/2014/main" id="{0C14BADC-7B92-4EAE-A1CB-9BE7CEE516C3}"/>
                </a:ext>
              </a:extLst>
            </p:cNvPr>
            <p:cNvCxnSpPr/>
            <p:nvPr/>
          </p:nvCxnSpPr>
          <p:spPr>
            <a:xfrm flipV="1">
              <a:off x="2886345" y="3071741"/>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手繪多邊形 54">
              <a:extLst>
                <a:ext uri="{FF2B5EF4-FFF2-40B4-BE49-F238E27FC236}">
                  <a16:creationId xmlns:a16="http://schemas.microsoft.com/office/drawing/2014/main" id="{4771A40A-0E10-4BF6-8FCC-D8D60DD11C71}"/>
                </a:ext>
              </a:extLst>
            </p:cNvPr>
            <p:cNvSpPr/>
            <p:nvPr/>
          </p:nvSpPr>
          <p:spPr>
            <a:xfrm>
              <a:off x="2540968" y="2982686"/>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1" fmla="*/ 0 w 7754816"/>
                <a:gd name="connsiteY0-2" fmla="*/ 0 h 4208267"/>
                <a:gd name="connsiteX1-3" fmla="*/ 1019908 w 7754816"/>
                <a:gd name="connsiteY1-4" fmla="*/ 2356339 h 4208267"/>
                <a:gd name="connsiteX2-5" fmla="*/ 3499339 w 7754816"/>
                <a:gd name="connsiteY2-6" fmla="*/ 2760785 h 4208267"/>
                <a:gd name="connsiteX3-7" fmla="*/ 5732254 w 7754816"/>
                <a:gd name="connsiteY3-8" fmla="*/ 3511062 h 4208267"/>
                <a:gd name="connsiteX4-9" fmla="*/ 5820508 w 7754816"/>
                <a:gd name="connsiteY4-10" fmla="*/ 2602523 h 4208267"/>
                <a:gd name="connsiteX5-11" fmla="*/ 6664570 w 7754816"/>
                <a:gd name="connsiteY5-12" fmla="*/ 2391508 h 4208267"/>
                <a:gd name="connsiteX6-13" fmla="*/ 7561385 w 7754816"/>
                <a:gd name="connsiteY6-14" fmla="*/ 3991708 h 4208267"/>
                <a:gd name="connsiteX7-15" fmla="*/ 7754816 w 7754816"/>
                <a:gd name="connsiteY7-16" fmla="*/ 4149970 h 4208267"/>
                <a:gd name="connsiteX0-17" fmla="*/ 0 w 7754816"/>
                <a:gd name="connsiteY0-18" fmla="*/ 0 h 4208267"/>
                <a:gd name="connsiteX1-19" fmla="*/ 1019908 w 7754816"/>
                <a:gd name="connsiteY1-20" fmla="*/ 2356339 h 4208267"/>
                <a:gd name="connsiteX2-21" fmla="*/ 3499339 w 7754816"/>
                <a:gd name="connsiteY2-22" fmla="*/ 2760785 h 4208267"/>
                <a:gd name="connsiteX3-23" fmla="*/ 5732254 w 7754816"/>
                <a:gd name="connsiteY3-24" fmla="*/ 3511062 h 4208267"/>
                <a:gd name="connsiteX4-25" fmla="*/ 6289268 w 7754816"/>
                <a:gd name="connsiteY4-26" fmla="*/ 2754923 h 4208267"/>
                <a:gd name="connsiteX5-27" fmla="*/ 6664570 w 7754816"/>
                <a:gd name="connsiteY5-28" fmla="*/ 2391508 h 4208267"/>
                <a:gd name="connsiteX6-29" fmla="*/ 7561385 w 7754816"/>
                <a:gd name="connsiteY6-30" fmla="*/ 3991708 h 4208267"/>
                <a:gd name="connsiteX7-31" fmla="*/ 7754816 w 7754816"/>
                <a:gd name="connsiteY7-32" fmla="*/ 4149970 h 4208267"/>
                <a:gd name="connsiteX0-33" fmla="*/ 0 w 7754816"/>
                <a:gd name="connsiteY0-34" fmla="*/ 0 h 4208267"/>
                <a:gd name="connsiteX1-35" fmla="*/ 1019908 w 7754816"/>
                <a:gd name="connsiteY1-36" fmla="*/ 2356339 h 4208267"/>
                <a:gd name="connsiteX2-37" fmla="*/ 3941312 w 7754816"/>
                <a:gd name="connsiteY2-38" fmla="*/ 2760785 h 4208267"/>
                <a:gd name="connsiteX3-39" fmla="*/ 5732254 w 7754816"/>
                <a:gd name="connsiteY3-40" fmla="*/ 3511062 h 4208267"/>
                <a:gd name="connsiteX4-41" fmla="*/ 6289268 w 7754816"/>
                <a:gd name="connsiteY4-42" fmla="*/ 2754923 h 4208267"/>
                <a:gd name="connsiteX5-43" fmla="*/ 6664570 w 7754816"/>
                <a:gd name="connsiteY5-44" fmla="*/ 2391508 h 4208267"/>
                <a:gd name="connsiteX6-45" fmla="*/ 7561385 w 7754816"/>
                <a:gd name="connsiteY6-46" fmla="*/ 3991708 h 4208267"/>
                <a:gd name="connsiteX7-47" fmla="*/ 7754816 w 7754816"/>
                <a:gd name="connsiteY7-48" fmla="*/ 4149970 h 4208267"/>
                <a:gd name="connsiteX0-49" fmla="*/ 0 w 7754816"/>
                <a:gd name="connsiteY0-50" fmla="*/ 0 h 4208267"/>
                <a:gd name="connsiteX1-51" fmla="*/ 1019908 w 7754816"/>
                <a:gd name="connsiteY1-52" fmla="*/ 2356339 h 4208267"/>
                <a:gd name="connsiteX2-53" fmla="*/ 3941312 w 7754816"/>
                <a:gd name="connsiteY2-54" fmla="*/ 2760785 h 4208267"/>
                <a:gd name="connsiteX3-55" fmla="*/ 5732254 w 7754816"/>
                <a:gd name="connsiteY3-56" fmla="*/ 3511062 h 4208267"/>
                <a:gd name="connsiteX4-57" fmla="*/ 6289268 w 7754816"/>
                <a:gd name="connsiteY4-58" fmla="*/ 2754923 h 4208267"/>
                <a:gd name="connsiteX5-59" fmla="*/ 6664570 w 7754816"/>
                <a:gd name="connsiteY5-60" fmla="*/ 2391508 h 4208267"/>
                <a:gd name="connsiteX6-61" fmla="*/ 7561385 w 7754816"/>
                <a:gd name="connsiteY6-62" fmla="*/ 3991708 h 4208267"/>
                <a:gd name="connsiteX7-63" fmla="*/ 7754816 w 7754816"/>
                <a:gd name="connsiteY7-64" fmla="*/ 4149970 h 4208267"/>
                <a:gd name="connsiteX0-65" fmla="*/ 0 w 7754816"/>
                <a:gd name="connsiteY0-66" fmla="*/ 0 h 4208267"/>
                <a:gd name="connsiteX1-67" fmla="*/ 1314558 w 7754816"/>
                <a:gd name="connsiteY1-68" fmla="*/ 2225710 h 4208267"/>
                <a:gd name="connsiteX2-69" fmla="*/ 3941312 w 7754816"/>
                <a:gd name="connsiteY2-70" fmla="*/ 2760785 h 4208267"/>
                <a:gd name="connsiteX3-71" fmla="*/ 5732254 w 7754816"/>
                <a:gd name="connsiteY3-72" fmla="*/ 3511062 h 4208267"/>
                <a:gd name="connsiteX4-73" fmla="*/ 6289268 w 7754816"/>
                <a:gd name="connsiteY4-74" fmla="*/ 2754923 h 4208267"/>
                <a:gd name="connsiteX5-75" fmla="*/ 6664570 w 7754816"/>
                <a:gd name="connsiteY5-76" fmla="*/ 2391508 h 4208267"/>
                <a:gd name="connsiteX6-77" fmla="*/ 7561385 w 7754816"/>
                <a:gd name="connsiteY6-78" fmla="*/ 3991708 h 4208267"/>
                <a:gd name="connsiteX7-79" fmla="*/ 7754816 w 7754816"/>
                <a:gd name="connsiteY7-80" fmla="*/ 4149970 h 4208267"/>
                <a:gd name="connsiteX0-81" fmla="*/ 0 w 7754816"/>
                <a:gd name="connsiteY0-82" fmla="*/ 0 h 4208267"/>
                <a:gd name="connsiteX1-83" fmla="*/ 1314558 w 7754816"/>
                <a:gd name="connsiteY1-84" fmla="*/ 2225710 h 4208267"/>
                <a:gd name="connsiteX2-85" fmla="*/ 3767202 w 7754816"/>
                <a:gd name="connsiteY2-86" fmla="*/ 2717243 h 4208267"/>
                <a:gd name="connsiteX3-87" fmla="*/ 5732254 w 7754816"/>
                <a:gd name="connsiteY3-88" fmla="*/ 3511062 h 4208267"/>
                <a:gd name="connsiteX4-89" fmla="*/ 6289268 w 7754816"/>
                <a:gd name="connsiteY4-90" fmla="*/ 2754923 h 4208267"/>
                <a:gd name="connsiteX5-91" fmla="*/ 6664570 w 7754816"/>
                <a:gd name="connsiteY5-92" fmla="*/ 2391508 h 4208267"/>
                <a:gd name="connsiteX6-93" fmla="*/ 7561385 w 7754816"/>
                <a:gd name="connsiteY6-94" fmla="*/ 3991708 h 4208267"/>
                <a:gd name="connsiteX7-95" fmla="*/ 7754816 w 7754816"/>
                <a:gd name="connsiteY7-96" fmla="*/ 4149970 h 4208267"/>
                <a:gd name="connsiteX0-97" fmla="*/ 0 w 7754816"/>
                <a:gd name="connsiteY0-98" fmla="*/ 0 h 4208267"/>
                <a:gd name="connsiteX1-99" fmla="*/ 1314558 w 7754816"/>
                <a:gd name="connsiteY1-100" fmla="*/ 2225710 h 4208267"/>
                <a:gd name="connsiteX2-101" fmla="*/ 3767202 w 7754816"/>
                <a:gd name="connsiteY2-102" fmla="*/ 2717243 h 4208267"/>
                <a:gd name="connsiteX3-103" fmla="*/ 5732254 w 7754816"/>
                <a:gd name="connsiteY3-104" fmla="*/ 3511062 h 4208267"/>
                <a:gd name="connsiteX4-105" fmla="*/ 6289268 w 7754816"/>
                <a:gd name="connsiteY4-106" fmla="*/ 2754923 h 4208267"/>
                <a:gd name="connsiteX5-107" fmla="*/ 6664570 w 7754816"/>
                <a:gd name="connsiteY5-108" fmla="*/ 2391508 h 4208267"/>
                <a:gd name="connsiteX6-109" fmla="*/ 7561385 w 7754816"/>
                <a:gd name="connsiteY6-110" fmla="*/ 3991708 h 4208267"/>
                <a:gd name="connsiteX7-111" fmla="*/ 7754816 w 7754816"/>
                <a:gd name="connsiteY7-112" fmla="*/ 4149970 h 4208267"/>
                <a:gd name="connsiteX0-113" fmla="*/ 0 w 7754816"/>
                <a:gd name="connsiteY0-114" fmla="*/ 0 h 4208267"/>
                <a:gd name="connsiteX1-115" fmla="*/ 1314558 w 7754816"/>
                <a:gd name="connsiteY1-116" fmla="*/ 2225710 h 4208267"/>
                <a:gd name="connsiteX2-117" fmla="*/ 3823199 w 7754816"/>
                <a:gd name="connsiteY2-118" fmla="*/ 2698193 h 4208267"/>
                <a:gd name="connsiteX3-119" fmla="*/ 5732254 w 7754816"/>
                <a:gd name="connsiteY3-120" fmla="*/ 3511062 h 4208267"/>
                <a:gd name="connsiteX4-121" fmla="*/ 6289268 w 7754816"/>
                <a:gd name="connsiteY4-122" fmla="*/ 2754923 h 4208267"/>
                <a:gd name="connsiteX5-123" fmla="*/ 6664570 w 7754816"/>
                <a:gd name="connsiteY5-124" fmla="*/ 2391508 h 4208267"/>
                <a:gd name="connsiteX6-125" fmla="*/ 7561385 w 7754816"/>
                <a:gd name="connsiteY6-126" fmla="*/ 3991708 h 4208267"/>
                <a:gd name="connsiteX7-127" fmla="*/ 7754816 w 7754816"/>
                <a:gd name="connsiteY7-128" fmla="*/ 4149970 h 42082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sp>
          <p:nvSpPr>
            <p:cNvPr id="56" name="橢圓 69">
              <a:extLst>
                <a:ext uri="{FF2B5EF4-FFF2-40B4-BE49-F238E27FC236}">
                  <a16:creationId xmlns:a16="http://schemas.microsoft.com/office/drawing/2014/main" id="{8C6BC539-6E56-4B3B-96A4-893C4936C532}"/>
                </a:ext>
              </a:extLst>
            </p:cNvPr>
            <p:cNvSpPr/>
            <p:nvPr/>
          </p:nvSpPr>
          <p:spPr>
            <a:xfrm>
              <a:off x="3441080" y="6466436"/>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Times New Roman" panose="02020603050405020304" charset="0"/>
                <a:cs typeface="Times New Roman" panose="02020603050405020304" charset="0"/>
              </a:endParaRPr>
            </a:p>
          </p:txBody>
        </p:sp>
        <p:cxnSp>
          <p:nvCxnSpPr>
            <p:cNvPr id="57" name="直線接點 70">
              <a:extLst>
                <a:ext uri="{FF2B5EF4-FFF2-40B4-BE49-F238E27FC236}">
                  <a16:creationId xmlns:a16="http://schemas.microsoft.com/office/drawing/2014/main" id="{471AC729-6E1B-4FB0-BB42-BD5DACB22B0D}"/>
                </a:ext>
              </a:extLst>
            </p:cNvPr>
            <p:cNvCxnSpPr/>
            <p:nvPr/>
          </p:nvCxnSpPr>
          <p:spPr>
            <a:xfrm>
              <a:off x="3517904" y="5081286"/>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字方塊 19">
                  <a:extLst>
                    <a:ext uri="{FF2B5EF4-FFF2-40B4-BE49-F238E27FC236}">
                      <a16:creationId xmlns:a16="http://schemas.microsoft.com/office/drawing/2014/main" id="{F77D9080-FC9C-45DE-A6A9-1360E09A8B6E}"/>
                    </a:ext>
                  </a:extLst>
                </p:cNvPr>
                <p:cNvSpPr txBox="1"/>
                <p:nvPr/>
              </p:nvSpPr>
              <p:spPr>
                <a:xfrm>
                  <a:off x="1919390" y="2443123"/>
                  <a:ext cx="8353220"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000" dirty="0">
                      <a:latin typeface="Times New Roman" panose="02020603050405020304" charset="0"/>
                      <a:cs typeface="Times New Roman" panose="02020603050405020304" charset="0"/>
                    </a:rPr>
                    <a:t>Find </a:t>
                  </a:r>
                  <a:r>
                    <a:rPr lang="en-US" altLang="zh-TW" sz="2000" b="1" i="1" u="sng" dirty="0">
                      <a:latin typeface="Times New Roman" panose="02020603050405020304" charset="0"/>
                      <a:cs typeface="Times New Roman" panose="02020603050405020304" charset="0"/>
                    </a:rPr>
                    <a:t>network parameters </a:t>
                  </a:r>
                  <a14:m>
                    <m:oMath xmlns:m="http://schemas.openxmlformats.org/officeDocument/2006/math">
                      <m:sSup>
                        <m:sSupPr>
                          <m:ctrlPr>
                            <a:rPr lang="en-US" altLang="zh-TW" sz="2000" b="1" i="1" u="sng">
                              <a:latin typeface="Cambria Math" panose="02040503050406030204" pitchFamily="18" charset="0"/>
                            </a:rPr>
                          </m:ctrlPr>
                        </m:sSupPr>
                        <m:e>
                          <m:r>
                            <a:rPr lang="zh-TW" altLang="en-US" sz="2000" b="1" i="1" u="sng">
                              <a:latin typeface="Cambria Math" panose="02040503050406030204" pitchFamily="18" charset="0"/>
                            </a:rPr>
                            <m:t>𝜽</m:t>
                          </m:r>
                        </m:e>
                        <m:sup>
                          <m:r>
                            <a:rPr lang="en-US" altLang="zh-TW" sz="2000" b="1" i="1" u="sng">
                              <a:latin typeface="Cambria Math" panose="02040503050406030204" pitchFamily="18" charset="0"/>
                            </a:rPr>
                            <m:t>∗</m:t>
                          </m:r>
                        </m:sup>
                      </m:sSup>
                    </m:oMath>
                  </a14:m>
                  <a:r>
                    <a:rPr lang="en-US" altLang="zh-TW" sz="2000" dirty="0">
                      <a:latin typeface="Times New Roman" panose="02020603050405020304" charset="0"/>
                      <a:cs typeface="Times New Roman" panose="02020603050405020304" charset="0"/>
                    </a:rPr>
                    <a:t> that minimize total loss L</a:t>
                  </a:r>
                  <a:endParaRPr lang="zh-TW" altLang="en-US" sz="2000" dirty="0">
                    <a:latin typeface="Times New Roman" panose="02020603050405020304" charset="0"/>
                    <a:cs typeface="Times New Roman" panose="02020603050405020304" charset="0"/>
                  </a:endParaRPr>
                </a:p>
              </p:txBody>
            </p:sp>
          </mc:Choice>
          <mc:Fallback xmlns="">
            <p:sp>
              <p:nvSpPr>
                <p:cNvPr id="58" name="文字方塊 19">
                  <a:extLst>
                    <a:ext uri="{FF2B5EF4-FFF2-40B4-BE49-F238E27FC236}">
                      <a16:creationId xmlns:a16="http://schemas.microsoft.com/office/drawing/2014/main" id="{F77D9080-FC9C-45DE-A6A9-1360E09A8B6E}"/>
                    </a:ext>
                  </a:extLst>
                </p:cNvPr>
                <p:cNvSpPr txBox="1">
                  <a:spLocks noRot="1" noChangeAspect="1" noMove="1" noResize="1" noEditPoints="1" noAdjustHandles="1" noChangeArrowheads="1" noChangeShapeType="1" noTextEdit="1"/>
                </p:cNvSpPr>
                <p:nvPr/>
              </p:nvSpPr>
              <p:spPr>
                <a:xfrm>
                  <a:off x="1919390" y="2443123"/>
                  <a:ext cx="8353220" cy="400110"/>
                </a:xfrm>
                <a:prstGeom prst="rect">
                  <a:avLst/>
                </a:prstGeom>
                <a:blipFill>
                  <a:blip r:embed="rId5"/>
                  <a:stretch>
                    <a:fillRect/>
                  </a:stretch>
                </a:blipFill>
              </p:spPr>
              <p:txBody>
                <a:bodyPr/>
                <a:lstStyle/>
                <a:p>
                  <a:r>
                    <a:rPr lang="zh-CN" altLang="en-US">
                      <a:noFill/>
                    </a:rPr>
                    <a:t> </a:t>
                  </a:r>
                </a:p>
              </p:txBody>
            </p:sp>
          </mc:Fallback>
        </mc:AlternateContent>
      </p:grpSp>
      <p:sp>
        <p:nvSpPr>
          <p:cNvPr id="60" name="橢圓 69">
            <a:extLst>
              <a:ext uri="{FF2B5EF4-FFF2-40B4-BE49-F238E27FC236}">
                <a16:creationId xmlns:a16="http://schemas.microsoft.com/office/drawing/2014/main" id="{0DB1DD5E-28A3-48E7-932C-056F1DCBD544}"/>
              </a:ext>
            </a:extLst>
          </p:cNvPr>
          <p:cNvSpPr/>
          <p:nvPr/>
        </p:nvSpPr>
        <p:spPr>
          <a:xfrm>
            <a:off x="3628712" y="6098857"/>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62" name="文字方塊 17">
                <a:extLst>
                  <a:ext uri="{FF2B5EF4-FFF2-40B4-BE49-F238E27FC236}">
                    <a16:creationId xmlns:a16="http://schemas.microsoft.com/office/drawing/2014/main" id="{3C04CABB-CDD6-4029-8ED0-C5CA698E67B9}"/>
                  </a:ext>
                </a:extLst>
              </p:cNvPr>
              <p:cNvSpPr txBox="1"/>
              <p:nvPr/>
            </p:nvSpPr>
            <p:spPr>
              <a:xfrm>
                <a:off x="4716363" y="3266590"/>
                <a:ext cx="4406380" cy="369332"/>
              </a:xfrm>
              <a:prstGeom prst="rect">
                <a:avLst/>
              </a:prstGeom>
              <a:noFill/>
            </p:spPr>
            <p:txBody>
              <a:bodyPr wrap="square" rtlCol="0">
                <a:spAutoFit/>
              </a:bodyPr>
              <a:lstStyle/>
              <a:p>
                <a:pPr marL="457200" indent="-457200">
                  <a:buFont typeface="Wingdings" panose="05000000000000000000" pitchFamily="2" charset="2"/>
                  <a:buChar char="Ø"/>
                </a:pPr>
                <a:r>
                  <a:rPr lang="en-US" altLang="zh-TW" dirty="0">
                    <a:latin typeface="Times New Roman" panose="02020603050405020304" charset="0"/>
                    <a:cs typeface="Times New Roman" panose="02020603050405020304" charset="0"/>
                  </a:rPr>
                  <a:t>Compute </a:t>
                </a:r>
                <a14:m>
                  <m:oMath xmlns:m="http://schemas.openxmlformats.org/officeDocument/2006/math">
                    <m:f>
                      <m:fPr>
                        <m:type m:val="lin"/>
                        <m:ctrlPr>
                          <a:rPr lang="en-US" altLang="zh-TW" i="1">
                            <a:latin typeface="Cambria Math" panose="02040503050406030204" pitchFamily="18" charset="0"/>
                          </a:rPr>
                        </m:ctrlPr>
                      </m:fPr>
                      <m:num>
                        <m:r>
                          <a:rPr lang="en-US" altLang="zh-TW" i="1">
                            <a:latin typeface="Cambria Math" panose="02040503050406030204" pitchFamily="18" charset="0"/>
                          </a:rPr>
                          <m:t>𝜕</m:t>
                        </m:r>
                        <m:r>
                          <a:rPr lang="en-US" altLang="zh-TW" i="1">
                            <a:latin typeface="Cambria Math" panose="02040503050406030204" pitchFamily="18" charset="0"/>
                          </a:rPr>
                          <m:t>𝐿</m:t>
                        </m:r>
                      </m:num>
                      <m:den>
                        <m:r>
                          <a:rPr lang="en-US" altLang="zh-TW" i="1">
                            <a:latin typeface="Cambria Math" panose="02040503050406030204" pitchFamily="18" charset="0"/>
                          </a:rPr>
                          <m:t>𝜕</m:t>
                        </m:r>
                        <m:r>
                          <a:rPr lang="en-US" altLang="zh-TW" i="1">
                            <a:latin typeface="Cambria Math" panose="02040503050406030204" pitchFamily="18" charset="0"/>
                          </a:rPr>
                          <m:t>𝑤</m:t>
                        </m:r>
                      </m:den>
                    </m:f>
                  </m:oMath>
                </a14:m>
                <a:endParaRPr lang="zh-TW" altLang="en-US" dirty="0">
                  <a:latin typeface="Times New Roman" panose="02020603050405020304" charset="0"/>
                  <a:cs typeface="Times New Roman" panose="02020603050405020304" charset="0"/>
                </a:endParaRPr>
              </a:p>
            </p:txBody>
          </p:sp>
        </mc:Choice>
        <mc:Fallback xmlns="">
          <p:sp>
            <p:nvSpPr>
              <p:cNvPr id="62" name="文字方塊 17">
                <a:extLst>
                  <a:ext uri="{FF2B5EF4-FFF2-40B4-BE49-F238E27FC236}">
                    <a16:creationId xmlns:a16="http://schemas.microsoft.com/office/drawing/2014/main" id="{3C04CABB-CDD6-4029-8ED0-C5CA698E67B9}"/>
                  </a:ext>
                </a:extLst>
              </p:cNvPr>
              <p:cNvSpPr txBox="1">
                <a:spLocks noRot="1" noChangeAspect="1" noMove="1" noResize="1" noEditPoints="1" noAdjustHandles="1" noChangeArrowheads="1" noChangeShapeType="1" noTextEdit="1"/>
              </p:cNvSpPr>
              <p:nvPr/>
            </p:nvSpPr>
            <p:spPr>
              <a:xfrm>
                <a:off x="4716363" y="3266590"/>
                <a:ext cx="4406380" cy="369332"/>
              </a:xfrm>
              <a:prstGeom prst="rect">
                <a:avLst/>
              </a:prstGeom>
              <a:blipFill>
                <a:blip r:embed="rId6"/>
                <a:stretch>
                  <a:fillRect l="-968" t="-116667" b="-181667"/>
                </a:stretch>
              </a:blipFill>
            </p:spPr>
            <p:txBody>
              <a:bodyPr/>
              <a:lstStyle/>
              <a:p>
                <a:r>
                  <a:rPr lang="zh-CN" altLang="en-US">
                    <a:noFill/>
                  </a:rPr>
                  <a:t> </a:t>
                </a:r>
              </a:p>
            </p:txBody>
          </p:sp>
        </mc:Fallback>
      </mc:AlternateContent>
      <p:cxnSp>
        <p:nvCxnSpPr>
          <p:cNvPr id="63" name="直線接點 18">
            <a:extLst>
              <a:ext uri="{FF2B5EF4-FFF2-40B4-BE49-F238E27FC236}">
                <a16:creationId xmlns:a16="http://schemas.microsoft.com/office/drawing/2014/main" id="{881942C3-0D30-4D93-90DE-B83BBD6D9A1F}"/>
              </a:ext>
            </a:extLst>
          </p:cNvPr>
          <p:cNvCxnSpPr/>
          <p:nvPr/>
        </p:nvCxnSpPr>
        <p:spPr>
          <a:xfrm>
            <a:off x="3006039" y="4083556"/>
            <a:ext cx="1591247" cy="1508056"/>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cxnSp>
        <p:nvCxnSpPr>
          <p:cNvPr id="71" name="直線單箭頭接點 6">
            <a:extLst>
              <a:ext uri="{FF2B5EF4-FFF2-40B4-BE49-F238E27FC236}">
                <a16:creationId xmlns:a16="http://schemas.microsoft.com/office/drawing/2014/main" id="{641B87D9-9277-4737-A0A9-33CB5FFC85BF}"/>
              </a:ext>
            </a:extLst>
          </p:cNvPr>
          <p:cNvCxnSpPr>
            <a:cxnSpLocks/>
          </p:cNvCxnSpPr>
          <p:nvPr/>
        </p:nvCxnSpPr>
        <p:spPr>
          <a:xfrm flipH="1">
            <a:off x="3724612" y="3709198"/>
            <a:ext cx="1038791" cy="1004509"/>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72" name="圖片 8">
            <a:extLst>
              <a:ext uri="{FF2B5EF4-FFF2-40B4-BE49-F238E27FC236}">
                <a16:creationId xmlns:a16="http://schemas.microsoft.com/office/drawing/2014/main" id="{54C4B697-4140-4F03-9966-E743FFD0DB2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96364" y="3704003"/>
            <a:ext cx="1163839" cy="1163839"/>
          </a:xfrm>
          <a:prstGeom prst="rect">
            <a:avLst/>
          </a:prstGeom>
        </p:spPr>
      </p:pic>
      <p:sp>
        <p:nvSpPr>
          <p:cNvPr id="73" name="文字方塊 34">
            <a:extLst>
              <a:ext uri="{FF2B5EF4-FFF2-40B4-BE49-F238E27FC236}">
                <a16:creationId xmlns:a16="http://schemas.microsoft.com/office/drawing/2014/main" id="{917AB21E-6F78-4EAE-8791-847BE1D3CC50}"/>
              </a:ext>
            </a:extLst>
          </p:cNvPr>
          <p:cNvSpPr txBox="1"/>
          <p:nvPr/>
        </p:nvSpPr>
        <p:spPr>
          <a:xfrm>
            <a:off x="4083072" y="3003950"/>
            <a:ext cx="4269929" cy="333316"/>
          </a:xfrm>
          <a:prstGeom prst="rect">
            <a:avLst/>
          </a:prstGeom>
          <a:noFill/>
        </p:spPr>
        <p:txBody>
          <a:bodyPr wrap="square" rtlCol="0">
            <a:spAutoFit/>
          </a:bodyPr>
          <a:lstStyle/>
          <a:p>
            <a:pPr marL="457200" indent="-457200" algn="ctr">
              <a:buFont typeface="Wingdings" panose="05000000000000000000" pitchFamily="2" charset="2"/>
              <a:buChar char="Ø"/>
            </a:pPr>
            <a:r>
              <a:rPr lang="en-US" altLang="zh-TW" dirty="0">
                <a:latin typeface="Times New Roman" panose="02020603050405020304" charset="0"/>
                <a:cs typeface="Times New Roman" panose="02020603050405020304" charset="0"/>
              </a:rPr>
              <a:t>Pick an initial value for w</a:t>
            </a:r>
            <a:endParaRPr lang="zh-TW" altLang="en-US"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8" name="文字方塊 36">
                <a:extLst>
                  <a:ext uri="{FF2B5EF4-FFF2-40B4-BE49-F238E27FC236}">
                    <a16:creationId xmlns:a16="http://schemas.microsoft.com/office/drawing/2014/main" id="{6463DB18-9954-4C02-BB8B-2CEB6A2709C8}"/>
                  </a:ext>
                </a:extLst>
              </p:cNvPr>
              <p:cNvSpPr txBox="1"/>
              <p:nvPr/>
            </p:nvSpPr>
            <p:spPr>
              <a:xfrm>
                <a:off x="5507939" y="3522862"/>
                <a:ext cx="350232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𝑤</m:t>
                      </m:r>
                      <m:f>
                        <m:fPr>
                          <m:type m:val="lin"/>
                          <m:ctrlPr>
                            <a:rPr lang="en-US" altLang="zh-TW" sz="2000" i="1">
                              <a:latin typeface="Cambria Math" panose="02040503050406030204" pitchFamily="18" charset="0"/>
                            </a:rPr>
                          </m:ctrlPr>
                        </m:fPr>
                        <m:num>
                          <m:r>
                            <a:rPr lang="en-US" altLang="zh-TW" sz="200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𝑤</m:t>
                          </m:r>
                          <m:r>
                            <a:rPr lang="en-US" altLang="zh-TW" sz="2000" b="0" i="1" smtClean="0">
                              <a:latin typeface="Cambria Math" panose="02040503050406030204" pitchFamily="18" charset="0"/>
                              <a:ea typeface="Cambria Math" panose="02040503050406030204" pitchFamily="18" charset="0"/>
                            </a:rPr>
                            <m:t>−</m:t>
                          </m:r>
                          <m:r>
                            <a:rPr lang="zh-TW" altLang="en-US" sz="2000" b="0" i="1" smtClean="0">
                              <a:latin typeface="Cambria Math" panose="02040503050406030204" pitchFamily="18" charset="0"/>
                              <a:ea typeface="Cambria Math" panose="02040503050406030204" pitchFamily="18" charset="0"/>
                            </a:rPr>
                            <m:t>𝜂</m:t>
                          </m:r>
                          <m:r>
                            <a:rPr lang="en-US" altLang="zh-TW" sz="2000" i="1">
                              <a:latin typeface="Cambria Math" panose="02040503050406030204" pitchFamily="18" charset="0"/>
                            </a:rPr>
                            <m:t>𝜕</m:t>
                          </m:r>
                          <m:r>
                            <a:rPr lang="en-US" altLang="zh-TW" sz="2000" i="1">
                              <a:latin typeface="Cambria Math" panose="02040503050406030204" pitchFamily="18" charset="0"/>
                            </a:rPr>
                            <m:t>𝐿</m:t>
                          </m:r>
                        </m:num>
                        <m:den>
                          <m:r>
                            <a:rPr lang="en-US" altLang="zh-TW" sz="2000" i="1">
                              <a:latin typeface="Cambria Math" panose="02040503050406030204" pitchFamily="18" charset="0"/>
                            </a:rPr>
                            <m:t>𝜕</m:t>
                          </m:r>
                          <m:r>
                            <a:rPr lang="en-US" altLang="zh-TW" sz="2000" i="1">
                              <a:latin typeface="Cambria Math" panose="02040503050406030204" pitchFamily="18" charset="0"/>
                            </a:rPr>
                            <m:t>𝑤</m:t>
                          </m:r>
                        </m:den>
                      </m:f>
                    </m:oMath>
                  </m:oMathPara>
                </a14:m>
                <a:endParaRPr lang="zh-TW" altLang="en-US" sz="2000" dirty="0"/>
              </a:p>
            </p:txBody>
          </p:sp>
        </mc:Choice>
        <mc:Fallback xmlns="">
          <p:sp>
            <p:nvSpPr>
              <p:cNvPr id="28" name="文字方塊 36">
                <a:extLst>
                  <a:ext uri="{FF2B5EF4-FFF2-40B4-BE49-F238E27FC236}">
                    <a16:creationId xmlns:a16="http://schemas.microsoft.com/office/drawing/2014/main" id="{6463DB18-9954-4C02-BB8B-2CEB6A2709C8}"/>
                  </a:ext>
                </a:extLst>
              </p:cNvPr>
              <p:cNvSpPr txBox="1">
                <a:spLocks noRot="1" noChangeAspect="1" noMove="1" noResize="1" noEditPoints="1" noAdjustHandles="1" noChangeArrowheads="1" noChangeShapeType="1" noTextEdit="1"/>
              </p:cNvSpPr>
              <p:nvPr/>
            </p:nvSpPr>
            <p:spPr>
              <a:xfrm>
                <a:off x="5507939" y="3522862"/>
                <a:ext cx="3502325" cy="400110"/>
              </a:xfrm>
              <a:prstGeom prst="rect">
                <a:avLst/>
              </a:prstGeom>
              <a:blipFill>
                <a:blip r:embed="rId8"/>
                <a:stretch>
                  <a:fillRect t="-116667" b="-177273"/>
                </a:stretch>
              </a:blipFill>
            </p:spPr>
            <p:txBody>
              <a:bodyPr/>
              <a:lstStyle/>
              <a:p>
                <a:r>
                  <a:rPr lang="zh-CN" altLang="en-US">
                    <a:noFill/>
                  </a:rPr>
                  <a:t> </a:t>
                </a:r>
              </a:p>
            </p:txBody>
          </p:sp>
        </mc:Fallback>
      </mc:AlternateContent>
      <p:sp>
        <p:nvSpPr>
          <p:cNvPr id="29" name="矩形 28">
            <a:extLst>
              <a:ext uri="{FF2B5EF4-FFF2-40B4-BE49-F238E27FC236}">
                <a16:creationId xmlns:a16="http://schemas.microsoft.com/office/drawing/2014/main" id="{CB1A8AB8-E479-4E79-88BA-1408612A318B}"/>
              </a:ext>
            </a:extLst>
          </p:cNvPr>
          <p:cNvSpPr/>
          <p:nvPr/>
        </p:nvSpPr>
        <p:spPr>
          <a:xfrm>
            <a:off x="4717407" y="3337266"/>
            <a:ext cx="3656614" cy="583305"/>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左大括弧 4">
            <a:extLst>
              <a:ext uri="{FF2B5EF4-FFF2-40B4-BE49-F238E27FC236}">
                <a16:creationId xmlns:a16="http://schemas.microsoft.com/office/drawing/2014/main" id="{4F008A49-029A-4D96-B277-15D554E90272}"/>
              </a:ext>
            </a:extLst>
          </p:cNvPr>
          <p:cNvSpPr/>
          <p:nvPr/>
        </p:nvSpPr>
        <p:spPr>
          <a:xfrm rot="5400000">
            <a:off x="4372105" y="5088146"/>
            <a:ext cx="312400" cy="1663274"/>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4" name="文字方塊 7">
            <a:extLst>
              <a:ext uri="{FF2B5EF4-FFF2-40B4-BE49-F238E27FC236}">
                <a16:creationId xmlns:a16="http://schemas.microsoft.com/office/drawing/2014/main" id="{E0C5BB3F-1A40-4AC1-9559-B141F1708939}"/>
              </a:ext>
            </a:extLst>
          </p:cNvPr>
          <p:cNvSpPr txBox="1"/>
          <p:nvPr/>
        </p:nvSpPr>
        <p:spPr>
          <a:xfrm>
            <a:off x="5659036" y="3973005"/>
            <a:ext cx="2053825" cy="461665"/>
          </a:xfrm>
          <a:prstGeom prst="rect">
            <a:avLst/>
          </a:prstGeom>
          <a:noFill/>
        </p:spPr>
        <p:txBody>
          <a:bodyPr wrap="square" rtlCol="0">
            <a:spAutoFit/>
          </a:bodyPr>
          <a:lstStyle/>
          <a:p>
            <a:pPr algn="ctr"/>
            <a:r>
              <a:rPr lang="en-US" altLang="zh-TW" sz="2400" dirty="0">
                <a:solidFill>
                  <a:srgbClr val="0000FF"/>
                </a:solidFill>
              </a:rPr>
              <a:t>Repeat</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35" name="文字方塊 37">
                <a:extLst>
                  <a:ext uri="{FF2B5EF4-FFF2-40B4-BE49-F238E27FC236}">
                    <a16:creationId xmlns:a16="http://schemas.microsoft.com/office/drawing/2014/main" id="{D2C95603-C166-43FD-A486-90F9B2721B29}"/>
                  </a:ext>
                </a:extLst>
              </p:cNvPr>
              <p:cNvSpPr txBox="1"/>
              <p:nvPr/>
            </p:nvSpPr>
            <p:spPr>
              <a:xfrm>
                <a:off x="6867932" y="3956705"/>
                <a:ext cx="5275932" cy="400110"/>
              </a:xfrm>
              <a:prstGeom prst="rect">
                <a:avLst/>
              </a:prstGeom>
              <a:noFill/>
            </p:spPr>
            <p:txBody>
              <a:bodyPr wrap="square" rtlCol="0">
                <a:spAutoFit/>
              </a:bodyPr>
              <a:lstStyle/>
              <a:p>
                <a:pPr algn="ctr"/>
                <a:r>
                  <a:rPr lang="en-US" altLang="zh-TW" sz="2000" dirty="0">
                    <a:solidFill>
                      <a:schemeClr val="tx1"/>
                    </a:solidFill>
                    <a:latin typeface="Times New Roman" panose="02020603050405020304" charset="0"/>
                    <a:cs typeface="Times New Roman" panose="02020603050405020304" charset="0"/>
                  </a:rPr>
                  <a:t>Until </a:t>
                </a:r>
                <a14:m>
                  <m:oMath xmlns:m="http://schemas.openxmlformats.org/officeDocument/2006/math">
                    <m:f>
                      <m:fPr>
                        <m:type m:val="lin"/>
                        <m:ctrlPr>
                          <a:rPr lang="en-US" altLang="zh-TW" sz="2000" i="1">
                            <a:solidFill>
                              <a:schemeClr val="tx1"/>
                            </a:solidFill>
                            <a:latin typeface="Cambria Math" panose="02040503050406030204" pitchFamily="18" charset="0"/>
                          </a:rPr>
                        </m:ctrlPr>
                      </m:fPr>
                      <m:num>
                        <m:r>
                          <a:rPr lang="en-US" altLang="zh-TW" sz="2000" i="1">
                            <a:solidFill>
                              <a:schemeClr val="tx1"/>
                            </a:solidFill>
                            <a:latin typeface="Cambria Math" panose="02040503050406030204" pitchFamily="18" charset="0"/>
                          </a:rPr>
                          <m:t>𝜕</m:t>
                        </m:r>
                        <m:r>
                          <a:rPr lang="en-US" altLang="zh-TW" sz="2000" i="1">
                            <a:solidFill>
                              <a:schemeClr val="tx1"/>
                            </a:solidFill>
                            <a:latin typeface="Cambria Math" panose="02040503050406030204" pitchFamily="18" charset="0"/>
                          </a:rPr>
                          <m:t>𝐿</m:t>
                        </m:r>
                      </m:num>
                      <m:den>
                        <m:r>
                          <a:rPr lang="en-US" altLang="zh-TW" sz="2000" i="1">
                            <a:solidFill>
                              <a:schemeClr val="tx1"/>
                            </a:solidFill>
                            <a:latin typeface="Cambria Math" panose="02040503050406030204" pitchFamily="18" charset="0"/>
                          </a:rPr>
                          <m:t>𝜕</m:t>
                        </m:r>
                        <m:r>
                          <a:rPr lang="en-US" altLang="zh-TW" sz="2000" i="1">
                            <a:solidFill>
                              <a:schemeClr val="tx1"/>
                            </a:solidFill>
                            <a:latin typeface="Cambria Math" panose="02040503050406030204" pitchFamily="18" charset="0"/>
                          </a:rPr>
                          <m:t>𝑤</m:t>
                        </m:r>
                      </m:den>
                    </m:f>
                  </m:oMath>
                </a14:m>
                <a:r>
                  <a:rPr lang="zh-TW" altLang="en-US" sz="2000" dirty="0">
                    <a:solidFill>
                      <a:schemeClr val="tx1"/>
                    </a:solidFill>
                    <a:latin typeface="Times New Roman" panose="02020603050405020304" charset="0"/>
                    <a:cs typeface="Times New Roman" panose="02020603050405020304" charset="0"/>
                  </a:rPr>
                  <a:t> </a:t>
                </a:r>
                <a:r>
                  <a:rPr lang="en-US" altLang="zh-TW" sz="2000" dirty="0">
                    <a:solidFill>
                      <a:schemeClr val="tx1"/>
                    </a:solidFill>
                    <a:latin typeface="Times New Roman" panose="02020603050405020304" charset="0"/>
                    <a:cs typeface="Times New Roman" panose="02020603050405020304" charset="0"/>
                  </a:rPr>
                  <a:t>is approximately small</a:t>
                </a:r>
                <a:endParaRPr lang="zh-TW" altLang="en-US" sz="2000" dirty="0">
                  <a:solidFill>
                    <a:schemeClr val="tx1"/>
                  </a:solidFill>
                  <a:latin typeface="Times New Roman" panose="02020603050405020304" charset="0"/>
                  <a:cs typeface="Times New Roman" panose="02020603050405020304" charset="0"/>
                </a:endParaRPr>
              </a:p>
            </p:txBody>
          </p:sp>
        </mc:Choice>
        <mc:Fallback xmlns="">
          <p:sp>
            <p:nvSpPr>
              <p:cNvPr id="35" name="文字方塊 37">
                <a:extLst>
                  <a:ext uri="{FF2B5EF4-FFF2-40B4-BE49-F238E27FC236}">
                    <a16:creationId xmlns:a16="http://schemas.microsoft.com/office/drawing/2014/main" id="{D2C95603-C166-43FD-A486-90F9B2721B29}"/>
                  </a:ext>
                </a:extLst>
              </p:cNvPr>
              <p:cNvSpPr txBox="1">
                <a:spLocks noRot="1" noChangeAspect="1" noMove="1" noResize="1" noEditPoints="1" noAdjustHandles="1" noChangeArrowheads="1" noChangeShapeType="1" noTextEdit="1"/>
              </p:cNvSpPr>
              <p:nvPr/>
            </p:nvSpPr>
            <p:spPr>
              <a:xfrm>
                <a:off x="6867932" y="3956705"/>
                <a:ext cx="5275932" cy="400110"/>
              </a:xfrm>
              <a:prstGeom prst="rect">
                <a:avLst/>
              </a:prstGeom>
              <a:blipFill>
                <a:blip r:embed="rId9"/>
                <a:stretch>
                  <a:fillRect t="-115152" b="-178788"/>
                </a:stretch>
              </a:blipFill>
            </p:spPr>
            <p:txBody>
              <a:bodyPr/>
              <a:lstStyle/>
              <a:p>
                <a:r>
                  <a:rPr lang="zh-CN" altLang="en-US">
                    <a:noFill/>
                  </a:rPr>
                  <a:t> </a:t>
                </a:r>
              </a:p>
            </p:txBody>
          </p:sp>
        </mc:Fallback>
      </mc:AlternateContent>
      <p:sp>
        <p:nvSpPr>
          <p:cNvPr id="36" name="文字方塊 39">
            <a:extLst>
              <a:ext uri="{FF2B5EF4-FFF2-40B4-BE49-F238E27FC236}">
                <a16:creationId xmlns:a16="http://schemas.microsoft.com/office/drawing/2014/main" id="{B2DD2995-29A4-450E-B9A0-677D62A82B5E}"/>
              </a:ext>
            </a:extLst>
          </p:cNvPr>
          <p:cNvSpPr txBox="1"/>
          <p:nvPr/>
        </p:nvSpPr>
        <p:spPr>
          <a:xfrm>
            <a:off x="8022176" y="4354857"/>
            <a:ext cx="3120647" cy="400110"/>
          </a:xfrm>
          <a:prstGeom prst="rect">
            <a:avLst/>
          </a:prstGeom>
          <a:noFill/>
        </p:spPr>
        <p:txBody>
          <a:bodyPr wrap="square" rtlCol="0">
            <a:spAutoFit/>
          </a:bodyPr>
          <a:lstStyle/>
          <a:p>
            <a:pPr algn="ctr"/>
            <a:r>
              <a:rPr lang="en-US" altLang="zh-TW" sz="2000" dirty="0">
                <a:solidFill>
                  <a:schemeClr val="tx1"/>
                </a:solidFill>
                <a:latin typeface="Times New Roman" panose="02020603050405020304" charset="0"/>
                <a:cs typeface="Times New Roman" panose="02020603050405020304" charset="0"/>
              </a:rPr>
              <a:t>(when update is little)</a:t>
            </a:r>
            <a:endParaRPr lang="zh-TW" altLang="en-US" sz="2000" dirty="0">
              <a:solidFill>
                <a:schemeClr val="tx1"/>
              </a:solidFill>
              <a:latin typeface="Times New Roman" panose="02020603050405020304" charset="0"/>
              <a:cs typeface="Times New Roman" panose="02020603050405020304" charset="0"/>
            </a:endParaRPr>
          </a:p>
        </p:txBody>
      </p:sp>
      <p:sp>
        <p:nvSpPr>
          <p:cNvPr id="37" name="橢圓 24">
            <a:extLst>
              <a:ext uri="{FF2B5EF4-FFF2-40B4-BE49-F238E27FC236}">
                <a16:creationId xmlns:a16="http://schemas.microsoft.com/office/drawing/2014/main" id="{4D87C91B-DE31-474D-8ABF-4957B233A25F}"/>
              </a:ext>
            </a:extLst>
          </p:cNvPr>
          <p:cNvSpPr/>
          <p:nvPr/>
        </p:nvSpPr>
        <p:spPr>
          <a:xfrm>
            <a:off x="5182398" y="5980156"/>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8" name="直線接點 35">
            <a:extLst>
              <a:ext uri="{FF2B5EF4-FFF2-40B4-BE49-F238E27FC236}">
                <a16:creationId xmlns:a16="http://schemas.microsoft.com/office/drawing/2014/main" id="{2DB7C1A4-A6BE-47A8-97C8-D266E54080FD}"/>
              </a:ext>
            </a:extLst>
          </p:cNvPr>
          <p:cNvCxnSpPr>
            <a:cxnSpLocks/>
          </p:cNvCxnSpPr>
          <p:nvPr/>
        </p:nvCxnSpPr>
        <p:spPr>
          <a:xfrm>
            <a:off x="5275004" y="5233740"/>
            <a:ext cx="6600" cy="82299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線接點 23">
            <a:extLst>
              <a:ext uri="{FF2B5EF4-FFF2-40B4-BE49-F238E27FC236}">
                <a16:creationId xmlns:a16="http://schemas.microsoft.com/office/drawing/2014/main" id="{4C3016CB-1D09-47C9-BFD9-761C342B401C}"/>
              </a:ext>
            </a:extLst>
          </p:cNvPr>
          <p:cNvCxnSpPr/>
          <p:nvPr/>
        </p:nvCxnSpPr>
        <p:spPr>
          <a:xfrm>
            <a:off x="5036395" y="5233740"/>
            <a:ext cx="1298213" cy="202778"/>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40" name="橢圓 30">
            <a:extLst>
              <a:ext uri="{FF2B5EF4-FFF2-40B4-BE49-F238E27FC236}">
                <a16:creationId xmlns:a16="http://schemas.microsoft.com/office/drawing/2014/main" id="{D88186C8-215A-4EC0-A0FD-B0892441507B}"/>
              </a:ext>
            </a:extLst>
          </p:cNvPr>
          <p:cNvSpPr/>
          <p:nvPr/>
        </p:nvSpPr>
        <p:spPr>
          <a:xfrm>
            <a:off x="5996685" y="5960837"/>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31">
            <a:extLst>
              <a:ext uri="{FF2B5EF4-FFF2-40B4-BE49-F238E27FC236}">
                <a16:creationId xmlns:a16="http://schemas.microsoft.com/office/drawing/2014/main" id="{B11E4B02-D0C9-48BF-909B-BA3DB3E87F78}"/>
              </a:ext>
            </a:extLst>
          </p:cNvPr>
          <p:cNvCxnSpPr>
            <a:cxnSpLocks/>
          </p:cNvCxnSpPr>
          <p:nvPr/>
        </p:nvCxnSpPr>
        <p:spPr>
          <a:xfrm flipH="1">
            <a:off x="6096000" y="5335129"/>
            <a:ext cx="7125" cy="77901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2" name="左大括弧 38">
            <a:extLst>
              <a:ext uri="{FF2B5EF4-FFF2-40B4-BE49-F238E27FC236}">
                <a16:creationId xmlns:a16="http://schemas.microsoft.com/office/drawing/2014/main" id="{4CB6AC35-9373-4696-BF74-DAC5071AC19F}"/>
              </a:ext>
            </a:extLst>
          </p:cNvPr>
          <p:cNvSpPr/>
          <p:nvPr/>
        </p:nvSpPr>
        <p:spPr>
          <a:xfrm rot="5400000">
            <a:off x="5529302" y="5435195"/>
            <a:ext cx="312400" cy="820996"/>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1259973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57</a:t>
            </a:fld>
            <a:endParaRPr lang="zh-CN" altLang="en-US" dirty="0"/>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grpSp>
        <p:nvGrpSpPr>
          <p:cNvPr id="33" name="群組 3">
            <a:extLst>
              <a:ext uri="{FF2B5EF4-FFF2-40B4-BE49-F238E27FC236}">
                <a16:creationId xmlns:a16="http://schemas.microsoft.com/office/drawing/2014/main" id="{FE2D0A16-D93F-4EE9-8372-EFA78EE71687}"/>
              </a:ext>
            </a:extLst>
          </p:cNvPr>
          <p:cNvGrpSpPr/>
          <p:nvPr/>
        </p:nvGrpSpPr>
        <p:grpSpPr>
          <a:xfrm>
            <a:off x="2601925" y="1319083"/>
            <a:ext cx="7092867" cy="5365372"/>
            <a:chOff x="706835" y="2011916"/>
            <a:chExt cx="6113826" cy="4624779"/>
          </a:xfrm>
        </p:grpSpPr>
        <p:pic>
          <p:nvPicPr>
            <p:cNvPr id="43" name="圖片 4">
              <a:extLst>
                <a:ext uri="{FF2B5EF4-FFF2-40B4-BE49-F238E27FC236}">
                  <a16:creationId xmlns:a16="http://schemas.microsoft.com/office/drawing/2014/main" id="{D6039465-A197-4E12-860A-31BF46AAB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35" y="2011916"/>
              <a:ext cx="6113826" cy="4585368"/>
            </a:xfrm>
            <a:prstGeom prst="rect">
              <a:avLst/>
            </a:prstGeom>
          </p:spPr>
        </p:pic>
        <mc:AlternateContent xmlns:mc="http://schemas.openxmlformats.org/markup-compatibility/2006" xmlns:a14="http://schemas.microsoft.com/office/drawing/2010/main">
          <mc:Choice Requires="a14">
            <p:sp>
              <p:nvSpPr>
                <p:cNvPr id="44" name="文字方塊 5">
                  <a:extLst>
                    <a:ext uri="{FF2B5EF4-FFF2-40B4-BE49-F238E27FC236}">
                      <a16:creationId xmlns:a16="http://schemas.microsoft.com/office/drawing/2014/main" id="{BF58A0AA-67DF-4054-B6F9-D27327913705}"/>
                    </a:ext>
                  </a:extLst>
                </p:cNvPr>
                <p:cNvSpPr txBox="1"/>
                <p:nvPr/>
              </p:nvSpPr>
              <p:spPr>
                <a:xfrm>
                  <a:off x="3675390" y="6267363"/>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27" name="文字方塊 5"/>
                <p:cNvSpPr txBox="1">
                  <a:spLocks noRot="1" noChangeAspect="1" noMove="1" noResize="1" noEditPoints="1" noAdjustHandles="1" noChangeArrowheads="1" noChangeShapeType="1" noTextEdit="1"/>
                </p:cNvSpPr>
                <p:nvPr/>
              </p:nvSpPr>
              <p:spPr>
                <a:xfrm>
                  <a:off x="3675390" y="6267363"/>
                  <a:ext cx="421847"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字方塊 6">
                  <a:extLst>
                    <a:ext uri="{FF2B5EF4-FFF2-40B4-BE49-F238E27FC236}">
                      <a16:creationId xmlns:a16="http://schemas.microsoft.com/office/drawing/2014/main" id="{F6336CAE-61E8-4172-BAAB-1B255F9222CD}"/>
                    </a:ext>
                  </a:extLst>
                </p:cNvPr>
                <p:cNvSpPr txBox="1"/>
                <p:nvPr/>
              </p:nvSpPr>
              <p:spPr>
                <a:xfrm>
                  <a:off x="843326" y="4119935"/>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28" name="文字方塊 6"/>
                <p:cNvSpPr txBox="1">
                  <a:spLocks noRot="1" noChangeAspect="1" noMove="1" noResize="1" noEditPoints="1" noAdjustHandles="1" noChangeArrowheads="1" noChangeShapeType="1" noTextEdit="1"/>
                </p:cNvSpPr>
                <p:nvPr/>
              </p:nvSpPr>
              <p:spPr>
                <a:xfrm>
                  <a:off x="843326" y="4119935"/>
                  <a:ext cx="428964" cy="369332"/>
                </a:xfrm>
                <a:prstGeom prst="rect">
                  <a:avLst/>
                </a:prstGeom>
                <a:blipFill rotWithShape="1">
                  <a:blip r:embed="rId5"/>
                </a:blipFill>
              </p:spPr>
              <p:txBody>
                <a:bodyPr/>
                <a:lstStyle/>
                <a:p>
                  <a:r>
                    <a:rPr lang="zh-CN" altLang="en-US">
                      <a:noFill/>
                    </a:rPr>
                    <a:t> </a:t>
                  </a:r>
                </a:p>
              </p:txBody>
            </p:sp>
          </mc:Fallback>
        </mc:AlternateContent>
      </p:grpSp>
      <p:sp>
        <p:nvSpPr>
          <p:cNvPr id="48" name="橢圓 8">
            <a:extLst>
              <a:ext uri="{FF2B5EF4-FFF2-40B4-BE49-F238E27FC236}">
                <a16:creationId xmlns:a16="http://schemas.microsoft.com/office/drawing/2014/main" id="{B85AD681-1D5A-4C05-98C4-FD8B5A405993}"/>
              </a:ext>
            </a:extLst>
          </p:cNvPr>
          <p:cNvSpPr/>
          <p:nvPr/>
        </p:nvSpPr>
        <p:spPr>
          <a:xfrm>
            <a:off x="4053990" y="5243883"/>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49" name="文字方塊 45">
            <a:extLst>
              <a:ext uri="{FF2B5EF4-FFF2-40B4-BE49-F238E27FC236}">
                <a16:creationId xmlns:a16="http://schemas.microsoft.com/office/drawing/2014/main" id="{2B6BB481-CB73-4AAD-8660-4ED7CF7683E6}"/>
              </a:ext>
            </a:extLst>
          </p:cNvPr>
          <p:cNvSpPr txBox="1"/>
          <p:nvPr/>
        </p:nvSpPr>
        <p:spPr>
          <a:xfrm>
            <a:off x="8084515" y="3362149"/>
            <a:ext cx="2066897"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Color: Value of Total Loss L</a:t>
            </a:r>
            <a:endParaRPr lang="zh-TW" altLang="en-US" sz="2400" dirty="0">
              <a:latin typeface="Times New Roman" panose="02020603050405020304" charset="0"/>
              <a:cs typeface="Times New Roman" panose="02020603050405020304" charset="0"/>
            </a:endParaRPr>
          </a:p>
        </p:txBody>
      </p:sp>
      <p:sp>
        <p:nvSpPr>
          <p:cNvPr id="54" name="橢圓 2">
            <a:extLst>
              <a:ext uri="{FF2B5EF4-FFF2-40B4-BE49-F238E27FC236}">
                <a16:creationId xmlns:a16="http://schemas.microsoft.com/office/drawing/2014/main" id="{560D9871-FF67-47E0-AA05-0697536635F5}"/>
              </a:ext>
            </a:extLst>
          </p:cNvPr>
          <p:cNvSpPr/>
          <p:nvPr/>
        </p:nvSpPr>
        <p:spPr>
          <a:xfrm>
            <a:off x="6459703" y="3100289"/>
            <a:ext cx="696036" cy="3840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sp>
        <p:nvSpPr>
          <p:cNvPr id="59" name="橢圓 11">
            <a:extLst>
              <a:ext uri="{FF2B5EF4-FFF2-40B4-BE49-F238E27FC236}">
                <a16:creationId xmlns:a16="http://schemas.microsoft.com/office/drawing/2014/main" id="{9DB9DCBA-F1AD-45B9-94B7-3893E225C4AC}"/>
              </a:ext>
            </a:extLst>
          </p:cNvPr>
          <p:cNvSpPr/>
          <p:nvPr/>
        </p:nvSpPr>
        <p:spPr>
          <a:xfrm>
            <a:off x="3998289" y="2423003"/>
            <a:ext cx="696036" cy="3840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61" name="直線接點 9">
            <a:extLst>
              <a:ext uri="{FF2B5EF4-FFF2-40B4-BE49-F238E27FC236}">
                <a16:creationId xmlns:a16="http://schemas.microsoft.com/office/drawing/2014/main" id="{09A254A6-2BFD-4553-9B24-2D6B2B6F7EF2}"/>
              </a:ext>
            </a:extLst>
          </p:cNvPr>
          <p:cNvCxnSpPr/>
          <p:nvPr/>
        </p:nvCxnSpPr>
        <p:spPr>
          <a:xfrm>
            <a:off x="6807721" y="3484309"/>
            <a:ext cx="0" cy="2674579"/>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4" name="直線接點 15">
            <a:extLst>
              <a:ext uri="{FF2B5EF4-FFF2-40B4-BE49-F238E27FC236}">
                <a16:creationId xmlns:a16="http://schemas.microsoft.com/office/drawing/2014/main" id="{4E50175E-1ACF-4D20-AA65-44AD632FEC10}"/>
              </a:ext>
            </a:extLst>
          </p:cNvPr>
          <p:cNvCxnSpPr/>
          <p:nvPr/>
        </p:nvCxnSpPr>
        <p:spPr>
          <a:xfrm>
            <a:off x="4346307" y="2779468"/>
            <a:ext cx="0" cy="3290520"/>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65" name="文字方塊 44">
            <a:extLst>
              <a:ext uri="{FF2B5EF4-FFF2-40B4-BE49-F238E27FC236}">
                <a16:creationId xmlns:a16="http://schemas.microsoft.com/office/drawing/2014/main" id="{17796317-9E11-4755-95FF-A89C5A63A695}"/>
              </a:ext>
            </a:extLst>
          </p:cNvPr>
          <p:cNvSpPr txBox="1"/>
          <p:nvPr/>
        </p:nvSpPr>
        <p:spPr>
          <a:xfrm>
            <a:off x="4298738" y="5374635"/>
            <a:ext cx="4005508" cy="461665"/>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altLang="zh-TW" sz="2400" dirty="0">
                <a:latin typeface="Times New Roman" panose="02020603050405020304" charset="0"/>
                <a:cs typeface="Times New Roman" panose="02020603050405020304" charset="0"/>
              </a:rPr>
              <a:t>Randomly pick a starting point</a:t>
            </a:r>
            <a:endParaRPr lang="zh-TW" altLang="en-US" sz="2400" dirty="0">
              <a:latin typeface="Times New Roman" panose="02020603050405020304" charset="0"/>
              <a:cs typeface="Times New Roman" panose="02020603050405020304" charset="0"/>
            </a:endParaRPr>
          </a:p>
        </p:txBody>
      </p:sp>
      <p:cxnSp>
        <p:nvCxnSpPr>
          <p:cNvPr id="66" name="直線接點 17">
            <a:extLst>
              <a:ext uri="{FF2B5EF4-FFF2-40B4-BE49-F238E27FC236}">
                <a16:creationId xmlns:a16="http://schemas.microsoft.com/office/drawing/2014/main" id="{6A581514-79FC-4274-80B4-AF97C52918E8}"/>
              </a:ext>
            </a:extLst>
          </p:cNvPr>
          <p:cNvCxnSpPr/>
          <p:nvPr/>
        </p:nvCxnSpPr>
        <p:spPr>
          <a:xfrm flipH="1">
            <a:off x="3495580" y="3280068"/>
            <a:ext cx="2964123" cy="0"/>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67" name="直線接點 19">
            <a:extLst>
              <a:ext uri="{FF2B5EF4-FFF2-40B4-BE49-F238E27FC236}">
                <a16:creationId xmlns:a16="http://schemas.microsoft.com/office/drawing/2014/main" id="{1DE1D0D0-11E0-4773-A6EA-41C6FF0D2AAB}"/>
              </a:ext>
            </a:extLst>
          </p:cNvPr>
          <p:cNvCxnSpPr/>
          <p:nvPr/>
        </p:nvCxnSpPr>
        <p:spPr>
          <a:xfrm flipH="1">
            <a:off x="3495580" y="2610753"/>
            <a:ext cx="502710" cy="0"/>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1272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58</a:t>
            </a:fld>
            <a:endParaRPr lang="zh-CN" altLang="en-US" dirty="0"/>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pic>
        <p:nvPicPr>
          <p:cNvPr id="6" name="gradient">
            <a:hlinkClick r:id="" action="ppaction://media"/>
            <a:extLst>
              <a:ext uri="{FF2B5EF4-FFF2-40B4-BE49-F238E27FC236}">
                <a16:creationId xmlns:a16="http://schemas.microsoft.com/office/drawing/2014/main" id="{30F3A46D-F062-4437-ACDE-F62A0834F477}"/>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14127" t="14526" r="13537"/>
          <a:stretch/>
        </p:blipFill>
        <p:spPr>
          <a:xfrm>
            <a:off x="2691038" y="1650124"/>
            <a:ext cx="7436944" cy="4943110"/>
          </a:xfrm>
          <a:prstGeom prst="rect">
            <a:avLst/>
          </a:prstGeom>
          <a:ln>
            <a:noFill/>
          </a:ln>
        </p:spPr>
      </p:pic>
    </p:spTree>
    <p:extLst>
      <p:ext uri="{BB962C8B-B14F-4D97-AF65-F5344CB8AC3E}">
        <p14:creationId xmlns:p14="http://schemas.microsoft.com/office/powerpoint/2010/main" val="211358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8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p:cTn id="12" fill="hold" display="0">
                  <p:stCondLst>
                    <p:cond delay="indefinite"/>
                  </p:stCondLst>
                </p:cTn>
                <p:tgtEl>
                  <p:spTgt spid="6"/>
                </p:tgtEl>
              </p:cMediaNode>
            </p:video>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59</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a:t>
            </a:r>
            <a:r>
              <a:rPr lang="zh-CN" altLang="en-US" sz="2400" b="1" dirty="0">
                <a:latin typeface="Times New Roman" panose="02020603050405020304" pitchFamily="18" charset="0"/>
                <a:cs typeface="Times New Roman" panose="02020603050405020304" pitchFamily="18" charset="0"/>
              </a:rPr>
              <a:t>化</a:t>
            </a:r>
            <a:r>
              <a:rPr lang="zh-CN" altLang="en-US" sz="2400" dirty="0">
                <a:latin typeface="Times New Roman" panose="02020603050405020304" pitchFamily="18" charset="0"/>
                <a:cs typeface="Times New Roman" panose="02020603050405020304" pitchFamily="18" charset="0"/>
              </a:rPr>
              <a:t>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grpSp>
        <p:nvGrpSpPr>
          <p:cNvPr id="3" name="组合 2">
            <a:extLst>
              <a:ext uri="{FF2B5EF4-FFF2-40B4-BE49-F238E27FC236}">
                <a16:creationId xmlns:a16="http://schemas.microsoft.com/office/drawing/2014/main" id="{2FFE2765-DE47-42FA-AFFC-38174A1A68DF}"/>
              </a:ext>
            </a:extLst>
          </p:cNvPr>
          <p:cNvGrpSpPr/>
          <p:nvPr/>
        </p:nvGrpSpPr>
        <p:grpSpPr>
          <a:xfrm>
            <a:off x="2569780" y="2473960"/>
            <a:ext cx="7601386" cy="3924387"/>
            <a:chOff x="1949096" y="1490127"/>
            <a:chExt cx="8658249" cy="4917462"/>
          </a:xfrm>
        </p:grpSpPr>
        <p:cxnSp>
          <p:nvCxnSpPr>
            <p:cNvPr id="6" name="直線接點 42">
              <a:extLst>
                <a:ext uri="{FF2B5EF4-FFF2-40B4-BE49-F238E27FC236}">
                  <a16:creationId xmlns:a16="http://schemas.microsoft.com/office/drawing/2014/main" id="{30C967A6-1D36-4639-82E8-54A4010F982E}"/>
                </a:ext>
              </a:extLst>
            </p:cNvPr>
            <p:cNvCxnSpPr/>
            <p:nvPr/>
          </p:nvCxnSpPr>
          <p:spPr>
            <a:xfrm>
              <a:off x="8015834" y="4864804"/>
              <a:ext cx="0" cy="727092"/>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8" name="橢圓 23">
              <a:extLst>
                <a:ext uri="{FF2B5EF4-FFF2-40B4-BE49-F238E27FC236}">
                  <a16:creationId xmlns:a16="http://schemas.microsoft.com/office/drawing/2014/main" id="{058206FB-D17D-4E46-84A3-3699CDF9B328}"/>
                </a:ext>
              </a:extLst>
            </p:cNvPr>
            <p:cNvSpPr/>
            <p:nvPr/>
          </p:nvSpPr>
          <p:spPr>
            <a:xfrm>
              <a:off x="7684797" y="4548281"/>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cxnSp>
          <p:nvCxnSpPr>
            <p:cNvPr id="9" name="直線接點 41">
              <a:extLst>
                <a:ext uri="{FF2B5EF4-FFF2-40B4-BE49-F238E27FC236}">
                  <a16:creationId xmlns:a16="http://schemas.microsoft.com/office/drawing/2014/main" id="{CEEA6B59-2D92-4A9E-936D-2E9543E3B3D6}"/>
                </a:ext>
              </a:extLst>
            </p:cNvPr>
            <p:cNvCxnSpPr/>
            <p:nvPr/>
          </p:nvCxnSpPr>
          <p:spPr>
            <a:xfrm>
              <a:off x="6080582" y="3840986"/>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線接點 40">
              <a:extLst>
                <a:ext uri="{FF2B5EF4-FFF2-40B4-BE49-F238E27FC236}">
                  <a16:creationId xmlns:a16="http://schemas.microsoft.com/office/drawing/2014/main" id="{A352FA35-B63C-4329-9AA5-5A083732BB22}"/>
                </a:ext>
              </a:extLst>
            </p:cNvPr>
            <p:cNvCxnSpPr/>
            <p:nvPr/>
          </p:nvCxnSpPr>
          <p:spPr>
            <a:xfrm>
              <a:off x="4345714" y="3829284"/>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 name="直線接點 6">
              <a:extLst>
                <a:ext uri="{FF2B5EF4-FFF2-40B4-BE49-F238E27FC236}">
                  <a16:creationId xmlns:a16="http://schemas.microsoft.com/office/drawing/2014/main" id="{0CA06675-0DDC-4945-AB05-BF56377D6066}"/>
                </a:ext>
              </a:extLst>
            </p:cNvPr>
            <p:cNvCxnSpPr/>
            <p:nvPr/>
          </p:nvCxnSpPr>
          <p:spPr>
            <a:xfrm>
              <a:off x="2840188" y="2743064"/>
              <a:ext cx="0" cy="288006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 name="直線單箭頭接點 26">
              <a:extLst>
                <a:ext uri="{FF2B5EF4-FFF2-40B4-BE49-F238E27FC236}">
                  <a16:creationId xmlns:a16="http://schemas.microsoft.com/office/drawing/2014/main" id="{4E53651F-D809-4885-8B5B-4C3C3A2C54E9}"/>
                </a:ext>
              </a:extLst>
            </p:cNvPr>
            <p:cNvCxnSpPr/>
            <p:nvPr/>
          </p:nvCxnSpPr>
          <p:spPr>
            <a:xfrm>
              <a:off x="2948247" y="5591897"/>
              <a:ext cx="676977"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手繪多邊形 5">
              <a:extLst>
                <a:ext uri="{FF2B5EF4-FFF2-40B4-BE49-F238E27FC236}">
                  <a16:creationId xmlns:a16="http://schemas.microsoft.com/office/drawing/2014/main" id="{78F19F90-2BF6-40FE-856E-C8FEA6CB97E8}"/>
                </a:ext>
              </a:extLst>
            </p:cNvPr>
            <p:cNvSpPr/>
            <p:nvPr/>
          </p:nvSpPr>
          <p:spPr>
            <a:xfrm>
              <a:off x="2138729" y="1688113"/>
              <a:ext cx="7914542"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1" fmla="*/ 0 w 7754816"/>
                <a:gd name="connsiteY0-2" fmla="*/ 0 h 4208267"/>
                <a:gd name="connsiteX1-3" fmla="*/ 1019908 w 7754816"/>
                <a:gd name="connsiteY1-4" fmla="*/ 2356339 h 4208267"/>
                <a:gd name="connsiteX2-5" fmla="*/ 3499339 w 7754816"/>
                <a:gd name="connsiteY2-6" fmla="*/ 2760785 h 4208267"/>
                <a:gd name="connsiteX3-7" fmla="*/ 5732254 w 7754816"/>
                <a:gd name="connsiteY3-8" fmla="*/ 3511062 h 4208267"/>
                <a:gd name="connsiteX4-9" fmla="*/ 5820508 w 7754816"/>
                <a:gd name="connsiteY4-10" fmla="*/ 2602523 h 4208267"/>
                <a:gd name="connsiteX5-11" fmla="*/ 6664570 w 7754816"/>
                <a:gd name="connsiteY5-12" fmla="*/ 2391508 h 4208267"/>
                <a:gd name="connsiteX6-13" fmla="*/ 7561385 w 7754816"/>
                <a:gd name="connsiteY6-14" fmla="*/ 3991708 h 4208267"/>
                <a:gd name="connsiteX7-15" fmla="*/ 7754816 w 7754816"/>
                <a:gd name="connsiteY7-16" fmla="*/ 4149970 h 4208267"/>
                <a:gd name="connsiteX0-17" fmla="*/ 0 w 7754816"/>
                <a:gd name="connsiteY0-18" fmla="*/ 0 h 4208267"/>
                <a:gd name="connsiteX1-19" fmla="*/ 1019908 w 7754816"/>
                <a:gd name="connsiteY1-20" fmla="*/ 2356339 h 4208267"/>
                <a:gd name="connsiteX2-21" fmla="*/ 3499339 w 7754816"/>
                <a:gd name="connsiteY2-22" fmla="*/ 2760785 h 4208267"/>
                <a:gd name="connsiteX3-23" fmla="*/ 5732254 w 7754816"/>
                <a:gd name="connsiteY3-24" fmla="*/ 3511062 h 4208267"/>
                <a:gd name="connsiteX4-25" fmla="*/ 6289268 w 7754816"/>
                <a:gd name="connsiteY4-26" fmla="*/ 2754923 h 4208267"/>
                <a:gd name="connsiteX5-27" fmla="*/ 6664570 w 7754816"/>
                <a:gd name="connsiteY5-28" fmla="*/ 2391508 h 4208267"/>
                <a:gd name="connsiteX6-29" fmla="*/ 7561385 w 7754816"/>
                <a:gd name="connsiteY6-30" fmla="*/ 3991708 h 4208267"/>
                <a:gd name="connsiteX7-31" fmla="*/ 7754816 w 7754816"/>
                <a:gd name="connsiteY7-32" fmla="*/ 4149970 h 4208267"/>
                <a:gd name="connsiteX0-33" fmla="*/ 0 w 7754816"/>
                <a:gd name="connsiteY0-34" fmla="*/ 0 h 4208267"/>
                <a:gd name="connsiteX1-35" fmla="*/ 1019908 w 7754816"/>
                <a:gd name="connsiteY1-36" fmla="*/ 2356339 h 4208267"/>
                <a:gd name="connsiteX2-37" fmla="*/ 3941312 w 7754816"/>
                <a:gd name="connsiteY2-38" fmla="*/ 2760785 h 4208267"/>
                <a:gd name="connsiteX3-39" fmla="*/ 5732254 w 7754816"/>
                <a:gd name="connsiteY3-40" fmla="*/ 3511062 h 4208267"/>
                <a:gd name="connsiteX4-41" fmla="*/ 6289268 w 7754816"/>
                <a:gd name="connsiteY4-42" fmla="*/ 2754923 h 4208267"/>
                <a:gd name="connsiteX5-43" fmla="*/ 6664570 w 7754816"/>
                <a:gd name="connsiteY5-44" fmla="*/ 2391508 h 4208267"/>
                <a:gd name="connsiteX6-45" fmla="*/ 7561385 w 7754816"/>
                <a:gd name="connsiteY6-46" fmla="*/ 3991708 h 4208267"/>
                <a:gd name="connsiteX7-47" fmla="*/ 7754816 w 7754816"/>
                <a:gd name="connsiteY7-48" fmla="*/ 4149970 h 4208267"/>
                <a:gd name="connsiteX0-49" fmla="*/ 0 w 7754816"/>
                <a:gd name="connsiteY0-50" fmla="*/ 0 h 4208267"/>
                <a:gd name="connsiteX1-51" fmla="*/ 1019908 w 7754816"/>
                <a:gd name="connsiteY1-52" fmla="*/ 2356339 h 4208267"/>
                <a:gd name="connsiteX2-53" fmla="*/ 3941312 w 7754816"/>
                <a:gd name="connsiteY2-54" fmla="*/ 2760785 h 4208267"/>
                <a:gd name="connsiteX3-55" fmla="*/ 5732254 w 7754816"/>
                <a:gd name="connsiteY3-56" fmla="*/ 3511062 h 4208267"/>
                <a:gd name="connsiteX4-57" fmla="*/ 6289268 w 7754816"/>
                <a:gd name="connsiteY4-58" fmla="*/ 2754923 h 4208267"/>
                <a:gd name="connsiteX5-59" fmla="*/ 6664570 w 7754816"/>
                <a:gd name="connsiteY5-60" fmla="*/ 2391508 h 4208267"/>
                <a:gd name="connsiteX6-61" fmla="*/ 7561385 w 7754816"/>
                <a:gd name="connsiteY6-62" fmla="*/ 3991708 h 4208267"/>
                <a:gd name="connsiteX7-63" fmla="*/ 7754816 w 7754816"/>
                <a:gd name="connsiteY7-64" fmla="*/ 4149970 h 4208267"/>
                <a:gd name="connsiteX0-65" fmla="*/ 0 w 7754816"/>
                <a:gd name="connsiteY0-66" fmla="*/ 0 h 4208267"/>
                <a:gd name="connsiteX1-67" fmla="*/ 1314558 w 7754816"/>
                <a:gd name="connsiteY1-68" fmla="*/ 2225710 h 4208267"/>
                <a:gd name="connsiteX2-69" fmla="*/ 3941312 w 7754816"/>
                <a:gd name="connsiteY2-70" fmla="*/ 2760785 h 4208267"/>
                <a:gd name="connsiteX3-71" fmla="*/ 5732254 w 7754816"/>
                <a:gd name="connsiteY3-72" fmla="*/ 3511062 h 4208267"/>
                <a:gd name="connsiteX4-73" fmla="*/ 6289268 w 7754816"/>
                <a:gd name="connsiteY4-74" fmla="*/ 2754923 h 4208267"/>
                <a:gd name="connsiteX5-75" fmla="*/ 6664570 w 7754816"/>
                <a:gd name="connsiteY5-76" fmla="*/ 2391508 h 4208267"/>
                <a:gd name="connsiteX6-77" fmla="*/ 7561385 w 7754816"/>
                <a:gd name="connsiteY6-78" fmla="*/ 3991708 h 4208267"/>
                <a:gd name="connsiteX7-79" fmla="*/ 7754816 w 7754816"/>
                <a:gd name="connsiteY7-80" fmla="*/ 4149970 h 4208267"/>
                <a:gd name="connsiteX0-81" fmla="*/ 0 w 7754816"/>
                <a:gd name="connsiteY0-82" fmla="*/ 0 h 4208267"/>
                <a:gd name="connsiteX1-83" fmla="*/ 1314558 w 7754816"/>
                <a:gd name="connsiteY1-84" fmla="*/ 2225710 h 4208267"/>
                <a:gd name="connsiteX2-85" fmla="*/ 3767202 w 7754816"/>
                <a:gd name="connsiteY2-86" fmla="*/ 2717243 h 4208267"/>
                <a:gd name="connsiteX3-87" fmla="*/ 5732254 w 7754816"/>
                <a:gd name="connsiteY3-88" fmla="*/ 3511062 h 4208267"/>
                <a:gd name="connsiteX4-89" fmla="*/ 6289268 w 7754816"/>
                <a:gd name="connsiteY4-90" fmla="*/ 2754923 h 4208267"/>
                <a:gd name="connsiteX5-91" fmla="*/ 6664570 w 7754816"/>
                <a:gd name="connsiteY5-92" fmla="*/ 2391508 h 4208267"/>
                <a:gd name="connsiteX6-93" fmla="*/ 7561385 w 7754816"/>
                <a:gd name="connsiteY6-94" fmla="*/ 3991708 h 4208267"/>
                <a:gd name="connsiteX7-95" fmla="*/ 7754816 w 7754816"/>
                <a:gd name="connsiteY7-96" fmla="*/ 4149970 h 4208267"/>
                <a:gd name="connsiteX0-97" fmla="*/ 0 w 7754816"/>
                <a:gd name="connsiteY0-98" fmla="*/ 0 h 4208267"/>
                <a:gd name="connsiteX1-99" fmla="*/ 1314558 w 7754816"/>
                <a:gd name="connsiteY1-100" fmla="*/ 2225710 h 4208267"/>
                <a:gd name="connsiteX2-101" fmla="*/ 3767202 w 7754816"/>
                <a:gd name="connsiteY2-102" fmla="*/ 2717243 h 4208267"/>
                <a:gd name="connsiteX3-103" fmla="*/ 5732254 w 7754816"/>
                <a:gd name="connsiteY3-104" fmla="*/ 3511062 h 4208267"/>
                <a:gd name="connsiteX4-105" fmla="*/ 6289268 w 7754816"/>
                <a:gd name="connsiteY4-106" fmla="*/ 2754923 h 4208267"/>
                <a:gd name="connsiteX5-107" fmla="*/ 6664570 w 7754816"/>
                <a:gd name="connsiteY5-108" fmla="*/ 2391508 h 4208267"/>
                <a:gd name="connsiteX6-109" fmla="*/ 7561385 w 7754816"/>
                <a:gd name="connsiteY6-110" fmla="*/ 3991708 h 4208267"/>
                <a:gd name="connsiteX7-111" fmla="*/ 7754816 w 7754816"/>
                <a:gd name="connsiteY7-112" fmla="*/ 4149970 h 4208267"/>
                <a:gd name="connsiteX0-113" fmla="*/ 0 w 7754816"/>
                <a:gd name="connsiteY0-114" fmla="*/ 0 h 4208267"/>
                <a:gd name="connsiteX1-115" fmla="*/ 1314558 w 7754816"/>
                <a:gd name="connsiteY1-116" fmla="*/ 2225710 h 4208267"/>
                <a:gd name="connsiteX2-117" fmla="*/ 3823199 w 7754816"/>
                <a:gd name="connsiteY2-118" fmla="*/ 2698193 h 4208267"/>
                <a:gd name="connsiteX3-119" fmla="*/ 5732254 w 7754816"/>
                <a:gd name="connsiteY3-120" fmla="*/ 3511062 h 4208267"/>
                <a:gd name="connsiteX4-121" fmla="*/ 6289268 w 7754816"/>
                <a:gd name="connsiteY4-122" fmla="*/ 2754923 h 4208267"/>
                <a:gd name="connsiteX5-123" fmla="*/ 6664570 w 7754816"/>
                <a:gd name="connsiteY5-124" fmla="*/ 2391508 h 4208267"/>
                <a:gd name="connsiteX6-125" fmla="*/ 7561385 w 7754816"/>
                <a:gd name="connsiteY6-126" fmla="*/ 3991708 h 4208267"/>
                <a:gd name="connsiteX7-127" fmla="*/ 7754816 w 7754816"/>
                <a:gd name="connsiteY7-128" fmla="*/ 4149970 h 42082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14" name="橢圓 8">
              <a:extLst>
                <a:ext uri="{FF2B5EF4-FFF2-40B4-BE49-F238E27FC236}">
                  <a16:creationId xmlns:a16="http://schemas.microsoft.com/office/drawing/2014/main" id="{69E1ADBE-200A-4B9A-942F-20F7F215FB57}"/>
                </a:ext>
              </a:extLst>
            </p:cNvPr>
            <p:cNvSpPr/>
            <p:nvPr/>
          </p:nvSpPr>
          <p:spPr>
            <a:xfrm>
              <a:off x="5764060" y="3751088"/>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cxnSp>
          <p:nvCxnSpPr>
            <p:cNvPr id="15" name="直線單箭頭接點 4">
              <a:extLst>
                <a:ext uri="{FF2B5EF4-FFF2-40B4-BE49-F238E27FC236}">
                  <a16:creationId xmlns:a16="http://schemas.microsoft.com/office/drawing/2014/main" id="{311485BB-9635-4A78-A4AC-A70DD81588B8}"/>
                </a:ext>
              </a:extLst>
            </p:cNvPr>
            <p:cNvCxnSpPr/>
            <p:nvPr/>
          </p:nvCxnSpPr>
          <p:spPr>
            <a:xfrm>
              <a:off x="1949096" y="5733609"/>
              <a:ext cx="842802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3">
              <a:extLst>
                <a:ext uri="{FF2B5EF4-FFF2-40B4-BE49-F238E27FC236}">
                  <a16:creationId xmlns:a16="http://schemas.microsoft.com/office/drawing/2014/main" id="{D319CED6-B9B1-4027-855F-60BE1D5D532F}"/>
                </a:ext>
              </a:extLst>
            </p:cNvPr>
            <p:cNvCxnSpPr/>
            <p:nvPr/>
          </p:nvCxnSpPr>
          <p:spPr>
            <a:xfrm flipV="1">
              <a:off x="2367328" y="1579967"/>
              <a:ext cx="0" cy="43628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9">
              <a:extLst>
                <a:ext uri="{FF2B5EF4-FFF2-40B4-BE49-F238E27FC236}">
                  <a16:creationId xmlns:a16="http://schemas.microsoft.com/office/drawing/2014/main" id="{8F3AFFC7-D5EF-41C8-B35E-2C2DA3D7CC1C}"/>
                </a:ext>
              </a:extLst>
            </p:cNvPr>
            <p:cNvSpPr txBox="1"/>
            <p:nvPr/>
          </p:nvSpPr>
          <p:spPr>
            <a:xfrm>
              <a:off x="2318462" y="1490127"/>
              <a:ext cx="968272" cy="887018"/>
            </a:xfrm>
            <a:prstGeom prst="rect">
              <a:avLst/>
            </a:prstGeom>
            <a:noFill/>
          </p:spPr>
          <p:txBody>
            <a:bodyPr wrap="square" rtlCol="0">
              <a:spAutoFit/>
            </a:bodyPr>
            <a:lstStyle/>
            <a:p>
              <a:pPr algn="ctr"/>
              <a:r>
                <a:rPr lang="en-US" altLang="zh-TW" sz="2000" dirty="0">
                  <a:latin typeface="Times New Roman" panose="02020603050405020304" charset="0"/>
                  <a:cs typeface="Times New Roman" panose="02020603050405020304" charset="0"/>
                </a:rPr>
                <a:t>Total</a:t>
              </a:r>
            </a:p>
            <a:p>
              <a:pPr algn="ctr"/>
              <a:r>
                <a:rPr lang="en-US" altLang="zh-TW" sz="2000" dirty="0">
                  <a:latin typeface="Times New Roman" panose="02020603050405020304" charset="0"/>
                  <a:cs typeface="Times New Roman" panose="02020603050405020304" charset="0"/>
                </a:rPr>
                <a:t>Loss</a:t>
              </a:r>
              <a:endParaRPr lang="zh-TW" altLang="en-US" sz="2000" dirty="0">
                <a:latin typeface="Times New Roman" panose="02020603050405020304" charset="0"/>
                <a:cs typeface="Times New Roman" panose="02020603050405020304" charset="0"/>
              </a:endParaRPr>
            </a:p>
          </p:txBody>
        </p:sp>
        <p:sp>
          <p:nvSpPr>
            <p:cNvPr id="18" name="文字方塊 16">
              <a:extLst>
                <a:ext uri="{FF2B5EF4-FFF2-40B4-BE49-F238E27FC236}">
                  <a16:creationId xmlns:a16="http://schemas.microsoft.com/office/drawing/2014/main" id="{C3FED1EB-719B-4158-8948-A5922F989CF5}"/>
                </a:ext>
              </a:extLst>
            </p:cNvPr>
            <p:cNvSpPr txBox="1"/>
            <p:nvPr/>
          </p:nvSpPr>
          <p:spPr>
            <a:xfrm>
              <a:off x="3736451" y="5906230"/>
              <a:ext cx="5195775" cy="501359"/>
            </a:xfrm>
            <a:prstGeom prst="rect">
              <a:avLst/>
            </a:prstGeom>
            <a:noFill/>
          </p:spPr>
          <p:txBody>
            <a:bodyPr wrap="square" rtlCol="0">
              <a:spAutoFit/>
            </a:bodyPr>
            <a:lstStyle/>
            <a:p>
              <a:pPr algn="ctr"/>
              <a:r>
                <a:rPr lang="en-US" altLang="zh-TW" sz="2000" dirty="0">
                  <a:latin typeface="Times New Roman" panose="02020603050405020304" charset="0"/>
                  <a:cs typeface="Times New Roman" panose="02020603050405020304" charset="0"/>
                </a:rPr>
                <a:t>The value of a network parameter w</a:t>
              </a:r>
              <a:endParaRPr lang="zh-TW" altLang="en-US" sz="2000" dirty="0">
                <a:latin typeface="Times New Roman" panose="02020603050405020304" charset="0"/>
                <a:cs typeface="Times New Roman" panose="02020603050405020304" charset="0"/>
              </a:endParaRPr>
            </a:p>
          </p:txBody>
        </p:sp>
        <p:sp>
          <p:nvSpPr>
            <p:cNvPr id="19" name="文字方塊 10">
              <a:extLst>
                <a:ext uri="{FF2B5EF4-FFF2-40B4-BE49-F238E27FC236}">
                  <a16:creationId xmlns:a16="http://schemas.microsoft.com/office/drawing/2014/main" id="{FA5A6F95-3BB5-43AA-8E61-B4B8D956B768}"/>
                </a:ext>
              </a:extLst>
            </p:cNvPr>
            <p:cNvSpPr txBox="1"/>
            <p:nvPr/>
          </p:nvSpPr>
          <p:spPr>
            <a:xfrm>
              <a:off x="3751310" y="1723821"/>
              <a:ext cx="2549506" cy="1041283"/>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Very slow at the </a:t>
              </a:r>
              <a:r>
                <a:rPr lang="en-US" altLang="zh-TW" sz="2400" b="1" dirty="0">
                  <a:latin typeface="Times New Roman" panose="02020603050405020304" charset="0"/>
                  <a:cs typeface="Times New Roman" panose="02020603050405020304" charset="0"/>
                </a:rPr>
                <a:t>plateau</a:t>
              </a:r>
              <a:endParaRPr lang="zh-TW" altLang="en-US" sz="2400" dirty="0">
                <a:latin typeface="Times New Roman" panose="02020603050405020304" charset="0"/>
                <a:cs typeface="Times New Roman" panose="02020603050405020304" charset="0"/>
              </a:endParaRPr>
            </a:p>
          </p:txBody>
        </p:sp>
        <p:sp>
          <p:nvSpPr>
            <p:cNvPr id="20" name="文字方塊 21">
              <a:extLst>
                <a:ext uri="{FF2B5EF4-FFF2-40B4-BE49-F238E27FC236}">
                  <a16:creationId xmlns:a16="http://schemas.microsoft.com/office/drawing/2014/main" id="{4F122896-9DD6-4558-8F25-A62DD7A5D2AD}"/>
                </a:ext>
              </a:extLst>
            </p:cNvPr>
            <p:cNvSpPr txBox="1"/>
            <p:nvPr/>
          </p:nvSpPr>
          <p:spPr>
            <a:xfrm>
              <a:off x="7257105" y="3386670"/>
              <a:ext cx="3350240" cy="57849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400" dirty="0">
                  <a:latin typeface="Times New Roman" panose="02020603050405020304" charset="0"/>
                  <a:cs typeface="Times New Roman" panose="02020603050405020304" charset="0"/>
                </a:rPr>
                <a:t>Stuck at local minima</a:t>
              </a:r>
              <a:endParaRPr lang="zh-TW" altLang="en-US" sz="2400" dirty="0">
                <a:latin typeface="Times New Roman" panose="02020603050405020304" charset="0"/>
                <a:cs typeface="Times New Roman" panose="02020603050405020304" charset="0"/>
              </a:endParaRPr>
            </a:p>
          </p:txBody>
        </p:sp>
        <p:sp>
          <p:nvSpPr>
            <p:cNvPr id="21" name="橢圓 20">
              <a:extLst>
                <a:ext uri="{FF2B5EF4-FFF2-40B4-BE49-F238E27FC236}">
                  <a16:creationId xmlns:a16="http://schemas.microsoft.com/office/drawing/2014/main" id="{4115FC8D-8245-40EC-925E-B276906F5CD6}"/>
                </a:ext>
              </a:extLst>
            </p:cNvPr>
            <p:cNvSpPr/>
            <p:nvPr/>
          </p:nvSpPr>
          <p:spPr>
            <a:xfrm>
              <a:off x="2547391" y="2426541"/>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2" name="文字方塊 27">
                  <a:extLst>
                    <a:ext uri="{FF2B5EF4-FFF2-40B4-BE49-F238E27FC236}">
                      <a16:creationId xmlns:a16="http://schemas.microsoft.com/office/drawing/2014/main" id="{31453B5B-24E1-4655-BC6C-F81787B46889}"/>
                    </a:ext>
                  </a:extLst>
                </p:cNvPr>
                <p:cNvSpPr txBox="1"/>
                <p:nvPr/>
              </p:nvSpPr>
              <p:spPr>
                <a:xfrm>
                  <a:off x="8133430" y="4788866"/>
                  <a:ext cx="1288691" cy="87810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𝐿</m:t>
                        </m:r>
                        <m:r>
                          <a:rPr lang="zh-TW" altLang="en-US" sz="2000" i="1">
                            <a:latin typeface="Cambria Math" panose="02040503050406030204" pitchFamily="18" charset="0"/>
                            <a:ea typeface="Cambria Math" panose="02040503050406030204" pitchFamily="18" charset="0"/>
                          </a:rPr>
                          <m:t>∕</m:t>
                        </m:r>
                        <m:r>
                          <a:rPr lang="zh-TW" altLang="en-US"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𝑤</m:t>
                        </m:r>
                      </m:oMath>
                    </m:oMathPara>
                  </a14:m>
                  <a:endParaRPr lang="zh-TW" altLang="en-US" sz="2000" dirty="0">
                    <a:latin typeface="Times New Roman" panose="02020603050405020304" charset="0"/>
                    <a:cs typeface="Times New Roman" panose="02020603050405020304" charset="0"/>
                  </a:endParaRPr>
                </a:p>
                <a:p>
                  <a:pPr/>
                  <a14:m>
                    <m:oMathPara xmlns:m="http://schemas.openxmlformats.org/officeDocument/2006/math">
                      <m:oMathParaPr>
                        <m:jc m:val="center"/>
                      </m:oMathParaPr>
                      <m:oMath xmlns:m="http://schemas.openxmlformats.org/officeDocument/2006/math">
                        <m:r>
                          <a:rPr lang="en-US" altLang="zh-TW" sz="2000" b="0" i="1" smtClean="0">
                            <a:latin typeface="Cambria Math" panose="02040503050406030204" pitchFamily="18" charset="0"/>
                            <a:ea typeface="Cambria Math" panose="02040503050406030204" pitchFamily="18" charset="0"/>
                          </a:rPr>
                          <m:t>=0</m:t>
                        </m:r>
                      </m:oMath>
                    </m:oMathPara>
                  </a14:m>
                  <a:endParaRPr lang="zh-TW" altLang="en-US" sz="2000" baseline="-25000" dirty="0">
                    <a:latin typeface="Times New Roman" panose="02020603050405020304" charset="0"/>
                    <a:cs typeface="Times New Roman" panose="02020603050405020304" charset="0"/>
                  </a:endParaRPr>
                </a:p>
              </p:txBody>
            </p:sp>
          </mc:Choice>
          <mc:Fallback xmlns="">
            <p:sp>
              <p:nvSpPr>
                <p:cNvPr id="22" name="文字方塊 27">
                  <a:extLst>
                    <a:ext uri="{FF2B5EF4-FFF2-40B4-BE49-F238E27FC236}">
                      <a16:creationId xmlns:a16="http://schemas.microsoft.com/office/drawing/2014/main" id="{31453B5B-24E1-4655-BC6C-F81787B46889}"/>
                    </a:ext>
                  </a:extLst>
                </p:cNvPr>
                <p:cNvSpPr txBox="1">
                  <a:spLocks noRot="1" noChangeAspect="1" noMove="1" noResize="1" noEditPoints="1" noAdjustHandles="1" noChangeArrowheads="1" noChangeShapeType="1" noTextEdit="1"/>
                </p:cNvSpPr>
                <p:nvPr/>
              </p:nvSpPr>
              <p:spPr>
                <a:xfrm>
                  <a:off x="8133430" y="4788866"/>
                  <a:ext cx="1288691" cy="878100"/>
                </a:xfrm>
                <a:prstGeom prst="rect">
                  <a:avLst/>
                </a:prstGeom>
                <a:blipFill>
                  <a:blip r:embed="rId3"/>
                  <a:stretch>
                    <a:fillRect/>
                  </a:stretch>
                </a:blipFill>
              </p:spPr>
              <p:txBody>
                <a:bodyPr/>
                <a:lstStyle/>
                <a:p>
                  <a:r>
                    <a:rPr lang="zh-CN" altLang="en-US">
                      <a:noFill/>
                    </a:rPr>
                    <a:t> </a:t>
                  </a:r>
                </a:p>
              </p:txBody>
            </p:sp>
          </mc:Fallback>
        </mc:AlternateContent>
        <p:sp>
          <p:nvSpPr>
            <p:cNvPr id="23" name="橢圓 29">
              <a:extLst>
                <a:ext uri="{FF2B5EF4-FFF2-40B4-BE49-F238E27FC236}">
                  <a16:creationId xmlns:a16="http://schemas.microsoft.com/office/drawing/2014/main" id="{564C26F8-77C9-4B63-87E9-7F464261B70F}"/>
                </a:ext>
              </a:extLst>
            </p:cNvPr>
            <p:cNvSpPr/>
            <p:nvPr/>
          </p:nvSpPr>
          <p:spPr>
            <a:xfrm>
              <a:off x="4029191" y="3625891"/>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24" name="文字方塊 32">
              <a:extLst>
                <a:ext uri="{FF2B5EF4-FFF2-40B4-BE49-F238E27FC236}">
                  <a16:creationId xmlns:a16="http://schemas.microsoft.com/office/drawing/2014/main" id="{470C1A80-FAB0-4B9F-A85B-3344ABF093DE}"/>
                </a:ext>
              </a:extLst>
            </p:cNvPr>
            <p:cNvSpPr txBox="1"/>
            <p:nvPr/>
          </p:nvSpPr>
          <p:spPr>
            <a:xfrm>
              <a:off x="5858842" y="2597591"/>
              <a:ext cx="3350240" cy="57849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TW" sz="2400" dirty="0">
                  <a:latin typeface="Times New Roman" panose="02020603050405020304" charset="0"/>
                  <a:cs typeface="Times New Roman" panose="02020603050405020304" charset="0"/>
                </a:rPr>
                <a:t>Stuck at saddle point</a:t>
              </a:r>
              <a:endParaRPr lang="zh-TW" altLang="en-US" sz="2400" dirty="0">
                <a:latin typeface="Times New Roman" panose="02020603050405020304" charset="0"/>
                <a:cs typeface="Times New Roman" panose="02020603050405020304" charset="0"/>
              </a:endParaRPr>
            </a:p>
          </p:txBody>
        </p:sp>
        <p:cxnSp>
          <p:nvCxnSpPr>
            <p:cNvPr id="26" name="直線單箭頭接點 33">
              <a:extLst>
                <a:ext uri="{FF2B5EF4-FFF2-40B4-BE49-F238E27FC236}">
                  <a16:creationId xmlns:a16="http://schemas.microsoft.com/office/drawing/2014/main" id="{DCBF400E-EC23-41EC-A3E1-565FF903FB38}"/>
                </a:ext>
              </a:extLst>
            </p:cNvPr>
            <p:cNvCxnSpPr>
              <a:stCxn id="8" idx="7"/>
            </p:cNvCxnSpPr>
            <p:nvPr/>
          </p:nvCxnSpPr>
          <p:spPr>
            <a:xfrm flipV="1">
              <a:off x="8225136" y="3909892"/>
              <a:ext cx="342234" cy="731096"/>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35">
              <a:extLst>
                <a:ext uri="{FF2B5EF4-FFF2-40B4-BE49-F238E27FC236}">
                  <a16:creationId xmlns:a16="http://schemas.microsoft.com/office/drawing/2014/main" id="{B71B7A4A-37D0-4D58-AADB-7BEB41EBCA05}"/>
                </a:ext>
              </a:extLst>
            </p:cNvPr>
            <p:cNvCxnSpPr/>
            <p:nvPr/>
          </p:nvCxnSpPr>
          <p:spPr>
            <a:xfrm flipV="1">
              <a:off x="6241799" y="3059587"/>
              <a:ext cx="344940" cy="76969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36">
              <a:extLst>
                <a:ext uri="{FF2B5EF4-FFF2-40B4-BE49-F238E27FC236}">
                  <a16:creationId xmlns:a16="http://schemas.microsoft.com/office/drawing/2014/main" id="{F28670C7-6AAC-4B1F-86C3-993AC4383C22}"/>
                </a:ext>
              </a:extLst>
            </p:cNvPr>
            <p:cNvCxnSpPr>
              <a:stCxn id="23" idx="7"/>
              <a:endCxn id="19" idx="2"/>
            </p:cNvCxnSpPr>
            <p:nvPr/>
          </p:nvCxnSpPr>
          <p:spPr>
            <a:xfrm flipV="1">
              <a:off x="4569530" y="2765104"/>
              <a:ext cx="456532" cy="953494"/>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字方塊 25">
                  <a:extLst>
                    <a:ext uri="{FF2B5EF4-FFF2-40B4-BE49-F238E27FC236}">
                      <a16:creationId xmlns:a16="http://schemas.microsoft.com/office/drawing/2014/main" id="{39951419-92D7-4185-907B-666467017F7D}"/>
                    </a:ext>
                  </a:extLst>
                </p:cNvPr>
                <p:cNvSpPr txBox="1"/>
                <p:nvPr/>
              </p:nvSpPr>
              <p:spPr>
                <a:xfrm>
                  <a:off x="6184211" y="4781130"/>
                  <a:ext cx="1292685" cy="87810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𝐿</m:t>
                        </m:r>
                        <m:r>
                          <a:rPr lang="zh-TW" altLang="en-US" sz="2000" i="1">
                            <a:latin typeface="Cambria Math" panose="02040503050406030204" pitchFamily="18" charset="0"/>
                            <a:ea typeface="Cambria Math" panose="02040503050406030204" pitchFamily="18" charset="0"/>
                          </a:rPr>
                          <m:t>∕</m:t>
                        </m:r>
                        <m:r>
                          <a:rPr lang="zh-TW" altLang="en-US"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𝑤</m:t>
                        </m:r>
                      </m:oMath>
                    </m:oMathPara>
                  </a14:m>
                  <a:endParaRPr lang="zh-TW" altLang="en-US" sz="2000" dirty="0">
                    <a:latin typeface="Times New Roman" panose="02020603050405020304" charset="0"/>
                    <a:cs typeface="Times New Roman" panose="02020603050405020304" charset="0"/>
                  </a:endParaRPr>
                </a:p>
                <a:p>
                  <a:pPr/>
                  <a14:m>
                    <m:oMathPara xmlns:m="http://schemas.openxmlformats.org/officeDocument/2006/math">
                      <m:oMathParaPr>
                        <m:jc m:val="center"/>
                      </m:oMathParaPr>
                      <m:oMath xmlns:m="http://schemas.openxmlformats.org/officeDocument/2006/math">
                        <m:r>
                          <a:rPr lang="en-US" altLang="zh-TW" sz="2000" b="0" i="1" smtClean="0">
                            <a:latin typeface="Cambria Math" panose="02040503050406030204" pitchFamily="18" charset="0"/>
                            <a:ea typeface="Cambria Math" panose="02040503050406030204" pitchFamily="18" charset="0"/>
                          </a:rPr>
                          <m:t>=0</m:t>
                        </m:r>
                      </m:oMath>
                    </m:oMathPara>
                  </a14:m>
                  <a:endParaRPr lang="zh-TW" altLang="en-US" sz="2000" baseline="-25000" dirty="0">
                    <a:latin typeface="Times New Roman" panose="02020603050405020304" charset="0"/>
                    <a:cs typeface="Times New Roman" panose="02020603050405020304" charset="0"/>
                  </a:endParaRPr>
                </a:p>
              </p:txBody>
            </p:sp>
          </mc:Choice>
          <mc:Fallback xmlns="">
            <p:sp>
              <p:nvSpPr>
                <p:cNvPr id="29" name="文字方塊 25">
                  <a:extLst>
                    <a:ext uri="{FF2B5EF4-FFF2-40B4-BE49-F238E27FC236}">
                      <a16:creationId xmlns:a16="http://schemas.microsoft.com/office/drawing/2014/main" id="{39951419-92D7-4185-907B-666467017F7D}"/>
                    </a:ext>
                  </a:extLst>
                </p:cNvPr>
                <p:cNvSpPr txBox="1">
                  <a:spLocks noRot="1" noChangeAspect="1" noMove="1" noResize="1" noEditPoints="1" noAdjustHandles="1" noChangeArrowheads="1" noChangeShapeType="1" noTextEdit="1"/>
                </p:cNvSpPr>
                <p:nvPr/>
              </p:nvSpPr>
              <p:spPr>
                <a:xfrm>
                  <a:off x="6184211" y="4781130"/>
                  <a:ext cx="1292685" cy="8781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字方塊 28">
                  <a:extLst>
                    <a:ext uri="{FF2B5EF4-FFF2-40B4-BE49-F238E27FC236}">
                      <a16:creationId xmlns:a16="http://schemas.microsoft.com/office/drawing/2014/main" id="{09F1CE58-B5BA-424C-9000-661878AB077B}"/>
                    </a:ext>
                  </a:extLst>
                </p:cNvPr>
                <p:cNvSpPr txBox="1"/>
                <p:nvPr/>
              </p:nvSpPr>
              <p:spPr>
                <a:xfrm>
                  <a:off x="4411425" y="4788741"/>
                  <a:ext cx="1303192" cy="87810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𝐿</m:t>
                        </m:r>
                        <m:r>
                          <a:rPr lang="zh-TW" altLang="en-US" sz="2000" i="1">
                            <a:latin typeface="Cambria Math" panose="02040503050406030204" pitchFamily="18" charset="0"/>
                            <a:ea typeface="Cambria Math" panose="02040503050406030204" pitchFamily="18" charset="0"/>
                          </a:rPr>
                          <m:t>∕</m:t>
                        </m:r>
                        <m:r>
                          <a:rPr lang="zh-TW" altLang="en-US"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𝑤</m:t>
                        </m:r>
                      </m:oMath>
                    </m:oMathPara>
                  </a14:m>
                  <a:endParaRPr lang="zh-TW" altLang="en-US" sz="2000" dirty="0">
                    <a:latin typeface="Times New Roman" panose="02020603050405020304" charset="0"/>
                    <a:cs typeface="Times New Roman" panose="02020603050405020304" charset="0"/>
                  </a:endParaRPr>
                </a:p>
                <a:p>
                  <a:pPr/>
                  <a14:m>
                    <m:oMathPara xmlns:m="http://schemas.openxmlformats.org/officeDocument/2006/math">
                      <m:oMathParaPr>
                        <m:jc m:val="center"/>
                      </m:oMathParaPr>
                      <m:oMath xmlns:m="http://schemas.openxmlformats.org/officeDocument/2006/math">
                        <m:r>
                          <a:rPr lang="en-US" altLang="zh-TW" sz="2000" b="0" i="1" smtClean="0">
                            <a:latin typeface="Cambria Math" panose="02040503050406030204" pitchFamily="18" charset="0"/>
                            <a:ea typeface="Cambria Math" panose="02040503050406030204" pitchFamily="18" charset="0"/>
                          </a:rPr>
                          <m:t>≈0</m:t>
                        </m:r>
                      </m:oMath>
                    </m:oMathPara>
                  </a14:m>
                  <a:endParaRPr lang="zh-TW" altLang="en-US" sz="2000" baseline="-25000" dirty="0">
                    <a:latin typeface="Times New Roman" panose="02020603050405020304" charset="0"/>
                    <a:cs typeface="Times New Roman" panose="02020603050405020304" charset="0"/>
                  </a:endParaRPr>
                </a:p>
              </p:txBody>
            </p:sp>
          </mc:Choice>
          <mc:Fallback xmlns="">
            <p:sp>
              <p:nvSpPr>
                <p:cNvPr id="30" name="文字方塊 28">
                  <a:extLst>
                    <a:ext uri="{FF2B5EF4-FFF2-40B4-BE49-F238E27FC236}">
                      <a16:creationId xmlns:a16="http://schemas.microsoft.com/office/drawing/2014/main" id="{09F1CE58-B5BA-424C-9000-661878AB077B}"/>
                    </a:ext>
                  </a:extLst>
                </p:cNvPr>
                <p:cNvSpPr txBox="1">
                  <a:spLocks noRot="1" noChangeAspect="1" noMove="1" noResize="1" noEditPoints="1" noAdjustHandles="1" noChangeArrowheads="1" noChangeShapeType="1" noTextEdit="1"/>
                </p:cNvSpPr>
                <p:nvPr/>
              </p:nvSpPr>
              <p:spPr>
                <a:xfrm>
                  <a:off x="4411425" y="4788741"/>
                  <a:ext cx="1303192" cy="878100"/>
                </a:xfrm>
                <a:prstGeom prst="rect">
                  <a:avLst/>
                </a:prstGeom>
                <a:blipFill>
                  <a:blip r:embed="rId5"/>
                  <a:stretch>
                    <a:fillRect/>
                  </a:stretch>
                </a:blipFill>
              </p:spPr>
              <p:txBody>
                <a:bodyPr/>
                <a:lstStyle/>
                <a:p>
                  <a:r>
                    <a:rPr lang="zh-CN" altLang="en-US">
                      <a:noFill/>
                    </a:rPr>
                    <a:t> </a:t>
                  </a:r>
                </a:p>
              </p:txBody>
            </p:sp>
          </mc:Fallback>
        </mc:AlternateContent>
        <p:sp>
          <p:nvSpPr>
            <p:cNvPr id="31" name="橢圓 34">
              <a:extLst>
                <a:ext uri="{FF2B5EF4-FFF2-40B4-BE49-F238E27FC236}">
                  <a16:creationId xmlns:a16="http://schemas.microsoft.com/office/drawing/2014/main" id="{C9C1BF97-F91C-42B1-9198-C3990624E3A3}"/>
                </a:ext>
              </a:extLst>
            </p:cNvPr>
            <p:cNvSpPr/>
            <p:nvPr/>
          </p:nvSpPr>
          <p:spPr>
            <a:xfrm>
              <a:off x="2732130" y="5625550"/>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32" name="橢圓 37">
              <a:extLst>
                <a:ext uri="{FF2B5EF4-FFF2-40B4-BE49-F238E27FC236}">
                  <a16:creationId xmlns:a16="http://schemas.microsoft.com/office/drawing/2014/main" id="{F4C03985-C870-443E-8AAA-DB10698FE08A}"/>
                </a:ext>
              </a:extLst>
            </p:cNvPr>
            <p:cNvSpPr/>
            <p:nvPr/>
          </p:nvSpPr>
          <p:spPr>
            <a:xfrm>
              <a:off x="4244058" y="5619851"/>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33" name="橢圓 38">
              <a:extLst>
                <a:ext uri="{FF2B5EF4-FFF2-40B4-BE49-F238E27FC236}">
                  <a16:creationId xmlns:a16="http://schemas.microsoft.com/office/drawing/2014/main" id="{9F6785D1-9CC4-4189-A91C-64496884B90C}"/>
                </a:ext>
              </a:extLst>
            </p:cNvPr>
            <p:cNvSpPr/>
            <p:nvPr/>
          </p:nvSpPr>
          <p:spPr>
            <a:xfrm>
              <a:off x="5972524" y="5595403"/>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sp>
          <p:nvSpPr>
            <p:cNvPr id="34" name="橢圓 39">
              <a:extLst>
                <a:ext uri="{FF2B5EF4-FFF2-40B4-BE49-F238E27FC236}">
                  <a16:creationId xmlns:a16="http://schemas.microsoft.com/office/drawing/2014/main" id="{A38106F6-A43E-4492-9758-4D57E3601FF4}"/>
                </a:ext>
              </a:extLst>
            </p:cNvPr>
            <p:cNvSpPr/>
            <p:nvPr/>
          </p:nvSpPr>
          <p:spPr>
            <a:xfrm>
              <a:off x="7913769" y="5603599"/>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charset="0"/>
                <a:cs typeface="Times New Roman" panose="02020603050405020304" charset="0"/>
              </a:endParaRPr>
            </a:p>
          </p:txBody>
        </p:sp>
      </p:grpSp>
    </p:spTree>
    <p:extLst>
      <p:ext uri="{BB962C8B-B14F-4D97-AF65-F5344CB8AC3E}">
        <p14:creationId xmlns:p14="http://schemas.microsoft.com/office/powerpoint/2010/main" val="10403263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60</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1440160" cy="341215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b="0" i="0" dirty="0">
                    <a:solidFill>
                      <a:srgbClr val="0F1115"/>
                    </a:solidFill>
                    <a:effectLst/>
                    <a:latin typeface="quote-cjk-patch"/>
                  </a:rPr>
                  <a:t>标量函数</a:t>
                </a:r>
                <a:r>
                  <a:rPr lang="zh-CN" altLang="en-US" sz="2400" dirty="0"/>
                  <a:t>梯度</a:t>
                </a:r>
                <a:r>
                  <a:rPr lang="en-US" altLang="zh-CN" sz="2400" dirty="0"/>
                  <a:t>(Gradient)</a:t>
                </a:r>
              </a:p>
              <a:p>
                <a:pPr marL="800100" lvl="1" indent="-342900">
                  <a:lnSpc>
                    <a:spcPct val="150000"/>
                  </a:lnSpc>
                  <a:buFont typeface="Wingdings" pitchFamily="2" charset="2"/>
                  <a:buChar char="p"/>
                </a:pPr>
                <a:r>
                  <a:rPr lang="zh-CN" altLang="en-US" sz="2400" dirty="0"/>
                  <a:t>令</a:t>
                </a:r>
                <a14:m>
                  <m:oMath xmlns:m="http://schemas.openxmlformats.org/officeDocument/2006/math">
                    <m:r>
                      <a:rPr lang="en-US" altLang="zh-CN" sz="2400" i="1" smtClean="0">
                        <a:latin typeface="Cambria Math" panose="02040503050406030204" pitchFamily="18" charset="0"/>
                        <a:ea typeface="Verdana" panose="020B0604030504040204" pitchFamily="34" charset="0"/>
                      </a:rPr>
                      <m:t>𝑓</m:t>
                    </m:r>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m:t>
                        </m:r>
                      </m:e>
                    </m:d>
                    <m:r>
                      <a:rPr lang="en-US" altLang="zh-CN" sz="2400" i="1" smtClean="0">
                        <a:latin typeface="Cambria Math" panose="02040503050406030204" pitchFamily="18" charset="0"/>
                        <a:ea typeface="Verdana" panose="020B0604030504040204" pitchFamily="34"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oMath>
                </a14:m>
                <a:r>
                  <a:rPr lang="zh-CN" altLang="en-US" sz="2400" dirty="0"/>
                  <a:t>表示一个可微函数</a:t>
                </a:r>
                <a:r>
                  <a:rPr lang="zh-CN" altLang="en-US" dirty="0"/>
                  <a:t>（即输入是 </a:t>
                </a:r>
                <a:r>
                  <a:rPr lang="en-US" altLang="zh-CN" i="1" dirty="0"/>
                  <a:t>d</a:t>
                </a:r>
                <a:r>
                  <a:rPr lang="zh-CN" altLang="en-US" dirty="0"/>
                  <a:t> 维向量，输出是一个标量）</a:t>
                </a:r>
                <a:r>
                  <a:rPr lang="zh-CN" altLang="en-US" sz="2400" dirty="0"/>
                  <a:t>。那么</a:t>
                </a:r>
                <a14:m>
                  <m:oMath xmlns:m="http://schemas.openxmlformats.org/officeDocument/2006/math">
                    <m:r>
                      <a:rPr lang="en-US" altLang="zh-CN" sz="2400" i="1">
                        <a:latin typeface="Cambria Math" panose="02040503050406030204" pitchFamily="18" charset="0"/>
                        <a:ea typeface="Verdana" panose="020B0604030504040204" pitchFamily="34" charset="0"/>
                      </a:rPr>
                      <m:t>𝑓</m:t>
                    </m:r>
                    <m:d>
                      <m:dPr>
                        <m:ctrlPr>
                          <a:rPr lang="en-US" altLang="zh-CN" sz="2400" i="1">
                            <a:latin typeface="Cambria Math" panose="02040503050406030204" pitchFamily="18" charset="0"/>
                            <a:ea typeface="Verdana" panose="020B0604030504040204" pitchFamily="34" charset="0"/>
                          </a:rPr>
                        </m:ctrlPr>
                      </m:dPr>
                      <m:e>
                        <m:r>
                          <a:rPr lang="en-US" altLang="zh-CN" sz="2400" i="1">
                            <a:latin typeface="Cambria Math" panose="02040503050406030204" pitchFamily="18" charset="0"/>
                            <a:ea typeface="Verdana" panose="020B0604030504040204" pitchFamily="34" charset="0"/>
                          </a:rPr>
                          <m:t>⋅</m:t>
                        </m:r>
                      </m:e>
                    </m:d>
                  </m:oMath>
                </a14:m>
                <a:r>
                  <a:rPr lang="zh-CN" altLang="en-US" sz="2400" dirty="0"/>
                  <a:t>在</a:t>
                </a:r>
                <a14:m>
                  <m:oMath xmlns:m="http://schemas.openxmlformats.org/officeDocument/2006/math">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oMath>
                </a14:m>
                <a:r>
                  <a:rPr lang="zh-CN" altLang="en-US" sz="2400" dirty="0"/>
                  <a:t>处的梯度同是一个位于</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oMath>
                </a14:m>
                <a:r>
                  <a:rPr lang="zh-CN" altLang="en-US" sz="2400" dirty="0"/>
                  <a:t>空间内的向量（</a:t>
                </a:r>
                <a:r>
                  <a:rPr lang="zh-CN" altLang="en-US" dirty="0"/>
                  <a:t>每个分量是 </a:t>
                </a:r>
                <a:r>
                  <a:rPr lang="en-US" altLang="zh-CN" i="1" dirty="0"/>
                  <a:t>f</a:t>
                </a:r>
                <a:r>
                  <a:rPr lang="zh-CN" altLang="en-US" dirty="0"/>
                  <a:t> 对对应输入变量的偏导数在 </a:t>
                </a:r>
                <a:r>
                  <a:rPr lang="en-US" altLang="zh-CN" i="1" dirty="0"/>
                  <a:t>x</a:t>
                </a:r>
                <a:r>
                  <a:rPr lang="zh-CN" altLang="en-US" dirty="0"/>
                  <a:t> 处的取值</a:t>
                </a:r>
                <a:r>
                  <a:rPr lang="zh-CN" altLang="en-US" sz="2400" dirty="0"/>
                  <a:t>）</a:t>
                </a:r>
                <a:endParaRPr lang="en-US" altLang="zh-CN" sz="2400" dirty="0"/>
              </a:p>
              <a:p>
                <a:pPr lvl="1">
                  <a:lnSpc>
                    <a:spcPct val="150000"/>
                  </a:lnSpc>
                </a:pPr>
                <a:endParaRPr lang="en-US" altLang="zh-CN" sz="2400" dirty="0"/>
              </a:p>
              <a:p>
                <a:pPr marL="800100" lvl="1" indent="-342900">
                  <a:lnSpc>
                    <a:spcPct val="150000"/>
                  </a:lnSpc>
                  <a:buFont typeface="Wingdings" pitchFamily="2" charset="2"/>
                  <a:buChar char="p"/>
                </a:pPr>
                <a:r>
                  <a:rPr lang="zh-CN" altLang="en-US" sz="2400" dirty="0"/>
                  <a:t>样例：</a:t>
                </a:r>
                <a14:m>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r>
                      <a:rPr lang="en-US" altLang="zh-CN" sz="2400" i="1">
                        <a:latin typeface="Cambria Math" panose="02040503050406030204" pitchFamily="18" charset="0"/>
                      </a:rPr>
                      <m:t>−</m:t>
                    </m:r>
                    <m:nary>
                      <m:naryPr>
                        <m:chr m:val="∑"/>
                        <m:limLoc m:val="subSup"/>
                        <m:ctrlPr>
                          <a:rPr lang="en-US" altLang="zh-CN" sz="2400" i="1">
                            <a:latin typeface="Cambria Math" panose="02040503050406030204" pitchFamily="18" charset="0"/>
                          </a:rPr>
                        </m:ctrlPr>
                      </m:naryPr>
                      <m:sub>
                        <m:r>
                          <m:rPr>
                            <m:brk m:alnAt="25"/>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𝑑</m:t>
                        </m:r>
                      </m:sup>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nary>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ln</m:t>
                        </m:r>
                      </m:fNa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func>
                  </m:oMath>
                </a14:m>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11440160" cy="3412153"/>
              </a:xfrm>
              <a:prstGeom prst="rect">
                <a:avLst/>
              </a:prstGeom>
              <a:blipFill>
                <a:blip r:embed="rId3"/>
                <a:stretch>
                  <a:fillRect l="-693" b="-32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CDC7909-CAC4-DA47-AADB-6E45DDF0E04C}"/>
                  </a:ext>
                </a:extLst>
              </p:cNvPr>
              <p:cNvSpPr txBox="1"/>
              <p:nvPr/>
            </p:nvSpPr>
            <p:spPr>
              <a:xfrm>
                <a:off x="3042139" y="4024464"/>
                <a:ext cx="6107722" cy="1236429"/>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m:t>
                      </m:r>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m:t>
                              </m:r>
                              <m:r>
                                <a:rPr lang="en-US" altLang="zh-CN" sz="2400" i="1">
                                  <a:latin typeface="Cambria Math" panose="02040503050406030204" pitchFamily="18" charset="0"/>
                                </a:rPr>
                                <m:t>𝑓</m:t>
                              </m:r>
                            </m:num>
                            <m:den>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den>
                          </m:f>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b="0" i="1" smtClean="0">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m:t>
                              </m:r>
                              <m:r>
                                <a:rPr lang="en-US" altLang="zh-CN" sz="2400" i="1">
                                  <a:latin typeface="Cambria Math" panose="02040503050406030204" pitchFamily="18" charset="0"/>
                                </a:rPr>
                                <m:t>𝑓</m:t>
                              </m:r>
                            </m:num>
                            <m:den>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𝑑</m:t>
                                  </m:r>
                                </m:sub>
                              </m:sSub>
                            </m:den>
                          </m:f>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d>
                    </m:oMath>
                  </m:oMathPara>
                </a14:m>
                <a:endParaRPr lang="en-US" altLang="zh-CN" sz="2400" dirty="0"/>
              </a:p>
            </p:txBody>
          </p:sp>
        </mc:Choice>
        <mc:Fallback xmlns="">
          <p:sp>
            <p:nvSpPr>
              <p:cNvPr id="11" name="文本框 10">
                <a:extLst>
                  <a:ext uri="{FF2B5EF4-FFF2-40B4-BE49-F238E27FC236}">
                    <a16:creationId xmlns:a16="http://schemas.microsoft.com/office/drawing/2014/main" id="{4CDC7909-CAC4-DA47-AADB-6E45DDF0E04C}"/>
                  </a:ext>
                </a:extLst>
              </p:cNvPr>
              <p:cNvSpPr txBox="1">
                <a:spLocks noRot="1" noChangeAspect="1" noMove="1" noResize="1" noEditPoints="1" noAdjustHandles="1" noChangeArrowheads="1" noChangeShapeType="1" noTextEdit="1"/>
              </p:cNvSpPr>
              <p:nvPr/>
            </p:nvSpPr>
            <p:spPr>
              <a:xfrm>
                <a:off x="3042139" y="4024464"/>
                <a:ext cx="6107722" cy="123642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6581319-18E9-CD47-8052-645DA8179D7E}"/>
                  </a:ext>
                </a:extLst>
              </p:cNvPr>
              <p:cNvSpPr txBox="1"/>
              <p:nvPr/>
            </p:nvSpPr>
            <p:spPr>
              <a:xfrm>
                <a:off x="3042139" y="5820883"/>
                <a:ext cx="6107722" cy="646331"/>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m:t>
                      </m:r>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m:t>
                          </m:r>
                          <m:d>
                            <m:dPr>
                              <m:begChr m:val="（"/>
                              <m:endChr m:val="）"/>
                              <m:ctrlPr>
                                <a:rPr lang="zh-CN" altLang="en-US" sz="2400" b="0" i="1" smtClean="0">
                                  <a:latin typeface="Cambria Math" panose="02040503050406030204" pitchFamily="18" charset="0"/>
                                </a:rPr>
                              </m:ctrlPr>
                            </m:dPr>
                            <m:e>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ln</m:t>
                                  </m:r>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e>
                              </m:func>
                              <m:r>
                                <a:rPr lang="en-US" altLang="zh-CN" sz="2400" b="0" i="1" smtClean="0">
                                  <a:latin typeface="Cambria Math" panose="02040503050406030204" pitchFamily="18" charset="0"/>
                                </a:rPr>
                                <m:t>+1</m:t>
                              </m:r>
                            </m:e>
                          </m:d>
                          <m:r>
                            <a:rPr lang="en-US" altLang="zh-CN" sz="2400" b="0" i="1" smtClean="0">
                              <a:latin typeface="Cambria Math" panose="02040503050406030204" pitchFamily="18" charset="0"/>
                            </a:rPr>
                            <m:t>;…;</m:t>
                          </m:r>
                          <m:r>
                            <a:rPr lang="en-US" altLang="zh-CN" sz="2400" i="1">
                              <a:latin typeface="Cambria Math" panose="02040503050406030204" pitchFamily="18" charset="0"/>
                            </a:rPr>
                            <m:t>−</m:t>
                          </m:r>
                          <m:d>
                            <m:dPr>
                              <m:begChr m:val="（"/>
                              <m:endChr m:val="）"/>
                              <m:ctrlPr>
                                <a:rPr lang="zh-CN" altLang="en-US" sz="2400" i="1">
                                  <a:latin typeface="Cambria Math" panose="02040503050406030204" pitchFamily="18" charset="0"/>
                                </a:rPr>
                              </m:ctrlPr>
                            </m:dPr>
                            <m:e>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ln</m:t>
                                  </m:r>
                                </m:fName>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𝑑</m:t>
                                      </m:r>
                                    </m:sub>
                                  </m:sSub>
                                </m:e>
                              </m:func>
                              <m:r>
                                <a:rPr lang="en-US" altLang="zh-CN" sz="2400" i="1">
                                  <a:latin typeface="Cambria Math" panose="02040503050406030204" pitchFamily="18" charset="0"/>
                                </a:rPr>
                                <m:t>+1</m:t>
                              </m:r>
                            </m:e>
                          </m:d>
                        </m:e>
                      </m:d>
                    </m:oMath>
                  </m:oMathPara>
                </a14:m>
                <a:endParaRPr lang="en-US" altLang="zh-CN" sz="2400" dirty="0"/>
              </a:p>
            </p:txBody>
          </p:sp>
        </mc:Choice>
        <mc:Fallback xmlns="">
          <p:sp>
            <p:nvSpPr>
              <p:cNvPr id="12" name="文本框 11">
                <a:extLst>
                  <a:ext uri="{FF2B5EF4-FFF2-40B4-BE49-F238E27FC236}">
                    <a16:creationId xmlns:a16="http://schemas.microsoft.com/office/drawing/2014/main" id="{36581319-18E9-CD47-8052-645DA8179D7E}"/>
                  </a:ext>
                </a:extLst>
              </p:cNvPr>
              <p:cNvSpPr txBox="1">
                <a:spLocks noRot="1" noChangeAspect="1" noMove="1" noResize="1" noEditPoints="1" noAdjustHandles="1" noChangeArrowheads="1" noChangeShapeType="1" noTextEdit="1"/>
              </p:cNvSpPr>
              <p:nvPr/>
            </p:nvSpPr>
            <p:spPr>
              <a:xfrm>
                <a:off x="3042139" y="5820883"/>
                <a:ext cx="6107722" cy="646331"/>
              </a:xfrm>
              <a:prstGeom prst="rect">
                <a:avLst/>
              </a:prstGeom>
              <a:blipFill>
                <a:blip r:embed="rId5"/>
                <a:stretch>
                  <a:fillRect b="-19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78831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61</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39" y="2334643"/>
                <a:ext cx="11538257" cy="4236160"/>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b="0" i="0" dirty="0">
                    <a:solidFill>
                      <a:srgbClr val="0F1115"/>
                    </a:solidFill>
                    <a:effectLst/>
                    <a:latin typeface="quote-cjk-patch"/>
                  </a:rPr>
                  <a:t>标量函数</a:t>
                </a:r>
                <a:r>
                  <a:rPr lang="zh-CN" altLang="en-US" sz="2400" dirty="0"/>
                  <a:t>梯度</a:t>
                </a:r>
                <a:r>
                  <a:rPr lang="en-US" altLang="zh-CN" sz="2400" dirty="0"/>
                  <a:t>(Gradient)</a:t>
                </a:r>
              </a:p>
              <a:p>
                <a:pPr marL="800100" lvl="1" indent="-342900">
                  <a:lnSpc>
                    <a:spcPct val="150000"/>
                  </a:lnSpc>
                  <a:buFont typeface="Wingdings" pitchFamily="2" charset="2"/>
                  <a:buChar char="p"/>
                </a:pPr>
                <a:r>
                  <a:rPr lang="zh-CN" altLang="en-US" sz="2400" dirty="0"/>
                  <a:t>令</a:t>
                </a:r>
                <a14:m>
                  <m:oMath xmlns:m="http://schemas.openxmlformats.org/officeDocument/2006/math">
                    <m:r>
                      <a:rPr lang="en-US" altLang="zh-CN" sz="2400" i="1" smtClean="0">
                        <a:latin typeface="Cambria Math" panose="02040503050406030204" pitchFamily="18" charset="0"/>
                        <a:ea typeface="Verdana" panose="020B0604030504040204" pitchFamily="34" charset="0"/>
                      </a:rPr>
                      <m:t>𝑓</m:t>
                    </m:r>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m:t>
                        </m:r>
                      </m:e>
                    </m:d>
                    <m:r>
                      <a:rPr lang="en-US" altLang="zh-CN" sz="2400" i="1" smtClean="0">
                        <a:latin typeface="Cambria Math" panose="02040503050406030204" pitchFamily="18" charset="0"/>
                        <a:ea typeface="Verdana" panose="020B0604030504040204" pitchFamily="34"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oMath>
                </a14:m>
                <a:r>
                  <a:rPr lang="zh-CN" altLang="en-US" sz="2400" dirty="0"/>
                  <a:t>表示一个可微函数</a:t>
                </a:r>
                <a:r>
                  <a:rPr lang="zh-CN" altLang="en-US" dirty="0"/>
                  <a:t>（即输入是 </a:t>
                </a:r>
                <a:r>
                  <a:rPr lang="en-US" altLang="zh-CN" i="1" dirty="0"/>
                  <a:t>d</a:t>
                </a:r>
                <a:r>
                  <a:rPr lang="zh-CN" altLang="en-US" dirty="0"/>
                  <a:t> 维向量，输出是一个标量）</a:t>
                </a:r>
                <a:r>
                  <a:rPr lang="zh-CN" altLang="en-US" sz="2400" dirty="0"/>
                  <a:t>。那么</a:t>
                </a:r>
                <a14:m>
                  <m:oMath xmlns:m="http://schemas.openxmlformats.org/officeDocument/2006/math">
                    <m:r>
                      <a:rPr lang="en-US" altLang="zh-CN" sz="2400" i="1">
                        <a:latin typeface="Cambria Math" panose="02040503050406030204" pitchFamily="18" charset="0"/>
                        <a:ea typeface="Verdana" panose="020B0604030504040204" pitchFamily="34" charset="0"/>
                      </a:rPr>
                      <m:t>𝑓</m:t>
                    </m:r>
                    <m:d>
                      <m:dPr>
                        <m:ctrlPr>
                          <a:rPr lang="en-US" altLang="zh-CN" sz="2400" i="1">
                            <a:latin typeface="Cambria Math" panose="02040503050406030204" pitchFamily="18" charset="0"/>
                            <a:ea typeface="Verdana" panose="020B0604030504040204" pitchFamily="34" charset="0"/>
                          </a:rPr>
                        </m:ctrlPr>
                      </m:dPr>
                      <m:e>
                        <m:r>
                          <a:rPr lang="en-US" altLang="zh-CN" sz="2400" i="1">
                            <a:latin typeface="Cambria Math" panose="02040503050406030204" pitchFamily="18" charset="0"/>
                            <a:ea typeface="Verdana" panose="020B0604030504040204" pitchFamily="34" charset="0"/>
                          </a:rPr>
                          <m:t>⋅</m:t>
                        </m:r>
                      </m:e>
                    </m:d>
                  </m:oMath>
                </a14:m>
                <a:r>
                  <a:rPr lang="zh-CN" altLang="en-US" sz="2400" dirty="0"/>
                  <a:t>在</a:t>
                </a:r>
                <a14:m>
                  <m:oMath xmlns:m="http://schemas.openxmlformats.org/officeDocument/2006/math">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oMath>
                </a14:m>
                <a:r>
                  <a:rPr lang="zh-CN" altLang="en-US" sz="2400" dirty="0"/>
                  <a:t>处的梯度同是一个位于</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oMath>
                </a14:m>
                <a:r>
                  <a:rPr lang="zh-CN" altLang="en-US" sz="2400" dirty="0"/>
                  <a:t>空间内的向量</a:t>
                </a:r>
                <a:endParaRPr lang="en-US" altLang="zh-CN" sz="2400" dirty="0"/>
              </a:p>
              <a:p>
                <a:pPr lvl="1">
                  <a:lnSpc>
                    <a:spcPct val="150000"/>
                  </a:lnSpc>
                </a:pPr>
                <a:endParaRPr lang="en-US" altLang="zh-CN" sz="2400" dirty="0"/>
              </a:p>
              <a:p>
                <a:pPr algn="l">
                  <a:buFont typeface="Arial" panose="020B0604020202020204" pitchFamily="34" charset="0"/>
                  <a:buChar char="•"/>
                </a:pPr>
                <a:r>
                  <a:rPr lang="zh-CN" altLang="en-US" sz="2000" b="1" i="0" dirty="0">
                    <a:solidFill>
                      <a:srgbClr val="0F1115"/>
                    </a:solidFill>
                    <a:effectLst/>
                    <a:latin typeface="quote-cjk-patch"/>
                  </a:rPr>
                  <a:t>方向</a:t>
                </a:r>
                <a:r>
                  <a:rPr lang="zh-CN" altLang="en-US" sz="2000" b="0" i="0" dirty="0">
                    <a:solidFill>
                      <a:srgbClr val="0F1115"/>
                    </a:solidFill>
                    <a:effectLst/>
                    <a:latin typeface="quote-cjk-patch"/>
                  </a:rPr>
                  <a:t>：梯度 </a:t>
                </a:r>
                <a:r>
                  <a:rPr lang="en-US" altLang="zh-CN" sz="2000" b="0" i="0" dirty="0">
                    <a:solidFill>
                      <a:srgbClr val="0F1115"/>
                    </a:solidFill>
                    <a:effectLst/>
                    <a:latin typeface="KaTeX_Main"/>
                  </a:rPr>
                  <a:t>∇</a:t>
                </a:r>
                <a:r>
                  <a:rPr lang="en-US" altLang="zh-CN" sz="2000" b="0" i="1" dirty="0">
                    <a:solidFill>
                      <a:srgbClr val="0F1115"/>
                    </a:solidFill>
                    <a:effectLst/>
                    <a:latin typeface="KaTeX_Math"/>
                  </a:rPr>
                  <a:t>f</a:t>
                </a:r>
                <a:r>
                  <a:rPr lang="en-US" altLang="zh-CN" sz="2000" b="0" i="0" dirty="0">
                    <a:solidFill>
                      <a:srgbClr val="0F1115"/>
                    </a:solidFill>
                    <a:effectLst/>
                    <a:latin typeface="KaTeX_Main"/>
                  </a:rPr>
                  <a:t>(</a:t>
                </a:r>
                <a:r>
                  <a:rPr lang="en-US" altLang="zh-CN" sz="2000" b="0" i="1" dirty="0">
                    <a:solidFill>
                      <a:srgbClr val="0F1115"/>
                    </a:solidFill>
                    <a:effectLst/>
                    <a:latin typeface="KaTeX_Math"/>
                  </a:rPr>
                  <a:t>x</a:t>
                </a:r>
                <a:r>
                  <a:rPr lang="en-US" altLang="zh-CN" sz="2000" b="0" i="0" dirty="0">
                    <a:solidFill>
                      <a:srgbClr val="0F1115"/>
                    </a:solidFill>
                    <a:effectLst/>
                    <a:latin typeface="KaTeX_Main"/>
                  </a:rPr>
                  <a:t>)</a:t>
                </a:r>
                <a:r>
                  <a:rPr lang="zh-CN" altLang="en-US" sz="2000" b="0" i="0" dirty="0">
                    <a:solidFill>
                      <a:srgbClr val="0F1115"/>
                    </a:solidFill>
                    <a:effectLst/>
                    <a:latin typeface="quote-cjk-patch"/>
                  </a:rPr>
                  <a:t> 的方向是函数 </a:t>
                </a:r>
                <a:r>
                  <a:rPr lang="en-US" altLang="zh-CN" sz="2000" b="0" i="1" dirty="0">
                    <a:solidFill>
                      <a:srgbClr val="0F1115"/>
                    </a:solidFill>
                    <a:effectLst/>
                    <a:latin typeface="KaTeX_Math"/>
                  </a:rPr>
                  <a:t>f</a:t>
                </a:r>
                <a:r>
                  <a:rPr lang="zh-CN" altLang="en-US" sz="2000" b="0" i="0" dirty="0">
                    <a:solidFill>
                      <a:srgbClr val="0F1115"/>
                    </a:solidFill>
                    <a:effectLst/>
                    <a:latin typeface="quote-cjk-patch"/>
                  </a:rPr>
                  <a:t> 在点 </a:t>
                </a:r>
                <a:r>
                  <a:rPr lang="en-US" altLang="zh-CN" sz="2000" b="0" i="1" dirty="0">
                    <a:solidFill>
                      <a:srgbClr val="0F1115"/>
                    </a:solidFill>
                    <a:effectLst/>
                    <a:latin typeface="KaTeX_Math"/>
                  </a:rPr>
                  <a:t>x</a:t>
                </a:r>
                <a:r>
                  <a:rPr lang="zh-CN" altLang="en-US" sz="2000" b="0" i="0" dirty="0">
                    <a:solidFill>
                      <a:srgbClr val="0F1115"/>
                    </a:solidFill>
                    <a:effectLst/>
                    <a:latin typeface="quote-cjk-patch"/>
                  </a:rPr>
                  <a:t> 处 </a:t>
                </a:r>
                <a:r>
                  <a:rPr lang="zh-CN" altLang="en-US" sz="2000" b="1" i="0" dirty="0">
                    <a:solidFill>
                      <a:srgbClr val="0F1115"/>
                    </a:solidFill>
                    <a:effectLst/>
                    <a:latin typeface="quote-cjk-patch"/>
                  </a:rPr>
                  <a:t>上升最快的方向</a:t>
                </a:r>
                <a:r>
                  <a:rPr lang="zh-CN" altLang="en-US" sz="2000" b="0" i="0" dirty="0">
                    <a:solidFill>
                      <a:srgbClr val="0F1115"/>
                    </a:solidFill>
                    <a:effectLst/>
                    <a:latin typeface="quote-cjk-patch"/>
                  </a:rPr>
                  <a:t>：如果沿着梯度方向移动，函数值增加得最快；反之，沿负梯度方向（</a:t>
                </a:r>
                <a:r>
                  <a:rPr lang="en-US" altLang="zh-CN" sz="2000" b="0" i="0" dirty="0">
                    <a:solidFill>
                      <a:srgbClr val="0F1115"/>
                    </a:solidFill>
                    <a:effectLst/>
                    <a:latin typeface="KaTeX_Main"/>
                  </a:rPr>
                  <a:t>−∇</a:t>
                </a:r>
                <a:r>
                  <a:rPr lang="en-US" altLang="zh-CN" sz="2000" b="0" i="1" dirty="0">
                    <a:solidFill>
                      <a:srgbClr val="0F1115"/>
                    </a:solidFill>
                    <a:effectLst/>
                    <a:latin typeface="KaTeX_Math"/>
                  </a:rPr>
                  <a:t>f</a:t>
                </a:r>
                <a:r>
                  <a:rPr lang="en-US" altLang="zh-CN" sz="2000" b="0" i="0" dirty="0">
                    <a:solidFill>
                      <a:srgbClr val="0F1115"/>
                    </a:solidFill>
                    <a:effectLst/>
                    <a:latin typeface="KaTeX_Main"/>
                  </a:rPr>
                  <a:t>(</a:t>
                </a:r>
                <a:r>
                  <a:rPr lang="en-US" altLang="zh-CN" sz="2000" b="0" i="1" dirty="0">
                    <a:solidFill>
                      <a:srgbClr val="0F1115"/>
                    </a:solidFill>
                    <a:effectLst/>
                    <a:latin typeface="KaTeX_Math"/>
                  </a:rPr>
                  <a:t>x</a:t>
                </a:r>
                <a:r>
                  <a:rPr lang="en-US" altLang="zh-CN" sz="2000" b="0" i="0" dirty="0">
                    <a:solidFill>
                      <a:srgbClr val="0F1115"/>
                    </a:solidFill>
                    <a:effectLst/>
                    <a:latin typeface="KaTeX_Main"/>
                  </a:rPr>
                  <a:t>)</a:t>
                </a:r>
                <a:r>
                  <a:rPr lang="zh-CN" altLang="en-US" sz="2000" b="0" i="0" dirty="0">
                    <a:solidFill>
                      <a:srgbClr val="0F1115"/>
                    </a:solidFill>
                    <a:effectLst/>
                    <a:latin typeface="quote-cjk-patch"/>
                  </a:rPr>
                  <a:t>）移动，函数值下降最快。</a:t>
                </a:r>
                <a:endParaRPr lang="en-US" altLang="zh-CN" sz="2000" b="0" i="0" dirty="0">
                  <a:solidFill>
                    <a:srgbClr val="0F1115"/>
                  </a:solidFill>
                  <a:effectLst/>
                  <a:latin typeface="quote-cjk-patch"/>
                </a:endParaRPr>
              </a:p>
              <a:p>
                <a:pPr algn="l">
                  <a:buFont typeface="Arial" panose="020B0604020202020204" pitchFamily="34" charset="0"/>
                  <a:buChar char="•"/>
                </a:pPr>
                <a:endParaRPr lang="zh-CN" altLang="en-US" sz="2000" b="0" i="0" dirty="0">
                  <a:solidFill>
                    <a:srgbClr val="0F1115"/>
                  </a:solidFill>
                  <a:effectLst/>
                  <a:latin typeface="quote-cjk-patch"/>
                </a:endParaRPr>
              </a:p>
              <a:p>
                <a:pPr algn="l">
                  <a:buFont typeface="Arial" panose="020B0604020202020204" pitchFamily="34" charset="0"/>
                  <a:buChar char="•"/>
                </a:pPr>
                <a:r>
                  <a:rPr lang="zh-CN" altLang="en-US" sz="2000" b="1" i="0" dirty="0">
                    <a:solidFill>
                      <a:srgbClr val="0F1115"/>
                    </a:solidFill>
                    <a:effectLst/>
                    <a:latin typeface="quote-cjk-patch"/>
                  </a:rPr>
                  <a:t>大小</a:t>
                </a:r>
                <a:r>
                  <a:rPr lang="zh-CN" altLang="en-US" sz="2000" b="0" i="0" dirty="0">
                    <a:solidFill>
                      <a:srgbClr val="0F1115"/>
                    </a:solidFill>
                    <a:effectLst/>
                    <a:latin typeface="quote-cjk-patch"/>
                  </a:rPr>
                  <a:t>：梯度的模 </a:t>
                </a:r>
                <a:r>
                  <a:rPr lang="en-US" altLang="zh-CN" sz="2000" b="0" i="0" dirty="0">
                    <a:solidFill>
                      <a:srgbClr val="0F1115"/>
                    </a:solidFill>
                    <a:effectLst/>
                    <a:latin typeface="KaTeX_Main"/>
                  </a:rPr>
                  <a:t>∥∇</a:t>
                </a:r>
                <a:r>
                  <a:rPr lang="en-US" altLang="zh-CN" sz="2000" b="0" i="1" dirty="0">
                    <a:solidFill>
                      <a:srgbClr val="0F1115"/>
                    </a:solidFill>
                    <a:effectLst/>
                    <a:latin typeface="KaTeX_Math"/>
                  </a:rPr>
                  <a:t>f</a:t>
                </a:r>
                <a:r>
                  <a:rPr lang="en-US" altLang="zh-CN" sz="2000" b="0" i="0" dirty="0">
                    <a:solidFill>
                      <a:srgbClr val="0F1115"/>
                    </a:solidFill>
                    <a:effectLst/>
                    <a:latin typeface="KaTeX_Main"/>
                  </a:rPr>
                  <a:t>(</a:t>
                </a:r>
                <a:r>
                  <a:rPr lang="en-US" altLang="zh-CN" sz="2000" b="0" i="1" dirty="0">
                    <a:solidFill>
                      <a:srgbClr val="0F1115"/>
                    </a:solidFill>
                    <a:effectLst/>
                    <a:latin typeface="KaTeX_Math"/>
                  </a:rPr>
                  <a:t>x</a:t>
                </a:r>
                <a:r>
                  <a:rPr lang="en-US" altLang="zh-CN" sz="2000" b="0" i="0" dirty="0">
                    <a:solidFill>
                      <a:srgbClr val="0F1115"/>
                    </a:solidFill>
                    <a:effectLst/>
                    <a:latin typeface="KaTeX_Main"/>
                  </a:rPr>
                  <a:t>)∥</a:t>
                </a:r>
                <a:r>
                  <a:rPr lang="zh-CN" altLang="en-US" sz="2000" b="0" i="0" dirty="0">
                    <a:solidFill>
                      <a:srgbClr val="0F1115"/>
                    </a:solidFill>
                    <a:effectLst/>
                    <a:latin typeface="quote-cjk-patch"/>
                  </a:rPr>
                  <a:t> 表示在该方向上函数变化的</a:t>
                </a:r>
                <a:r>
                  <a:rPr lang="zh-CN" altLang="en-US" sz="2000" b="1" i="0" dirty="0">
                    <a:solidFill>
                      <a:srgbClr val="0F1115"/>
                    </a:solidFill>
                    <a:effectLst/>
                    <a:latin typeface="quote-cjk-patch"/>
                  </a:rPr>
                  <a:t>变化率。</a:t>
                </a:r>
                <a:r>
                  <a:rPr lang="zh-CN" altLang="en-US" sz="2000" b="0" i="0" dirty="0">
                    <a:solidFill>
                      <a:srgbClr val="0F1115"/>
                    </a:solidFill>
                    <a:effectLst/>
                    <a:latin typeface="quote-cjk-patch"/>
                  </a:rPr>
                  <a:t>如果从 </a:t>
                </a:r>
                <a:r>
                  <a:rPr lang="en-US" altLang="zh-CN" sz="2000" b="0" i="1" dirty="0">
                    <a:solidFill>
                      <a:srgbClr val="0F1115"/>
                    </a:solidFill>
                    <a:effectLst/>
                    <a:latin typeface="KaTeX_Math"/>
                  </a:rPr>
                  <a:t>x</a:t>
                </a:r>
                <a:r>
                  <a:rPr lang="zh-CN" altLang="en-US" sz="2000" b="0" i="0" dirty="0">
                    <a:solidFill>
                      <a:srgbClr val="0F1115"/>
                    </a:solidFill>
                    <a:effectLst/>
                    <a:latin typeface="quote-cjk-patch"/>
                  </a:rPr>
                  <a:t> 出发，沿着梯度方向走一小步，函数值会增加 </a:t>
                </a:r>
                <a:r>
                  <a:rPr lang="zh-CN" altLang="en-US" sz="2000" b="0" dirty="0">
                    <a:solidFill>
                      <a:srgbClr val="0F1115"/>
                    </a:solidFill>
                    <a:effectLst/>
                    <a:latin typeface="KaTeX_Main"/>
                  </a:rPr>
                  <a:t>∥∇</a:t>
                </a:r>
                <a:r>
                  <a:rPr lang="en-US" altLang="zh-CN" sz="2000" b="0" i="1" dirty="0">
                    <a:solidFill>
                      <a:srgbClr val="0F1115"/>
                    </a:solidFill>
                    <a:effectLst/>
                    <a:latin typeface="KaTeX_Math"/>
                  </a:rPr>
                  <a:t>f</a:t>
                </a:r>
                <a:r>
                  <a:rPr lang="en-US" altLang="zh-CN" sz="2000" b="0" dirty="0">
                    <a:solidFill>
                      <a:srgbClr val="0F1115"/>
                    </a:solidFill>
                    <a:effectLst/>
                    <a:latin typeface="KaTeX_Main"/>
                  </a:rPr>
                  <a:t>(</a:t>
                </a:r>
                <a:r>
                  <a:rPr lang="en-US" altLang="zh-CN" sz="2000" b="0" i="1" dirty="0">
                    <a:solidFill>
                      <a:srgbClr val="0F1115"/>
                    </a:solidFill>
                    <a:effectLst/>
                    <a:latin typeface="KaTeX_Math"/>
                  </a:rPr>
                  <a:t>x</a:t>
                </a:r>
                <a:r>
                  <a:rPr lang="en-US" altLang="zh-CN" sz="2000" b="0" dirty="0">
                    <a:solidFill>
                      <a:srgbClr val="0F1115"/>
                    </a:solidFill>
                    <a:effectLst/>
                    <a:latin typeface="KaTeX_Main"/>
                  </a:rPr>
                  <a:t>)∥×</a:t>
                </a:r>
                <a:r>
                  <a:rPr lang="zh-CN" altLang="en-US" sz="2000" b="0" dirty="0">
                    <a:solidFill>
                      <a:srgbClr val="0F1115"/>
                    </a:solidFill>
                    <a:effectLst/>
                    <a:latin typeface="Times New Roman" panose="02020603050405020304" pitchFamily="18" charset="0"/>
                  </a:rPr>
                  <a:t>步长</a:t>
                </a:r>
                <a:r>
                  <a:rPr lang="zh-CN" altLang="en-US" sz="2000" b="0" i="0" dirty="0">
                    <a:solidFill>
                      <a:srgbClr val="0F1115"/>
                    </a:solidFill>
                    <a:effectLst/>
                    <a:latin typeface="quote-cjk-patch"/>
                  </a:rPr>
                  <a:t>：模越大，该点附近函数越“陡峭”；模越小，函数在该点附近越平坦。</a:t>
                </a:r>
              </a:p>
              <a:p>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39" y="2334643"/>
                <a:ext cx="11538257" cy="4236160"/>
              </a:xfrm>
              <a:prstGeom prst="rect">
                <a:avLst/>
              </a:prstGeom>
              <a:blipFill>
                <a:blip r:embed="rId3"/>
                <a:stretch>
                  <a:fillRect l="-687" r="-13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60717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62</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1440160" cy="4487639"/>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b="1" i="0" dirty="0">
                    <a:solidFill>
                      <a:srgbClr val="0F1115"/>
                    </a:solidFill>
                    <a:effectLst/>
                    <a:latin typeface="quote-cjk-patch"/>
                  </a:rPr>
                  <a:t>向量值函数</a:t>
                </a:r>
                <a:r>
                  <a:rPr lang="zh-CN" altLang="en-US" sz="2400" dirty="0"/>
                  <a:t>梯度</a:t>
                </a:r>
                <a:r>
                  <a:rPr lang="en-US" altLang="zh-CN" sz="2400" dirty="0"/>
                  <a:t>(Gradient)</a:t>
                </a:r>
              </a:p>
              <a:p>
                <a:pPr marL="800100" lvl="1" indent="-342900">
                  <a:lnSpc>
                    <a:spcPct val="150000"/>
                  </a:lnSpc>
                  <a:buFont typeface="Wingdings" pitchFamily="2" charset="2"/>
                  <a:buChar char="p"/>
                </a:pPr>
                <a:r>
                  <a:rPr lang="zh-CN" altLang="en-US" sz="2400" dirty="0"/>
                  <a:t>令</a:t>
                </a:r>
                <a14:m>
                  <m:oMath xmlns:m="http://schemas.openxmlformats.org/officeDocument/2006/math">
                    <m:r>
                      <a:rPr lang="en-US" altLang="zh-CN" sz="2400" i="1" smtClean="0">
                        <a:latin typeface="Cambria Math" panose="02040503050406030204" pitchFamily="18" charset="0"/>
                        <a:ea typeface="Verdana" panose="020B0604030504040204" pitchFamily="34" charset="0"/>
                      </a:rPr>
                      <m:t>𝑓</m:t>
                    </m:r>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m:t>
                        </m:r>
                      </m:e>
                    </m:d>
                    <m:r>
                      <a:rPr lang="en-US" altLang="zh-CN" sz="2400" b="0" i="1" smtClean="0">
                        <a:latin typeface="Cambria Math" panose="02040503050406030204" pitchFamily="18" charset="0"/>
                        <a:ea typeface="Verdana" panose="020B0604030504040204" pitchFamily="34" charset="0"/>
                      </a:rPr>
                      <m:t>=</m:t>
                    </m:r>
                    <m:d>
                      <m:dPr>
                        <m:begChr m:val="["/>
                        <m:endChr m:val="]"/>
                        <m:ctrlPr>
                          <a:rPr lang="en-US" altLang="zh-CN" sz="2400" b="0" i="1" smtClean="0">
                            <a:latin typeface="Cambria Math" panose="02040503050406030204" pitchFamily="18" charset="0"/>
                            <a:ea typeface="Verdana" panose="020B0604030504040204" pitchFamily="34" charset="0"/>
                          </a:rPr>
                        </m:ctrlPr>
                      </m:dPr>
                      <m:e>
                        <m:sSub>
                          <m:sSubPr>
                            <m:ctrlPr>
                              <a:rPr lang="en-US" altLang="zh-CN" sz="2400" b="0" i="1" smtClean="0">
                                <a:latin typeface="Cambria Math" panose="02040503050406030204" pitchFamily="18" charset="0"/>
                                <a:ea typeface="Verdana" panose="020B0604030504040204" pitchFamily="34" charset="0"/>
                              </a:rPr>
                            </m:ctrlPr>
                          </m:sSubPr>
                          <m:e>
                            <m:r>
                              <a:rPr lang="en-US" altLang="zh-CN" sz="2400" b="0" i="1" smtClean="0">
                                <a:latin typeface="Cambria Math" panose="02040503050406030204" pitchFamily="18" charset="0"/>
                                <a:ea typeface="Verdana" panose="020B0604030504040204" pitchFamily="34" charset="0"/>
                              </a:rPr>
                              <m:t>𝑓</m:t>
                            </m:r>
                          </m:e>
                          <m:sub>
                            <m:r>
                              <a:rPr lang="en-US" altLang="zh-CN" sz="2400" b="0" i="1" smtClean="0">
                                <a:latin typeface="Cambria Math" panose="02040503050406030204" pitchFamily="18" charset="0"/>
                                <a:ea typeface="Verdana" panose="020B0604030504040204" pitchFamily="34" charset="0"/>
                              </a:rPr>
                              <m:t>1</m:t>
                            </m:r>
                          </m:sub>
                        </m:sSub>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m:t>
                            </m:r>
                          </m:e>
                        </m:d>
                        <m:r>
                          <a:rPr lang="en-US" altLang="zh-CN" sz="2400" b="0" i="1" smtClean="0">
                            <a:latin typeface="Cambria Math" panose="02040503050406030204" pitchFamily="18" charset="0"/>
                            <a:ea typeface="Verdana" panose="020B0604030504040204" pitchFamily="34" charset="0"/>
                          </a:rPr>
                          <m:t>,…,</m:t>
                        </m:r>
                        <m:sSub>
                          <m:sSubPr>
                            <m:ctrlPr>
                              <a:rPr lang="en-US" altLang="zh-CN" sz="2400" i="1">
                                <a:latin typeface="Cambria Math" panose="02040503050406030204" pitchFamily="18" charset="0"/>
                                <a:ea typeface="Verdana" panose="020B0604030504040204" pitchFamily="34" charset="0"/>
                              </a:rPr>
                            </m:ctrlPr>
                          </m:sSubPr>
                          <m:e>
                            <m:r>
                              <a:rPr lang="en-US" altLang="zh-CN" sz="2400" i="1">
                                <a:latin typeface="Cambria Math" panose="02040503050406030204" pitchFamily="18" charset="0"/>
                                <a:ea typeface="Verdana" panose="020B0604030504040204" pitchFamily="34" charset="0"/>
                              </a:rPr>
                              <m:t>𝑓</m:t>
                            </m:r>
                          </m:e>
                          <m:sub>
                            <m:r>
                              <a:rPr lang="en-US" altLang="zh-CN" sz="2400" b="0" i="1" smtClean="0">
                                <a:latin typeface="Cambria Math" panose="02040503050406030204" pitchFamily="18" charset="0"/>
                                <a:ea typeface="Verdana" panose="020B0604030504040204" pitchFamily="34" charset="0"/>
                              </a:rPr>
                              <m:t>𝑚</m:t>
                            </m:r>
                          </m:sub>
                        </m:sSub>
                        <m:d>
                          <m:dPr>
                            <m:ctrlPr>
                              <a:rPr lang="en-US" altLang="zh-CN" sz="2400" i="1">
                                <a:latin typeface="Cambria Math" panose="02040503050406030204" pitchFamily="18" charset="0"/>
                                <a:ea typeface="Verdana" panose="020B0604030504040204" pitchFamily="34" charset="0"/>
                              </a:rPr>
                            </m:ctrlPr>
                          </m:dPr>
                          <m:e>
                            <m:r>
                              <a:rPr lang="en-US" altLang="zh-CN" sz="2400" i="1">
                                <a:latin typeface="Cambria Math" panose="02040503050406030204" pitchFamily="18" charset="0"/>
                                <a:ea typeface="Verdana" panose="020B0604030504040204" pitchFamily="34" charset="0"/>
                              </a:rPr>
                              <m:t>⋅</m:t>
                            </m:r>
                          </m:e>
                        </m:d>
                      </m:e>
                    </m:d>
                    <m:r>
                      <a:rPr lang="en-US" altLang="zh-CN" sz="2400" i="1" smtClean="0">
                        <a:latin typeface="Cambria Math" panose="02040503050406030204" pitchFamily="18" charset="0"/>
                        <a:ea typeface="Verdana" panose="020B0604030504040204" pitchFamily="34"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r>
                      <a:rPr lang="en-US" altLang="zh-CN" sz="2400" i="1">
                        <a:latin typeface="Cambria Math" panose="02040503050406030204" pitchFamily="18" charset="0"/>
                        <a:ea typeface="Cambria Math" panose="02040503050406030204" pitchFamily="18" charset="0"/>
                      </a:rPr>
                      <m:t>↦</m:t>
                    </m:r>
                    <m:sSup>
                      <m:sSupPr>
                        <m:ctrlPr>
                          <a:rPr lang="en-US" altLang="zh-CN" sz="2400" b="0" i="1" smtClean="0">
                            <a:solidFill>
                              <a:srgbClr val="C00000"/>
                            </a:solidFill>
                            <a:latin typeface="Cambria Math" panose="02040503050406030204" pitchFamily="18" charset="0"/>
                            <a:ea typeface="Cambria Math" panose="02040503050406030204" pitchFamily="18" charset="0"/>
                          </a:rPr>
                        </m:ctrlPr>
                      </m:sSupPr>
                      <m:e>
                        <m:r>
                          <a:rPr lang="en-US" altLang="zh-CN" sz="2400" i="1">
                            <a:solidFill>
                              <a:srgbClr val="C00000"/>
                            </a:solidFill>
                            <a:latin typeface="Cambria Math" panose="02040503050406030204" pitchFamily="18" charset="0"/>
                            <a:ea typeface="Cambria Math" panose="02040503050406030204" pitchFamily="18" charset="0"/>
                          </a:rPr>
                          <m:t>ℝ</m:t>
                        </m:r>
                      </m:e>
                      <m:sup>
                        <m:r>
                          <a:rPr lang="en-US" altLang="zh-CN" sz="2400" b="0" i="1" smtClean="0">
                            <a:solidFill>
                              <a:srgbClr val="C00000"/>
                            </a:solidFill>
                            <a:latin typeface="Cambria Math" panose="02040503050406030204" pitchFamily="18" charset="0"/>
                            <a:ea typeface="Cambria Math" panose="02040503050406030204" pitchFamily="18" charset="0"/>
                          </a:rPr>
                          <m:t>𝑚</m:t>
                        </m:r>
                      </m:sup>
                    </m:sSup>
                  </m:oMath>
                </a14:m>
                <a:r>
                  <a:rPr lang="zh-CN" altLang="en-US" sz="2400" dirty="0"/>
                  <a:t>，其中每个</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𝑖</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m:t>
                        </m:r>
                      </m:e>
                    </m:d>
                  </m:oMath>
                </a14:m>
                <a:r>
                  <a:rPr lang="zh-CN" altLang="en-US" sz="2400" dirty="0"/>
                  <a:t>都是可微函数。那么</a:t>
                </a:r>
                <a14:m>
                  <m:oMath xmlns:m="http://schemas.openxmlformats.org/officeDocument/2006/math">
                    <m:r>
                      <a:rPr lang="en-US" altLang="zh-CN" sz="2400" i="1">
                        <a:latin typeface="Cambria Math" panose="02040503050406030204" pitchFamily="18" charset="0"/>
                        <a:ea typeface="Verdana" panose="020B0604030504040204" pitchFamily="34" charset="0"/>
                      </a:rPr>
                      <m:t>𝑓</m:t>
                    </m:r>
                    <m:d>
                      <m:dPr>
                        <m:ctrlPr>
                          <a:rPr lang="en-US" altLang="zh-CN" sz="2400" i="1">
                            <a:latin typeface="Cambria Math" panose="02040503050406030204" pitchFamily="18" charset="0"/>
                            <a:ea typeface="Verdana" panose="020B0604030504040204" pitchFamily="34" charset="0"/>
                          </a:rPr>
                        </m:ctrlPr>
                      </m:dPr>
                      <m:e>
                        <m:r>
                          <a:rPr lang="en-US" altLang="zh-CN" sz="2400" i="1">
                            <a:latin typeface="Cambria Math" panose="02040503050406030204" pitchFamily="18" charset="0"/>
                            <a:ea typeface="Verdana" panose="020B0604030504040204" pitchFamily="34" charset="0"/>
                          </a:rPr>
                          <m:t>⋅</m:t>
                        </m:r>
                      </m:e>
                    </m:d>
                  </m:oMath>
                </a14:m>
                <a:r>
                  <a:rPr lang="zh-CN" altLang="en-US" sz="2400" dirty="0"/>
                  <a:t>在</a:t>
                </a:r>
                <a14:m>
                  <m:oMath xmlns:m="http://schemas.openxmlformats.org/officeDocument/2006/math">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oMath>
                </a14:m>
                <a:r>
                  <a:rPr lang="zh-CN" altLang="en-US" sz="2400" dirty="0"/>
                  <a:t>处的梯度是一个大小为</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𝑚</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𝑑</m:t>
                        </m:r>
                      </m:sup>
                    </m:sSup>
                  </m:oMath>
                </a14:m>
                <a:r>
                  <a:rPr lang="zh-CN" altLang="en-US" sz="2400" dirty="0"/>
                  <a:t>的矩阵，具体定义如下</a:t>
                </a: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lvl="1">
                  <a:lnSpc>
                    <a:spcPct val="150000"/>
                  </a:lnSpc>
                </a:pPr>
                <a:r>
                  <a:rPr lang="en-US" altLang="zh-CN" sz="2400" dirty="0"/>
                  <a:t>    </a:t>
                </a:r>
                <a:r>
                  <a:rPr lang="zh-CN" altLang="en-US" sz="2400" dirty="0"/>
                  <a:t>也被称为雅可比</a:t>
                </a:r>
                <a:r>
                  <a:rPr lang="en-US" altLang="zh-CN" sz="2400" dirty="0"/>
                  <a:t>(Jacobian)</a:t>
                </a:r>
                <a:r>
                  <a:rPr lang="zh-CN" altLang="en-US" sz="2400" dirty="0"/>
                  <a:t>矩阵</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11440160" cy="4487639"/>
              </a:xfrm>
              <a:prstGeom prst="rect">
                <a:avLst/>
              </a:prstGeom>
              <a:blipFill>
                <a:blip r:embed="rId3"/>
                <a:stretch>
                  <a:fillRect l="-693" b="-23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19F6DDC-1C06-244D-8208-775BED13920C}"/>
                  </a:ext>
                </a:extLst>
              </p:cNvPr>
              <p:cNvSpPr txBox="1"/>
              <p:nvPr/>
            </p:nvSpPr>
            <p:spPr>
              <a:xfrm>
                <a:off x="3214475" y="4243261"/>
                <a:ext cx="6108490" cy="2012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m:t>
                      </m:r>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m>
                            <m:mPr>
                              <m:mcs>
                                <m:mc>
                                  <m:mcPr>
                                    <m:count m:val="3"/>
                                    <m:mcJc m:val="center"/>
                                  </m:mcPr>
                                </m:mc>
                              </m:mcs>
                              <m:ctrlPr>
                                <a:rPr lang="en-US" altLang="zh-CN" sz="2400" b="0" i="1" smtClean="0">
                                  <a:latin typeface="Cambria Math" panose="02040503050406030204" pitchFamily="18" charset="0"/>
                                </a:rPr>
                              </m:ctrlPr>
                            </m:mPr>
                            <m:mr>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1</m:t>
                                        </m:r>
                                      </m:sub>
                                    </m:sSub>
                                  </m:num>
                                  <m:den>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den>
                                </m:f>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e>
                                <m:r>
                                  <a:rPr lang="en-US" altLang="zh-CN" sz="2400" b="0" i="1" smtClean="0">
                                    <a:latin typeface="Cambria Math" panose="02040503050406030204" pitchFamily="18" charset="0"/>
                                  </a:rPr>
                                  <m:t>…</m:t>
                                </m:r>
                              </m:e>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1</m:t>
                                        </m:r>
                                      </m:sub>
                                    </m:sSub>
                                  </m:num>
                                  <m:den>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a:rPr lang="en-US" altLang="zh-CN" sz="2400" i="1">
                                            <a:latin typeface="Cambria Math" panose="02040503050406030204" pitchFamily="18" charset="0"/>
                                          </a:rPr>
                                          <m:t>𝑑</m:t>
                                        </m:r>
                                      </m:sub>
                                    </m:sSub>
                                  </m:den>
                                </m:f>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mr>
                            <m:mr>
                              <m:e>
                                <m:r>
                                  <a:rPr lang="en-US" altLang="zh-CN" sz="2400" b="0" i="1" smtClean="0">
                                    <a:latin typeface="Cambria Math" panose="02040503050406030204" pitchFamily="18" charset="0"/>
                                  </a:rPr>
                                  <m:t>…</m:t>
                                </m:r>
                              </m:e>
                              <m:e>
                                <m:r>
                                  <a:rPr lang="en-US" altLang="zh-CN" sz="2400" b="0" i="1" smtClean="0">
                                    <a:latin typeface="Cambria Math" panose="02040503050406030204" pitchFamily="18" charset="0"/>
                                    <a:ea typeface="Cambria Math" panose="02040503050406030204" pitchFamily="18" charset="0"/>
                                  </a:rPr>
                                  <m:t>⋱</m:t>
                                </m:r>
                              </m:e>
                              <m:e>
                                <m:r>
                                  <a:rPr lang="en-US" altLang="zh-CN" sz="2400" b="0" i="1" smtClean="0">
                                    <a:latin typeface="Cambria Math" panose="02040503050406030204" pitchFamily="18" charset="0"/>
                                  </a:rPr>
                                  <m:t>…</m:t>
                                </m:r>
                              </m:e>
                            </m:mr>
                            <m:mr>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𝑚</m:t>
                                        </m:r>
                                      </m:sub>
                                    </m:sSub>
                                  </m:num>
                                  <m:den>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a:rPr lang="en-US" altLang="zh-CN" sz="2400" b="0" i="1" smtClean="0">
                                            <a:latin typeface="Cambria Math" panose="02040503050406030204" pitchFamily="18" charset="0"/>
                                          </a:rPr>
                                          <m:t>1</m:t>
                                        </m:r>
                                      </m:sub>
                                    </m:sSub>
                                  </m:den>
                                </m:f>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e>
                                <m:r>
                                  <a:rPr lang="en-US" altLang="zh-CN" sz="2400" b="0" i="1" smtClean="0">
                                    <a:latin typeface="Cambria Math" panose="02040503050406030204" pitchFamily="18" charset="0"/>
                                  </a:rPr>
                                  <m:t>…</m:t>
                                </m:r>
                              </m:e>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b="0" i="1" smtClean="0">
                                            <a:latin typeface="Cambria Math" panose="02040503050406030204" pitchFamily="18" charset="0"/>
                                          </a:rPr>
                                          <m:t>𝑚</m:t>
                                        </m:r>
                                      </m:sub>
                                    </m:sSub>
                                  </m:num>
                                  <m:den>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a:rPr lang="en-US" altLang="zh-CN" sz="2400" i="1">
                                            <a:latin typeface="Cambria Math" panose="02040503050406030204" pitchFamily="18" charset="0"/>
                                          </a:rPr>
                                          <m:t>𝑑</m:t>
                                        </m:r>
                                      </m:sub>
                                    </m:sSub>
                                  </m:den>
                                </m:f>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mr>
                          </m:m>
                        </m:e>
                      </m:d>
                    </m:oMath>
                  </m:oMathPara>
                </a14:m>
                <a:endParaRPr lang="zh-CN" altLang="en-US" sz="2400" dirty="0"/>
              </a:p>
            </p:txBody>
          </p:sp>
        </mc:Choice>
        <mc:Fallback xmlns="">
          <p:sp>
            <p:nvSpPr>
              <p:cNvPr id="10" name="文本框 9">
                <a:extLst>
                  <a:ext uri="{FF2B5EF4-FFF2-40B4-BE49-F238E27FC236}">
                    <a16:creationId xmlns:a16="http://schemas.microsoft.com/office/drawing/2014/main" id="{C19F6DDC-1C06-244D-8208-775BED13920C}"/>
                  </a:ext>
                </a:extLst>
              </p:cNvPr>
              <p:cNvSpPr txBox="1">
                <a:spLocks noRot="1" noChangeAspect="1" noMove="1" noResize="1" noEditPoints="1" noAdjustHandles="1" noChangeArrowheads="1" noChangeShapeType="1" noTextEdit="1"/>
              </p:cNvSpPr>
              <p:nvPr/>
            </p:nvSpPr>
            <p:spPr>
              <a:xfrm>
                <a:off x="3214475" y="4243261"/>
                <a:ext cx="6108490" cy="2012282"/>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285051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63</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1440160" cy="3461717"/>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海森矩阵</a:t>
                </a:r>
                <a:r>
                  <a:rPr lang="en-US" altLang="zh-CN" sz="2400" dirty="0"/>
                  <a:t>(Hessian)</a:t>
                </a:r>
                <a:r>
                  <a:rPr lang="zh-CN" altLang="en-US" sz="2400" dirty="0"/>
                  <a:t>（二阶导数）</a:t>
                </a:r>
                <a:endParaRPr lang="en-US" altLang="zh-CN" sz="2400" dirty="0"/>
              </a:p>
              <a:p>
                <a:pPr marL="800100" lvl="1" indent="-342900">
                  <a:lnSpc>
                    <a:spcPct val="150000"/>
                  </a:lnSpc>
                  <a:buFont typeface="Wingdings" pitchFamily="2" charset="2"/>
                  <a:buChar char="p"/>
                </a:pPr>
                <a:r>
                  <a:rPr lang="zh-CN" altLang="en-US" sz="2400" dirty="0"/>
                  <a:t>令</a:t>
                </a:r>
                <a14:m>
                  <m:oMath xmlns:m="http://schemas.openxmlformats.org/officeDocument/2006/math">
                    <m:r>
                      <a:rPr lang="en-US" altLang="zh-CN" sz="2400" i="1" smtClean="0">
                        <a:latin typeface="Cambria Math" panose="02040503050406030204" pitchFamily="18" charset="0"/>
                        <a:ea typeface="Verdana" panose="020B0604030504040204" pitchFamily="34" charset="0"/>
                      </a:rPr>
                      <m:t>𝑓</m:t>
                    </m:r>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m:t>
                        </m:r>
                      </m:e>
                    </m:d>
                    <m:r>
                      <a:rPr lang="en-US" altLang="zh-CN" sz="2400" i="1" smtClean="0">
                        <a:latin typeface="Cambria Math" panose="02040503050406030204" pitchFamily="18" charset="0"/>
                        <a:ea typeface="Verdana" panose="020B0604030504040204" pitchFamily="34"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oMath>
                </a14:m>
                <a:r>
                  <a:rPr lang="zh-CN" altLang="en-US" sz="2400" dirty="0"/>
                  <a:t>表示一个二次可微函数。那么</a:t>
                </a:r>
                <a14:m>
                  <m:oMath xmlns:m="http://schemas.openxmlformats.org/officeDocument/2006/math">
                    <m:r>
                      <a:rPr lang="en-US" altLang="zh-CN" sz="2400" i="1">
                        <a:latin typeface="Cambria Math" panose="02040503050406030204" pitchFamily="18" charset="0"/>
                        <a:ea typeface="Verdana" panose="020B0604030504040204" pitchFamily="34" charset="0"/>
                      </a:rPr>
                      <m:t>𝑓</m:t>
                    </m:r>
                    <m:d>
                      <m:dPr>
                        <m:ctrlPr>
                          <a:rPr lang="en-US" altLang="zh-CN" sz="2400" i="1">
                            <a:latin typeface="Cambria Math" panose="02040503050406030204" pitchFamily="18" charset="0"/>
                            <a:ea typeface="Verdana" panose="020B0604030504040204" pitchFamily="34" charset="0"/>
                          </a:rPr>
                        </m:ctrlPr>
                      </m:dPr>
                      <m:e>
                        <m:r>
                          <a:rPr lang="en-US" altLang="zh-CN" sz="2400" i="1">
                            <a:latin typeface="Cambria Math" panose="02040503050406030204" pitchFamily="18" charset="0"/>
                            <a:ea typeface="Verdana" panose="020B0604030504040204" pitchFamily="34" charset="0"/>
                          </a:rPr>
                          <m:t>⋅</m:t>
                        </m:r>
                      </m:e>
                    </m:d>
                  </m:oMath>
                </a14:m>
                <a:r>
                  <a:rPr lang="zh-CN" altLang="en-US" sz="2400" dirty="0"/>
                  <a:t>在</a:t>
                </a:r>
                <a14:m>
                  <m:oMath xmlns:m="http://schemas.openxmlformats.org/officeDocument/2006/math">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oMath>
                </a14:m>
                <a:r>
                  <a:rPr lang="zh-CN" altLang="en-US" sz="2400" dirty="0"/>
                  <a:t>处的海森是一个大小为</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𝑑</m:t>
                        </m:r>
                      </m:sup>
                    </m:sSup>
                  </m:oMath>
                </a14:m>
                <a:r>
                  <a:rPr lang="zh-CN" altLang="en-US" sz="2400" dirty="0"/>
                  <a:t>的矩阵，具体定义如下</a:t>
                </a:r>
                <a:endParaRPr lang="en-US" altLang="zh-CN" sz="2400" dirty="0"/>
              </a:p>
              <a:p>
                <a:pPr lvl="1">
                  <a:lnSpc>
                    <a:spcPct val="150000"/>
                  </a:lnSpc>
                </a:pPr>
                <a:endParaRPr lang="en-US" altLang="zh-CN" sz="2400" dirty="0"/>
              </a:p>
              <a:p>
                <a:pPr lvl="1">
                  <a:lnSpc>
                    <a:spcPct val="150000"/>
                  </a:lnSpc>
                </a:pPr>
                <a:endParaRPr lang="en-US" altLang="zh-CN" sz="2400" dirty="0"/>
              </a:p>
              <a:p>
                <a:pPr marL="800100" lvl="1" indent="-342900">
                  <a:lnSpc>
                    <a:spcPct val="150000"/>
                  </a:lnSpc>
                  <a:buFont typeface="Wingdings" pitchFamily="2" charset="2"/>
                  <a:buChar char="p"/>
                </a:pPr>
                <a:r>
                  <a:rPr lang="zh-CN" altLang="en-US" sz="2400" dirty="0"/>
                  <a:t>样例：</a:t>
                </a:r>
                <a14:m>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nary>
                      <m:naryPr>
                        <m:chr m:val="∑"/>
                        <m:limLoc m:val="subSup"/>
                        <m:ctrlPr>
                          <a:rPr lang="en-US" altLang="zh-CN" sz="2400" b="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𝑑</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e>
                    </m:nary>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ln</m:t>
                        </m:r>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e>
                    </m:func>
                  </m:oMath>
                </a14:m>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11440160" cy="3461717"/>
              </a:xfrm>
              <a:prstGeom prst="rect">
                <a:avLst/>
              </a:prstGeom>
              <a:blipFill>
                <a:blip r:embed="rId3"/>
                <a:stretch>
                  <a:fillRect l="-693" r="-746" b="-17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CDC7909-CAC4-DA47-AADB-6E45DDF0E04C}"/>
                  </a:ext>
                </a:extLst>
              </p:cNvPr>
              <p:cNvSpPr txBox="1"/>
              <p:nvPr/>
            </p:nvSpPr>
            <p:spPr>
              <a:xfrm>
                <a:off x="3214858" y="3625992"/>
                <a:ext cx="6107722" cy="1498231"/>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n-US" altLang="zh-CN" sz="2400" b="0" i="1" smtClean="0">
                              <a:latin typeface="Cambria Math" panose="02040503050406030204" pitchFamily="18" charset="0"/>
                            </a:rPr>
                          </m:ctrlPr>
                        </m:sSupPr>
                        <m:e>
                          <m:r>
                            <m:rPr>
                              <m:sty m:val="p"/>
                            </m:rPr>
                            <a:rPr lang="en-US" altLang="zh-CN" sz="2400" b="0" i="0" smtClean="0">
                              <a:latin typeface="Cambria Math" panose="02040503050406030204" pitchFamily="18" charset="0"/>
                            </a:rPr>
                            <m:t>∇</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d>
                            <m:dPr>
                              <m:begChr m:val="["/>
                              <m:endChr m:val="]"/>
                              <m:ctrlPr>
                                <a:rPr lang="en-US" altLang="zh-CN" sz="2400" b="0" i="1" smtClean="0">
                                  <a:latin typeface="Cambria Math" panose="02040503050406030204" pitchFamily="18" charset="0"/>
                                </a:rPr>
                              </m:ctrlPr>
                            </m:dPr>
                            <m:e>
                              <m:f>
                                <m:fPr>
                                  <m:ctrlPr>
                                    <a:rPr lang="en-US" altLang="zh-CN" sz="2400" i="1">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m:t>
                                      </m:r>
                                    </m:e>
                                    <m:sup>
                                      <m:r>
                                        <a:rPr lang="en-US" altLang="zh-CN" sz="2400" b="0" i="1" smtClean="0">
                                          <a:latin typeface="Cambria Math" panose="02040503050406030204" pitchFamily="18" charset="0"/>
                                        </a:rPr>
                                        <m:t>2</m:t>
                                      </m:r>
                                    </m:sup>
                                  </m:sSup>
                                  <m:r>
                                    <a:rPr lang="en-US" altLang="zh-CN" sz="2400" i="1">
                                      <a:latin typeface="Cambria Math" panose="02040503050406030204" pitchFamily="18" charset="0"/>
                                    </a:rPr>
                                    <m:t>𝑓</m:t>
                                  </m:r>
                                </m:num>
                                <m:den>
                                  <m:r>
                                    <m:rPr>
                                      <m:brk m:alnAt="7"/>
                                    </m:rP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brk m:alnAt="7"/>
                                        </m:rP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𝑗</m:t>
                                      </m:r>
                                    </m:sub>
                                  </m:sSub>
                                </m:den>
                              </m:f>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d>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𝑑</m:t>
                          </m:r>
                        </m:sub>
                      </m:sSub>
                    </m:oMath>
                  </m:oMathPara>
                </a14:m>
                <a:endParaRPr lang="en-US" altLang="zh-CN" sz="2400" dirty="0"/>
              </a:p>
            </p:txBody>
          </p:sp>
        </mc:Choice>
        <mc:Fallback xmlns="">
          <p:sp>
            <p:nvSpPr>
              <p:cNvPr id="11" name="文本框 10">
                <a:extLst>
                  <a:ext uri="{FF2B5EF4-FFF2-40B4-BE49-F238E27FC236}">
                    <a16:creationId xmlns:a16="http://schemas.microsoft.com/office/drawing/2014/main" id="{4CDC7909-CAC4-DA47-AADB-6E45DDF0E04C}"/>
                  </a:ext>
                </a:extLst>
              </p:cNvPr>
              <p:cNvSpPr txBox="1">
                <a:spLocks noRot="1" noChangeAspect="1" noMove="1" noResize="1" noEditPoints="1" noAdjustHandles="1" noChangeArrowheads="1" noChangeShapeType="1" noTextEdit="1"/>
              </p:cNvSpPr>
              <p:nvPr/>
            </p:nvSpPr>
            <p:spPr>
              <a:xfrm>
                <a:off x="3214858" y="3625992"/>
                <a:ext cx="6107722" cy="1498231"/>
              </a:xfrm>
              <a:prstGeom prst="rect">
                <a:avLst/>
              </a:prstGeom>
              <a:blipFill>
                <a:blip r:embed="rId4"/>
                <a:stretch>
                  <a:fillRect b="-25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20DD963-D7C8-F44C-A04D-2310D772E944}"/>
                  </a:ext>
                </a:extLst>
              </p:cNvPr>
              <p:cNvSpPr txBox="1"/>
              <p:nvPr/>
            </p:nvSpPr>
            <p:spPr>
              <a:xfrm>
                <a:off x="2924711" y="5520530"/>
                <a:ext cx="6688015" cy="1223797"/>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n-US" altLang="zh-CN" sz="2400" b="0" i="1" smtClean="0">
                              <a:latin typeface="Cambria Math" panose="02040503050406030204" pitchFamily="18" charset="0"/>
                            </a:rPr>
                          </m:ctrlPr>
                        </m:sSupPr>
                        <m:e>
                          <m:r>
                            <m:rPr>
                              <m:sty m:val="p"/>
                            </m:rPr>
                            <a:rPr lang="en-US" altLang="zh-CN" sz="2400" b="0" i="0" smtClean="0">
                              <a:latin typeface="Cambria Math" panose="02040503050406030204" pitchFamily="18" charset="0"/>
                            </a:rPr>
                            <m:t>∇</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diag</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den>
                          </m:f>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𝑑</m:t>
                                  </m:r>
                                </m:sub>
                              </m:sSub>
                            </m:den>
                          </m:f>
                        </m:e>
                      </m:d>
                    </m:oMath>
                  </m:oMathPara>
                </a14:m>
                <a:endParaRPr lang="en-US" altLang="zh-CN" sz="2400" dirty="0"/>
              </a:p>
            </p:txBody>
          </p:sp>
        </mc:Choice>
        <mc:Fallback xmlns="">
          <p:sp>
            <p:nvSpPr>
              <p:cNvPr id="9" name="文本框 8">
                <a:extLst>
                  <a:ext uri="{FF2B5EF4-FFF2-40B4-BE49-F238E27FC236}">
                    <a16:creationId xmlns:a16="http://schemas.microsoft.com/office/drawing/2014/main" id="{320DD963-D7C8-F44C-A04D-2310D772E944}"/>
                  </a:ext>
                </a:extLst>
              </p:cNvPr>
              <p:cNvSpPr txBox="1">
                <a:spLocks noRot="1" noChangeAspect="1" noMove="1" noResize="1" noEditPoints="1" noAdjustHandles="1" noChangeArrowheads="1" noChangeShapeType="1" noTextEdit="1"/>
              </p:cNvSpPr>
              <p:nvPr/>
            </p:nvSpPr>
            <p:spPr>
              <a:xfrm>
                <a:off x="2924711" y="5520530"/>
                <a:ext cx="6688015" cy="1223797"/>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21341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64</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1440160" cy="59003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海森矩阵</a:t>
            </a:r>
            <a:r>
              <a:rPr lang="en-US" altLang="zh-CN" sz="2400" dirty="0"/>
              <a:t>(Hessian)</a:t>
            </a:r>
            <a:r>
              <a:rPr lang="zh-CN" altLang="en-US" sz="2400" dirty="0"/>
              <a:t>（二阶导数）</a:t>
            </a:r>
          </a:p>
        </p:txBody>
      </p:sp>
      <p:sp>
        <p:nvSpPr>
          <p:cNvPr id="10" name="文本框 9">
            <a:extLst>
              <a:ext uri="{FF2B5EF4-FFF2-40B4-BE49-F238E27FC236}">
                <a16:creationId xmlns:a16="http://schemas.microsoft.com/office/drawing/2014/main" id="{0BBA0C19-7E89-4B59-A9CF-80B1C6BAA58C}"/>
              </a:ext>
            </a:extLst>
          </p:cNvPr>
          <p:cNvSpPr txBox="1"/>
          <p:nvPr/>
        </p:nvSpPr>
        <p:spPr>
          <a:xfrm>
            <a:off x="325821" y="2924901"/>
            <a:ext cx="11908220" cy="3693319"/>
          </a:xfrm>
          <a:prstGeom prst="rect">
            <a:avLst/>
          </a:prstGeom>
          <a:noFill/>
        </p:spPr>
        <p:txBody>
          <a:bodyPr wrap="square" rtlCol="0">
            <a:spAutoFit/>
          </a:bodyPr>
          <a:lstStyle/>
          <a:p>
            <a:r>
              <a:rPr lang="en-US" altLang="zh-CN" b="1" dirty="0"/>
              <a:t>1. </a:t>
            </a:r>
            <a:r>
              <a:rPr lang="zh-CN" altLang="en-US" b="1" dirty="0"/>
              <a:t>判断极值点（二阶充分条件）</a:t>
            </a:r>
          </a:p>
          <a:p>
            <a:r>
              <a:rPr lang="zh-CN" altLang="en-US" dirty="0"/>
              <a:t>对于优化问题，梯度为零的点（驻点）可能是局部极小值、局部极大值或鞍点。</a:t>
            </a:r>
          </a:p>
          <a:p>
            <a:r>
              <a:rPr lang="zh-CN" altLang="en-US" b="1" dirty="0"/>
              <a:t>梯度</a:t>
            </a:r>
            <a:r>
              <a:rPr lang="zh-CN" altLang="en-US" dirty="0"/>
              <a:t>只能告诉我们“这里是平的”，但无法区分是谷底（极小值）、山顶（极大值）还是马鞍面（鞍点）。</a:t>
            </a:r>
          </a:p>
          <a:p>
            <a:r>
              <a:rPr lang="zh-CN" altLang="en-US" b="1" dirty="0"/>
              <a:t>海森矩阵</a:t>
            </a:r>
            <a:r>
              <a:rPr lang="zh-CN" altLang="en-US" dirty="0"/>
              <a:t> </a:t>
            </a:r>
            <a:r>
              <a:rPr lang="en-US" altLang="zh-CN" i="1" dirty="0"/>
              <a:t>H</a:t>
            </a:r>
            <a:r>
              <a:rPr lang="zh-CN" altLang="en-US" dirty="0"/>
              <a:t> 的正定性可以给出判断：</a:t>
            </a:r>
          </a:p>
          <a:p>
            <a:pPr lvl="1"/>
            <a:r>
              <a:rPr lang="zh-CN" altLang="en-US" dirty="0"/>
              <a:t>如果 </a:t>
            </a:r>
            <a:r>
              <a:rPr lang="en-US" altLang="zh-CN" i="1" dirty="0"/>
              <a:t>H</a:t>
            </a:r>
            <a:r>
              <a:rPr lang="zh-CN" altLang="en-US" dirty="0"/>
              <a:t> </a:t>
            </a:r>
            <a:r>
              <a:rPr lang="zh-CN" altLang="en-US" b="1" dirty="0"/>
              <a:t>正定</a:t>
            </a:r>
            <a:r>
              <a:rPr lang="zh-CN" altLang="en-US" dirty="0"/>
              <a:t>（所有特征值 </a:t>
            </a:r>
            <a:r>
              <a:rPr lang="en-US" altLang="zh-CN" dirty="0"/>
              <a:t>&gt;0</a:t>
            </a:r>
            <a:r>
              <a:rPr lang="zh-CN" altLang="en-US" dirty="0"/>
              <a:t>）：该点是局部极小值。</a:t>
            </a:r>
          </a:p>
          <a:p>
            <a:pPr lvl="1"/>
            <a:r>
              <a:rPr lang="zh-CN" altLang="en-US" dirty="0"/>
              <a:t>如果 </a:t>
            </a:r>
            <a:r>
              <a:rPr lang="en-US" altLang="zh-CN" i="1" dirty="0"/>
              <a:t>H</a:t>
            </a:r>
            <a:r>
              <a:rPr lang="zh-CN" altLang="en-US" dirty="0"/>
              <a:t> </a:t>
            </a:r>
            <a:r>
              <a:rPr lang="zh-CN" altLang="en-US" b="1" dirty="0"/>
              <a:t>负定</a:t>
            </a:r>
            <a:r>
              <a:rPr lang="zh-CN" altLang="en-US" dirty="0"/>
              <a:t>（所有特征值 </a:t>
            </a:r>
            <a:r>
              <a:rPr lang="en-US" altLang="zh-CN" dirty="0"/>
              <a:t>&lt;0</a:t>
            </a:r>
            <a:r>
              <a:rPr lang="zh-CN" altLang="en-US" dirty="0"/>
              <a:t>）：该点是局部极大值。</a:t>
            </a:r>
          </a:p>
          <a:p>
            <a:pPr lvl="1"/>
            <a:r>
              <a:rPr lang="zh-CN" altLang="en-US" dirty="0"/>
              <a:t>如果 </a:t>
            </a:r>
            <a:r>
              <a:rPr lang="en-US" altLang="zh-CN" i="1" dirty="0"/>
              <a:t>H</a:t>
            </a:r>
            <a:r>
              <a:rPr lang="zh-CN" altLang="en-US" dirty="0"/>
              <a:t> </a:t>
            </a:r>
            <a:r>
              <a:rPr lang="zh-CN" altLang="en-US" b="1" dirty="0"/>
              <a:t>不定</a:t>
            </a:r>
            <a:r>
              <a:rPr lang="zh-CN" altLang="en-US" dirty="0"/>
              <a:t>（特征值有正有负）：该点是鞍点。</a:t>
            </a:r>
          </a:p>
          <a:p>
            <a:r>
              <a:rPr lang="zh-CN" altLang="en-US" dirty="0"/>
              <a:t>这在分析损失曲面的形状、理解神经网络陷入鞍点等问题中非常关键。</a:t>
            </a:r>
            <a:endParaRPr lang="en-US" altLang="zh-CN" dirty="0"/>
          </a:p>
          <a:p>
            <a:pPr algn="l"/>
            <a:r>
              <a:rPr lang="en-US" altLang="zh-CN" b="1" dirty="0">
                <a:solidFill>
                  <a:srgbClr val="0F1115"/>
                </a:solidFill>
                <a:effectLst/>
                <a:latin typeface="quote-cjk-patch"/>
              </a:rPr>
              <a:t>2. </a:t>
            </a:r>
            <a:r>
              <a:rPr lang="zh-CN" altLang="en-US" b="1" dirty="0">
                <a:solidFill>
                  <a:srgbClr val="0F1115"/>
                </a:solidFill>
                <a:effectLst/>
                <a:latin typeface="quote-cjk-patch"/>
              </a:rPr>
              <a:t>影响梯度下降的收敛速度</a:t>
            </a:r>
          </a:p>
          <a:p>
            <a:pPr algn="l"/>
            <a:r>
              <a:rPr lang="zh-CN" altLang="en-US" b="0" i="0" dirty="0">
                <a:solidFill>
                  <a:srgbClr val="0F1115"/>
                </a:solidFill>
                <a:effectLst/>
                <a:latin typeface="quote-cjk-patch"/>
              </a:rPr>
              <a:t>梯度下降的收敛速度取决于损失函数在最优解附近的</a:t>
            </a:r>
            <a:r>
              <a:rPr lang="zh-CN" altLang="en-US" b="1" i="0" dirty="0">
                <a:solidFill>
                  <a:srgbClr val="0F1115"/>
                </a:solidFill>
                <a:effectLst/>
                <a:latin typeface="quote-cjk-patch"/>
              </a:rPr>
              <a:t>曲率</a:t>
            </a:r>
            <a:r>
              <a:rPr lang="zh-CN" altLang="en-US" b="0" i="0" dirty="0">
                <a:solidFill>
                  <a:srgbClr val="0F1115"/>
                </a:solidFill>
                <a:effectLst/>
                <a:latin typeface="quote-cjk-patch"/>
              </a:rPr>
              <a:t>（即海森矩阵的条件数）。</a:t>
            </a:r>
          </a:p>
          <a:p>
            <a:pPr algn="l">
              <a:buFont typeface="Arial" panose="020B0604020202020204" pitchFamily="34" charset="0"/>
              <a:buChar char="•"/>
            </a:pPr>
            <a:r>
              <a:rPr lang="zh-CN" altLang="en-US" b="1" i="0" dirty="0">
                <a:solidFill>
                  <a:srgbClr val="0F1115"/>
                </a:solidFill>
                <a:effectLst/>
                <a:latin typeface="quote-cjk-patch"/>
              </a:rPr>
              <a:t>条件数</a:t>
            </a:r>
            <a:r>
              <a:rPr lang="zh-CN" altLang="en-US" b="0" i="0" dirty="0">
                <a:solidFill>
                  <a:srgbClr val="0F1115"/>
                </a:solidFill>
                <a:effectLst/>
                <a:latin typeface="quote-cjk-patch"/>
              </a:rPr>
              <a:t> </a:t>
            </a:r>
            <a:r>
              <a:rPr lang="en-US" altLang="zh-CN" b="0" i="0" dirty="0">
                <a:solidFill>
                  <a:srgbClr val="0F1115"/>
                </a:solidFill>
                <a:effectLst/>
                <a:latin typeface="quote-cjk-patch"/>
              </a:rPr>
              <a:t>= </a:t>
            </a:r>
            <a:r>
              <a:rPr lang="zh-CN" altLang="en-US" b="0" i="0" dirty="0">
                <a:solidFill>
                  <a:srgbClr val="0F1115"/>
                </a:solidFill>
                <a:effectLst/>
                <a:latin typeface="quote-cjk-patch"/>
              </a:rPr>
              <a:t>最大特征值 </a:t>
            </a:r>
            <a:r>
              <a:rPr lang="en-US" altLang="zh-CN" b="0" i="0" dirty="0">
                <a:solidFill>
                  <a:srgbClr val="0F1115"/>
                </a:solidFill>
                <a:effectLst/>
                <a:latin typeface="quote-cjk-patch"/>
              </a:rPr>
              <a:t>/ </a:t>
            </a:r>
            <a:r>
              <a:rPr lang="zh-CN" altLang="en-US" b="0" i="0" dirty="0">
                <a:solidFill>
                  <a:srgbClr val="0F1115"/>
                </a:solidFill>
                <a:effectLst/>
                <a:latin typeface="quote-cjk-patch"/>
              </a:rPr>
              <a:t>最小特征值。</a:t>
            </a:r>
          </a:p>
          <a:p>
            <a:pPr algn="l">
              <a:buFont typeface="Arial" panose="020B0604020202020204" pitchFamily="34" charset="0"/>
              <a:buChar char="•"/>
            </a:pPr>
            <a:r>
              <a:rPr lang="zh-CN" altLang="en-US" b="0" i="0" dirty="0">
                <a:solidFill>
                  <a:srgbClr val="0F1115"/>
                </a:solidFill>
                <a:effectLst/>
                <a:latin typeface="quote-cjk-patch"/>
              </a:rPr>
              <a:t>如果海森矩阵的条件数很大（即曲面在某个方向很陡，在另一个方向很平坦），梯度下降会表现为“锯齿状”震荡，收敛很慢。</a:t>
            </a:r>
          </a:p>
        </p:txBody>
      </p:sp>
      <p:pic>
        <p:nvPicPr>
          <p:cNvPr id="1028" name="Picture 4">
            <a:extLst>
              <a:ext uri="{FF2B5EF4-FFF2-40B4-BE49-F238E27FC236}">
                <a16:creationId xmlns:a16="http://schemas.microsoft.com/office/drawing/2014/main" id="{6FD82FD1-DBD1-4DE8-B3DB-FABE63F032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59" t="11981" r="6216" b="22257"/>
          <a:stretch/>
        </p:blipFill>
        <p:spPr bwMode="auto">
          <a:xfrm>
            <a:off x="7431576" y="3837646"/>
            <a:ext cx="4632961" cy="1228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3792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65</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1440160" cy="59003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海森矩阵</a:t>
            </a:r>
            <a:r>
              <a:rPr lang="en-US" altLang="zh-CN" sz="2400" dirty="0"/>
              <a:t>(Hessian)</a:t>
            </a:r>
            <a:r>
              <a:rPr lang="zh-CN" altLang="en-US" sz="2400" dirty="0"/>
              <a:t>（二阶导数）</a:t>
            </a:r>
          </a:p>
        </p:txBody>
      </p:sp>
      <p:sp>
        <p:nvSpPr>
          <p:cNvPr id="10" name="文本框 9">
            <a:extLst>
              <a:ext uri="{FF2B5EF4-FFF2-40B4-BE49-F238E27FC236}">
                <a16:creationId xmlns:a16="http://schemas.microsoft.com/office/drawing/2014/main" id="{0BBA0C19-7E89-4B59-A9CF-80B1C6BAA58C}"/>
              </a:ext>
            </a:extLst>
          </p:cNvPr>
          <p:cNvSpPr txBox="1"/>
          <p:nvPr/>
        </p:nvSpPr>
        <p:spPr>
          <a:xfrm>
            <a:off x="325821" y="2924901"/>
            <a:ext cx="11908220" cy="3693319"/>
          </a:xfrm>
          <a:prstGeom prst="rect">
            <a:avLst/>
          </a:prstGeom>
          <a:noFill/>
        </p:spPr>
        <p:txBody>
          <a:bodyPr wrap="square" rtlCol="0">
            <a:spAutoFit/>
          </a:bodyPr>
          <a:lstStyle/>
          <a:p>
            <a:r>
              <a:rPr lang="en-US" altLang="zh-CN" b="1" dirty="0"/>
              <a:t>1. </a:t>
            </a:r>
            <a:r>
              <a:rPr lang="zh-CN" altLang="en-US" b="1" dirty="0"/>
              <a:t>判断极值点（二阶充分条件）</a:t>
            </a:r>
          </a:p>
          <a:p>
            <a:r>
              <a:rPr lang="zh-CN" altLang="en-US" dirty="0"/>
              <a:t>对于优化问题，梯度为零的点（驻点）可能是局部极小值、局部极大值或鞍点。</a:t>
            </a:r>
          </a:p>
          <a:p>
            <a:r>
              <a:rPr lang="zh-CN" altLang="en-US" b="1" dirty="0"/>
              <a:t>梯度</a:t>
            </a:r>
            <a:r>
              <a:rPr lang="zh-CN" altLang="en-US" dirty="0"/>
              <a:t>只能告诉我们“这里是平的”，但无法区分是谷底（极小值）、山顶（极大值）还是马鞍面（鞍点）。</a:t>
            </a:r>
          </a:p>
          <a:p>
            <a:r>
              <a:rPr lang="zh-CN" altLang="en-US" b="1" dirty="0"/>
              <a:t>海森矩阵</a:t>
            </a:r>
            <a:r>
              <a:rPr lang="zh-CN" altLang="en-US" dirty="0"/>
              <a:t> </a:t>
            </a:r>
            <a:r>
              <a:rPr lang="en-US" altLang="zh-CN" i="1" dirty="0"/>
              <a:t>H</a:t>
            </a:r>
            <a:r>
              <a:rPr lang="zh-CN" altLang="en-US" dirty="0"/>
              <a:t> 的正定性可以给出判断：</a:t>
            </a:r>
          </a:p>
          <a:p>
            <a:pPr lvl="1"/>
            <a:r>
              <a:rPr lang="zh-CN" altLang="en-US" dirty="0"/>
              <a:t>如果 </a:t>
            </a:r>
            <a:r>
              <a:rPr lang="en-US" altLang="zh-CN" i="1" dirty="0"/>
              <a:t>H</a:t>
            </a:r>
            <a:r>
              <a:rPr lang="zh-CN" altLang="en-US" dirty="0"/>
              <a:t> </a:t>
            </a:r>
            <a:r>
              <a:rPr lang="zh-CN" altLang="en-US" b="1" dirty="0"/>
              <a:t>正定</a:t>
            </a:r>
            <a:r>
              <a:rPr lang="zh-CN" altLang="en-US" dirty="0"/>
              <a:t>（所有特征值 </a:t>
            </a:r>
            <a:r>
              <a:rPr lang="en-US" altLang="zh-CN" dirty="0"/>
              <a:t>&gt;0</a:t>
            </a:r>
            <a:r>
              <a:rPr lang="zh-CN" altLang="en-US" dirty="0"/>
              <a:t>）：该点是局部极小值。</a:t>
            </a:r>
          </a:p>
          <a:p>
            <a:pPr lvl="1"/>
            <a:r>
              <a:rPr lang="zh-CN" altLang="en-US" dirty="0"/>
              <a:t>如果 </a:t>
            </a:r>
            <a:r>
              <a:rPr lang="en-US" altLang="zh-CN" i="1" dirty="0"/>
              <a:t>H</a:t>
            </a:r>
            <a:r>
              <a:rPr lang="zh-CN" altLang="en-US" dirty="0"/>
              <a:t> </a:t>
            </a:r>
            <a:r>
              <a:rPr lang="zh-CN" altLang="en-US" b="1" dirty="0"/>
              <a:t>负定</a:t>
            </a:r>
            <a:r>
              <a:rPr lang="zh-CN" altLang="en-US" dirty="0"/>
              <a:t>（所有特征值 </a:t>
            </a:r>
            <a:r>
              <a:rPr lang="en-US" altLang="zh-CN" dirty="0"/>
              <a:t>&lt;0</a:t>
            </a:r>
            <a:r>
              <a:rPr lang="zh-CN" altLang="en-US" dirty="0"/>
              <a:t>）：该点是局部极大值。</a:t>
            </a:r>
          </a:p>
          <a:p>
            <a:pPr lvl="1"/>
            <a:r>
              <a:rPr lang="zh-CN" altLang="en-US" dirty="0"/>
              <a:t>如果 </a:t>
            </a:r>
            <a:r>
              <a:rPr lang="en-US" altLang="zh-CN" i="1" dirty="0"/>
              <a:t>H</a:t>
            </a:r>
            <a:r>
              <a:rPr lang="zh-CN" altLang="en-US" dirty="0"/>
              <a:t> </a:t>
            </a:r>
            <a:r>
              <a:rPr lang="zh-CN" altLang="en-US" b="1" dirty="0"/>
              <a:t>不定</a:t>
            </a:r>
            <a:r>
              <a:rPr lang="zh-CN" altLang="en-US" dirty="0"/>
              <a:t>（特征值有正有负）：该点是鞍点。</a:t>
            </a:r>
          </a:p>
          <a:p>
            <a:r>
              <a:rPr lang="zh-CN" altLang="en-US" dirty="0"/>
              <a:t>这在分析损失曲面的形状、理解神经网络陷入鞍点等问题中非常关键。</a:t>
            </a:r>
            <a:endParaRPr lang="en-US" altLang="zh-CN" dirty="0"/>
          </a:p>
          <a:p>
            <a:pPr algn="l"/>
            <a:r>
              <a:rPr lang="en-US" altLang="zh-CN" b="1" dirty="0">
                <a:solidFill>
                  <a:srgbClr val="0F1115"/>
                </a:solidFill>
                <a:effectLst/>
                <a:latin typeface="quote-cjk-patch"/>
              </a:rPr>
              <a:t>2. </a:t>
            </a:r>
            <a:r>
              <a:rPr lang="zh-CN" altLang="en-US" b="1" dirty="0">
                <a:solidFill>
                  <a:srgbClr val="0F1115"/>
                </a:solidFill>
                <a:effectLst/>
                <a:latin typeface="quote-cjk-patch"/>
              </a:rPr>
              <a:t>影响梯度下降的收敛速度</a:t>
            </a:r>
          </a:p>
          <a:p>
            <a:pPr algn="l"/>
            <a:r>
              <a:rPr lang="zh-CN" altLang="en-US" b="0" i="0" dirty="0">
                <a:solidFill>
                  <a:srgbClr val="0F1115"/>
                </a:solidFill>
                <a:effectLst/>
                <a:latin typeface="quote-cjk-patch"/>
              </a:rPr>
              <a:t>梯度下降的收敛速度取决于损失函数在最优解附近的</a:t>
            </a:r>
            <a:r>
              <a:rPr lang="zh-CN" altLang="en-US" b="1" i="0" dirty="0">
                <a:solidFill>
                  <a:srgbClr val="0F1115"/>
                </a:solidFill>
                <a:effectLst/>
                <a:latin typeface="quote-cjk-patch"/>
              </a:rPr>
              <a:t>曲率</a:t>
            </a:r>
            <a:r>
              <a:rPr lang="zh-CN" altLang="en-US" b="0" i="0" dirty="0">
                <a:solidFill>
                  <a:srgbClr val="0F1115"/>
                </a:solidFill>
                <a:effectLst/>
                <a:latin typeface="quote-cjk-patch"/>
              </a:rPr>
              <a:t>（即海森矩阵的条件数）。</a:t>
            </a:r>
          </a:p>
          <a:p>
            <a:pPr algn="l">
              <a:buFont typeface="Arial" panose="020B0604020202020204" pitchFamily="34" charset="0"/>
              <a:buChar char="•"/>
            </a:pPr>
            <a:r>
              <a:rPr lang="zh-CN" altLang="en-US" b="1" i="0" dirty="0">
                <a:solidFill>
                  <a:srgbClr val="0F1115"/>
                </a:solidFill>
                <a:effectLst/>
                <a:latin typeface="quote-cjk-patch"/>
              </a:rPr>
              <a:t>条件数</a:t>
            </a:r>
            <a:r>
              <a:rPr lang="zh-CN" altLang="en-US" b="0" i="0" dirty="0">
                <a:solidFill>
                  <a:srgbClr val="0F1115"/>
                </a:solidFill>
                <a:effectLst/>
                <a:latin typeface="quote-cjk-patch"/>
              </a:rPr>
              <a:t> </a:t>
            </a:r>
            <a:r>
              <a:rPr lang="en-US" altLang="zh-CN" b="0" i="0" dirty="0">
                <a:solidFill>
                  <a:srgbClr val="0F1115"/>
                </a:solidFill>
                <a:effectLst/>
                <a:latin typeface="quote-cjk-patch"/>
              </a:rPr>
              <a:t>= </a:t>
            </a:r>
            <a:r>
              <a:rPr lang="zh-CN" altLang="en-US" b="0" i="0" dirty="0">
                <a:solidFill>
                  <a:srgbClr val="0F1115"/>
                </a:solidFill>
                <a:effectLst/>
                <a:latin typeface="quote-cjk-patch"/>
              </a:rPr>
              <a:t>最大特征值 </a:t>
            </a:r>
            <a:r>
              <a:rPr lang="en-US" altLang="zh-CN" b="0" i="0" dirty="0">
                <a:solidFill>
                  <a:srgbClr val="0F1115"/>
                </a:solidFill>
                <a:effectLst/>
                <a:latin typeface="quote-cjk-patch"/>
              </a:rPr>
              <a:t>/ </a:t>
            </a:r>
            <a:r>
              <a:rPr lang="zh-CN" altLang="en-US" b="0" i="0" dirty="0">
                <a:solidFill>
                  <a:srgbClr val="0F1115"/>
                </a:solidFill>
                <a:effectLst/>
                <a:latin typeface="quote-cjk-patch"/>
              </a:rPr>
              <a:t>最小特征值。</a:t>
            </a:r>
          </a:p>
          <a:p>
            <a:pPr algn="l">
              <a:buFont typeface="Arial" panose="020B0604020202020204" pitchFamily="34" charset="0"/>
              <a:buChar char="•"/>
            </a:pPr>
            <a:r>
              <a:rPr lang="zh-CN" altLang="en-US" b="0" i="0" dirty="0">
                <a:solidFill>
                  <a:srgbClr val="0F1115"/>
                </a:solidFill>
                <a:effectLst/>
                <a:latin typeface="quote-cjk-patch"/>
              </a:rPr>
              <a:t>如果海森矩阵的条件数很大（即曲面在某个方向很陡，在另一个方向很平坦），梯度下降会表现为“锯齿状”震荡，收敛很慢。</a:t>
            </a:r>
          </a:p>
        </p:txBody>
      </p:sp>
      <p:pic>
        <p:nvPicPr>
          <p:cNvPr id="4" name="图片 3">
            <a:extLst>
              <a:ext uri="{FF2B5EF4-FFF2-40B4-BE49-F238E27FC236}">
                <a16:creationId xmlns:a16="http://schemas.microsoft.com/office/drawing/2014/main" id="{AAD57569-A474-44E1-9817-63AF513B0935}"/>
              </a:ext>
            </a:extLst>
          </p:cNvPr>
          <p:cNvPicPr>
            <a:picLocks noChangeAspect="1"/>
          </p:cNvPicPr>
          <p:nvPr/>
        </p:nvPicPr>
        <p:blipFill>
          <a:blip r:embed="rId3"/>
          <a:stretch>
            <a:fillRect/>
          </a:stretch>
        </p:blipFill>
        <p:spPr>
          <a:xfrm>
            <a:off x="122620" y="2043639"/>
            <a:ext cx="11988800" cy="3934691"/>
          </a:xfrm>
          <a:prstGeom prst="rect">
            <a:avLst/>
          </a:prstGeom>
        </p:spPr>
      </p:pic>
    </p:spTree>
    <p:extLst>
      <p:ext uri="{BB962C8B-B14F-4D97-AF65-F5344CB8AC3E}">
        <p14:creationId xmlns:p14="http://schemas.microsoft.com/office/powerpoint/2010/main" val="1638056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66</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1440160" cy="59003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海森矩阵</a:t>
            </a:r>
            <a:r>
              <a:rPr lang="en-US" altLang="zh-CN" sz="2400" dirty="0"/>
              <a:t>(Hessian)</a:t>
            </a:r>
            <a:r>
              <a:rPr lang="zh-CN" altLang="en-US" sz="2400" dirty="0"/>
              <a:t>（二阶导数）</a:t>
            </a:r>
          </a:p>
        </p:txBody>
      </p:sp>
      <p:sp>
        <p:nvSpPr>
          <p:cNvPr id="10" name="文本框 9">
            <a:extLst>
              <a:ext uri="{FF2B5EF4-FFF2-40B4-BE49-F238E27FC236}">
                <a16:creationId xmlns:a16="http://schemas.microsoft.com/office/drawing/2014/main" id="{0BBA0C19-7E89-4B59-A9CF-80B1C6BAA58C}"/>
              </a:ext>
            </a:extLst>
          </p:cNvPr>
          <p:cNvSpPr txBox="1"/>
          <p:nvPr/>
        </p:nvSpPr>
        <p:spPr>
          <a:xfrm>
            <a:off x="749738" y="3066277"/>
            <a:ext cx="10138979" cy="1015663"/>
          </a:xfrm>
          <a:prstGeom prst="rect">
            <a:avLst/>
          </a:prstGeom>
          <a:noFill/>
        </p:spPr>
        <p:txBody>
          <a:bodyPr wrap="square" rtlCol="0">
            <a:spAutoFit/>
          </a:bodyPr>
          <a:lstStyle/>
          <a:p>
            <a:r>
              <a:rPr lang="zh-CN" altLang="en-US" sz="2000" b="0" i="0" dirty="0">
                <a:solidFill>
                  <a:srgbClr val="0F1115"/>
                </a:solidFill>
                <a:effectLst/>
                <a:latin typeface="quote-cjk-patch"/>
              </a:rPr>
              <a:t>海森矩阵的规模是参数数量的平方，对于深度网络（数百万甚至数十亿参数）完全不可存储和求逆。因此，实践中几乎从不直接使用海森矩阵，而是用其近似（如 </a:t>
            </a:r>
            <a:r>
              <a:rPr lang="en" altLang="zh-CN" sz="2000" b="0" i="0" dirty="0">
                <a:solidFill>
                  <a:srgbClr val="0F1115"/>
                </a:solidFill>
                <a:effectLst/>
                <a:latin typeface="quote-cjk-patch"/>
              </a:rPr>
              <a:t>Adam </a:t>
            </a:r>
            <a:r>
              <a:rPr lang="zh-CN" altLang="en-US" sz="2000" b="0" i="0" dirty="0">
                <a:solidFill>
                  <a:srgbClr val="0F1115"/>
                </a:solidFill>
                <a:effectLst/>
                <a:latin typeface="quote-cjk-patch"/>
              </a:rPr>
              <a:t>的动量）或避免使用二阶信息</a:t>
            </a:r>
            <a:endParaRPr lang="zh-CN" altLang="en-US" sz="2000" dirty="0"/>
          </a:p>
        </p:txBody>
      </p:sp>
    </p:spTree>
    <p:extLst>
      <p:ext uri="{BB962C8B-B14F-4D97-AF65-F5344CB8AC3E}">
        <p14:creationId xmlns:p14="http://schemas.microsoft.com/office/powerpoint/2010/main" val="465616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67</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sp>
        <p:nvSpPr>
          <p:cNvPr id="12" name="文本框 11">
            <a:extLst>
              <a:ext uri="{FF2B5EF4-FFF2-40B4-BE49-F238E27FC236}">
                <a16:creationId xmlns:a16="http://schemas.microsoft.com/office/drawing/2014/main" id="{38D2437A-99B8-4F7A-B0F8-568E7DCC248B}"/>
              </a:ext>
            </a:extLst>
          </p:cNvPr>
          <p:cNvSpPr txBox="1"/>
          <p:nvPr/>
        </p:nvSpPr>
        <p:spPr>
          <a:xfrm>
            <a:off x="591206" y="4633910"/>
            <a:ext cx="9440917" cy="1569660"/>
          </a:xfrm>
          <a:prstGeom prst="rect">
            <a:avLst/>
          </a:prstGeom>
          <a:noFill/>
        </p:spPr>
        <p:txBody>
          <a:bodyPr wrap="square">
            <a:spAutoFit/>
          </a:bodyPr>
          <a:lstStyle/>
          <a:p>
            <a:r>
              <a:rPr lang="zh-CN" altLang="en-US" sz="2400" b="1" i="0" dirty="0">
                <a:solidFill>
                  <a:srgbClr val="0F1115"/>
                </a:solidFill>
                <a:effectLst/>
                <a:latin typeface="quote-cjk-patch"/>
              </a:rPr>
              <a:t>链式法则是神经网络基于梯度反向传播进行训练的核心</a:t>
            </a:r>
            <a:r>
              <a:rPr lang="zh-CN" altLang="en-US" sz="2400" b="0" i="0" dirty="0">
                <a:solidFill>
                  <a:srgbClr val="0F1115"/>
                </a:solidFill>
                <a:effectLst/>
                <a:latin typeface="quote-cjk-patch"/>
              </a:rPr>
              <a:t>：</a:t>
            </a:r>
            <a:endParaRPr lang="en-US" altLang="zh-CN" sz="2400" b="0" i="0" dirty="0">
              <a:solidFill>
                <a:srgbClr val="0F1115"/>
              </a:solidFill>
              <a:effectLst/>
              <a:latin typeface="quote-cjk-patch"/>
            </a:endParaRPr>
          </a:p>
          <a:p>
            <a:endParaRPr lang="en-US" altLang="zh-CN" sz="2400" b="0" i="0" dirty="0">
              <a:solidFill>
                <a:srgbClr val="0F1115"/>
              </a:solidFill>
              <a:effectLst/>
              <a:latin typeface="quote-cjk-patch"/>
            </a:endParaRPr>
          </a:p>
          <a:p>
            <a:r>
              <a:rPr lang="zh-CN" altLang="en-US" sz="2400" b="0" i="0" dirty="0">
                <a:solidFill>
                  <a:srgbClr val="C00000"/>
                </a:solidFill>
                <a:effectLst/>
                <a:latin typeface="quote-cjk-patch"/>
              </a:rPr>
              <a:t>损失函数对参数的梯度可以分解为从输出到输入的多个局部梯度的乘积，每个局部梯度容易计算</a:t>
            </a:r>
            <a:endParaRPr lang="zh-CN" altLang="en-US" sz="2400" dirty="0">
              <a:solidFill>
                <a:srgbClr val="C00000"/>
              </a:solidFill>
            </a:endParaRPr>
          </a:p>
        </p:txBody>
      </p:sp>
      <p:pic>
        <p:nvPicPr>
          <p:cNvPr id="5" name="图片 4">
            <a:extLst>
              <a:ext uri="{FF2B5EF4-FFF2-40B4-BE49-F238E27FC236}">
                <a16:creationId xmlns:a16="http://schemas.microsoft.com/office/drawing/2014/main" id="{0014A6E9-6F82-4FBC-9BE8-255D03DC72A1}"/>
              </a:ext>
            </a:extLst>
          </p:cNvPr>
          <p:cNvPicPr>
            <a:picLocks noChangeAspect="1"/>
          </p:cNvPicPr>
          <p:nvPr/>
        </p:nvPicPr>
        <p:blipFill>
          <a:blip r:embed="rId3"/>
          <a:stretch>
            <a:fillRect/>
          </a:stretch>
        </p:blipFill>
        <p:spPr>
          <a:xfrm>
            <a:off x="6021726" y="2591300"/>
            <a:ext cx="6105255" cy="1617726"/>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D36AEE0-B87B-7E49-BD59-EB21E26DBAD1}"/>
                  </a:ext>
                </a:extLst>
              </p:cNvPr>
              <p:cNvSpPr txBox="1"/>
              <p:nvPr/>
            </p:nvSpPr>
            <p:spPr>
              <a:xfrm>
                <a:off x="301646" y="2432216"/>
                <a:ext cx="11440160" cy="199362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solidFill>
                      <a:srgbClr val="C00000"/>
                    </a:solidFill>
                  </a:rPr>
                  <a:t>复合函数的链式法则：</a:t>
                </a:r>
                <a:r>
                  <a:rPr lang="en-US" altLang="zh-CN" sz="2400" b="0" dirty="0">
                    <a:solidFill>
                      <a:srgbClr val="C00000"/>
                    </a:solidFill>
                  </a:rPr>
                  <a:t> </a:t>
                </a:r>
                <a14:m>
                  <m:oMath xmlns:m="http://schemas.openxmlformats.org/officeDocument/2006/math">
                    <m:r>
                      <a:rPr lang="en-US" altLang="zh-CN" sz="2400" b="0" i="1" smtClean="0">
                        <a:solidFill>
                          <a:srgbClr val="C00000"/>
                        </a:solidFill>
                        <a:latin typeface="Cambria Math" panose="02040503050406030204" pitchFamily="18" charset="0"/>
                      </a:rPr>
                      <m:t>h</m:t>
                    </m:r>
                    <m:d>
                      <m:dPr>
                        <m:ctrlPr>
                          <a:rPr lang="en-US" altLang="zh-CN" sz="2400" b="0" i="1" smtClean="0">
                            <a:solidFill>
                              <a:srgbClr val="C00000"/>
                            </a:solidFill>
                            <a:latin typeface="Cambria Math" panose="02040503050406030204" pitchFamily="18" charset="0"/>
                          </a:rPr>
                        </m:ctrlPr>
                      </m:dPr>
                      <m:e>
                        <m:r>
                          <a:rPr lang="en-US" altLang="zh-CN" sz="2400" b="0" i="1" smtClean="0">
                            <a:solidFill>
                              <a:srgbClr val="C00000"/>
                            </a:solidFill>
                            <a:latin typeface="Cambria Math" panose="02040503050406030204" pitchFamily="18" charset="0"/>
                          </a:rPr>
                          <m:t>𝑥</m:t>
                        </m:r>
                      </m:e>
                    </m:d>
                    <m:r>
                      <a:rPr lang="en-US" altLang="zh-CN" sz="2400" b="0" i="1" smtClean="0">
                        <a:solidFill>
                          <a:srgbClr val="C00000"/>
                        </a:solidFill>
                        <a:latin typeface="Cambria Math" panose="02040503050406030204" pitchFamily="18" charset="0"/>
                      </a:rPr>
                      <m:t>=</m:t>
                    </m:r>
                    <m:r>
                      <a:rPr lang="en-US" altLang="zh-CN" sz="2400" b="0" i="1" smtClean="0">
                        <a:solidFill>
                          <a:srgbClr val="C00000"/>
                        </a:solidFill>
                        <a:latin typeface="Cambria Math" panose="02040503050406030204" pitchFamily="18" charset="0"/>
                      </a:rPr>
                      <m:t>𝑓</m:t>
                    </m:r>
                    <m:d>
                      <m:dPr>
                        <m:ctrlPr>
                          <a:rPr lang="en-US" altLang="zh-CN" sz="2400" b="0" i="1" smtClean="0">
                            <a:solidFill>
                              <a:srgbClr val="C00000"/>
                            </a:solidFill>
                            <a:latin typeface="Cambria Math" panose="02040503050406030204" pitchFamily="18" charset="0"/>
                          </a:rPr>
                        </m:ctrlPr>
                      </m:dPr>
                      <m:e>
                        <m:r>
                          <a:rPr lang="en-US" altLang="zh-CN" sz="2400" b="0" i="1" smtClean="0">
                            <a:solidFill>
                              <a:srgbClr val="C00000"/>
                            </a:solidFill>
                            <a:latin typeface="Cambria Math" panose="02040503050406030204" pitchFamily="18" charset="0"/>
                          </a:rPr>
                          <m:t>𝑔</m:t>
                        </m:r>
                        <m:d>
                          <m:dPr>
                            <m:ctrlPr>
                              <a:rPr lang="en-US" altLang="zh-CN" sz="2400" b="0" i="1" smtClean="0">
                                <a:solidFill>
                                  <a:srgbClr val="C00000"/>
                                </a:solidFill>
                                <a:latin typeface="Cambria Math" panose="02040503050406030204" pitchFamily="18" charset="0"/>
                              </a:rPr>
                            </m:ctrlPr>
                          </m:dPr>
                          <m:e>
                            <m:r>
                              <a:rPr lang="en-US" altLang="zh-CN" sz="2400" b="0" i="1" smtClean="0">
                                <a:solidFill>
                                  <a:srgbClr val="C00000"/>
                                </a:solidFill>
                                <a:latin typeface="Cambria Math" panose="02040503050406030204" pitchFamily="18" charset="0"/>
                              </a:rPr>
                              <m:t>𝑥</m:t>
                            </m:r>
                          </m:e>
                        </m:d>
                      </m:e>
                    </m:d>
                  </m:oMath>
                </a14:m>
                <a:endParaRPr lang="en-US" altLang="zh-CN" sz="2400" dirty="0"/>
              </a:p>
              <a:p>
                <a:pPr marL="800100" lvl="1" indent="-342900">
                  <a:buFont typeface="Wingdings" pitchFamily="2" charset="2"/>
                  <a:buChar char="p"/>
                </a:pPr>
                <a:r>
                  <a:rPr lang="zh-CN" altLang="en-US" sz="2400" dirty="0"/>
                  <a:t>梯度：</a:t>
                </a:r>
                <a14:m>
                  <m:oMath xmlns:m="http://schemas.openxmlformats.org/officeDocument/2006/math">
                    <m:sSup>
                      <m:sSupPr>
                        <m:ctrlPr>
                          <a:rPr lang="en-US" altLang="zh-CN" sz="2400" b="0" i="1" smtClean="0">
                            <a:latin typeface="Cambria Math" panose="02040503050406030204" pitchFamily="18" charset="0"/>
                            <a:ea typeface="Verdana" panose="020B0604030504040204" pitchFamily="34" charset="0"/>
                          </a:rPr>
                        </m:ctrlPr>
                      </m:sSupPr>
                      <m:e>
                        <m:r>
                          <a:rPr lang="en-US" altLang="zh-CN" sz="2400" b="0" i="1" smtClean="0">
                            <a:latin typeface="Cambria Math" panose="02040503050406030204" pitchFamily="18" charset="0"/>
                            <a:ea typeface="Verdana" panose="020B0604030504040204" pitchFamily="34" charset="0"/>
                          </a:rPr>
                          <m:t>h</m:t>
                        </m:r>
                      </m:e>
                      <m:sup>
                        <m:r>
                          <a:rPr lang="en-US" altLang="zh-CN" sz="2400" b="0" i="1" smtClean="0">
                            <a:latin typeface="Cambria Math" panose="02040503050406030204" pitchFamily="18" charset="0"/>
                            <a:ea typeface="Verdana" panose="020B0604030504040204" pitchFamily="34" charset="0"/>
                          </a:rPr>
                          <m:t>′</m:t>
                        </m:r>
                      </m:sup>
                    </m:sSup>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𝑥</m:t>
                        </m:r>
                      </m:e>
                    </m:d>
                    <m:r>
                      <a:rPr lang="en-US" altLang="zh-CN" sz="2400" b="0" i="1" smtClean="0">
                        <a:latin typeface="Cambria Math" panose="02040503050406030204" pitchFamily="18" charset="0"/>
                        <a:ea typeface="Verdana" panose="020B0604030504040204" pitchFamily="34" charset="0"/>
                      </a:rPr>
                      <m:t>=</m:t>
                    </m:r>
                    <m:sSup>
                      <m:sSupPr>
                        <m:ctrlPr>
                          <a:rPr lang="en-US" altLang="zh-CN" sz="2400" b="0" i="1" smtClean="0">
                            <a:latin typeface="Cambria Math" panose="02040503050406030204" pitchFamily="18" charset="0"/>
                            <a:ea typeface="Verdana" panose="020B0604030504040204" pitchFamily="34" charset="0"/>
                          </a:rPr>
                        </m:ctrlPr>
                      </m:sSupPr>
                      <m:e>
                        <m:r>
                          <a:rPr lang="en-US" altLang="zh-CN" sz="2400" b="0" i="1" smtClean="0">
                            <a:latin typeface="Cambria Math" panose="02040503050406030204" pitchFamily="18" charset="0"/>
                            <a:ea typeface="Verdana" panose="020B0604030504040204" pitchFamily="34" charset="0"/>
                          </a:rPr>
                          <m:t>𝑓</m:t>
                        </m:r>
                      </m:e>
                      <m:sup>
                        <m:r>
                          <a:rPr lang="en-US" altLang="zh-CN" sz="2400" b="0" i="1" smtClean="0">
                            <a:latin typeface="Cambria Math" panose="02040503050406030204" pitchFamily="18" charset="0"/>
                            <a:ea typeface="Verdana" panose="020B0604030504040204" pitchFamily="34" charset="0"/>
                          </a:rPr>
                          <m:t>′</m:t>
                        </m:r>
                      </m:sup>
                    </m:sSup>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𝑔</m:t>
                        </m:r>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𝑥</m:t>
                            </m:r>
                          </m:e>
                        </m:d>
                      </m:e>
                    </m:d>
                    <m:sSup>
                      <m:sSupPr>
                        <m:ctrlPr>
                          <a:rPr lang="en-US" altLang="zh-CN" sz="2400" b="0" i="1" smtClean="0">
                            <a:latin typeface="Cambria Math" panose="02040503050406030204" pitchFamily="18" charset="0"/>
                            <a:ea typeface="Verdana" panose="020B0604030504040204" pitchFamily="34" charset="0"/>
                          </a:rPr>
                        </m:ctrlPr>
                      </m:sSupPr>
                      <m:e>
                        <m:r>
                          <a:rPr lang="en-US" altLang="zh-CN" sz="2400" b="0" i="1" smtClean="0">
                            <a:latin typeface="Cambria Math" panose="02040503050406030204" pitchFamily="18" charset="0"/>
                            <a:ea typeface="Verdana" panose="020B0604030504040204" pitchFamily="34" charset="0"/>
                          </a:rPr>
                          <m:t>𝑔</m:t>
                        </m:r>
                      </m:e>
                      <m:sup>
                        <m:r>
                          <a:rPr lang="en-US" altLang="zh-CN" sz="2400" b="0" i="1" smtClean="0">
                            <a:latin typeface="Cambria Math" panose="02040503050406030204" pitchFamily="18" charset="0"/>
                            <a:ea typeface="Verdana" panose="020B0604030504040204" pitchFamily="34" charset="0"/>
                          </a:rPr>
                          <m:t>′</m:t>
                        </m:r>
                      </m:sup>
                    </m:sSup>
                    <m:r>
                      <a:rPr lang="en-US" altLang="zh-CN" sz="2400" b="0" i="1" smtClean="0">
                        <a:latin typeface="Cambria Math" panose="02040503050406030204" pitchFamily="18" charset="0"/>
                        <a:ea typeface="Verdana" panose="020B0604030504040204" pitchFamily="34" charset="0"/>
                      </a:rPr>
                      <m:t>(</m:t>
                    </m:r>
                    <m:r>
                      <a:rPr lang="en-US" altLang="zh-CN" sz="2400" b="0" i="1" smtClean="0">
                        <a:latin typeface="Cambria Math" panose="02040503050406030204" pitchFamily="18" charset="0"/>
                        <a:ea typeface="Verdana" panose="020B0604030504040204" pitchFamily="34" charset="0"/>
                      </a:rPr>
                      <m:t>𝑥</m:t>
                    </m:r>
                    <m:r>
                      <a:rPr lang="en-US" altLang="zh-CN" sz="2400" b="0" i="1" smtClean="0">
                        <a:latin typeface="Cambria Math" panose="02040503050406030204" pitchFamily="18" charset="0"/>
                        <a:ea typeface="Verdana" panose="020B0604030504040204" pitchFamily="34" charset="0"/>
                      </a:rPr>
                      <m:t>)</m:t>
                    </m:r>
                  </m:oMath>
                </a14:m>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r>
                  <a:rPr lang="zh-CN" altLang="en-US" sz="2400" dirty="0"/>
                  <a:t>海森：</a:t>
                </a:r>
                <a14:m>
                  <m:oMath xmlns:m="http://schemas.openxmlformats.org/officeDocument/2006/math">
                    <m:sSup>
                      <m:sSupPr>
                        <m:ctrlPr>
                          <a:rPr lang="en-US" altLang="zh-CN" sz="2400" b="0" i="1" smtClean="0">
                            <a:latin typeface="Cambria Math" panose="02040503050406030204" pitchFamily="18" charset="0"/>
                            <a:ea typeface="Verdana" panose="020B0604030504040204" pitchFamily="34" charset="0"/>
                          </a:rPr>
                        </m:ctrlPr>
                      </m:sSupPr>
                      <m:e>
                        <m:r>
                          <a:rPr lang="en-US" altLang="zh-CN" sz="2400" b="0" i="1" smtClean="0">
                            <a:latin typeface="Cambria Math" panose="02040503050406030204" pitchFamily="18" charset="0"/>
                            <a:ea typeface="Verdana" panose="020B0604030504040204" pitchFamily="34" charset="0"/>
                          </a:rPr>
                          <m:t>h</m:t>
                        </m:r>
                      </m:e>
                      <m:sup>
                        <m:r>
                          <a:rPr lang="en-US" altLang="zh-CN" sz="2400" b="0" i="1" smtClean="0">
                            <a:latin typeface="Cambria Math" panose="02040503050406030204" pitchFamily="18" charset="0"/>
                            <a:ea typeface="Verdana" panose="020B0604030504040204" pitchFamily="34" charset="0"/>
                          </a:rPr>
                          <m:t>′′</m:t>
                        </m:r>
                      </m:sup>
                    </m:sSup>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𝑥</m:t>
                        </m:r>
                      </m:e>
                    </m:d>
                    <m:r>
                      <a:rPr lang="en-US" altLang="zh-CN" sz="2400" b="0" i="1" smtClean="0">
                        <a:latin typeface="Cambria Math" panose="02040503050406030204" pitchFamily="18" charset="0"/>
                        <a:ea typeface="Verdana" panose="020B0604030504040204" pitchFamily="34" charset="0"/>
                      </a:rPr>
                      <m:t>=</m:t>
                    </m:r>
                    <m:sSup>
                      <m:sSupPr>
                        <m:ctrlPr>
                          <a:rPr lang="en-US" altLang="zh-CN" sz="2400" b="0" i="1" smtClean="0">
                            <a:latin typeface="Cambria Math" panose="02040503050406030204" pitchFamily="18" charset="0"/>
                            <a:ea typeface="Verdana" panose="020B0604030504040204" pitchFamily="34" charset="0"/>
                          </a:rPr>
                        </m:ctrlPr>
                      </m:sSupPr>
                      <m:e>
                        <m:r>
                          <a:rPr lang="en-US" altLang="zh-CN" sz="2400" b="0" i="1" smtClean="0">
                            <a:latin typeface="Cambria Math" panose="02040503050406030204" pitchFamily="18" charset="0"/>
                            <a:ea typeface="Verdana" panose="020B0604030504040204" pitchFamily="34" charset="0"/>
                          </a:rPr>
                          <m:t>𝑓</m:t>
                        </m:r>
                      </m:e>
                      <m:sup>
                        <m:r>
                          <a:rPr lang="en-US" altLang="zh-CN" sz="2400" b="0" i="1" smtClean="0">
                            <a:latin typeface="Cambria Math" panose="02040503050406030204" pitchFamily="18" charset="0"/>
                            <a:ea typeface="Verdana" panose="020B0604030504040204" pitchFamily="34" charset="0"/>
                          </a:rPr>
                          <m:t>′′</m:t>
                        </m:r>
                      </m:sup>
                    </m:sSup>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𝑔</m:t>
                        </m:r>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𝑥</m:t>
                            </m:r>
                          </m:e>
                        </m:d>
                      </m:e>
                    </m:d>
                    <m:sSup>
                      <m:sSupPr>
                        <m:ctrlPr>
                          <a:rPr lang="en-US" altLang="zh-CN" sz="2400" b="0" i="1" smtClean="0">
                            <a:latin typeface="Cambria Math" panose="02040503050406030204" pitchFamily="18" charset="0"/>
                            <a:ea typeface="Verdana" panose="020B0604030504040204" pitchFamily="34" charset="0"/>
                          </a:rPr>
                        </m:ctrlPr>
                      </m:sSupPr>
                      <m:e>
                        <m:d>
                          <m:dPr>
                            <m:ctrlPr>
                              <a:rPr lang="en-US" altLang="zh-CN" sz="2400" b="0" i="1" smtClean="0">
                                <a:latin typeface="Cambria Math" panose="02040503050406030204" pitchFamily="18" charset="0"/>
                                <a:ea typeface="Verdana" panose="020B0604030504040204" pitchFamily="34" charset="0"/>
                              </a:rPr>
                            </m:ctrlPr>
                          </m:dPr>
                          <m:e>
                            <m:sSup>
                              <m:sSupPr>
                                <m:ctrlPr>
                                  <a:rPr lang="en-US" altLang="zh-CN" sz="2400" b="0" i="1" smtClean="0">
                                    <a:latin typeface="Cambria Math" panose="02040503050406030204" pitchFamily="18" charset="0"/>
                                    <a:ea typeface="Verdana" panose="020B0604030504040204" pitchFamily="34" charset="0"/>
                                  </a:rPr>
                                </m:ctrlPr>
                              </m:sSupPr>
                              <m:e>
                                <m:r>
                                  <a:rPr lang="en-US" altLang="zh-CN" sz="2400" b="0" i="1" smtClean="0">
                                    <a:latin typeface="Cambria Math" panose="02040503050406030204" pitchFamily="18" charset="0"/>
                                    <a:ea typeface="Verdana" panose="020B0604030504040204" pitchFamily="34" charset="0"/>
                                  </a:rPr>
                                  <m:t>𝑔</m:t>
                                </m:r>
                              </m:e>
                              <m:sup>
                                <m:r>
                                  <a:rPr lang="en-US" altLang="zh-CN" sz="2400" b="0" i="1" smtClean="0">
                                    <a:latin typeface="Cambria Math" panose="02040503050406030204" pitchFamily="18" charset="0"/>
                                    <a:ea typeface="Verdana" panose="020B0604030504040204" pitchFamily="34" charset="0"/>
                                  </a:rPr>
                                  <m:t>′</m:t>
                                </m:r>
                              </m:sup>
                            </m:sSup>
                            <m:d>
                              <m:dPr>
                                <m:ctrlPr>
                                  <a:rPr lang="en-US" altLang="zh-CN" sz="2400" b="0" i="1" smtClean="0">
                                    <a:latin typeface="Cambria Math" panose="02040503050406030204" pitchFamily="18" charset="0"/>
                                    <a:ea typeface="Verdana" panose="020B0604030504040204" pitchFamily="34" charset="0"/>
                                  </a:rPr>
                                </m:ctrlPr>
                              </m:dPr>
                              <m:e>
                                <m:r>
                                  <a:rPr lang="en-US" altLang="zh-CN" sz="2400" b="0" i="1" smtClean="0">
                                    <a:latin typeface="Cambria Math" panose="02040503050406030204" pitchFamily="18" charset="0"/>
                                    <a:ea typeface="Verdana" panose="020B0604030504040204" pitchFamily="34" charset="0"/>
                                  </a:rPr>
                                  <m:t>𝑥</m:t>
                                </m:r>
                              </m:e>
                            </m:d>
                          </m:e>
                        </m:d>
                      </m:e>
                      <m:sup>
                        <m:r>
                          <a:rPr lang="en-US" altLang="zh-CN" sz="2400" b="0" i="1" smtClean="0">
                            <a:latin typeface="Cambria Math" panose="02040503050406030204" pitchFamily="18" charset="0"/>
                            <a:ea typeface="Verdana" panose="020B0604030504040204" pitchFamily="34" charset="0"/>
                          </a:rPr>
                          <m:t>2</m:t>
                        </m:r>
                      </m:sup>
                    </m:sSup>
                    <m:r>
                      <a:rPr lang="en-US" altLang="zh-CN" sz="2400" b="0" i="1" smtClean="0">
                        <a:latin typeface="Cambria Math" panose="02040503050406030204" pitchFamily="18" charset="0"/>
                        <a:ea typeface="Verdana" panose="020B0604030504040204" pitchFamily="34" charset="0"/>
                      </a:rPr>
                      <m:t>+</m:t>
                    </m:r>
                    <m:sSup>
                      <m:sSupPr>
                        <m:ctrlPr>
                          <a:rPr lang="en-US" altLang="zh-CN" sz="2400" i="1">
                            <a:latin typeface="Cambria Math" panose="02040503050406030204" pitchFamily="18" charset="0"/>
                            <a:ea typeface="Verdana" panose="020B0604030504040204" pitchFamily="34" charset="0"/>
                          </a:rPr>
                        </m:ctrlPr>
                      </m:sSupPr>
                      <m:e>
                        <m:r>
                          <a:rPr lang="en-US" altLang="zh-CN" sz="2400" i="1">
                            <a:latin typeface="Cambria Math" panose="02040503050406030204" pitchFamily="18" charset="0"/>
                            <a:ea typeface="Verdana" panose="020B0604030504040204" pitchFamily="34" charset="0"/>
                          </a:rPr>
                          <m:t>𝑓</m:t>
                        </m:r>
                      </m:e>
                      <m:sup>
                        <m:r>
                          <a:rPr lang="en-US" altLang="zh-CN" sz="2400" i="1">
                            <a:latin typeface="Cambria Math" panose="02040503050406030204" pitchFamily="18" charset="0"/>
                            <a:ea typeface="Verdana" panose="020B0604030504040204" pitchFamily="34" charset="0"/>
                          </a:rPr>
                          <m:t>′</m:t>
                        </m:r>
                      </m:sup>
                    </m:sSup>
                    <m:d>
                      <m:dPr>
                        <m:ctrlPr>
                          <a:rPr lang="en-US" altLang="zh-CN" sz="2400" i="1">
                            <a:latin typeface="Cambria Math" panose="02040503050406030204" pitchFamily="18" charset="0"/>
                            <a:ea typeface="Verdana" panose="020B0604030504040204" pitchFamily="34" charset="0"/>
                          </a:rPr>
                        </m:ctrlPr>
                      </m:dPr>
                      <m:e>
                        <m:r>
                          <a:rPr lang="en-US" altLang="zh-CN" sz="2400" i="1">
                            <a:latin typeface="Cambria Math" panose="02040503050406030204" pitchFamily="18" charset="0"/>
                            <a:ea typeface="Verdana" panose="020B0604030504040204" pitchFamily="34" charset="0"/>
                          </a:rPr>
                          <m:t>𝑔</m:t>
                        </m:r>
                        <m:d>
                          <m:dPr>
                            <m:ctrlPr>
                              <a:rPr lang="en-US" altLang="zh-CN" sz="2400" i="1">
                                <a:latin typeface="Cambria Math" panose="02040503050406030204" pitchFamily="18" charset="0"/>
                                <a:ea typeface="Verdana" panose="020B0604030504040204" pitchFamily="34" charset="0"/>
                              </a:rPr>
                            </m:ctrlPr>
                          </m:dPr>
                          <m:e>
                            <m:r>
                              <a:rPr lang="en-US" altLang="zh-CN" sz="2400" i="1">
                                <a:latin typeface="Cambria Math" panose="02040503050406030204" pitchFamily="18" charset="0"/>
                                <a:ea typeface="Verdana" panose="020B0604030504040204" pitchFamily="34" charset="0"/>
                              </a:rPr>
                              <m:t>𝑥</m:t>
                            </m:r>
                          </m:e>
                        </m:d>
                      </m:e>
                    </m:d>
                    <m:sSup>
                      <m:sSupPr>
                        <m:ctrlPr>
                          <a:rPr lang="en-US" altLang="zh-CN" sz="2400" i="1">
                            <a:latin typeface="Cambria Math" panose="02040503050406030204" pitchFamily="18" charset="0"/>
                            <a:ea typeface="Verdana" panose="020B0604030504040204" pitchFamily="34" charset="0"/>
                          </a:rPr>
                        </m:ctrlPr>
                      </m:sSupPr>
                      <m:e>
                        <m:r>
                          <a:rPr lang="en-US" altLang="zh-CN" sz="2400" i="1">
                            <a:latin typeface="Cambria Math" panose="02040503050406030204" pitchFamily="18" charset="0"/>
                            <a:ea typeface="Verdana" panose="020B0604030504040204" pitchFamily="34" charset="0"/>
                          </a:rPr>
                          <m:t>𝑔</m:t>
                        </m:r>
                      </m:e>
                      <m:sup>
                        <m:r>
                          <a:rPr lang="en-US" altLang="zh-CN" sz="2400" i="1">
                            <a:latin typeface="Cambria Math" panose="02040503050406030204" pitchFamily="18" charset="0"/>
                            <a:ea typeface="Verdana" panose="020B0604030504040204" pitchFamily="34" charset="0"/>
                          </a:rPr>
                          <m:t>′</m:t>
                        </m:r>
                        <m:r>
                          <a:rPr lang="en-US" altLang="zh-CN" sz="2400" b="0" i="1" smtClean="0">
                            <a:latin typeface="Cambria Math" panose="02040503050406030204" pitchFamily="18" charset="0"/>
                            <a:ea typeface="Verdana" panose="020B0604030504040204" pitchFamily="34" charset="0"/>
                          </a:rPr>
                          <m:t>′</m:t>
                        </m:r>
                      </m:sup>
                    </m:sSup>
                    <m:r>
                      <a:rPr lang="en-US" altLang="zh-CN" sz="2400" i="1">
                        <a:latin typeface="Cambria Math" panose="02040503050406030204" pitchFamily="18" charset="0"/>
                        <a:ea typeface="Verdana" panose="020B0604030504040204" pitchFamily="34" charset="0"/>
                      </a:rPr>
                      <m:t>(</m:t>
                    </m:r>
                    <m:r>
                      <a:rPr lang="en-US" altLang="zh-CN" sz="2400" i="1">
                        <a:latin typeface="Cambria Math" panose="02040503050406030204" pitchFamily="18" charset="0"/>
                        <a:ea typeface="Verdana" panose="020B0604030504040204" pitchFamily="34" charset="0"/>
                      </a:rPr>
                      <m:t>𝑥</m:t>
                    </m:r>
                    <m:r>
                      <a:rPr lang="en-US" altLang="zh-CN" sz="2400" i="1">
                        <a:latin typeface="Cambria Math" panose="02040503050406030204" pitchFamily="18" charset="0"/>
                        <a:ea typeface="Verdana" panose="020B0604030504040204" pitchFamily="34" charset="0"/>
                      </a:rPr>
                      <m:t>)</m:t>
                    </m:r>
                  </m:oMath>
                </a14:m>
                <a:endParaRPr lang="en-US" altLang="zh-CN" sz="2400" dirty="0">
                  <a:ea typeface="Verdana" panose="020B0604030504040204" pitchFamily="34" charset="0"/>
                </a:endParaRPr>
              </a:p>
            </p:txBody>
          </p:sp>
        </mc:Choice>
        <mc:Fallback xmlns="">
          <p:sp>
            <p:nvSpPr>
              <p:cNvPr id="10" name="文本框 9">
                <a:extLst>
                  <a:ext uri="{FF2B5EF4-FFF2-40B4-BE49-F238E27FC236}">
                    <a16:creationId xmlns:a16="http://schemas.microsoft.com/office/drawing/2014/main" id="{3D36AEE0-B87B-7E49-BD59-EB21E26DBAD1}"/>
                  </a:ext>
                </a:extLst>
              </p:cNvPr>
              <p:cNvSpPr txBox="1">
                <a:spLocks noRot="1" noChangeAspect="1" noMove="1" noResize="1" noEditPoints="1" noAdjustHandles="1" noChangeArrowheads="1" noChangeShapeType="1" noTextEdit="1"/>
              </p:cNvSpPr>
              <p:nvPr/>
            </p:nvSpPr>
            <p:spPr>
              <a:xfrm>
                <a:off x="301646" y="2432216"/>
                <a:ext cx="11440160" cy="1993623"/>
              </a:xfrm>
              <a:prstGeom prst="rect">
                <a:avLst/>
              </a:prstGeom>
              <a:blipFill>
                <a:blip r:embed="rId4"/>
                <a:stretch>
                  <a:fillRect l="-693" b="-5505"/>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7BB2315F-BC88-4381-B350-5DA5E0FF80D5}"/>
              </a:ext>
            </a:extLst>
          </p:cNvPr>
          <p:cNvPicPr>
            <a:picLocks noChangeAspect="1"/>
          </p:cNvPicPr>
          <p:nvPr/>
        </p:nvPicPr>
        <p:blipFill>
          <a:blip r:embed="rId5"/>
          <a:stretch>
            <a:fillRect/>
          </a:stretch>
        </p:blipFill>
        <p:spPr>
          <a:xfrm>
            <a:off x="5108593" y="3062183"/>
            <a:ext cx="1374339" cy="601274"/>
          </a:xfrm>
          <a:prstGeom prst="rect">
            <a:avLst/>
          </a:prstGeom>
        </p:spPr>
      </p:pic>
      <p:pic>
        <p:nvPicPr>
          <p:cNvPr id="11" name="图片 10">
            <a:extLst>
              <a:ext uri="{FF2B5EF4-FFF2-40B4-BE49-F238E27FC236}">
                <a16:creationId xmlns:a16="http://schemas.microsoft.com/office/drawing/2014/main" id="{6F3F7846-8495-471E-95C7-AC9D03C4CEEA}"/>
              </a:ext>
            </a:extLst>
          </p:cNvPr>
          <p:cNvPicPr>
            <a:picLocks noChangeAspect="1"/>
          </p:cNvPicPr>
          <p:nvPr/>
        </p:nvPicPr>
        <p:blipFill>
          <a:blip r:embed="rId6"/>
          <a:stretch>
            <a:fillRect/>
          </a:stretch>
        </p:blipFill>
        <p:spPr>
          <a:xfrm>
            <a:off x="10897958" y="2825052"/>
            <a:ext cx="605017" cy="575111"/>
          </a:xfrm>
          <a:prstGeom prst="rect">
            <a:avLst/>
          </a:prstGeom>
        </p:spPr>
      </p:pic>
    </p:spTree>
    <p:extLst>
      <p:ext uri="{BB962C8B-B14F-4D97-AF65-F5344CB8AC3E}">
        <p14:creationId xmlns:p14="http://schemas.microsoft.com/office/powerpoint/2010/main" val="7421247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68</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8191548" cy="3914020"/>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计算图</a:t>
            </a:r>
            <a:r>
              <a:rPr lang="en-US" altLang="zh-CN" sz="2400" dirty="0"/>
              <a:t>(Computation Graphs)</a:t>
            </a:r>
          </a:p>
          <a:p>
            <a:pPr marL="800100" lvl="1" indent="-342900">
              <a:lnSpc>
                <a:spcPct val="150000"/>
              </a:lnSpc>
              <a:buFont typeface="Wingdings" pitchFamily="2" charset="2"/>
              <a:buChar char="p"/>
            </a:pPr>
            <a:r>
              <a:rPr lang="zh-CN" altLang="en-US" sz="2400" dirty="0"/>
              <a:t>计算图是由节点和边构成的有向图，其中节点表示变量或运算，边表示数据依赖关系，整个图描述了一个复杂函数由若干基本运算组合而成的过程</a:t>
            </a:r>
            <a:endParaRPr lang="en-US" altLang="zh-CN" sz="2400" dirty="0"/>
          </a:p>
          <a:p>
            <a:pPr marL="800100" lvl="1" indent="-342900">
              <a:lnSpc>
                <a:spcPct val="150000"/>
              </a:lnSpc>
              <a:buFont typeface="Wingdings" pitchFamily="2" charset="2"/>
              <a:buChar char="p"/>
            </a:pPr>
            <a:r>
              <a:rPr lang="zh-CN" altLang="en-US" sz="2400" dirty="0"/>
              <a:t>多层感知机</a:t>
            </a:r>
            <a:r>
              <a:rPr lang="en-US" altLang="zh-CN" sz="2400" dirty="0"/>
              <a:t>(</a:t>
            </a:r>
            <a:r>
              <a:rPr lang="zh-CN" altLang="en-US" sz="2400" dirty="0"/>
              <a:t>和其它更复杂的深度模型</a:t>
            </a:r>
            <a:r>
              <a:rPr lang="en-US" altLang="zh-CN" sz="2400" dirty="0"/>
              <a:t>)</a:t>
            </a:r>
            <a:r>
              <a:rPr lang="zh-CN" altLang="en-US" sz="2400" dirty="0"/>
              <a:t>主要涉及有向无环图</a:t>
            </a:r>
            <a:r>
              <a:rPr lang="en-US" altLang="zh-CN" sz="2400" dirty="0"/>
              <a:t>(Directed Acyclic Graph, DAG)</a:t>
            </a:r>
            <a:r>
              <a:rPr lang="zh-CN" altLang="en-US" sz="2400" dirty="0"/>
              <a:t>，并假设各个节点可微</a:t>
            </a:r>
            <a:endParaRPr lang="en-US" altLang="zh-CN" sz="2400" dirty="0"/>
          </a:p>
        </p:txBody>
      </p:sp>
      <p:pic>
        <p:nvPicPr>
          <p:cNvPr id="3" name="图片 2">
            <a:extLst>
              <a:ext uri="{FF2B5EF4-FFF2-40B4-BE49-F238E27FC236}">
                <a16:creationId xmlns:a16="http://schemas.microsoft.com/office/drawing/2014/main" id="{5D013C7C-D5F3-9A4B-AE99-C8D875445698}"/>
              </a:ext>
            </a:extLst>
          </p:cNvPr>
          <p:cNvPicPr>
            <a:picLocks noChangeAspect="1"/>
          </p:cNvPicPr>
          <p:nvPr/>
        </p:nvPicPr>
        <p:blipFill>
          <a:blip r:embed="rId3"/>
          <a:stretch>
            <a:fillRect/>
          </a:stretch>
        </p:blipFill>
        <p:spPr>
          <a:xfrm>
            <a:off x="8740188" y="2591300"/>
            <a:ext cx="2484023" cy="3980248"/>
          </a:xfrm>
          <a:prstGeom prst="rect">
            <a:avLst/>
          </a:prstGeom>
        </p:spPr>
      </p:pic>
    </p:spTree>
    <p:extLst>
      <p:ext uri="{BB962C8B-B14F-4D97-AF65-F5344CB8AC3E}">
        <p14:creationId xmlns:p14="http://schemas.microsoft.com/office/powerpoint/2010/main" val="35760719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69</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p:sp>
        <p:nvSpPr>
          <p:cNvPr id="9" name="标题 1">
            <a:extLst>
              <a:ext uri="{FF2B5EF4-FFF2-40B4-BE49-F238E27FC236}">
                <a16:creationId xmlns:a16="http://schemas.microsoft.com/office/drawing/2014/main" id="{432C9F7B-0659-47E1-9A40-72F75DBD26FD}"/>
              </a:ext>
            </a:extLst>
          </p:cNvPr>
          <p:cNvSpPr>
            <a:spLocks noGrp="1"/>
          </p:cNvSpPr>
          <p:nvPr>
            <p:custDataLst>
              <p:tags r:id="rId1"/>
            </p:custDataLst>
          </p:nvPr>
        </p:nvSpPr>
        <p:spPr>
          <a:xfrm>
            <a:off x="548640" y="2881186"/>
            <a:ext cx="3836035" cy="698500"/>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r>
              <a:rPr lang="en-US" altLang="zh-CN" sz="2700" dirty="0">
                <a:latin typeface="微软雅黑" panose="020B0503020204020204" charset="-122"/>
                <a:ea typeface="微软雅黑" panose="020B0503020204020204" charset="-122"/>
                <a:cs typeface="Arial" panose="020B0604020202020204"/>
                <a:sym typeface="Roboto"/>
              </a:rPr>
              <a:t>Computational Graph:</a:t>
            </a:r>
          </a:p>
        </p:txBody>
      </p:sp>
      <p:pic>
        <p:nvPicPr>
          <p:cNvPr id="11" name="图片 10">
            <a:extLst>
              <a:ext uri="{FF2B5EF4-FFF2-40B4-BE49-F238E27FC236}">
                <a16:creationId xmlns:a16="http://schemas.microsoft.com/office/drawing/2014/main" id="{79E66E01-B56F-4B5A-816F-83BFFC7F5842}"/>
              </a:ext>
            </a:extLst>
          </p:cNvPr>
          <p:cNvPicPr>
            <a:picLocks noChangeAspect="1"/>
          </p:cNvPicPr>
          <p:nvPr>
            <p:custDataLst>
              <p:tags r:id="rId2"/>
            </p:custDataLst>
          </p:nvPr>
        </p:nvPicPr>
        <p:blipFill>
          <a:blip r:embed="rId7"/>
          <a:srcRect l="14725" t="5173" r="15416" b="5808"/>
          <a:stretch>
            <a:fillRect/>
          </a:stretch>
        </p:blipFill>
        <p:spPr>
          <a:xfrm>
            <a:off x="6495393" y="2591300"/>
            <a:ext cx="3156323" cy="1790238"/>
          </a:xfrm>
          <a:prstGeom prst="rect">
            <a:avLst/>
          </a:prstGeom>
        </p:spPr>
      </p:pic>
      <p:pic>
        <p:nvPicPr>
          <p:cNvPr id="13" name="图片 12">
            <a:extLst>
              <a:ext uri="{FF2B5EF4-FFF2-40B4-BE49-F238E27FC236}">
                <a16:creationId xmlns:a16="http://schemas.microsoft.com/office/drawing/2014/main" id="{DBF1A4DE-C9C5-4202-B8F5-FC8BB0AD6163}"/>
              </a:ext>
            </a:extLst>
          </p:cNvPr>
          <p:cNvPicPr>
            <a:picLocks noChangeAspect="1"/>
          </p:cNvPicPr>
          <p:nvPr>
            <p:custDataLst>
              <p:tags r:id="rId3"/>
            </p:custDataLst>
          </p:nvPr>
        </p:nvPicPr>
        <p:blipFill>
          <a:blip r:embed="rId8"/>
          <a:srcRect l="14066" t="4476" r="16024" b="5230"/>
          <a:stretch>
            <a:fillRect/>
          </a:stretch>
        </p:blipFill>
        <p:spPr>
          <a:xfrm>
            <a:off x="6596382" y="4819998"/>
            <a:ext cx="2993412" cy="1718914"/>
          </a:xfrm>
          <a:prstGeom prst="rect">
            <a:avLst/>
          </a:prstGeom>
        </p:spPr>
      </p:pic>
      <p:sp>
        <p:nvSpPr>
          <p:cNvPr id="14" name="右箭头 52">
            <a:extLst>
              <a:ext uri="{FF2B5EF4-FFF2-40B4-BE49-F238E27FC236}">
                <a16:creationId xmlns:a16="http://schemas.microsoft.com/office/drawing/2014/main" id="{A401193B-39B9-4BE0-B59B-4DB75489EBFC}"/>
              </a:ext>
            </a:extLst>
          </p:cNvPr>
          <p:cNvSpPr/>
          <p:nvPr>
            <p:custDataLst>
              <p:tags r:id="rId4"/>
            </p:custDataLst>
          </p:nvPr>
        </p:nvSpPr>
        <p:spPr>
          <a:xfrm>
            <a:off x="4731387" y="4281880"/>
            <a:ext cx="1014095" cy="601345"/>
          </a:xfrm>
          <a:prstGeom prst="rightArrow">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对象 47">
                <a:hlinkClick r:id="" action="ppaction://ole?verb=0"/>
                <a:extLst>
                  <a:ext uri="{FF2B5EF4-FFF2-40B4-BE49-F238E27FC236}">
                    <a16:creationId xmlns:a16="http://schemas.microsoft.com/office/drawing/2014/main" id="{ED34B6A6-1EE0-4923-B7B6-7A4DDF0B9AAB}"/>
                  </a:ext>
                </a:extLst>
              </p:cNvPr>
              <p:cNvSpPr txBox="1"/>
              <p:nvPr/>
            </p:nvSpPr>
            <p:spPr>
              <a:xfrm>
                <a:off x="1362517" y="4205944"/>
                <a:ext cx="2433631" cy="665162"/>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𝑧</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𝑥</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𝑦</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m:t>
                          </m:r>
                        </m:e>
                        <m:sup>
                          <m:r>
                            <a:rPr lang="zh-CN" altLang="en-US" sz="3200" i="1">
                              <a:solidFill>
                                <a:srgbClr val="000000"/>
                              </a:solidFill>
                              <a:latin typeface="Cambria Math" panose="02040503050406030204" pitchFamily="18" charset="0"/>
                            </a:rPr>
                            <m:t>2</m:t>
                          </m:r>
                        </m:sup>
                      </m:sSup>
                    </m:oMath>
                  </m:oMathPara>
                </a14:m>
                <a:endParaRPr lang="zh-CN" altLang="en-US" sz="2400" dirty="0"/>
              </a:p>
            </p:txBody>
          </p:sp>
        </mc:Choice>
        <mc:Fallback xmlns="">
          <p:sp>
            <p:nvSpPr>
              <p:cNvPr id="15" name="对象 47">
                <a:hlinkClick r:id="" action="ppaction://ole?verb=0"/>
                <a:extLst>
                  <a:ext uri="{FF2B5EF4-FFF2-40B4-BE49-F238E27FC236}">
                    <a16:creationId xmlns:a16="http://schemas.microsoft.com/office/drawing/2014/main" id="{ED34B6A6-1EE0-4923-B7B6-7A4DDF0B9AAB}"/>
                  </a:ext>
                </a:extLst>
              </p:cNvPr>
              <p:cNvSpPr txBox="1">
                <a:spLocks noRot="1" noChangeAspect="1" noMove="1" noResize="1" noEditPoints="1" noAdjustHandles="1" noChangeArrowheads="1" noChangeShapeType="1" noTextEdit="1"/>
              </p:cNvSpPr>
              <p:nvPr/>
            </p:nvSpPr>
            <p:spPr>
              <a:xfrm>
                <a:off x="1362517" y="4205944"/>
                <a:ext cx="2433631" cy="665162"/>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912564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70</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4033476"/>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多层感知机的梯度计算</a:t>
                </a:r>
                <a:endParaRPr lang="en-US" altLang="zh-CN" sz="2400" dirty="0"/>
              </a:p>
              <a:p>
                <a:pPr marL="800100" lvl="1" indent="-342900">
                  <a:lnSpc>
                    <a:spcPct val="150000"/>
                  </a:lnSpc>
                  <a:buFont typeface="Wingdings" pitchFamily="2" charset="2"/>
                  <a:buChar char="p"/>
                </a:pPr>
                <a:r>
                  <a:rPr lang="zh-CN" altLang="en-US" sz="2400" dirty="0"/>
                  <a:t>令</a:t>
                </a:r>
                <a14:m>
                  <m:oMath xmlns:m="http://schemas.openxmlformats.org/officeDocument/2006/math">
                    <m:r>
                      <a:rPr kumimoji="1" lang="en-US" altLang="zh-CN" sz="24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400" i="1">
                            <a:solidFill>
                              <a:schemeClr val="tx1"/>
                            </a:solidFill>
                            <a:latin typeface="Cambria Math" panose="02040503050406030204" pitchFamily="18" charset="0"/>
                            <a:ea typeface="Cambria Math" panose="02040503050406030204" pitchFamily="18" charset="0"/>
                          </a:rPr>
                        </m:ctrlPr>
                      </m:dPr>
                      <m:e>
                        <m:r>
                          <a:rPr kumimoji="1" lang="en-US" altLang="zh-CN" sz="2400" b="0" i="1" smtClean="0">
                            <a:solidFill>
                              <a:schemeClr val="tx1"/>
                            </a:solidFill>
                            <a:latin typeface="Cambria Math" panose="02040503050406030204" pitchFamily="18" charset="0"/>
                            <a:ea typeface="Cambria Math" panose="02040503050406030204" pitchFamily="18" charset="0"/>
                          </a:rPr>
                          <m:t>𝜃</m:t>
                        </m:r>
                        <m:r>
                          <a:rPr kumimoji="1" lang="en-US" altLang="zh-CN" sz="2400" i="1" smtClean="0">
                            <a:solidFill>
                              <a:schemeClr val="tx1"/>
                            </a:solidFill>
                            <a:latin typeface="Cambria Math" panose="02040503050406030204" pitchFamily="18" charset="0"/>
                            <a:ea typeface="Cambria Math" panose="02040503050406030204" pitchFamily="18" charset="0"/>
                          </a:rPr>
                          <m:t>,</m:t>
                        </m:r>
                        <m:r>
                          <a:rPr kumimoji="1" lang="en-US" altLang="zh-CN" sz="2400" b="0" i="1" smtClean="0">
                            <a:solidFill>
                              <a:schemeClr val="tx1"/>
                            </a:solidFill>
                            <a:latin typeface="Cambria Math" panose="02040503050406030204" pitchFamily="18" charset="0"/>
                            <a:ea typeface="Cambria Math" panose="02040503050406030204" pitchFamily="18" charset="0"/>
                          </a:rPr>
                          <m:t>𝑥</m:t>
                        </m:r>
                        <m:r>
                          <a:rPr kumimoji="1" lang="en-US" altLang="zh-CN" sz="2400" b="0" i="1" smtClean="0">
                            <a:solidFill>
                              <a:schemeClr val="tx1"/>
                            </a:solidFill>
                            <a:latin typeface="Cambria Math" panose="02040503050406030204" pitchFamily="18" charset="0"/>
                            <a:ea typeface="Cambria Math" panose="02040503050406030204" pitchFamily="18" charset="0"/>
                          </a:rPr>
                          <m:t>,</m:t>
                        </m:r>
                        <m:r>
                          <a:rPr kumimoji="1" lang="en-US" altLang="zh-CN" sz="2400" b="0" i="1" smtClean="0">
                            <a:solidFill>
                              <a:schemeClr val="tx1"/>
                            </a:solidFill>
                            <a:latin typeface="Cambria Math" panose="02040503050406030204" pitchFamily="18" charset="0"/>
                            <a:ea typeface="Cambria Math" panose="02040503050406030204" pitchFamily="18" charset="0"/>
                          </a:rPr>
                          <m:t>𝑦</m:t>
                        </m:r>
                      </m:e>
                    </m:d>
                  </m:oMath>
                </a14:m>
                <a:r>
                  <a:rPr kumimoji="1" lang="zh-CN" altLang="en-US" sz="2400" dirty="0">
                    <a:solidFill>
                      <a:schemeClr val="tx1"/>
                    </a:solidFill>
                  </a:rPr>
                  <a:t>表示单个数据上的损失，则有</a:t>
                </a:r>
                <a:endParaRPr kumimoji="1" lang="en-US" altLang="zh-CN" sz="2400" dirty="0">
                  <a:solidFill>
                    <a:schemeClr val="tx1"/>
                  </a:solidFill>
                </a:endParaRPr>
              </a:p>
              <a:p>
                <a:pPr marL="800100" lvl="1" indent="-342900">
                  <a:lnSpc>
                    <a:spcPct val="150000"/>
                  </a:lnSpc>
                  <a:buFont typeface="Wingdings" pitchFamily="2" charset="2"/>
                  <a:buChar char="p"/>
                </a:pPr>
                <a:endParaRPr kumimoji="1" lang="zh-CN" altLang="en-US" sz="2400" dirty="0">
                  <a:solidFill>
                    <a:schemeClr val="tx1"/>
                  </a:solidFill>
                </a:endParaRPr>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r>
                  <a:rPr lang="zh-CN" altLang="en-US" sz="2400" dirty="0"/>
                  <a:t>令</a:t>
                </a:r>
                <a14:m>
                  <m:oMath xmlns:m="http://schemas.openxmlformats.org/officeDocument/2006/math">
                    <m:sSup>
                      <m:sSupPr>
                        <m:ctrlPr>
                          <a:rPr kumimoji="1" lang="en-US" altLang="zh-CN" sz="2400" b="0" i="1" dirty="0" smtClean="0">
                            <a:latin typeface="Cambria Math" panose="02040503050406030204" pitchFamily="18" charset="0"/>
                          </a:rPr>
                        </m:ctrlPr>
                      </m:sSupPr>
                      <m:e>
                        <m:r>
                          <a:rPr kumimoji="1" lang="en-US" altLang="zh-CN" sz="2400" b="0" i="1" dirty="0" smtClean="0">
                            <a:latin typeface="Cambria Math" panose="02040503050406030204" pitchFamily="18" charset="0"/>
                          </a:rPr>
                          <m:t>𝜃</m:t>
                        </m:r>
                      </m:e>
                      <m:sup>
                        <m:d>
                          <m:dPr>
                            <m:ctrlPr>
                              <a:rPr kumimoji="1" lang="en-US" altLang="zh-CN" sz="2400" b="0" i="1" dirty="0" smtClean="0">
                                <a:latin typeface="Cambria Math" panose="02040503050406030204" pitchFamily="18" charset="0"/>
                              </a:rPr>
                            </m:ctrlPr>
                          </m:dPr>
                          <m:e>
                            <m:r>
                              <a:rPr kumimoji="1" lang="en-US" altLang="zh-CN" sz="2400" b="0" i="1" dirty="0" smtClean="0">
                                <a:latin typeface="Cambria Math" panose="02040503050406030204" pitchFamily="18" charset="0"/>
                              </a:rPr>
                              <m:t>ℓ</m:t>
                            </m:r>
                          </m:e>
                        </m:d>
                      </m:sup>
                    </m:sSup>
                  </m:oMath>
                </a14:m>
                <a:r>
                  <a:rPr lang="zh-CN" altLang="en-US" sz="2400" dirty="0"/>
                  <a:t>表示第</a:t>
                </a:r>
                <a14:m>
                  <m:oMath xmlns:m="http://schemas.openxmlformats.org/officeDocument/2006/math">
                    <m:r>
                      <a:rPr lang="en-US" altLang="zh-CN" sz="2400" b="0" i="1" smtClean="0">
                        <a:latin typeface="Cambria Math" panose="02040503050406030204" pitchFamily="18" charset="0"/>
                      </a:rPr>
                      <m:t>ℓ</m:t>
                    </m:r>
                  </m:oMath>
                </a14:m>
                <a:r>
                  <a:rPr lang="zh-CN" altLang="en-US" sz="2400" dirty="0"/>
                  <a:t>层的参数</a:t>
                </a:r>
                <a:r>
                  <a:rPr lang="en-US" altLang="zh-CN" sz="2400" dirty="0"/>
                  <a:t>(</a:t>
                </a:r>
                <a:r>
                  <a:rPr lang="zh-CN" altLang="en-US" sz="2400" dirty="0"/>
                  <a:t>包含</a:t>
                </a:r>
                <a14:m>
                  <m:oMath xmlns:m="http://schemas.openxmlformats.org/officeDocument/2006/math">
                    <m:r>
                      <a:rPr lang="en-US" altLang="zh-CN" sz="2400" b="0" i="1" smtClean="0">
                        <a:latin typeface="Cambria Math" panose="02040503050406030204" pitchFamily="18" charset="0"/>
                      </a:rPr>
                      <m:t>𝑊</m:t>
                    </m:r>
                  </m:oMath>
                </a14:m>
                <a:r>
                  <a:rPr lang="zh-CN" altLang="en-US" sz="2400" dirty="0"/>
                  <a:t>和</a:t>
                </a:r>
                <a14:m>
                  <m:oMath xmlns:m="http://schemas.openxmlformats.org/officeDocument/2006/math">
                    <m:r>
                      <a:rPr lang="en-US" altLang="zh-CN" sz="2400" b="0" i="1" dirty="0" smtClean="0">
                        <a:latin typeface="Cambria Math" panose="02040503050406030204" pitchFamily="18" charset="0"/>
                      </a:rPr>
                      <m:t>𝑏</m:t>
                    </m:r>
                  </m:oMath>
                </a14:m>
                <a:r>
                  <a:rPr lang="en-US" altLang="zh-CN" sz="2400" dirty="0"/>
                  <a:t>)</a:t>
                </a:r>
                <a:r>
                  <a:rPr lang="zh-CN" altLang="en-US" sz="2400" dirty="0"/>
                  <a:t>，则有</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𝜃</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p>
                            <m:sSupPr>
                              <m:ctrlPr>
                                <a:rPr kumimoji="1" lang="en-US" altLang="zh-CN" sz="2400" i="1" dirty="0">
                                  <a:latin typeface="Cambria Math" panose="02040503050406030204" pitchFamily="18" charset="0"/>
                                </a:rPr>
                              </m:ctrlPr>
                            </m:sSupPr>
                            <m:e>
                              <m:r>
                                <a:rPr kumimoji="1" lang="en-US" altLang="zh-CN" sz="2400" i="1" dirty="0">
                                  <a:latin typeface="Cambria Math" panose="02040503050406030204" pitchFamily="18" charset="0"/>
                                </a:rPr>
                                <m:t>𝜃</m:t>
                              </m:r>
                            </m:e>
                            <m:sup>
                              <m:d>
                                <m:dPr>
                                  <m:ctrlPr>
                                    <a:rPr kumimoji="1" lang="en-US" altLang="zh-CN" sz="2400" i="1" dirty="0">
                                      <a:latin typeface="Cambria Math" panose="02040503050406030204" pitchFamily="18" charset="0"/>
                                    </a:rPr>
                                  </m:ctrlPr>
                                </m:dPr>
                                <m:e>
                                  <m:r>
                                    <a:rPr kumimoji="1" lang="en-US" altLang="zh-CN" sz="2400" b="0" i="1" dirty="0" smtClean="0">
                                      <a:latin typeface="Cambria Math" panose="02040503050406030204" pitchFamily="18" charset="0"/>
                                    </a:rPr>
                                    <m:t>1</m:t>
                                  </m:r>
                                </m:e>
                              </m:d>
                            </m:sup>
                          </m:sSup>
                          <m:r>
                            <a:rPr kumimoji="1" lang="en-US" altLang="zh-CN" sz="2400" b="0" i="1" dirty="0" smtClean="0">
                              <a:latin typeface="Cambria Math" panose="02040503050406030204" pitchFamily="18" charset="0"/>
                            </a:rPr>
                            <m:t>,…,</m:t>
                          </m:r>
                          <m:sSup>
                            <m:sSupPr>
                              <m:ctrlPr>
                                <a:rPr kumimoji="1" lang="en-US" altLang="zh-CN" sz="2400" i="1" dirty="0">
                                  <a:latin typeface="Cambria Math" panose="02040503050406030204" pitchFamily="18" charset="0"/>
                                </a:rPr>
                              </m:ctrlPr>
                            </m:sSupPr>
                            <m:e>
                              <m:r>
                                <a:rPr kumimoji="1" lang="en-US" altLang="zh-CN" sz="2400" i="1" dirty="0">
                                  <a:latin typeface="Cambria Math" panose="02040503050406030204" pitchFamily="18" charset="0"/>
                                </a:rPr>
                                <m:t>𝜃</m:t>
                              </m:r>
                            </m:e>
                            <m:sup>
                              <m:d>
                                <m:dPr>
                                  <m:ctrlPr>
                                    <a:rPr kumimoji="1" lang="en-US" altLang="zh-CN" sz="2400" i="1" dirty="0">
                                      <a:latin typeface="Cambria Math" panose="02040503050406030204" pitchFamily="18" charset="0"/>
                                    </a:rPr>
                                  </m:ctrlPr>
                                </m:dPr>
                                <m:e>
                                  <m:r>
                                    <a:rPr kumimoji="1" lang="en-US" altLang="zh-CN" sz="2400" b="0" i="1" dirty="0" smtClean="0">
                                      <a:latin typeface="Cambria Math" panose="02040503050406030204" pitchFamily="18" charset="0"/>
                                    </a:rPr>
                                    <m:t>𝐿</m:t>
                                  </m:r>
                                </m:e>
                              </m:d>
                            </m:sup>
                          </m:sSup>
                        </m:e>
                      </m:d>
                    </m:oMath>
                  </m:oMathPara>
                </a14:m>
                <a:endParaRPr lang="en-US" altLang="zh-CN" sz="2400" dirty="0"/>
              </a:p>
              <a:p>
                <a:pPr marL="800100" lvl="1" indent="-342900">
                  <a:lnSpc>
                    <a:spcPct val="150000"/>
                  </a:lnSpc>
                  <a:buFont typeface="Wingdings" pitchFamily="2" charset="2"/>
                  <a:buChar char="p"/>
                </a:pPr>
                <a:r>
                  <a:rPr lang="zh-CN" altLang="en-US" sz="2400" dirty="0"/>
                  <a:t>仅需考虑</a:t>
                </a:r>
                <a:r>
                  <a:rPr kumimoji="1" lang="zh-CN" altLang="en-US" sz="2400" dirty="0"/>
                  <a:t>单个数据上的梯度</a:t>
                </a:r>
                <a14:m>
                  <m:oMath xmlns:m="http://schemas.openxmlformats.org/officeDocument/2006/math">
                    <m:r>
                      <m:rPr>
                        <m:sty m:val="p"/>
                      </m:rPr>
                      <a:rPr kumimoji="1" lang="en-US" altLang="zh-CN" sz="2400" i="0" smtClean="0">
                        <a:latin typeface="Cambria Math" panose="02040503050406030204" pitchFamily="18" charset="0"/>
                        <a:ea typeface="Cambria Math" panose="02040503050406030204" pitchFamily="18" charset="0"/>
                      </a:rPr>
                      <m:t>∇</m:t>
                    </m:r>
                    <m:r>
                      <a:rPr kumimoji="1" lang="en-US" altLang="zh-CN" sz="24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400" i="1">
                            <a:solidFill>
                              <a:schemeClr val="tx1"/>
                            </a:solidFill>
                            <a:latin typeface="Cambria Math" panose="02040503050406030204" pitchFamily="18" charset="0"/>
                            <a:ea typeface="Cambria Math" panose="02040503050406030204" pitchFamily="18" charset="0"/>
                          </a:rPr>
                        </m:ctrlPr>
                      </m:dPr>
                      <m:e>
                        <m:r>
                          <a:rPr kumimoji="1" lang="en-US" altLang="zh-CN" sz="2400" b="0" i="1" smtClean="0">
                            <a:solidFill>
                              <a:schemeClr val="tx1"/>
                            </a:solidFill>
                            <a:latin typeface="Cambria Math" panose="02040503050406030204" pitchFamily="18" charset="0"/>
                            <a:ea typeface="Cambria Math" panose="02040503050406030204" pitchFamily="18" charset="0"/>
                          </a:rPr>
                          <m:t>𝜃</m:t>
                        </m:r>
                        <m:r>
                          <a:rPr kumimoji="1" lang="en-US" altLang="zh-CN" sz="2400" i="1">
                            <a:solidFill>
                              <a:schemeClr val="tx1"/>
                            </a:solidFill>
                            <a:latin typeface="Cambria Math" panose="02040503050406030204" pitchFamily="18" charset="0"/>
                            <a:ea typeface="Cambria Math" panose="02040503050406030204" pitchFamily="18" charset="0"/>
                          </a:rPr>
                          <m:t>,</m:t>
                        </m:r>
                        <m:r>
                          <a:rPr kumimoji="1" lang="en-US" altLang="zh-CN" sz="2400" b="0" i="1" smtClean="0">
                            <a:solidFill>
                              <a:schemeClr val="tx1"/>
                            </a:solidFill>
                            <a:latin typeface="Cambria Math" panose="02040503050406030204" pitchFamily="18" charset="0"/>
                            <a:ea typeface="Cambria Math" panose="02040503050406030204" pitchFamily="18" charset="0"/>
                          </a:rPr>
                          <m:t>𝑥</m:t>
                        </m:r>
                        <m:r>
                          <a:rPr kumimoji="1" lang="en-US" altLang="zh-CN" sz="2400" b="0" i="1" smtClean="0">
                            <a:solidFill>
                              <a:schemeClr val="tx1"/>
                            </a:solidFill>
                            <a:latin typeface="Cambria Math" panose="02040503050406030204" pitchFamily="18" charset="0"/>
                            <a:ea typeface="Cambria Math" panose="02040503050406030204" pitchFamily="18" charset="0"/>
                          </a:rPr>
                          <m:t>,</m:t>
                        </m:r>
                        <m:r>
                          <a:rPr kumimoji="1" lang="en-US" altLang="zh-CN" sz="2400" b="0" i="1" smtClean="0">
                            <a:solidFill>
                              <a:schemeClr val="tx1"/>
                            </a:solidFill>
                            <a:latin typeface="Cambria Math" panose="02040503050406030204" pitchFamily="18" charset="0"/>
                            <a:ea typeface="Cambria Math" panose="02040503050406030204" pitchFamily="18" charset="0"/>
                          </a:rPr>
                          <m:t>𝑦</m:t>
                        </m:r>
                      </m:e>
                    </m:d>
                  </m:oMath>
                </a14:m>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4033476"/>
              </a:xfrm>
              <a:prstGeom prst="rect">
                <a:avLst/>
              </a:prstGeom>
              <a:blipFill>
                <a:blip r:embed="rId3"/>
                <a:stretch>
                  <a:fillRect l="-1311" b="-25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Rectangle 28">
                <a:extLst>
                  <a:ext uri="{FF2B5EF4-FFF2-40B4-BE49-F238E27FC236}">
                    <a16:creationId xmlns:a16="http://schemas.microsoft.com/office/drawing/2014/main" id="{07A2CB7F-A3AF-4944-A2D9-0EE2E78BB702}"/>
                  </a:ext>
                </a:extLst>
              </p:cNvPr>
              <p:cNvSpPr/>
              <p:nvPr/>
            </p:nvSpPr>
            <p:spPr>
              <a:xfrm>
                <a:off x="8555915" y="4893339"/>
                <a:ext cx="1658607"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𝑧</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sz="2200" dirty="0"/>
              </a:p>
            </p:txBody>
          </p:sp>
        </mc:Choice>
        <mc:Fallback xmlns="">
          <p:sp>
            <p:nvSpPr>
              <p:cNvPr id="56" name="Rectangle 28">
                <a:extLst>
                  <a:ext uri="{FF2B5EF4-FFF2-40B4-BE49-F238E27FC236}">
                    <a16:creationId xmlns:a16="http://schemas.microsoft.com/office/drawing/2014/main" id="{07A2CB7F-A3AF-4944-A2D9-0EE2E78BB702}"/>
                  </a:ext>
                </a:extLst>
              </p:cNvPr>
              <p:cNvSpPr>
                <a:spLocks noRot="1" noChangeAspect="1" noMove="1" noResize="1" noEditPoints="1" noAdjustHandles="1" noChangeArrowheads="1" noChangeShapeType="1" noTextEdit="1"/>
              </p:cNvSpPr>
              <p:nvPr/>
            </p:nvSpPr>
            <p:spPr>
              <a:xfrm>
                <a:off x="8555915" y="4893339"/>
                <a:ext cx="1658607" cy="553637"/>
              </a:xfrm>
              <a:prstGeom prst="rect">
                <a:avLst/>
              </a:prstGeom>
              <a:blipFill>
                <a:blip r:embed="rId4"/>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28">
                <a:extLst>
                  <a:ext uri="{FF2B5EF4-FFF2-40B4-BE49-F238E27FC236}">
                    <a16:creationId xmlns:a16="http://schemas.microsoft.com/office/drawing/2014/main" id="{5FCB082B-51E0-8441-B848-605E488747BF}"/>
                  </a:ext>
                </a:extLst>
              </p:cNvPr>
              <p:cNvSpPr/>
              <p:nvPr/>
            </p:nvSpPr>
            <p:spPr>
              <a:xfrm>
                <a:off x="8555916" y="6154243"/>
                <a:ext cx="1676716"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rPr>
                        <m:t>𝑥</m:t>
                      </m:r>
                    </m:oMath>
                  </m:oMathPara>
                </a14:m>
                <a:endParaRPr sz="2200" dirty="0"/>
              </a:p>
            </p:txBody>
          </p:sp>
        </mc:Choice>
        <mc:Fallback xmlns="">
          <p:sp>
            <p:nvSpPr>
              <p:cNvPr id="57" name="Rectangle 28">
                <a:extLst>
                  <a:ext uri="{FF2B5EF4-FFF2-40B4-BE49-F238E27FC236}">
                    <a16:creationId xmlns:a16="http://schemas.microsoft.com/office/drawing/2014/main" id="{5FCB082B-51E0-8441-B848-605E488747BF}"/>
                  </a:ext>
                </a:extLst>
              </p:cNvPr>
              <p:cNvSpPr>
                <a:spLocks noRot="1" noChangeAspect="1" noMove="1" noResize="1" noEditPoints="1" noAdjustHandles="1" noChangeArrowheads="1" noChangeShapeType="1" noTextEdit="1"/>
              </p:cNvSpPr>
              <p:nvPr/>
            </p:nvSpPr>
            <p:spPr>
              <a:xfrm>
                <a:off x="8555916" y="6154243"/>
                <a:ext cx="1676716" cy="553637"/>
              </a:xfrm>
              <a:prstGeom prst="rect">
                <a:avLst/>
              </a:prstGeom>
              <a:blipFill>
                <a:blip r:embed="rId5"/>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28">
                <a:extLst>
                  <a:ext uri="{FF2B5EF4-FFF2-40B4-BE49-F238E27FC236}">
                    <a16:creationId xmlns:a16="http://schemas.microsoft.com/office/drawing/2014/main" id="{1FB8AF81-347B-B544-9AF8-70A41E478AD0}"/>
                  </a:ext>
                </a:extLst>
              </p:cNvPr>
              <p:cNvSpPr/>
              <p:nvPr/>
            </p:nvSpPr>
            <p:spPr>
              <a:xfrm>
                <a:off x="8539141" y="3630690"/>
                <a:ext cx="1693490" cy="537490"/>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b="0" i="1" smtClean="0">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oMath>
                  </m:oMathPara>
                </a14:m>
                <a:endParaRPr sz="2200" dirty="0"/>
              </a:p>
            </p:txBody>
          </p:sp>
        </mc:Choice>
        <mc:Fallback xmlns="">
          <p:sp>
            <p:nvSpPr>
              <p:cNvPr id="58" name="Rectangle 28">
                <a:extLst>
                  <a:ext uri="{FF2B5EF4-FFF2-40B4-BE49-F238E27FC236}">
                    <a16:creationId xmlns:a16="http://schemas.microsoft.com/office/drawing/2014/main" id="{1FB8AF81-347B-B544-9AF8-70A41E478AD0}"/>
                  </a:ext>
                </a:extLst>
              </p:cNvPr>
              <p:cNvSpPr>
                <a:spLocks noRot="1" noChangeAspect="1" noMove="1" noResize="1" noEditPoints="1" noAdjustHandles="1" noChangeArrowheads="1" noChangeShapeType="1" noTextEdit="1"/>
              </p:cNvSpPr>
              <p:nvPr/>
            </p:nvSpPr>
            <p:spPr>
              <a:xfrm>
                <a:off x="8539141" y="3630690"/>
                <a:ext cx="1693490" cy="537490"/>
              </a:xfrm>
              <a:prstGeom prst="rect">
                <a:avLst/>
              </a:prstGeom>
              <a:blipFill>
                <a:blip r:embed="rId6"/>
                <a:stretch>
                  <a:fillRect/>
                </a:stretch>
              </a:blipFill>
              <a:ln w="25400">
                <a:solidFill>
                  <a:srgbClr val="000000"/>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EDF75BE-9C49-814C-B6DD-E3A4A97B2869}"/>
              </a:ext>
            </a:extLst>
          </p:cNvPr>
          <p:cNvSpPr txBox="1"/>
          <p:nvPr/>
        </p:nvSpPr>
        <p:spPr>
          <a:xfrm>
            <a:off x="7565178" y="6215697"/>
            <a:ext cx="748923" cy="430887"/>
          </a:xfrm>
          <a:prstGeom prst="rect">
            <a:avLst/>
          </a:prstGeom>
          <a:noFill/>
        </p:spPr>
        <p:txBody>
          <a:bodyPr wrap="none" rtlCol="0">
            <a:spAutoFit/>
          </a:bodyPr>
          <a:lstStyle/>
          <a:p>
            <a:r>
              <a:rPr kumimoji="1" lang="zh-CN" altLang="en-US" sz="2200" dirty="0"/>
              <a:t>输入</a:t>
            </a:r>
          </a:p>
        </p:txBody>
      </p:sp>
      <p:sp>
        <p:nvSpPr>
          <p:cNvPr id="61" name="文本框 60">
            <a:extLst>
              <a:ext uri="{FF2B5EF4-FFF2-40B4-BE49-F238E27FC236}">
                <a16:creationId xmlns:a16="http://schemas.microsoft.com/office/drawing/2014/main" id="{9FB1CE18-B647-C24D-AF79-A5E1C9B8FFB6}"/>
              </a:ext>
            </a:extLst>
          </p:cNvPr>
          <p:cNvSpPr txBox="1"/>
          <p:nvPr/>
        </p:nvSpPr>
        <p:spPr>
          <a:xfrm>
            <a:off x="7565177" y="3699166"/>
            <a:ext cx="748923" cy="430887"/>
          </a:xfrm>
          <a:prstGeom prst="rect">
            <a:avLst/>
          </a:prstGeom>
          <a:noFill/>
        </p:spPr>
        <p:txBody>
          <a:bodyPr wrap="none" rtlCol="0">
            <a:spAutoFit/>
          </a:bodyPr>
          <a:lstStyle/>
          <a:p>
            <a:r>
              <a:rPr kumimoji="1" lang="zh-CN" altLang="en-US" sz="2200" dirty="0"/>
              <a:t>输出</a:t>
            </a:r>
          </a:p>
        </p:txBody>
      </p:sp>
      <p:sp>
        <p:nvSpPr>
          <p:cNvPr id="62" name="Straight Arrow Connector 35">
            <a:extLst>
              <a:ext uri="{FF2B5EF4-FFF2-40B4-BE49-F238E27FC236}">
                <a16:creationId xmlns:a16="http://schemas.microsoft.com/office/drawing/2014/main" id="{A1B9FA38-2569-1E47-95DB-DC7091BF12C4}"/>
              </a:ext>
            </a:extLst>
          </p:cNvPr>
          <p:cNvSpPr/>
          <p:nvPr/>
        </p:nvSpPr>
        <p:spPr>
          <a:xfrm flipV="1">
            <a:off x="9420300" y="5940009"/>
            <a:ext cx="0" cy="21423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21FFF92-ED1B-9F43-8B02-A570B5099233}"/>
                  </a:ext>
                </a:extLst>
              </p:cNvPr>
              <p:cNvSpPr txBox="1"/>
              <p:nvPr/>
            </p:nvSpPr>
            <p:spPr>
              <a:xfrm>
                <a:off x="9532703" y="5772574"/>
                <a:ext cx="825126" cy="453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0</m:t>
                              </m:r>
                            </m:e>
                          </m:d>
                        </m:sup>
                      </m:sSup>
                    </m:oMath>
                  </m:oMathPara>
                </a14:m>
                <a:endParaRPr lang="zh-CN" altLang="en-US" sz="2200" dirty="0"/>
              </a:p>
            </p:txBody>
          </p:sp>
        </mc:Choice>
        <mc:Fallback xmlns="">
          <p:sp>
            <p:nvSpPr>
              <p:cNvPr id="63" name="文本框 62">
                <a:extLst>
                  <a:ext uri="{FF2B5EF4-FFF2-40B4-BE49-F238E27FC236}">
                    <a16:creationId xmlns:a16="http://schemas.microsoft.com/office/drawing/2014/main" id="{A21FFF92-ED1B-9F43-8B02-A570B5099233}"/>
                  </a:ext>
                </a:extLst>
              </p:cNvPr>
              <p:cNvSpPr txBox="1">
                <a:spLocks noRot="1" noChangeAspect="1" noMove="1" noResize="1" noEditPoints="1" noAdjustHandles="1" noChangeArrowheads="1" noChangeShapeType="1" noTextEdit="1"/>
              </p:cNvSpPr>
              <p:nvPr/>
            </p:nvSpPr>
            <p:spPr>
              <a:xfrm>
                <a:off x="9532703" y="5772574"/>
                <a:ext cx="825126" cy="453840"/>
              </a:xfrm>
              <a:prstGeom prst="rect">
                <a:avLst/>
              </a:prstGeom>
              <a:blipFill>
                <a:blip r:embed="rId7"/>
                <a:stretch>
                  <a:fillRect/>
                </a:stretch>
              </a:blipFill>
            </p:spPr>
            <p:txBody>
              <a:bodyPr/>
              <a:lstStyle/>
              <a:p>
                <a:r>
                  <a:rPr lang="zh-CN" altLang="en-US">
                    <a:noFill/>
                  </a:rPr>
                  <a:t> </a:t>
                </a:r>
              </a:p>
            </p:txBody>
          </p:sp>
        </mc:Fallback>
      </mc:AlternateContent>
      <p:sp>
        <p:nvSpPr>
          <p:cNvPr id="65" name="Straight Arrow Connector 35">
            <a:extLst>
              <a:ext uri="{FF2B5EF4-FFF2-40B4-BE49-F238E27FC236}">
                <a16:creationId xmlns:a16="http://schemas.microsoft.com/office/drawing/2014/main" id="{DB1F6538-95F4-4944-9CC9-80038039AF5A}"/>
              </a:ext>
            </a:extLst>
          </p:cNvPr>
          <p:cNvSpPr/>
          <p:nvPr/>
        </p:nvSpPr>
        <p:spPr>
          <a:xfrm flipV="1">
            <a:off x="9420300" y="5447987"/>
            <a:ext cx="16774" cy="201256"/>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01684D-ACCC-F24A-BF3E-A5411FC8D08A}"/>
                  </a:ext>
                </a:extLst>
              </p:cNvPr>
              <p:cNvSpPr txBox="1"/>
              <p:nvPr/>
            </p:nvSpPr>
            <p:spPr>
              <a:xfrm>
                <a:off x="9112164" y="5631334"/>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 name="文本框 7">
                <a:extLst>
                  <a:ext uri="{FF2B5EF4-FFF2-40B4-BE49-F238E27FC236}">
                    <a16:creationId xmlns:a16="http://schemas.microsoft.com/office/drawing/2014/main" id="{AA01684D-ACCC-F24A-BF3E-A5411FC8D08A}"/>
                  </a:ext>
                </a:extLst>
              </p:cNvPr>
              <p:cNvSpPr txBox="1">
                <a:spLocks noRot="1" noChangeAspect="1" noMove="1" noResize="1" noEditPoints="1" noAdjustHandles="1" noChangeArrowheads="1" noChangeShapeType="1" noTextEdit="1"/>
              </p:cNvSpPr>
              <p:nvPr/>
            </p:nvSpPr>
            <p:spPr>
              <a:xfrm>
                <a:off x="9112164" y="5631334"/>
                <a:ext cx="633046" cy="338554"/>
              </a:xfrm>
              <a:prstGeom prst="rect">
                <a:avLst/>
              </a:prstGeom>
              <a:blipFill>
                <a:blip r:embed="rId8"/>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BE0F22C0-7D3A-E545-9042-03AFCF1AC42C}"/>
                  </a:ext>
                </a:extLst>
              </p:cNvPr>
              <p:cNvSpPr txBox="1"/>
              <p:nvPr/>
            </p:nvSpPr>
            <p:spPr>
              <a:xfrm>
                <a:off x="9634958" y="5422322"/>
                <a:ext cx="418388"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ℓ−1</m:t>
                              </m:r>
                            </m:e>
                          </m:d>
                        </m:sup>
                      </m:sSup>
                    </m:oMath>
                  </m:oMathPara>
                </a14:m>
                <a:endParaRPr lang="zh-CN" altLang="en-US" sz="2200" dirty="0"/>
              </a:p>
            </p:txBody>
          </p:sp>
        </mc:Choice>
        <mc:Fallback xmlns="">
          <p:sp>
            <p:nvSpPr>
              <p:cNvPr id="67" name="文本框 66">
                <a:extLst>
                  <a:ext uri="{FF2B5EF4-FFF2-40B4-BE49-F238E27FC236}">
                    <a16:creationId xmlns:a16="http://schemas.microsoft.com/office/drawing/2014/main" id="{BE0F22C0-7D3A-E545-9042-03AFCF1AC42C}"/>
                  </a:ext>
                </a:extLst>
              </p:cNvPr>
              <p:cNvSpPr txBox="1">
                <a:spLocks noRot="1" noChangeAspect="1" noMove="1" noResize="1" noEditPoints="1" noAdjustHandles="1" noChangeArrowheads="1" noChangeShapeType="1" noTextEdit="1"/>
              </p:cNvSpPr>
              <p:nvPr/>
            </p:nvSpPr>
            <p:spPr>
              <a:xfrm>
                <a:off x="9634958" y="5422322"/>
                <a:ext cx="418388" cy="453842"/>
              </a:xfrm>
              <a:prstGeom prst="rect">
                <a:avLst/>
              </a:prstGeom>
              <a:blipFill>
                <a:blip r:embed="rId9"/>
                <a:stretch>
                  <a:fillRect r="-85294"/>
                </a:stretch>
              </a:blipFill>
            </p:spPr>
            <p:txBody>
              <a:bodyPr/>
              <a:lstStyle/>
              <a:p>
                <a:r>
                  <a:rPr lang="zh-CN" altLang="en-US">
                    <a:noFill/>
                  </a:rPr>
                  <a:t> </a:t>
                </a:r>
              </a:p>
            </p:txBody>
          </p:sp>
        </mc:Fallback>
      </mc:AlternateContent>
      <p:sp>
        <p:nvSpPr>
          <p:cNvPr id="69" name="Straight Arrow Connector 35">
            <a:extLst>
              <a:ext uri="{FF2B5EF4-FFF2-40B4-BE49-F238E27FC236}">
                <a16:creationId xmlns:a16="http://schemas.microsoft.com/office/drawing/2014/main" id="{6B736CDC-918F-9B46-BA12-CF24311A2952}"/>
              </a:ext>
            </a:extLst>
          </p:cNvPr>
          <p:cNvSpPr/>
          <p:nvPr/>
        </p:nvSpPr>
        <p:spPr>
          <a:xfrm flipV="1">
            <a:off x="9419820" y="4719202"/>
            <a:ext cx="18110" cy="158119"/>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577E2AD7-331C-F74B-B97F-918DABD8A5DC}"/>
                  </a:ext>
                </a:extLst>
              </p:cNvPr>
              <p:cNvSpPr txBox="1"/>
              <p:nvPr/>
            </p:nvSpPr>
            <p:spPr>
              <a:xfrm>
                <a:off x="9506398" y="4455213"/>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0" name="文本框 69">
                <a:extLst>
                  <a:ext uri="{FF2B5EF4-FFF2-40B4-BE49-F238E27FC236}">
                    <a16:creationId xmlns:a16="http://schemas.microsoft.com/office/drawing/2014/main" id="{577E2AD7-331C-F74B-B97F-918DABD8A5DC}"/>
                  </a:ext>
                </a:extLst>
              </p:cNvPr>
              <p:cNvSpPr txBox="1">
                <a:spLocks noRot="1" noChangeAspect="1" noMove="1" noResize="1" noEditPoints="1" noAdjustHandles="1" noChangeArrowheads="1" noChangeShapeType="1" noTextEdit="1"/>
              </p:cNvSpPr>
              <p:nvPr/>
            </p:nvSpPr>
            <p:spPr>
              <a:xfrm>
                <a:off x="9506398" y="4455213"/>
                <a:ext cx="825126" cy="459869"/>
              </a:xfrm>
              <a:prstGeom prst="rect">
                <a:avLst/>
              </a:prstGeom>
              <a:blipFill>
                <a:blip r:embed="rId10"/>
                <a:stretch>
                  <a:fillRect/>
                </a:stretch>
              </a:blipFill>
            </p:spPr>
            <p:txBody>
              <a:bodyPr/>
              <a:lstStyle/>
              <a:p>
                <a:r>
                  <a:rPr lang="zh-CN" altLang="en-US">
                    <a:noFill/>
                  </a:rPr>
                  <a:t> </a:t>
                </a:r>
              </a:p>
            </p:txBody>
          </p:sp>
        </mc:Fallback>
      </mc:AlternateContent>
      <p:sp>
        <p:nvSpPr>
          <p:cNvPr id="71" name="Straight Arrow Connector 35">
            <a:extLst>
              <a:ext uri="{FF2B5EF4-FFF2-40B4-BE49-F238E27FC236}">
                <a16:creationId xmlns:a16="http://schemas.microsoft.com/office/drawing/2014/main" id="{A04EB4BE-EFC0-F543-9337-F6C0F448B86E}"/>
              </a:ext>
            </a:extLst>
          </p:cNvPr>
          <p:cNvSpPr/>
          <p:nvPr/>
        </p:nvSpPr>
        <p:spPr>
          <a:xfrm flipV="1">
            <a:off x="9426754" y="4223797"/>
            <a:ext cx="6871" cy="222778"/>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99DF746-0C6A-2F4A-9714-8440F5EDB247}"/>
                  </a:ext>
                </a:extLst>
              </p:cNvPr>
              <p:cNvSpPr txBox="1"/>
              <p:nvPr/>
            </p:nvSpPr>
            <p:spPr>
              <a:xfrm>
                <a:off x="9117097" y="4418637"/>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72" name="文本框 71">
                <a:extLst>
                  <a:ext uri="{FF2B5EF4-FFF2-40B4-BE49-F238E27FC236}">
                    <a16:creationId xmlns:a16="http://schemas.microsoft.com/office/drawing/2014/main" id="{399DF746-0C6A-2F4A-9714-8440F5EDB247}"/>
                  </a:ext>
                </a:extLst>
              </p:cNvPr>
              <p:cNvSpPr txBox="1">
                <a:spLocks noRot="1" noChangeAspect="1" noMove="1" noResize="1" noEditPoints="1" noAdjustHandles="1" noChangeArrowheads="1" noChangeShapeType="1" noTextEdit="1"/>
              </p:cNvSpPr>
              <p:nvPr/>
            </p:nvSpPr>
            <p:spPr>
              <a:xfrm>
                <a:off x="9117097" y="4418637"/>
                <a:ext cx="633046" cy="338554"/>
              </a:xfrm>
              <a:prstGeom prst="rect">
                <a:avLst/>
              </a:prstGeom>
              <a:blipFill>
                <a:blip r:embed="rId11"/>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442A0F93-6E4E-C546-B4C9-F8EAAEEEB80B}"/>
                  </a:ext>
                </a:extLst>
              </p:cNvPr>
              <p:cNvSpPr txBox="1"/>
              <p:nvPr/>
            </p:nvSpPr>
            <p:spPr>
              <a:xfrm>
                <a:off x="9595277" y="4138671"/>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r>
                                <a:rPr kumimoji="1" lang="en-US" altLang="zh-CN" sz="2200" b="0" i="1" dirty="0" smtClean="0">
                                  <a:latin typeface="Cambria Math" panose="02040503050406030204" pitchFamily="18" charset="0"/>
                                </a:rPr>
                                <m:t>−1</m:t>
                              </m:r>
                            </m:e>
                          </m:d>
                        </m:sup>
                      </m:sSup>
                    </m:oMath>
                  </m:oMathPara>
                </a14:m>
                <a:endParaRPr lang="zh-CN" altLang="en-US" sz="2200" dirty="0"/>
              </a:p>
            </p:txBody>
          </p:sp>
        </mc:Choice>
        <mc:Fallback xmlns="">
          <p:sp>
            <p:nvSpPr>
              <p:cNvPr id="73" name="文本框 72">
                <a:extLst>
                  <a:ext uri="{FF2B5EF4-FFF2-40B4-BE49-F238E27FC236}">
                    <a16:creationId xmlns:a16="http://schemas.microsoft.com/office/drawing/2014/main" id="{442A0F93-6E4E-C546-B4C9-F8EAAEEEB80B}"/>
                  </a:ext>
                </a:extLst>
              </p:cNvPr>
              <p:cNvSpPr txBox="1">
                <a:spLocks noRot="1" noChangeAspect="1" noMove="1" noResize="1" noEditPoints="1" noAdjustHandles="1" noChangeArrowheads="1" noChangeShapeType="1" noTextEdit="1"/>
              </p:cNvSpPr>
              <p:nvPr/>
            </p:nvSpPr>
            <p:spPr>
              <a:xfrm>
                <a:off x="9595277" y="4138671"/>
                <a:ext cx="825126" cy="459869"/>
              </a:xfrm>
              <a:prstGeom prst="rect">
                <a:avLst/>
              </a:prstGeom>
              <a:blipFill>
                <a:blip r:embed="rId12"/>
                <a:stretch>
                  <a:fillRect/>
                </a:stretch>
              </a:blipFill>
            </p:spPr>
            <p:txBody>
              <a:bodyPr/>
              <a:lstStyle/>
              <a:p>
                <a:r>
                  <a:rPr lang="zh-CN" altLang="en-US">
                    <a:noFill/>
                  </a:rPr>
                  <a:t> </a:t>
                </a:r>
              </a:p>
            </p:txBody>
          </p:sp>
        </mc:Fallback>
      </mc:AlternateContent>
      <p:sp>
        <p:nvSpPr>
          <p:cNvPr id="75" name="Straight Arrow Connector 35">
            <a:extLst>
              <a:ext uri="{FF2B5EF4-FFF2-40B4-BE49-F238E27FC236}">
                <a16:creationId xmlns:a16="http://schemas.microsoft.com/office/drawing/2014/main" id="{828D1EC6-82DA-7D43-ABC3-FCCC27BA9796}"/>
              </a:ext>
            </a:extLst>
          </p:cNvPr>
          <p:cNvSpPr/>
          <p:nvPr/>
        </p:nvSpPr>
        <p:spPr>
          <a:xfrm flipH="1" flipV="1">
            <a:off x="9419820" y="3327514"/>
            <a:ext cx="8871" cy="230591"/>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427F111C-5AF2-AC46-9DF8-786E78BE09DD}"/>
                  </a:ext>
                </a:extLst>
              </p:cNvPr>
              <p:cNvSpPr txBox="1"/>
              <p:nvPr/>
            </p:nvSpPr>
            <p:spPr>
              <a:xfrm>
                <a:off x="9540073" y="3168877"/>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6" name="文本框 75">
                <a:extLst>
                  <a:ext uri="{FF2B5EF4-FFF2-40B4-BE49-F238E27FC236}">
                    <a16:creationId xmlns:a16="http://schemas.microsoft.com/office/drawing/2014/main" id="{427F111C-5AF2-AC46-9DF8-786E78BE09DD}"/>
                  </a:ext>
                </a:extLst>
              </p:cNvPr>
              <p:cNvSpPr txBox="1">
                <a:spLocks noRot="1" noChangeAspect="1" noMove="1" noResize="1" noEditPoints="1" noAdjustHandles="1" noChangeArrowheads="1" noChangeShapeType="1" noTextEdit="1"/>
              </p:cNvSpPr>
              <p:nvPr/>
            </p:nvSpPr>
            <p:spPr>
              <a:xfrm>
                <a:off x="9540073" y="3168877"/>
                <a:ext cx="825126" cy="45986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431E3153-04F4-A541-9579-EE4B127D73BB}"/>
                  </a:ext>
                </a:extLst>
              </p:cNvPr>
              <p:cNvSpPr/>
              <p:nvPr/>
            </p:nvSpPr>
            <p:spPr>
              <a:xfrm>
                <a:off x="8643726" y="2760480"/>
                <a:ext cx="1452835" cy="47637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22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200" i="1">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𝑥</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d>
                    </m:oMath>
                  </m:oMathPara>
                </a14:m>
                <a:endParaRPr kumimoji="1" lang="zh-CN" altLang="en-US" sz="2200" dirty="0">
                  <a:solidFill>
                    <a:schemeClr val="tx1"/>
                  </a:solidFill>
                </a:endParaRPr>
              </a:p>
            </p:txBody>
          </p:sp>
        </mc:Choice>
        <mc:Fallback xmlns="">
          <p:sp>
            <p:nvSpPr>
              <p:cNvPr id="9" name="椭圆 8">
                <a:extLst>
                  <a:ext uri="{FF2B5EF4-FFF2-40B4-BE49-F238E27FC236}">
                    <a16:creationId xmlns:a16="http://schemas.microsoft.com/office/drawing/2014/main" id="{431E3153-04F4-A541-9579-EE4B127D73BB}"/>
                  </a:ext>
                </a:extLst>
              </p:cNvPr>
              <p:cNvSpPr>
                <a:spLocks noRot="1" noChangeAspect="1" noMove="1" noResize="1" noEditPoints="1" noAdjustHandles="1" noChangeArrowheads="1" noChangeShapeType="1" noTextEdit="1"/>
              </p:cNvSpPr>
              <p:nvPr/>
            </p:nvSpPr>
            <p:spPr>
              <a:xfrm>
                <a:off x="8643726" y="2760480"/>
                <a:ext cx="1452835" cy="476378"/>
              </a:xfrm>
              <a:prstGeom prst="ellipse">
                <a:avLst/>
              </a:prstGeom>
              <a:blipFill>
                <a:blip r:embed="rId14"/>
                <a:stretch>
                  <a:fillRect b="-2500"/>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57CDE5DD-5514-D540-8342-9C494740ABBF}"/>
              </a:ext>
            </a:extLst>
          </p:cNvPr>
          <p:cNvSpPr txBox="1"/>
          <p:nvPr/>
        </p:nvSpPr>
        <p:spPr>
          <a:xfrm>
            <a:off x="7563838" y="2805769"/>
            <a:ext cx="748923" cy="430887"/>
          </a:xfrm>
          <a:prstGeom prst="rect">
            <a:avLst/>
          </a:prstGeom>
          <a:noFill/>
        </p:spPr>
        <p:txBody>
          <a:bodyPr wrap="none" rtlCol="0">
            <a:spAutoFit/>
          </a:bodyPr>
          <a:lstStyle/>
          <a:p>
            <a:r>
              <a:rPr kumimoji="1" lang="zh-CN" altLang="en-US" sz="2200" dirty="0"/>
              <a:t>损失</a:t>
            </a: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B4D1C01-C68B-2D4F-8936-D53CD3AA128E}"/>
                  </a:ext>
                </a:extLst>
              </p:cNvPr>
              <p:cNvSpPr txBox="1"/>
              <p:nvPr/>
            </p:nvSpPr>
            <p:spPr>
              <a:xfrm>
                <a:off x="10782181" y="3678802"/>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8" name="文本框 77">
                <a:extLst>
                  <a:ext uri="{FF2B5EF4-FFF2-40B4-BE49-F238E27FC236}">
                    <a16:creationId xmlns:a16="http://schemas.microsoft.com/office/drawing/2014/main" id="{5B4D1C01-C68B-2D4F-8936-D53CD3AA128E}"/>
                  </a:ext>
                </a:extLst>
              </p:cNvPr>
              <p:cNvSpPr txBox="1">
                <a:spLocks noRot="1" noChangeAspect="1" noMove="1" noResize="1" noEditPoints="1" noAdjustHandles="1" noChangeArrowheads="1" noChangeShapeType="1" noTextEdit="1"/>
              </p:cNvSpPr>
              <p:nvPr/>
            </p:nvSpPr>
            <p:spPr>
              <a:xfrm>
                <a:off x="10782181" y="3678802"/>
                <a:ext cx="825127" cy="45986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F509CFD8-4EF4-9941-A49A-62F10F844747}"/>
                  </a:ext>
                </a:extLst>
              </p:cNvPr>
              <p:cNvSpPr txBox="1"/>
              <p:nvPr/>
            </p:nvSpPr>
            <p:spPr>
              <a:xfrm>
                <a:off x="10784833" y="5024628"/>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9" name="文本框 78">
                <a:extLst>
                  <a:ext uri="{FF2B5EF4-FFF2-40B4-BE49-F238E27FC236}">
                    <a16:creationId xmlns:a16="http://schemas.microsoft.com/office/drawing/2014/main" id="{F509CFD8-4EF4-9941-A49A-62F10F844747}"/>
                  </a:ext>
                </a:extLst>
              </p:cNvPr>
              <p:cNvSpPr txBox="1">
                <a:spLocks noRot="1" noChangeAspect="1" noMove="1" noResize="1" noEditPoints="1" noAdjustHandles="1" noChangeArrowheads="1" noChangeShapeType="1" noTextEdit="1"/>
              </p:cNvSpPr>
              <p:nvPr/>
            </p:nvSpPr>
            <p:spPr>
              <a:xfrm>
                <a:off x="10784833" y="5024628"/>
                <a:ext cx="825127" cy="459869"/>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E77E250-FBFD-B14C-BC41-4B0588CF1B18}"/>
                  </a:ext>
                </a:extLst>
              </p:cNvPr>
              <p:cNvSpPr txBox="1"/>
              <p:nvPr/>
            </p:nvSpPr>
            <p:spPr>
              <a:xfrm>
                <a:off x="10750062" y="4410405"/>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0" name="文本框 79">
                <a:extLst>
                  <a:ext uri="{FF2B5EF4-FFF2-40B4-BE49-F238E27FC236}">
                    <a16:creationId xmlns:a16="http://schemas.microsoft.com/office/drawing/2014/main" id="{7E77E250-FBFD-B14C-BC41-4B0588CF1B18}"/>
                  </a:ext>
                </a:extLst>
              </p:cNvPr>
              <p:cNvSpPr txBox="1">
                <a:spLocks noRot="1" noChangeAspect="1" noMove="1" noResize="1" noEditPoints="1" noAdjustHandles="1" noChangeArrowheads="1" noChangeShapeType="1" noTextEdit="1"/>
              </p:cNvSpPr>
              <p:nvPr/>
            </p:nvSpPr>
            <p:spPr>
              <a:xfrm>
                <a:off x="10750062" y="4410405"/>
                <a:ext cx="633046" cy="338554"/>
              </a:xfrm>
              <a:prstGeom prst="rect">
                <a:avLst/>
              </a:prstGeom>
              <a:blipFill>
                <a:blip r:embed="rId17"/>
                <a:stretch>
                  <a:fillRect b="-7407"/>
                </a:stretch>
              </a:blipFill>
            </p:spPr>
            <p:txBody>
              <a:bodyPr/>
              <a:lstStyle/>
              <a:p>
                <a:r>
                  <a:rPr lang="zh-CN" altLang="en-US">
                    <a:noFill/>
                  </a:rPr>
                  <a:t> </a:t>
                </a:r>
              </a:p>
            </p:txBody>
          </p:sp>
        </mc:Fallback>
      </mc:AlternateContent>
      <p:sp>
        <p:nvSpPr>
          <p:cNvPr id="81" name="Straight Arrow Connector 35">
            <a:extLst>
              <a:ext uri="{FF2B5EF4-FFF2-40B4-BE49-F238E27FC236}">
                <a16:creationId xmlns:a16="http://schemas.microsoft.com/office/drawing/2014/main" id="{8A06A1A6-C78D-834E-9181-30D1370F9BC9}"/>
              </a:ext>
            </a:extLst>
          </p:cNvPr>
          <p:cNvSpPr/>
          <p:nvPr/>
        </p:nvSpPr>
        <p:spPr>
          <a:xfrm flipH="1">
            <a:off x="10314659" y="5248855"/>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A73D3D6F-DFCB-E443-87D8-FF21E6E517F3}"/>
                  </a:ext>
                </a:extLst>
              </p:cNvPr>
              <p:cNvSpPr txBox="1"/>
              <p:nvPr/>
            </p:nvSpPr>
            <p:spPr>
              <a:xfrm>
                <a:off x="10784833" y="5660940"/>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2" name="文本框 81">
                <a:extLst>
                  <a:ext uri="{FF2B5EF4-FFF2-40B4-BE49-F238E27FC236}">
                    <a16:creationId xmlns:a16="http://schemas.microsoft.com/office/drawing/2014/main" id="{A73D3D6F-DFCB-E443-87D8-FF21E6E517F3}"/>
                  </a:ext>
                </a:extLst>
              </p:cNvPr>
              <p:cNvSpPr txBox="1">
                <a:spLocks noRot="1" noChangeAspect="1" noMove="1" noResize="1" noEditPoints="1" noAdjustHandles="1" noChangeArrowheads="1" noChangeShapeType="1" noTextEdit="1"/>
              </p:cNvSpPr>
              <p:nvPr/>
            </p:nvSpPr>
            <p:spPr>
              <a:xfrm>
                <a:off x="10784833" y="5660940"/>
                <a:ext cx="633046" cy="338554"/>
              </a:xfrm>
              <a:prstGeom prst="rect">
                <a:avLst/>
              </a:prstGeom>
              <a:blipFill>
                <a:blip r:embed="rId8"/>
                <a:stretch>
                  <a:fillRect b="-3571"/>
                </a:stretch>
              </a:blipFill>
            </p:spPr>
            <p:txBody>
              <a:bodyPr/>
              <a:lstStyle/>
              <a:p>
                <a:r>
                  <a:rPr lang="zh-CN" altLang="en-US">
                    <a:noFill/>
                  </a:rPr>
                  <a:t> </a:t>
                </a:r>
              </a:p>
            </p:txBody>
          </p:sp>
        </mc:Fallback>
      </mc:AlternateContent>
      <p:sp>
        <p:nvSpPr>
          <p:cNvPr id="83" name="Straight Arrow Connector 35">
            <a:extLst>
              <a:ext uri="{FF2B5EF4-FFF2-40B4-BE49-F238E27FC236}">
                <a16:creationId xmlns:a16="http://schemas.microsoft.com/office/drawing/2014/main" id="{F7A2E405-4054-5F42-BC38-3474EBF99FC9}"/>
              </a:ext>
            </a:extLst>
          </p:cNvPr>
          <p:cNvSpPr/>
          <p:nvPr/>
        </p:nvSpPr>
        <p:spPr>
          <a:xfrm flipH="1">
            <a:off x="10314659" y="3894119"/>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74CA8F7D-48D4-D242-9E99-36A8AB540042}"/>
                  </a:ext>
                </a:extLst>
              </p:cNvPr>
              <p:cNvSpPr txBox="1"/>
              <p:nvPr/>
            </p:nvSpPr>
            <p:spPr>
              <a:xfrm>
                <a:off x="864715" y="3710829"/>
                <a:ext cx="6107722" cy="8179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i="1" smtClean="0">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r>
                            <a:rPr kumimoji="1" lang="en-US" altLang="zh-CN" sz="2400" i="1">
                              <a:latin typeface="Cambria Math" panose="02040503050406030204" pitchFamily="18" charset="0"/>
                              <a:ea typeface="Cambria Math" panose="02040503050406030204" pitchFamily="18" charset="0"/>
                            </a:rPr>
                            <m:t>𝜃</m:t>
                          </m:r>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r>
                        <a:rPr lang="en-US" altLang="zh-CN" sz="2400" b="0" i="1" smtClean="0">
                          <a:latin typeface="Cambria Math" panose="02040503050406030204" pitchFamily="18" charset="0"/>
                          <a:cs typeface="Times New Roman" panose="02020603050405020304" pitchFamily="18" charset="0"/>
                        </a:rPr>
                        <m:t>=</m:t>
                      </m:r>
                      <m:nary>
                        <m:naryPr>
                          <m:chr m:val="∑"/>
                          <m:limLoc m:val="subSup"/>
                          <m:ctrlPr>
                            <a:rPr kumimoji="1" lang="en-US" altLang="zh-CN" sz="2400" i="1">
                              <a:latin typeface="Cambria Math" panose="02040503050406030204" pitchFamily="18" charset="0"/>
                            </a:rPr>
                          </m:ctrlPr>
                        </m:naryPr>
                        <m:sub>
                          <m:r>
                            <m:rPr>
                              <m:brk m:alnAt="25"/>
                            </m:rPr>
                            <a:rPr kumimoji="1" lang="en-US" altLang="zh-CN" sz="2400" i="1">
                              <a:latin typeface="Cambria Math" panose="02040503050406030204" pitchFamily="18" charset="0"/>
                            </a:rPr>
                            <m:t>𝑖</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𝑚</m:t>
                          </m:r>
                        </m:sup>
                        <m:e>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𝑖</m:t>
                                  </m:r>
                                </m:sub>
                              </m:sSub>
                            </m:e>
                          </m:d>
                        </m:e>
                      </m:nary>
                    </m:oMath>
                  </m:oMathPara>
                </a14:m>
                <a:endParaRPr lang="zh-CN" altLang="en-US" sz="2400" dirty="0"/>
              </a:p>
            </p:txBody>
          </p:sp>
        </mc:Choice>
        <mc:Fallback xmlns="">
          <p:sp>
            <p:nvSpPr>
              <p:cNvPr id="85" name="文本框 84">
                <a:extLst>
                  <a:ext uri="{FF2B5EF4-FFF2-40B4-BE49-F238E27FC236}">
                    <a16:creationId xmlns:a16="http://schemas.microsoft.com/office/drawing/2014/main" id="{74CA8F7D-48D4-D242-9E99-36A8AB540042}"/>
                  </a:ext>
                </a:extLst>
              </p:cNvPr>
              <p:cNvSpPr txBox="1">
                <a:spLocks noRot="1" noChangeAspect="1" noMove="1" noResize="1" noEditPoints="1" noAdjustHandles="1" noChangeArrowheads="1" noChangeShapeType="1" noTextEdit="1"/>
              </p:cNvSpPr>
              <p:nvPr/>
            </p:nvSpPr>
            <p:spPr>
              <a:xfrm>
                <a:off x="864715" y="3710829"/>
                <a:ext cx="6107722" cy="817981"/>
              </a:xfrm>
              <a:prstGeom prst="rect">
                <a:avLst/>
              </a:prstGeom>
              <a:blipFill>
                <a:blip r:embed="rId18"/>
                <a:stretch>
                  <a:fillRect t="-161538" b="-2369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80727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71</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3914020"/>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多层感知机的梯度计算</a:t>
                </a:r>
                <a:endParaRPr lang="en-US" altLang="zh-CN" sz="2400" dirty="0"/>
              </a:p>
              <a:p>
                <a:pPr marL="800100" lvl="1" indent="-342900">
                  <a:lnSpc>
                    <a:spcPct val="150000"/>
                  </a:lnSpc>
                  <a:buFont typeface="Wingdings" pitchFamily="2" charset="2"/>
                  <a:buChar char="p"/>
                </a:pPr>
                <a:r>
                  <a:rPr kumimoji="1" lang="zh-CN" altLang="en-US" sz="2400" dirty="0">
                    <a:ea typeface="Cambria Math" panose="02040503050406030204" pitchFamily="18" charset="0"/>
                  </a:rPr>
                  <a:t>梯度</a:t>
                </a:r>
                <a14:m>
                  <m:oMath xmlns:m="http://schemas.openxmlformats.org/officeDocument/2006/math">
                    <m:r>
                      <m:rPr>
                        <m:sty m:val="p"/>
                      </m:rPr>
                      <a:rPr kumimoji="1" lang="en-US" altLang="zh-CN" sz="2400" i="0" smtClean="0">
                        <a:latin typeface="Cambria Math" panose="02040503050406030204" pitchFamily="18" charset="0"/>
                        <a:ea typeface="Cambria Math" panose="02040503050406030204" pitchFamily="18" charset="0"/>
                      </a:rPr>
                      <m:t>∇</m:t>
                    </m:r>
                    <m:r>
                      <a:rPr kumimoji="1" lang="en-US" altLang="zh-CN" sz="24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400" i="1">
                            <a:solidFill>
                              <a:schemeClr val="tx1"/>
                            </a:solidFill>
                            <a:latin typeface="Cambria Math" panose="02040503050406030204" pitchFamily="18" charset="0"/>
                            <a:ea typeface="Cambria Math" panose="02040503050406030204" pitchFamily="18" charset="0"/>
                          </a:rPr>
                        </m:ctrlPr>
                      </m:dPr>
                      <m:e>
                        <m:r>
                          <a:rPr kumimoji="1" lang="en-US" altLang="zh-CN" sz="2400" b="0" i="1" smtClean="0">
                            <a:solidFill>
                              <a:schemeClr val="tx1"/>
                            </a:solidFill>
                            <a:latin typeface="Cambria Math" panose="02040503050406030204" pitchFamily="18" charset="0"/>
                            <a:ea typeface="Cambria Math" panose="02040503050406030204" pitchFamily="18" charset="0"/>
                          </a:rPr>
                          <m:t>𝜃</m:t>
                        </m:r>
                        <m:r>
                          <a:rPr kumimoji="1" lang="en-US" altLang="zh-CN" sz="2400" i="1">
                            <a:solidFill>
                              <a:schemeClr val="tx1"/>
                            </a:solidFill>
                            <a:latin typeface="Cambria Math" panose="02040503050406030204" pitchFamily="18" charset="0"/>
                            <a:ea typeface="Cambria Math" panose="02040503050406030204" pitchFamily="18" charset="0"/>
                          </a:rPr>
                          <m:t>,</m:t>
                        </m:r>
                        <m:r>
                          <a:rPr kumimoji="1" lang="en-US" altLang="zh-CN" sz="2400" b="0" i="1" smtClean="0">
                            <a:solidFill>
                              <a:schemeClr val="tx1"/>
                            </a:solidFill>
                            <a:latin typeface="Cambria Math" panose="02040503050406030204" pitchFamily="18" charset="0"/>
                            <a:ea typeface="Cambria Math" panose="02040503050406030204" pitchFamily="18" charset="0"/>
                          </a:rPr>
                          <m:t>𝑥</m:t>
                        </m:r>
                        <m:r>
                          <a:rPr kumimoji="1" lang="en-US" altLang="zh-CN" sz="2400" b="0" i="1" smtClean="0">
                            <a:solidFill>
                              <a:schemeClr val="tx1"/>
                            </a:solidFill>
                            <a:latin typeface="Cambria Math" panose="02040503050406030204" pitchFamily="18" charset="0"/>
                            <a:ea typeface="Cambria Math" panose="02040503050406030204" pitchFamily="18" charset="0"/>
                          </a:rPr>
                          <m:t>,</m:t>
                        </m:r>
                        <m:r>
                          <a:rPr kumimoji="1" lang="en-US" altLang="zh-CN" sz="2400" b="0" i="1" smtClean="0">
                            <a:solidFill>
                              <a:schemeClr val="tx1"/>
                            </a:solidFill>
                            <a:latin typeface="Cambria Math" panose="02040503050406030204" pitchFamily="18" charset="0"/>
                            <a:ea typeface="Cambria Math" panose="02040503050406030204" pitchFamily="18" charset="0"/>
                          </a:rPr>
                          <m:t>𝑦</m:t>
                        </m:r>
                      </m:e>
                    </m:d>
                  </m:oMath>
                </a14:m>
                <a:r>
                  <a:rPr lang="zh-CN" altLang="en-US" sz="2400" dirty="0"/>
                  <a:t>等价于</a:t>
                </a:r>
                <a:endParaRPr lang="en-US" altLang="zh-CN" sz="2400" dirty="0"/>
              </a:p>
              <a:p>
                <a:pPr lvl="1">
                  <a:lnSpc>
                    <a:spcPct val="150000"/>
                  </a:lnSpc>
                </a:pPr>
                <a:endParaRPr lang="en-US" altLang="zh-CN" sz="2400" dirty="0"/>
              </a:p>
              <a:p>
                <a:pPr lvl="1">
                  <a:lnSpc>
                    <a:spcPct val="150000"/>
                  </a:lnSpc>
                </a:pPr>
                <a:endParaRPr lang="en-US" altLang="zh-CN" sz="2400" dirty="0"/>
              </a:p>
              <a:p>
                <a:pPr marL="800100" lvl="1" indent="-342900">
                  <a:lnSpc>
                    <a:spcPct val="150000"/>
                  </a:lnSpc>
                  <a:buFont typeface="Wingdings" pitchFamily="2" charset="2"/>
                  <a:buChar char="p"/>
                </a:pPr>
                <a:r>
                  <a:rPr lang="zh-CN" altLang="en-US" sz="2400" dirty="0"/>
                  <a:t>对于</a:t>
                </a:r>
                <a14:m>
                  <m:oMath xmlns:m="http://schemas.openxmlformats.org/officeDocument/2006/math">
                    <m:r>
                      <a:rPr lang="en-US" altLang="zh-CN" sz="2400" b="0" i="1" smtClean="0">
                        <a:latin typeface="Cambria Math" panose="02040503050406030204" pitchFamily="18" charset="0"/>
                      </a:rPr>
                      <m:t>ℓ=</m:t>
                    </m:r>
                    <m:r>
                      <a:rPr lang="en-US" altLang="zh-CN" sz="2400" b="0" i="1" smtClean="0">
                        <a:latin typeface="Cambria Math" panose="02040503050406030204" pitchFamily="18" charset="0"/>
                      </a:rPr>
                      <m:t>𝐿</m:t>
                    </m:r>
                  </m:oMath>
                </a14:m>
                <a:r>
                  <a:rPr lang="zh-CN" altLang="en-US" sz="2400" dirty="0"/>
                  <a:t>，可得</a:t>
                </a:r>
                <a:endParaRPr lang="en-US" altLang="zh-CN" sz="2400" dirty="0"/>
              </a:p>
              <a:p>
                <a:pPr lvl="1">
                  <a:lnSpc>
                    <a:spcPct val="150000"/>
                  </a:lnSpc>
                </a:pPr>
                <a:endParaRPr lang="en-US" altLang="zh-CN" sz="2400" dirty="0"/>
              </a:p>
              <a:p>
                <a:pPr lvl="1">
                  <a:lnSpc>
                    <a:spcPct val="150000"/>
                  </a:lnSpc>
                </a:pP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3914020"/>
              </a:xfrm>
              <a:prstGeom prst="rect">
                <a:avLst/>
              </a:prstGeom>
              <a:blipFill>
                <a:blip r:embed="rId3"/>
                <a:stretch>
                  <a:fillRect l="-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Rectangle 28">
                <a:extLst>
                  <a:ext uri="{FF2B5EF4-FFF2-40B4-BE49-F238E27FC236}">
                    <a16:creationId xmlns:a16="http://schemas.microsoft.com/office/drawing/2014/main" id="{07A2CB7F-A3AF-4944-A2D9-0EE2E78BB702}"/>
                  </a:ext>
                </a:extLst>
              </p:cNvPr>
              <p:cNvSpPr/>
              <p:nvPr/>
            </p:nvSpPr>
            <p:spPr>
              <a:xfrm>
                <a:off x="8555915" y="4893339"/>
                <a:ext cx="1658607"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𝑧</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sz="2200" dirty="0"/>
              </a:p>
            </p:txBody>
          </p:sp>
        </mc:Choice>
        <mc:Fallback xmlns="">
          <p:sp>
            <p:nvSpPr>
              <p:cNvPr id="56" name="Rectangle 28">
                <a:extLst>
                  <a:ext uri="{FF2B5EF4-FFF2-40B4-BE49-F238E27FC236}">
                    <a16:creationId xmlns:a16="http://schemas.microsoft.com/office/drawing/2014/main" id="{07A2CB7F-A3AF-4944-A2D9-0EE2E78BB702}"/>
                  </a:ext>
                </a:extLst>
              </p:cNvPr>
              <p:cNvSpPr>
                <a:spLocks noRot="1" noChangeAspect="1" noMove="1" noResize="1" noEditPoints="1" noAdjustHandles="1" noChangeArrowheads="1" noChangeShapeType="1" noTextEdit="1"/>
              </p:cNvSpPr>
              <p:nvPr/>
            </p:nvSpPr>
            <p:spPr>
              <a:xfrm>
                <a:off x="8555915" y="4893339"/>
                <a:ext cx="1658607" cy="553637"/>
              </a:xfrm>
              <a:prstGeom prst="rect">
                <a:avLst/>
              </a:prstGeom>
              <a:blipFill>
                <a:blip r:embed="rId4"/>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28">
                <a:extLst>
                  <a:ext uri="{FF2B5EF4-FFF2-40B4-BE49-F238E27FC236}">
                    <a16:creationId xmlns:a16="http://schemas.microsoft.com/office/drawing/2014/main" id="{5FCB082B-51E0-8441-B848-605E488747BF}"/>
                  </a:ext>
                </a:extLst>
              </p:cNvPr>
              <p:cNvSpPr/>
              <p:nvPr/>
            </p:nvSpPr>
            <p:spPr>
              <a:xfrm>
                <a:off x="8555916" y="6154243"/>
                <a:ext cx="1676716"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rPr>
                        <m:t>𝑥</m:t>
                      </m:r>
                    </m:oMath>
                  </m:oMathPara>
                </a14:m>
                <a:endParaRPr sz="2200" dirty="0"/>
              </a:p>
            </p:txBody>
          </p:sp>
        </mc:Choice>
        <mc:Fallback xmlns="">
          <p:sp>
            <p:nvSpPr>
              <p:cNvPr id="57" name="Rectangle 28">
                <a:extLst>
                  <a:ext uri="{FF2B5EF4-FFF2-40B4-BE49-F238E27FC236}">
                    <a16:creationId xmlns:a16="http://schemas.microsoft.com/office/drawing/2014/main" id="{5FCB082B-51E0-8441-B848-605E488747BF}"/>
                  </a:ext>
                </a:extLst>
              </p:cNvPr>
              <p:cNvSpPr>
                <a:spLocks noRot="1" noChangeAspect="1" noMove="1" noResize="1" noEditPoints="1" noAdjustHandles="1" noChangeArrowheads="1" noChangeShapeType="1" noTextEdit="1"/>
              </p:cNvSpPr>
              <p:nvPr/>
            </p:nvSpPr>
            <p:spPr>
              <a:xfrm>
                <a:off x="8555916" y="6154243"/>
                <a:ext cx="1676716" cy="553637"/>
              </a:xfrm>
              <a:prstGeom prst="rect">
                <a:avLst/>
              </a:prstGeom>
              <a:blipFill>
                <a:blip r:embed="rId5"/>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28">
                <a:extLst>
                  <a:ext uri="{FF2B5EF4-FFF2-40B4-BE49-F238E27FC236}">
                    <a16:creationId xmlns:a16="http://schemas.microsoft.com/office/drawing/2014/main" id="{1FB8AF81-347B-B544-9AF8-70A41E478AD0}"/>
                  </a:ext>
                </a:extLst>
              </p:cNvPr>
              <p:cNvSpPr/>
              <p:nvPr/>
            </p:nvSpPr>
            <p:spPr>
              <a:xfrm>
                <a:off x="8539141" y="3630690"/>
                <a:ext cx="1693490" cy="537490"/>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b="0" i="1" smtClean="0">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oMath>
                  </m:oMathPara>
                </a14:m>
                <a:endParaRPr sz="2200" dirty="0"/>
              </a:p>
            </p:txBody>
          </p:sp>
        </mc:Choice>
        <mc:Fallback xmlns="">
          <p:sp>
            <p:nvSpPr>
              <p:cNvPr id="58" name="Rectangle 28">
                <a:extLst>
                  <a:ext uri="{FF2B5EF4-FFF2-40B4-BE49-F238E27FC236}">
                    <a16:creationId xmlns:a16="http://schemas.microsoft.com/office/drawing/2014/main" id="{1FB8AF81-347B-B544-9AF8-70A41E478AD0}"/>
                  </a:ext>
                </a:extLst>
              </p:cNvPr>
              <p:cNvSpPr>
                <a:spLocks noRot="1" noChangeAspect="1" noMove="1" noResize="1" noEditPoints="1" noAdjustHandles="1" noChangeArrowheads="1" noChangeShapeType="1" noTextEdit="1"/>
              </p:cNvSpPr>
              <p:nvPr/>
            </p:nvSpPr>
            <p:spPr>
              <a:xfrm>
                <a:off x="8539141" y="3630690"/>
                <a:ext cx="1693490" cy="537490"/>
              </a:xfrm>
              <a:prstGeom prst="rect">
                <a:avLst/>
              </a:prstGeom>
              <a:blipFill>
                <a:blip r:embed="rId6"/>
                <a:stretch>
                  <a:fillRect/>
                </a:stretch>
              </a:blipFill>
              <a:ln w="25400">
                <a:solidFill>
                  <a:srgbClr val="000000"/>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EDF75BE-9C49-814C-B6DD-E3A4A97B2869}"/>
              </a:ext>
            </a:extLst>
          </p:cNvPr>
          <p:cNvSpPr txBox="1"/>
          <p:nvPr/>
        </p:nvSpPr>
        <p:spPr>
          <a:xfrm>
            <a:off x="7565178" y="6215697"/>
            <a:ext cx="748923" cy="430887"/>
          </a:xfrm>
          <a:prstGeom prst="rect">
            <a:avLst/>
          </a:prstGeom>
          <a:noFill/>
        </p:spPr>
        <p:txBody>
          <a:bodyPr wrap="none" rtlCol="0">
            <a:spAutoFit/>
          </a:bodyPr>
          <a:lstStyle/>
          <a:p>
            <a:r>
              <a:rPr kumimoji="1" lang="zh-CN" altLang="en-US" sz="2200" dirty="0"/>
              <a:t>输入</a:t>
            </a:r>
          </a:p>
        </p:txBody>
      </p:sp>
      <p:sp>
        <p:nvSpPr>
          <p:cNvPr id="61" name="文本框 60">
            <a:extLst>
              <a:ext uri="{FF2B5EF4-FFF2-40B4-BE49-F238E27FC236}">
                <a16:creationId xmlns:a16="http://schemas.microsoft.com/office/drawing/2014/main" id="{9FB1CE18-B647-C24D-AF79-A5E1C9B8FFB6}"/>
              </a:ext>
            </a:extLst>
          </p:cNvPr>
          <p:cNvSpPr txBox="1"/>
          <p:nvPr/>
        </p:nvSpPr>
        <p:spPr>
          <a:xfrm>
            <a:off x="7565177" y="3699166"/>
            <a:ext cx="748923" cy="430887"/>
          </a:xfrm>
          <a:prstGeom prst="rect">
            <a:avLst/>
          </a:prstGeom>
          <a:noFill/>
        </p:spPr>
        <p:txBody>
          <a:bodyPr wrap="none" rtlCol="0">
            <a:spAutoFit/>
          </a:bodyPr>
          <a:lstStyle/>
          <a:p>
            <a:r>
              <a:rPr kumimoji="1" lang="zh-CN" altLang="en-US" sz="2200" dirty="0"/>
              <a:t>输出</a:t>
            </a:r>
          </a:p>
        </p:txBody>
      </p:sp>
      <p:sp>
        <p:nvSpPr>
          <p:cNvPr id="62" name="Straight Arrow Connector 35">
            <a:extLst>
              <a:ext uri="{FF2B5EF4-FFF2-40B4-BE49-F238E27FC236}">
                <a16:creationId xmlns:a16="http://schemas.microsoft.com/office/drawing/2014/main" id="{A1B9FA38-2569-1E47-95DB-DC7091BF12C4}"/>
              </a:ext>
            </a:extLst>
          </p:cNvPr>
          <p:cNvSpPr/>
          <p:nvPr/>
        </p:nvSpPr>
        <p:spPr>
          <a:xfrm flipV="1">
            <a:off x="9420300" y="5940009"/>
            <a:ext cx="0" cy="21423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21FFF92-ED1B-9F43-8B02-A570B5099233}"/>
                  </a:ext>
                </a:extLst>
              </p:cNvPr>
              <p:cNvSpPr txBox="1"/>
              <p:nvPr/>
            </p:nvSpPr>
            <p:spPr>
              <a:xfrm>
                <a:off x="9532703" y="5772574"/>
                <a:ext cx="825126" cy="453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0</m:t>
                              </m:r>
                            </m:e>
                          </m:d>
                        </m:sup>
                      </m:sSup>
                    </m:oMath>
                  </m:oMathPara>
                </a14:m>
                <a:endParaRPr lang="zh-CN" altLang="en-US" sz="2200" dirty="0"/>
              </a:p>
            </p:txBody>
          </p:sp>
        </mc:Choice>
        <mc:Fallback xmlns="">
          <p:sp>
            <p:nvSpPr>
              <p:cNvPr id="63" name="文本框 62">
                <a:extLst>
                  <a:ext uri="{FF2B5EF4-FFF2-40B4-BE49-F238E27FC236}">
                    <a16:creationId xmlns:a16="http://schemas.microsoft.com/office/drawing/2014/main" id="{A21FFF92-ED1B-9F43-8B02-A570B5099233}"/>
                  </a:ext>
                </a:extLst>
              </p:cNvPr>
              <p:cNvSpPr txBox="1">
                <a:spLocks noRot="1" noChangeAspect="1" noMove="1" noResize="1" noEditPoints="1" noAdjustHandles="1" noChangeArrowheads="1" noChangeShapeType="1" noTextEdit="1"/>
              </p:cNvSpPr>
              <p:nvPr/>
            </p:nvSpPr>
            <p:spPr>
              <a:xfrm>
                <a:off x="9532703" y="5772574"/>
                <a:ext cx="825126" cy="453840"/>
              </a:xfrm>
              <a:prstGeom prst="rect">
                <a:avLst/>
              </a:prstGeom>
              <a:blipFill>
                <a:blip r:embed="rId7"/>
                <a:stretch>
                  <a:fillRect/>
                </a:stretch>
              </a:blipFill>
            </p:spPr>
            <p:txBody>
              <a:bodyPr/>
              <a:lstStyle/>
              <a:p>
                <a:r>
                  <a:rPr lang="zh-CN" altLang="en-US">
                    <a:noFill/>
                  </a:rPr>
                  <a:t> </a:t>
                </a:r>
              </a:p>
            </p:txBody>
          </p:sp>
        </mc:Fallback>
      </mc:AlternateContent>
      <p:sp>
        <p:nvSpPr>
          <p:cNvPr id="65" name="Straight Arrow Connector 35">
            <a:extLst>
              <a:ext uri="{FF2B5EF4-FFF2-40B4-BE49-F238E27FC236}">
                <a16:creationId xmlns:a16="http://schemas.microsoft.com/office/drawing/2014/main" id="{DB1F6538-95F4-4944-9CC9-80038039AF5A}"/>
              </a:ext>
            </a:extLst>
          </p:cNvPr>
          <p:cNvSpPr/>
          <p:nvPr/>
        </p:nvSpPr>
        <p:spPr>
          <a:xfrm flipV="1">
            <a:off x="9420300" y="5447987"/>
            <a:ext cx="16774" cy="201256"/>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01684D-ACCC-F24A-BF3E-A5411FC8D08A}"/>
                  </a:ext>
                </a:extLst>
              </p:cNvPr>
              <p:cNvSpPr txBox="1"/>
              <p:nvPr/>
            </p:nvSpPr>
            <p:spPr>
              <a:xfrm>
                <a:off x="9112164" y="5631334"/>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 name="文本框 7">
                <a:extLst>
                  <a:ext uri="{FF2B5EF4-FFF2-40B4-BE49-F238E27FC236}">
                    <a16:creationId xmlns:a16="http://schemas.microsoft.com/office/drawing/2014/main" id="{AA01684D-ACCC-F24A-BF3E-A5411FC8D08A}"/>
                  </a:ext>
                </a:extLst>
              </p:cNvPr>
              <p:cNvSpPr txBox="1">
                <a:spLocks noRot="1" noChangeAspect="1" noMove="1" noResize="1" noEditPoints="1" noAdjustHandles="1" noChangeArrowheads="1" noChangeShapeType="1" noTextEdit="1"/>
              </p:cNvSpPr>
              <p:nvPr/>
            </p:nvSpPr>
            <p:spPr>
              <a:xfrm>
                <a:off x="9112164" y="5631334"/>
                <a:ext cx="633046" cy="338554"/>
              </a:xfrm>
              <a:prstGeom prst="rect">
                <a:avLst/>
              </a:prstGeom>
              <a:blipFill>
                <a:blip r:embed="rId8"/>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BE0F22C0-7D3A-E545-9042-03AFCF1AC42C}"/>
                  </a:ext>
                </a:extLst>
              </p:cNvPr>
              <p:cNvSpPr txBox="1"/>
              <p:nvPr/>
            </p:nvSpPr>
            <p:spPr>
              <a:xfrm>
                <a:off x="9634958" y="5422322"/>
                <a:ext cx="418388"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ℓ−1</m:t>
                              </m:r>
                            </m:e>
                          </m:d>
                        </m:sup>
                      </m:sSup>
                    </m:oMath>
                  </m:oMathPara>
                </a14:m>
                <a:endParaRPr lang="zh-CN" altLang="en-US" sz="2200" dirty="0"/>
              </a:p>
            </p:txBody>
          </p:sp>
        </mc:Choice>
        <mc:Fallback xmlns="">
          <p:sp>
            <p:nvSpPr>
              <p:cNvPr id="67" name="文本框 66">
                <a:extLst>
                  <a:ext uri="{FF2B5EF4-FFF2-40B4-BE49-F238E27FC236}">
                    <a16:creationId xmlns:a16="http://schemas.microsoft.com/office/drawing/2014/main" id="{BE0F22C0-7D3A-E545-9042-03AFCF1AC42C}"/>
                  </a:ext>
                </a:extLst>
              </p:cNvPr>
              <p:cNvSpPr txBox="1">
                <a:spLocks noRot="1" noChangeAspect="1" noMove="1" noResize="1" noEditPoints="1" noAdjustHandles="1" noChangeArrowheads="1" noChangeShapeType="1" noTextEdit="1"/>
              </p:cNvSpPr>
              <p:nvPr/>
            </p:nvSpPr>
            <p:spPr>
              <a:xfrm>
                <a:off x="9634958" y="5422322"/>
                <a:ext cx="418388" cy="453842"/>
              </a:xfrm>
              <a:prstGeom prst="rect">
                <a:avLst/>
              </a:prstGeom>
              <a:blipFill>
                <a:blip r:embed="rId9"/>
                <a:stretch>
                  <a:fillRect r="-85294"/>
                </a:stretch>
              </a:blipFill>
            </p:spPr>
            <p:txBody>
              <a:bodyPr/>
              <a:lstStyle/>
              <a:p>
                <a:r>
                  <a:rPr lang="zh-CN" altLang="en-US">
                    <a:noFill/>
                  </a:rPr>
                  <a:t> </a:t>
                </a:r>
              </a:p>
            </p:txBody>
          </p:sp>
        </mc:Fallback>
      </mc:AlternateContent>
      <p:sp>
        <p:nvSpPr>
          <p:cNvPr id="69" name="Straight Arrow Connector 35">
            <a:extLst>
              <a:ext uri="{FF2B5EF4-FFF2-40B4-BE49-F238E27FC236}">
                <a16:creationId xmlns:a16="http://schemas.microsoft.com/office/drawing/2014/main" id="{6B736CDC-918F-9B46-BA12-CF24311A2952}"/>
              </a:ext>
            </a:extLst>
          </p:cNvPr>
          <p:cNvSpPr/>
          <p:nvPr/>
        </p:nvSpPr>
        <p:spPr>
          <a:xfrm flipV="1">
            <a:off x="9419820" y="4719202"/>
            <a:ext cx="18110" cy="158119"/>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577E2AD7-331C-F74B-B97F-918DABD8A5DC}"/>
                  </a:ext>
                </a:extLst>
              </p:cNvPr>
              <p:cNvSpPr txBox="1"/>
              <p:nvPr/>
            </p:nvSpPr>
            <p:spPr>
              <a:xfrm>
                <a:off x="9506398" y="4455213"/>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0" name="文本框 69">
                <a:extLst>
                  <a:ext uri="{FF2B5EF4-FFF2-40B4-BE49-F238E27FC236}">
                    <a16:creationId xmlns:a16="http://schemas.microsoft.com/office/drawing/2014/main" id="{577E2AD7-331C-F74B-B97F-918DABD8A5DC}"/>
                  </a:ext>
                </a:extLst>
              </p:cNvPr>
              <p:cNvSpPr txBox="1">
                <a:spLocks noRot="1" noChangeAspect="1" noMove="1" noResize="1" noEditPoints="1" noAdjustHandles="1" noChangeArrowheads="1" noChangeShapeType="1" noTextEdit="1"/>
              </p:cNvSpPr>
              <p:nvPr/>
            </p:nvSpPr>
            <p:spPr>
              <a:xfrm>
                <a:off x="9506398" y="4455213"/>
                <a:ext cx="825126" cy="459869"/>
              </a:xfrm>
              <a:prstGeom prst="rect">
                <a:avLst/>
              </a:prstGeom>
              <a:blipFill>
                <a:blip r:embed="rId10"/>
                <a:stretch>
                  <a:fillRect/>
                </a:stretch>
              </a:blipFill>
            </p:spPr>
            <p:txBody>
              <a:bodyPr/>
              <a:lstStyle/>
              <a:p>
                <a:r>
                  <a:rPr lang="zh-CN" altLang="en-US">
                    <a:noFill/>
                  </a:rPr>
                  <a:t> </a:t>
                </a:r>
              </a:p>
            </p:txBody>
          </p:sp>
        </mc:Fallback>
      </mc:AlternateContent>
      <p:sp>
        <p:nvSpPr>
          <p:cNvPr id="71" name="Straight Arrow Connector 35">
            <a:extLst>
              <a:ext uri="{FF2B5EF4-FFF2-40B4-BE49-F238E27FC236}">
                <a16:creationId xmlns:a16="http://schemas.microsoft.com/office/drawing/2014/main" id="{A04EB4BE-EFC0-F543-9337-F6C0F448B86E}"/>
              </a:ext>
            </a:extLst>
          </p:cNvPr>
          <p:cNvSpPr/>
          <p:nvPr/>
        </p:nvSpPr>
        <p:spPr>
          <a:xfrm flipV="1">
            <a:off x="9426754" y="4223797"/>
            <a:ext cx="6871" cy="222778"/>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99DF746-0C6A-2F4A-9714-8440F5EDB247}"/>
                  </a:ext>
                </a:extLst>
              </p:cNvPr>
              <p:cNvSpPr txBox="1"/>
              <p:nvPr/>
            </p:nvSpPr>
            <p:spPr>
              <a:xfrm>
                <a:off x="9117097" y="4418637"/>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72" name="文本框 71">
                <a:extLst>
                  <a:ext uri="{FF2B5EF4-FFF2-40B4-BE49-F238E27FC236}">
                    <a16:creationId xmlns:a16="http://schemas.microsoft.com/office/drawing/2014/main" id="{399DF746-0C6A-2F4A-9714-8440F5EDB247}"/>
                  </a:ext>
                </a:extLst>
              </p:cNvPr>
              <p:cNvSpPr txBox="1">
                <a:spLocks noRot="1" noChangeAspect="1" noMove="1" noResize="1" noEditPoints="1" noAdjustHandles="1" noChangeArrowheads="1" noChangeShapeType="1" noTextEdit="1"/>
              </p:cNvSpPr>
              <p:nvPr/>
            </p:nvSpPr>
            <p:spPr>
              <a:xfrm>
                <a:off x="9117097" y="4418637"/>
                <a:ext cx="633046" cy="338554"/>
              </a:xfrm>
              <a:prstGeom prst="rect">
                <a:avLst/>
              </a:prstGeom>
              <a:blipFill>
                <a:blip r:embed="rId11"/>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442A0F93-6E4E-C546-B4C9-F8EAAEEEB80B}"/>
                  </a:ext>
                </a:extLst>
              </p:cNvPr>
              <p:cNvSpPr txBox="1"/>
              <p:nvPr/>
            </p:nvSpPr>
            <p:spPr>
              <a:xfrm>
                <a:off x="9595277" y="4138671"/>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r>
                                <a:rPr kumimoji="1" lang="en-US" altLang="zh-CN" sz="2200" b="0" i="1" dirty="0" smtClean="0">
                                  <a:latin typeface="Cambria Math" panose="02040503050406030204" pitchFamily="18" charset="0"/>
                                </a:rPr>
                                <m:t>−1</m:t>
                              </m:r>
                            </m:e>
                          </m:d>
                        </m:sup>
                      </m:sSup>
                    </m:oMath>
                  </m:oMathPara>
                </a14:m>
                <a:endParaRPr lang="zh-CN" altLang="en-US" sz="2200" dirty="0"/>
              </a:p>
            </p:txBody>
          </p:sp>
        </mc:Choice>
        <mc:Fallback xmlns="">
          <p:sp>
            <p:nvSpPr>
              <p:cNvPr id="73" name="文本框 72">
                <a:extLst>
                  <a:ext uri="{FF2B5EF4-FFF2-40B4-BE49-F238E27FC236}">
                    <a16:creationId xmlns:a16="http://schemas.microsoft.com/office/drawing/2014/main" id="{442A0F93-6E4E-C546-B4C9-F8EAAEEEB80B}"/>
                  </a:ext>
                </a:extLst>
              </p:cNvPr>
              <p:cNvSpPr txBox="1">
                <a:spLocks noRot="1" noChangeAspect="1" noMove="1" noResize="1" noEditPoints="1" noAdjustHandles="1" noChangeArrowheads="1" noChangeShapeType="1" noTextEdit="1"/>
              </p:cNvSpPr>
              <p:nvPr/>
            </p:nvSpPr>
            <p:spPr>
              <a:xfrm>
                <a:off x="9595277" y="4138671"/>
                <a:ext cx="825126" cy="459869"/>
              </a:xfrm>
              <a:prstGeom prst="rect">
                <a:avLst/>
              </a:prstGeom>
              <a:blipFill>
                <a:blip r:embed="rId12"/>
                <a:stretch>
                  <a:fillRect/>
                </a:stretch>
              </a:blipFill>
            </p:spPr>
            <p:txBody>
              <a:bodyPr/>
              <a:lstStyle/>
              <a:p>
                <a:r>
                  <a:rPr lang="zh-CN" altLang="en-US">
                    <a:noFill/>
                  </a:rPr>
                  <a:t> </a:t>
                </a:r>
              </a:p>
            </p:txBody>
          </p:sp>
        </mc:Fallback>
      </mc:AlternateContent>
      <p:sp>
        <p:nvSpPr>
          <p:cNvPr id="75" name="Straight Arrow Connector 35">
            <a:extLst>
              <a:ext uri="{FF2B5EF4-FFF2-40B4-BE49-F238E27FC236}">
                <a16:creationId xmlns:a16="http://schemas.microsoft.com/office/drawing/2014/main" id="{828D1EC6-82DA-7D43-ABC3-FCCC27BA9796}"/>
              </a:ext>
            </a:extLst>
          </p:cNvPr>
          <p:cNvSpPr/>
          <p:nvPr/>
        </p:nvSpPr>
        <p:spPr>
          <a:xfrm flipH="1" flipV="1">
            <a:off x="9419820" y="3327514"/>
            <a:ext cx="8871" cy="230591"/>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427F111C-5AF2-AC46-9DF8-786E78BE09DD}"/>
                  </a:ext>
                </a:extLst>
              </p:cNvPr>
              <p:cNvSpPr txBox="1"/>
              <p:nvPr/>
            </p:nvSpPr>
            <p:spPr>
              <a:xfrm>
                <a:off x="9540073" y="3168877"/>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6" name="文本框 75">
                <a:extLst>
                  <a:ext uri="{FF2B5EF4-FFF2-40B4-BE49-F238E27FC236}">
                    <a16:creationId xmlns:a16="http://schemas.microsoft.com/office/drawing/2014/main" id="{427F111C-5AF2-AC46-9DF8-786E78BE09DD}"/>
                  </a:ext>
                </a:extLst>
              </p:cNvPr>
              <p:cNvSpPr txBox="1">
                <a:spLocks noRot="1" noChangeAspect="1" noMove="1" noResize="1" noEditPoints="1" noAdjustHandles="1" noChangeArrowheads="1" noChangeShapeType="1" noTextEdit="1"/>
              </p:cNvSpPr>
              <p:nvPr/>
            </p:nvSpPr>
            <p:spPr>
              <a:xfrm>
                <a:off x="9540073" y="3168877"/>
                <a:ext cx="825126" cy="45986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431E3153-04F4-A541-9579-EE4B127D73BB}"/>
                  </a:ext>
                </a:extLst>
              </p:cNvPr>
              <p:cNvSpPr/>
              <p:nvPr/>
            </p:nvSpPr>
            <p:spPr>
              <a:xfrm>
                <a:off x="8643726" y="2760480"/>
                <a:ext cx="1452835" cy="47637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22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200" i="1">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𝑥</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d>
                    </m:oMath>
                  </m:oMathPara>
                </a14:m>
                <a:endParaRPr kumimoji="1" lang="zh-CN" altLang="en-US" sz="2200" dirty="0">
                  <a:solidFill>
                    <a:schemeClr val="tx1"/>
                  </a:solidFill>
                </a:endParaRPr>
              </a:p>
            </p:txBody>
          </p:sp>
        </mc:Choice>
        <mc:Fallback xmlns="">
          <p:sp>
            <p:nvSpPr>
              <p:cNvPr id="9" name="椭圆 8">
                <a:extLst>
                  <a:ext uri="{FF2B5EF4-FFF2-40B4-BE49-F238E27FC236}">
                    <a16:creationId xmlns:a16="http://schemas.microsoft.com/office/drawing/2014/main" id="{431E3153-04F4-A541-9579-EE4B127D73BB}"/>
                  </a:ext>
                </a:extLst>
              </p:cNvPr>
              <p:cNvSpPr>
                <a:spLocks noRot="1" noChangeAspect="1" noMove="1" noResize="1" noEditPoints="1" noAdjustHandles="1" noChangeArrowheads="1" noChangeShapeType="1" noTextEdit="1"/>
              </p:cNvSpPr>
              <p:nvPr/>
            </p:nvSpPr>
            <p:spPr>
              <a:xfrm>
                <a:off x="8643726" y="2760480"/>
                <a:ext cx="1452835" cy="476378"/>
              </a:xfrm>
              <a:prstGeom prst="ellipse">
                <a:avLst/>
              </a:prstGeom>
              <a:blipFill>
                <a:blip r:embed="rId14"/>
                <a:stretch>
                  <a:fillRect b="-2500"/>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57CDE5DD-5514-D540-8342-9C494740ABBF}"/>
              </a:ext>
            </a:extLst>
          </p:cNvPr>
          <p:cNvSpPr txBox="1"/>
          <p:nvPr/>
        </p:nvSpPr>
        <p:spPr>
          <a:xfrm>
            <a:off x="7563838" y="2805769"/>
            <a:ext cx="748923" cy="430887"/>
          </a:xfrm>
          <a:prstGeom prst="rect">
            <a:avLst/>
          </a:prstGeom>
          <a:noFill/>
        </p:spPr>
        <p:txBody>
          <a:bodyPr wrap="none" rtlCol="0">
            <a:spAutoFit/>
          </a:bodyPr>
          <a:lstStyle/>
          <a:p>
            <a:r>
              <a:rPr kumimoji="1" lang="zh-CN" altLang="en-US" sz="2200" dirty="0"/>
              <a:t>损失</a:t>
            </a: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B4D1C01-C68B-2D4F-8936-D53CD3AA128E}"/>
                  </a:ext>
                </a:extLst>
              </p:cNvPr>
              <p:cNvSpPr txBox="1"/>
              <p:nvPr/>
            </p:nvSpPr>
            <p:spPr>
              <a:xfrm>
                <a:off x="10782181" y="3678802"/>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8" name="文本框 77">
                <a:extLst>
                  <a:ext uri="{FF2B5EF4-FFF2-40B4-BE49-F238E27FC236}">
                    <a16:creationId xmlns:a16="http://schemas.microsoft.com/office/drawing/2014/main" id="{5B4D1C01-C68B-2D4F-8936-D53CD3AA128E}"/>
                  </a:ext>
                </a:extLst>
              </p:cNvPr>
              <p:cNvSpPr txBox="1">
                <a:spLocks noRot="1" noChangeAspect="1" noMove="1" noResize="1" noEditPoints="1" noAdjustHandles="1" noChangeArrowheads="1" noChangeShapeType="1" noTextEdit="1"/>
              </p:cNvSpPr>
              <p:nvPr/>
            </p:nvSpPr>
            <p:spPr>
              <a:xfrm>
                <a:off x="10782181" y="3678802"/>
                <a:ext cx="825127" cy="45986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F509CFD8-4EF4-9941-A49A-62F10F844747}"/>
                  </a:ext>
                </a:extLst>
              </p:cNvPr>
              <p:cNvSpPr txBox="1"/>
              <p:nvPr/>
            </p:nvSpPr>
            <p:spPr>
              <a:xfrm>
                <a:off x="10784833" y="5024628"/>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9" name="文本框 78">
                <a:extLst>
                  <a:ext uri="{FF2B5EF4-FFF2-40B4-BE49-F238E27FC236}">
                    <a16:creationId xmlns:a16="http://schemas.microsoft.com/office/drawing/2014/main" id="{F509CFD8-4EF4-9941-A49A-62F10F844747}"/>
                  </a:ext>
                </a:extLst>
              </p:cNvPr>
              <p:cNvSpPr txBox="1">
                <a:spLocks noRot="1" noChangeAspect="1" noMove="1" noResize="1" noEditPoints="1" noAdjustHandles="1" noChangeArrowheads="1" noChangeShapeType="1" noTextEdit="1"/>
              </p:cNvSpPr>
              <p:nvPr/>
            </p:nvSpPr>
            <p:spPr>
              <a:xfrm>
                <a:off x="10784833" y="5024628"/>
                <a:ext cx="825127" cy="459869"/>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E77E250-FBFD-B14C-BC41-4B0588CF1B18}"/>
                  </a:ext>
                </a:extLst>
              </p:cNvPr>
              <p:cNvSpPr txBox="1"/>
              <p:nvPr/>
            </p:nvSpPr>
            <p:spPr>
              <a:xfrm>
                <a:off x="10750062" y="4410405"/>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0" name="文本框 79">
                <a:extLst>
                  <a:ext uri="{FF2B5EF4-FFF2-40B4-BE49-F238E27FC236}">
                    <a16:creationId xmlns:a16="http://schemas.microsoft.com/office/drawing/2014/main" id="{7E77E250-FBFD-B14C-BC41-4B0588CF1B18}"/>
                  </a:ext>
                </a:extLst>
              </p:cNvPr>
              <p:cNvSpPr txBox="1">
                <a:spLocks noRot="1" noChangeAspect="1" noMove="1" noResize="1" noEditPoints="1" noAdjustHandles="1" noChangeArrowheads="1" noChangeShapeType="1" noTextEdit="1"/>
              </p:cNvSpPr>
              <p:nvPr/>
            </p:nvSpPr>
            <p:spPr>
              <a:xfrm>
                <a:off x="10750062" y="4410405"/>
                <a:ext cx="633046" cy="338554"/>
              </a:xfrm>
              <a:prstGeom prst="rect">
                <a:avLst/>
              </a:prstGeom>
              <a:blipFill>
                <a:blip r:embed="rId17"/>
                <a:stretch>
                  <a:fillRect b="-7407"/>
                </a:stretch>
              </a:blipFill>
            </p:spPr>
            <p:txBody>
              <a:bodyPr/>
              <a:lstStyle/>
              <a:p>
                <a:r>
                  <a:rPr lang="zh-CN" altLang="en-US">
                    <a:noFill/>
                  </a:rPr>
                  <a:t> </a:t>
                </a:r>
              </a:p>
            </p:txBody>
          </p:sp>
        </mc:Fallback>
      </mc:AlternateContent>
      <p:sp>
        <p:nvSpPr>
          <p:cNvPr id="81" name="Straight Arrow Connector 35">
            <a:extLst>
              <a:ext uri="{FF2B5EF4-FFF2-40B4-BE49-F238E27FC236}">
                <a16:creationId xmlns:a16="http://schemas.microsoft.com/office/drawing/2014/main" id="{8A06A1A6-C78D-834E-9181-30D1370F9BC9}"/>
              </a:ext>
            </a:extLst>
          </p:cNvPr>
          <p:cNvSpPr/>
          <p:nvPr/>
        </p:nvSpPr>
        <p:spPr>
          <a:xfrm flipH="1">
            <a:off x="10314659" y="5248855"/>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A73D3D6F-DFCB-E443-87D8-FF21E6E517F3}"/>
                  </a:ext>
                </a:extLst>
              </p:cNvPr>
              <p:cNvSpPr txBox="1"/>
              <p:nvPr/>
            </p:nvSpPr>
            <p:spPr>
              <a:xfrm>
                <a:off x="10784833" y="5660940"/>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2" name="文本框 81">
                <a:extLst>
                  <a:ext uri="{FF2B5EF4-FFF2-40B4-BE49-F238E27FC236}">
                    <a16:creationId xmlns:a16="http://schemas.microsoft.com/office/drawing/2014/main" id="{A73D3D6F-DFCB-E443-87D8-FF21E6E517F3}"/>
                  </a:ext>
                </a:extLst>
              </p:cNvPr>
              <p:cNvSpPr txBox="1">
                <a:spLocks noRot="1" noChangeAspect="1" noMove="1" noResize="1" noEditPoints="1" noAdjustHandles="1" noChangeArrowheads="1" noChangeShapeType="1" noTextEdit="1"/>
              </p:cNvSpPr>
              <p:nvPr/>
            </p:nvSpPr>
            <p:spPr>
              <a:xfrm>
                <a:off x="10784833" y="5660940"/>
                <a:ext cx="633046" cy="338554"/>
              </a:xfrm>
              <a:prstGeom prst="rect">
                <a:avLst/>
              </a:prstGeom>
              <a:blipFill>
                <a:blip r:embed="rId8"/>
                <a:stretch>
                  <a:fillRect b="-3571"/>
                </a:stretch>
              </a:blipFill>
            </p:spPr>
            <p:txBody>
              <a:bodyPr/>
              <a:lstStyle/>
              <a:p>
                <a:r>
                  <a:rPr lang="zh-CN" altLang="en-US">
                    <a:noFill/>
                  </a:rPr>
                  <a:t> </a:t>
                </a:r>
              </a:p>
            </p:txBody>
          </p:sp>
        </mc:Fallback>
      </mc:AlternateContent>
      <p:sp>
        <p:nvSpPr>
          <p:cNvPr id="83" name="Straight Arrow Connector 35">
            <a:extLst>
              <a:ext uri="{FF2B5EF4-FFF2-40B4-BE49-F238E27FC236}">
                <a16:creationId xmlns:a16="http://schemas.microsoft.com/office/drawing/2014/main" id="{F7A2E405-4054-5F42-BC38-3474EBF99FC9}"/>
              </a:ext>
            </a:extLst>
          </p:cNvPr>
          <p:cNvSpPr/>
          <p:nvPr/>
        </p:nvSpPr>
        <p:spPr>
          <a:xfrm flipH="1">
            <a:off x="10314659" y="3894119"/>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9815904-C010-5A42-80A1-53B5B4E7148B}"/>
                  </a:ext>
                </a:extLst>
              </p:cNvPr>
              <p:cNvSpPr txBox="1"/>
              <p:nvPr/>
            </p:nvSpPr>
            <p:spPr>
              <a:xfrm>
                <a:off x="2758375" y="3678802"/>
                <a:ext cx="2696315" cy="732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r>
                        <a:rPr kumimoji="1" lang="en-US" altLang="zh-CN" sz="2400" b="0" i="1" smtClean="0">
                          <a:latin typeface="Cambria Math" panose="02040503050406030204" pitchFamily="18" charset="0"/>
                        </a:rPr>
                        <m:t>,∀ℓ∈</m:t>
                      </m:r>
                      <m:d>
                        <m:dPr>
                          <m:begChr m:val="["/>
                          <m:endChr m:val="]"/>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𝐿</m:t>
                          </m:r>
                        </m:e>
                      </m:d>
                    </m:oMath>
                  </m:oMathPara>
                </a14:m>
                <a:endParaRPr kumimoji="1" lang="zh-CN" altLang="en-US" sz="2400" dirty="0"/>
              </a:p>
            </p:txBody>
          </p:sp>
        </mc:Choice>
        <mc:Fallback xmlns="">
          <p:sp>
            <p:nvSpPr>
              <p:cNvPr id="3" name="文本框 2">
                <a:extLst>
                  <a:ext uri="{FF2B5EF4-FFF2-40B4-BE49-F238E27FC236}">
                    <a16:creationId xmlns:a16="http://schemas.microsoft.com/office/drawing/2014/main" id="{99815904-C010-5A42-80A1-53B5B4E7148B}"/>
                  </a:ext>
                </a:extLst>
              </p:cNvPr>
              <p:cNvSpPr txBox="1">
                <a:spLocks noRot="1" noChangeAspect="1" noMove="1" noResize="1" noEditPoints="1" noAdjustHandles="1" noChangeArrowheads="1" noChangeShapeType="1" noTextEdit="1"/>
              </p:cNvSpPr>
              <p:nvPr/>
            </p:nvSpPr>
            <p:spPr>
              <a:xfrm>
                <a:off x="2758375" y="3678802"/>
                <a:ext cx="2696315" cy="732573"/>
              </a:xfrm>
              <a:prstGeom prst="rect">
                <a:avLst/>
              </a:prstGeom>
              <a:blipFill>
                <a:blip r:embed="rId18"/>
                <a:stretch>
                  <a:fillRect l="-1869" b="-135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A635BE61-162F-954D-A3EA-68F5FFAD0AB0}"/>
                  </a:ext>
                </a:extLst>
              </p:cNvPr>
              <p:cNvSpPr txBox="1"/>
              <p:nvPr/>
            </p:nvSpPr>
            <p:spPr>
              <a:xfrm>
                <a:off x="1167664" y="5278871"/>
                <a:ext cx="5122069"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𝐿</m:t>
                                  </m:r>
                                </m:e>
                              </m:d>
                            </m:sup>
                          </m:sSup>
                        </m:den>
                      </m:f>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r>
                            <a:rPr kumimoji="1" lang="en-US" altLang="zh-CN" sz="2400" i="1">
                              <a:latin typeface="Cambria Math" panose="02040503050406030204" pitchFamily="18" charset="0"/>
                            </a:rPr>
                            <m:t>ℓ</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𝜃</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𝑦</m:t>
                              </m:r>
                            </m:e>
                          </m:d>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den>
                      </m:f>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den>
                      </m:f>
                    </m:oMath>
                  </m:oMathPara>
                </a14:m>
                <a:endParaRPr lang="zh-CN" altLang="en-US" sz="2400" dirty="0"/>
              </a:p>
            </p:txBody>
          </p:sp>
        </mc:Choice>
        <mc:Fallback xmlns="">
          <p:sp>
            <p:nvSpPr>
              <p:cNvPr id="35" name="文本框 34">
                <a:extLst>
                  <a:ext uri="{FF2B5EF4-FFF2-40B4-BE49-F238E27FC236}">
                    <a16:creationId xmlns:a16="http://schemas.microsoft.com/office/drawing/2014/main" id="{A635BE61-162F-954D-A3EA-68F5FFAD0AB0}"/>
                  </a:ext>
                </a:extLst>
              </p:cNvPr>
              <p:cNvSpPr txBox="1">
                <a:spLocks noRot="1" noChangeAspect="1" noMove="1" noResize="1" noEditPoints="1" noAdjustHandles="1" noChangeArrowheads="1" noChangeShapeType="1" noTextEdit="1"/>
              </p:cNvSpPr>
              <p:nvPr/>
            </p:nvSpPr>
            <p:spPr>
              <a:xfrm>
                <a:off x="1167664" y="5278871"/>
                <a:ext cx="5122069" cy="875432"/>
              </a:xfrm>
              <a:prstGeom prst="rect">
                <a:avLst/>
              </a:prstGeom>
              <a:blipFill>
                <a:blip r:embed="rId19"/>
                <a:stretch>
                  <a:fillRect b="-71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86412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72</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4468018"/>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多层感知机的梯度计算</a:t>
                </a:r>
                <a:endParaRPr lang="en-US" altLang="zh-CN" sz="2400" dirty="0"/>
              </a:p>
              <a:p>
                <a:pPr marL="800100" lvl="1" indent="-342900">
                  <a:lnSpc>
                    <a:spcPct val="150000"/>
                  </a:lnSpc>
                  <a:buFont typeface="Wingdings" pitchFamily="2" charset="2"/>
                  <a:buChar char="p"/>
                </a:pPr>
                <a:r>
                  <a:rPr lang="zh-CN" altLang="en-US" sz="2400" dirty="0"/>
                  <a:t>对于</a:t>
                </a:r>
                <a14:m>
                  <m:oMath xmlns:m="http://schemas.openxmlformats.org/officeDocument/2006/math">
                    <m:r>
                      <a:rPr lang="en-US" altLang="zh-CN" sz="2400" b="0" i="1" smtClean="0">
                        <a:latin typeface="Cambria Math" panose="02040503050406030204" pitchFamily="18" charset="0"/>
                      </a:rPr>
                      <m:t>ℓ=</m:t>
                    </m:r>
                    <m:r>
                      <a:rPr lang="en-US" altLang="zh-CN" sz="2400" b="0" i="1" smtClean="0">
                        <a:latin typeface="Cambria Math" panose="02040503050406030204" pitchFamily="18" charset="0"/>
                      </a:rPr>
                      <m:t>𝐿</m:t>
                    </m:r>
                  </m:oMath>
                </a14:m>
                <a:r>
                  <a:rPr lang="zh-CN" altLang="en-US" sz="2400" dirty="0"/>
                  <a:t>，可得</a:t>
                </a: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r>
                  <a:rPr lang="zh-CN" altLang="en-US" sz="2400" dirty="0"/>
                  <a:t>对于</a:t>
                </a:r>
                <a14:m>
                  <m:oMath xmlns:m="http://schemas.openxmlformats.org/officeDocument/2006/math">
                    <m:r>
                      <a:rPr lang="en-US" altLang="zh-CN" sz="2400" b="0" i="1" smtClean="0">
                        <a:latin typeface="Cambria Math" panose="02040503050406030204" pitchFamily="18" charset="0"/>
                      </a:rPr>
                      <m:t>ℓ=</m:t>
                    </m:r>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−1</m:t>
                    </m:r>
                  </m:oMath>
                </a14:m>
                <a:r>
                  <a:rPr lang="zh-CN" altLang="en-US" sz="2400" dirty="0"/>
                  <a:t>，可得</a:t>
                </a: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r>
                  <a:rPr lang="zh-CN" altLang="en-US" sz="2400" dirty="0"/>
                  <a:t>标红项的计算可复用</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4468018"/>
              </a:xfrm>
              <a:prstGeom prst="rect">
                <a:avLst/>
              </a:prstGeom>
              <a:blipFill>
                <a:blip r:embed="rId3"/>
                <a:stretch>
                  <a:fillRect l="-1311" b="-22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Rectangle 28">
                <a:extLst>
                  <a:ext uri="{FF2B5EF4-FFF2-40B4-BE49-F238E27FC236}">
                    <a16:creationId xmlns:a16="http://schemas.microsoft.com/office/drawing/2014/main" id="{07A2CB7F-A3AF-4944-A2D9-0EE2E78BB702}"/>
                  </a:ext>
                </a:extLst>
              </p:cNvPr>
              <p:cNvSpPr/>
              <p:nvPr/>
            </p:nvSpPr>
            <p:spPr>
              <a:xfrm>
                <a:off x="8555915" y="4893339"/>
                <a:ext cx="1658607"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𝑧</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sz="2200" dirty="0"/>
              </a:p>
            </p:txBody>
          </p:sp>
        </mc:Choice>
        <mc:Fallback xmlns="">
          <p:sp>
            <p:nvSpPr>
              <p:cNvPr id="56" name="Rectangle 28">
                <a:extLst>
                  <a:ext uri="{FF2B5EF4-FFF2-40B4-BE49-F238E27FC236}">
                    <a16:creationId xmlns:a16="http://schemas.microsoft.com/office/drawing/2014/main" id="{07A2CB7F-A3AF-4944-A2D9-0EE2E78BB702}"/>
                  </a:ext>
                </a:extLst>
              </p:cNvPr>
              <p:cNvSpPr>
                <a:spLocks noRot="1" noChangeAspect="1" noMove="1" noResize="1" noEditPoints="1" noAdjustHandles="1" noChangeArrowheads="1" noChangeShapeType="1" noTextEdit="1"/>
              </p:cNvSpPr>
              <p:nvPr/>
            </p:nvSpPr>
            <p:spPr>
              <a:xfrm>
                <a:off x="8555915" y="4893339"/>
                <a:ext cx="1658607" cy="553637"/>
              </a:xfrm>
              <a:prstGeom prst="rect">
                <a:avLst/>
              </a:prstGeom>
              <a:blipFill>
                <a:blip r:embed="rId4"/>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28">
                <a:extLst>
                  <a:ext uri="{FF2B5EF4-FFF2-40B4-BE49-F238E27FC236}">
                    <a16:creationId xmlns:a16="http://schemas.microsoft.com/office/drawing/2014/main" id="{5FCB082B-51E0-8441-B848-605E488747BF}"/>
                  </a:ext>
                </a:extLst>
              </p:cNvPr>
              <p:cNvSpPr/>
              <p:nvPr/>
            </p:nvSpPr>
            <p:spPr>
              <a:xfrm>
                <a:off x="8555916" y="6154243"/>
                <a:ext cx="1676716"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rPr>
                        <m:t>𝑥</m:t>
                      </m:r>
                    </m:oMath>
                  </m:oMathPara>
                </a14:m>
                <a:endParaRPr sz="2200" dirty="0"/>
              </a:p>
            </p:txBody>
          </p:sp>
        </mc:Choice>
        <mc:Fallback xmlns="">
          <p:sp>
            <p:nvSpPr>
              <p:cNvPr id="57" name="Rectangle 28">
                <a:extLst>
                  <a:ext uri="{FF2B5EF4-FFF2-40B4-BE49-F238E27FC236}">
                    <a16:creationId xmlns:a16="http://schemas.microsoft.com/office/drawing/2014/main" id="{5FCB082B-51E0-8441-B848-605E488747BF}"/>
                  </a:ext>
                </a:extLst>
              </p:cNvPr>
              <p:cNvSpPr>
                <a:spLocks noRot="1" noChangeAspect="1" noMove="1" noResize="1" noEditPoints="1" noAdjustHandles="1" noChangeArrowheads="1" noChangeShapeType="1" noTextEdit="1"/>
              </p:cNvSpPr>
              <p:nvPr/>
            </p:nvSpPr>
            <p:spPr>
              <a:xfrm>
                <a:off x="8555916" y="6154243"/>
                <a:ext cx="1676716" cy="553637"/>
              </a:xfrm>
              <a:prstGeom prst="rect">
                <a:avLst/>
              </a:prstGeom>
              <a:blipFill>
                <a:blip r:embed="rId5"/>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28">
                <a:extLst>
                  <a:ext uri="{FF2B5EF4-FFF2-40B4-BE49-F238E27FC236}">
                    <a16:creationId xmlns:a16="http://schemas.microsoft.com/office/drawing/2014/main" id="{1FB8AF81-347B-B544-9AF8-70A41E478AD0}"/>
                  </a:ext>
                </a:extLst>
              </p:cNvPr>
              <p:cNvSpPr/>
              <p:nvPr/>
            </p:nvSpPr>
            <p:spPr>
              <a:xfrm>
                <a:off x="8539141" y="3630690"/>
                <a:ext cx="1693490" cy="537490"/>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b="0" i="1" smtClean="0">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oMath>
                  </m:oMathPara>
                </a14:m>
                <a:endParaRPr sz="2200" dirty="0"/>
              </a:p>
            </p:txBody>
          </p:sp>
        </mc:Choice>
        <mc:Fallback xmlns="">
          <p:sp>
            <p:nvSpPr>
              <p:cNvPr id="58" name="Rectangle 28">
                <a:extLst>
                  <a:ext uri="{FF2B5EF4-FFF2-40B4-BE49-F238E27FC236}">
                    <a16:creationId xmlns:a16="http://schemas.microsoft.com/office/drawing/2014/main" id="{1FB8AF81-347B-B544-9AF8-70A41E478AD0}"/>
                  </a:ext>
                </a:extLst>
              </p:cNvPr>
              <p:cNvSpPr>
                <a:spLocks noRot="1" noChangeAspect="1" noMove="1" noResize="1" noEditPoints="1" noAdjustHandles="1" noChangeArrowheads="1" noChangeShapeType="1" noTextEdit="1"/>
              </p:cNvSpPr>
              <p:nvPr/>
            </p:nvSpPr>
            <p:spPr>
              <a:xfrm>
                <a:off x="8539141" y="3630690"/>
                <a:ext cx="1693490" cy="537490"/>
              </a:xfrm>
              <a:prstGeom prst="rect">
                <a:avLst/>
              </a:prstGeom>
              <a:blipFill>
                <a:blip r:embed="rId6"/>
                <a:stretch>
                  <a:fillRect/>
                </a:stretch>
              </a:blipFill>
              <a:ln w="25400">
                <a:solidFill>
                  <a:srgbClr val="000000"/>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EDF75BE-9C49-814C-B6DD-E3A4A97B2869}"/>
              </a:ext>
            </a:extLst>
          </p:cNvPr>
          <p:cNvSpPr txBox="1"/>
          <p:nvPr/>
        </p:nvSpPr>
        <p:spPr>
          <a:xfrm>
            <a:off x="7565178" y="6215697"/>
            <a:ext cx="748923" cy="430887"/>
          </a:xfrm>
          <a:prstGeom prst="rect">
            <a:avLst/>
          </a:prstGeom>
          <a:noFill/>
        </p:spPr>
        <p:txBody>
          <a:bodyPr wrap="none" rtlCol="0">
            <a:spAutoFit/>
          </a:bodyPr>
          <a:lstStyle/>
          <a:p>
            <a:r>
              <a:rPr kumimoji="1" lang="zh-CN" altLang="en-US" sz="2200" dirty="0"/>
              <a:t>输入</a:t>
            </a:r>
          </a:p>
        </p:txBody>
      </p:sp>
      <p:sp>
        <p:nvSpPr>
          <p:cNvPr id="61" name="文本框 60">
            <a:extLst>
              <a:ext uri="{FF2B5EF4-FFF2-40B4-BE49-F238E27FC236}">
                <a16:creationId xmlns:a16="http://schemas.microsoft.com/office/drawing/2014/main" id="{9FB1CE18-B647-C24D-AF79-A5E1C9B8FFB6}"/>
              </a:ext>
            </a:extLst>
          </p:cNvPr>
          <p:cNvSpPr txBox="1"/>
          <p:nvPr/>
        </p:nvSpPr>
        <p:spPr>
          <a:xfrm>
            <a:off x="7565177" y="3699166"/>
            <a:ext cx="748923" cy="430887"/>
          </a:xfrm>
          <a:prstGeom prst="rect">
            <a:avLst/>
          </a:prstGeom>
          <a:noFill/>
        </p:spPr>
        <p:txBody>
          <a:bodyPr wrap="none" rtlCol="0">
            <a:spAutoFit/>
          </a:bodyPr>
          <a:lstStyle/>
          <a:p>
            <a:r>
              <a:rPr kumimoji="1" lang="zh-CN" altLang="en-US" sz="2200" dirty="0"/>
              <a:t>输出</a:t>
            </a:r>
          </a:p>
        </p:txBody>
      </p:sp>
      <p:sp>
        <p:nvSpPr>
          <p:cNvPr id="62" name="Straight Arrow Connector 35">
            <a:extLst>
              <a:ext uri="{FF2B5EF4-FFF2-40B4-BE49-F238E27FC236}">
                <a16:creationId xmlns:a16="http://schemas.microsoft.com/office/drawing/2014/main" id="{A1B9FA38-2569-1E47-95DB-DC7091BF12C4}"/>
              </a:ext>
            </a:extLst>
          </p:cNvPr>
          <p:cNvSpPr/>
          <p:nvPr/>
        </p:nvSpPr>
        <p:spPr>
          <a:xfrm flipV="1">
            <a:off x="9420300" y="5940009"/>
            <a:ext cx="0" cy="21423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21FFF92-ED1B-9F43-8B02-A570B5099233}"/>
                  </a:ext>
                </a:extLst>
              </p:cNvPr>
              <p:cNvSpPr txBox="1"/>
              <p:nvPr/>
            </p:nvSpPr>
            <p:spPr>
              <a:xfrm>
                <a:off x="9532703" y="5772574"/>
                <a:ext cx="825126" cy="453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0</m:t>
                              </m:r>
                            </m:e>
                          </m:d>
                        </m:sup>
                      </m:sSup>
                    </m:oMath>
                  </m:oMathPara>
                </a14:m>
                <a:endParaRPr lang="zh-CN" altLang="en-US" sz="2200" dirty="0"/>
              </a:p>
            </p:txBody>
          </p:sp>
        </mc:Choice>
        <mc:Fallback xmlns="">
          <p:sp>
            <p:nvSpPr>
              <p:cNvPr id="63" name="文本框 62">
                <a:extLst>
                  <a:ext uri="{FF2B5EF4-FFF2-40B4-BE49-F238E27FC236}">
                    <a16:creationId xmlns:a16="http://schemas.microsoft.com/office/drawing/2014/main" id="{A21FFF92-ED1B-9F43-8B02-A570B5099233}"/>
                  </a:ext>
                </a:extLst>
              </p:cNvPr>
              <p:cNvSpPr txBox="1">
                <a:spLocks noRot="1" noChangeAspect="1" noMove="1" noResize="1" noEditPoints="1" noAdjustHandles="1" noChangeArrowheads="1" noChangeShapeType="1" noTextEdit="1"/>
              </p:cNvSpPr>
              <p:nvPr/>
            </p:nvSpPr>
            <p:spPr>
              <a:xfrm>
                <a:off x="9532703" y="5772574"/>
                <a:ext cx="825126" cy="453840"/>
              </a:xfrm>
              <a:prstGeom prst="rect">
                <a:avLst/>
              </a:prstGeom>
              <a:blipFill>
                <a:blip r:embed="rId7"/>
                <a:stretch>
                  <a:fillRect/>
                </a:stretch>
              </a:blipFill>
            </p:spPr>
            <p:txBody>
              <a:bodyPr/>
              <a:lstStyle/>
              <a:p>
                <a:r>
                  <a:rPr lang="zh-CN" altLang="en-US">
                    <a:noFill/>
                  </a:rPr>
                  <a:t> </a:t>
                </a:r>
              </a:p>
            </p:txBody>
          </p:sp>
        </mc:Fallback>
      </mc:AlternateContent>
      <p:sp>
        <p:nvSpPr>
          <p:cNvPr id="65" name="Straight Arrow Connector 35">
            <a:extLst>
              <a:ext uri="{FF2B5EF4-FFF2-40B4-BE49-F238E27FC236}">
                <a16:creationId xmlns:a16="http://schemas.microsoft.com/office/drawing/2014/main" id="{DB1F6538-95F4-4944-9CC9-80038039AF5A}"/>
              </a:ext>
            </a:extLst>
          </p:cNvPr>
          <p:cNvSpPr/>
          <p:nvPr/>
        </p:nvSpPr>
        <p:spPr>
          <a:xfrm flipV="1">
            <a:off x="9420300" y="5447987"/>
            <a:ext cx="16774" cy="201256"/>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01684D-ACCC-F24A-BF3E-A5411FC8D08A}"/>
                  </a:ext>
                </a:extLst>
              </p:cNvPr>
              <p:cNvSpPr txBox="1"/>
              <p:nvPr/>
            </p:nvSpPr>
            <p:spPr>
              <a:xfrm>
                <a:off x="9112164" y="5631334"/>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 name="文本框 7">
                <a:extLst>
                  <a:ext uri="{FF2B5EF4-FFF2-40B4-BE49-F238E27FC236}">
                    <a16:creationId xmlns:a16="http://schemas.microsoft.com/office/drawing/2014/main" id="{AA01684D-ACCC-F24A-BF3E-A5411FC8D08A}"/>
                  </a:ext>
                </a:extLst>
              </p:cNvPr>
              <p:cNvSpPr txBox="1">
                <a:spLocks noRot="1" noChangeAspect="1" noMove="1" noResize="1" noEditPoints="1" noAdjustHandles="1" noChangeArrowheads="1" noChangeShapeType="1" noTextEdit="1"/>
              </p:cNvSpPr>
              <p:nvPr/>
            </p:nvSpPr>
            <p:spPr>
              <a:xfrm>
                <a:off x="9112164" y="5631334"/>
                <a:ext cx="633046" cy="338554"/>
              </a:xfrm>
              <a:prstGeom prst="rect">
                <a:avLst/>
              </a:prstGeom>
              <a:blipFill>
                <a:blip r:embed="rId8"/>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BE0F22C0-7D3A-E545-9042-03AFCF1AC42C}"/>
                  </a:ext>
                </a:extLst>
              </p:cNvPr>
              <p:cNvSpPr txBox="1"/>
              <p:nvPr/>
            </p:nvSpPr>
            <p:spPr>
              <a:xfrm>
                <a:off x="9634958" y="5422322"/>
                <a:ext cx="418388"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ℓ−1</m:t>
                              </m:r>
                            </m:e>
                          </m:d>
                        </m:sup>
                      </m:sSup>
                    </m:oMath>
                  </m:oMathPara>
                </a14:m>
                <a:endParaRPr lang="zh-CN" altLang="en-US" sz="2200" dirty="0"/>
              </a:p>
            </p:txBody>
          </p:sp>
        </mc:Choice>
        <mc:Fallback xmlns="">
          <p:sp>
            <p:nvSpPr>
              <p:cNvPr id="67" name="文本框 66">
                <a:extLst>
                  <a:ext uri="{FF2B5EF4-FFF2-40B4-BE49-F238E27FC236}">
                    <a16:creationId xmlns:a16="http://schemas.microsoft.com/office/drawing/2014/main" id="{BE0F22C0-7D3A-E545-9042-03AFCF1AC42C}"/>
                  </a:ext>
                </a:extLst>
              </p:cNvPr>
              <p:cNvSpPr txBox="1">
                <a:spLocks noRot="1" noChangeAspect="1" noMove="1" noResize="1" noEditPoints="1" noAdjustHandles="1" noChangeArrowheads="1" noChangeShapeType="1" noTextEdit="1"/>
              </p:cNvSpPr>
              <p:nvPr/>
            </p:nvSpPr>
            <p:spPr>
              <a:xfrm>
                <a:off x="9634958" y="5422322"/>
                <a:ext cx="418388" cy="453842"/>
              </a:xfrm>
              <a:prstGeom prst="rect">
                <a:avLst/>
              </a:prstGeom>
              <a:blipFill>
                <a:blip r:embed="rId9"/>
                <a:stretch>
                  <a:fillRect r="-85294"/>
                </a:stretch>
              </a:blipFill>
            </p:spPr>
            <p:txBody>
              <a:bodyPr/>
              <a:lstStyle/>
              <a:p>
                <a:r>
                  <a:rPr lang="zh-CN" altLang="en-US">
                    <a:noFill/>
                  </a:rPr>
                  <a:t> </a:t>
                </a:r>
              </a:p>
            </p:txBody>
          </p:sp>
        </mc:Fallback>
      </mc:AlternateContent>
      <p:sp>
        <p:nvSpPr>
          <p:cNvPr id="69" name="Straight Arrow Connector 35">
            <a:extLst>
              <a:ext uri="{FF2B5EF4-FFF2-40B4-BE49-F238E27FC236}">
                <a16:creationId xmlns:a16="http://schemas.microsoft.com/office/drawing/2014/main" id="{6B736CDC-918F-9B46-BA12-CF24311A2952}"/>
              </a:ext>
            </a:extLst>
          </p:cNvPr>
          <p:cNvSpPr/>
          <p:nvPr/>
        </p:nvSpPr>
        <p:spPr>
          <a:xfrm flipV="1">
            <a:off x="9419820" y="4719202"/>
            <a:ext cx="18110" cy="158119"/>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577E2AD7-331C-F74B-B97F-918DABD8A5DC}"/>
                  </a:ext>
                </a:extLst>
              </p:cNvPr>
              <p:cNvSpPr txBox="1"/>
              <p:nvPr/>
            </p:nvSpPr>
            <p:spPr>
              <a:xfrm>
                <a:off x="9506398" y="4455213"/>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0" name="文本框 69">
                <a:extLst>
                  <a:ext uri="{FF2B5EF4-FFF2-40B4-BE49-F238E27FC236}">
                    <a16:creationId xmlns:a16="http://schemas.microsoft.com/office/drawing/2014/main" id="{577E2AD7-331C-F74B-B97F-918DABD8A5DC}"/>
                  </a:ext>
                </a:extLst>
              </p:cNvPr>
              <p:cNvSpPr txBox="1">
                <a:spLocks noRot="1" noChangeAspect="1" noMove="1" noResize="1" noEditPoints="1" noAdjustHandles="1" noChangeArrowheads="1" noChangeShapeType="1" noTextEdit="1"/>
              </p:cNvSpPr>
              <p:nvPr/>
            </p:nvSpPr>
            <p:spPr>
              <a:xfrm>
                <a:off x="9506398" y="4455213"/>
                <a:ext cx="825126" cy="459869"/>
              </a:xfrm>
              <a:prstGeom prst="rect">
                <a:avLst/>
              </a:prstGeom>
              <a:blipFill>
                <a:blip r:embed="rId10"/>
                <a:stretch>
                  <a:fillRect/>
                </a:stretch>
              </a:blipFill>
            </p:spPr>
            <p:txBody>
              <a:bodyPr/>
              <a:lstStyle/>
              <a:p>
                <a:r>
                  <a:rPr lang="zh-CN" altLang="en-US">
                    <a:noFill/>
                  </a:rPr>
                  <a:t> </a:t>
                </a:r>
              </a:p>
            </p:txBody>
          </p:sp>
        </mc:Fallback>
      </mc:AlternateContent>
      <p:sp>
        <p:nvSpPr>
          <p:cNvPr id="71" name="Straight Arrow Connector 35">
            <a:extLst>
              <a:ext uri="{FF2B5EF4-FFF2-40B4-BE49-F238E27FC236}">
                <a16:creationId xmlns:a16="http://schemas.microsoft.com/office/drawing/2014/main" id="{A04EB4BE-EFC0-F543-9337-F6C0F448B86E}"/>
              </a:ext>
            </a:extLst>
          </p:cNvPr>
          <p:cNvSpPr/>
          <p:nvPr/>
        </p:nvSpPr>
        <p:spPr>
          <a:xfrm flipV="1">
            <a:off x="9426754" y="4223797"/>
            <a:ext cx="6871" cy="222778"/>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99DF746-0C6A-2F4A-9714-8440F5EDB247}"/>
                  </a:ext>
                </a:extLst>
              </p:cNvPr>
              <p:cNvSpPr txBox="1"/>
              <p:nvPr/>
            </p:nvSpPr>
            <p:spPr>
              <a:xfrm>
                <a:off x="9117097" y="4418637"/>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72" name="文本框 71">
                <a:extLst>
                  <a:ext uri="{FF2B5EF4-FFF2-40B4-BE49-F238E27FC236}">
                    <a16:creationId xmlns:a16="http://schemas.microsoft.com/office/drawing/2014/main" id="{399DF746-0C6A-2F4A-9714-8440F5EDB247}"/>
                  </a:ext>
                </a:extLst>
              </p:cNvPr>
              <p:cNvSpPr txBox="1">
                <a:spLocks noRot="1" noChangeAspect="1" noMove="1" noResize="1" noEditPoints="1" noAdjustHandles="1" noChangeArrowheads="1" noChangeShapeType="1" noTextEdit="1"/>
              </p:cNvSpPr>
              <p:nvPr/>
            </p:nvSpPr>
            <p:spPr>
              <a:xfrm>
                <a:off x="9117097" y="4418637"/>
                <a:ext cx="633046" cy="338554"/>
              </a:xfrm>
              <a:prstGeom prst="rect">
                <a:avLst/>
              </a:prstGeom>
              <a:blipFill>
                <a:blip r:embed="rId11"/>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442A0F93-6E4E-C546-B4C9-F8EAAEEEB80B}"/>
                  </a:ext>
                </a:extLst>
              </p:cNvPr>
              <p:cNvSpPr txBox="1"/>
              <p:nvPr/>
            </p:nvSpPr>
            <p:spPr>
              <a:xfrm>
                <a:off x="9595277" y="4138671"/>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r>
                                <a:rPr kumimoji="1" lang="en-US" altLang="zh-CN" sz="2200" b="0" i="1" dirty="0" smtClean="0">
                                  <a:latin typeface="Cambria Math" panose="02040503050406030204" pitchFamily="18" charset="0"/>
                                </a:rPr>
                                <m:t>−1</m:t>
                              </m:r>
                            </m:e>
                          </m:d>
                        </m:sup>
                      </m:sSup>
                    </m:oMath>
                  </m:oMathPara>
                </a14:m>
                <a:endParaRPr lang="zh-CN" altLang="en-US" sz="2200" dirty="0"/>
              </a:p>
            </p:txBody>
          </p:sp>
        </mc:Choice>
        <mc:Fallback xmlns="">
          <p:sp>
            <p:nvSpPr>
              <p:cNvPr id="73" name="文本框 72">
                <a:extLst>
                  <a:ext uri="{FF2B5EF4-FFF2-40B4-BE49-F238E27FC236}">
                    <a16:creationId xmlns:a16="http://schemas.microsoft.com/office/drawing/2014/main" id="{442A0F93-6E4E-C546-B4C9-F8EAAEEEB80B}"/>
                  </a:ext>
                </a:extLst>
              </p:cNvPr>
              <p:cNvSpPr txBox="1">
                <a:spLocks noRot="1" noChangeAspect="1" noMove="1" noResize="1" noEditPoints="1" noAdjustHandles="1" noChangeArrowheads="1" noChangeShapeType="1" noTextEdit="1"/>
              </p:cNvSpPr>
              <p:nvPr/>
            </p:nvSpPr>
            <p:spPr>
              <a:xfrm>
                <a:off x="9595277" y="4138671"/>
                <a:ext cx="825126" cy="459869"/>
              </a:xfrm>
              <a:prstGeom prst="rect">
                <a:avLst/>
              </a:prstGeom>
              <a:blipFill>
                <a:blip r:embed="rId12"/>
                <a:stretch>
                  <a:fillRect/>
                </a:stretch>
              </a:blipFill>
            </p:spPr>
            <p:txBody>
              <a:bodyPr/>
              <a:lstStyle/>
              <a:p>
                <a:r>
                  <a:rPr lang="zh-CN" altLang="en-US">
                    <a:noFill/>
                  </a:rPr>
                  <a:t> </a:t>
                </a:r>
              </a:p>
            </p:txBody>
          </p:sp>
        </mc:Fallback>
      </mc:AlternateContent>
      <p:sp>
        <p:nvSpPr>
          <p:cNvPr id="75" name="Straight Arrow Connector 35">
            <a:extLst>
              <a:ext uri="{FF2B5EF4-FFF2-40B4-BE49-F238E27FC236}">
                <a16:creationId xmlns:a16="http://schemas.microsoft.com/office/drawing/2014/main" id="{828D1EC6-82DA-7D43-ABC3-FCCC27BA9796}"/>
              </a:ext>
            </a:extLst>
          </p:cNvPr>
          <p:cNvSpPr/>
          <p:nvPr/>
        </p:nvSpPr>
        <p:spPr>
          <a:xfrm flipH="1" flipV="1">
            <a:off x="9419820" y="3327514"/>
            <a:ext cx="8871" cy="230591"/>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427F111C-5AF2-AC46-9DF8-786E78BE09DD}"/>
                  </a:ext>
                </a:extLst>
              </p:cNvPr>
              <p:cNvSpPr txBox="1"/>
              <p:nvPr/>
            </p:nvSpPr>
            <p:spPr>
              <a:xfrm>
                <a:off x="9540073" y="3168877"/>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6" name="文本框 75">
                <a:extLst>
                  <a:ext uri="{FF2B5EF4-FFF2-40B4-BE49-F238E27FC236}">
                    <a16:creationId xmlns:a16="http://schemas.microsoft.com/office/drawing/2014/main" id="{427F111C-5AF2-AC46-9DF8-786E78BE09DD}"/>
                  </a:ext>
                </a:extLst>
              </p:cNvPr>
              <p:cNvSpPr txBox="1">
                <a:spLocks noRot="1" noChangeAspect="1" noMove="1" noResize="1" noEditPoints="1" noAdjustHandles="1" noChangeArrowheads="1" noChangeShapeType="1" noTextEdit="1"/>
              </p:cNvSpPr>
              <p:nvPr/>
            </p:nvSpPr>
            <p:spPr>
              <a:xfrm>
                <a:off x="9540073" y="3168877"/>
                <a:ext cx="825126" cy="45986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431E3153-04F4-A541-9579-EE4B127D73BB}"/>
                  </a:ext>
                </a:extLst>
              </p:cNvPr>
              <p:cNvSpPr/>
              <p:nvPr/>
            </p:nvSpPr>
            <p:spPr>
              <a:xfrm>
                <a:off x="8643726" y="2760480"/>
                <a:ext cx="1452835" cy="47637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22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200" i="1">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𝑥</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d>
                    </m:oMath>
                  </m:oMathPara>
                </a14:m>
                <a:endParaRPr kumimoji="1" lang="zh-CN" altLang="en-US" sz="2200" dirty="0">
                  <a:solidFill>
                    <a:schemeClr val="tx1"/>
                  </a:solidFill>
                </a:endParaRPr>
              </a:p>
            </p:txBody>
          </p:sp>
        </mc:Choice>
        <mc:Fallback xmlns="">
          <p:sp>
            <p:nvSpPr>
              <p:cNvPr id="9" name="椭圆 8">
                <a:extLst>
                  <a:ext uri="{FF2B5EF4-FFF2-40B4-BE49-F238E27FC236}">
                    <a16:creationId xmlns:a16="http://schemas.microsoft.com/office/drawing/2014/main" id="{431E3153-04F4-A541-9579-EE4B127D73BB}"/>
                  </a:ext>
                </a:extLst>
              </p:cNvPr>
              <p:cNvSpPr>
                <a:spLocks noRot="1" noChangeAspect="1" noMove="1" noResize="1" noEditPoints="1" noAdjustHandles="1" noChangeArrowheads="1" noChangeShapeType="1" noTextEdit="1"/>
              </p:cNvSpPr>
              <p:nvPr/>
            </p:nvSpPr>
            <p:spPr>
              <a:xfrm>
                <a:off x="8643726" y="2760480"/>
                <a:ext cx="1452835" cy="476378"/>
              </a:xfrm>
              <a:prstGeom prst="ellipse">
                <a:avLst/>
              </a:prstGeom>
              <a:blipFill>
                <a:blip r:embed="rId14"/>
                <a:stretch>
                  <a:fillRect b="-2500"/>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57CDE5DD-5514-D540-8342-9C494740ABBF}"/>
              </a:ext>
            </a:extLst>
          </p:cNvPr>
          <p:cNvSpPr txBox="1"/>
          <p:nvPr/>
        </p:nvSpPr>
        <p:spPr>
          <a:xfrm>
            <a:off x="7563838" y="2805769"/>
            <a:ext cx="748923" cy="430887"/>
          </a:xfrm>
          <a:prstGeom prst="rect">
            <a:avLst/>
          </a:prstGeom>
          <a:noFill/>
        </p:spPr>
        <p:txBody>
          <a:bodyPr wrap="none" rtlCol="0">
            <a:spAutoFit/>
          </a:bodyPr>
          <a:lstStyle/>
          <a:p>
            <a:r>
              <a:rPr kumimoji="1" lang="zh-CN" altLang="en-US" sz="2200" dirty="0"/>
              <a:t>损失</a:t>
            </a: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B4D1C01-C68B-2D4F-8936-D53CD3AA128E}"/>
                  </a:ext>
                </a:extLst>
              </p:cNvPr>
              <p:cNvSpPr txBox="1"/>
              <p:nvPr/>
            </p:nvSpPr>
            <p:spPr>
              <a:xfrm>
                <a:off x="10782181" y="3678802"/>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8" name="文本框 77">
                <a:extLst>
                  <a:ext uri="{FF2B5EF4-FFF2-40B4-BE49-F238E27FC236}">
                    <a16:creationId xmlns:a16="http://schemas.microsoft.com/office/drawing/2014/main" id="{5B4D1C01-C68B-2D4F-8936-D53CD3AA128E}"/>
                  </a:ext>
                </a:extLst>
              </p:cNvPr>
              <p:cNvSpPr txBox="1">
                <a:spLocks noRot="1" noChangeAspect="1" noMove="1" noResize="1" noEditPoints="1" noAdjustHandles="1" noChangeArrowheads="1" noChangeShapeType="1" noTextEdit="1"/>
              </p:cNvSpPr>
              <p:nvPr/>
            </p:nvSpPr>
            <p:spPr>
              <a:xfrm>
                <a:off x="10782181" y="3678802"/>
                <a:ext cx="825127" cy="45986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F509CFD8-4EF4-9941-A49A-62F10F844747}"/>
                  </a:ext>
                </a:extLst>
              </p:cNvPr>
              <p:cNvSpPr txBox="1"/>
              <p:nvPr/>
            </p:nvSpPr>
            <p:spPr>
              <a:xfrm>
                <a:off x="10784833" y="5024628"/>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9" name="文本框 78">
                <a:extLst>
                  <a:ext uri="{FF2B5EF4-FFF2-40B4-BE49-F238E27FC236}">
                    <a16:creationId xmlns:a16="http://schemas.microsoft.com/office/drawing/2014/main" id="{F509CFD8-4EF4-9941-A49A-62F10F844747}"/>
                  </a:ext>
                </a:extLst>
              </p:cNvPr>
              <p:cNvSpPr txBox="1">
                <a:spLocks noRot="1" noChangeAspect="1" noMove="1" noResize="1" noEditPoints="1" noAdjustHandles="1" noChangeArrowheads="1" noChangeShapeType="1" noTextEdit="1"/>
              </p:cNvSpPr>
              <p:nvPr/>
            </p:nvSpPr>
            <p:spPr>
              <a:xfrm>
                <a:off x="10784833" y="5024628"/>
                <a:ext cx="825127" cy="459869"/>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E77E250-FBFD-B14C-BC41-4B0588CF1B18}"/>
                  </a:ext>
                </a:extLst>
              </p:cNvPr>
              <p:cNvSpPr txBox="1"/>
              <p:nvPr/>
            </p:nvSpPr>
            <p:spPr>
              <a:xfrm>
                <a:off x="10750062" y="4410405"/>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0" name="文本框 79">
                <a:extLst>
                  <a:ext uri="{FF2B5EF4-FFF2-40B4-BE49-F238E27FC236}">
                    <a16:creationId xmlns:a16="http://schemas.microsoft.com/office/drawing/2014/main" id="{7E77E250-FBFD-B14C-BC41-4B0588CF1B18}"/>
                  </a:ext>
                </a:extLst>
              </p:cNvPr>
              <p:cNvSpPr txBox="1">
                <a:spLocks noRot="1" noChangeAspect="1" noMove="1" noResize="1" noEditPoints="1" noAdjustHandles="1" noChangeArrowheads="1" noChangeShapeType="1" noTextEdit="1"/>
              </p:cNvSpPr>
              <p:nvPr/>
            </p:nvSpPr>
            <p:spPr>
              <a:xfrm>
                <a:off x="10750062" y="4410405"/>
                <a:ext cx="633046" cy="338554"/>
              </a:xfrm>
              <a:prstGeom prst="rect">
                <a:avLst/>
              </a:prstGeom>
              <a:blipFill>
                <a:blip r:embed="rId17"/>
                <a:stretch>
                  <a:fillRect b="-7407"/>
                </a:stretch>
              </a:blipFill>
            </p:spPr>
            <p:txBody>
              <a:bodyPr/>
              <a:lstStyle/>
              <a:p>
                <a:r>
                  <a:rPr lang="zh-CN" altLang="en-US">
                    <a:noFill/>
                  </a:rPr>
                  <a:t> </a:t>
                </a:r>
              </a:p>
            </p:txBody>
          </p:sp>
        </mc:Fallback>
      </mc:AlternateContent>
      <p:sp>
        <p:nvSpPr>
          <p:cNvPr id="81" name="Straight Arrow Connector 35">
            <a:extLst>
              <a:ext uri="{FF2B5EF4-FFF2-40B4-BE49-F238E27FC236}">
                <a16:creationId xmlns:a16="http://schemas.microsoft.com/office/drawing/2014/main" id="{8A06A1A6-C78D-834E-9181-30D1370F9BC9}"/>
              </a:ext>
            </a:extLst>
          </p:cNvPr>
          <p:cNvSpPr/>
          <p:nvPr/>
        </p:nvSpPr>
        <p:spPr>
          <a:xfrm flipH="1">
            <a:off x="10314659" y="5248855"/>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A73D3D6F-DFCB-E443-87D8-FF21E6E517F3}"/>
                  </a:ext>
                </a:extLst>
              </p:cNvPr>
              <p:cNvSpPr txBox="1"/>
              <p:nvPr/>
            </p:nvSpPr>
            <p:spPr>
              <a:xfrm>
                <a:off x="10784833" y="5660940"/>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2" name="文本框 81">
                <a:extLst>
                  <a:ext uri="{FF2B5EF4-FFF2-40B4-BE49-F238E27FC236}">
                    <a16:creationId xmlns:a16="http://schemas.microsoft.com/office/drawing/2014/main" id="{A73D3D6F-DFCB-E443-87D8-FF21E6E517F3}"/>
                  </a:ext>
                </a:extLst>
              </p:cNvPr>
              <p:cNvSpPr txBox="1">
                <a:spLocks noRot="1" noChangeAspect="1" noMove="1" noResize="1" noEditPoints="1" noAdjustHandles="1" noChangeArrowheads="1" noChangeShapeType="1" noTextEdit="1"/>
              </p:cNvSpPr>
              <p:nvPr/>
            </p:nvSpPr>
            <p:spPr>
              <a:xfrm>
                <a:off x="10784833" y="5660940"/>
                <a:ext cx="633046" cy="338554"/>
              </a:xfrm>
              <a:prstGeom prst="rect">
                <a:avLst/>
              </a:prstGeom>
              <a:blipFill>
                <a:blip r:embed="rId8"/>
                <a:stretch>
                  <a:fillRect b="-3571"/>
                </a:stretch>
              </a:blipFill>
            </p:spPr>
            <p:txBody>
              <a:bodyPr/>
              <a:lstStyle/>
              <a:p>
                <a:r>
                  <a:rPr lang="zh-CN" altLang="en-US">
                    <a:noFill/>
                  </a:rPr>
                  <a:t> </a:t>
                </a:r>
              </a:p>
            </p:txBody>
          </p:sp>
        </mc:Fallback>
      </mc:AlternateContent>
      <p:sp>
        <p:nvSpPr>
          <p:cNvPr id="83" name="Straight Arrow Connector 35">
            <a:extLst>
              <a:ext uri="{FF2B5EF4-FFF2-40B4-BE49-F238E27FC236}">
                <a16:creationId xmlns:a16="http://schemas.microsoft.com/office/drawing/2014/main" id="{F7A2E405-4054-5F42-BC38-3474EBF99FC9}"/>
              </a:ext>
            </a:extLst>
          </p:cNvPr>
          <p:cNvSpPr/>
          <p:nvPr/>
        </p:nvSpPr>
        <p:spPr>
          <a:xfrm flipH="1">
            <a:off x="10314659" y="3894119"/>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A6601E3-7517-1243-8423-50E910DCD476}"/>
                  </a:ext>
                </a:extLst>
              </p:cNvPr>
              <p:cNvSpPr txBox="1"/>
              <p:nvPr/>
            </p:nvSpPr>
            <p:spPr>
              <a:xfrm>
                <a:off x="1167664" y="5223256"/>
                <a:ext cx="5827203"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𝐿</m:t>
                                  </m:r>
                                  <m:r>
                                    <a:rPr kumimoji="1" lang="en-US" altLang="zh-CN" sz="2400" b="0" i="1" smtClean="0">
                                      <a:latin typeface="Cambria Math" panose="02040503050406030204" pitchFamily="18" charset="0"/>
                                    </a:rPr>
                                    <m:t>−1</m:t>
                                  </m:r>
                                </m:e>
                              </m:d>
                            </m:sup>
                          </m:sSup>
                        </m:den>
                      </m:f>
                      <m:r>
                        <a:rPr kumimoji="1" lang="en-US" altLang="zh-CN" sz="2400" b="0" i="1" smtClean="0">
                          <a:latin typeface="Cambria Math" panose="02040503050406030204" pitchFamily="18" charset="0"/>
                        </a:rPr>
                        <m:t>=</m:t>
                      </m:r>
                      <m:f>
                        <m:fPr>
                          <m:ctrlPr>
                            <a:rPr kumimoji="1" lang="en-US" altLang="zh-CN" sz="2400" i="1" smtClean="0">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ℓ</m:t>
                          </m:r>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𝜃</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𝑥</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𝑦</m:t>
                              </m:r>
                            </m:e>
                          </m:d>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b="0" i="1" smtClean="0">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den>
                      </m:f>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r>
                                    <a:rPr kumimoji="1" lang="en-US" altLang="zh-CN" sz="2400" b="0" i="1" smtClean="0">
                                      <a:latin typeface="Cambria Math" panose="02040503050406030204" pitchFamily="18" charset="0"/>
                                    </a:rPr>
                                    <m:t>−1</m:t>
                                  </m:r>
                                </m:e>
                              </m:d>
                            </m:sup>
                          </m:sSup>
                        </m:den>
                      </m:f>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r>
                                    <a:rPr kumimoji="1" lang="en-US" altLang="zh-CN" sz="2400" b="0" i="1" smtClean="0">
                                      <a:latin typeface="Cambria Math" panose="02040503050406030204" pitchFamily="18" charset="0"/>
                                    </a:rPr>
                                    <m:t>−1</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r>
                                    <a:rPr kumimoji="1" lang="en-US" altLang="zh-CN" sz="2400" i="1">
                                      <a:latin typeface="Cambria Math" panose="02040503050406030204" pitchFamily="18" charset="0"/>
                                    </a:rPr>
                                    <m:t>−1</m:t>
                                  </m:r>
                                </m:e>
                              </m:d>
                            </m:sup>
                          </m:sSup>
                        </m:den>
                      </m:f>
                    </m:oMath>
                  </m:oMathPara>
                </a14:m>
                <a:endParaRPr lang="zh-CN" altLang="en-US" sz="2400" dirty="0"/>
              </a:p>
            </p:txBody>
          </p:sp>
        </mc:Choice>
        <mc:Fallback xmlns="">
          <p:sp>
            <p:nvSpPr>
              <p:cNvPr id="34" name="文本框 33">
                <a:extLst>
                  <a:ext uri="{FF2B5EF4-FFF2-40B4-BE49-F238E27FC236}">
                    <a16:creationId xmlns:a16="http://schemas.microsoft.com/office/drawing/2014/main" id="{EA6601E3-7517-1243-8423-50E910DCD476}"/>
                  </a:ext>
                </a:extLst>
              </p:cNvPr>
              <p:cNvSpPr txBox="1">
                <a:spLocks noRot="1" noChangeAspect="1" noMove="1" noResize="1" noEditPoints="1" noAdjustHandles="1" noChangeArrowheads="1" noChangeShapeType="1" noTextEdit="1"/>
              </p:cNvSpPr>
              <p:nvPr/>
            </p:nvSpPr>
            <p:spPr>
              <a:xfrm>
                <a:off x="1167664" y="5223256"/>
                <a:ext cx="5827203" cy="875432"/>
              </a:xfrm>
              <a:prstGeom prst="rect">
                <a:avLst/>
              </a:prstGeom>
              <a:blipFill>
                <a:blip r:embed="rId18"/>
                <a:stretch>
                  <a:fillRect b="-5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FDB764F1-0E96-D64F-B25D-A388BA5F8B1F}"/>
                  </a:ext>
                </a:extLst>
              </p:cNvPr>
              <p:cNvSpPr txBox="1"/>
              <p:nvPr/>
            </p:nvSpPr>
            <p:spPr>
              <a:xfrm>
                <a:off x="1461942" y="3534973"/>
                <a:ext cx="5122069"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𝐿</m:t>
                                  </m:r>
                                </m:e>
                              </m:d>
                            </m:sup>
                          </m:sSup>
                        </m:den>
                      </m:f>
                      <m:r>
                        <a:rPr kumimoji="1" lang="en-US" altLang="zh-CN" sz="2400" b="0" i="1" smtClean="0">
                          <a:latin typeface="Cambria Math" panose="02040503050406030204" pitchFamily="18" charset="0"/>
                        </a:rPr>
                        <m:t>=</m:t>
                      </m:r>
                      <m:f>
                        <m:fPr>
                          <m:ctrlPr>
                            <a:rPr kumimoji="1" lang="en-US" altLang="zh-CN" sz="2400" i="1" smtClean="0">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ℓ</m:t>
                          </m:r>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𝜃</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𝑥</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𝑦</m:t>
                              </m:r>
                            </m:e>
                          </m:d>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b="0" i="1" smtClean="0">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den>
                      </m:f>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𝐿</m:t>
                                  </m:r>
                                </m:e>
                              </m:d>
                            </m:sup>
                          </m:sSup>
                        </m:den>
                      </m:f>
                    </m:oMath>
                  </m:oMathPara>
                </a14:m>
                <a:endParaRPr lang="zh-CN" altLang="en-US" sz="2400" dirty="0"/>
              </a:p>
            </p:txBody>
          </p:sp>
        </mc:Choice>
        <mc:Fallback xmlns="">
          <p:sp>
            <p:nvSpPr>
              <p:cNvPr id="37" name="文本框 36">
                <a:extLst>
                  <a:ext uri="{FF2B5EF4-FFF2-40B4-BE49-F238E27FC236}">
                    <a16:creationId xmlns:a16="http://schemas.microsoft.com/office/drawing/2014/main" id="{FDB764F1-0E96-D64F-B25D-A388BA5F8B1F}"/>
                  </a:ext>
                </a:extLst>
              </p:cNvPr>
              <p:cNvSpPr txBox="1">
                <a:spLocks noRot="1" noChangeAspect="1" noMove="1" noResize="1" noEditPoints="1" noAdjustHandles="1" noChangeArrowheads="1" noChangeShapeType="1" noTextEdit="1"/>
              </p:cNvSpPr>
              <p:nvPr/>
            </p:nvSpPr>
            <p:spPr>
              <a:xfrm>
                <a:off x="1461942" y="3534973"/>
                <a:ext cx="5122069" cy="875432"/>
              </a:xfrm>
              <a:prstGeom prst="rect">
                <a:avLst/>
              </a:prstGeom>
              <a:blipFill>
                <a:blip r:embed="rId19"/>
                <a:stretch>
                  <a:fillRect b="-57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0129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73</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4468018"/>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多层感知机的梯度计算</a:t>
                </a:r>
                <a:endParaRPr lang="en-US" altLang="zh-CN" sz="2400" dirty="0"/>
              </a:p>
              <a:p>
                <a:pPr marL="800100" lvl="1" indent="-342900">
                  <a:lnSpc>
                    <a:spcPct val="150000"/>
                  </a:lnSpc>
                  <a:buFont typeface="Wingdings" pitchFamily="2" charset="2"/>
                  <a:buChar char="p"/>
                </a:pPr>
                <a:r>
                  <a:rPr lang="zh-CN" altLang="en-US" sz="2400" dirty="0"/>
                  <a:t>对于</a:t>
                </a:r>
                <a14:m>
                  <m:oMath xmlns:m="http://schemas.openxmlformats.org/officeDocument/2006/math">
                    <m:r>
                      <a:rPr lang="en-US" altLang="zh-CN" sz="2400" b="0" i="1" smtClean="0">
                        <a:latin typeface="Cambria Math" panose="02040503050406030204" pitchFamily="18" charset="0"/>
                      </a:rPr>
                      <m:t>ℓ=2</m:t>
                    </m:r>
                  </m:oMath>
                </a14:m>
                <a:r>
                  <a:rPr lang="zh-CN" altLang="en-US" sz="2400" dirty="0"/>
                  <a:t>，可得</a:t>
                </a: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r>
                  <a:rPr lang="zh-CN" altLang="en-US" sz="2400" dirty="0"/>
                  <a:t>对于</a:t>
                </a:r>
                <a14:m>
                  <m:oMath xmlns:m="http://schemas.openxmlformats.org/officeDocument/2006/math">
                    <m:r>
                      <a:rPr lang="en-US" altLang="zh-CN" sz="2400" b="0" i="1" smtClean="0">
                        <a:latin typeface="Cambria Math" panose="02040503050406030204" pitchFamily="18" charset="0"/>
                      </a:rPr>
                      <m:t>ℓ=1</m:t>
                    </m:r>
                  </m:oMath>
                </a14:m>
                <a:r>
                  <a:rPr lang="zh-CN" altLang="en-US" sz="2400" dirty="0"/>
                  <a:t>，可得</a:t>
                </a: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r>
                  <a:rPr lang="zh-CN" altLang="en-US" sz="2400" dirty="0"/>
                  <a:t>标红项的计算可复用</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4468018"/>
              </a:xfrm>
              <a:prstGeom prst="rect">
                <a:avLst/>
              </a:prstGeom>
              <a:blipFill>
                <a:blip r:embed="rId3"/>
                <a:stretch>
                  <a:fillRect l="-1311" b="-22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Rectangle 28">
                <a:extLst>
                  <a:ext uri="{FF2B5EF4-FFF2-40B4-BE49-F238E27FC236}">
                    <a16:creationId xmlns:a16="http://schemas.microsoft.com/office/drawing/2014/main" id="{07A2CB7F-A3AF-4944-A2D9-0EE2E78BB702}"/>
                  </a:ext>
                </a:extLst>
              </p:cNvPr>
              <p:cNvSpPr/>
              <p:nvPr/>
            </p:nvSpPr>
            <p:spPr>
              <a:xfrm>
                <a:off x="8555915" y="4893339"/>
                <a:ext cx="1658607"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𝑧</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sz="2200" dirty="0"/>
              </a:p>
            </p:txBody>
          </p:sp>
        </mc:Choice>
        <mc:Fallback xmlns="">
          <p:sp>
            <p:nvSpPr>
              <p:cNvPr id="56" name="Rectangle 28">
                <a:extLst>
                  <a:ext uri="{FF2B5EF4-FFF2-40B4-BE49-F238E27FC236}">
                    <a16:creationId xmlns:a16="http://schemas.microsoft.com/office/drawing/2014/main" id="{07A2CB7F-A3AF-4944-A2D9-0EE2E78BB702}"/>
                  </a:ext>
                </a:extLst>
              </p:cNvPr>
              <p:cNvSpPr>
                <a:spLocks noRot="1" noChangeAspect="1" noMove="1" noResize="1" noEditPoints="1" noAdjustHandles="1" noChangeArrowheads="1" noChangeShapeType="1" noTextEdit="1"/>
              </p:cNvSpPr>
              <p:nvPr/>
            </p:nvSpPr>
            <p:spPr>
              <a:xfrm>
                <a:off x="8555915" y="4893339"/>
                <a:ext cx="1658607" cy="553637"/>
              </a:xfrm>
              <a:prstGeom prst="rect">
                <a:avLst/>
              </a:prstGeom>
              <a:blipFill>
                <a:blip r:embed="rId4"/>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28">
                <a:extLst>
                  <a:ext uri="{FF2B5EF4-FFF2-40B4-BE49-F238E27FC236}">
                    <a16:creationId xmlns:a16="http://schemas.microsoft.com/office/drawing/2014/main" id="{5FCB082B-51E0-8441-B848-605E488747BF}"/>
                  </a:ext>
                </a:extLst>
              </p:cNvPr>
              <p:cNvSpPr/>
              <p:nvPr/>
            </p:nvSpPr>
            <p:spPr>
              <a:xfrm>
                <a:off x="8555916" y="6154243"/>
                <a:ext cx="1676716"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rPr>
                        <m:t>𝑥</m:t>
                      </m:r>
                    </m:oMath>
                  </m:oMathPara>
                </a14:m>
                <a:endParaRPr sz="2200" dirty="0"/>
              </a:p>
            </p:txBody>
          </p:sp>
        </mc:Choice>
        <mc:Fallback xmlns="">
          <p:sp>
            <p:nvSpPr>
              <p:cNvPr id="57" name="Rectangle 28">
                <a:extLst>
                  <a:ext uri="{FF2B5EF4-FFF2-40B4-BE49-F238E27FC236}">
                    <a16:creationId xmlns:a16="http://schemas.microsoft.com/office/drawing/2014/main" id="{5FCB082B-51E0-8441-B848-605E488747BF}"/>
                  </a:ext>
                </a:extLst>
              </p:cNvPr>
              <p:cNvSpPr>
                <a:spLocks noRot="1" noChangeAspect="1" noMove="1" noResize="1" noEditPoints="1" noAdjustHandles="1" noChangeArrowheads="1" noChangeShapeType="1" noTextEdit="1"/>
              </p:cNvSpPr>
              <p:nvPr/>
            </p:nvSpPr>
            <p:spPr>
              <a:xfrm>
                <a:off x="8555916" y="6154243"/>
                <a:ext cx="1676716" cy="553637"/>
              </a:xfrm>
              <a:prstGeom prst="rect">
                <a:avLst/>
              </a:prstGeom>
              <a:blipFill>
                <a:blip r:embed="rId5"/>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28">
                <a:extLst>
                  <a:ext uri="{FF2B5EF4-FFF2-40B4-BE49-F238E27FC236}">
                    <a16:creationId xmlns:a16="http://schemas.microsoft.com/office/drawing/2014/main" id="{1FB8AF81-347B-B544-9AF8-70A41E478AD0}"/>
                  </a:ext>
                </a:extLst>
              </p:cNvPr>
              <p:cNvSpPr/>
              <p:nvPr/>
            </p:nvSpPr>
            <p:spPr>
              <a:xfrm>
                <a:off x="8539141" y="3630690"/>
                <a:ext cx="1693490" cy="537490"/>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b="0" i="1" smtClean="0">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oMath>
                  </m:oMathPara>
                </a14:m>
                <a:endParaRPr sz="2200" dirty="0"/>
              </a:p>
            </p:txBody>
          </p:sp>
        </mc:Choice>
        <mc:Fallback xmlns="">
          <p:sp>
            <p:nvSpPr>
              <p:cNvPr id="58" name="Rectangle 28">
                <a:extLst>
                  <a:ext uri="{FF2B5EF4-FFF2-40B4-BE49-F238E27FC236}">
                    <a16:creationId xmlns:a16="http://schemas.microsoft.com/office/drawing/2014/main" id="{1FB8AF81-347B-B544-9AF8-70A41E478AD0}"/>
                  </a:ext>
                </a:extLst>
              </p:cNvPr>
              <p:cNvSpPr>
                <a:spLocks noRot="1" noChangeAspect="1" noMove="1" noResize="1" noEditPoints="1" noAdjustHandles="1" noChangeArrowheads="1" noChangeShapeType="1" noTextEdit="1"/>
              </p:cNvSpPr>
              <p:nvPr/>
            </p:nvSpPr>
            <p:spPr>
              <a:xfrm>
                <a:off x="8539141" y="3630690"/>
                <a:ext cx="1693490" cy="537490"/>
              </a:xfrm>
              <a:prstGeom prst="rect">
                <a:avLst/>
              </a:prstGeom>
              <a:blipFill>
                <a:blip r:embed="rId6"/>
                <a:stretch>
                  <a:fillRect/>
                </a:stretch>
              </a:blipFill>
              <a:ln w="25400">
                <a:solidFill>
                  <a:srgbClr val="000000"/>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EDF75BE-9C49-814C-B6DD-E3A4A97B2869}"/>
              </a:ext>
            </a:extLst>
          </p:cNvPr>
          <p:cNvSpPr txBox="1"/>
          <p:nvPr/>
        </p:nvSpPr>
        <p:spPr>
          <a:xfrm>
            <a:off x="7565178" y="6215697"/>
            <a:ext cx="748923" cy="430887"/>
          </a:xfrm>
          <a:prstGeom prst="rect">
            <a:avLst/>
          </a:prstGeom>
          <a:noFill/>
        </p:spPr>
        <p:txBody>
          <a:bodyPr wrap="none" rtlCol="0">
            <a:spAutoFit/>
          </a:bodyPr>
          <a:lstStyle/>
          <a:p>
            <a:r>
              <a:rPr kumimoji="1" lang="zh-CN" altLang="en-US" sz="2200" dirty="0"/>
              <a:t>输入</a:t>
            </a:r>
          </a:p>
        </p:txBody>
      </p:sp>
      <p:sp>
        <p:nvSpPr>
          <p:cNvPr id="61" name="文本框 60">
            <a:extLst>
              <a:ext uri="{FF2B5EF4-FFF2-40B4-BE49-F238E27FC236}">
                <a16:creationId xmlns:a16="http://schemas.microsoft.com/office/drawing/2014/main" id="{9FB1CE18-B647-C24D-AF79-A5E1C9B8FFB6}"/>
              </a:ext>
            </a:extLst>
          </p:cNvPr>
          <p:cNvSpPr txBox="1"/>
          <p:nvPr/>
        </p:nvSpPr>
        <p:spPr>
          <a:xfrm>
            <a:off x="7565177" y="3699166"/>
            <a:ext cx="748923" cy="430887"/>
          </a:xfrm>
          <a:prstGeom prst="rect">
            <a:avLst/>
          </a:prstGeom>
          <a:noFill/>
        </p:spPr>
        <p:txBody>
          <a:bodyPr wrap="none" rtlCol="0">
            <a:spAutoFit/>
          </a:bodyPr>
          <a:lstStyle/>
          <a:p>
            <a:r>
              <a:rPr kumimoji="1" lang="zh-CN" altLang="en-US" sz="2200" dirty="0"/>
              <a:t>输出</a:t>
            </a:r>
          </a:p>
        </p:txBody>
      </p:sp>
      <p:sp>
        <p:nvSpPr>
          <p:cNvPr id="62" name="Straight Arrow Connector 35">
            <a:extLst>
              <a:ext uri="{FF2B5EF4-FFF2-40B4-BE49-F238E27FC236}">
                <a16:creationId xmlns:a16="http://schemas.microsoft.com/office/drawing/2014/main" id="{A1B9FA38-2569-1E47-95DB-DC7091BF12C4}"/>
              </a:ext>
            </a:extLst>
          </p:cNvPr>
          <p:cNvSpPr/>
          <p:nvPr/>
        </p:nvSpPr>
        <p:spPr>
          <a:xfrm flipV="1">
            <a:off x="9420300" y="5940009"/>
            <a:ext cx="0" cy="21423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21FFF92-ED1B-9F43-8B02-A570B5099233}"/>
                  </a:ext>
                </a:extLst>
              </p:cNvPr>
              <p:cNvSpPr txBox="1"/>
              <p:nvPr/>
            </p:nvSpPr>
            <p:spPr>
              <a:xfrm>
                <a:off x="9532703" y="5772574"/>
                <a:ext cx="825126" cy="453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0</m:t>
                              </m:r>
                            </m:e>
                          </m:d>
                        </m:sup>
                      </m:sSup>
                    </m:oMath>
                  </m:oMathPara>
                </a14:m>
                <a:endParaRPr lang="zh-CN" altLang="en-US" sz="2200" dirty="0"/>
              </a:p>
            </p:txBody>
          </p:sp>
        </mc:Choice>
        <mc:Fallback xmlns="">
          <p:sp>
            <p:nvSpPr>
              <p:cNvPr id="63" name="文本框 62">
                <a:extLst>
                  <a:ext uri="{FF2B5EF4-FFF2-40B4-BE49-F238E27FC236}">
                    <a16:creationId xmlns:a16="http://schemas.microsoft.com/office/drawing/2014/main" id="{A21FFF92-ED1B-9F43-8B02-A570B5099233}"/>
                  </a:ext>
                </a:extLst>
              </p:cNvPr>
              <p:cNvSpPr txBox="1">
                <a:spLocks noRot="1" noChangeAspect="1" noMove="1" noResize="1" noEditPoints="1" noAdjustHandles="1" noChangeArrowheads="1" noChangeShapeType="1" noTextEdit="1"/>
              </p:cNvSpPr>
              <p:nvPr/>
            </p:nvSpPr>
            <p:spPr>
              <a:xfrm>
                <a:off x="9532703" y="5772574"/>
                <a:ext cx="825126" cy="453840"/>
              </a:xfrm>
              <a:prstGeom prst="rect">
                <a:avLst/>
              </a:prstGeom>
              <a:blipFill>
                <a:blip r:embed="rId7"/>
                <a:stretch>
                  <a:fillRect/>
                </a:stretch>
              </a:blipFill>
            </p:spPr>
            <p:txBody>
              <a:bodyPr/>
              <a:lstStyle/>
              <a:p>
                <a:r>
                  <a:rPr lang="zh-CN" altLang="en-US">
                    <a:noFill/>
                  </a:rPr>
                  <a:t> </a:t>
                </a:r>
              </a:p>
            </p:txBody>
          </p:sp>
        </mc:Fallback>
      </mc:AlternateContent>
      <p:sp>
        <p:nvSpPr>
          <p:cNvPr id="65" name="Straight Arrow Connector 35">
            <a:extLst>
              <a:ext uri="{FF2B5EF4-FFF2-40B4-BE49-F238E27FC236}">
                <a16:creationId xmlns:a16="http://schemas.microsoft.com/office/drawing/2014/main" id="{DB1F6538-95F4-4944-9CC9-80038039AF5A}"/>
              </a:ext>
            </a:extLst>
          </p:cNvPr>
          <p:cNvSpPr/>
          <p:nvPr/>
        </p:nvSpPr>
        <p:spPr>
          <a:xfrm flipV="1">
            <a:off x="9420300" y="5447987"/>
            <a:ext cx="16774" cy="201256"/>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01684D-ACCC-F24A-BF3E-A5411FC8D08A}"/>
                  </a:ext>
                </a:extLst>
              </p:cNvPr>
              <p:cNvSpPr txBox="1"/>
              <p:nvPr/>
            </p:nvSpPr>
            <p:spPr>
              <a:xfrm>
                <a:off x="9112164" y="5631334"/>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 name="文本框 7">
                <a:extLst>
                  <a:ext uri="{FF2B5EF4-FFF2-40B4-BE49-F238E27FC236}">
                    <a16:creationId xmlns:a16="http://schemas.microsoft.com/office/drawing/2014/main" id="{AA01684D-ACCC-F24A-BF3E-A5411FC8D08A}"/>
                  </a:ext>
                </a:extLst>
              </p:cNvPr>
              <p:cNvSpPr txBox="1">
                <a:spLocks noRot="1" noChangeAspect="1" noMove="1" noResize="1" noEditPoints="1" noAdjustHandles="1" noChangeArrowheads="1" noChangeShapeType="1" noTextEdit="1"/>
              </p:cNvSpPr>
              <p:nvPr/>
            </p:nvSpPr>
            <p:spPr>
              <a:xfrm>
                <a:off x="9112164" y="5631334"/>
                <a:ext cx="633046" cy="338554"/>
              </a:xfrm>
              <a:prstGeom prst="rect">
                <a:avLst/>
              </a:prstGeom>
              <a:blipFill>
                <a:blip r:embed="rId8"/>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BE0F22C0-7D3A-E545-9042-03AFCF1AC42C}"/>
                  </a:ext>
                </a:extLst>
              </p:cNvPr>
              <p:cNvSpPr txBox="1"/>
              <p:nvPr/>
            </p:nvSpPr>
            <p:spPr>
              <a:xfrm>
                <a:off x="9634958" y="5422322"/>
                <a:ext cx="418388"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ℓ−1</m:t>
                              </m:r>
                            </m:e>
                          </m:d>
                        </m:sup>
                      </m:sSup>
                    </m:oMath>
                  </m:oMathPara>
                </a14:m>
                <a:endParaRPr lang="zh-CN" altLang="en-US" sz="2200" dirty="0"/>
              </a:p>
            </p:txBody>
          </p:sp>
        </mc:Choice>
        <mc:Fallback xmlns="">
          <p:sp>
            <p:nvSpPr>
              <p:cNvPr id="67" name="文本框 66">
                <a:extLst>
                  <a:ext uri="{FF2B5EF4-FFF2-40B4-BE49-F238E27FC236}">
                    <a16:creationId xmlns:a16="http://schemas.microsoft.com/office/drawing/2014/main" id="{BE0F22C0-7D3A-E545-9042-03AFCF1AC42C}"/>
                  </a:ext>
                </a:extLst>
              </p:cNvPr>
              <p:cNvSpPr txBox="1">
                <a:spLocks noRot="1" noChangeAspect="1" noMove="1" noResize="1" noEditPoints="1" noAdjustHandles="1" noChangeArrowheads="1" noChangeShapeType="1" noTextEdit="1"/>
              </p:cNvSpPr>
              <p:nvPr/>
            </p:nvSpPr>
            <p:spPr>
              <a:xfrm>
                <a:off x="9634958" y="5422322"/>
                <a:ext cx="418388" cy="453842"/>
              </a:xfrm>
              <a:prstGeom prst="rect">
                <a:avLst/>
              </a:prstGeom>
              <a:blipFill>
                <a:blip r:embed="rId9"/>
                <a:stretch>
                  <a:fillRect r="-85294"/>
                </a:stretch>
              </a:blipFill>
            </p:spPr>
            <p:txBody>
              <a:bodyPr/>
              <a:lstStyle/>
              <a:p>
                <a:r>
                  <a:rPr lang="zh-CN" altLang="en-US">
                    <a:noFill/>
                  </a:rPr>
                  <a:t> </a:t>
                </a:r>
              </a:p>
            </p:txBody>
          </p:sp>
        </mc:Fallback>
      </mc:AlternateContent>
      <p:sp>
        <p:nvSpPr>
          <p:cNvPr id="69" name="Straight Arrow Connector 35">
            <a:extLst>
              <a:ext uri="{FF2B5EF4-FFF2-40B4-BE49-F238E27FC236}">
                <a16:creationId xmlns:a16="http://schemas.microsoft.com/office/drawing/2014/main" id="{6B736CDC-918F-9B46-BA12-CF24311A2952}"/>
              </a:ext>
            </a:extLst>
          </p:cNvPr>
          <p:cNvSpPr/>
          <p:nvPr/>
        </p:nvSpPr>
        <p:spPr>
          <a:xfrm flipV="1">
            <a:off x="9419820" y="4719202"/>
            <a:ext cx="18110" cy="158119"/>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577E2AD7-331C-F74B-B97F-918DABD8A5DC}"/>
                  </a:ext>
                </a:extLst>
              </p:cNvPr>
              <p:cNvSpPr txBox="1"/>
              <p:nvPr/>
            </p:nvSpPr>
            <p:spPr>
              <a:xfrm>
                <a:off x="9506398" y="4455213"/>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0" name="文本框 69">
                <a:extLst>
                  <a:ext uri="{FF2B5EF4-FFF2-40B4-BE49-F238E27FC236}">
                    <a16:creationId xmlns:a16="http://schemas.microsoft.com/office/drawing/2014/main" id="{577E2AD7-331C-F74B-B97F-918DABD8A5DC}"/>
                  </a:ext>
                </a:extLst>
              </p:cNvPr>
              <p:cNvSpPr txBox="1">
                <a:spLocks noRot="1" noChangeAspect="1" noMove="1" noResize="1" noEditPoints="1" noAdjustHandles="1" noChangeArrowheads="1" noChangeShapeType="1" noTextEdit="1"/>
              </p:cNvSpPr>
              <p:nvPr/>
            </p:nvSpPr>
            <p:spPr>
              <a:xfrm>
                <a:off x="9506398" y="4455213"/>
                <a:ext cx="825126" cy="459869"/>
              </a:xfrm>
              <a:prstGeom prst="rect">
                <a:avLst/>
              </a:prstGeom>
              <a:blipFill>
                <a:blip r:embed="rId10"/>
                <a:stretch>
                  <a:fillRect/>
                </a:stretch>
              </a:blipFill>
            </p:spPr>
            <p:txBody>
              <a:bodyPr/>
              <a:lstStyle/>
              <a:p>
                <a:r>
                  <a:rPr lang="zh-CN" altLang="en-US">
                    <a:noFill/>
                  </a:rPr>
                  <a:t> </a:t>
                </a:r>
              </a:p>
            </p:txBody>
          </p:sp>
        </mc:Fallback>
      </mc:AlternateContent>
      <p:sp>
        <p:nvSpPr>
          <p:cNvPr id="71" name="Straight Arrow Connector 35">
            <a:extLst>
              <a:ext uri="{FF2B5EF4-FFF2-40B4-BE49-F238E27FC236}">
                <a16:creationId xmlns:a16="http://schemas.microsoft.com/office/drawing/2014/main" id="{A04EB4BE-EFC0-F543-9337-F6C0F448B86E}"/>
              </a:ext>
            </a:extLst>
          </p:cNvPr>
          <p:cNvSpPr/>
          <p:nvPr/>
        </p:nvSpPr>
        <p:spPr>
          <a:xfrm flipV="1">
            <a:off x="9426754" y="4223797"/>
            <a:ext cx="6871" cy="222778"/>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99DF746-0C6A-2F4A-9714-8440F5EDB247}"/>
                  </a:ext>
                </a:extLst>
              </p:cNvPr>
              <p:cNvSpPr txBox="1"/>
              <p:nvPr/>
            </p:nvSpPr>
            <p:spPr>
              <a:xfrm>
                <a:off x="9117097" y="4418637"/>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72" name="文本框 71">
                <a:extLst>
                  <a:ext uri="{FF2B5EF4-FFF2-40B4-BE49-F238E27FC236}">
                    <a16:creationId xmlns:a16="http://schemas.microsoft.com/office/drawing/2014/main" id="{399DF746-0C6A-2F4A-9714-8440F5EDB247}"/>
                  </a:ext>
                </a:extLst>
              </p:cNvPr>
              <p:cNvSpPr txBox="1">
                <a:spLocks noRot="1" noChangeAspect="1" noMove="1" noResize="1" noEditPoints="1" noAdjustHandles="1" noChangeArrowheads="1" noChangeShapeType="1" noTextEdit="1"/>
              </p:cNvSpPr>
              <p:nvPr/>
            </p:nvSpPr>
            <p:spPr>
              <a:xfrm>
                <a:off x="9117097" y="4418637"/>
                <a:ext cx="633046" cy="338554"/>
              </a:xfrm>
              <a:prstGeom prst="rect">
                <a:avLst/>
              </a:prstGeom>
              <a:blipFill>
                <a:blip r:embed="rId11"/>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442A0F93-6E4E-C546-B4C9-F8EAAEEEB80B}"/>
                  </a:ext>
                </a:extLst>
              </p:cNvPr>
              <p:cNvSpPr txBox="1"/>
              <p:nvPr/>
            </p:nvSpPr>
            <p:spPr>
              <a:xfrm>
                <a:off x="9595277" y="4138671"/>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r>
                                <a:rPr kumimoji="1" lang="en-US" altLang="zh-CN" sz="2200" b="0" i="1" dirty="0" smtClean="0">
                                  <a:latin typeface="Cambria Math" panose="02040503050406030204" pitchFamily="18" charset="0"/>
                                </a:rPr>
                                <m:t>−1</m:t>
                              </m:r>
                            </m:e>
                          </m:d>
                        </m:sup>
                      </m:sSup>
                    </m:oMath>
                  </m:oMathPara>
                </a14:m>
                <a:endParaRPr lang="zh-CN" altLang="en-US" sz="2200" dirty="0"/>
              </a:p>
            </p:txBody>
          </p:sp>
        </mc:Choice>
        <mc:Fallback xmlns="">
          <p:sp>
            <p:nvSpPr>
              <p:cNvPr id="73" name="文本框 72">
                <a:extLst>
                  <a:ext uri="{FF2B5EF4-FFF2-40B4-BE49-F238E27FC236}">
                    <a16:creationId xmlns:a16="http://schemas.microsoft.com/office/drawing/2014/main" id="{442A0F93-6E4E-C546-B4C9-F8EAAEEEB80B}"/>
                  </a:ext>
                </a:extLst>
              </p:cNvPr>
              <p:cNvSpPr txBox="1">
                <a:spLocks noRot="1" noChangeAspect="1" noMove="1" noResize="1" noEditPoints="1" noAdjustHandles="1" noChangeArrowheads="1" noChangeShapeType="1" noTextEdit="1"/>
              </p:cNvSpPr>
              <p:nvPr/>
            </p:nvSpPr>
            <p:spPr>
              <a:xfrm>
                <a:off x="9595277" y="4138671"/>
                <a:ext cx="825126" cy="459869"/>
              </a:xfrm>
              <a:prstGeom prst="rect">
                <a:avLst/>
              </a:prstGeom>
              <a:blipFill>
                <a:blip r:embed="rId12"/>
                <a:stretch>
                  <a:fillRect/>
                </a:stretch>
              </a:blipFill>
            </p:spPr>
            <p:txBody>
              <a:bodyPr/>
              <a:lstStyle/>
              <a:p>
                <a:r>
                  <a:rPr lang="zh-CN" altLang="en-US">
                    <a:noFill/>
                  </a:rPr>
                  <a:t> </a:t>
                </a:r>
              </a:p>
            </p:txBody>
          </p:sp>
        </mc:Fallback>
      </mc:AlternateContent>
      <p:sp>
        <p:nvSpPr>
          <p:cNvPr id="75" name="Straight Arrow Connector 35">
            <a:extLst>
              <a:ext uri="{FF2B5EF4-FFF2-40B4-BE49-F238E27FC236}">
                <a16:creationId xmlns:a16="http://schemas.microsoft.com/office/drawing/2014/main" id="{828D1EC6-82DA-7D43-ABC3-FCCC27BA9796}"/>
              </a:ext>
            </a:extLst>
          </p:cNvPr>
          <p:cNvSpPr/>
          <p:nvPr/>
        </p:nvSpPr>
        <p:spPr>
          <a:xfrm flipH="1" flipV="1">
            <a:off x="9419820" y="3327514"/>
            <a:ext cx="8871" cy="230591"/>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427F111C-5AF2-AC46-9DF8-786E78BE09DD}"/>
                  </a:ext>
                </a:extLst>
              </p:cNvPr>
              <p:cNvSpPr txBox="1"/>
              <p:nvPr/>
            </p:nvSpPr>
            <p:spPr>
              <a:xfrm>
                <a:off x="9540073" y="3168877"/>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6" name="文本框 75">
                <a:extLst>
                  <a:ext uri="{FF2B5EF4-FFF2-40B4-BE49-F238E27FC236}">
                    <a16:creationId xmlns:a16="http://schemas.microsoft.com/office/drawing/2014/main" id="{427F111C-5AF2-AC46-9DF8-786E78BE09DD}"/>
                  </a:ext>
                </a:extLst>
              </p:cNvPr>
              <p:cNvSpPr txBox="1">
                <a:spLocks noRot="1" noChangeAspect="1" noMove="1" noResize="1" noEditPoints="1" noAdjustHandles="1" noChangeArrowheads="1" noChangeShapeType="1" noTextEdit="1"/>
              </p:cNvSpPr>
              <p:nvPr/>
            </p:nvSpPr>
            <p:spPr>
              <a:xfrm>
                <a:off x="9540073" y="3168877"/>
                <a:ext cx="825126" cy="45986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431E3153-04F4-A541-9579-EE4B127D73BB}"/>
                  </a:ext>
                </a:extLst>
              </p:cNvPr>
              <p:cNvSpPr/>
              <p:nvPr/>
            </p:nvSpPr>
            <p:spPr>
              <a:xfrm>
                <a:off x="8643726" y="2760480"/>
                <a:ext cx="1452835" cy="47637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22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200" i="1">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𝑥</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d>
                    </m:oMath>
                  </m:oMathPara>
                </a14:m>
                <a:endParaRPr kumimoji="1" lang="zh-CN" altLang="en-US" sz="2200" dirty="0">
                  <a:solidFill>
                    <a:schemeClr val="tx1"/>
                  </a:solidFill>
                </a:endParaRPr>
              </a:p>
            </p:txBody>
          </p:sp>
        </mc:Choice>
        <mc:Fallback xmlns="">
          <p:sp>
            <p:nvSpPr>
              <p:cNvPr id="9" name="椭圆 8">
                <a:extLst>
                  <a:ext uri="{FF2B5EF4-FFF2-40B4-BE49-F238E27FC236}">
                    <a16:creationId xmlns:a16="http://schemas.microsoft.com/office/drawing/2014/main" id="{431E3153-04F4-A541-9579-EE4B127D73BB}"/>
                  </a:ext>
                </a:extLst>
              </p:cNvPr>
              <p:cNvSpPr>
                <a:spLocks noRot="1" noChangeAspect="1" noMove="1" noResize="1" noEditPoints="1" noAdjustHandles="1" noChangeArrowheads="1" noChangeShapeType="1" noTextEdit="1"/>
              </p:cNvSpPr>
              <p:nvPr/>
            </p:nvSpPr>
            <p:spPr>
              <a:xfrm>
                <a:off x="8643726" y="2760480"/>
                <a:ext cx="1452835" cy="476378"/>
              </a:xfrm>
              <a:prstGeom prst="ellipse">
                <a:avLst/>
              </a:prstGeom>
              <a:blipFill>
                <a:blip r:embed="rId14"/>
                <a:stretch>
                  <a:fillRect b="-2500"/>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57CDE5DD-5514-D540-8342-9C494740ABBF}"/>
              </a:ext>
            </a:extLst>
          </p:cNvPr>
          <p:cNvSpPr txBox="1"/>
          <p:nvPr/>
        </p:nvSpPr>
        <p:spPr>
          <a:xfrm>
            <a:off x="7563838" y="2805769"/>
            <a:ext cx="748923" cy="430887"/>
          </a:xfrm>
          <a:prstGeom prst="rect">
            <a:avLst/>
          </a:prstGeom>
          <a:noFill/>
        </p:spPr>
        <p:txBody>
          <a:bodyPr wrap="none" rtlCol="0">
            <a:spAutoFit/>
          </a:bodyPr>
          <a:lstStyle/>
          <a:p>
            <a:r>
              <a:rPr kumimoji="1" lang="zh-CN" altLang="en-US" sz="2200" dirty="0"/>
              <a:t>损失</a:t>
            </a: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B4D1C01-C68B-2D4F-8936-D53CD3AA128E}"/>
                  </a:ext>
                </a:extLst>
              </p:cNvPr>
              <p:cNvSpPr txBox="1"/>
              <p:nvPr/>
            </p:nvSpPr>
            <p:spPr>
              <a:xfrm>
                <a:off x="10782181" y="3678802"/>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8" name="文本框 77">
                <a:extLst>
                  <a:ext uri="{FF2B5EF4-FFF2-40B4-BE49-F238E27FC236}">
                    <a16:creationId xmlns:a16="http://schemas.microsoft.com/office/drawing/2014/main" id="{5B4D1C01-C68B-2D4F-8936-D53CD3AA128E}"/>
                  </a:ext>
                </a:extLst>
              </p:cNvPr>
              <p:cNvSpPr txBox="1">
                <a:spLocks noRot="1" noChangeAspect="1" noMove="1" noResize="1" noEditPoints="1" noAdjustHandles="1" noChangeArrowheads="1" noChangeShapeType="1" noTextEdit="1"/>
              </p:cNvSpPr>
              <p:nvPr/>
            </p:nvSpPr>
            <p:spPr>
              <a:xfrm>
                <a:off x="10782181" y="3678802"/>
                <a:ext cx="825127" cy="45986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F509CFD8-4EF4-9941-A49A-62F10F844747}"/>
                  </a:ext>
                </a:extLst>
              </p:cNvPr>
              <p:cNvSpPr txBox="1"/>
              <p:nvPr/>
            </p:nvSpPr>
            <p:spPr>
              <a:xfrm>
                <a:off x="10784833" y="5024628"/>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9" name="文本框 78">
                <a:extLst>
                  <a:ext uri="{FF2B5EF4-FFF2-40B4-BE49-F238E27FC236}">
                    <a16:creationId xmlns:a16="http://schemas.microsoft.com/office/drawing/2014/main" id="{F509CFD8-4EF4-9941-A49A-62F10F844747}"/>
                  </a:ext>
                </a:extLst>
              </p:cNvPr>
              <p:cNvSpPr txBox="1">
                <a:spLocks noRot="1" noChangeAspect="1" noMove="1" noResize="1" noEditPoints="1" noAdjustHandles="1" noChangeArrowheads="1" noChangeShapeType="1" noTextEdit="1"/>
              </p:cNvSpPr>
              <p:nvPr/>
            </p:nvSpPr>
            <p:spPr>
              <a:xfrm>
                <a:off x="10784833" y="5024628"/>
                <a:ext cx="825127" cy="459869"/>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E77E250-FBFD-B14C-BC41-4B0588CF1B18}"/>
                  </a:ext>
                </a:extLst>
              </p:cNvPr>
              <p:cNvSpPr txBox="1"/>
              <p:nvPr/>
            </p:nvSpPr>
            <p:spPr>
              <a:xfrm>
                <a:off x="10750062" y="4410405"/>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0" name="文本框 79">
                <a:extLst>
                  <a:ext uri="{FF2B5EF4-FFF2-40B4-BE49-F238E27FC236}">
                    <a16:creationId xmlns:a16="http://schemas.microsoft.com/office/drawing/2014/main" id="{7E77E250-FBFD-B14C-BC41-4B0588CF1B18}"/>
                  </a:ext>
                </a:extLst>
              </p:cNvPr>
              <p:cNvSpPr txBox="1">
                <a:spLocks noRot="1" noChangeAspect="1" noMove="1" noResize="1" noEditPoints="1" noAdjustHandles="1" noChangeArrowheads="1" noChangeShapeType="1" noTextEdit="1"/>
              </p:cNvSpPr>
              <p:nvPr/>
            </p:nvSpPr>
            <p:spPr>
              <a:xfrm>
                <a:off x="10750062" y="4410405"/>
                <a:ext cx="633046" cy="338554"/>
              </a:xfrm>
              <a:prstGeom prst="rect">
                <a:avLst/>
              </a:prstGeom>
              <a:blipFill>
                <a:blip r:embed="rId17"/>
                <a:stretch>
                  <a:fillRect b="-7407"/>
                </a:stretch>
              </a:blipFill>
            </p:spPr>
            <p:txBody>
              <a:bodyPr/>
              <a:lstStyle/>
              <a:p>
                <a:r>
                  <a:rPr lang="zh-CN" altLang="en-US">
                    <a:noFill/>
                  </a:rPr>
                  <a:t> </a:t>
                </a:r>
              </a:p>
            </p:txBody>
          </p:sp>
        </mc:Fallback>
      </mc:AlternateContent>
      <p:sp>
        <p:nvSpPr>
          <p:cNvPr id="81" name="Straight Arrow Connector 35">
            <a:extLst>
              <a:ext uri="{FF2B5EF4-FFF2-40B4-BE49-F238E27FC236}">
                <a16:creationId xmlns:a16="http://schemas.microsoft.com/office/drawing/2014/main" id="{8A06A1A6-C78D-834E-9181-30D1370F9BC9}"/>
              </a:ext>
            </a:extLst>
          </p:cNvPr>
          <p:cNvSpPr/>
          <p:nvPr/>
        </p:nvSpPr>
        <p:spPr>
          <a:xfrm flipH="1">
            <a:off x="10314659" y="5248855"/>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A73D3D6F-DFCB-E443-87D8-FF21E6E517F3}"/>
                  </a:ext>
                </a:extLst>
              </p:cNvPr>
              <p:cNvSpPr txBox="1"/>
              <p:nvPr/>
            </p:nvSpPr>
            <p:spPr>
              <a:xfrm>
                <a:off x="10784833" y="5660940"/>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2" name="文本框 81">
                <a:extLst>
                  <a:ext uri="{FF2B5EF4-FFF2-40B4-BE49-F238E27FC236}">
                    <a16:creationId xmlns:a16="http://schemas.microsoft.com/office/drawing/2014/main" id="{A73D3D6F-DFCB-E443-87D8-FF21E6E517F3}"/>
                  </a:ext>
                </a:extLst>
              </p:cNvPr>
              <p:cNvSpPr txBox="1">
                <a:spLocks noRot="1" noChangeAspect="1" noMove="1" noResize="1" noEditPoints="1" noAdjustHandles="1" noChangeArrowheads="1" noChangeShapeType="1" noTextEdit="1"/>
              </p:cNvSpPr>
              <p:nvPr/>
            </p:nvSpPr>
            <p:spPr>
              <a:xfrm>
                <a:off x="10784833" y="5660940"/>
                <a:ext cx="633046" cy="338554"/>
              </a:xfrm>
              <a:prstGeom prst="rect">
                <a:avLst/>
              </a:prstGeom>
              <a:blipFill>
                <a:blip r:embed="rId8"/>
                <a:stretch>
                  <a:fillRect b="-3571"/>
                </a:stretch>
              </a:blipFill>
            </p:spPr>
            <p:txBody>
              <a:bodyPr/>
              <a:lstStyle/>
              <a:p>
                <a:r>
                  <a:rPr lang="zh-CN" altLang="en-US">
                    <a:noFill/>
                  </a:rPr>
                  <a:t> </a:t>
                </a:r>
              </a:p>
            </p:txBody>
          </p:sp>
        </mc:Fallback>
      </mc:AlternateContent>
      <p:sp>
        <p:nvSpPr>
          <p:cNvPr id="83" name="Straight Arrow Connector 35">
            <a:extLst>
              <a:ext uri="{FF2B5EF4-FFF2-40B4-BE49-F238E27FC236}">
                <a16:creationId xmlns:a16="http://schemas.microsoft.com/office/drawing/2014/main" id="{F7A2E405-4054-5F42-BC38-3474EBF99FC9}"/>
              </a:ext>
            </a:extLst>
          </p:cNvPr>
          <p:cNvSpPr/>
          <p:nvPr/>
        </p:nvSpPr>
        <p:spPr>
          <a:xfrm flipH="1">
            <a:off x="10314659" y="3894119"/>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FDB764F1-0E96-D64F-B25D-A388BA5F8B1F}"/>
                  </a:ext>
                </a:extLst>
              </p:cNvPr>
              <p:cNvSpPr txBox="1"/>
              <p:nvPr/>
            </p:nvSpPr>
            <p:spPr>
              <a:xfrm>
                <a:off x="316472" y="3563885"/>
                <a:ext cx="7236202"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2</m:t>
                                  </m:r>
                                </m:e>
                              </m:d>
                            </m:sup>
                          </m:sSup>
                        </m:den>
                      </m:f>
                      <m:r>
                        <a:rPr kumimoji="1" lang="en-US" altLang="zh-CN" sz="2400" b="0" i="1" smtClean="0">
                          <a:latin typeface="Cambria Math" panose="02040503050406030204" pitchFamily="18" charset="0"/>
                        </a:rPr>
                        <m:t>=</m:t>
                      </m:r>
                      <m:f>
                        <m:fPr>
                          <m:ctrlPr>
                            <a:rPr kumimoji="1" lang="en-US" altLang="zh-CN" sz="2400" i="1" smtClean="0">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ℓ</m:t>
                          </m:r>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𝜃</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𝑥</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𝑦</m:t>
                              </m:r>
                            </m:e>
                          </m:d>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b="0" i="1" smtClean="0">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den>
                      </m:f>
                      <m:r>
                        <a:rPr kumimoji="1" lang="en-US" altLang="zh-CN" sz="2400" b="0" i="1" smtClean="0">
                          <a:solidFill>
                            <a:srgbClr val="C00000"/>
                          </a:solidFill>
                          <a:latin typeface="Cambria Math" panose="02040503050406030204" pitchFamily="18" charset="0"/>
                        </a:rPr>
                        <m:t>⋅</m:t>
                      </m:r>
                      <m:f>
                        <m:fPr>
                          <m:ctrlPr>
                            <a:rPr kumimoji="1" lang="en-US" altLang="zh-CN" sz="2400" i="1">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r>
                                    <a:rPr kumimoji="1" lang="en-US" altLang="zh-CN" sz="2400" i="1">
                                      <a:solidFill>
                                        <a:srgbClr val="C00000"/>
                                      </a:solidFill>
                                      <a:latin typeface="Cambria Math" panose="02040503050406030204" pitchFamily="18" charset="0"/>
                                    </a:rPr>
                                    <m:t>−1</m:t>
                                  </m:r>
                                </m:e>
                              </m:d>
                            </m:sup>
                          </m:sSup>
                        </m:den>
                      </m:f>
                      <m:r>
                        <a:rPr kumimoji="1" lang="en-US" altLang="zh-CN" sz="2400" b="0" i="1" smtClean="0">
                          <a:solidFill>
                            <a:srgbClr val="C00000"/>
                          </a:solidFill>
                          <a:latin typeface="Cambria Math" panose="02040503050406030204" pitchFamily="18" charset="0"/>
                        </a:rPr>
                        <m:t>⋯</m:t>
                      </m:r>
                      <m:f>
                        <m:fPr>
                          <m:ctrlPr>
                            <a:rPr kumimoji="1" lang="en-US" altLang="zh-CN" sz="2400" i="1" smtClean="0">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3</m:t>
                                  </m:r>
                                </m:e>
                              </m:d>
                            </m:sup>
                          </m:sSup>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b="0" i="1" smtClean="0">
                                      <a:solidFill>
                                        <a:srgbClr val="C00000"/>
                                      </a:solidFill>
                                      <a:latin typeface="Cambria Math" panose="02040503050406030204" pitchFamily="18" charset="0"/>
                                    </a:rPr>
                                    <m:t>2</m:t>
                                  </m:r>
                                </m:e>
                              </m:d>
                            </m:sup>
                          </m:sSup>
                        </m:den>
                      </m:f>
                      <m:r>
                        <a:rPr kumimoji="1" lang="en-US" altLang="zh-CN" sz="2400" b="0" i="1" smtClean="0">
                          <a:solidFill>
                            <a:srgbClr val="C00000"/>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2</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2</m:t>
                                  </m:r>
                                </m:e>
                              </m:d>
                            </m:sup>
                          </m:sSup>
                        </m:den>
                      </m:f>
                    </m:oMath>
                  </m:oMathPara>
                </a14:m>
                <a:endParaRPr lang="zh-CN" altLang="en-US" sz="2400" dirty="0"/>
              </a:p>
            </p:txBody>
          </p:sp>
        </mc:Choice>
        <mc:Fallback xmlns="">
          <p:sp>
            <p:nvSpPr>
              <p:cNvPr id="37" name="文本框 36">
                <a:extLst>
                  <a:ext uri="{FF2B5EF4-FFF2-40B4-BE49-F238E27FC236}">
                    <a16:creationId xmlns:a16="http://schemas.microsoft.com/office/drawing/2014/main" id="{FDB764F1-0E96-D64F-B25D-A388BA5F8B1F}"/>
                  </a:ext>
                </a:extLst>
              </p:cNvPr>
              <p:cNvSpPr txBox="1">
                <a:spLocks noRot="1" noChangeAspect="1" noMove="1" noResize="1" noEditPoints="1" noAdjustHandles="1" noChangeArrowheads="1" noChangeShapeType="1" noTextEdit="1"/>
              </p:cNvSpPr>
              <p:nvPr/>
            </p:nvSpPr>
            <p:spPr>
              <a:xfrm>
                <a:off x="316472" y="3563885"/>
                <a:ext cx="7236202" cy="875432"/>
              </a:xfrm>
              <a:prstGeom prst="rect">
                <a:avLst/>
              </a:prstGeom>
              <a:blipFill>
                <a:blip r:embed="rId18"/>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B195CA23-7E56-714A-9E62-06726B261391}"/>
                  </a:ext>
                </a:extLst>
              </p:cNvPr>
              <p:cNvSpPr txBox="1"/>
              <p:nvPr/>
            </p:nvSpPr>
            <p:spPr>
              <a:xfrm>
                <a:off x="0" y="5333810"/>
                <a:ext cx="8030395"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1</m:t>
                                  </m:r>
                                </m:e>
                              </m:d>
                            </m:sup>
                          </m:sSup>
                        </m:den>
                      </m:f>
                      <m:r>
                        <a:rPr kumimoji="1" lang="en-US" altLang="zh-CN" sz="2400" b="0" i="1" smtClean="0">
                          <a:latin typeface="Cambria Math" panose="02040503050406030204" pitchFamily="18" charset="0"/>
                        </a:rPr>
                        <m:t>=</m:t>
                      </m:r>
                      <m:f>
                        <m:fPr>
                          <m:ctrlPr>
                            <a:rPr kumimoji="1" lang="en-US" altLang="zh-CN" sz="2400" i="1" smtClean="0">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ℓ</m:t>
                          </m:r>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𝜃</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𝑥</m:t>
                              </m:r>
                              <m:r>
                                <a:rPr kumimoji="1" lang="en-US" altLang="zh-CN" sz="2400" i="1">
                                  <a:solidFill>
                                    <a:srgbClr val="C00000"/>
                                  </a:solidFill>
                                  <a:latin typeface="Cambria Math" panose="02040503050406030204" pitchFamily="18" charset="0"/>
                                </a:rPr>
                                <m:t>,</m:t>
                              </m:r>
                              <m:r>
                                <a:rPr kumimoji="1" lang="en-US" altLang="zh-CN" sz="2400" i="1">
                                  <a:solidFill>
                                    <a:srgbClr val="C00000"/>
                                  </a:solidFill>
                                  <a:latin typeface="Cambria Math" panose="02040503050406030204" pitchFamily="18" charset="0"/>
                                </a:rPr>
                                <m:t>𝑦</m:t>
                              </m:r>
                            </m:e>
                          </m:d>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b="0" i="1" smtClean="0">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den>
                      </m:f>
                      <m:r>
                        <a:rPr kumimoji="1" lang="en-US" altLang="zh-CN" sz="2400" b="0" i="1" smtClean="0">
                          <a:solidFill>
                            <a:srgbClr val="C00000"/>
                          </a:solidFill>
                          <a:latin typeface="Cambria Math" panose="02040503050406030204" pitchFamily="18" charset="0"/>
                        </a:rPr>
                        <m:t>⋅</m:t>
                      </m:r>
                      <m:f>
                        <m:fPr>
                          <m:ctrlPr>
                            <a:rPr kumimoji="1" lang="en-US" altLang="zh-CN" sz="2400" i="1">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r>
                                    <a:rPr kumimoji="1" lang="en-US" altLang="zh-CN" sz="2400" i="1">
                                      <a:solidFill>
                                        <a:srgbClr val="C00000"/>
                                      </a:solidFill>
                                      <a:latin typeface="Cambria Math" panose="02040503050406030204" pitchFamily="18" charset="0"/>
                                    </a:rPr>
                                    <m:t>−1</m:t>
                                  </m:r>
                                </m:e>
                              </m:d>
                            </m:sup>
                          </m:sSup>
                        </m:den>
                      </m:f>
                      <m:r>
                        <a:rPr kumimoji="1" lang="en-US" altLang="zh-CN" sz="2400" b="0" i="1" smtClean="0">
                          <a:solidFill>
                            <a:srgbClr val="C00000"/>
                          </a:solidFill>
                          <a:latin typeface="Cambria Math" panose="02040503050406030204" pitchFamily="18" charset="0"/>
                        </a:rPr>
                        <m:t>⋯</m:t>
                      </m:r>
                      <m:f>
                        <m:fPr>
                          <m:ctrlPr>
                            <a:rPr kumimoji="1" lang="en-US" altLang="zh-CN" sz="2400" i="1">
                              <a:solidFill>
                                <a:srgbClr val="C00000"/>
                              </a:solidFill>
                              <a:latin typeface="Cambria Math" panose="02040503050406030204" pitchFamily="18" charset="0"/>
                            </a:rPr>
                          </m:ctrlPr>
                        </m:fPr>
                        <m:num>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3</m:t>
                                  </m:r>
                                </m:e>
                              </m:d>
                            </m:sup>
                          </m:sSup>
                        </m:num>
                        <m:den>
                          <m:r>
                            <a:rPr kumimoji="1" lang="en-US" altLang="zh-CN" sz="2400" i="1">
                              <a:solidFill>
                                <a:srgbClr val="C00000"/>
                              </a:solidFill>
                              <a:latin typeface="Cambria Math" panose="02040503050406030204" pitchFamily="18" charset="0"/>
                            </a:rPr>
                            <m:t>𝜕</m:t>
                          </m:r>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𝑥</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2</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2</m:t>
                                  </m:r>
                                </m:e>
                              </m:d>
                            </m:sup>
                          </m:sSup>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1</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1</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1</m:t>
                                  </m:r>
                                </m:e>
                              </m:d>
                            </m:sup>
                          </m:sSup>
                        </m:den>
                      </m:f>
                    </m:oMath>
                  </m:oMathPara>
                </a14:m>
                <a:endParaRPr lang="zh-CN" altLang="en-US" sz="2400" dirty="0"/>
              </a:p>
            </p:txBody>
          </p:sp>
        </mc:Choice>
        <mc:Fallback xmlns="">
          <p:sp>
            <p:nvSpPr>
              <p:cNvPr id="35" name="文本框 34">
                <a:extLst>
                  <a:ext uri="{FF2B5EF4-FFF2-40B4-BE49-F238E27FC236}">
                    <a16:creationId xmlns:a16="http://schemas.microsoft.com/office/drawing/2014/main" id="{B195CA23-7E56-714A-9E62-06726B261391}"/>
                  </a:ext>
                </a:extLst>
              </p:cNvPr>
              <p:cNvSpPr txBox="1">
                <a:spLocks noRot="1" noChangeAspect="1" noMove="1" noResize="1" noEditPoints="1" noAdjustHandles="1" noChangeArrowheads="1" noChangeShapeType="1" noTextEdit="1"/>
              </p:cNvSpPr>
              <p:nvPr/>
            </p:nvSpPr>
            <p:spPr>
              <a:xfrm>
                <a:off x="0" y="5333810"/>
                <a:ext cx="8030395" cy="875432"/>
              </a:xfrm>
              <a:prstGeom prst="rect">
                <a:avLst/>
              </a:prstGeom>
              <a:blipFill>
                <a:blip r:embed="rId19"/>
                <a:stretch>
                  <a:fillRect b="-5714"/>
                </a:stretch>
              </a:blipFill>
            </p:spPr>
            <p:txBody>
              <a:bodyPr/>
              <a:lstStyle/>
              <a:p>
                <a:r>
                  <a:rPr lang="zh-CN" altLang="en-US">
                    <a:noFill/>
                  </a:rPr>
                  <a:t> </a:t>
                </a:r>
              </a:p>
            </p:txBody>
          </p:sp>
        </mc:Fallback>
      </mc:AlternateContent>
      <p:sp>
        <p:nvSpPr>
          <p:cNvPr id="38" name="爆炸形 2 37">
            <a:extLst>
              <a:ext uri="{FF2B5EF4-FFF2-40B4-BE49-F238E27FC236}">
                <a16:creationId xmlns:a16="http://schemas.microsoft.com/office/drawing/2014/main" id="{0EA1668C-B191-B746-BCBD-01A0CE504A97}"/>
              </a:ext>
            </a:extLst>
          </p:cNvPr>
          <p:cNvSpPr/>
          <p:nvPr/>
        </p:nvSpPr>
        <p:spPr>
          <a:xfrm rot="20831819">
            <a:off x="7723426" y="3694499"/>
            <a:ext cx="3731974"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反向传播！</a:t>
            </a:r>
          </a:p>
        </p:txBody>
      </p:sp>
    </p:spTree>
    <p:extLst>
      <p:ext uri="{BB962C8B-B14F-4D97-AF65-F5344CB8AC3E}">
        <p14:creationId xmlns:p14="http://schemas.microsoft.com/office/powerpoint/2010/main" val="423234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74</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2806025"/>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多层感知机的梯度计算</a:t>
                </a:r>
                <a:endParaRPr lang="en-US" altLang="zh-CN" sz="2400" dirty="0"/>
              </a:p>
              <a:p>
                <a:pPr marL="800100" lvl="1" indent="-342900">
                  <a:lnSpc>
                    <a:spcPct val="150000"/>
                  </a:lnSpc>
                  <a:buFont typeface="Wingdings" pitchFamily="2" charset="2"/>
                  <a:buChar char="p"/>
                </a:pPr>
                <a:r>
                  <a:rPr lang="zh-CN" altLang="en-US" sz="2400" dirty="0"/>
                  <a:t>对于损失函数</a:t>
                </a: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endParaRPr lang="en-US" altLang="zh-CN" sz="2400" dirty="0"/>
              </a:p>
              <a:p>
                <a:pPr marL="800100" lvl="1" indent="-342900">
                  <a:lnSpc>
                    <a:spcPct val="150000"/>
                  </a:lnSpc>
                  <a:buFont typeface="Wingdings" pitchFamily="2" charset="2"/>
                  <a:buChar char="p"/>
                </a:pPr>
                <a:r>
                  <a:rPr lang="zh-CN" altLang="en-US" sz="2400" dirty="0"/>
                  <a:t>对于</a:t>
                </a:r>
                <a14:m>
                  <m:oMath xmlns:m="http://schemas.openxmlformats.org/officeDocument/2006/math">
                    <m:r>
                      <a:rPr lang="en-US" altLang="zh-CN" sz="2400" b="0" i="1" smtClean="0">
                        <a:latin typeface="Cambria Math" panose="02040503050406030204" pitchFamily="18" charset="0"/>
                      </a:rPr>
                      <m:t>ℓ∈</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𝐿</m:t>
                        </m:r>
                      </m:e>
                    </m:d>
                  </m:oMath>
                </a14:m>
                <a:r>
                  <a:rPr lang="zh-CN" altLang="en-US" sz="2400" dirty="0"/>
                  <a:t>，有</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2806025"/>
              </a:xfrm>
              <a:prstGeom prst="rect">
                <a:avLst/>
              </a:prstGeom>
              <a:blipFill>
                <a:blip r:embed="rId3"/>
                <a:stretch>
                  <a:fillRect l="-1311"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Rectangle 28">
                <a:extLst>
                  <a:ext uri="{FF2B5EF4-FFF2-40B4-BE49-F238E27FC236}">
                    <a16:creationId xmlns:a16="http://schemas.microsoft.com/office/drawing/2014/main" id="{07A2CB7F-A3AF-4944-A2D9-0EE2E78BB702}"/>
                  </a:ext>
                </a:extLst>
              </p:cNvPr>
              <p:cNvSpPr/>
              <p:nvPr/>
            </p:nvSpPr>
            <p:spPr>
              <a:xfrm>
                <a:off x="8555915" y="4893339"/>
                <a:ext cx="1658607"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𝑧</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sz="2200" dirty="0"/>
              </a:p>
            </p:txBody>
          </p:sp>
        </mc:Choice>
        <mc:Fallback xmlns="">
          <p:sp>
            <p:nvSpPr>
              <p:cNvPr id="56" name="Rectangle 28">
                <a:extLst>
                  <a:ext uri="{FF2B5EF4-FFF2-40B4-BE49-F238E27FC236}">
                    <a16:creationId xmlns:a16="http://schemas.microsoft.com/office/drawing/2014/main" id="{07A2CB7F-A3AF-4944-A2D9-0EE2E78BB702}"/>
                  </a:ext>
                </a:extLst>
              </p:cNvPr>
              <p:cNvSpPr>
                <a:spLocks noRot="1" noChangeAspect="1" noMove="1" noResize="1" noEditPoints="1" noAdjustHandles="1" noChangeArrowheads="1" noChangeShapeType="1" noTextEdit="1"/>
              </p:cNvSpPr>
              <p:nvPr/>
            </p:nvSpPr>
            <p:spPr>
              <a:xfrm>
                <a:off x="8555915" y="4893339"/>
                <a:ext cx="1658607" cy="553637"/>
              </a:xfrm>
              <a:prstGeom prst="rect">
                <a:avLst/>
              </a:prstGeom>
              <a:blipFill>
                <a:blip r:embed="rId4"/>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28">
                <a:extLst>
                  <a:ext uri="{FF2B5EF4-FFF2-40B4-BE49-F238E27FC236}">
                    <a16:creationId xmlns:a16="http://schemas.microsoft.com/office/drawing/2014/main" id="{5FCB082B-51E0-8441-B848-605E488747BF}"/>
                  </a:ext>
                </a:extLst>
              </p:cNvPr>
              <p:cNvSpPr/>
              <p:nvPr/>
            </p:nvSpPr>
            <p:spPr>
              <a:xfrm>
                <a:off x="8555916" y="6154243"/>
                <a:ext cx="1676716"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rPr>
                        <m:t>𝑥</m:t>
                      </m:r>
                    </m:oMath>
                  </m:oMathPara>
                </a14:m>
                <a:endParaRPr sz="2200" dirty="0"/>
              </a:p>
            </p:txBody>
          </p:sp>
        </mc:Choice>
        <mc:Fallback xmlns="">
          <p:sp>
            <p:nvSpPr>
              <p:cNvPr id="57" name="Rectangle 28">
                <a:extLst>
                  <a:ext uri="{FF2B5EF4-FFF2-40B4-BE49-F238E27FC236}">
                    <a16:creationId xmlns:a16="http://schemas.microsoft.com/office/drawing/2014/main" id="{5FCB082B-51E0-8441-B848-605E488747BF}"/>
                  </a:ext>
                </a:extLst>
              </p:cNvPr>
              <p:cNvSpPr>
                <a:spLocks noRot="1" noChangeAspect="1" noMove="1" noResize="1" noEditPoints="1" noAdjustHandles="1" noChangeArrowheads="1" noChangeShapeType="1" noTextEdit="1"/>
              </p:cNvSpPr>
              <p:nvPr/>
            </p:nvSpPr>
            <p:spPr>
              <a:xfrm>
                <a:off x="8555916" y="6154243"/>
                <a:ext cx="1676716" cy="553637"/>
              </a:xfrm>
              <a:prstGeom prst="rect">
                <a:avLst/>
              </a:prstGeom>
              <a:blipFill>
                <a:blip r:embed="rId5"/>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28">
                <a:extLst>
                  <a:ext uri="{FF2B5EF4-FFF2-40B4-BE49-F238E27FC236}">
                    <a16:creationId xmlns:a16="http://schemas.microsoft.com/office/drawing/2014/main" id="{1FB8AF81-347B-B544-9AF8-70A41E478AD0}"/>
                  </a:ext>
                </a:extLst>
              </p:cNvPr>
              <p:cNvSpPr/>
              <p:nvPr/>
            </p:nvSpPr>
            <p:spPr>
              <a:xfrm>
                <a:off x="8539141" y="3630690"/>
                <a:ext cx="1693490" cy="537490"/>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b="0" i="1" smtClean="0">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oMath>
                  </m:oMathPara>
                </a14:m>
                <a:endParaRPr sz="2200" dirty="0"/>
              </a:p>
            </p:txBody>
          </p:sp>
        </mc:Choice>
        <mc:Fallback xmlns="">
          <p:sp>
            <p:nvSpPr>
              <p:cNvPr id="58" name="Rectangle 28">
                <a:extLst>
                  <a:ext uri="{FF2B5EF4-FFF2-40B4-BE49-F238E27FC236}">
                    <a16:creationId xmlns:a16="http://schemas.microsoft.com/office/drawing/2014/main" id="{1FB8AF81-347B-B544-9AF8-70A41E478AD0}"/>
                  </a:ext>
                </a:extLst>
              </p:cNvPr>
              <p:cNvSpPr>
                <a:spLocks noRot="1" noChangeAspect="1" noMove="1" noResize="1" noEditPoints="1" noAdjustHandles="1" noChangeArrowheads="1" noChangeShapeType="1" noTextEdit="1"/>
              </p:cNvSpPr>
              <p:nvPr/>
            </p:nvSpPr>
            <p:spPr>
              <a:xfrm>
                <a:off x="8539141" y="3630690"/>
                <a:ext cx="1693490" cy="537490"/>
              </a:xfrm>
              <a:prstGeom prst="rect">
                <a:avLst/>
              </a:prstGeom>
              <a:blipFill>
                <a:blip r:embed="rId6"/>
                <a:stretch>
                  <a:fillRect/>
                </a:stretch>
              </a:blipFill>
              <a:ln w="25400">
                <a:solidFill>
                  <a:srgbClr val="000000"/>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EDF75BE-9C49-814C-B6DD-E3A4A97B2869}"/>
              </a:ext>
            </a:extLst>
          </p:cNvPr>
          <p:cNvSpPr txBox="1"/>
          <p:nvPr/>
        </p:nvSpPr>
        <p:spPr>
          <a:xfrm>
            <a:off x="7565178" y="6215697"/>
            <a:ext cx="748923" cy="430887"/>
          </a:xfrm>
          <a:prstGeom prst="rect">
            <a:avLst/>
          </a:prstGeom>
          <a:noFill/>
        </p:spPr>
        <p:txBody>
          <a:bodyPr wrap="none" rtlCol="0">
            <a:spAutoFit/>
          </a:bodyPr>
          <a:lstStyle/>
          <a:p>
            <a:r>
              <a:rPr kumimoji="1" lang="zh-CN" altLang="en-US" sz="2200" dirty="0"/>
              <a:t>输入</a:t>
            </a:r>
          </a:p>
        </p:txBody>
      </p:sp>
      <p:sp>
        <p:nvSpPr>
          <p:cNvPr id="61" name="文本框 60">
            <a:extLst>
              <a:ext uri="{FF2B5EF4-FFF2-40B4-BE49-F238E27FC236}">
                <a16:creationId xmlns:a16="http://schemas.microsoft.com/office/drawing/2014/main" id="{9FB1CE18-B647-C24D-AF79-A5E1C9B8FFB6}"/>
              </a:ext>
            </a:extLst>
          </p:cNvPr>
          <p:cNvSpPr txBox="1"/>
          <p:nvPr/>
        </p:nvSpPr>
        <p:spPr>
          <a:xfrm>
            <a:off x="7565177" y="3699166"/>
            <a:ext cx="748923" cy="430887"/>
          </a:xfrm>
          <a:prstGeom prst="rect">
            <a:avLst/>
          </a:prstGeom>
          <a:noFill/>
        </p:spPr>
        <p:txBody>
          <a:bodyPr wrap="none" rtlCol="0">
            <a:spAutoFit/>
          </a:bodyPr>
          <a:lstStyle/>
          <a:p>
            <a:r>
              <a:rPr kumimoji="1" lang="zh-CN" altLang="en-US" sz="2200" dirty="0"/>
              <a:t>输出</a:t>
            </a:r>
          </a:p>
        </p:txBody>
      </p:sp>
      <p:sp>
        <p:nvSpPr>
          <p:cNvPr id="62" name="Straight Arrow Connector 35">
            <a:extLst>
              <a:ext uri="{FF2B5EF4-FFF2-40B4-BE49-F238E27FC236}">
                <a16:creationId xmlns:a16="http://schemas.microsoft.com/office/drawing/2014/main" id="{A1B9FA38-2569-1E47-95DB-DC7091BF12C4}"/>
              </a:ext>
            </a:extLst>
          </p:cNvPr>
          <p:cNvSpPr/>
          <p:nvPr/>
        </p:nvSpPr>
        <p:spPr>
          <a:xfrm flipV="1">
            <a:off x="9420300" y="5940009"/>
            <a:ext cx="0" cy="21423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21FFF92-ED1B-9F43-8B02-A570B5099233}"/>
                  </a:ext>
                </a:extLst>
              </p:cNvPr>
              <p:cNvSpPr txBox="1"/>
              <p:nvPr/>
            </p:nvSpPr>
            <p:spPr>
              <a:xfrm>
                <a:off x="9532703" y="5772574"/>
                <a:ext cx="825126" cy="453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0</m:t>
                              </m:r>
                            </m:e>
                          </m:d>
                        </m:sup>
                      </m:sSup>
                    </m:oMath>
                  </m:oMathPara>
                </a14:m>
                <a:endParaRPr lang="zh-CN" altLang="en-US" sz="2200" dirty="0"/>
              </a:p>
            </p:txBody>
          </p:sp>
        </mc:Choice>
        <mc:Fallback xmlns="">
          <p:sp>
            <p:nvSpPr>
              <p:cNvPr id="63" name="文本框 62">
                <a:extLst>
                  <a:ext uri="{FF2B5EF4-FFF2-40B4-BE49-F238E27FC236}">
                    <a16:creationId xmlns:a16="http://schemas.microsoft.com/office/drawing/2014/main" id="{A21FFF92-ED1B-9F43-8B02-A570B5099233}"/>
                  </a:ext>
                </a:extLst>
              </p:cNvPr>
              <p:cNvSpPr txBox="1">
                <a:spLocks noRot="1" noChangeAspect="1" noMove="1" noResize="1" noEditPoints="1" noAdjustHandles="1" noChangeArrowheads="1" noChangeShapeType="1" noTextEdit="1"/>
              </p:cNvSpPr>
              <p:nvPr/>
            </p:nvSpPr>
            <p:spPr>
              <a:xfrm>
                <a:off x="9532703" y="5772574"/>
                <a:ext cx="825126" cy="453840"/>
              </a:xfrm>
              <a:prstGeom prst="rect">
                <a:avLst/>
              </a:prstGeom>
              <a:blipFill>
                <a:blip r:embed="rId7"/>
                <a:stretch>
                  <a:fillRect/>
                </a:stretch>
              </a:blipFill>
            </p:spPr>
            <p:txBody>
              <a:bodyPr/>
              <a:lstStyle/>
              <a:p>
                <a:r>
                  <a:rPr lang="zh-CN" altLang="en-US">
                    <a:noFill/>
                  </a:rPr>
                  <a:t> </a:t>
                </a:r>
              </a:p>
            </p:txBody>
          </p:sp>
        </mc:Fallback>
      </mc:AlternateContent>
      <p:sp>
        <p:nvSpPr>
          <p:cNvPr id="65" name="Straight Arrow Connector 35">
            <a:extLst>
              <a:ext uri="{FF2B5EF4-FFF2-40B4-BE49-F238E27FC236}">
                <a16:creationId xmlns:a16="http://schemas.microsoft.com/office/drawing/2014/main" id="{DB1F6538-95F4-4944-9CC9-80038039AF5A}"/>
              </a:ext>
            </a:extLst>
          </p:cNvPr>
          <p:cNvSpPr/>
          <p:nvPr/>
        </p:nvSpPr>
        <p:spPr>
          <a:xfrm flipV="1">
            <a:off x="9420300" y="5447987"/>
            <a:ext cx="16774" cy="201256"/>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01684D-ACCC-F24A-BF3E-A5411FC8D08A}"/>
                  </a:ext>
                </a:extLst>
              </p:cNvPr>
              <p:cNvSpPr txBox="1"/>
              <p:nvPr/>
            </p:nvSpPr>
            <p:spPr>
              <a:xfrm>
                <a:off x="9112164" y="5631334"/>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 name="文本框 7">
                <a:extLst>
                  <a:ext uri="{FF2B5EF4-FFF2-40B4-BE49-F238E27FC236}">
                    <a16:creationId xmlns:a16="http://schemas.microsoft.com/office/drawing/2014/main" id="{AA01684D-ACCC-F24A-BF3E-A5411FC8D08A}"/>
                  </a:ext>
                </a:extLst>
              </p:cNvPr>
              <p:cNvSpPr txBox="1">
                <a:spLocks noRot="1" noChangeAspect="1" noMove="1" noResize="1" noEditPoints="1" noAdjustHandles="1" noChangeArrowheads="1" noChangeShapeType="1" noTextEdit="1"/>
              </p:cNvSpPr>
              <p:nvPr/>
            </p:nvSpPr>
            <p:spPr>
              <a:xfrm>
                <a:off x="9112164" y="5631334"/>
                <a:ext cx="633046" cy="338554"/>
              </a:xfrm>
              <a:prstGeom prst="rect">
                <a:avLst/>
              </a:prstGeom>
              <a:blipFill>
                <a:blip r:embed="rId8"/>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BE0F22C0-7D3A-E545-9042-03AFCF1AC42C}"/>
                  </a:ext>
                </a:extLst>
              </p:cNvPr>
              <p:cNvSpPr txBox="1"/>
              <p:nvPr/>
            </p:nvSpPr>
            <p:spPr>
              <a:xfrm>
                <a:off x="9634958" y="5422322"/>
                <a:ext cx="418388"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ℓ−1</m:t>
                              </m:r>
                            </m:e>
                          </m:d>
                        </m:sup>
                      </m:sSup>
                    </m:oMath>
                  </m:oMathPara>
                </a14:m>
                <a:endParaRPr lang="zh-CN" altLang="en-US" sz="2200" dirty="0"/>
              </a:p>
            </p:txBody>
          </p:sp>
        </mc:Choice>
        <mc:Fallback xmlns="">
          <p:sp>
            <p:nvSpPr>
              <p:cNvPr id="67" name="文本框 66">
                <a:extLst>
                  <a:ext uri="{FF2B5EF4-FFF2-40B4-BE49-F238E27FC236}">
                    <a16:creationId xmlns:a16="http://schemas.microsoft.com/office/drawing/2014/main" id="{BE0F22C0-7D3A-E545-9042-03AFCF1AC42C}"/>
                  </a:ext>
                </a:extLst>
              </p:cNvPr>
              <p:cNvSpPr txBox="1">
                <a:spLocks noRot="1" noChangeAspect="1" noMove="1" noResize="1" noEditPoints="1" noAdjustHandles="1" noChangeArrowheads="1" noChangeShapeType="1" noTextEdit="1"/>
              </p:cNvSpPr>
              <p:nvPr/>
            </p:nvSpPr>
            <p:spPr>
              <a:xfrm>
                <a:off x="9634958" y="5422322"/>
                <a:ext cx="418388" cy="453842"/>
              </a:xfrm>
              <a:prstGeom prst="rect">
                <a:avLst/>
              </a:prstGeom>
              <a:blipFill>
                <a:blip r:embed="rId9"/>
                <a:stretch>
                  <a:fillRect r="-85294"/>
                </a:stretch>
              </a:blipFill>
            </p:spPr>
            <p:txBody>
              <a:bodyPr/>
              <a:lstStyle/>
              <a:p>
                <a:r>
                  <a:rPr lang="zh-CN" altLang="en-US">
                    <a:noFill/>
                  </a:rPr>
                  <a:t> </a:t>
                </a:r>
              </a:p>
            </p:txBody>
          </p:sp>
        </mc:Fallback>
      </mc:AlternateContent>
      <p:sp>
        <p:nvSpPr>
          <p:cNvPr id="69" name="Straight Arrow Connector 35">
            <a:extLst>
              <a:ext uri="{FF2B5EF4-FFF2-40B4-BE49-F238E27FC236}">
                <a16:creationId xmlns:a16="http://schemas.microsoft.com/office/drawing/2014/main" id="{6B736CDC-918F-9B46-BA12-CF24311A2952}"/>
              </a:ext>
            </a:extLst>
          </p:cNvPr>
          <p:cNvSpPr/>
          <p:nvPr/>
        </p:nvSpPr>
        <p:spPr>
          <a:xfrm flipV="1">
            <a:off x="9419820" y="4719202"/>
            <a:ext cx="18110" cy="158119"/>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577E2AD7-331C-F74B-B97F-918DABD8A5DC}"/>
                  </a:ext>
                </a:extLst>
              </p:cNvPr>
              <p:cNvSpPr txBox="1"/>
              <p:nvPr/>
            </p:nvSpPr>
            <p:spPr>
              <a:xfrm>
                <a:off x="9506398" y="4455213"/>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0" name="文本框 69">
                <a:extLst>
                  <a:ext uri="{FF2B5EF4-FFF2-40B4-BE49-F238E27FC236}">
                    <a16:creationId xmlns:a16="http://schemas.microsoft.com/office/drawing/2014/main" id="{577E2AD7-331C-F74B-B97F-918DABD8A5DC}"/>
                  </a:ext>
                </a:extLst>
              </p:cNvPr>
              <p:cNvSpPr txBox="1">
                <a:spLocks noRot="1" noChangeAspect="1" noMove="1" noResize="1" noEditPoints="1" noAdjustHandles="1" noChangeArrowheads="1" noChangeShapeType="1" noTextEdit="1"/>
              </p:cNvSpPr>
              <p:nvPr/>
            </p:nvSpPr>
            <p:spPr>
              <a:xfrm>
                <a:off x="9506398" y="4455213"/>
                <a:ext cx="825126" cy="459869"/>
              </a:xfrm>
              <a:prstGeom prst="rect">
                <a:avLst/>
              </a:prstGeom>
              <a:blipFill>
                <a:blip r:embed="rId10"/>
                <a:stretch>
                  <a:fillRect/>
                </a:stretch>
              </a:blipFill>
            </p:spPr>
            <p:txBody>
              <a:bodyPr/>
              <a:lstStyle/>
              <a:p>
                <a:r>
                  <a:rPr lang="zh-CN" altLang="en-US">
                    <a:noFill/>
                  </a:rPr>
                  <a:t> </a:t>
                </a:r>
              </a:p>
            </p:txBody>
          </p:sp>
        </mc:Fallback>
      </mc:AlternateContent>
      <p:sp>
        <p:nvSpPr>
          <p:cNvPr id="71" name="Straight Arrow Connector 35">
            <a:extLst>
              <a:ext uri="{FF2B5EF4-FFF2-40B4-BE49-F238E27FC236}">
                <a16:creationId xmlns:a16="http://schemas.microsoft.com/office/drawing/2014/main" id="{A04EB4BE-EFC0-F543-9337-F6C0F448B86E}"/>
              </a:ext>
            </a:extLst>
          </p:cNvPr>
          <p:cNvSpPr/>
          <p:nvPr/>
        </p:nvSpPr>
        <p:spPr>
          <a:xfrm flipV="1">
            <a:off x="9426754" y="4223797"/>
            <a:ext cx="6871" cy="222778"/>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99DF746-0C6A-2F4A-9714-8440F5EDB247}"/>
                  </a:ext>
                </a:extLst>
              </p:cNvPr>
              <p:cNvSpPr txBox="1"/>
              <p:nvPr/>
            </p:nvSpPr>
            <p:spPr>
              <a:xfrm>
                <a:off x="9117097" y="4418637"/>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72" name="文本框 71">
                <a:extLst>
                  <a:ext uri="{FF2B5EF4-FFF2-40B4-BE49-F238E27FC236}">
                    <a16:creationId xmlns:a16="http://schemas.microsoft.com/office/drawing/2014/main" id="{399DF746-0C6A-2F4A-9714-8440F5EDB247}"/>
                  </a:ext>
                </a:extLst>
              </p:cNvPr>
              <p:cNvSpPr txBox="1">
                <a:spLocks noRot="1" noChangeAspect="1" noMove="1" noResize="1" noEditPoints="1" noAdjustHandles="1" noChangeArrowheads="1" noChangeShapeType="1" noTextEdit="1"/>
              </p:cNvSpPr>
              <p:nvPr/>
            </p:nvSpPr>
            <p:spPr>
              <a:xfrm>
                <a:off x="9117097" y="4418637"/>
                <a:ext cx="633046" cy="338554"/>
              </a:xfrm>
              <a:prstGeom prst="rect">
                <a:avLst/>
              </a:prstGeom>
              <a:blipFill>
                <a:blip r:embed="rId11"/>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442A0F93-6E4E-C546-B4C9-F8EAAEEEB80B}"/>
                  </a:ext>
                </a:extLst>
              </p:cNvPr>
              <p:cNvSpPr txBox="1"/>
              <p:nvPr/>
            </p:nvSpPr>
            <p:spPr>
              <a:xfrm>
                <a:off x="9595277" y="4138671"/>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r>
                                <a:rPr kumimoji="1" lang="en-US" altLang="zh-CN" sz="2200" b="0" i="1" dirty="0" smtClean="0">
                                  <a:latin typeface="Cambria Math" panose="02040503050406030204" pitchFamily="18" charset="0"/>
                                </a:rPr>
                                <m:t>−1</m:t>
                              </m:r>
                            </m:e>
                          </m:d>
                        </m:sup>
                      </m:sSup>
                    </m:oMath>
                  </m:oMathPara>
                </a14:m>
                <a:endParaRPr lang="zh-CN" altLang="en-US" sz="2200" dirty="0"/>
              </a:p>
            </p:txBody>
          </p:sp>
        </mc:Choice>
        <mc:Fallback xmlns="">
          <p:sp>
            <p:nvSpPr>
              <p:cNvPr id="73" name="文本框 72">
                <a:extLst>
                  <a:ext uri="{FF2B5EF4-FFF2-40B4-BE49-F238E27FC236}">
                    <a16:creationId xmlns:a16="http://schemas.microsoft.com/office/drawing/2014/main" id="{442A0F93-6E4E-C546-B4C9-F8EAAEEEB80B}"/>
                  </a:ext>
                </a:extLst>
              </p:cNvPr>
              <p:cNvSpPr txBox="1">
                <a:spLocks noRot="1" noChangeAspect="1" noMove="1" noResize="1" noEditPoints="1" noAdjustHandles="1" noChangeArrowheads="1" noChangeShapeType="1" noTextEdit="1"/>
              </p:cNvSpPr>
              <p:nvPr/>
            </p:nvSpPr>
            <p:spPr>
              <a:xfrm>
                <a:off x="9595277" y="4138671"/>
                <a:ext cx="825126" cy="459869"/>
              </a:xfrm>
              <a:prstGeom prst="rect">
                <a:avLst/>
              </a:prstGeom>
              <a:blipFill>
                <a:blip r:embed="rId12"/>
                <a:stretch>
                  <a:fillRect/>
                </a:stretch>
              </a:blipFill>
            </p:spPr>
            <p:txBody>
              <a:bodyPr/>
              <a:lstStyle/>
              <a:p>
                <a:r>
                  <a:rPr lang="zh-CN" altLang="en-US">
                    <a:noFill/>
                  </a:rPr>
                  <a:t> </a:t>
                </a:r>
              </a:p>
            </p:txBody>
          </p:sp>
        </mc:Fallback>
      </mc:AlternateContent>
      <p:sp>
        <p:nvSpPr>
          <p:cNvPr id="75" name="Straight Arrow Connector 35">
            <a:extLst>
              <a:ext uri="{FF2B5EF4-FFF2-40B4-BE49-F238E27FC236}">
                <a16:creationId xmlns:a16="http://schemas.microsoft.com/office/drawing/2014/main" id="{828D1EC6-82DA-7D43-ABC3-FCCC27BA9796}"/>
              </a:ext>
            </a:extLst>
          </p:cNvPr>
          <p:cNvSpPr/>
          <p:nvPr/>
        </p:nvSpPr>
        <p:spPr>
          <a:xfrm flipH="1" flipV="1">
            <a:off x="9419820" y="3327514"/>
            <a:ext cx="8871" cy="230591"/>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427F111C-5AF2-AC46-9DF8-786E78BE09DD}"/>
                  </a:ext>
                </a:extLst>
              </p:cNvPr>
              <p:cNvSpPr txBox="1"/>
              <p:nvPr/>
            </p:nvSpPr>
            <p:spPr>
              <a:xfrm>
                <a:off x="9540073" y="3168877"/>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6" name="文本框 75">
                <a:extLst>
                  <a:ext uri="{FF2B5EF4-FFF2-40B4-BE49-F238E27FC236}">
                    <a16:creationId xmlns:a16="http://schemas.microsoft.com/office/drawing/2014/main" id="{427F111C-5AF2-AC46-9DF8-786E78BE09DD}"/>
                  </a:ext>
                </a:extLst>
              </p:cNvPr>
              <p:cNvSpPr txBox="1">
                <a:spLocks noRot="1" noChangeAspect="1" noMove="1" noResize="1" noEditPoints="1" noAdjustHandles="1" noChangeArrowheads="1" noChangeShapeType="1" noTextEdit="1"/>
              </p:cNvSpPr>
              <p:nvPr/>
            </p:nvSpPr>
            <p:spPr>
              <a:xfrm>
                <a:off x="9540073" y="3168877"/>
                <a:ext cx="825126" cy="45986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431E3153-04F4-A541-9579-EE4B127D73BB}"/>
                  </a:ext>
                </a:extLst>
              </p:cNvPr>
              <p:cNvSpPr/>
              <p:nvPr/>
            </p:nvSpPr>
            <p:spPr>
              <a:xfrm>
                <a:off x="8643726" y="2760480"/>
                <a:ext cx="1452835" cy="47637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22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200" i="1">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𝑥</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d>
                    </m:oMath>
                  </m:oMathPara>
                </a14:m>
                <a:endParaRPr kumimoji="1" lang="zh-CN" altLang="en-US" sz="2200" dirty="0">
                  <a:solidFill>
                    <a:schemeClr val="tx1"/>
                  </a:solidFill>
                </a:endParaRPr>
              </a:p>
            </p:txBody>
          </p:sp>
        </mc:Choice>
        <mc:Fallback xmlns="">
          <p:sp>
            <p:nvSpPr>
              <p:cNvPr id="9" name="椭圆 8">
                <a:extLst>
                  <a:ext uri="{FF2B5EF4-FFF2-40B4-BE49-F238E27FC236}">
                    <a16:creationId xmlns:a16="http://schemas.microsoft.com/office/drawing/2014/main" id="{431E3153-04F4-A541-9579-EE4B127D73BB}"/>
                  </a:ext>
                </a:extLst>
              </p:cNvPr>
              <p:cNvSpPr>
                <a:spLocks noRot="1" noChangeAspect="1" noMove="1" noResize="1" noEditPoints="1" noAdjustHandles="1" noChangeArrowheads="1" noChangeShapeType="1" noTextEdit="1"/>
              </p:cNvSpPr>
              <p:nvPr/>
            </p:nvSpPr>
            <p:spPr>
              <a:xfrm>
                <a:off x="8643726" y="2760480"/>
                <a:ext cx="1452835" cy="476378"/>
              </a:xfrm>
              <a:prstGeom prst="ellipse">
                <a:avLst/>
              </a:prstGeom>
              <a:blipFill>
                <a:blip r:embed="rId14"/>
                <a:stretch>
                  <a:fillRect b="-2500"/>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57CDE5DD-5514-D540-8342-9C494740ABBF}"/>
              </a:ext>
            </a:extLst>
          </p:cNvPr>
          <p:cNvSpPr txBox="1"/>
          <p:nvPr/>
        </p:nvSpPr>
        <p:spPr>
          <a:xfrm>
            <a:off x="7563838" y="2805769"/>
            <a:ext cx="748923" cy="430887"/>
          </a:xfrm>
          <a:prstGeom prst="rect">
            <a:avLst/>
          </a:prstGeom>
          <a:noFill/>
        </p:spPr>
        <p:txBody>
          <a:bodyPr wrap="none" rtlCol="0">
            <a:spAutoFit/>
          </a:bodyPr>
          <a:lstStyle/>
          <a:p>
            <a:r>
              <a:rPr kumimoji="1" lang="zh-CN" altLang="en-US" sz="2200" dirty="0"/>
              <a:t>损失</a:t>
            </a: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B4D1C01-C68B-2D4F-8936-D53CD3AA128E}"/>
                  </a:ext>
                </a:extLst>
              </p:cNvPr>
              <p:cNvSpPr txBox="1"/>
              <p:nvPr/>
            </p:nvSpPr>
            <p:spPr>
              <a:xfrm>
                <a:off x="10782181" y="3678802"/>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8" name="文本框 77">
                <a:extLst>
                  <a:ext uri="{FF2B5EF4-FFF2-40B4-BE49-F238E27FC236}">
                    <a16:creationId xmlns:a16="http://schemas.microsoft.com/office/drawing/2014/main" id="{5B4D1C01-C68B-2D4F-8936-D53CD3AA128E}"/>
                  </a:ext>
                </a:extLst>
              </p:cNvPr>
              <p:cNvSpPr txBox="1">
                <a:spLocks noRot="1" noChangeAspect="1" noMove="1" noResize="1" noEditPoints="1" noAdjustHandles="1" noChangeArrowheads="1" noChangeShapeType="1" noTextEdit="1"/>
              </p:cNvSpPr>
              <p:nvPr/>
            </p:nvSpPr>
            <p:spPr>
              <a:xfrm>
                <a:off x="10782181" y="3678802"/>
                <a:ext cx="825127" cy="45986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F509CFD8-4EF4-9941-A49A-62F10F844747}"/>
                  </a:ext>
                </a:extLst>
              </p:cNvPr>
              <p:cNvSpPr txBox="1"/>
              <p:nvPr/>
            </p:nvSpPr>
            <p:spPr>
              <a:xfrm>
                <a:off x="10784833" y="5024628"/>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9" name="文本框 78">
                <a:extLst>
                  <a:ext uri="{FF2B5EF4-FFF2-40B4-BE49-F238E27FC236}">
                    <a16:creationId xmlns:a16="http://schemas.microsoft.com/office/drawing/2014/main" id="{F509CFD8-4EF4-9941-A49A-62F10F844747}"/>
                  </a:ext>
                </a:extLst>
              </p:cNvPr>
              <p:cNvSpPr txBox="1">
                <a:spLocks noRot="1" noChangeAspect="1" noMove="1" noResize="1" noEditPoints="1" noAdjustHandles="1" noChangeArrowheads="1" noChangeShapeType="1" noTextEdit="1"/>
              </p:cNvSpPr>
              <p:nvPr/>
            </p:nvSpPr>
            <p:spPr>
              <a:xfrm>
                <a:off x="10784833" y="5024628"/>
                <a:ext cx="825127" cy="459869"/>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E77E250-FBFD-B14C-BC41-4B0588CF1B18}"/>
                  </a:ext>
                </a:extLst>
              </p:cNvPr>
              <p:cNvSpPr txBox="1"/>
              <p:nvPr/>
            </p:nvSpPr>
            <p:spPr>
              <a:xfrm>
                <a:off x="10750062" y="4410405"/>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0" name="文本框 79">
                <a:extLst>
                  <a:ext uri="{FF2B5EF4-FFF2-40B4-BE49-F238E27FC236}">
                    <a16:creationId xmlns:a16="http://schemas.microsoft.com/office/drawing/2014/main" id="{7E77E250-FBFD-B14C-BC41-4B0588CF1B18}"/>
                  </a:ext>
                </a:extLst>
              </p:cNvPr>
              <p:cNvSpPr txBox="1">
                <a:spLocks noRot="1" noChangeAspect="1" noMove="1" noResize="1" noEditPoints="1" noAdjustHandles="1" noChangeArrowheads="1" noChangeShapeType="1" noTextEdit="1"/>
              </p:cNvSpPr>
              <p:nvPr/>
            </p:nvSpPr>
            <p:spPr>
              <a:xfrm>
                <a:off x="10750062" y="4410405"/>
                <a:ext cx="633046" cy="338554"/>
              </a:xfrm>
              <a:prstGeom prst="rect">
                <a:avLst/>
              </a:prstGeom>
              <a:blipFill>
                <a:blip r:embed="rId17"/>
                <a:stretch>
                  <a:fillRect b="-7407"/>
                </a:stretch>
              </a:blipFill>
            </p:spPr>
            <p:txBody>
              <a:bodyPr/>
              <a:lstStyle/>
              <a:p>
                <a:r>
                  <a:rPr lang="zh-CN" altLang="en-US">
                    <a:noFill/>
                  </a:rPr>
                  <a:t> </a:t>
                </a:r>
              </a:p>
            </p:txBody>
          </p:sp>
        </mc:Fallback>
      </mc:AlternateContent>
      <p:sp>
        <p:nvSpPr>
          <p:cNvPr id="81" name="Straight Arrow Connector 35">
            <a:extLst>
              <a:ext uri="{FF2B5EF4-FFF2-40B4-BE49-F238E27FC236}">
                <a16:creationId xmlns:a16="http://schemas.microsoft.com/office/drawing/2014/main" id="{8A06A1A6-C78D-834E-9181-30D1370F9BC9}"/>
              </a:ext>
            </a:extLst>
          </p:cNvPr>
          <p:cNvSpPr/>
          <p:nvPr/>
        </p:nvSpPr>
        <p:spPr>
          <a:xfrm flipH="1">
            <a:off x="10314659" y="5248855"/>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A73D3D6F-DFCB-E443-87D8-FF21E6E517F3}"/>
                  </a:ext>
                </a:extLst>
              </p:cNvPr>
              <p:cNvSpPr txBox="1"/>
              <p:nvPr/>
            </p:nvSpPr>
            <p:spPr>
              <a:xfrm>
                <a:off x="10784833" y="5660940"/>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2" name="文本框 81">
                <a:extLst>
                  <a:ext uri="{FF2B5EF4-FFF2-40B4-BE49-F238E27FC236}">
                    <a16:creationId xmlns:a16="http://schemas.microsoft.com/office/drawing/2014/main" id="{A73D3D6F-DFCB-E443-87D8-FF21E6E517F3}"/>
                  </a:ext>
                </a:extLst>
              </p:cNvPr>
              <p:cNvSpPr txBox="1">
                <a:spLocks noRot="1" noChangeAspect="1" noMove="1" noResize="1" noEditPoints="1" noAdjustHandles="1" noChangeArrowheads="1" noChangeShapeType="1" noTextEdit="1"/>
              </p:cNvSpPr>
              <p:nvPr/>
            </p:nvSpPr>
            <p:spPr>
              <a:xfrm>
                <a:off x="10784833" y="5660940"/>
                <a:ext cx="633046" cy="338554"/>
              </a:xfrm>
              <a:prstGeom prst="rect">
                <a:avLst/>
              </a:prstGeom>
              <a:blipFill>
                <a:blip r:embed="rId8"/>
                <a:stretch>
                  <a:fillRect b="-3571"/>
                </a:stretch>
              </a:blipFill>
            </p:spPr>
            <p:txBody>
              <a:bodyPr/>
              <a:lstStyle/>
              <a:p>
                <a:r>
                  <a:rPr lang="zh-CN" altLang="en-US">
                    <a:noFill/>
                  </a:rPr>
                  <a:t> </a:t>
                </a:r>
              </a:p>
            </p:txBody>
          </p:sp>
        </mc:Fallback>
      </mc:AlternateContent>
      <p:sp>
        <p:nvSpPr>
          <p:cNvPr id="83" name="Straight Arrow Connector 35">
            <a:extLst>
              <a:ext uri="{FF2B5EF4-FFF2-40B4-BE49-F238E27FC236}">
                <a16:creationId xmlns:a16="http://schemas.microsoft.com/office/drawing/2014/main" id="{F7A2E405-4054-5F42-BC38-3474EBF99FC9}"/>
              </a:ext>
            </a:extLst>
          </p:cNvPr>
          <p:cNvSpPr/>
          <p:nvPr/>
        </p:nvSpPr>
        <p:spPr>
          <a:xfrm flipH="1">
            <a:off x="10314659" y="3894119"/>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7DEE66B6-BF3C-9148-9C07-B6BC5ED2BB9A}"/>
                  </a:ext>
                </a:extLst>
              </p:cNvPr>
              <p:cNvSpPr txBox="1"/>
              <p:nvPr/>
            </p:nvSpPr>
            <p:spPr>
              <a:xfrm>
                <a:off x="1510876" y="3630244"/>
                <a:ext cx="1978282" cy="8249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ℓ</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𝜃</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𝑦</m:t>
                              </m:r>
                            </m:e>
                          </m:d>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𝐿</m:t>
                                  </m:r>
                                </m:e>
                              </m:d>
                            </m:sup>
                          </m:sSup>
                        </m:den>
                      </m:f>
                    </m:oMath>
                  </m:oMathPara>
                </a14:m>
                <a:endParaRPr lang="zh-CN" altLang="en-US" sz="2400" dirty="0"/>
              </a:p>
            </p:txBody>
          </p:sp>
        </mc:Choice>
        <mc:Fallback xmlns="">
          <p:sp>
            <p:nvSpPr>
              <p:cNvPr id="34" name="文本框 33">
                <a:extLst>
                  <a:ext uri="{FF2B5EF4-FFF2-40B4-BE49-F238E27FC236}">
                    <a16:creationId xmlns:a16="http://schemas.microsoft.com/office/drawing/2014/main" id="{7DEE66B6-BF3C-9148-9C07-B6BC5ED2BB9A}"/>
                  </a:ext>
                </a:extLst>
              </p:cNvPr>
              <p:cNvSpPr txBox="1">
                <a:spLocks noRot="1" noChangeAspect="1" noMove="1" noResize="1" noEditPoints="1" noAdjustHandles="1" noChangeArrowheads="1" noChangeShapeType="1" noTextEdit="1"/>
              </p:cNvSpPr>
              <p:nvPr/>
            </p:nvSpPr>
            <p:spPr>
              <a:xfrm>
                <a:off x="1510876" y="3630244"/>
                <a:ext cx="1978282" cy="824969"/>
              </a:xfrm>
              <a:prstGeom prst="rect">
                <a:avLst/>
              </a:prstGeom>
              <a:blipFill>
                <a:blip r:embed="rId18"/>
                <a:stretch>
                  <a:fillRect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7C11680D-4823-8947-AFD4-B0935FEB8F13}"/>
                  </a:ext>
                </a:extLst>
              </p:cNvPr>
              <p:cNvSpPr txBox="1"/>
              <p:nvPr/>
            </p:nvSpPr>
            <p:spPr>
              <a:xfrm>
                <a:off x="636280" y="5377873"/>
                <a:ext cx="3810373"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r>
                                    <a:rPr kumimoji="1" lang="en-US" altLang="zh-CN" sz="2400" i="1">
                                      <a:solidFill>
                                        <a:schemeClr val="tx1"/>
                                      </a:solidFill>
                                      <a:latin typeface="Cambria Math" panose="02040503050406030204" pitchFamily="18" charset="0"/>
                                    </a:rPr>
                                    <m:t>−1</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ℓ−1</m:t>
                                  </m:r>
                                </m:e>
                              </m:d>
                            </m:sup>
                          </m:sSup>
                        </m:den>
                      </m:f>
                    </m:oMath>
                  </m:oMathPara>
                </a14:m>
                <a:endParaRPr lang="zh-CN" altLang="en-US" sz="2400" dirty="0"/>
              </a:p>
            </p:txBody>
          </p:sp>
        </mc:Choice>
        <mc:Fallback xmlns="">
          <p:sp>
            <p:nvSpPr>
              <p:cNvPr id="36" name="文本框 35">
                <a:extLst>
                  <a:ext uri="{FF2B5EF4-FFF2-40B4-BE49-F238E27FC236}">
                    <a16:creationId xmlns:a16="http://schemas.microsoft.com/office/drawing/2014/main" id="{7C11680D-4823-8947-AFD4-B0935FEB8F13}"/>
                  </a:ext>
                </a:extLst>
              </p:cNvPr>
              <p:cNvSpPr txBox="1">
                <a:spLocks noRot="1" noChangeAspect="1" noMove="1" noResize="1" noEditPoints="1" noAdjustHandles="1" noChangeArrowheads="1" noChangeShapeType="1" noTextEdit="1"/>
              </p:cNvSpPr>
              <p:nvPr/>
            </p:nvSpPr>
            <p:spPr>
              <a:xfrm>
                <a:off x="636280" y="5377873"/>
                <a:ext cx="3810373" cy="875432"/>
              </a:xfrm>
              <a:prstGeom prst="rect">
                <a:avLst/>
              </a:prstGeom>
              <a:blipFill>
                <a:blip r:embed="rId19"/>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6C9D6E32-CEB4-CA4C-98C8-55B023821713}"/>
                  </a:ext>
                </a:extLst>
              </p:cNvPr>
              <p:cNvSpPr txBox="1"/>
              <p:nvPr/>
            </p:nvSpPr>
            <p:spPr>
              <a:xfrm>
                <a:off x="4402867" y="3844401"/>
                <a:ext cx="2291309" cy="486672"/>
              </a:xfrm>
              <a:prstGeom prst="rect">
                <a:avLst/>
              </a:prstGeom>
              <a:noFill/>
            </p:spPr>
            <p:txBody>
              <a:bodyPr wrap="square">
                <a:spAutoFit/>
              </a:bodyPr>
              <a:lstStyle/>
              <a:p>
                <a14:m>
                  <m:oMath xmlns:m="http://schemas.openxmlformats.org/officeDocument/2006/math">
                    <m:sSup>
                      <m:sSupPr>
                        <m:ctrlPr>
                          <a:rPr kumimoji="1" lang="en-US" altLang="zh-CN" sz="240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𝐿</m:t>
                            </m:r>
                          </m:e>
                        </m:d>
                      </m:sup>
                    </m:sSup>
                    <m:r>
                      <a:rPr kumimoji="1" lang="en-US" altLang="zh-CN" sz="2400" b="0" i="1" smtClean="0">
                        <a:solidFill>
                          <a:schemeClr val="tx1"/>
                        </a:solidFill>
                        <a:latin typeface="Cambria Math" panose="02040503050406030204" pitchFamily="18" charset="0"/>
                      </a:rPr>
                      <m:t>,</m:t>
                    </m:r>
                  </m:oMath>
                </a14:m>
                <a:r>
                  <a:rPr kumimoji="1" lang="en-US" altLang="zh-CN" sz="2400" dirty="0"/>
                  <a:t> </a:t>
                </a:r>
                <a14:m>
                  <m:oMath xmlns:m="http://schemas.openxmlformats.org/officeDocument/2006/math">
                    <m:r>
                      <a:rPr kumimoji="1" lang="en-US" altLang="zh-CN" sz="2400" i="1">
                        <a:latin typeface="Cambria Math" panose="02040503050406030204" pitchFamily="18" charset="0"/>
                      </a:rPr>
                      <m:t>ℓ</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𝜃</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𝑦</m:t>
                        </m:r>
                      </m:e>
                    </m:d>
                  </m:oMath>
                </a14:m>
                <a:endParaRPr lang="zh-CN" altLang="en-US" sz="2400" dirty="0"/>
              </a:p>
            </p:txBody>
          </p:sp>
        </mc:Choice>
        <mc:Fallback xmlns="">
          <p:sp>
            <p:nvSpPr>
              <p:cNvPr id="38" name="文本框 37">
                <a:extLst>
                  <a:ext uri="{FF2B5EF4-FFF2-40B4-BE49-F238E27FC236}">
                    <a16:creationId xmlns:a16="http://schemas.microsoft.com/office/drawing/2014/main" id="{6C9D6E32-CEB4-CA4C-98C8-55B023821713}"/>
                  </a:ext>
                </a:extLst>
              </p:cNvPr>
              <p:cNvSpPr txBox="1">
                <a:spLocks noRot="1" noChangeAspect="1" noMove="1" noResize="1" noEditPoints="1" noAdjustHandles="1" noChangeArrowheads="1" noChangeShapeType="1" noTextEdit="1"/>
              </p:cNvSpPr>
              <p:nvPr/>
            </p:nvSpPr>
            <p:spPr>
              <a:xfrm>
                <a:off x="4402867" y="3844401"/>
                <a:ext cx="2291309" cy="486672"/>
              </a:xfrm>
              <a:prstGeom prst="rect">
                <a:avLst/>
              </a:prstGeom>
              <a:blipFill>
                <a:blip r:embed="rId20"/>
                <a:stretch>
                  <a:fillRect b="-10256"/>
                </a:stretch>
              </a:blipFill>
            </p:spPr>
            <p:txBody>
              <a:bodyPr/>
              <a:lstStyle/>
              <a:p>
                <a:r>
                  <a:rPr lang="zh-CN" altLang="en-US">
                    <a:noFill/>
                  </a:rPr>
                  <a:t> </a:t>
                </a:r>
              </a:p>
            </p:txBody>
          </p:sp>
        </mc:Fallback>
      </mc:AlternateContent>
      <p:sp>
        <p:nvSpPr>
          <p:cNvPr id="39" name="燕尾形箭头 38">
            <a:extLst>
              <a:ext uri="{FF2B5EF4-FFF2-40B4-BE49-F238E27FC236}">
                <a16:creationId xmlns:a16="http://schemas.microsoft.com/office/drawing/2014/main" id="{925011D5-CDDE-AB4F-BB70-2B97FF436579}"/>
              </a:ext>
            </a:extLst>
          </p:cNvPr>
          <p:cNvSpPr/>
          <p:nvPr/>
        </p:nvSpPr>
        <p:spPr bwMode="auto">
          <a:xfrm rot="10800000">
            <a:off x="3572081" y="3878385"/>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3FF11F6-5259-9D4A-BD29-2D8F589314D8}"/>
                  </a:ext>
                </a:extLst>
              </p:cNvPr>
              <p:cNvSpPr txBox="1"/>
              <p:nvPr/>
            </p:nvSpPr>
            <p:spPr>
              <a:xfrm>
                <a:off x="5215849" y="5626956"/>
                <a:ext cx="2291309" cy="493277"/>
              </a:xfrm>
              <a:prstGeom prst="rect">
                <a:avLst/>
              </a:prstGeom>
              <a:noFill/>
            </p:spPr>
            <p:txBody>
              <a:bodyPr wrap="square">
                <a:spAutoFit/>
              </a:bodyPr>
              <a:lstStyle/>
              <a:p>
                <a14:m>
                  <m:oMath xmlns:m="http://schemas.openxmlformats.org/officeDocument/2006/math">
                    <m:sSup>
                      <m:sSupPr>
                        <m:ctrlPr>
                          <a:rPr kumimoji="1" lang="en-US" altLang="zh-CN" sz="240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r>
                      <a:rPr kumimoji="1" lang="en-US" altLang="zh-CN" sz="2400" b="0" i="1" smtClean="0">
                        <a:latin typeface="Cambria Math" panose="02040503050406030204" pitchFamily="18" charset="0"/>
                      </a:rPr>
                      <m:t>,</m:t>
                    </m:r>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𝜎</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m:t>
                        </m:r>
                      </m:e>
                    </m:d>
                  </m:oMath>
                </a14:m>
                <a:r>
                  <a:rPr kumimoji="1" lang="en-US" altLang="zh-CN" sz="2400" dirty="0"/>
                  <a:t> </a:t>
                </a:r>
                <a:endParaRPr lang="zh-CN" altLang="en-US" sz="2400" dirty="0"/>
              </a:p>
            </p:txBody>
          </p:sp>
        </mc:Choice>
        <mc:Fallback xmlns="">
          <p:sp>
            <p:nvSpPr>
              <p:cNvPr id="40" name="文本框 39">
                <a:extLst>
                  <a:ext uri="{FF2B5EF4-FFF2-40B4-BE49-F238E27FC236}">
                    <a16:creationId xmlns:a16="http://schemas.microsoft.com/office/drawing/2014/main" id="{13FF11F6-5259-9D4A-BD29-2D8F589314D8}"/>
                  </a:ext>
                </a:extLst>
              </p:cNvPr>
              <p:cNvSpPr txBox="1">
                <a:spLocks noRot="1" noChangeAspect="1" noMove="1" noResize="1" noEditPoints="1" noAdjustHandles="1" noChangeArrowheads="1" noChangeShapeType="1" noTextEdit="1"/>
              </p:cNvSpPr>
              <p:nvPr/>
            </p:nvSpPr>
            <p:spPr>
              <a:xfrm>
                <a:off x="5215849" y="5626956"/>
                <a:ext cx="2291309" cy="493277"/>
              </a:xfrm>
              <a:prstGeom prst="rect">
                <a:avLst/>
              </a:prstGeom>
              <a:blipFill>
                <a:blip r:embed="rId21"/>
                <a:stretch>
                  <a:fillRect/>
                </a:stretch>
              </a:blipFill>
            </p:spPr>
            <p:txBody>
              <a:bodyPr/>
              <a:lstStyle/>
              <a:p>
                <a:r>
                  <a:rPr lang="zh-CN" altLang="en-US">
                    <a:noFill/>
                  </a:rPr>
                  <a:t> </a:t>
                </a:r>
              </a:p>
            </p:txBody>
          </p:sp>
        </mc:Fallback>
      </mc:AlternateContent>
      <p:sp>
        <p:nvSpPr>
          <p:cNvPr id="41" name="燕尾形箭头 40">
            <a:extLst>
              <a:ext uri="{FF2B5EF4-FFF2-40B4-BE49-F238E27FC236}">
                <a16:creationId xmlns:a16="http://schemas.microsoft.com/office/drawing/2014/main" id="{4217582A-3C14-E146-9D82-B9924B04DA38}"/>
              </a:ext>
            </a:extLst>
          </p:cNvPr>
          <p:cNvSpPr/>
          <p:nvPr/>
        </p:nvSpPr>
        <p:spPr bwMode="auto">
          <a:xfrm rot="10800000">
            <a:off x="4385063" y="5660940"/>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42" name="爆炸形 2 41">
            <a:extLst>
              <a:ext uri="{FF2B5EF4-FFF2-40B4-BE49-F238E27FC236}">
                <a16:creationId xmlns:a16="http://schemas.microsoft.com/office/drawing/2014/main" id="{78BD996B-1BDE-ED41-A70F-6ABF505C7A46}"/>
              </a:ext>
            </a:extLst>
          </p:cNvPr>
          <p:cNvSpPr/>
          <p:nvPr/>
        </p:nvSpPr>
        <p:spPr>
          <a:xfrm rot="20831819">
            <a:off x="7080519" y="3480017"/>
            <a:ext cx="3731974"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前向传播！</a:t>
            </a:r>
          </a:p>
        </p:txBody>
      </p:sp>
      <p:cxnSp>
        <p:nvCxnSpPr>
          <p:cNvPr id="11" name="直线箭头连接符 10">
            <a:extLst>
              <a:ext uri="{FF2B5EF4-FFF2-40B4-BE49-F238E27FC236}">
                <a16:creationId xmlns:a16="http://schemas.microsoft.com/office/drawing/2014/main" id="{63BA35AA-A73F-E745-8EAD-9A54101F37DD}"/>
              </a:ext>
            </a:extLst>
          </p:cNvPr>
          <p:cNvCxnSpPr/>
          <p:nvPr/>
        </p:nvCxnSpPr>
        <p:spPr>
          <a:xfrm flipH="1" flipV="1">
            <a:off x="5799221" y="4410405"/>
            <a:ext cx="1521286" cy="38785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a:extLst>
              <a:ext uri="{FF2B5EF4-FFF2-40B4-BE49-F238E27FC236}">
                <a16:creationId xmlns:a16="http://schemas.microsoft.com/office/drawing/2014/main" id="{A912B78E-EA58-DB4A-A2B3-A70640441485}"/>
              </a:ext>
            </a:extLst>
          </p:cNvPr>
          <p:cNvCxnSpPr>
            <a:cxnSpLocks/>
            <a:endCxn id="40" idx="0"/>
          </p:cNvCxnSpPr>
          <p:nvPr/>
        </p:nvCxnSpPr>
        <p:spPr>
          <a:xfrm flipH="1">
            <a:off x="6361504" y="5024628"/>
            <a:ext cx="836206" cy="60232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10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animBg="1"/>
      <p:bldP spid="40" grpId="0"/>
      <p:bldP spid="41" grpId="0" animBg="1"/>
      <p:bldP spid="4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75</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56" name="Rectangle 28">
                <a:extLst>
                  <a:ext uri="{FF2B5EF4-FFF2-40B4-BE49-F238E27FC236}">
                    <a16:creationId xmlns:a16="http://schemas.microsoft.com/office/drawing/2014/main" id="{07A2CB7F-A3AF-4944-A2D9-0EE2E78BB702}"/>
                  </a:ext>
                </a:extLst>
              </p:cNvPr>
              <p:cNvSpPr/>
              <p:nvPr/>
            </p:nvSpPr>
            <p:spPr>
              <a:xfrm>
                <a:off x="8555915" y="4893339"/>
                <a:ext cx="1658607"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𝑧</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sz="2200" dirty="0"/>
              </a:p>
            </p:txBody>
          </p:sp>
        </mc:Choice>
        <mc:Fallback xmlns="">
          <p:sp>
            <p:nvSpPr>
              <p:cNvPr id="56" name="Rectangle 28">
                <a:extLst>
                  <a:ext uri="{FF2B5EF4-FFF2-40B4-BE49-F238E27FC236}">
                    <a16:creationId xmlns:a16="http://schemas.microsoft.com/office/drawing/2014/main" id="{07A2CB7F-A3AF-4944-A2D9-0EE2E78BB702}"/>
                  </a:ext>
                </a:extLst>
              </p:cNvPr>
              <p:cNvSpPr>
                <a:spLocks noRot="1" noChangeAspect="1" noMove="1" noResize="1" noEditPoints="1" noAdjustHandles="1" noChangeArrowheads="1" noChangeShapeType="1" noTextEdit="1"/>
              </p:cNvSpPr>
              <p:nvPr/>
            </p:nvSpPr>
            <p:spPr>
              <a:xfrm>
                <a:off x="8555915" y="4893339"/>
                <a:ext cx="1658607" cy="553637"/>
              </a:xfrm>
              <a:prstGeom prst="rect">
                <a:avLst/>
              </a:prstGeom>
              <a:blipFill>
                <a:blip r:embed="rId3"/>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28">
                <a:extLst>
                  <a:ext uri="{FF2B5EF4-FFF2-40B4-BE49-F238E27FC236}">
                    <a16:creationId xmlns:a16="http://schemas.microsoft.com/office/drawing/2014/main" id="{5FCB082B-51E0-8441-B848-605E488747BF}"/>
                  </a:ext>
                </a:extLst>
              </p:cNvPr>
              <p:cNvSpPr/>
              <p:nvPr/>
            </p:nvSpPr>
            <p:spPr>
              <a:xfrm>
                <a:off x="8555916" y="6154243"/>
                <a:ext cx="1676716"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rPr>
                        <m:t>𝑥</m:t>
                      </m:r>
                    </m:oMath>
                  </m:oMathPara>
                </a14:m>
                <a:endParaRPr sz="2200" dirty="0"/>
              </a:p>
            </p:txBody>
          </p:sp>
        </mc:Choice>
        <mc:Fallback xmlns="">
          <p:sp>
            <p:nvSpPr>
              <p:cNvPr id="57" name="Rectangle 28">
                <a:extLst>
                  <a:ext uri="{FF2B5EF4-FFF2-40B4-BE49-F238E27FC236}">
                    <a16:creationId xmlns:a16="http://schemas.microsoft.com/office/drawing/2014/main" id="{5FCB082B-51E0-8441-B848-605E488747BF}"/>
                  </a:ext>
                </a:extLst>
              </p:cNvPr>
              <p:cNvSpPr>
                <a:spLocks noRot="1" noChangeAspect="1" noMove="1" noResize="1" noEditPoints="1" noAdjustHandles="1" noChangeArrowheads="1" noChangeShapeType="1" noTextEdit="1"/>
              </p:cNvSpPr>
              <p:nvPr/>
            </p:nvSpPr>
            <p:spPr>
              <a:xfrm>
                <a:off x="8555916" y="6154243"/>
                <a:ext cx="1676716" cy="553637"/>
              </a:xfrm>
              <a:prstGeom prst="rect">
                <a:avLst/>
              </a:prstGeom>
              <a:blipFill>
                <a:blip r:embed="rId4"/>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28">
                <a:extLst>
                  <a:ext uri="{FF2B5EF4-FFF2-40B4-BE49-F238E27FC236}">
                    <a16:creationId xmlns:a16="http://schemas.microsoft.com/office/drawing/2014/main" id="{1FB8AF81-347B-B544-9AF8-70A41E478AD0}"/>
                  </a:ext>
                </a:extLst>
              </p:cNvPr>
              <p:cNvSpPr/>
              <p:nvPr/>
            </p:nvSpPr>
            <p:spPr>
              <a:xfrm>
                <a:off x="8539141" y="3630690"/>
                <a:ext cx="1693490" cy="537490"/>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b="0" i="1" smtClean="0">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oMath>
                  </m:oMathPara>
                </a14:m>
                <a:endParaRPr sz="2200" dirty="0"/>
              </a:p>
            </p:txBody>
          </p:sp>
        </mc:Choice>
        <mc:Fallback xmlns="">
          <p:sp>
            <p:nvSpPr>
              <p:cNvPr id="58" name="Rectangle 28">
                <a:extLst>
                  <a:ext uri="{FF2B5EF4-FFF2-40B4-BE49-F238E27FC236}">
                    <a16:creationId xmlns:a16="http://schemas.microsoft.com/office/drawing/2014/main" id="{1FB8AF81-347B-B544-9AF8-70A41E478AD0}"/>
                  </a:ext>
                </a:extLst>
              </p:cNvPr>
              <p:cNvSpPr>
                <a:spLocks noRot="1" noChangeAspect="1" noMove="1" noResize="1" noEditPoints="1" noAdjustHandles="1" noChangeArrowheads="1" noChangeShapeType="1" noTextEdit="1"/>
              </p:cNvSpPr>
              <p:nvPr/>
            </p:nvSpPr>
            <p:spPr>
              <a:xfrm>
                <a:off x="8539141" y="3630690"/>
                <a:ext cx="1693490" cy="537490"/>
              </a:xfrm>
              <a:prstGeom prst="rect">
                <a:avLst/>
              </a:prstGeom>
              <a:blipFill>
                <a:blip r:embed="rId5"/>
                <a:stretch>
                  <a:fillRect/>
                </a:stretch>
              </a:blipFill>
              <a:ln w="25400">
                <a:solidFill>
                  <a:srgbClr val="000000"/>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EDF75BE-9C49-814C-B6DD-E3A4A97B2869}"/>
              </a:ext>
            </a:extLst>
          </p:cNvPr>
          <p:cNvSpPr txBox="1"/>
          <p:nvPr/>
        </p:nvSpPr>
        <p:spPr>
          <a:xfrm>
            <a:off x="7565178" y="6215697"/>
            <a:ext cx="748923" cy="430887"/>
          </a:xfrm>
          <a:prstGeom prst="rect">
            <a:avLst/>
          </a:prstGeom>
          <a:noFill/>
        </p:spPr>
        <p:txBody>
          <a:bodyPr wrap="none" rtlCol="0">
            <a:spAutoFit/>
          </a:bodyPr>
          <a:lstStyle/>
          <a:p>
            <a:r>
              <a:rPr kumimoji="1" lang="zh-CN" altLang="en-US" sz="2200" dirty="0"/>
              <a:t>输入</a:t>
            </a:r>
          </a:p>
        </p:txBody>
      </p:sp>
      <p:sp>
        <p:nvSpPr>
          <p:cNvPr id="61" name="文本框 60">
            <a:extLst>
              <a:ext uri="{FF2B5EF4-FFF2-40B4-BE49-F238E27FC236}">
                <a16:creationId xmlns:a16="http://schemas.microsoft.com/office/drawing/2014/main" id="{9FB1CE18-B647-C24D-AF79-A5E1C9B8FFB6}"/>
              </a:ext>
            </a:extLst>
          </p:cNvPr>
          <p:cNvSpPr txBox="1"/>
          <p:nvPr/>
        </p:nvSpPr>
        <p:spPr>
          <a:xfrm>
            <a:off x="7565177" y="3699166"/>
            <a:ext cx="748923" cy="430887"/>
          </a:xfrm>
          <a:prstGeom prst="rect">
            <a:avLst/>
          </a:prstGeom>
          <a:noFill/>
        </p:spPr>
        <p:txBody>
          <a:bodyPr wrap="none" rtlCol="0">
            <a:spAutoFit/>
          </a:bodyPr>
          <a:lstStyle/>
          <a:p>
            <a:r>
              <a:rPr kumimoji="1" lang="zh-CN" altLang="en-US" sz="2200" dirty="0"/>
              <a:t>输出</a:t>
            </a:r>
          </a:p>
        </p:txBody>
      </p:sp>
      <p:sp>
        <p:nvSpPr>
          <p:cNvPr id="62" name="Straight Arrow Connector 35">
            <a:extLst>
              <a:ext uri="{FF2B5EF4-FFF2-40B4-BE49-F238E27FC236}">
                <a16:creationId xmlns:a16="http://schemas.microsoft.com/office/drawing/2014/main" id="{A1B9FA38-2569-1E47-95DB-DC7091BF12C4}"/>
              </a:ext>
            </a:extLst>
          </p:cNvPr>
          <p:cNvSpPr/>
          <p:nvPr/>
        </p:nvSpPr>
        <p:spPr>
          <a:xfrm flipV="1">
            <a:off x="9420300" y="5940009"/>
            <a:ext cx="0" cy="21423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21FFF92-ED1B-9F43-8B02-A570B5099233}"/>
                  </a:ext>
                </a:extLst>
              </p:cNvPr>
              <p:cNvSpPr txBox="1"/>
              <p:nvPr/>
            </p:nvSpPr>
            <p:spPr>
              <a:xfrm>
                <a:off x="9532703" y="5772574"/>
                <a:ext cx="825126" cy="453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0</m:t>
                              </m:r>
                            </m:e>
                          </m:d>
                        </m:sup>
                      </m:sSup>
                    </m:oMath>
                  </m:oMathPara>
                </a14:m>
                <a:endParaRPr lang="zh-CN" altLang="en-US" sz="2200" dirty="0"/>
              </a:p>
            </p:txBody>
          </p:sp>
        </mc:Choice>
        <mc:Fallback xmlns="">
          <p:sp>
            <p:nvSpPr>
              <p:cNvPr id="63" name="文本框 62">
                <a:extLst>
                  <a:ext uri="{FF2B5EF4-FFF2-40B4-BE49-F238E27FC236}">
                    <a16:creationId xmlns:a16="http://schemas.microsoft.com/office/drawing/2014/main" id="{A21FFF92-ED1B-9F43-8B02-A570B5099233}"/>
                  </a:ext>
                </a:extLst>
              </p:cNvPr>
              <p:cNvSpPr txBox="1">
                <a:spLocks noRot="1" noChangeAspect="1" noMove="1" noResize="1" noEditPoints="1" noAdjustHandles="1" noChangeArrowheads="1" noChangeShapeType="1" noTextEdit="1"/>
              </p:cNvSpPr>
              <p:nvPr/>
            </p:nvSpPr>
            <p:spPr>
              <a:xfrm>
                <a:off x="9532703" y="5772574"/>
                <a:ext cx="825126" cy="453840"/>
              </a:xfrm>
              <a:prstGeom prst="rect">
                <a:avLst/>
              </a:prstGeom>
              <a:blipFill>
                <a:blip r:embed="rId6"/>
                <a:stretch>
                  <a:fillRect/>
                </a:stretch>
              </a:blipFill>
            </p:spPr>
            <p:txBody>
              <a:bodyPr/>
              <a:lstStyle/>
              <a:p>
                <a:r>
                  <a:rPr lang="zh-CN" altLang="en-US">
                    <a:noFill/>
                  </a:rPr>
                  <a:t> </a:t>
                </a:r>
              </a:p>
            </p:txBody>
          </p:sp>
        </mc:Fallback>
      </mc:AlternateContent>
      <p:sp>
        <p:nvSpPr>
          <p:cNvPr id="65" name="Straight Arrow Connector 35">
            <a:extLst>
              <a:ext uri="{FF2B5EF4-FFF2-40B4-BE49-F238E27FC236}">
                <a16:creationId xmlns:a16="http://schemas.microsoft.com/office/drawing/2014/main" id="{DB1F6538-95F4-4944-9CC9-80038039AF5A}"/>
              </a:ext>
            </a:extLst>
          </p:cNvPr>
          <p:cNvSpPr/>
          <p:nvPr/>
        </p:nvSpPr>
        <p:spPr>
          <a:xfrm flipV="1">
            <a:off x="9420300" y="5447987"/>
            <a:ext cx="16774" cy="201256"/>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01684D-ACCC-F24A-BF3E-A5411FC8D08A}"/>
                  </a:ext>
                </a:extLst>
              </p:cNvPr>
              <p:cNvSpPr txBox="1"/>
              <p:nvPr/>
            </p:nvSpPr>
            <p:spPr>
              <a:xfrm>
                <a:off x="9112164" y="5631334"/>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 name="文本框 7">
                <a:extLst>
                  <a:ext uri="{FF2B5EF4-FFF2-40B4-BE49-F238E27FC236}">
                    <a16:creationId xmlns:a16="http://schemas.microsoft.com/office/drawing/2014/main" id="{AA01684D-ACCC-F24A-BF3E-A5411FC8D08A}"/>
                  </a:ext>
                </a:extLst>
              </p:cNvPr>
              <p:cNvSpPr txBox="1">
                <a:spLocks noRot="1" noChangeAspect="1" noMove="1" noResize="1" noEditPoints="1" noAdjustHandles="1" noChangeArrowheads="1" noChangeShapeType="1" noTextEdit="1"/>
              </p:cNvSpPr>
              <p:nvPr/>
            </p:nvSpPr>
            <p:spPr>
              <a:xfrm>
                <a:off x="9112164" y="5631334"/>
                <a:ext cx="633046" cy="338554"/>
              </a:xfrm>
              <a:prstGeom prst="rect">
                <a:avLst/>
              </a:prstGeom>
              <a:blipFill>
                <a:blip r:embed="rId7"/>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BE0F22C0-7D3A-E545-9042-03AFCF1AC42C}"/>
                  </a:ext>
                </a:extLst>
              </p:cNvPr>
              <p:cNvSpPr txBox="1"/>
              <p:nvPr/>
            </p:nvSpPr>
            <p:spPr>
              <a:xfrm>
                <a:off x="9634958" y="5422322"/>
                <a:ext cx="418388"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ℓ−1</m:t>
                              </m:r>
                            </m:e>
                          </m:d>
                        </m:sup>
                      </m:sSup>
                    </m:oMath>
                  </m:oMathPara>
                </a14:m>
                <a:endParaRPr lang="zh-CN" altLang="en-US" sz="2200" dirty="0"/>
              </a:p>
            </p:txBody>
          </p:sp>
        </mc:Choice>
        <mc:Fallback xmlns="">
          <p:sp>
            <p:nvSpPr>
              <p:cNvPr id="67" name="文本框 66">
                <a:extLst>
                  <a:ext uri="{FF2B5EF4-FFF2-40B4-BE49-F238E27FC236}">
                    <a16:creationId xmlns:a16="http://schemas.microsoft.com/office/drawing/2014/main" id="{BE0F22C0-7D3A-E545-9042-03AFCF1AC42C}"/>
                  </a:ext>
                </a:extLst>
              </p:cNvPr>
              <p:cNvSpPr txBox="1">
                <a:spLocks noRot="1" noChangeAspect="1" noMove="1" noResize="1" noEditPoints="1" noAdjustHandles="1" noChangeArrowheads="1" noChangeShapeType="1" noTextEdit="1"/>
              </p:cNvSpPr>
              <p:nvPr/>
            </p:nvSpPr>
            <p:spPr>
              <a:xfrm>
                <a:off x="9634958" y="5422322"/>
                <a:ext cx="418388" cy="453842"/>
              </a:xfrm>
              <a:prstGeom prst="rect">
                <a:avLst/>
              </a:prstGeom>
              <a:blipFill>
                <a:blip r:embed="rId8"/>
                <a:stretch>
                  <a:fillRect r="-85294"/>
                </a:stretch>
              </a:blipFill>
            </p:spPr>
            <p:txBody>
              <a:bodyPr/>
              <a:lstStyle/>
              <a:p>
                <a:r>
                  <a:rPr lang="zh-CN" altLang="en-US">
                    <a:noFill/>
                  </a:rPr>
                  <a:t> </a:t>
                </a:r>
              </a:p>
            </p:txBody>
          </p:sp>
        </mc:Fallback>
      </mc:AlternateContent>
      <p:sp>
        <p:nvSpPr>
          <p:cNvPr id="69" name="Straight Arrow Connector 35">
            <a:extLst>
              <a:ext uri="{FF2B5EF4-FFF2-40B4-BE49-F238E27FC236}">
                <a16:creationId xmlns:a16="http://schemas.microsoft.com/office/drawing/2014/main" id="{6B736CDC-918F-9B46-BA12-CF24311A2952}"/>
              </a:ext>
            </a:extLst>
          </p:cNvPr>
          <p:cNvSpPr/>
          <p:nvPr/>
        </p:nvSpPr>
        <p:spPr>
          <a:xfrm flipV="1">
            <a:off x="9419820" y="4719202"/>
            <a:ext cx="18110" cy="158119"/>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577E2AD7-331C-F74B-B97F-918DABD8A5DC}"/>
                  </a:ext>
                </a:extLst>
              </p:cNvPr>
              <p:cNvSpPr txBox="1"/>
              <p:nvPr/>
            </p:nvSpPr>
            <p:spPr>
              <a:xfrm>
                <a:off x="9506398" y="4455213"/>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0" name="文本框 69">
                <a:extLst>
                  <a:ext uri="{FF2B5EF4-FFF2-40B4-BE49-F238E27FC236}">
                    <a16:creationId xmlns:a16="http://schemas.microsoft.com/office/drawing/2014/main" id="{577E2AD7-331C-F74B-B97F-918DABD8A5DC}"/>
                  </a:ext>
                </a:extLst>
              </p:cNvPr>
              <p:cNvSpPr txBox="1">
                <a:spLocks noRot="1" noChangeAspect="1" noMove="1" noResize="1" noEditPoints="1" noAdjustHandles="1" noChangeArrowheads="1" noChangeShapeType="1" noTextEdit="1"/>
              </p:cNvSpPr>
              <p:nvPr/>
            </p:nvSpPr>
            <p:spPr>
              <a:xfrm>
                <a:off x="9506398" y="4455213"/>
                <a:ext cx="825126" cy="459869"/>
              </a:xfrm>
              <a:prstGeom prst="rect">
                <a:avLst/>
              </a:prstGeom>
              <a:blipFill>
                <a:blip r:embed="rId9"/>
                <a:stretch>
                  <a:fillRect/>
                </a:stretch>
              </a:blipFill>
            </p:spPr>
            <p:txBody>
              <a:bodyPr/>
              <a:lstStyle/>
              <a:p>
                <a:r>
                  <a:rPr lang="zh-CN" altLang="en-US">
                    <a:noFill/>
                  </a:rPr>
                  <a:t> </a:t>
                </a:r>
              </a:p>
            </p:txBody>
          </p:sp>
        </mc:Fallback>
      </mc:AlternateContent>
      <p:sp>
        <p:nvSpPr>
          <p:cNvPr id="71" name="Straight Arrow Connector 35">
            <a:extLst>
              <a:ext uri="{FF2B5EF4-FFF2-40B4-BE49-F238E27FC236}">
                <a16:creationId xmlns:a16="http://schemas.microsoft.com/office/drawing/2014/main" id="{A04EB4BE-EFC0-F543-9337-F6C0F448B86E}"/>
              </a:ext>
            </a:extLst>
          </p:cNvPr>
          <p:cNvSpPr/>
          <p:nvPr/>
        </p:nvSpPr>
        <p:spPr>
          <a:xfrm flipV="1">
            <a:off x="9426754" y="4223797"/>
            <a:ext cx="6871" cy="222778"/>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99DF746-0C6A-2F4A-9714-8440F5EDB247}"/>
                  </a:ext>
                </a:extLst>
              </p:cNvPr>
              <p:cNvSpPr txBox="1"/>
              <p:nvPr/>
            </p:nvSpPr>
            <p:spPr>
              <a:xfrm>
                <a:off x="9117097" y="4418637"/>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72" name="文本框 71">
                <a:extLst>
                  <a:ext uri="{FF2B5EF4-FFF2-40B4-BE49-F238E27FC236}">
                    <a16:creationId xmlns:a16="http://schemas.microsoft.com/office/drawing/2014/main" id="{399DF746-0C6A-2F4A-9714-8440F5EDB247}"/>
                  </a:ext>
                </a:extLst>
              </p:cNvPr>
              <p:cNvSpPr txBox="1">
                <a:spLocks noRot="1" noChangeAspect="1" noMove="1" noResize="1" noEditPoints="1" noAdjustHandles="1" noChangeArrowheads="1" noChangeShapeType="1" noTextEdit="1"/>
              </p:cNvSpPr>
              <p:nvPr/>
            </p:nvSpPr>
            <p:spPr>
              <a:xfrm>
                <a:off x="9117097" y="4418637"/>
                <a:ext cx="633046" cy="338554"/>
              </a:xfrm>
              <a:prstGeom prst="rect">
                <a:avLst/>
              </a:prstGeom>
              <a:blipFill>
                <a:blip r:embed="rId10"/>
                <a:stretch>
                  <a:fillRect b="-74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442A0F93-6E4E-C546-B4C9-F8EAAEEEB80B}"/>
                  </a:ext>
                </a:extLst>
              </p:cNvPr>
              <p:cNvSpPr txBox="1"/>
              <p:nvPr/>
            </p:nvSpPr>
            <p:spPr>
              <a:xfrm>
                <a:off x="9595277" y="4138671"/>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r>
                                <a:rPr kumimoji="1" lang="en-US" altLang="zh-CN" sz="2200" b="0" i="1" dirty="0" smtClean="0">
                                  <a:latin typeface="Cambria Math" panose="02040503050406030204" pitchFamily="18" charset="0"/>
                                </a:rPr>
                                <m:t>−1</m:t>
                              </m:r>
                            </m:e>
                          </m:d>
                        </m:sup>
                      </m:sSup>
                    </m:oMath>
                  </m:oMathPara>
                </a14:m>
                <a:endParaRPr lang="zh-CN" altLang="en-US" sz="2200" dirty="0"/>
              </a:p>
            </p:txBody>
          </p:sp>
        </mc:Choice>
        <mc:Fallback xmlns="">
          <p:sp>
            <p:nvSpPr>
              <p:cNvPr id="73" name="文本框 72">
                <a:extLst>
                  <a:ext uri="{FF2B5EF4-FFF2-40B4-BE49-F238E27FC236}">
                    <a16:creationId xmlns:a16="http://schemas.microsoft.com/office/drawing/2014/main" id="{442A0F93-6E4E-C546-B4C9-F8EAAEEEB80B}"/>
                  </a:ext>
                </a:extLst>
              </p:cNvPr>
              <p:cNvSpPr txBox="1">
                <a:spLocks noRot="1" noChangeAspect="1" noMove="1" noResize="1" noEditPoints="1" noAdjustHandles="1" noChangeArrowheads="1" noChangeShapeType="1" noTextEdit="1"/>
              </p:cNvSpPr>
              <p:nvPr/>
            </p:nvSpPr>
            <p:spPr>
              <a:xfrm>
                <a:off x="9595277" y="4138671"/>
                <a:ext cx="825126" cy="459869"/>
              </a:xfrm>
              <a:prstGeom prst="rect">
                <a:avLst/>
              </a:prstGeom>
              <a:blipFill>
                <a:blip r:embed="rId11"/>
                <a:stretch>
                  <a:fillRect/>
                </a:stretch>
              </a:blipFill>
            </p:spPr>
            <p:txBody>
              <a:bodyPr/>
              <a:lstStyle/>
              <a:p>
                <a:r>
                  <a:rPr lang="zh-CN" altLang="en-US">
                    <a:noFill/>
                  </a:rPr>
                  <a:t> </a:t>
                </a:r>
              </a:p>
            </p:txBody>
          </p:sp>
        </mc:Fallback>
      </mc:AlternateContent>
      <p:sp>
        <p:nvSpPr>
          <p:cNvPr id="75" name="Straight Arrow Connector 35">
            <a:extLst>
              <a:ext uri="{FF2B5EF4-FFF2-40B4-BE49-F238E27FC236}">
                <a16:creationId xmlns:a16="http://schemas.microsoft.com/office/drawing/2014/main" id="{828D1EC6-82DA-7D43-ABC3-FCCC27BA9796}"/>
              </a:ext>
            </a:extLst>
          </p:cNvPr>
          <p:cNvSpPr/>
          <p:nvPr/>
        </p:nvSpPr>
        <p:spPr>
          <a:xfrm flipH="1" flipV="1">
            <a:off x="9419820" y="3327514"/>
            <a:ext cx="8871" cy="230591"/>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427F111C-5AF2-AC46-9DF8-786E78BE09DD}"/>
                  </a:ext>
                </a:extLst>
              </p:cNvPr>
              <p:cNvSpPr txBox="1"/>
              <p:nvPr/>
            </p:nvSpPr>
            <p:spPr>
              <a:xfrm>
                <a:off x="9540073" y="3168877"/>
                <a:ext cx="825126"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i="1" dirty="0" smtClean="0">
                              <a:latin typeface="Cambria Math" panose="02040503050406030204" pitchFamily="18" charset="0"/>
                            </a:rPr>
                            <m:t>𝑥</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6" name="文本框 75">
                <a:extLst>
                  <a:ext uri="{FF2B5EF4-FFF2-40B4-BE49-F238E27FC236}">
                    <a16:creationId xmlns:a16="http://schemas.microsoft.com/office/drawing/2014/main" id="{427F111C-5AF2-AC46-9DF8-786E78BE09DD}"/>
                  </a:ext>
                </a:extLst>
              </p:cNvPr>
              <p:cNvSpPr txBox="1">
                <a:spLocks noRot="1" noChangeAspect="1" noMove="1" noResize="1" noEditPoints="1" noAdjustHandles="1" noChangeArrowheads="1" noChangeShapeType="1" noTextEdit="1"/>
              </p:cNvSpPr>
              <p:nvPr/>
            </p:nvSpPr>
            <p:spPr>
              <a:xfrm>
                <a:off x="9540073" y="3168877"/>
                <a:ext cx="825126" cy="459869"/>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431E3153-04F4-A541-9579-EE4B127D73BB}"/>
                  </a:ext>
                </a:extLst>
              </p:cNvPr>
              <p:cNvSpPr/>
              <p:nvPr/>
            </p:nvSpPr>
            <p:spPr>
              <a:xfrm>
                <a:off x="8643726" y="2760480"/>
                <a:ext cx="1452835" cy="47637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22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200" i="1">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𝑥</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d>
                    </m:oMath>
                  </m:oMathPara>
                </a14:m>
                <a:endParaRPr kumimoji="1" lang="zh-CN" altLang="en-US" sz="2200" dirty="0">
                  <a:solidFill>
                    <a:schemeClr val="tx1"/>
                  </a:solidFill>
                </a:endParaRPr>
              </a:p>
            </p:txBody>
          </p:sp>
        </mc:Choice>
        <mc:Fallback xmlns="">
          <p:sp>
            <p:nvSpPr>
              <p:cNvPr id="9" name="椭圆 8">
                <a:extLst>
                  <a:ext uri="{FF2B5EF4-FFF2-40B4-BE49-F238E27FC236}">
                    <a16:creationId xmlns:a16="http://schemas.microsoft.com/office/drawing/2014/main" id="{431E3153-04F4-A541-9579-EE4B127D73BB}"/>
                  </a:ext>
                </a:extLst>
              </p:cNvPr>
              <p:cNvSpPr>
                <a:spLocks noRot="1" noChangeAspect="1" noMove="1" noResize="1" noEditPoints="1" noAdjustHandles="1" noChangeArrowheads="1" noChangeShapeType="1" noTextEdit="1"/>
              </p:cNvSpPr>
              <p:nvPr/>
            </p:nvSpPr>
            <p:spPr>
              <a:xfrm>
                <a:off x="8643726" y="2760480"/>
                <a:ext cx="1452835" cy="476378"/>
              </a:xfrm>
              <a:prstGeom prst="ellipse">
                <a:avLst/>
              </a:prstGeom>
              <a:blipFill>
                <a:blip r:embed="rId13"/>
                <a:stretch>
                  <a:fillRect b="-2500"/>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57CDE5DD-5514-D540-8342-9C494740ABBF}"/>
              </a:ext>
            </a:extLst>
          </p:cNvPr>
          <p:cNvSpPr txBox="1"/>
          <p:nvPr/>
        </p:nvSpPr>
        <p:spPr>
          <a:xfrm>
            <a:off x="7563838" y="2805769"/>
            <a:ext cx="748923" cy="430887"/>
          </a:xfrm>
          <a:prstGeom prst="rect">
            <a:avLst/>
          </a:prstGeom>
          <a:noFill/>
        </p:spPr>
        <p:txBody>
          <a:bodyPr wrap="none" rtlCol="0">
            <a:spAutoFit/>
          </a:bodyPr>
          <a:lstStyle/>
          <a:p>
            <a:r>
              <a:rPr kumimoji="1" lang="zh-CN" altLang="en-US" sz="2200" dirty="0"/>
              <a:t>损失</a:t>
            </a: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B4D1C01-C68B-2D4F-8936-D53CD3AA128E}"/>
                  </a:ext>
                </a:extLst>
              </p:cNvPr>
              <p:cNvSpPr txBox="1"/>
              <p:nvPr/>
            </p:nvSpPr>
            <p:spPr>
              <a:xfrm>
                <a:off x="10782181" y="3678802"/>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𝐿</m:t>
                              </m:r>
                            </m:e>
                          </m:d>
                        </m:sup>
                      </m:sSup>
                    </m:oMath>
                  </m:oMathPara>
                </a14:m>
                <a:endParaRPr lang="zh-CN" altLang="en-US" sz="2200" dirty="0"/>
              </a:p>
            </p:txBody>
          </p:sp>
        </mc:Choice>
        <mc:Fallback xmlns="">
          <p:sp>
            <p:nvSpPr>
              <p:cNvPr id="78" name="文本框 77">
                <a:extLst>
                  <a:ext uri="{FF2B5EF4-FFF2-40B4-BE49-F238E27FC236}">
                    <a16:creationId xmlns:a16="http://schemas.microsoft.com/office/drawing/2014/main" id="{5B4D1C01-C68B-2D4F-8936-D53CD3AA128E}"/>
                  </a:ext>
                </a:extLst>
              </p:cNvPr>
              <p:cNvSpPr txBox="1">
                <a:spLocks noRot="1" noChangeAspect="1" noMove="1" noResize="1" noEditPoints="1" noAdjustHandles="1" noChangeArrowheads="1" noChangeShapeType="1" noTextEdit="1"/>
              </p:cNvSpPr>
              <p:nvPr/>
            </p:nvSpPr>
            <p:spPr>
              <a:xfrm>
                <a:off x="10782181" y="3678802"/>
                <a:ext cx="825127" cy="459869"/>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F509CFD8-4EF4-9941-A49A-62F10F844747}"/>
                  </a:ext>
                </a:extLst>
              </p:cNvPr>
              <p:cNvSpPr txBox="1"/>
              <p:nvPr/>
            </p:nvSpPr>
            <p:spPr>
              <a:xfrm>
                <a:off x="10784833" y="5024628"/>
                <a:ext cx="825127" cy="459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𝜃</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lang="zh-CN" altLang="en-US" sz="2200" dirty="0"/>
              </a:p>
            </p:txBody>
          </p:sp>
        </mc:Choice>
        <mc:Fallback xmlns="">
          <p:sp>
            <p:nvSpPr>
              <p:cNvPr id="79" name="文本框 78">
                <a:extLst>
                  <a:ext uri="{FF2B5EF4-FFF2-40B4-BE49-F238E27FC236}">
                    <a16:creationId xmlns:a16="http://schemas.microsoft.com/office/drawing/2014/main" id="{F509CFD8-4EF4-9941-A49A-62F10F844747}"/>
                  </a:ext>
                </a:extLst>
              </p:cNvPr>
              <p:cNvSpPr txBox="1">
                <a:spLocks noRot="1" noChangeAspect="1" noMove="1" noResize="1" noEditPoints="1" noAdjustHandles="1" noChangeArrowheads="1" noChangeShapeType="1" noTextEdit="1"/>
              </p:cNvSpPr>
              <p:nvPr/>
            </p:nvSpPr>
            <p:spPr>
              <a:xfrm>
                <a:off x="10784833" y="5024628"/>
                <a:ext cx="825127" cy="45986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E77E250-FBFD-B14C-BC41-4B0588CF1B18}"/>
                  </a:ext>
                </a:extLst>
              </p:cNvPr>
              <p:cNvSpPr txBox="1"/>
              <p:nvPr/>
            </p:nvSpPr>
            <p:spPr>
              <a:xfrm>
                <a:off x="10750062" y="4410405"/>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0" name="文本框 79">
                <a:extLst>
                  <a:ext uri="{FF2B5EF4-FFF2-40B4-BE49-F238E27FC236}">
                    <a16:creationId xmlns:a16="http://schemas.microsoft.com/office/drawing/2014/main" id="{7E77E250-FBFD-B14C-BC41-4B0588CF1B18}"/>
                  </a:ext>
                </a:extLst>
              </p:cNvPr>
              <p:cNvSpPr txBox="1">
                <a:spLocks noRot="1" noChangeAspect="1" noMove="1" noResize="1" noEditPoints="1" noAdjustHandles="1" noChangeArrowheads="1" noChangeShapeType="1" noTextEdit="1"/>
              </p:cNvSpPr>
              <p:nvPr/>
            </p:nvSpPr>
            <p:spPr>
              <a:xfrm>
                <a:off x="10750062" y="4410405"/>
                <a:ext cx="633046" cy="338554"/>
              </a:xfrm>
              <a:prstGeom prst="rect">
                <a:avLst/>
              </a:prstGeom>
              <a:blipFill>
                <a:blip r:embed="rId16"/>
                <a:stretch>
                  <a:fillRect b="-7407"/>
                </a:stretch>
              </a:blipFill>
            </p:spPr>
            <p:txBody>
              <a:bodyPr/>
              <a:lstStyle/>
              <a:p>
                <a:r>
                  <a:rPr lang="zh-CN" altLang="en-US">
                    <a:noFill/>
                  </a:rPr>
                  <a:t> </a:t>
                </a:r>
              </a:p>
            </p:txBody>
          </p:sp>
        </mc:Fallback>
      </mc:AlternateContent>
      <p:sp>
        <p:nvSpPr>
          <p:cNvPr id="81" name="Straight Arrow Connector 35">
            <a:extLst>
              <a:ext uri="{FF2B5EF4-FFF2-40B4-BE49-F238E27FC236}">
                <a16:creationId xmlns:a16="http://schemas.microsoft.com/office/drawing/2014/main" id="{8A06A1A6-C78D-834E-9181-30D1370F9BC9}"/>
              </a:ext>
            </a:extLst>
          </p:cNvPr>
          <p:cNvSpPr/>
          <p:nvPr/>
        </p:nvSpPr>
        <p:spPr>
          <a:xfrm flipH="1">
            <a:off x="10314659" y="5248855"/>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A73D3D6F-DFCB-E443-87D8-FF21E6E517F3}"/>
                  </a:ext>
                </a:extLst>
              </p:cNvPr>
              <p:cNvSpPr txBox="1"/>
              <p:nvPr/>
            </p:nvSpPr>
            <p:spPr>
              <a:xfrm>
                <a:off x="10784833" y="5660940"/>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2" name="文本框 81">
                <a:extLst>
                  <a:ext uri="{FF2B5EF4-FFF2-40B4-BE49-F238E27FC236}">
                    <a16:creationId xmlns:a16="http://schemas.microsoft.com/office/drawing/2014/main" id="{A73D3D6F-DFCB-E443-87D8-FF21E6E517F3}"/>
                  </a:ext>
                </a:extLst>
              </p:cNvPr>
              <p:cNvSpPr txBox="1">
                <a:spLocks noRot="1" noChangeAspect="1" noMove="1" noResize="1" noEditPoints="1" noAdjustHandles="1" noChangeArrowheads="1" noChangeShapeType="1" noTextEdit="1"/>
              </p:cNvSpPr>
              <p:nvPr/>
            </p:nvSpPr>
            <p:spPr>
              <a:xfrm>
                <a:off x="10784833" y="5660940"/>
                <a:ext cx="633046" cy="338554"/>
              </a:xfrm>
              <a:prstGeom prst="rect">
                <a:avLst/>
              </a:prstGeom>
              <a:blipFill>
                <a:blip r:embed="rId7"/>
                <a:stretch>
                  <a:fillRect b="-3571"/>
                </a:stretch>
              </a:blipFill>
            </p:spPr>
            <p:txBody>
              <a:bodyPr/>
              <a:lstStyle/>
              <a:p>
                <a:r>
                  <a:rPr lang="zh-CN" altLang="en-US">
                    <a:noFill/>
                  </a:rPr>
                  <a:t> </a:t>
                </a:r>
              </a:p>
            </p:txBody>
          </p:sp>
        </mc:Fallback>
      </mc:AlternateContent>
      <p:sp>
        <p:nvSpPr>
          <p:cNvPr id="83" name="Straight Arrow Connector 35">
            <a:extLst>
              <a:ext uri="{FF2B5EF4-FFF2-40B4-BE49-F238E27FC236}">
                <a16:creationId xmlns:a16="http://schemas.microsoft.com/office/drawing/2014/main" id="{F7A2E405-4054-5F42-BC38-3474EBF99FC9}"/>
              </a:ext>
            </a:extLst>
          </p:cNvPr>
          <p:cNvSpPr/>
          <p:nvPr/>
        </p:nvSpPr>
        <p:spPr>
          <a:xfrm flipH="1">
            <a:off x="10314659" y="3894119"/>
            <a:ext cx="470174" cy="0"/>
          </a:xfrm>
          <a:prstGeom prst="line">
            <a:avLst/>
          </a:prstGeom>
          <a:ln w="25400">
            <a:solidFill>
              <a:srgbClr val="0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583E8800-8FAF-1C41-84CD-EDEEE09E0EA5}"/>
                  </a:ext>
                </a:extLst>
              </p:cNvPr>
              <p:cNvSpPr txBox="1"/>
              <p:nvPr/>
            </p:nvSpPr>
            <p:spPr>
              <a:xfrm>
                <a:off x="548640" y="2334643"/>
                <a:ext cx="6771867" cy="2306657"/>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多层感知机的梯度计算</a:t>
                </a:r>
                <a:endParaRPr lang="en-US" altLang="zh-CN" sz="2400" dirty="0"/>
              </a:p>
              <a:p>
                <a:pPr marL="800100" lvl="1" indent="-342900">
                  <a:buFont typeface="Wingdings" pitchFamily="2" charset="2"/>
                  <a:buChar char="p"/>
                </a:pPr>
                <a:r>
                  <a:rPr lang="zh-CN" altLang="en-US" sz="2400" dirty="0"/>
                  <a:t>前向传播：对于每个数据，将其作为输入并计算每一层的</a:t>
                </a:r>
                <a14:m>
                  <m:oMath xmlns:m="http://schemas.openxmlformats.org/officeDocument/2006/math">
                    <m:sSup>
                      <m:sSupPr>
                        <m:ctrlPr>
                          <a:rPr kumimoji="1" lang="en-US" altLang="zh-CN" sz="2400" b="0" i="1" dirty="0" smtClean="0">
                            <a:latin typeface="Cambria Math" panose="02040503050406030204" pitchFamily="18" charset="0"/>
                          </a:rPr>
                        </m:ctrlPr>
                      </m:sSupPr>
                      <m:e>
                        <m:r>
                          <a:rPr kumimoji="1" lang="en-US" altLang="zh-CN" sz="2400" b="0" i="1" dirty="0" smtClean="0">
                            <a:latin typeface="Cambria Math" panose="02040503050406030204" pitchFamily="18" charset="0"/>
                          </a:rPr>
                          <m:t>𝑧</m:t>
                        </m:r>
                      </m:e>
                      <m:sup>
                        <m:d>
                          <m:dPr>
                            <m:ctrlPr>
                              <a:rPr kumimoji="1" lang="en-US" altLang="zh-CN" sz="2400" b="0" i="1" dirty="0" smtClean="0">
                                <a:latin typeface="Cambria Math" panose="02040503050406030204" pitchFamily="18" charset="0"/>
                              </a:rPr>
                            </m:ctrlPr>
                          </m:dPr>
                          <m:e>
                            <m:r>
                              <a:rPr kumimoji="1" lang="en-US" altLang="zh-CN" sz="2400" b="0" i="1" dirty="0" smtClean="0">
                                <a:latin typeface="Cambria Math" panose="02040503050406030204" pitchFamily="18" charset="0"/>
                              </a:rPr>
                              <m:t>ℓ</m:t>
                            </m:r>
                          </m:e>
                        </m:d>
                      </m:sup>
                    </m:sSup>
                  </m:oMath>
                </a14:m>
                <a:r>
                  <a:rPr lang="zh-CN" altLang="en-US" sz="2400" dirty="0"/>
                  <a:t>和输出</a:t>
                </a:r>
                <a14:m>
                  <m:oMath xmlns:m="http://schemas.openxmlformats.org/officeDocument/2006/math">
                    <m:sSup>
                      <m:sSupPr>
                        <m:ctrlPr>
                          <a:rPr kumimoji="1" lang="en-US" altLang="zh-CN" sz="2400" b="0" i="1" smtClean="0">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r>
                      <a:rPr kumimoji="1" lang="en-US" altLang="zh-CN" sz="2400" i="1">
                        <a:latin typeface="Cambria Math" panose="02040503050406030204" pitchFamily="18" charset="0"/>
                      </a:rPr>
                      <m:t>=</m:t>
                    </m:r>
                    <m:sSup>
                      <m:sSupPr>
                        <m:ctrlPr>
                          <a:rPr kumimoji="1" lang="en-US" altLang="zh-CN" sz="2400" b="0" i="1" smtClean="0">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𝜎</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d>
                      <m:dPr>
                        <m:ctrlPr>
                          <a:rPr kumimoji="1" lang="en-US" altLang="zh-CN" sz="2400" i="1">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m:rPr>
                                <m:brk m:alnAt="7"/>
                              </m:rPr>
                              <a:rPr kumimoji="1" lang="en-US" altLang="zh-CN" sz="2400" i="1">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e>
                    </m:d>
                  </m:oMath>
                </a14:m>
                <a:endParaRPr lang="en-US" altLang="zh-CN" sz="2400" dirty="0"/>
              </a:p>
              <a:p>
                <a:pPr lvl="1"/>
                <a:r>
                  <a:rPr lang="zh-CN" altLang="en-US" sz="2400" dirty="0"/>
                  <a:t>    以及最终损失</a:t>
                </a:r>
                <a:endParaRPr lang="en-US" altLang="zh-CN" sz="2400" dirty="0"/>
              </a:p>
              <a:p>
                <a:pPr lvl="1">
                  <a:lnSpc>
                    <a:spcPct val="150000"/>
                  </a:lnSpc>
                </a:pPr>
                <a:endParaRPr lang="en-US" altLang="zh-CN" sz="2400" dirty="0"/>
              </a:p>
            </p:txBody>
          </p:sp>
        </mc:Choice>
        <mc:Fallback xmlns="">
          <p:sp>
            <p:nvSpPr>
              <p:cNvPr id="36" name="文本框 35">
                <a:extLst>
                  <a:ext uri="{FF2B5EF4-FFF2-40B4-BE49-F238E27FC236}">
                    <a16:creationId xmlns:a16="http://schemas.microsoft.com/office/drawing/2014/main" id="{583E8800-8FAF-1C41-84CD-EDEEE09E0EA5}"/>
                  </a:ext>
                </a:extLst>
              </p:cNvPr>
              <p:cNvSpPr txBox="1">
                <a:spLocks noRot="1" noChangeAspect="1" noMove="1" noResize="1" noEditPoints="1" noAdjustHandles="1" noChangeArrowheads="1" noChangeShapeType="1" noTextEdit="1"/>
              </p:cNvSpPr>
              <p:nvPr/>
            </p:nvSpPr>
            <p:spPr>
              <a:xfrm>
                <a:off x="548640" y="2334643"/>
                <a:ext cx="6771867" cy="2306657"/>
              </a:xfrm>
              <a:prstGeom prst="rect">
                <a:avLst/>
              </a:prstGeom>
              <a:blipFill>
                <a:blip r:embed="rId17"/>
                <a:stretch>
                  <a:fillRect l="-131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C6F7575B-2A09-4040-A58E-20B3D5D6AE9A}"/>
              </a:ext>
            </a:extLst>
          </p:cNvPr>
          <p:cNvPicPr>
            <a:picLocks noChangeAspect="1"/>
          </p:cNvPicPr>
          <p:nvPr/>
        </p:nvPicPr>
        <p:blipFill>
          <a:blip r:embed="rId18"/>
          <a:stretch>
            <a:fillRect/>
          </a:stretch>
        </p:blipFill>
        <p:spPr>
          <a:xfrm>
            <a:off x="10310665" y="2918083"/>
            <a:ext cx="1881335" cy="450662"/>
          </a:xfrm>
          <a:prstGeom prst="rect">
            <a:avLst/>
          </a:prstGeom>
        </p:spPr>
      </p:pic>
    </p:spTree>
    <p:extLst>
      <p:ext uri="{BB962C8B-B14F-4D97-AF65-F5344CB8AC3E}">
        <p14:creationId xmlns:p14="http://schemas.microsoft.com/office/powerpoint/2010/main" val="30396488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76</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2860655"/>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多层感知机的梯度计算</a:t>
                </a:r>
                <a:endParaRPr lang="en-US" altLang="zh-CN" sz="2400" dirty="0"/>
              </a:p>
              <a:p>
                <a:pPr marL="800100" lvl="1" indent="-342900">
                  <a:buFont typeface="Wingdings" pitchFamily="2" charset="2"/>
                  <a:buChar char="p"/>
                </a:pPr>
                <a:r>
                  <a:rPr lang="zh-CN" altLang="en-US" sz="2400" dirty="0"/>
                  <a:t>前向传播：对于每个数据，将其作为输入并计算每一层的</a:t>
                </a:r>
                <a14:m>
                  <m:oMath xmlns:m="http://schemas.openxmlformats.org/officeDocument/2006/math">
                    <m:sSup>
                      <m:sSupPr>
                        <m:ctrlPr>
                          <a:rPr kumimoji="1" lang="en-US" altLang="zh-CN" sz="2400" b="0" i="1" dirty="0" smtClean="0">
                            <a:latin typeface="Cambria Math" panose="02040503050406030204" pitchFamily="18" charset="0"/>
                          </a:rPr>
                        </m:ctrlPr>
                      </m:sSupPr>
                      <m:e>
                        <m:r>
                          <a:rPr kumimoji="1" lang="en-US" altLang="zh-CN" sz="2400" b="0" i="1" dirty="0" smtClean="0">
                            <a:latin typeface="Cambria Math" panose="02040503050406030204" pitchFamily="18" charset="0"/>
                          </a:rPr>
                          <m:t>𝑧</m:t>
                        </m:r>
                      </m:e>
                      <m:sup>
                        <m:d>
                          <m:dPr>
                            <m:ctrlPr>
                              <a:rPr kumimoji="1" lang="en-US" altLang="zh-CN" sz="2400" b="0" i="1" dirty="0" smtClean="0">
                                <a:latin typeface="Cambria Math" panose="02040503050406030204" pitchFamily="18" charset="0"/>
                              </a:rPr>
                            </m:ctrlPr>
                          </m:dPr>
                          <m:e>
                            <m:r>
                              <a:rPr kumimoji="1" lang="en-US" altLang="zh-CN" sz="2400" b="0" i="1" dirty="0" smtClean="0">
                                <a:latin typeface="Cambria Math" panose="02040503050406030204" pitchFamily="18" charset="0"/>
                              </a:rPr>
                              <m:t>ℓ</m:t>
                            </m:r>
                          </m:e>
                        </m:d>
                      </m:sup>
                    </m:sSup>
                  </m:oMath>
                </a14:m>
                <a:r>
                  <a:rPr lang="zh-CN" altLang="en-US" sz="2400" dirty="0"/>
                  <a:t>和输出</a:t>
                </a:r>
                <a14:m>
                  <m:oMath xmlns:m="http://schemas.openxmlformats.org/officeDocument/2006/math">
                    <m:sSup>
                      <m:sSupPr>
                        <m:ctrlPr>
                          <a:rPr kumimoji="1" lang="en-US" altLang="zh-CN" sz="2400" b="0" i="1" smtClean="0">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r>
                      <a:rPr kumimoji="1" lang="en-US" altLang="zh-CN" sz="2400" i="1">
                        <a:latin typeface="Cambria Math" panose="02040503050406030204" pitchFamily="18" charset="0"/>
                      </a:rPr>
                      <m:t>=</m:t>
                    </m:r>
                    <m:sSup>
                      <m:sSupPr>
                        <m:ctrlPr>
                          <a:rPr kumimoji="1" lang="en-US" altLang="zh-CN" sz="2400" b="0" i="1" smtClean="0">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𝜎</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d>
                      <m:dPr>
                        <m:ctrlPr>
                          <a:rPr kumimoji="1" lang="en-US" altLang="zh-CN" sz="2400" i="1">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m:rPr>
                                <m:brk m:alnAt="7"/>
                              </m:rPr>
                              <a:rPr kumimoji="1" lang="en-US" altLang="zh-CN" sz="2400" i="1">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e>
                    </m:d>
                  </m:oMath>
                </a14:m>
                <a:endParaRPr lang="en-US" altLang="zh-CN" sz="2400" dirty="0"/>
              </a:p>
              <a:p>
                <a:pPr lvl="1"/>
                <a:r>
                  <a:rPr lang="zh-CN" altLang="en-US" sz="2400" dirty="0"/>
                  <a:t>    以及最终损失</a:t>
                </a:r>
                <a:endParaRPr lang="en-US" altLang="zh-CN" sz="2400" dirty="0"/>
              </a:p>
              <a:p>
                <a:pPr marL="800100" lvl="1" indent="-342900">
                  <a:lnSpc>
                    <a:spcPct val="150000"/>
                  </a:lnSpc>
                  <a:buFont typeface="Wingdings" pitchFamily="2" charset="2"/>
                  <a:buChar char="p"/>
                </a:pPr>
                <a:r>
                  <a:rPr lang="zh-CN" altLang="en-US" sz="2400" dirty="0"/>
                  <a:t>反向传播：自顶向下的计算</a:t>
                </a:r>
                <a:endParaRPr lang="en-US" altLang="zh-CN" sz="2400" dirty="0"/>
              </a:p>
              <a:p>
                <a:pPr lvl="1">
                  <a:lnSpc>
                    <a:spcPct val="150000"/>
                  </a:lnSpc>
                </a:pP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2860655"/>
              </a:xfrm>
              <a:prstGeom prst="rect">
                <a:avLst/>
              </a:prstGeom>
              <a:blipFill>
                <a:blip r:embed="rId3"/>
                <a:stretch>
                  <a:fillRect l="-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Rectangle 28">
                <a:extLst>
                  <a:ext uri="{FF2B5EF4-FFF2-40B4-BE49-F238E27FC236}">
                    <a16:creationId xmlns:a16="http://schemas.microsoft.com/office/drawing/2014/main" id="{07A2CB7F-A3AF-4944-A2D9-0EE2E78BB702}"/>
                  </a:ext>
                </a:extLst>
              </p:cNvPr>
              <p:cNvSpPr/>
              <p:nvPr/>
            </p:nvSpPr>
            <p:spPr>
              <a:xfrm>
                <a:off x="8555915" y="4893339"/>
                <a:ext cx="1658607"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b="0" i="1" dirty="0" smtClean="0">
                              <a:latin typeface="Cambria Math" panose="02040503050406030204" pitchFamily="18" charset="0"/>
                            </a:rPr>
                          </m:ctrlPr>
                        </m:sSupPr>
                        <m:e>
                          <m:r>
                            <a:rPr kumimoji="1" lang="en-US" altLang="zh-CN" sz="2200" b="0" i="1" dirty="0" smtClean="0">
                              <a:latin typeface="Cambria Math" panose="02040503050406030204" pitchFamily="18" charset="0"/>
                            </a:rPr>
                            <m:t>𝑧</m:t>
                          </m:r>
                        </m:e>
                        <m:sup>
                          <m:d>
                            <m:dPr>
                              <m:ctrlPr>
                                <a:rPr kumimoji="1" lang="en-US" altLang="zh-CN" sz="2200" b="0" i="1" dirty="0" smtClean="0">
                                  <a:latin typeface="Cambria Math" panose="02040503050406030204" pitchFamily="18" charset="0"/>
                                </a:rPr>
                              </m:ctrlPr>
                            </m:dPr>
                            <m:e>
                              <m:r>
                                <a:rPr kumimoji="1" lang="en-US" altLang="zh-CN" sz="2200" b="0" i="1" dirty="0" smtClean="0">
                                  <a:latin typeface="Cambria Math" panose="02040503050406030204" pitchFamily="18" charset="0"/>
                                </a:rPr>
                                <m:t>ℓ</m:t>
                              </m:r>
                            </m:e>
                          </m:d>
                        </m:sup>
                      </m:sSup>
                    </m:oMath>
                  </m:oMathPara>
                </a14:m>
                <a:endParaRPr sz="2200" dirty="0"/>
              </a:p>
            </p:txBody>
          </p:sp>
        </mc:Choice>
        <mc:Fallback xmlns="">
          <p:sp>
            <p:nvSpPr>
              <p:cNvPr id="56" name="Rectangle 28">
                <a:extLst>
                  <a:ext uri="{FF2B5EF4-FFF2-40B4-BE49-F238E27FC236}">
                    <a16:creationId xmlns:a16="http://schemas.microsoft.com/office/drawing/2014/main" id="{07A2CB7F-A3AF-4944-A2D9-0EE2E78BB702}"/>
                  </a:ext>
                </a:extLst>
              </p:cNvPr>
              <p:cNvSpPr>
                <a:spLocks noRot="1" noChangeAspect="1" noMove="1" noResize="1" noEditPoints="1" noAdjustHandles="1" noChangeArrowheads="1" noChangeShapeType="1" noTextEdit="1"/>
              </p:cNvSpPr>
              <p:nvPr/>
            </p:nvSpPr>
            <p:spPr>
              <a:xfrm>
                <a:off x="8555915" y="4893339"/>
                <a:ext cx="1658607" cy="553637"/>
              </a:xfrm>
              <a:prstGeom prst="rect">
                <a:avLst/>
              </a:prstGeom>
              <a:blipFill>
                <a:blip r:embed="rId4"/>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28">
                <a:extLst>
                  <a:ext uri="{FF2B5EF4-FFF2-40B4-BE49-F238E27FC236}">
                    <a16:creationId xmlns:a16="http://schemas.microsoft.com/office/drawing/2014/main" id="{5FCB082B-51E0-8441-B848-605E488747BF}"/>
                  </a:ext>
                </a:extLst>
              </p:cNvPr>
              <p:cNvSpPr/>
              <p:nvPr/>
            </p:nvSpPr>
            <p:spPr>
              <a:xfrm>
                <a:off x="8555916" y="6154243"/>
                <a:ext cx="1676716" cy="553637"/>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rPr>
                        <m:t>𝑥</m:t>
                      </m:r>
                    </m:oMath>
                  </m:oMathPara>
                </a14:m>
                <a:endParaRPr sz="2200" dirty="0"/>
              </a:p>
            </p:txBody>
          </p:sp>
        </mc:Choice>
        <mc:Fallback xmlns="">
          <p:sp>
            <p:nvSpPr>
              <p:cNvPr id="57" name="Rectangle 28">
                <a:extLst>
                  <a:ext uri="{FF2B5EF4-FFF2-40B4-BE49-F238E27FC236}">
                    <a16:creationId xmlns:a16="http://schemas.microsoft.com/office/drawing/2014/main" id="{5FCB082B-51E0-8441-B848-605E488747BF}"/>
                  </a:ext>
                </a:extLst>
              </p:cNvPr>
              <p:cNvSpPr>
                <a:spLocks noRot="1" noChangeAspect="1" noMove="1" noResize="1" noEditPoints="1" noAdjustHandles="1" noChangeArrowheads="1" noChangeShapeType="1" noTextEdit="1"/>
              </p:cNvSpPr>
              <p:nvPr/>
            </p:nvSpPr>
            <p:spPr>
              <a:xfrm>
                <a:off x="8555916" y="6154243"/>
                <a:ext cx="1676716" cy="553637"/>
              </a:xfrm>
              <a:prstGeom prst="rect">
                <a:avLst/>
              </a:prstGeom>
              <a:blipFill>
                <a:blip r:embed="rId5"/>
                <a:stretch>
                  <a:fillRect/>
                </a:stretch>
              </a:blipFill>
              <a:ln w="25400">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28">
                <a:extLst>
                  <a:ext uri="{FF2B5EF4-FFF2-40B4-BE49-F238E27FC236}">
                    <a16:creationId xmlns:a16="http://schemas.microsoft.com/office/drawing/2014/main" id="{1FB8AF81-347B-B544-9AF8-70A41E478AD0}"/>
                  </a:ext>
                </a:extLst>
              </p:cNvPr>
              <p:cNvSpPr/>
              <p:nvPr/>
            </p:nvSpPr>
            <p:spPr>
              <a:xfrm>
                <a:off x="8539141" y="3630690"/>
                <a:ext cx="1693490" cy="537490"/>
              </a:xfrm>
              <a:prstGeom prst="rect">
                <a:avLst/>
              </a:prstGeom>
              <a:solidFill>
                <a:srgbClr val="F3D69E"/>
              </a:solidFill>
              <a:ln w="25400">
                <a:solidFill>
                  <a:srgbClr val="000000"/>
                </a:solidFill>
              </a:ln>
            </p:spPr>
            <p:txBody>
              <a:bodyPr tIns="91439" bIns="91439"/>
              <a:lstStyle/>
              <a:p>
                <a:pPr algn="l" defTabSz="1828800">
                  <a:defRPr sz="4800" b="0">
                    <a:latin typeface="Times New Roman"/>
                    <a:ea typeface="Times New Roman"/>
                    <a:cs typeface="Times New Roman"/>
                    <a:sym typeface="Times New Roman"/>
                  </a:defRPr>
                </a:pPr>
                <a14:m>
                  <m:oMathPara xmlns:m="http://schemas.openxmlformats.org/officeDocument/2006/math">
                    <m:oMathParaPr>
                      <m:jc m:val="centerGroup"/>
                    </m:oMathParaPr>
                    <m:oMath xmlns:m="http://schemas.openxmlformats.org/officeDocument/2006/math">
                      <m:sSup>
                        <m:sSupPr>
                          <m:ctrlPr>
                            <a:rPr kumimoji="1" lang="en-US" altLang="zh-CN" sz="2200" i="1" smtClean="0">
                              <a:latin typeface="Cambria Math" panose="02040503050406030204" pitchFamily="18" charset="0"/>
                            </a:rPr>
                          </m:ctrlPr>
                        </m:sSupPr>
                        <m:e>
                          <m:r>
                            <a:rPr kumimoji="1" lang="en-US" altLang="zh-CN" sz="2200" b="0" i="1" smtClean="0">
                              <a:latin typeface="Cambria Math" panose="02040503050406030204" pitchFamily="18" charset="0"/>
                            </a:rPr>
                            <m:t>𝑧</m:t>
                          </m:r>
                        </m:e>
                        <m:sup>
                          <m:d>
                            <m:dPr>
                              <m:ctrlPr>
                                <a:rPr kumimoji="1" lang="en-US" altLang="zh-CN" sz="2200" i="1">
                                  <a:latin typeface="Cambria Math" panose="02040503050406030204" pitchFamily="18" charset="0"/>
                                </a:rPr>
                              </m:ctrlPr>
                            </m:dPr>
                            <m:e>
                              <m:r>
                                <a:rPr kumimoji="1" lang="en-US" altLang="zh-CN" sz="2200" i="1">
                                  <a:latin typeface="Cambria Math" panose="02040503050406030204" pitchFamily="18" charset="0"/>
                                </a:rPr>
                                <m:t>𝐿</m:t>
                              </m:r>
                            </m:e>
                          </m:d>
                        </m:sup>
                      </m:sSup>
                    </m:oMath>
                  </m:oMathPara>
                </a14:m>
                <a:endParaRPr sz="2200" dirty="0"/>
              </a:p>
            </p:txBody>
          </p:sp>
        </mc:Choice>
        <mc:Fallback xmlns="">
          <p:sp>
            <p:nvSpPr>
              <p:cNvPr id="58" name="Rectangle 28">
                <a:extLst>
                  <a:ext uri="{FF2B5EF4-FFF2-40B4-BE49-F238E27FC236}">
                    <a16:creationId xmlns:a16="http://schemas.microsoft.com/office/drawing/2014/main" id="{1FB8AF81-347B-B544-9AF8-70A41E478AD0}"/>
                  </a:ext>
                </a:extLst>
              </p:cNvPr>
              <p:cNvSpPr>
                <a:spLocks noRot="1" noChangeAspect="1" noMove="1" noResize="1" noEditPoints="1" noAdjustHandles="1" noChangeArrowheads="1" noChangeShapeType="1" noTextEdit="1"/>
              </p:cNvSpPr>
              <p:nvPr/>
            </p:nvSpPr>
            <p:spPr>
              <a:xfrm>
                <a:off x="8539141" y="3630690"/>
                <a:ext cx="1693490" cy="537490"/>
              </a:xfrm>
              <a:prstGeom prst="rect">
                <a:avLst/>
              </a:prstGeom>
              <a:blipFill>
                <a:blip r:embed="rId6"/>
                <a:stretch>
                  <a:fillRect/>
                </a:stretch>
              </a:blipFill>
              <a:ln w="25400">
                <a:solidFill>
                  <a:srgbClr val="000000"/>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EDF75BE-9C49-814C-B6DD-E3A4A97B2869}"/>
              </a:ext>
            </a:extLst>
          </p:cNvPr>
          <p:cNvSpPr txBox="1"/>
          <p:nvPr/>
        </p:nvSpPr>
        <p:spPr>
          <a:xfrm>
            <a:off x="7565178" y="6215697"/>
            <a:ext cx="748923" cy="430887"/>
          </a:xfrm>
          <a:prstGeom prst="rect">
            <a:avLst/>
          </a:prstGeom>
          <a:noFill/>
        </p:spPr>
        <p:txBody>
          <a:bodyPr wrap="none" rtlCol="0">
            <a:spAutoFit/>
          </a:bodyPr>
          <a:lstStyle/>
          <a:p>
            <a:r>
              <a:rPr kumimoji="1" lang="zh-CN" altLang="en-US" sz="2200" dirty="0"/>
              <a:t>输入</a:t>
            </a:r>
          </a:p>
        </p:txBody>
      </p:sp>
      <p:sp>
        <p:nvSpPr>
          <p:cNvPr id="61" name="文本框 60">
            <a:extLst>
              <a:ext uri="{FF2B5EF4-FFF2-40B4-BE49-F238E27FC236}">
                <a16:creationId xmlns:a16="http://schemas.microsoft.com/office/drawing/2014/main" id="{9FB1CE18-B647-C24D-AF79-A5E1C9B8FFB6}"/>
              </a:ext>
            </a:extLst>
          </p:cNvPr>
          <p:cNvSpPr txBox="1"/>
          <p:nvPr/>
        </p:nvSpPr>
        <p:spPr>
          <a:xfrm>
            <a:off x="7565177" y="3699166"/>
            <a:ext cx="748923" cy="430887"/>
          </a:xfrm>
          <a:prstGeom prst="rect">
            <a:avLst/>
          </a:prstGeom>
          <a:noFill/>
        </p:spPr>
        <p:txBody>
          <a:bodyPr wrap="none" rtlCol="0">
            <a:spAutoFit/>
          </a:bodyPr>
          <a:lstStyle/>
          <a:p>
            <a:r>
              <a:rPr kumimoji="1" lang="zh-CN" altLang="en-US" sz="2200" dirty="0"/>
              <a:t>输出</a:t>
            </a:r>
          </a:p>
        </p:txBody>
      </p:sp>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431E3153-04F4-A541-9579-EE4B127D73BB}"/>
                  </a:ext>
                </a:extLst>
              </p:cNvPr>
              <p:cNvSpPr/>
              <p:nvPr/>
            </p:nvSpPr>
            <p:spPr>
              <a:xfrm>
                <a:off x="8643726" y="2760480"/>
                <a:ext cx="1452835" cy="47637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sz="2200" i="1" smtClean="0">
                          <a:solidFill>
                            <a:schemeClr val="tx1"/>
                          </a:solidFill>
                          <a:latin typeface="Cambria Math" panose="02040503050406030204" pitchFamily="18" charset="0"/>
                          <a:ea typeface="Cambria Math" panose="02040503050406030204" pitchFamily="18" charset="0"/>
                        </a:rPr>
                        <m:t>ℓ</m:t>
                      </m:r>
                      <m:d>
                        <m:dPr>
                          <m:ctrlPr>
                            <a:rPr kumimoji="1" lang="en-US" altLang="zh-CN" sz="2200" i="1">
                              <a:solidFill>
                                <a:schemeClr val="tx1"/>
                              </a:solidFill>
                              <a:latin typeface="Cambria Math" panose="02040503050406030204" pitchFamily="18" charset="0"/>
                              <a:ea typeface="Cambria Math" panose="02040503050406030204" pitchFamily="18" charset="0"/>
                            </a:rPr>
                          </m:ctrlPr>
                        </m:dPr>
                        <m:e>
                          <m:r>
                            <a:rPr kumimoji="1" lang="en-US" altLang="zh-CN" sz="2200" b="0" i="1" smtClean="0">
                              <a:solidFill>
                                <a:schemeClr val="tx1"/>
                              </a:solidFill>
                              <a:latin typeface="Cambria Math" panose="02040503050406030204" pitchFamily="18" charset="0"/>
                              <a:ea typeface="Cambria Math" panose="02040503050406030204" pitchFamily="18" charset="0"/>
                            </a:rPr>
                            <m:t>𝜃</m:t>
                          </m:r>
                          <m:r>
                            <a:rPr kumimoji="1" lang="en-US" altLang="zh-CN" sz="2200" i="1">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𝑥</m:t>
                          </m:r>
                          <m:r>
                            <a:rPr kumimoji="1" lang="en-US" altLang="zh-CN" sz="2200" b="0" i="1" smtClean="0">
                              <a:solidFill>
                                <a:schemeClr val="tx1"/>
                              </a:solidFill>
                              <a:latin typeface="Cambria Math" panose="02040503050406030204" pitchFamily="18" charset="0"/>
                              <a:ea typeface="Cambria Math" panose="02040503050406030204" pitchFamily="18" charset="0"/>
                            </a:rPr>
                            <m:t>,</m:t>
                          </m:r>
                          <m:r>
                            <a:rPr kumimoji="1" lang="en-US" altLang="zh-CN" sz="2200" b="0" i="1" smtClean="0">
                              <a:solidFill>
                                <a:schemeClr val="tx1"/>
                              </a:solidFill>
                              <a:latin typeface="Cambria Math" panose="02040503050406030204" pitchFamily="18" charset="0"/>
                              <a:ea typeface="Cambria Math" panose="02040503050406030204" pitchFamily="18" charset="0"/>
                            </a:rPr>
                            <m:t>𝑦</m:t>
                          </m:r>
                        </m:e>
                      </m:d>
                    </m:oMath>
                  </m:oMathPara>
                </a14:m>
                <a:endParaRPr kumimoji="1" lang="zh-CN" altLang="en-US" sz="2200" dirty="0">
                  <a:solidFill>
                    <a:schemeClr val="tx1"/>
                  </a:solidFill>
                </a:endParaRPr>
              </a:p>
            </p:txBody>
          </p:sp>
        </mc:Choice>
        <mc:Fallback xmlns="">
          <p:sp>
            <p:nvSpPr>
              <p:cNvPr id="9" name="椭圆 8">
                <a:extLst>
                  <a:ext uri="{FF2B5EF4-FFF2-40B4-BE49-F238E27FC236}">
                    <a16:creationId xmlns:a16="http://schemas.microsoft.com/office/drawing/2014/main" id="{431E3153-04F4-A541-9579-EE4B127D73BB}"/>
                  </a:ext>
                </a:extLst>
              </p:cNvPr>
              <p:cNvSpPr>
                <a:spLocks noRot="1" noChangeAspect="1" noMove="1" noResize="1" noEditPoints="1" noAdjustHandles="1" noChangeArrowheads="1" noChangeShapeType="1" noTextEdit="1"/>
              </p:cNvSpPr>
              <p:nvPr/>
            </p:nvSpPr>
            <p:spPr>
              <a:xfrm>
                <a:off x="8643726" y="2760480"/>
                <a:ext cx="1452835" cy="476378"/>
              </a:xfrm>
              <a:prstGeom prst="ellipse">
                <a:avLst/>
              </a:prstGeom>
              <a:blipFill>
                <a:blip r:embed="rId7"/>
                <a:stretch>
                  <a:fillRect b="-2500"/>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57CDE5DD-5514-D540-8342-9C494740ABBF}"/>
              </a:ext>
            </a:extLst>
          </p:cNvPr>
          <p:cNvSpPr txBox="1"/>
          <p:nvPr/>
        </p:nvSpPr>
        <p:spPr>
          <a:xfrm>
            <a:off x="7563838" y="2805769"/>
            <a:ext cx="748923" cy="430887"/>
          </a:xfrm>
          <a:prstGeom prst="rect">
            <a:avLst/>
          </a:prstGeom>
          <a:noFill/>
        </p:spPr>
        <p:txBody>
          <a:bodyPr wrap="none" rtlCol="0">
            <a:spAutoFit/>
          </a:bodyPr>
          <a:lstStyle/>
          <a:p>
            <a:r>
              <a:rPr kumimoji="1" lang="zh-CN" altLang="en-US" sz="2200" dirty="0"/>
              <a:t>损失</a:t>
            </a:r>
          </a:p>
        </p:txBody>
      </p: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E77E250-FBFD-B14C-BC41-4B0588CF1B18}"/>
                  </a:ext>
                </a:extLst>
              </p:cNvPr>
              <p:cNvSpPr txBox="1"/>
              <p:nvPr/>
            </p:nvSpPr>
            <p:spPr>
              <a:xfrm>
                <a:off x="11016048" y="4361008"/>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0" name="文本框 79">
                <a:extLst>
                  <a:ext uri="{FF2B5EF4-FFF2-40B4-BE49-F238E27FC236}">
                    <a16:creationId xmlns:a16="http://schemas.microsoft.com/office/drawing/2014/main" id="{7E77E250-FBFD-B14C-BC41-4B0588CF1B18}"/>
                  </a:ext>
                </a:extLst>
              </p:cNvPr>
              <p:cNvSpPr txBox="1">
                <a:spLocks noRot="1" noChangeAspect="1" noMove="1" noResize="1" noEditPoints="1" noAdjustHandles="1" noChangeArrowheads="1" noChangeShapeType="1" noTextEdit="1"/>
              </p:cNvSpPr>
              <p:nvPr/>
            </p:nvSpPr>
            <p:spPr>
              <a:xfrm>
                <a:off x="11016048" y="4361008"/>
                <a:ext cx="633046" cy="338554"/>
              </a:xfrm>
              <a:prstGeom prst="rect">
                <a:avLst/>
              </a:prstGeom>
              <a:blipFill>
                <a:blip r:embed="rId8"/>
                <a:stretch>
                  <a:fillRect b="-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A73D3D6F-DFCB-E443-87D8-FF21E6E517F3}"/>
                  </a:ext>
                </a:extLst>
              </p:cNvPr>
              <p:cNvSpPr txBox="1"/>
              <p:nvPr/>
            </p:nvSpPr>
            <p:spPr>
              <a:xfrm>
                <a:off x="11010314" y="5667830"/>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82" name="文本框 81">
                <a:extLst>
                  <a:ext uri="{FF2B5EF4-FFF2-40B4-BE49-F238E27FC236}">
                    <a16:creationId xmlns:a16="http://schemas.microsoft.com/office/drawing/2014/main" id="{A73D3D6F-DFCB-E443-87D8-FF21E6E517F3}"/>
                  </a:ext>
                </a:extLst>
              </p:cNvPr>
              <p:cNvSpPr txBox="1">
                <a:spLocks noRot="1" noChangeAspect="1" noMove="1" noResize="1" noEditPoints="1" noAdjustHandles="1" noChangeArrowheads="1" noChangeShapeType="1" noTextEdit="1"/>
              </p:cNvSpPr>
              <p:nvPr/>
            </p:nvSpPr>
            <p:spPr>
              <a:xfrm>
                <a:off x="11010314" y="5667830"/>
                <a:ext cx="633046" cy="338554"/>
              </a:xfrm>
              <a:prstGeom prst="rect">
                <a:avLst/>
              </a:prstGeom>
              <a:blipFill>
                <a:blip r:embed="rId9"/>
                <a:stretch>
                  <a:fillRect b="-7407"/>
                </a:stretch>
              </a:blipFill>
            </p:spPr>
            <p:txBody>
              <a:bodyPr/>
              <a:lstStyle/>
              <a:p>
                <a:r>
                  <a:rPr lang="zh-CN" altLang="en-US">
                    <a:noFill/>
                  </a:rPr>
                  <a:t> </a:t>
                </a:r>
              </a:p>
            </p:txBody>
          </p:sp>
        </mc:Fallback>
      </mc:AlternateContent>
      <p:sp>
        <p:nvSpPr>
          <p:cNvPr id="32" name="Straight Arrow Connector 35">
            <a:extLst>
              <a:ext uri="{FF2B5EF4-FFF2-40B4-BE49-F238E27FC236}">
                <a16:creationId xmlns:a16="http://schemas.microsoft.com/office/drawing/2014/main" id="{EE51349D-940D-6045-95FD-F8C122DC95FC}"/>
              </a:ext>
            </a:extLst>
          </p:cNvPr>
          <p:cNvSpPr/>
          <p:nvPr/>
        </p:nvSpPr>
        <p:spPr>
          <a:xfrm>
            <a:off x="9394274" y="3304300"/>
            <a:ext cx="0" cy="326390"/>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AD47821-D149-B040-B470-A44662A07290}"/>
                  </a:ext>
                </a:extLst>
              </p:cNvPr>
              <p:cNvSpPr txBox="1"/>
              <p:nvPr/>
            </p:nvSpPr>
            <p:spPr>
              <a:xfrm>
                <a:off x="7347856" y="3277615"/>
                <a:ext cx="1693490" cy="387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r>
                            <a:rPr kumimoji="1" lang="en-US" altLang="zh-CN" i="1">
                              <a:latin typeface="Cambria Math" panose="02040503050406030204" pitchFamily="18" charset="0"/>
                            </a:rPr>
                            <m:t>𝜕</m:t>
                          </m:r>
                          <m:r>
                            <a:rPr kumimoji="1" lang="en-US" altLang="zh-CN" i="1">
                              <a:latin typeface="Cambria Math" panose="02040503050406030204" pitchFamily="18" charset="0"/>
                            </a:rPr>
                            <m:t>ℓ</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𝜃</m:t>
                              </m:r>
                              <m:r>
                                <a:rPr kumimoji="1" lang="en-US" altLang="zh-CN" i="1">
                                  <a:latin typeface="Cambria Math" panose="02040503050406030204" pitchFamily="18" charset="0"/>
                                </a:rPr>
                                <m:t>,</m:t>
                              </m:r>
                              <m:r>
                                <a:rPr kumimoji="1" lang="en-US" altLang="zh-CN" i="1">
                                  <a:latin typeface="Cambria Math" panose="02040503050406030204" pitchFamily="18" charset="0"/>
                                </a:rPr>
                                <m:t>𝑥</m:t>
                              </m:r>
                              <m:r>
                                <a:rPr kumimoji="1" lang="en-US" altLang="zh-CN" i="1">
                                  <a:latin typeface="Cambria Math" panose="02040503050406030204" pitchFamily="18" charset="0"/>
                                </a:rPr>
                                <m:t>,</m:t>
                              </m:r>
                              <m:r>
                                <a:rPr kumimoji="1" lang="en-US" altLang="zh-CN" i="1">
                                  <a:latin typeface="Cambria Math" panose="02040503050406030204" pitchFamily="18" charset="0"/>
                                </a:rPr>
                                <m:t>𝑦</m:t>
                              </m:r>
                            </m:e>
                          </m:d>
                        </m:num>
                        <m:den>
                          <m:r>
                            <a:rPr kumimoji="1" lang="en-US" altLang="zh-CN" i="1">
                              <a:latin typeface="Cambria Math" panose="02040503050406030204" pitchFamily="18" charset="0"/>
                            </a:rPr>
                            <m:t>𝜕</m:t>
                          </m:r>
                          <m:sSup>
                            <m:sSupPr>
                              <m:ctrlPr>
                                <a:rPr kumimoji="1" lang="en-US" altLang="zh-CN" i="1">
                                  <a:solidFill>
                                    <a:srgbClr val="C00000"/>
                                  </a:solidFill>
                                  <a:latin typeface="Cambria Math" panose="02040503050406030204" pitchFamily="18" charset="0"/>
                                </a:rPr>
                              </m:ctrlPr>
                            </m:sSupPr>
                            <m:e>
                              <m:r>
                                <a:rPr kumimoji="1" lang="en-US" altLang="zh-CN" i="1">
                                  <a:solidFill>
                                    <a:srgbClr val="C00000"/>
                                  </a:solidFill>
                                  <a:latin typeface="Cambria Math" panose="02040503050406030204" pitchFamily="18" charset="0"/>
                                </a:rPr>
                                <m:t>𝑥</m:t>
                              </m:r>
                            </m:e>
                            <m:sup>
                              <m:d>
                                <m:dPr>
                                  <m:ctrlPr>
                                    <a:rPr kumimoji="1" lang="en-US" altLang="zh-CN" i="1">
                                      <a:solidFill>
                                        <a:srgbClr val="C00000"/>
                                      </a:solidFill>
                                      <a:latin typeface="Cambria Math" panose="02040503050406030204" pitchFamily="18" charset="0"/>
                                    </a:rPr>
                                  </m:ctrlPr>
                                </m:dPr>
                                <m:e>
                                  <m:r>
                                    <a:rPr kumimoji="1" lang="en-US" altLang="zh-CN" i="1">
                                      <a:solidFill>
                                        <a:srgbClr val="C00000"/>
                                      </a:solidFill>
                                      <a:latin typeface="Cambria Math" panose="02040503050406030204" pitchFamily="18" charset="0"/>
                                    </a:rPr>
                                    <m:t>𝐿</m:t>
                                  </m:r>
                                </m:e>
                              </m:d>
                            </m:sup>
                          </m:sSup>
                        </m:den>
                      </m:f>
                    </m:oMath>
                  </m:oMathPara>
                </a14:m>
                <a:endParaRPr lang="zh-CN" altLang="en-US" dirty="0"/>
              </a:p>
            </p:txBody>
          </p:sp>
        </mc:Choice>
        <mc:Fallback xmlns="">
          <p:sp>
            <p:nvSpPr>
              <p:cNvPr id="34" name="文本框 33">
                <a:extLst>
                  <a:ext uri="{FF2B5EF4-FFF2-40B4-BE49-F238E27FC236}">
                    <a16:creationId xmlns:a16="http://schemas.microsoft.com/office/drawing/2014/main" id="{9AD47821-D149-B040-B470-A44662A07290}"/>
                  </a:ext>
                </a:extLst>
              </p:cNvPr>
              <p:cNvSpPr txBox="1">
                <a:spLocks noRot="1" noChangeAspect="1" noMove="1" noResize="1" noEditPoints="1" noAdjustHandles="1" noChangeArrowheads="1" noChangeShapeType="1" noTextEdit="1"/>
              </p:cNvSpPr>
              <p:nvPr/>
            </p:nvSpPr>
            <p:spPr>
              <a:xfrm>
                <a:off x="7347856" y="3277615"/>
                <a:ext cx="1693490" cy="387927"/>
              </a:xfrm>
              <a:prstGeom prst="rect">
                <a:avLst/>
              </a:prstGeom>
              <a:blipFill>
                <a:blip r:embed="rId10"/>
                <a:stretch>
                  <a:fillRect t="-106452" r="-1493" b="-161290"/>
                </a:stretch>
              </a:blipFill>
            </p:spPr>
            <p:txBody>
              <a:bodyPr/>
              <a:lstStyle/>
              <a:p>
                <a:r>
                  <a:rPr lang="zh-CN" altLang="en-US">
                    <a:noFill/>
                  </a:rPr>
                  <a:t> </a:t>
                </a:r>
              </a:p>
            </p:txBody>
          </p:sp>
        </mc:Fallback>
      </mc:AlternateContent>
      <p:sp>
        <p:nvSpPr>
          <p:cNvPr id="37" name="Straight Arrow Connector 35">
            <a:extLst>
              <a:ext uri="{FF2B5EF4-FFF2-40B4-BE49-F238E27FC236}">
                <a16:creationId xmlns:a16="http://schemas.microsoft.com/office/drawing/2014/main" id="{5A13FEC0-9AC2-5540-9B75-64A7143CC787}"/>
              </a:ext>
            </a:extLst>
          </p:cNvPr>
          <p:cNvSpPr/>
          <p:nvPr/>
        </p:nvSpPr>
        <p:spPr>
          <a:xfrm>
            <a:off x="10223266" y="3932223"/>
            <a:ext cx="526796" cy="17020"/>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p:sp>
        <p:nvSpPr>
          <p:cNvPr id="39" name="Straight Arrow Connector 35">
            <a:extLst>
              <a:ext uri="{FF2B5EF4-FFF2-40B4-BE49-F238E27FC236}">
                <a16:creationId xmlns:a16="http://schemas.microsoft.com/office/drawing/2014/main" id="{773E5337-B882-9140-8EFF-D439D56920C2}"/>
              </a:ext>
            </a:extLst>
          </p:cNvPr>
          <p:cNvSpPr/>
          <p:nvPr/>
        </p:nvSpPr>
        <p:spPr>
          <a:xfrm flipH="1">
            <a:off x="9394274" y="4178593"/>
            <a:ext cx="8022" cy="231812"/>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p:sp>
        <p:nvSpPr>
          <p:cNvPr id="40" name="Straight Arrow Connector 35">
            <a:extLst>
              <a:ext uri="{FF2B5EF4-FFF2-40B4-BE49-F238E27FC236}">
                <a16:creationId xmlns:a16="http://schemas.microsoft.com/office/drawing/2014/main" id="{61F989AB-D791-D547-8575-1747E9257089}"/>
              </a:ext>
            </a:extLst>
          </p:cNvPr>
          <p:cNvSpPr/>
          <p:nvPr/>
        </p:nvSpPr>
        <p:spPr>
          <a:xfrm flipH="1">
            <a:off x="9402296" y="4619749"/>
            <a:ext cx="8022" cy="231812"/>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95989E9B-5327-1746-8162-47815536257F}"/>
                  </a:ext>
                </a:extLst>
              </p:cNvPr>
              <p:cNvSpPr txBox="1"/>
              <p:nvPr/>
            </p:nvSpPr>
            <p:spPr>
              <a:xfrm>
                <a:off x="9068695" y="4364619"/>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41" name="文本框 40">
                <a:extLst>
                  <a:ext uri="{FF2B5EF4-FFF2-40B4-BE49-F238E27FC236}">
                    <a16:creationId xmlns:a16="http://schemas.microsoft.com/office/drawing/2014/main" id="{95989E9B-5327-1746-8162-47815536257F}"/>
                  </a:ext>
                </a:extLst>
              </p:cNvPr>
              <p:cNvSpPr txBox="1">
                <a:spLocks noRot="1" noChangeAspect="1" noMove="1" noResize="1" noEditPoints="1" noAdjustHandles="1" noChangeArrowheads="1" noChangeShapeType="1" noTextEdit="1"/>
              </p:cNvSpPr>
              <p:nvPr/>
            </p:nvSpPr>
            <p:spPr>
              <a:xfrm>
                <a:off x="9068695" y="4364619"/>
                <a:ext cx="633046" cy="338554"/>
              </a:xfrm>
              <a:prstGeom prst="rect">
                <a:avLst/>
              </a:prstGeom>
              <a:blipFill>
                <a:blip r:embed="rId11"/>
                <a:stretch>
                  <a:fillRect b="-3571"/>
                </a:stretch>
              </a:blipFill>
            </p:spPr>
            <p:txBody>
              <a:bodyPr/>
              <a:lstStyle/>
              <a:p>
                <a:r>
                  <a:rPr lang="zh-CN" altLang="en-US">
                    <a:noFill/>
                  </a:rPr>
                  <a:t> </a:t>
                </a:r>
              </a:p>
            </p:txBody>
          </p:sp>
        </mc:Fallback>
      </mc:AlternateContent>
      <p:sp>
        <p:nvSpPr>
          <p:cNvPr id="42" name="Straight Arrow Connector 35">
            <a:extLst>
              <a:ext uri="{FF2B5EF4-FFF2-40B4-BE49-F238E27FC236}">
                <a16:creationId xmlns:a16="http://schemas.microsoft.com/office/drawing/2014/main" id="{2CC1DA13-D2F9-7147-9D47-B7E8DF2B0304}"/>
              </a:ext>
            </a:extLst>
          </p:cNvPr>
          <p:cNvSpPr/>
          <p:nvPr/>
        </p:nvSpPr>
        <p:spPr>
          <a:xfrm flipH="1">
            <a:off x="9402296" y="5461959"/>
            <a:ext cx="8022" cy="231812"/>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p:sp>
        <p:nvSpPr>
          <p:cNvPr id="43" name="Straight Arrow Connector 35">
            <a:extLst>
              <a:ext uri="{FF2B5EF4-FFF2-40B4-BE49-F238E27FC236}">
                <a16:creationId xmlns:a16="http://schemas.microsoft.com/office/drawing/2014/main" id="{38E9CBC8-6261-BE4C-9983-2CC624191479}"/>
              </a:ext>
            </a:extLst>
          </p:cNvPr>
          <p:cNvSpPr/>
          <p:nvPr/>
        </p:nvSpPr>
        <p:spPr>
          <a:xfrm flipH="1">
            <a:off x="9410318" y="5903115"/>
            <a:ext cx="8022" cy="231812"/>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5985268-55FF-6F4C-B3DB-739E75F5B46B}"/>
                  </a:ext>
                </a:extLst>
              </p:cNvPr>
              <p:cNvSpPr txBox="1"/>
              <p:nvPr/>
            </p:nvSpPr>
            <p:spPr>
              <a:xfrm>
                <a:off x="9101817" y="5649083"/>
                <a:ext cx="633046"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200" i="1" smtClean="0">
                          <a:latin typeface="Cambria Math" panose="02040503050406030204" pitchFamily="18" charset="0"/>
                        </a:rPr>
                        <m:t>⋮</m:t>
                      </m:r>
                    </m:oMath>
                  </m:oMathPara>
                </a14:m>
                <a:endParaRPr kumimoji="1" lang="zh-CN" altLang="en-US" sz="2200" dirty="0"/>
              </a:p>
            </p:txBody>
          </p:sp>
        </mc:Choice>
        <mc:Fallback xmlns="">
          <p:sp>
            <p:nvSpPr>
              <p:cNvPr id="44" name="文本框 43">
                <a:extLst>
                  <a:ext uri="{FF2B5EF4-FFF2-40B4-BE49-F238E27FC236}">
                    <a16:creationId xmlns:a16="http://schemas.microsoft.com/office/drawing/2014/main" id="{E5985268-55FF-6F4C-B3DB-739E75F5B46B}"/>
                  </a:ext>
                </a:extLst>
              </p:cNvPr>
              <p:cNvSpPr txBox="1">
                <a:spLocks noRot="1" noChangeAspect="1" noMove="1" noResize="1" noEditPoints="1" noAdjustHandles="1" noChangeArrowheads="1" noChangeShapeType="1" noTextEdit="1"/>
              </p:cNvSpPr>
              <p:nvPr/>
            </p:nvSpPr>
            <p:spPr>
              <a:xfrm>
                <a:off x="9101817" y="5649083"/>
                <a:ext cx="633046" cy="338554"/>
              </a:xfrm>
              <a:prstGeom prst="rect">
                <a:avLst/>
              </a:prstGeom>
              <a:blipFill>
                <a:blip r:embed="rId12"/>
                <a:stretch>
                  <a:fillRect b="-7143"/>
                </a:stretch>
              </a:blipFill>
            </p:spPr>
            <p:txBody>
              <a:bodyPr/>
              <a:lstStyle/>
              <a:p>
                <a:r>
                  <a:rPr lang="zh-CN" altLang="en-US">
                    <a:noFill/>
                  </a:rPr>
                  <a:t> </a:t>
                </a:r>
              </a:p>
            </p:txBody>
          </p:sp>
        </mc:Fallback>
      </mc:AlternateContent>
      <p:sp>
        <p:nvSpPr>
          <p:cNvPr id="45" name="Straight Arrow Connector 35">
            <a:extLst>
              <a:ext uri="{FF2B5EF4-FFF2-40B4-BE49-F238E27FC236}">
                <a16:creationId xmlns:a16="http://schemas.microsoft.com/office/drawing/2014/main" id="{EE91FD01-7ADF-6440-B4CE-B10AFA0150D8}"/>
              </a:ext>
            </a:extLst>
          </p:cNvPr>
          <p:cNvSpPr/>
          <p:nvPr/>
        </p:nvSpPr>
        <p:spPr>
          <a:xfrm>
            <a:off x="10314659" y="5199610"/>
            <a:ext cx="470173" cy="168"/>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62E2C399-5DFD-2E40-A6E6-4F0F31619A65}"/>
                  </a:ext>
                </a:extLst>
              </p:cNvPr>
              <p:cNvSpPr txBox="1"/>
              <p:nvPr/>
            </p:nvSpPr>
            <p:spPr>
              <a:xfrm>
                <a:off x="10485826" y="3559453"/>
                <a:ext cx="1693490" cy="6417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1800" i="1" smtClean="0">
                              <a:solidFill>
                                <a:schemeClr val="tx1"/>
                              </a:solidFill>
                              <a:latin typeface="Cambria Math" panose="02040503050406030204" pitchFamily="18" charset="0"/>
                            </a:rPr>
                          </m:ctrlPr>
                        </m:fPr>
                        <m:num>
                          <m:r>
                            <a:rPr kumimoji="1" lang="en-US" altLang="zh-CN" sz="1800" i="1">
                              <a:solidFill>
                                <a:schemeClr val="tx1"/>
                              </a:solidFill>
                              <a:latin typeface="Cambria Math" panose="02040503050406030204" pitchFamily="18" charset="0"/>
                            </a:rPr>
                            <m:t>𝜕</m:t>
                          </m:r>
                          <m:r>
                            <a:rPr kumimoji="1" lang="en-US" altLang="zh-CN" sz="1800" i="1">
                              <a:solidFill>
                                <a:schemeClr val="tx1"/>
                              </a:solidFill>
                              <a:latin typeface="Cambria Math" panose="02040503050406030204" pitchFamily="18" charset="0"/>
                            </a:rPr>
                            <m:t>ℓ</m:t>
                          </m:r>
                          <m:d>
                            <m:dPr>
                              <m:ctrlPr>
                                <a:rPr kumimoji="1" lang="en-US" altLang="zh-CN" sz="1800" i="1">
                                  <a:solidFill>
                                    <a:schemeClr val="tx1"/>
                                  </a:solidFill>
                                  <a:latin typeface="Cambria Math" panose="02040503050406030204" pitchFamily="18" charset="0"/>
                                </a:rPr>
                              </m:ctrlPr>
                            </m:dPr>
                            <m:e>
                              <m:r>
                                <a:rPr kumimoji="1" lang="en-US" altLang="zh-CN" sz="1800" i="1">
                                  <a:solidFill>
                                    <a:schemeClr val="tx1"/>
                                  </a:solidFill>
                                  <a:latin typeface="Cambria Math" panose="02040503050406030204" pitchFamily="18" charset="0"/>
                                </a:rPr>
                                <m:t>𝜃</m:t>
                              </m:r>
                              <m:r>
                                <a:rPr kumimoji="1" lang="en-US" altLang="zh-CN" sz="1800" i="1">
                                  <a:solidFill>
                                    <a:schemeClr val="tx1"/>
                                  </a:solidFill>
                                  <a:latin typeface="Cambria Math" panose="02040503050406030204" pitchFamily="18" charset="0"/>
                                </a:rPr>
                                <m:t>,</m:t>
                              </m:r>
                              <m:r>
                                <a:rPr kumimoji="1" lang="en-US" altLang="zh-CN" sz="1800" i="1">
                                  <a:solidFill>
                                    <a:schemeClr val="tx1"/>
                                  </a:solidFill>
                                  <a:latin typeface="Cambria Math" panose="02040503050406030204" pitchFamily="18" charset="0"/>
                                </a:rPr>
                                <m:t>𝑥</m:t>
                              </m:r>
                              <m:r>
                                <a:rPr kumimoji="1" lang="en-US" altLang="zh-CN" sz="1800" i="1">
                                  <a:solidFill>
                                    <a:schemeClr val="tx1"/>
                                  </a:solidFill>
                                  <a:latin typeface="Cambria Math" panose="02040503050406030204" pitchFamily="18" charset="0"/>
                                </a:rPr>
                                <m:t>,</m:t>
                              </m:r>
                              <m:r>
                                <a:rPr kumimoji="1" lang="en-US" altLang="zh-CN" sz="1800" i="1">
                                  <a:solidFill>
                                    <a:schemeClr val="tx1"/>
                                  </a:solidFill>
                                  <a:latin typeface="Cambria Math" panose="02040503050406030204" pitchFamily="18" charset="0"/>
                                </a:rPr>
                                <m:t>𝑦</m:t>
                              </m:r>
                            </m:e>
                          </m:d>
                        </m:num>
                        <m:den>
                          <m:r>
                            <a:rPr kumimoji="1" lang="en-US" altLang="zh-CN" sz="1800" i="1">
                              <a:solidFill>
                                <a:schemeClr val="tx1"/>
                              </a:solidFill>
                              <a:latin typeface="Cambria Math" panose="02040503050406030204" pitchFamily="18" charset="0"/>
                            </a:rPr>
                            <m:t>𝜕</m:t>
                          </m:r>
                          <m:sSup>
                            <m:sSupPr>
                              <m:ctrlPr>
                                <a:rPr kumimoji="1" lang="en-US" altLang="zh-CN" sz="1800" i="1" smtClean="0">
                                  <a:solidFill>
                                    <a:srgbClr val="C00000"/>
                                  </a:solidFill>
                                  <a:latin typeface="Cambria Math" panose="02040503050406030204" pitchFamily="18" charset="0"/>
                                </a:rPr>
                              </m:ctrlPr>
                            </m:sSupPr>
                            <m:e>
                              <m:r>
                                <a:rPr kumimoji="1" lang="en-US" altLang="zh-CN" sz="1800" b="0" i="1" smtClean="0">
                                  <a:solidFill>
                                    <a:srgbClr val="C00000"/>
                                  </a:solidFill>
                                  <a:latin typeface="Cambria Math" panose="02040503050406030204" pitchFamily="18" charset="0"/>
                                </a:rPr>
                                <m:t>𝜃</m:t>
                              </m:r>
                            </m:e>
                            <m:sup>
                              <m:d>
                                <m:dPr>
                                  <m:ctrlPr>
                                    <a:rPr kumimoji="1" lang="en-US" altLang="zh-CN" sz="1800" b="0" i="1" smtClean="0">
                                      <a:solidFill>
                                        <a:srgbClr val="C00000"/>
                                      </a:solidFill>
                                      <a:latin typeface="Cambria Math" panose="02040503050406030204" pitchFamily="18" charset="0"/>
                                    </a:rPr>
                                  </m:ctrlPr>
                                </m:dPr>
                                <m:e>
                                  <m:r>
                                    <a:rPr kumimoji="1" lang="en-US" altLang="zh-CN" sz="1800" b="0" i="1" smtClean="0">
                                      <a:solidFill>
                                        <a:srgbClr val="C00000"/>
                                      </a:solidFill>
                                      <a:latin typeface="Cambria Math" panose="02040503050406030204" pitchFamily="18" charset="0"/>
                                    </a:rPr>
                                    <m:t>𝐿</m:t>
                                  </m:r>
                                </m:e>
                              </m:d>
                            </m:sup>
                          </m:sSup>
                        </m:den>
                      </m:f>
                    </m:oMath>
                  </m:oMathPara>
                </a14:m>
                <a:endParaRPr lang="zh-CN" altLang="en-US" dirty="0"/>
              </a:p>
            </p:txBody>
          </p:sp>
        </mc:Choice>
        <mc:Fallback xmlns="">
          <p:sp>
            <p:nvSpPr>
              <p:cNvPr id="48" name="文本框 47">
                <a:extLst>
                  <a:ext uri="{FF2B5EF4-FFF2-40B4-BE49-F238E27FC236}">
                    <a16:creationId xmlns:a16="http://schemas.microsoft.com/office/drawing/2014/main" id="{62E2C399-5DFD-2E40-A6E6-4F0F31619A65}"/>
                  </a:ext>
                </a:extLst>
              </p:cNvPr>
              <p:cNvSpPr txBox="1">
                <a:spLocks noRot="1" noChangeAspect="1" noMove="1" noResize="1" noEditPoints="1" noAdjustHandles="1" noChangeArrowheads="1" noChangeShapeType="1" noTextEdit="1"/>
              </p:cNvSpPr>
              <p:nvPr/>
            </p:nvSpPr>
            <p:spPr>
              <a:xfrm>
                <a:off x="10485826" y="3559453"/>
                <a:ext cx="1693490" cy="641714"/>
              </a:xfrm>
              <a:prstGeom prst="rect">
                <a:avLst/>
              </a:prstGeom>
              <a:blipFill>
                <a:blip r:embed="rId13"/>
                <a:stretch>
                  <a:fillRect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C5391974-2D43-3345-8487-DA0E76CF759C}"/>
                  </a:ext>
                </a:extLst>
              </p:cNvPr>
              <p:cNvSpPr txBox="1"/>
              <p:nvPr/>
            </p:nvSpPr>
            <p:spPr>
              <a:xfrm>
                <a:off x="7347856" y="4178257"/>
                <a:ext cx="1693490" cy="387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r>
                            <a:rPr kumimoji="1" lang="en-US" altLang="zh-CN" i="1">
                              <a:latin typeface="Cambria Math" panose="02040503050406030204" pitchFamily="18" charset="0"/>
                            </a:rPr>
                            <m:t>𝜕</m:t>
                          </m:r>
                          <m:r>
                            <a:rPr kumimoji="1" lang="en-US" altLang="zh-CN" i="1">
                              <a:latin typeface="Cambria Math" panose="02040503050406030204" pitchFamily="18" charset="0"/>
                            </a:rPr>
                            <m:t>ℓ</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𝜃</m:t>
                              </m:r>
                              <m:r>
                                <a:rPr kumimoji="1" lang="en-US" altLang="zh-CN" i="1">
                                  <a:latin typeface="Cambria Math" panose="02040503050406030204" pitchFamily="18" charset="0"/>
                                </a:rPr>
                                <m:t>,</m:t>
                              </m:r>
                              <m:r>
                                <a:rPr kumimoji="1" lang="en-US" altLang="zh-CN" i="1">
                                  <a:latin typeface="Cambria Math" panose="02040503050406030204" pitchFamily="18" charset="0"/>
                                </a:rPr>
                                <m:t>𝑥</m:t>
                              </m:r>
                              <m:r>
                                <a:rPr kumimoji="1" lang="en-US" altLang="zh-CN" i="1">
                                  <a:latin typeface="Cambria Math" panose="02040503050406030204" pitchFamily="18" charset="0"/>
                                </a:rPr>
                                <m:t>,</m:t>
                              </m:r>
                              <m:r>
                                <a:rPr kumimoji="1" lang="en-US" altLang="zh-CN" i="1">
                                  <a:latin typeface="Cambria Math" panose="02040503050406030204" pitchFamily="18" charset="0"/>
                                </a:rPr>
                                <m:t>𝑦</m:t>
                              </m:r>
                            </m:e>
                          </m:d>
                        </m:num>
                        <m:den>
                          <m:r>
                            <a:rPr kumimoji="1" lang="en-US" altLang="zh-CN" i="1">
                              <a:latin typeface="Cambria Math" panose="02040503050406030204" pitchFamily="18" charset="0"/>
                            </a:rPr>
                            <m:t>𝜕</m:t>
                          </m:r>
                          <m:sSup>
                            <m:sSupPr>
                              <m:ctrlPr>
                                <a:rPr kumimoji="1" lang="en-US" altLang="zh-CN" i="1">
                                  <a:solidFill>
                                    <a:srgbClr val="C00000"/>
                                  </a:solidFill>
                                  <a:latin typeface="Cambria Math" panose="02040503050406030204" pitchFamily="18" charset="0"/>
                                </a:rPr>
                              </m:ctrlPr>
                            </m:sSupPr>
                            <m:e>
                              <m:r>
                                <a:rPr kumimoji="1" lang="en-US" altLang="zh-CN" i="1">
                                  <a:solidFill>
                                    <a:srgbClr val="C00000"/>
                                  </a:solidFill>
                                  <a:latin typeface="Cambria Math" panose="02040503050406030204" pitchFamily="18" charset="0"/>
                                </a:rPr>
                                <m:t>𝑥</m:t>
                              </m:r>
                            </m:e>
                            <m:sup>
                              <m:d>
                                <m:dPr>
                                  <m:ctrlPr>
                                    <a:rPr kumimoji="1" lang="en-US" altLang="zh-CN" i="1">
                                      <a:solidFill>
                                        <a:srgbClr val="C00000"/>
                                      </a:solidFill>
                                      <a:latin typeface="Cambria Math" panose="02040503050406030204" pitchFamily="18" charset="0"/>
                                    </a:rPr>
                                  </m:ctrlPr>
                                </m:dPr>
                                <m:e>
                                  <m:r>
                                    <a:rPr kumimoji="1" lang="en-US" altLang="zh-CN" i="1">
                                      <a:solidFill>
                                        <a:srgbClr val="C00000"/>
                                      </a:solidFill>
                                      <a:latin typeface="Cambria Math" panose="02040503050406030204" pitchFamily="18" charset="0"/>
                                    </a:rPr>
                                    <m:t>𝐿</m:t>
                                  </m:r>
                                  <m:r>
                                    <a:rPr kumimoji="1" lang="en-US" altLang="zh-CN" b="0" i="1" smtClean="0">
                                      <a:solidFill>
                                        <a:srgbClr val="C00000"/>
                                      </a:solidFill>
                                      <a:latin typeface="Cambria Math" panose="02040503050406030204" pitchFamily="18" charset="0"/>
                                    </a:rPr>
                                    <m:t>−1</m:t>
                                  </m:r>
                                </m:e>
                              </m:d>
                            </m:sup>
                          </m:sSup>
                        </m:den>
                      </m:f>
                    </m:oMath>
                  </m:oMathPara>
                </a14:m>
                <a:endParaRPr lang="zh-CN" altLang="en-US" dirty="0"/>
              </a:p>
            </p:txBody>
          </p:sp>
        </mc:Choice>
        <mc:Fallback xmlns="">
          <p:sp>
            <p:nvSpPr>
              <p:cNvPr id="49" name="文本框 48">
                <a:extLst>
                  <a:ext uri="{FF2B5EF4-FFF2-40B4-BE49-F238E27FC236}">
                    <a16:creationId xmlns:a16="http://schemas.microsoft.com/office/drawing/2014/main" id="{C5391974-2D43-3345-8487-DA0E76CF759C}"/>
                  </a:ext>
                </a:extLst>
              </p:cNvPr>
              <p:cNvSpPr txBox="1">
                <a:spLocks noRot="1" noChangeAspect="1" noMove="1" noResize="1" noEditPoints="1" noAdjustHandles="1" noChangeArrowheads="1" noChangeShapeType="1" noTextEdit="1"/>
              </p:cNvSpPr>
              <p:nvPr/>
            </p:nvSpPr>
            <p:spPr>
              <a:xfrm>
                <a:off x="7347856" y="4178257"/>
                <a:ext cx="1693490" cy="387927"/>
              </a:xfrm>
              <a:prstGeom prst="rect">
                <a:avLst/>
              </a:prstGeom>
              <a:blipFill>
                <a:blip r:embed="rId14"/>
                <a:stretch>
                  <a:fillRect t="-100000" r="-14179" b="-15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7E50688C-06ED-A44B-AD24-370667555CE9}"/>
                  </a:ext>
                </a:extLst>
              </p:cNvPr>
              <p:cNvSpPr txBox="1"/>
              <p:nvPr/>
            </p:nvSpPr>
            <p:spPr>
              <a:xfrm>
                <a:off x="7328833" y="4554590"/>
                <a:ext cx="1693490" cy="3929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r>
                            <a:rPr kumimoji="1" lang="en-US" altLang="zh-CN" i="1">
                              <a:latin typeface="Cambria Math" panose="02040503050406030204" pitchFamily="18" charset="0"/>
                            </a:rPr>
                            <m:t>𝜕</m:t>
                          </m:r>
                          <m:r>
                            <a:rPr kumimoji="1" lang="en-US" altLang="zh-CN" i="1">
                              <a:latin typeface="Cambria Math" panose="02040503050406030204" pitchFamily="18" charset="0"/>
                            </a:rPr>
                            <m:t>ℓ</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𝜃</m:t>
                              </m:r>
                              <m:r>
                                <a:rPr kumimoji="1" lang="en-US" altLang="zh-CN" i="1">
                                  <a:latin typeface="Cambria Math" panose="02040503050406030204" pitchFamily="18" charset="0"/>
                                </a:rPr>
                                <m:t>,</m:t>
                              </m:r>
                              <m:r>
                                <a:rPr kumimoji="1" lang="en-US" altLang="zh-CN" i="1">
                                  <a:latin typeface="Cambria Math" panose="02040503050406030204" pitchFamily="18" charset="0"/>
                                </a:rPr>
                                <m:t>𝑥</m:t>
                              </m:r>
                              <m:r>
                                <a:rPr kumimoji="1" lang="en-US" altLang="zh-CN" i="1">
                                  <a:latin typeface="Cambria Math" panose="02040503050406030204" pitchFamily="18" charset="0"/>
                                </a:rPr>
                                <m:t>,</m:t>
                              </m:r>
                              <m:r>
                                <a:rPr kumimoji="1" lang="en-US" altLang="zh-CN" i="1">
                                  <a:latin typeface="Cambria Math" panose="02040503050406030204" pitchFamily="18" charset="0"/>
                                </a:rPr>
                                <m:t>𝑦</m:t>
                              </m:r>
                            </m:e>
                          </m:d>
                        </m:num>
                        <m:den>
                          <m:r>
                            <a:rPr kumimoji="1" lang="en-US" altLang="zh-CN" i="1">
                              <a:latin typeface="Cambria Math" panose="02040503050406030204" pitchFamily="18" charset="0"/>
                            </a:rPr>
                            <m:t>𝜕</m:t>
                          </m:r>
                          <m:sSup>
                            <m:sSupPr>
                              <m:ctrlPr>
                                <a:rPr kumimoji="1" lang="en-US" altLang="zh-CN" i="1">
                                  <a:solidFill>
                                    <a:srgbClr val="C00000"/>
                                  </a:solidFill>
                                  <a:latin typeface="Cambria Math" panose="02040503050406030204" pitchFamily="18" charset="0"/>
                                </a:rPr>
                              </m:ctrlPr>
                            </m:sSupPr>
                            <m:e>
                              <m:r>
                                <a:rPr kumimoji="1" lang="en-US" altLang="zh-CN" i="1">
                                  <a:solidFill>
                                    <a:srgbClr val="C00000"/>
                                  </a:solidFill>
                                  <a:latin typeface="Cambria Math" panose="02040503050406030204" pitchFamily="18" charset="0"/>
                                </a:rPr>
                                <m:t>𝑥</m:t>
                              </m:r>
                            </m:e>
                            <m:sup>
                              <m:d>
                                <m:dPr>
                                  <m:ctrlPr>
                                    <a:rPr kumimoji="1" lang="en-US" altLang="zh-CN" i="1">
                                      <a:solidFill>
                                        <a:srgbClr val="C00000"/>
                                      </a:solidFill>
                                      <a:latin typeface="Cambria Math" panose="02040503050406030204" pitchFamily="18" charset="0"/>
                                    </a:rPr>
                                  </m:ctrlPr>
                                </m:dPr>
                                <m:e>
                                  <m:r>
                                    <a:rPr kumimoji="1" lang="en-US" altLang="zh-CN" b="0" i="1" smtClean="0">
                                      <a:solidFill>
                                        <a:srgbClr val="C00000"/>
                                      </a:solidFill>
                                      <a:latin typeface="Cambria Math" panose="02040503050406030204" pitchFamily="18" charset="0"/>
                                    </a:rPr>
                                    <m:t>ℓ</m:t>
                                  </m:r>
                                </m:e>
                              </m:d>
                            </m:sup>
                          </m:sSup>
                        </m:den>
                      </m:f>
                    </m:oMath>
                  </m:oMathPara>
                </a14:m>
                <a:endParaRPr lang="zh-CN" altLang="en-US" dirty="0"/>
              </a:p>
            </p:txBody>
          </p:sp>
        </mc:Choice>
        <mc:Fallback xmlns="">
          <p:sp>
            <p:nvSpPr>
              <p:cNvPr id="50" name="文本框 49">
                <a:extLst>
                  <a:ext uri="{FF2B5EF4-FFF2-40B4-BE49-F238E27FC236}">
                    <a16:creationId xmlns:a16="http://schemas.microsoft.com/office/drawing/2014/main" id="{7E50688C-06ED-A44B-AD24-370667555CE9}"/>
                  </a:ext>
                </a:extLst>
              </p:cNvPr>
              <p:cNvSpPr txBox="1">
                <a:spLocks noRot="1" noChangeAspect="1" noMove="1" noResize="1" noEditPoints="1" noAdjustHandles="1" noChangeArrowheads="1" noChangeShapeType="1" noTextEdit="1"/>
              </p:cNvSpPr>
              <p:nvPr/>
            </p:nvSpPr>
            <p:spPr>
              <a:xfrm>
                <a:off x="7328833" y="4554590"/>
                <a:ext cx="1693490" cy="392993"/>
              </a:xfrm>
              <a:prstGeom prst="rect">
                <a:avLst/>
              </a:prstGeom>
              <a:blipFill>
                <a:blip r:embed="rId15"/>
                <a:stretch>
                  <a:fillRect t="-100000" r="-741" b="-15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CDF2E0C2-C8D5-6343-83B5-95029CD160FE}"/>
                  </a:ext>
                </a:extLst>
              </p:cNvPr>
              <p:cNvSpPr txBox="1"/>
              <p:nvPr/>
            </p:nvSpPr>
            <p:spPr>
              <a:xfrm>
                <a:off x="7313312" y="5398167"/>
                <a:ext cx="1693490" cy="3929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r>
                            <a:rPr kumimoji="1" lang="en-US" altLang="zh-CN" i="1">
                              <a:latin typeface="Cambria Math" panose="02040503050406030204" pitchFamily="18" charset="0"/>
                            </a:rPr>
                            <m:t>𝜕</m:t>
                          </m:r>
                          <m:r>
                            <a:rPr kumimoji="1" lang="en-US" altLang="zh-CN" i="1">
                              <a:latin typeface="Cambria Math" panose="02040503050406030204" pitchFamily="18" charset="0"/>
                            </a:rPr>
                            <m:t>ℓ</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𝜃</m:t>
                              </m:r>
                              <m:r>
                                <a:rPr kumimoji="1" lang="en-US" altLang="zh-CN" i="1">
                                  <a:latin typeface="Cambria Math" panose="02040503050406030204" pitchFamily="18" charset="0"/>
                                </a:rPr>
                                <m:t>,</m:t>
                              </m:r>
                              <m:r>
                                <a:rPr kumimoji="1" lang="en-US" altLang="zh-CN" i="1">
                                  <a:latin typeface="Cambria Math" panose="02040503050406030204" pitchFamily="18" charset="0"/>
                                </a:rPr>
                                <m:t>𝑥</m:t>
                              </m:r>
                              <m:r>
                                <a:rPr kumimoji="1" lang="en-US" altLang="zh-CN" i="1">
                                  <a:latin typeface="Cambria Math" panose="02040503050406030204" pitchFamily="18" charset="0"/>
                                </a:rPr>
                                <m:t>,</m:t>
                              </m:r>
                              <m:r>
                                <a:rPr kumimoji="1" lang="en-US" altLang="zh-CN" i="1">
                                  <a:latin typeface="Cambria Math" panose="02040503050406030204" pitchFamily="18" charset="0"/>
                                </a:rPr>
                                <m:t>𝑦</m:t>
                              </m:r>
                            </m:e>
                          </m:d>
                        </m:num>
                        <m:den>
                          <m:r>
                            <a:rPr kumimoji="1" lang="en-US" altLang="zh-CN" i="1">
                              <a:latin typeface="Cambria Math" panose="02040503050406030204" pitchFamily="18" charset="0"/>
                            </a:rPr>
                            <m:t>𝜕</m:t>
                          </m:r>
                          <m:sSup>
                            <m:sSupPr>
                              <m:ctrlPr>
                                <a:rPr kumimoji="1" lang="en-US" altLang="zh-CN" i="1">
                                  <a:solidFill>
                                    <a:srgbClr val="C00000"/>
                                  </a:solidFill>
                                  <a:latin typeface="Cambria Math" panose="02040503050406030204" pitchFamily="18" charset="0"/>
                                </a:rPr>
                              </m:ctrlPr>
                            </m:sSupPr>
                            <m:e>
                              <m:r>
                                <a:rPr kumimoji="1" lang="en-US" altLang="zh-CN" i="1">
                                  <a:solidFill>
                                    <a:srgbClr val="C00000"/>
                                  </a:solidFill>
                                  <a:latin typeface="Cambria Math" panose="02040503050406030204" pitchFamily="18" charset="0"/>
                                </a:rPr>
                                <m:t>𝑥</m:t>
                              </m:r>
                            </m:e>
                            <m:sup>
                              <m:d>
                                <m:dPr>
                                  <m:ctrlPr>
                                    <a:rPr kumimoji="1" lang="en-US" altLang="zh-CN" i="1">
                                      <a:solidFill>
                                        <a:srgbClr val="C00000"/>
                                      </a:solidFill>
                                      <a:latin typeface="Cambria Math" panose="02040503050406030204" pitchFamily="18" charset="0"/>
                                    </a:rPr>
                                  </m:ctrlPr>
                                </m:dPr>
                                <m:e>
                                  <m:r>
                                    <a:rPr kumimoji="1" lang="en-US" altLang="zh-CN" b="0" i="1" smtClean="0">
                                      <a:solidFill>
                                        <a:srgbClr val="C00000"/>
                                      </a:solidFill>
                                      <a:latin typeface="Cambria Math" panose="02040503050406030204" pitchFamily="18" charset="0"/>
                                    </a:rPr>
                                    <m:t>ℓ−1</m:t>
                                  </m:r>
                                </m:e>
                              </m:d>
                            </m:sup>
                          </m:sSup>
                        </m:den>
                      </m:f>
                    </m:oMath>
                  </m:oMathPara>
                </a14:m>
                <a:endParaRPr lang="zh-CN" altLang="en-US" dirty="0"/>
              </a:p>
            </p:txBody>
          </p:sp>
        </mc:Choice>
        <mc:Fallback xmlns="">
          <p:sp>
            <p:nvSpPr>
              <p:cNvPr id="51" name="文本框 50">
                <a:extLst>
                  <a:ext uri="{FF2B5EF4-FFF2-40B4-BE49-F238E27FC236}">
                    <a16:creationId xmlns:a16="http://schemas.microsoft.com/office/drawing/2014/main" id="{CDF2E0C2-C8D5-6343-83B5-95029CD160FE}"/>
                  </a:ext>
                </a:extLst>
              </p:cNvPr>
              <p:cNvSpPr txBox="1">
                <a:spLocks noRot="1" noChangeAspect="1" noMove="1" noResize="1" noEditPoints="1" noAdjustHandles="1" noChangeArrowheads="1" noChangeShapeType="1" noTextEdit="1"/>
              </p:cNvSpPr>
              <p:nvPr/>
            </p:nvSpPr>
            <p:spPr>
              <a:xfrm>
                <a:off x="7313312" y="5398167"/>
                <a:ext cx="1693490" cy="392993"/>
              </a:xfrm>
              <a:prstGeom prst="rect">
                <a:avLst/>
              </a:prstGeom>
              <a:blipFill>
                <a:blip r:embed="rId16"/>
                <a:stretch>
                  <a:fillRect t="-103125" r="-14286" b="-1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6692EDCA-92EE-F24B-A03F-71D20E5EF1C0}"/>
                  </a:ext>
                </a:extLst>
              </p:cNvPr>
              <p:cNvSpPr txBox="1"/>
              <p:nvPr/>
            </p:nvSpPr>
            <p:spPr>
              <a:xfrm>
                <a:off x="10619691" y="4767087"/>
                <a:ext cx="1693490" cy="6417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1800" i="1" smtClean="0">
                              <a:solidFill>
                                <a:schemeClr val="tx1"/>
                              </a:solidFill>
                              <a:latin typeface="Cambria Math" panose="02040503050406030204" pitchFamily="18" charset="0"/>
                            </a:rPr>
                          </m:ctrlPr>
                        </m:fPr>
                        <m:num>
                          <m:r>
                            <a:rPr kumimoji="1" lang="en-US" altLang="zh-CN" sz="1800" i="1">
                              <a:solidFill>
                                <a:schemeClr val="tx1"/>
                              </a:solidFill>
                              <a:latin typeface="Cambria Math" panose="02040503050406030204" pitchFamily="18" charset="0"/>
                            </a:rPr>
                            <m:t>𝜕</m:t>
                          </m:r>
                          <m:r>
                            <a:rPr kumimoji="1" lang="en-US" altLang="zh-CN" sz="1800" i="1">
                              <a:solidFill>
                                <a:schemeClr val="tx1"/>
                              </a:solidFill>
                              <a:latin typeface="Cambria Math" panose="02040503050406030204" pitchFamily="18" charset="0"/>
                            </a:rPr>
                            <m:t>ℓ</m:t>
                          </m:r>
                          <m:d>
                            <m:dPr>
                              <m:ctrlPr>
                                <a:rPr kumimoji="1" lang="en-US" altLang="zh-CN" sz="1800" i="1">
                                  <a:solidFill>
                                    <a:schemeClr val="tx1"/>
                                  </a:solidFill>
                                  <a:latin typeface="Cambria Math" panose="02040503050406030204" pitchFamily="18" charset="0"/>
                                </a:rPr>
                              </m:ctrlPr>
                            </m:dPr>
                            <m:e>
                              <m:r>
                                <a:rPr kumimoji="1" lang="en-US" altLang="zh-CN" sz="1800" i="1">
                                  <a:solidFill>
                                    <a:schemeClr val="tx1"/>
                                  </a:solidFill>
                                  <a:latin typeface="Cambria Math" panose="02040503050406030204" pitchFamily="18" charset="0"/>
                                </a:rPr>
                                <m:t>𝜃</m:t>
                              </m:r>
                              <m:r>
                                <a:rPr kumimoji="1" lang="en-US" altLang="zh-CN" sz="1800" i="1">
                                  <a:solidFill>
                                    <a:schemeClr val="tx1"/>
                                  </a:solidFill>
                                  <a:latin typeface="Cambria Math" panose="02040503050406030204" pitchFamily="18" charset="0"/>
                                </a:rPr>
                                <m:t>,</m:t>
                              </m:r>
                              <m:r>
                                <a:rPr kumimoji="1" lang="en-US" altLang="zh-CN" sz="1800" i="1">
                                  <a:solidFill>
                                    <a:schemeClr val="tx1"/>
                                  </a:solidFill>
                                  <a:latin typeface="Cambria Math" panose="02040503050406030204" pitchFamily="18" charset="0"/>
                                </a:rPr>
                                <m:t>𝑥</m:t>
                              </m:r>
                              <m:r>
                                <a:rPr kumimoji="1" lang="en-US" altLang="zh-CN" sz="1800" i="1">
                                  <a:solidFill>
                                    <a:schemeClr val="tx1"/>
                                  </a:solidFill>
                                  <a:latin typeface="Cambria Math" panose="02040503050406030204" pitchFamily="18" charset="0"/>
                                </a:rPr>
                                <m:t>,</m:t>
                              </m:r>
                              <m:r>
                                <a:rPr kumimoji="1" lang="en-US" altLang="zh-CN" sz="1800" i="1">
                                  <a:solidFill>
                                    <a:schemeClr val="tx1"/>
                                  </a:solidFill>
                                  <a:latin typeface="Cambria Math" panose="02040503050406030204" pitchFamily="18" charset="0"/>
                                </a:rPr>
                                <m:t>𝑦</m:t>
                              </m:r>
                            </m:e>
                          </m:d>
                        </m:num>
                        <m:den>
                          <m:r>
                            <a:rPr kumimoji="1" lang="en-US" altLang="zh-CN" sz="1800" i="1">
                              <a:solidFill>
                                <a:schemeClr val="tx1"/>
                              </a:solidFill>
                              <a:latin typeface="Cambria Math" panose="02040503050406030204" pitchFamily="18" charset="0"/>
                            </a:rPr>
                            <m:t>𝜕</m:t>
                          </m:r>
                          <m:sSup>
                            <m:sSupPr>
                              <m:ctrlPr>
                                <a:rPr kumimoji="1" lang="en-US" altLang="zh-CN" sz="1800" i="1" smtClean="0">
                                  <a:solidFill>
                                    <a:srgbClr val="C00000"/>
                                  </a:solidFill>
                                  <a:latin typeface="Cambria Math" panose="02040503050406030204" pitchFamily="18" charset="0"/>
                                </a:rPr>
                              </m:ctrlPr>
                            </m:sSupPr>
                            <m:e>
                              <m:r>
                                <a:rPr kumimoji="1" lang="en-US" altLang="zh-CN" sz="1800" b="0" i="1" smtClean="0">
                                  <a:solidFill>
                                    <a:srgbClr val="C00000"/>
                                  </a:solidFill>
                                  <a:latin typeface="Cambria Math" panose="02040503050406030204" pitchFamily="18" charset="0"/>
                                </a:rPr>
                                <m:t>𝜃</m:t>
                              </m:r>
                            </m:e>
                            <m:sup>
                              <m:d>
                                <m:dPr>
                                  <m:ctrlPr>
                                    <a:rPr kumimoji="1" lang="en-US" altLang="zh-CN" sz="1800" b="0" i="1" smtClean="0">
                                      <a:solidFill>
                                        <a:srgbClr val="C00000"/>
                                      </a:solidFill>
                                      <a:latin typeface="Cambria Math" panose="02040503050406030204" pitchFamily="18" charset="0"/>
                                    </a:rPr>
                                  </m:ctrlPr>
                                </m:dPr>
                                <m:e>
                                  <m:r>
                                    <a:rPr kumimoji="1" lang="en-US" altLang="zh-CN" sz="1800" b="0" i="1" smtClean="0">
                                      <a:solidFill>
                                        <a:srgbClr val="C00000"/>
                                      </a:solidFill>
                                      <a:latin typeface="Cambria Math" panose="02040503050406030204" pitchFamily="18" charset="0"/>
                                    </a:rPr>
                                    <m:t>ℓ</m:t>
                                  </m:r>
                                </m:e>
                              </m:d>
                            </m:sup>
                          </m:sSup>
                        </m:den>
                      </m:f>
                    </m:oMath>
                  </m:oMathPara>
                </a14:m>
                <a:endParaRPr lang="zh-CN" altLang="en-US" dirty="0"/>
              </a:p>
            </p:txBody>
          </p:sp>
        </mc:Choice>
        <mc:Fallback xmlns="">
          <p:sp>
            <p:nvSpPr>
              <p:cNvPr id="52" name="文本框 51">
                <a:extLst>
                  <a:ext uri="{FF2B5EF4-FFF2-40B4-BE49-F238E27FC236}">
                    <a16:creationId xmlns:a16="http://schemas.microsoft.com/office/drawing/2014/main" id="{6692EDCA-92EE-F24B-A03F-71D20E5EF1C0}"/>
                  </a:ext>
                </a:extLst>
              </p:cNvPr>
              <p:cNvSpPr txBox="1">
                <a:spLocks noRot="1" noChangeAspect="1" noMove="1" noResize="1" noEditPoints="1" noAdjustHandles="1" noChangeArrowheads="1" noChangeShapeType="1" noTextEdit="1"/>
              </p:cNvSpPr>
              <p:nvPr/>
            </p:nvSpPr>
            <p:spPr>
              <a:xfrm>
                <a:off x="10619691" y="4767087"/>
                <a:ext cx="1693490" cy="641714"/>
              </a:xfrm>
              <a:prstGeom prst="rect">
                <a:avLst/>
              </a:prstGeom>
              <a:blipFill>
                <a:blip r:embed="rId17"/>
                <a:stretch>
                  <a:fillRect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531A0144-F5EA-5D4A-93BC-3D64852FA1D9}"/>
                  </a:ext>
                </a:extLst>
              </p:cNvPr>
              <p:cNvSpPr txBox="1"/>
              <p:nvPr/>
            </p:nvSpPr>
            <p:spPr>
              <a:xfrm>
                <a:off x="846191" y="4827330"/>
                <a:ext cx="5100019"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ℓ</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𝜃</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𝑦</m:t>
                              </m:r>
                            </m:e>
                          </m:d>
                        </m:num>
                        <m:den>
                          <m:r>
                            <a:rPr kumimoji="1" lang="en-US" altLang="zh-CN" sz="2400" i="1">
                              <a:solidFill>
                                <a:schemeClr val="tx1"/>
                              </a:solidFill>
                              <a:latin typeface="Cambria Math" panose="02040503050406030204" pitchFamily="18" charset="0"/>
                            </a:rPr>
                            <m:t>𝜕</m:t>
                          </m:r>
                          <m:sSup>
                            <m:sSupPr>
                              <m:ctrlPr>
                                <a:rPr kumimoji="1" lang="en-US" altLang="zh-CN" sz="240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𝜃</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r>
                            <a:rPr kumimoji="1" lang="en-US" altLang="zh-CN" sz="2400" i="1">
                              <a:latin typeface="Cambria Math" panose="02040503050406030204" pitchFamily="18" charset="0"/>
                            </a:rPr>
                            <m:t>ℓ</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𝜃</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𝑦</m:t>
                              </m:r>
                            </m:e>
                          </m:d>
                        </m:num>
                        <m:den>
                          <m:r>
                            <a:rPr kumimoji="1" lang="en-US" altLang="zh-CN" sz="2400" i="1">
                              <a:latin typeface="Cambria Math" panose="02040503050406030204" pitchFamily="18" charset="0"/>
                            </a:rPr>
                            <m:t>𝜕</m:t>
                          </m:r>
                          <m:sSup>
                            <m:sSupPr>
                              <m:ctrlPr>
                                <a:rPr kumimoji="1" lang="en-US" altLang="zh-CN" sz="2400" i="1" smtClean="0">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den>
                      </m:f>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den>
                      </m:f>
                    </m:oMath>
                  </m:oMathPara>
                </a14:m>
                <a:endParaRPr lang="zh-CN" altLang="en-US" sz="2400" dirty="0"/>
              </a:p>
            </p:txBody>
          </p:sp>
        </mc:Choice>
        <mc:Fallback xmlns="">
          <p:sp>
            <p:nvSpPr>
              <p:cNvPr id="54" name="文本框 53">
                <a:extLst>
                  <a:ext uri="{FF2B5EF4-FFF2-40B4-BE49-F238E27FC236}">
                    <a16:creationId xmlns:a16="http://schemas.microsoft.com/office/drawing/2014/main" id="{531A0144-F5EA-5D4A-93BC-3D64852FA1D9}"/>
                  </a:ext>
                </a:extLst>
              </p:cNvPr>
              <p:cNvSpPr txBox="1">
                <a:spLocks noRot="1" noChangeAspect="1" noMove="1" noResize="1" noEditPoints="1" noAdjustHandles="1" noChangeArrowheads="1" noChangeShapeType="1" noTextEdit="1"/>
              </p:cNvSpPr>
              <p:nvPr/>
            </p:nvSpPr>
            <p:spPr>
              <a:xfrm>
                <a:off x="846191" y="4827330"/>
                <a:ext cx="5100019" cy="875432"/>
              </a:xfrm>
              <a:prstGeom prst="rect">
                <a:avLst/>
              </a:prstGeom>
              <a:blipFill>
                <a:blip r:embed="rId18"/>
                <a:stretch>
                  <a:fillRect b="-72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1A2111B-1363-C346-AFC9-2189E2B87D9E}"/>
                  </a:ext>
                </a:extLst>
              </p:cNvPr>
              <p:cNvSpPr txBox="1"/>
              <p:nvPr/>
            </p:nvSpPr>
            <p:spPr>
              <a:xfrm>
                <a:off x="967098" y="5702762"/>
                <a:ext cx="5100019"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ℓ</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𝜃</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𝑦</m:t>
                              </m:r>
                            </m:e>
                          </m:d>
                        </m:num>
                        <m:den>
                          <m:r>
                            <a:rPr kumimoji="1" lang="en-US" altLang="zh-CN" sz="2400" i="1">
                              <a:solidFill>
                                <a:schemeClr val="tx1"/>
                              </a:solidFill>
                              <a:latin typeface="Cambria Math" panose="02040503050406030204" pitchFamily="18" charset="0"/>
                            </a:rPr>
                            <m:t>𝜕</m:t>
                          </m:r>
                          <m:sSup>
                            <m:sSupPr>
                              <m:ctrlPr>
                                <a:rPr kumimoji="1" lang="en-US" altLang="zh-CN" sz="240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ℓ−1</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r>
                            <a:rPr kumimoji="1" lang="en-US" altLang="zh-CN" sz="2400" i="1">
                              <a:latin typeface="Cambria Math" panose="02040503050406030204" pitchFamily="18" charset="0"/>
                            </a:rPr>
                            <m:t>ℓ</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𝜃</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𝑦</m:t>
                              </m:r>
                            </m:e>
                          </m:d>
                        </m:num>
                        <m:den>
                          <m:r>
                            <a:rPr kumimoji="1" lang="en-US" altLang="zh-CN" sz="2400" i="1">
                              <a:latin typeface="Cambria Math" panose="02040503050406030204" pitchFamily="18" charset="0"/>
                            </a:rPr>
                            <m:t>𝜕</m:t>
                          </m:r>
                          <m:sSup>
                            <m:sSupPr>
                              <m:ctrlPr>
                                <a:rPr kumimoji="1" lang="en-US" altLang="zh-CN" sz="2400" i="1" smtClean="0">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den>
                      </m:f>
                      <m:r>
                        <a:rPr kumimoji="1" lang="en-US" altLang="zh-CN" sz="2400" b="0" i="1" smtClean="0">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r>
                                    <a:rPr kumimoji="1" lang="en-US" altLang="zh-CN" sz="2400" b="0" i="1" smtClean="0">
                                      <a:latin typeface="Cambria Math" panose="02040503050406030204" pitchFamily="18" charset="0"/>
                                    </a:rPr>
                                    <m:t>−1</m:t>
                                  </m:r>
                                </m:e>
                              </m:d>
                            </m:sup>
                          </m:sSup>
                        </m:den>
                      </m:f>
                    </m:oMath>
                  </m:oMathPara>
                </a14:m>
                <a:endParaRPr lang="zh-CN" altLang="en-US" sz="2400" dirty="0"/>
              </a:p>
            </p:txBody>
          </p:sp>
        </mc:Choice>
        <mc:Fallback xmlns="">
          <p:sp>
            <p:nvSpPr>
              <p:cNvPr id="55" name="文本框 54">
                <a:extLst>
                  <a:ext uri="{FF2B5EF4-FFF2-40B4-BE49-F238E27FC236}">
                    <a16:creationId xmlns:a16="http://schemas.microsoft.com/office/drawing/2014/main" id="{F1A2111B-1363-C346-AFC9-2189E2B87D9E}"/>
                  </a:ext>
                </a:extLst>
              </p:cNvPr>
              <p:cNvSpPr txBox="1">
                <a:spLocks noRot="1" noChangeAspect="1" noMove="1" noResize="1" noEditPoints="1" noAdjustHandles="1" noChangeArrowheads="1" noChangeShapeType="1" noTextEdit="1"/>
              </p:cNvSpPr>
              <p:nvPr/>
            </p:nvSpPr>
            <p:spPr>
              <a:xfrm>
                <a:off x="967098" y="5702762"/>
                <a:ext cx="5100019" cy="875432"/>
              </a:xfrm>
              <a:prstGeom prst="rect">
                <a:avLst/>
              </a:prstGeom>
              <a:blipFill>
                <a:blip r:embed="rId19"/>
                <a:stretch>
                  <a:fillRect/>
                </a:stretch>
              </a:blipFill>
            </p:spPr>
            <p:txBody>
              <a:bodyPr/>
              <a:lstStyle/>
              <a:p>
                <a:r>
                  <a:rPr lang="zh-CN" altLang="en-US">
                    <a:noFill/>
                  </a:rPr>
                  <a:t> </a:t>
                </a:r>
              </a:p>
            </p:txBody>
          </p:sp>
        </mc:Fallback>
      </mc:AlternateContent>
      <p:sp>
        <p:nvSpPr>
          <p:cNvPr id="35" name="文本框 34">
            <a:extLst>
              <a:ext uri="{FF2B5EF4-FFF2-40B4-BE49-F238E27FC236}">
                <a16:creationId xmlns:a16="http://schemas.microsoft.com/office/drawing/2014/main" id="{3C0BA2BE-A2D6-43DA-AD06-61F1EDB7885D}"/>
              </a:ext>
            </a:extLst>
          </p:cNvPr>
          <p:cNvSpPr txBox="1"/>
          <p:nvPr/>
        </p:nvSpPr>
        <p:spPr>
          <a:xfrm>
            <a:off x="137420" y="4783590"/>
            <a:ext cx="1145718" cy="923330"/>
          </a:xfrm>
          <a:prstGeom prst="rect">
            <a:avLst/>
          </a:prstGeom>
          <a:noFill/>
        </p:spPr>
        <p:txBody>
          <a:bodyPr wrap="square">
            <a:spAutoFit/>
          </a:bodyPr>
          <a:lstStyle/>
          <a:p>
            <a:r>
              <a:rPr lang="zh-CN" altLang="en-US" b="1" i="0" dirty="0">
                <a:solidFill>
                  <a:srgbClr val="0F1115"/>
                </a:solidFill>
                <a:effectLst/>
                <a:latin typeface="quote-cjk-patch"/>
              </a:rPr>
              <a:t>如何计算每一层参数的梯度</a:t>
            </a:r>
            <a:endParaRPr lang="zh-CN" altLang="en-US" dirty="0"/>
          </a:p>
        </p:txBody>
      </p:sp>
      <p:sp>
        <p:nvSpPr>
          <p:cNvPr id="36" name="文本框 35">
            <a:extLst>
              <a:ext uri="{FF2B5EF4-FFF2-40B4-BE49-F238E27FC236}">
                <a16:creationId xmlns:a16="http://schemas.microsoft.com/office/drawing/2014/main" id="{B422248C-B913-45A7-82AD-1D71F813FEDE}"/>
              </a:ext>
            </a:extLst>
          </p:cNvPr>
          <p:cNvSpPr txBox="1"/>
          <p:nvPr/>
        </p:nvSpPr>
        <p:spPr>
          <a:xfrm>
            <a:off x="137421" y="5798145"/>
            <a:ext cx="1145718" cy="923330"/>
          </a:xfrm>
          <a:prstGeom prst="rect">
            <a:avLst/>
          </a:prstGeom>
          <a:noFill/>
        </p:spPr>
        <p:txBody>
          <a:bodyPr wrap="square">
            <a:spAutoFit/>
          </a:bodyPr>
          <a:lstStyle/>
          <a:p>
            <a:r>
              <a:rPr lang="zh-CN" altLang="en-US" b="1" i="0" dirty="0">
                <a:solidFill>
                  <a:srgbClr val="0F1115"/>
                </a:solidFill>
                <a:effectLst/>
                <a:latin typeface="quote-cjk-patch"/>
              </a:rPr>
              <a:t>如何将误差向上一层传播</a:t>
            </a:r>
            <a:endParaRPr lang="zh-CN" altLang="en-US" dirty="0"/>
          </a:p>
        </p:txBody>
      </p:sp>
      <p:sp>
        <p:nvSpPr>
          <p:cNvPr id="38" name="文本框 37">
            <a:extLst>
              <a:ext uri="{FF2B5EF4-FFF2-40B4-BE49-F238E27FC236}">
                <a16:creationId xmlns:a16="http://schemas.microsoft.com/office/drawing/2014/main" id="{B6351A0A-AD91-47E3-8D9E-133D8997CDA7}"/>
              </a:ext>
            </a:extLst>
          </p:cNvPr>
          <p:cNvSpPr txBox="1"/>
          <p:nvPr/>
        </p:nvSpPr>
        <p:spPr>
          <a:xfrm>
            <a:off x="5543555" y="5126471"/>
            <a:ext cx="1124636" cy="369332"/>
          </a:xfrm>
          <a:prstGeom prst="rect">
            <a:avLst/>
          </a:prstGeom>
          <a:noFill/>
        </p:spPr>
        <p:txBody>
          <a:bodyPr wrap="square">
            <a:spAutoFit/>
          </a:bodyPr>
          <a:lstStyle/>
          <a:p>
            <a:r>
              <a:rPr lang="zh-CN" altLang="en-US" b="1" i="0" dirty="0">
                <a:solidFill>
                  <a:srgbClr val="0F1115"/>
                </a:solidFill>
                <a:effectLst/>
                <a:latin typeface="quote-cjk-patch"/>
              </a:rPr>
              <a:t>局部导数</a:t>
            </a:r>
            <a:endParaRPr lang="zh-CN" altLang="en-US" dirty="0"/>
          </a:p>
        </p:txBody>
      </p:sp>
      <p:sp>
        <p:nvSpPr>
          <p:cNvPr id="5" name="矩形 4">
            <a:extLst>
              <a:ext uri="{FF2B5EF4-FFF2-40B4-BE49-F238E27FC236}">
                <a16:creationId xmlns:a16="http://schemas.microsoft.com/office/drawing/2014/main" id="{EFE41CC1-554E-4ED9-A9DB-B319D717B903}"/>
              </a:ext>
            </a:extLst>
          </p:cNvPr>
          <p:cNvSpPr/>
          <p:nvPr/>
        </p:nvSpPr>
        <p:spPr>
          <a:xfrm>
            <a:off x="4626824" y="4802305"/>
            <a:ext cx="2172849" cy="98885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图片 45">
            <a:extLst>
              <a:ext uri="{FF2B5EF4-FFF2-40B4-BE49-F238E27FC236}">
                <a16:creationId xmlns:a16="http://schemas.microsoft.com/office/drawing/2014/main" id="{C9CF8FE5-E5A5-4FED-B34C-342F4B69185B}"/>
              </a:ext>
            </a:extLst>
          </p:cNvPr>
          <p:cNvPicPr>
            <a:picLocks noChangeAspect="1"/>
          </p:cNvPicPr>
          <p:nvPr/>
        </p:nvPicPr>
        <p:blipFill>
          <a:blip r:embed="rId20"/>
          <a:stretch>
            <a:fillRect/>
          </a:stretch>
        </p:blipFill>
        <p:spPr>
          <a:xfrm>
            <a:off x="10310665" y="2918083"/>
            <a:ext cx="1881335" cy="450662"/>
          </a:xfrm>
          <a:prstGeom prst="rect">
            <a:avLst/>
          </a:prstGeom>
        </p:spPr>
      </p:pic>
    </p:spTree>
    <p:extLst>
      <p:ext uri="{BB962C8B-B14F-4D97-AF65-F5344CB8AC3E}">
        <p14:creationId xmlns:p14="http://schemas.microsoft.com/office/powerpoint/2010/main" val="8508465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77</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2831416"/>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第</a:t>
                </a:r>
                <a14:m>
                  <m:oMath xmlns:m="http://schemas.openxmlformats.org/officeDocument/2006/math">
                    <m:r>
                      <a:rPr lang="en-US" altLang="zh-CN" sz="2400" b="0" i="1" smtClean="0">
                        <a:latin typeface="Cambria Math" panose="02040503050406030204" pitchFamily="18" charset="0"/>
                      </a:rPr>
                      <m:t>ℓ</m:t>
                    </m:r>
                  </m:oMath>
                </a14:m>
                <a:r>
                  <a:rPr lang="zh-CN" altLang="en-US" sz="2400" dirty="0"/>
                  <a:t>层梯度</a:t>
                </a:r>
                <a:r>
                  <a:rPr lang="en-US" altLang="zh-CN" sz="2400" dirty="0"/>
                  <a:t>(</a:t>
                </a:r>
                <a:r>
                  <a:rPr lang="zh-CN" altLang="en-US" sz="2400" dirty="0"/>
                  <a:t>重写</a:t>
                </a:r>
                <a:r>
                  <a:rPr lang="en-US" altLang="zh-CN" sz="2400" dirty="0"/>
                  <a:t>)</a:t>
                </a:r>
              </a:p>
              <a:p>
                <a:pPr marL="342900" indent="-342900">
                  <a:lnSpc>
                    <a:spcPct val="150000"/>
                  </a:lnSpc>
                  <a:buFont typeface="Wingdings" pitchFamily="2" charset="2"/>
                  <a:buChar char="n"/>
                </a:pPr>
                <a:endParaRPr lang="en-US" altLang="zh-CN" sz="2400" dirty="0"/>
              </a:p>
              <a:p>
                <a:pPr marL="342900" indent="-342900">
                  <a:lnSpc>
                    <a:spcPct val="150000"/>
                  </a:lnSpc>
                  <a:buFont typeface="Wingdings" pitchFamily="2" charset="2"/>
                  <a:buChar char="n"/>
                </a:pPr>
                <a:endParaRPr lang="en-US" altLang="zh-CN" sz="2400" dirty="0"/>
              </a:p>
              <a:p>
                <a:pPr>
                  <a:lnSpc>
                    <a:spcPct val="150000"/>
                  </a:lnSpc>
                </a:pPr>
                <a:endParaRPr lang="en-US" altLang="zh-CN" sz="2400" dirty="0"/>
              </a:p>
              <a:p>
                <a:pPr marL="342900" indent="-342900">
                  <a:lnSpc>
                    <a:spcPct val="150000"/>
                  </a:lnSpc>
                  <a:buFont typeface="Wingdings" pitchFamily="2" charset="2"/>
                  <a:buChar char="n"/>
                </a:pPr>
                <a:r>
                  <a:rPr lang="zh-CN" altLang="en-US" sz="2400" dirty="0"/>
                  <a:t>对于</a:t>
                </a:r>
                <a14:m>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oMath>
                </a14:m>
                <a:r>
                  <a:rPr lang="zh-CN" altLang="en-US" sz="2400" dirty="0"/>
                  <a:t>又有</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2831416"/>
              </a:xfrm>
              <a:prstGeom prst="rect">
                <a:avLst/>
              </a:prstGeom>
              <a:blipFill>
                <a:blip r:embed="rId3"/>
                <a:stretch>
                  <a:fillRect l="-1170" b="-43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B402517-44EF-2D4B-B27C-2FD6AA02B732}"/>
                  </a:ext>
                </a:extLst>
              </p:cNvPr>
              <p:cNvSpPr txBox="1"/>
              <p:nvPr/>
            </p:nvSpPr>
            <p:spPr>
              <a:xfrm>
                <a:off x="1918682" y="2991284"/>
                <a:ext cx="8354635"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r>
                        <a:rPr kumimoji="1" lang="en-US" altLang="zh-CN" sz="2400" b="0" i="1" smtClean="0">
                          <a:latin typeface="Cambria Math" panose="02040503050406030204" pitchFamily="18" charset="0"/>
                        </a:rPr>
                        <m:t>=</m:t>
                      </m:r>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ℓ</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𝜃</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𝑦</m:t>
                              </m:r>
                            </m:e>
                          </m:d>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𝐿</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𝐿</m:t>
                                  </m:r>
                                </m:e>
                              </m:d>
                            </m:sup>
                          </m:sSup>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𝐿</m:t>
                                  </m:r>
                                  <m:r>
                                    <a:rPr kumimoji="1" lang="en-US" altLang="zh-CN" sz="2400" b="0" i="1" smtClean="0">
                                      <a:solidFill>
                                        <a:schemeClr val="tx1"/>
                                      </a:solidFill>
                                      <a:latin typeface="Cambria Math" panose="02040503050406030204" pitchFamily="18" charset="0"/>
                                    </a:rPr>
                                    <m:t>−1</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ℓ+1</m:t>
                                  </m:r>
                                </m:e>
                              </m:d>
                            </m:sup>
                          </m:sSup>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oMath>
                  </m:oMathPara>
                </a14:m>
                <a:endParaRPr lang="zh-CN" altLang="en-US" sz="2400" dirty="0"/>
              </a:p>
            </p:txBody>
          </p:sp>
        </mc:Choice>
        <mc:Fallback xmlns="">
          <p:sp>
            <p:nvSpPr>
              <p:cNvPr id="46" name="文本框 45">
                <a:extLst>
                  <a:ext uri="{FF2B5EF4-FFF2-40B4-BE49-F238E27FC236}">
                    <a16:creationId xmlns:a16="http://schemas.microsoft.com/office/drawing/2014/main" id="{9B402517-44EF-2D4B-B27C-2FD6AA02B732}"/>
                  </a:ext>
                </a:extLst>
              </p:cNvPr>
              <p:cNvSpPr txBox="1">
                <a:spLocks noRot="1" noChangeAspect="1" noMove="1" noResize="1" noEditPoints="1" noAdjustHandles="1" noChangeArrowheads="1" noChangeShapeType="1" noTextEdit="1"/>
              </p:cNvSpPr>
              <p:nvPr/>
            </p:nvSpPr>
            <p:spPr>
              <a:xfrm>
                <a:off x="1918682" y="2991284"/>
                <a:ext cx="8354635" cy="875432"/>
              </a:xfrm>
              <a:prstGeom prst="rect">
                <a:avLst/>
              </a:prstGeom>
              <a:blipFill>
                <a:blip r:embed="rId4"/>
                <a:stretch>
                  <a:fillRect/>
                </a:stretch>
              </a:blipFill>
            </p:spPr>
            <p:txBody>
              <a:bodyPr/>
              <a:lstStyle/>
              <a:p>
                <a:r>
                  <a:rPr lang="zh-CN" altLang="en-US">
                    <a:noFill/>
                  </a:rPr>
                  <a:t> </a:t>
                </a:r>
              </a:p>
            </p:txBody>
          </p:sp>
        </mc:Fallback>
      </mc:AlternateContent>
      <p:sp>
        <p:nvSpPr>
          <p:cNvPr id="47" name="右大括号 46">
            <a:extLst>
              <a:ext uri="{FF2B5EF4-FFF2-40B4-BE49-F238E27FC236}">
                <a16:creationId xmlns:a16="http://schemas.microsoft.com/office/drawing/2014/main" id="{AC8C7F86-7B71-2C4B-BDA9-121603464CCB}"/>
              </a:ext>
            </a:extLst>
          </p:cNvPr>
          <p:cNvSpPr/>
          <p:nvPr/>
        </p:nvSpPr>
        <p:spPr>
          <a:xfrm rot="5400000">
            <a:off x="6309812" y="1604169"/>
            <a:ext cx="247917" cy="4726283"/>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F0869B93-5C3D-D64F-8342-068857A55AE8}"/>
                  </a:ext>
                </a:extLst>
              </p:cNvPr>
              <p:cNvSpPr txBox="1"/>
              <p:nvPr/>
            </p:nvSpPr>
            <p:spPr>
              <a:xfrm>
                <a:off x="3974437" y="4127825"/>
                <a:ext cx="4323347" cy="824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ℓ</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𝜃</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𝑦</m:t>
                              </m:r>
                            </m:e>
                          </m:d>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den>
                      </m:f>
                    </m:oMath>
                  </m:oMathPara>
                </a14:m>
                <a:endParaRPr lang="zh-CN" altLang="en-US" sz="2400" dirty="0">
                  <a:solidFill>
                    <a:schemeClr val="tx1"/>
                  </a:solidFill>
                </a:endParaRPr>
              </a:p>
            </p:txBody>
          </p:sp>
        </mc:Choice>
        <mc:Fallback xmlns="">
          <p:sp>
            <p:nvSpPr>
              <p:cNvPr id="59" name="文本框 58">
                <a:extLst>
                  <a:ext uri="{FF2B5EF4-FFF2-40B4-BE49-F238E27FC236}">
                    <a16:creationId xmlns:a16="http://schemas.microsoft.com/office/drawing/2014/main" id="{F0869B93-5C3D-D64F-8342-068857A55AE8}"/>
                  </a:ext>
                </a:extLst>
              </p:cNvPr>
              <p:cNvSpPr txBox="1">
                <a:spLocks noRot="1" noChangeAspect="1" noMove="1" noResize="1" noEditPoints="1" noAdjustHandles="1" noChangeArrowheads="1" noChangeShapeType="1" noTextEdit="1"/>
              </p:cNvSpPr>
              <p:nvPr/>
            </p:nvSpPr>
            <p:spPr>
              <a:xfrm>
                <a:off x="3974437" y="4127825"/>
                <a:ext cx="4323347" cy="824906"/>
              </a:xfrm>
              <a:prstGeom prst="rect">
                <a:avLst/>
              </a:prstGeom>
              <a:blipFill>
                <a:blip r:embed="rId5"/>
                <a:stretch>
                  <a:fillRect b="-75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05539A74-3814-0045-9643-6095B53855E9}"/>
                  </a:ext>
                </a:extLst>
              </p:cNvPr>
              <p:cNvSpPr txBox="1"/>
              <p:nvPr/>
            </p:nvSpPr>
            <p:spPr>
              <a:xfrm>
                <a:off x="439418" y="5443070"/>
                <a:ext cx="9833899" cy="1299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sSup>
                        <m:sSupPr>
                          <m:ctrlPr>
                            <a:rPr kumimoji="1" lang="en-US" altLang="zh-CN" sz="2400" i="1">
                              <a:latin typeface="Cambria Math" panose="02040503050406030204" pitchFamily="18" charset="0"/>
                            </a:rPr>
                          </m:ctrlPr>
                        </m:sSupPr>
                        <m:e>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r>
                                <a:rPr kumimoji="1" lang="en-US" altLang="zh-CN" sz="2400" i="1">
                                  <a:latin typeface="Cambria Math" panose="02040503050406030204" pitchFamily="18" charset="0"/>
                                </a:rPr>
                                <m:t>ℓ</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𝜃</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𝑦</m:t>
                                  </m:r>
                                </m:e>
                              </m:d>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den>
                          </m:f>
                          <m:r>
                            <a:rPr kumimoji="1" lang="en-US" altLang="zh-CN" sz="2400" i="1">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r>
                                <a:rPr kumimoji="1" lang="en-US" altLang="zh-CN" sz="2400" i="1">
                                  <a:latin typeface="Cambria Math" panose="02040503050406030204" pitchFamily="18" charset="0"/>
                                </a:rPr>
                                <m:t>ℓ</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𝜃</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𝑦</m:t>
                                  </m:r>
                                </m:e>
                              </m:d>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r>
                                        <a:rPr kumimoji="1" lang="en-US" altLang="zh-CN" sz="2400" b="0" i="1" smtClean="0">
                                          <a:latin typeface="Cambria Math" panose="02040503050406030204" pitchFamily="18" charset="0"/>
                                        </a:rPr>
                                        <m:t>+1</m:t>
                                      </m:r>
                                    </m:e>
                                  </m:d>
                                </m:sup>
                              </m:sSup>
                            </m:den>
                          </m:f>
                          <m:r>
                            <a:rPr kumimoji="1" lang="en-US" altLang="zh-CN" sz="2400" i="1">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den>
                          </m:f>
                          <m:r>
                            <a:rPr kumimoji="1" lang="en-US" altLang="zh-CN" sz="2400" i="1">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𝑥</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den>
                          </m:f>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r>
                                <a:rPr kumimoji="1" lang="en-US" altLang="zh-CN" sz="2400" b="0" i="1" smtClean="0">
                                  <a:latin typeface="Cambria Math" panose="02040503050406030204" pitchFamily="18" charset="0"/>
                                </a:rPr>
                                <m:t>1</m:t>
                              </m:r>
                            </m:e>
                          </m:d>
                        </m:sup>
                      </m:sSup>
                      <m:r>
                        <a:rPr kumimoji="1" lang="en-US" altLang="zh-CN" sz="2400" b="0" i="1" smtClean="0">
                          <a:latin typeface="Cambria Math" panose="02040503050406030204" pitchFamily="18" charset="0"/>
                        </a:rPr>
                        <m:t>⋅</m:t>
                      </m:r>
                      <m:f>
                        <m:fPr>
                          <m:ctrlPr>
                            <a:rPr kumimoji="1" lang="en-US" altLang="zh-CN" sz="2400" i="1" smtClean="0">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r>
                                    <a:rPr kumimoji="1" lang="en-US" altLang="zh-CN" sz="2400" b="0" i="1" smtClean="0">
                                      <a:solidFill>
                                        <a:schemeClr val="tx1"/>
                                      </a:solidFill>
                                      <a:latin typeface="Cambria Math" panose="02040503050406030204" pitchFamily="18" charset="0"/>
                                    </a:rPr>
                                    <m:t>1</m:t>
                                  </m:r>
                                </m:e>
                              </m:d>
                            </m:sup>
                          </m:sSup>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den>
                      </m:f>
                      <m:r>
                        <a:rPr kumimoji="1" lang="en-US" altLang="zh-CN" sz="2400" b="0" i="1" smtClean="0">
                          <a:solidFill>
                            <a:schemeClr val="tx1"/>
                          </a:solidFill>
                          <a:latin typeface="Cambria Math" panose="02040503050406030204" pitchFamily="18" charset="0"/>
                        </a:rPr>
                        <m:t>⋅</m:t>
                      </m:r>
                      <m:f>
                        <m:fPr>
                          <m:ctrlPr>
                            <a:rPr kumimoji="1" lang="en-US" altLang="zh-CN" sz="2400" i="1">
                              <a:solidFill>
                                <a:schemeClr val="tx1"/>
                              </a:solidFill>
                              <a:latin typeface="Cambria Math" panose="02040503050406030204" pitchFamily="18" charset="0"/>
                            </a:rPr>
                          </m:ctrlPr>
                        </m:fPr>
                        <m:num>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𝑥</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num>
                        <m:den>
                          <m:r>
                            <a:rPr kumimoji="1" lang="en-US" altLang="zh-CN" sz="2400" i="1">
                              <a:solidFill>
                                <a:schemeClr val="tx1"/>
                              </a:solidFill>
                              <a:latin typeface="Cambria Math" panose="02040503050406030204" pitchFamily="18" charset="0"/>
                            </a:rPr>
                            <m:t>𝜕</m:t>
                          </m:r>
                          <m:sSup>
                            <m:sSupPr>
                              <m:ctrlPr>
                                <a:rPr kumimoji="1" lang="en-US" altLang="zh-CN" sz="2400" i="1">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den>
                      </m:f>
                      <m:r>
                        <a:rPr kumimoji="1" lang="en-US" altLang="zh-CN" sz="2400" b="0" i="1" smtClean="0">
                          <a:solidFill>
                            <a:schemeClr val="tx1"/>
                          </a:solidFill>
                          <a:latin typeface="Cambria Math" panose="02040503050406030204" pitchFamily="18" charset="0"/>
                        </a:rPr>
                        <m:t>=</m:t>
                      </m:r>
                      <m:d>
                        <m:dPr>
                          <m:ctrlPr>
                            <a:rPr kumimoji="1" lang="en-US" altLang="zh-CN" sz="2400" b="0" i="1" smtClean="0">
                              <a:solidFill>
                                <a:schemeClr val="tx1"/>
                              </a:solidFill>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r>
                                <a:rPr kumimoji="1" lang="en-US" altLang="zh-CN" sz="2400" i="1">
                                  <a:latin typeface="Cambria Math" panose="02040503050406030204" pitchFamily="18" charset="0"/>
                                </a:rPr>
                                <m:t>⊤</m:t>
                              </m:r>
                            </m:sup>
                          </m:sSup>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p>
                        </m:e>
                      </m:d>
                      <m:r>
                        <a:rPr kumimoji="1" lang="en-US" altLang="zh-CN" sz="2400" b="0" i="1" smtClean="0">
                          <a:solidFill>
                            <a:schemeClr val="tx1"/>
                          </a:solidFill>
                          <a:latin typeface="Cambria Math" panose="02040503050406030204" pitchFamily="18" charset="0"/>
                          <a:ea typeface="Cambria Math" panose="02040503050406030204" pitchFamily="18" charset="0"/>
                        </a:rPr>
                        <m:t>⨀</m:t>
                      </m:r>
                      <m:sSup>
                        <m:sSupPr>
                          <m:ctrlPr>
                            <a:rPr kumimoji="1" lang="en-US" altLang="zh-CN" sz="2400" i="1" smtClean="0">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𝜎</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r>
                            <a:rPr kumimoji="1" lang="en-US" altLang="zh-CN" sz="2400" b="0" i="1" smtClean="0">
                              <a:solidFill>
                                <a:schemeClr val="tx1"/>
                              </a:solidFill>
                              <a:latin typeface="Cambria Math" panose="02040503050406030204" pitchFamily="18" charset="0"/>
                            </a:rPr>
                            <m:t>′</m:t>
                          </m:r>
                        </m:sup>
                      </m:sSup>
                      <m:d>
                        <m:dPr>
                          <m:ctrlPr>
                            <a:rPr kumimoji="1" lang="en-US" altLang="zh-CN" sz="2400" b="0" i="1" smtClean="0">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𝑧</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e>
                      </m:d>
                    </m:oMath>
                  </m:oMathPara>
                </a14:m>
                <a:endParaRPr lang="zh-CN" altLang="en-US" sz="2400" dirty="0">
                  <a:solidFill>
                    <a:schemeClr val="tx1"/>
                  </a:solidFill>
                </a:endParaRPr>
              </a:p>
            </p:txBody>
          </p:sp>
        </mc:Choice>
        <mc:Fallback xmlns="">
          <p:sp>
            <p:nvSpPr>
              <p:cNvPr id="60" name="文本框 59">
                <a:extLst>
                  <a:ext uri="{FF2B5EF4-FFF2-40B4-BE49-F238E27FC236}">
                    <a16:creationId xmlns:a16="http://schemas.microsoft.com/office/drawing/2014/main" id="{05539A74-3814-0045-9643-6095B53855E9}"/>
                  </a:ext>
                </a:extLst>
              </p:cNvPr>
              <p:cNvSpPr txBox="1">
                <a:spLocks noRot="1" noChangeAspect="1" noMove="1" noResize="1" noEditPoints="1" noAdjustHandles="1" noChangeArrowheads="1" noChangeShapeType="1" noTextEdit="1"/>
              </p:cNvSpPr>
              <p:nvPr/>
            </p:nvSpPr>
            <p:spPr>
              <a:xfrm>
                <a:off x="439418" y="5443070"/>
                <a:ext cx="9833899" cy="1299395"/>
              </a:xfrm>
              <a:prstGeom prst="rect">
                <a:avLst/>
              </a:prstGeom>
              <a:blipFill>
                <a:blip r:embed="rId6"/>
                <a:stretch>
                  <a:fillRect/>
                </a:stretch>
              </a:blipFill>
            </p:spPr>
            <p:txBody>
              <a:bodyPr/>
              <a:lstStyle/>
              <a:p>
                <a:r>
                  <a:rPr lang="zh-CN" altLang="en-US">
                    <a:noFill/>
                  </a:rPr>
                  <a:t> </a:t>
                </a:r>
              </a:p>
            </p:txBody>
          </p:sp>
        </mc:Fallback>
      </mc:AlternateContent>
      <p:sp>
        <p:nvSpPr>
          <p:cNvPr id="64" name="Straight Arrow Connector 35">
            <a:extLst>
              <a:ext uri="{FF2B5EF4-FFF2-40B4-BE49-F238E27FC236}">
                <a16:creationId xmlns:a16="http://schemas.microsoft.com/office/drawing/2014/main" id="{3ECE571E-977A-D043-ADF0-12E581C3C958}"/>
              </a:ext>
            </a:extLst>
          </p:cNvPr>
          <p:cNvSpPr/>
          <p:nvPr/>
        </p:nvSpPr>
        <p:spPr>
          <a:xfrm flipH="1">
            <a:off x="8949559" y="4581608"/>
            <a:ext cx="1571296" cy="783923"/>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p:pic>
        <p:nvPicPr>
          <p:cNvPr id="13" name="图片 12">
            <a:extLst>
              <a:ext uri="{FF2B5EF4-FFF2-40B4-BE49-F238E27FC236}">
                <a16:creationId xmlns:a16="http://schemas.microsoft.com/office/drawing/2014/main" id="{BBE65BF6-B996-4EEC-BD23-20D715CD40C6}"/>
              </a:ext>
            </a:extLst>
          </p:cNvPr>
          <p:cNvPicPr>
            <a:picLocks noChangeAspect="1"/>
          </p:cNvPicPr>
          <p:nvPr/>
        </p:nvPicPr>
        <p:blipFill>
          <a:blip r:embed="rId7"/>
          <a:stretch>
            <a:fillRect/>
          </a:stretch>
        </p:blipFill>
        <p:spPr>
          <a:xfrm>
            <a:off x="9832804" y="4005366"/>
            <a:ext cx="2232110" cy="534688"/>
          </a:xfrm>
          <a:prstGeom prst="rect">
            <a:avLst/>
          </a:prstGeom>
        </p:spPr>
      </p:pic>
    </p:spTree>
    <p:extLst>
      <p:ext uri="{BB962C8B-B14F-4D97-AF65-F5344CB8AC3E}">
        <p14:creationId xmlns:p14="http://schemas.microsoft.com/office/powerpoint/2010/main" val="69247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78</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0713194" cy="3081100"/>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第</a:t>
                </a:r>
                <a14:m>
                  <m:oMath xmlns:m="http://schemas.openxmlformats.org/officeDocument/2006/math">
                    <m:r>
                      <a:rPr lang="en-US" altLang="zh-CN" sz="2400" b="0" i="1" smtClean="0">
                        <a:latin typeface="Cambria Math" panose="02040503050406030204" pitchFamily="18" charset="0"/>
                      </a:rPr>
                      <m:t>ℓ</m:t>
                    </m:r>
                  </m:oMath>
                </a14:m>
                <a:r>
                  <a:rPr lang="zh-CN" altLang="en-US" sz="2400" dirty="0"/>
                  <a:t>层梯度</a:t>
                </a:r>
                <a:r>
                  <a:rPr lang="en-US" altLang="zh-CN" sz="2400" dirty="0"/>
                  <a:t>(</a:t>
                </a:r>
                <a:r>
                  <a:rPr lang="zh-CN" altLang="en-US" sz="2400" dirty="0"/>
                  <a:t>重写</a:t>
                </a:r>
                <a:r>
                  <a:rPr lang="en-US" altLang="zh-CN" sz="2400" dirty="0"/>
                  <a:t>)</a:t>
                </a:r>
              </a:p>
              <a:p>
                <a:pPr>
                  <a:lnSpc>
                    <a:spcPct val="150000"/>
                  </a:lnSpc>
                </a:pPr>
                <a:endParaRPr lang="en-US" altLang="zh-CN" sz="2400" dirty="0"/>
              </a:p>
              <a:p>
                <a:pPr marL="342900" indent="-342900">
                  <a:lnSpc>
                    <a:spcPct val="150000"/>
                  </a:lnSpc>
                  <a:buFont typeface="Wingdings" pitchFamily="2" charset="2"/>
                  <a:buChar char="n"/>
                </a:pPr>
                <a:r>
                  <a:rPr lang="zh-CN" altLang="en-US" sz="2400" dirty="0"/>
                  <a:t>令</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𝐷</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ℓ</m:t>
                            </m:r>
                          </m:e>
                        </m:d>
                      </m:sup>
                    </m:sSup>
                    <m:r>
                      <a:rPr lang="en-US" altLang="zh-CN" sz="2400" i="1">
                        <a:latin typeface="Cambria Math" panose="02040503050406030204" pitchFamily="18" charset="0"/>
                      </a:rPr>
                      <m:t>=</m:t>
                    </m:r>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diag</m:t>
                        </m:r>
                      </m:fName>
                      <m:e>
                        <m:d>
                          <m:dPr>
                            <m:ctrlPr>
                              <a:rPr lang="en-US" altLang="zh-CN" sz="2400" b="0" i="1" smtClean="0">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r>
                                  <a:rPr kumimoji="1" lang="en-US" altLang="zh-CN" sz="2400" i="1">
                                    <a:latin typeface="Cambria Math" panose="02040503050406030204" pitchFamily="18" charset="0"/>
                                  </a:rPr>
                                  <m:t>′</m:t>
                                </m:r>
                              </m:sup>
                            </m:sSup>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e>
                            </m:d>
                          </m:e>
                        </m:d>
                      </m:e>
                    </m:func>
                  </m:oMath>
                </a14:m>
                <a:r>
                  <a:rPr lang="zh-CN" altLang="en-US" sz="2400" dirty="0"/>
                  <a:t>，对于</a:t>
                </a:r>
                <a14:m>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oMath>
                </a14:m>
                <a:r>
                  <a:rPr kumimoji="1" lang="en-US" altLang="zh-CN" sz="2400" dirty="0"/>
                  <a:t> </a:t>
                </a:r>
                <a14:m>
                  <m:oMath xmlns:m="http://schemas.openxmlformats.org/officeDocument/2006/math">
                    <m:r>
                      <a:rPr kumimoji="1" lang="en-US" altLang="zh-CN" sz="2400" i="1">
                        <a:latin typeface="Cambria Math" panose="02040503050406030204" pitchFamily="18" charset="0"/>
                      </a:rPr>
                      <m:t>=</m:t>
                    </m:r>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r>
                              <a:rPr kumimoji="1" lang="en-US" altLang="zh-CN" sz="2400" i="1">
                                <a:latin typeface="Cambria Math" panose="02040503050406030204" pitchFamily="18" charset="0"/>
                              </a:rPr>
                              <m:t>⊤</m:t>
                            </m:r>
                          </m:sup>
                        </m:sSup>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p>
                      </m:e>
                    </m:d>
                    <m:r>
                      <a:rPr kumimoji="1" lang="en-US" altLang="zh-CN" sz="2400" i="1">
                        <a:latin typeface="Cambria Math" panose="02040503050406030204" pitchFamily="18" charset="0"/>
                        <a:ea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r>
                          <a:rPr kumimoji="1" lang="en-US" altLang="zh-CN" sz="2400" i="1">
                            <a:latin typeface="Cambria Math" panose="02040503050406030204" pitchFamily="18" charset="0"/>
                          </a:rPr>
                          <m:t>′</m:t>
                        </m:r>
                      </m:sup>
                    </m:sSup>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e>
                    </m:d>
                  </m:oMath>
                </a14:m>
                <a:r>
                  <a:rPr lang="zh-CN" altLang="en-US" sz="2400" dirty="0"/>
                  <a:t>又有：</a:t>
                </a:r>
                <a:endParaRPr lang="en-US" altLang="zh-CN" sz="2400" dirty="0"/>
              </a:p>
              <a:p>
                <a:pPr marL="342900" indent="-342900">
                  <a:lnSpc>
                    <a:spcPct val="150000"/>
                  </a:lnSpc>
                  <a:buFont typeface="Wingdings" pitchFamily="2" charset="2"/>
                  <a:buChar char="n"/>
                </a:pPr>
                <a:endParaRPr lang="en-US" altLang="zh-CN" sz="2400" dirty="0"/>
              </a:p>
              <a:p>
                <a:pPr marL="342900" indent="-342900">
                  <a:lnSpc>
                    <a:spcPct val="150000"/>
                  </a:lnSpc>
                  <a:buFont typeface="Wingdings" pitchFamily="2" charset="2"/>
                  <a:buChar char="n"/>
                </a:pP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10713194" cy="3081100"/>
              </a:xfrm>
              <a:prstGeom prst="rect">
                <a:avLst/>
              </a:prstGeom>
              <a:blipFill>
                <a:blip r:embed="rId3"/>
                <a:stretch>
                  <a:fillRect l="-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B402517-44EF-2D4B-B27C-2FD6AA02B732}"/>
                  </a:ext>
                </a:extLst>
              </p:cNvPr>
              <p:cNvSpPr txBox="1"/>
              <p:nvPr/>
            </p:nvSpPr>
            <p:spPr>
              <a:xfrm>
                <a:off x="1918681" y="2787061"/>
                <a:ext cx="8354635"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oMath>
                  </m:oMathPara>
                </a14:m>
                <a:endParaRPr lang="zh-CN" altLang="en-US" sz="2400" dirty="0"/>
              </a:p>
            </p:txBody>
          </p:sp>
        </mc:Choice>
        <mc:Fallback xmlns="">
          <p:sp>
            <p:nvSpPr>
              <p:cNvPr id="46" name="文本框 45">
                <a:extLst>
                  <a:ext uri="{FF2B5EF4-FFF2-40B4-BE49-F238E27FC236}">
                    <a16:creationId xmlns:a16="http://schemas.microsoft.com/office/drawing/2014/main" id="{9B402517-44EF-2D4B-B27C-2FD6AA02B732}"/>
                  </a:ext>
                </a:extLst>
              </p:cNvPr>
              <p:cNvSpPr txBox="1">
                <a:spLocks noRot="1" noChangeAspect="1" noMove="1" noResize="1" noEditPoints="1" noAdjustHandles="1" noChangeArrowheads="1" noChangeShapeType="1" noTextEdit="1"/>
              </p:cNvSpPr>
              <p:nvPr/>
            </p:nvSpPr>
            <p:spPr>
              <a:xfrm>
                <a:off x="1918681" y="2787061"/>
                <a:ext cx="8354635" cy="875432"/>
              </a:xfrm>
              <a:prstGeom prst="rect">
                <a:avLst/>
              </a:prstGeom>
              <a:blipFill>
                <a:blip r:embed="rId4"/>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05539A74-3814-0045-9643-6095B53855E9}"/>
                  </a:ext>
                </a:extLst>
              </p:cNvPr>
              <p:cNvSpPr txBox="1"/>
              <p:nvPr/>
            </p:nvSpPr>
            <p:spPr>
              <a:xfrm>
                <a:off x="1218614" y="4318057"/>
                <a:ext cx="3908220" cy="4866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sSup>
                        <m:sSupPr>
                          <m:ctrlPr>
                            <a:rPr kumimoji="1" lang="en-US" altLang="zh-CN" sz="2400" i="1">
                              <a:latin typeface="Cambria Math" panose="02040503050406030204" pitchFamily="18" charset="0"/>
                            </a:rPr>
                          </m:ctrlPr>
                        </m:sSup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𝐷</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ℓ</m:t>
                                  </m:r>
                                </m:e>
                              </m:d>
                            </m:sup>
                          </m:sSup>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r>
                            <a:rPr kumimoji="1" lang="en-US" altLang="zh-CN" sz="2400" i="1">
                              <a:latin typeface="Cambria Math" panose="02040503050406030204" pitchFamily="18" charset="0"/>
                            </a:rPr>
                            <m:t>⊤</m:t>
                          </m:r>
                        </m:sup>
                      </m:sSup>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p>
                    </m:oMath>
                  </m:oMathPara>
                </a14:m>
                <a:endParaRPr lang="zh-CN" altLang="en-US" sz="2400" dirty="0">
                  <a:solidFill>
                    <a:schemeClr val="tx1"/>
                  </a:solidFill>
                </a:endParaRPr>
              </a:p>
            </p:txBody>
          </p:sp>
        </mc:Choice>
        <mc:Fallback xmlns="">
          <p:sp>
            <p:nvSpPr>
              <p:cNvPr id="60" name="文本框 59">
                <a:extLst>
                  <a:ext uri="{FF2B5EF4-FFF2-40B4-BE49-F238E27FC236}">
                    <a16:creationId xmlns:a16="http://schemas.microsoft.com/office/drawing/2014/main" id="{05539A74-3814-0045-9643-6095B53855E9}"/>
                  </a:ext>
                </a:extLst>
              </p:cNvPr>
              <p:cNvSpPr txBox="1">
                <a:spLocks noRot="1" noChangeAspect="1" noMove="1" noResize="1" noEditPoints="1" noAdjustHandles="1" noChangeArrowheads="1" noChangeShapeType="1" noTextEdit="1"/>
              </p:cNvSpPr>
              <p:nvPr/>
            </p:nvSpPr>
            <p:spPr>
              <a:xfrm>
                <a:off x="1218614" y="4318057"/>
                <a:ext cx="3908220" cy="48667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5CB7A01-2ED4-3E40-9401-A28CA02CF158}"/>
                  </a:ext>
                </a:extLst>
              </p:cNvPr>
              <p:cNvSpPr txBox="1"/>
              <p:nvPr/>
            </p:nvSpPr>
            <p:spPr>
              <a:xfrm>
                <a:off x="5744589" y="4318057"/>
                <a:ext cx="5297062" cy="4932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sSup>
                        <m:sSupPr>
                          <m:ctrlPr>
                            <a:rPr kumimoji="1" lang="en-US" altLang="zh-CN" sz="2400" i="1">
                              <a:latin typeface="Cambria Math" panose="02040503050406030204" pitchFamily="18" charset="0"/>
                            </a:rPr>
                          </m:ctrlPr>
                        </m:sSup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𝐷</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ℓ</m:t>
                                  </m:r>
                                </m:e>
                              </m:d>
                            </m:sup>
                          </m:sSup>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r>
                            <a:rPr kumimoji="1" lang="en-US" altLang="zh-CN" sz="2400" i="1">
                              <a:latin typeface="Cambria Math" panose="02040503050406030204" pitchFamily="18" charset="0"/>
                            </a:rPr>
                            <m:t>⊤</m:t>
                          </m:r>
                        </m:sup>
                      </m:sSup>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sSup>
                            <m:sSupPr>
                              <m:ctrlPr>
                                <a:rPr kumimoji="1" lang="en-US" altLang="zh-CN" sz="2400" i="1">
                                  <a:latin typeface="Cambria Math" panose="02040503050406030204" pitchFamily="18" charset="0"/>
                                </a:rPr>
                              </m:ctrlPr>
                            </m:sSup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𝐷</m:t>
                                  </m:r>
                                </m:e>
                                <m:sup>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−1</m:t>
                                      </m:r>
                                    </m:e>
                                  </m:d>
                                </m:sup>
                              </m:sSup>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𝐿</m:t>
                                  </m:r>
                                </m:e>
                              </m:d>
                              <m:r>
                                <a:rPr kumimoji="1" lang="en-US" altLang="zh-CN" sz="2400" i="1">
                                  <a:latin typeface="Cambria Math" panose="02040503050406030204" pitchFamily="18" charset="0"/>
                                </a:rPr>
                                <m:t>⊤</m:t>
                              </m:r>
                            </m:sup>
                          </m:sSup>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𝐿</m:t>
                              </m:r>
                            </m:e>
                          </m:d>
                        </m:sup>
                      </m:sSup>
                    </m:oMath>
                  </m:oMathPara>
                </a14:m>
                <a:endParaRPr lang="zh-CN" altLang="en-US" sz="2400" dirty="0">
                  <a:solidFill>
                    <a:schemeClr val="tx1"/>
                  </a:solidFill>
                </a:endParaRPr>
              </a:p>
            </p:txBody>
          </p:sp>
        </mc:Choice>
        <mc:Fallback xmlns="">
          <p:sp>
            <p:nvSpPr>
              <p:cNvPr id="15" name="文本框 14">
                <a:extLst>
                  <a:ext uri="{FF2B5EF4-FFF2-40B4-BE49-F238E27FC236}">
                    <a16:creationId xmlns:a16="http://schemas.microsoft.com/office/drawing/2014/main" id="{25CB7A01-2ED4-3E40-9401-A28CA02CF158}"/>
                  </a:ext>
                </a:extLst>
              </p:cNvPr>
              <p:cNvSpPr txBox="1">
                <a:spLocks noRot="1" noChangeAspect="1" noMove="1" noResize="1" noEditPoints="1" noAdjustHandles="1" noChangeArrowheads="1" noChangeShapeType="1" noTextEdit="1"/>
              </p:cNvSpPr>
              <p:nvPr/>
            </p:nvSpPr>
            <p:spPr>
              <a:xfrm>
                <a:off x="5744589" y="4318057"/>
                <a:ext cx="5297062" cy="493277"/>
              </a:xfrm>
              <a:prstGeom prst="rect">
                <a:avLst/>
              </a:prstGeom>
              <a:blipFill>
                <a:blip r:embed="rId6"/>
                <a:stretch>
                  <a:fillRect/>
                </a:stretch>
              </a:blipFill>
            </p:spPr>
            <p:txBody>
              <a:bodyPr/>
              <a:lstStyle/>
              <a:p>
                <a:r>
                  <a:rPr lang="zh-CN" altLang="en-US">
                    <a:noFill/>
                  </a:rPr>
                  <a:t> </a:t>
                </a:r>
              </a:p>
            </p:txBody>
          </p:sp>
        </mc:Fallback>
      </mc:AlternateContent>
      <p:sp>
        <p:nvSpPr>
          <p:cNvPr id="16" name="燕尾形箭头 15">
            <a:extLst>
              <a:ext uri="{FF2B5EF4-FFF2-40B4-BE49-F238E27FC236}">
                <a16:creationId xmlns:a16="http://schemas.microsoft.com/office/drawing/2014/main" id="{57B6F13A-8F6B-3E42-AB7E-EDEBB21C08BB}"/>
              </a:ext>
            </a:extLst>
          </p:cNvPr>
          <p:cNvSpPr/>
          <p:nvPr/>
        </p:nvSpPr>
        <p:spPr bwMode="auto">
          <a:xfrm>
            <a:off x="5005137" y="4268501"/>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F7291C6-73FF-F042-9F78-E701851BCF73}"/>
                  </a:ext>
                </a:extLst>
              </p:cNvPr>
              <p:cNvSpPr txBox="1"/>
              <p:nvPr/>
            </p:nvSpPr>
            <p:spPr>
              <a:xfrm>
                <a:off x="3045994" y="4770475"/>
                <a:ext cx="6100010" cy="8807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solidFill>
                                <a:srgbClr val="C00000"/>
                              </a:solidFill>
                              <a:latin typeface="Cambria Math" panose="02040503050406030204" pitchFamily="18" charset="0"/>
                            </a:rPr>
                          </m:ctrlPr>
                        </m:dPr>
                        <m:e>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𝛿</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m:t>
                                  </m:r>
                                </m:e>
                              </m:d>
                            </m:sup>
                          </m:sSup>
                        </m:e>
                      </m:d>
                      <m:r>
                        <a:rPr lang="en-US" altLang="zh-CN" sz="2400" b="0" i="1" smtClean="0">
                          <a:solidFill>
                            <a:srgbClr val="C00000"/>
                          </a:solidFill>
                          <a:latin typeface="Cambria Math" panose="02040503050406030204" pitchFamily="18" charset="0"/>
                        </a:rPr>
                        <m:t>≤</m:t>
                      </m:r>
                      <m:d>
                        <m:dPr>
                          <m:begChr m:val="‖"/>
                          <m:endChr m:val="‖"/>
                          <m:ctrlPr>
                            <a:rPr lang="en-US" altLang="zh-CN" sz="2400" i="1">
                              <a:solidFill>
                                <a:srgbClr val="C00000"/>
                              </a:solidFill>
                              <a:latin typeface="Cambria Math" panose="02040503050406030204" pitchFamily="18" charset="0"/>
                            </a:rPr>
                          </m:ctrlPr>
                        </m:dPr>
                        <m:e>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𝛿</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e>
                      </m:d>
                      <m:nary>
                        <m:naryPr>
                          <m:chr m:val="∏"/>
                          <m:limLoc m:val="subSup"/>
                          <m:ctrlPr>
                            <a:rPr lang="en-US" altLang="zh-CN" sz="2400" b="0" i="1" smtClean="0">
                              <a:solidFill>
                                <a:srgbClr val="C00000"/>
                              </a:solidFill>
                              <a:latin typeface="Cambria Math" panose="02040503050406030204" pitchFamily="18" charset="0"/>
                            </a:rPr>
                          </m:ctrlPr>
                        </m:naryPr>
                        <m:sub>
                          <m:r>
                            <m:rPr>
                              <m:brk m:alnAt="25"/>
                            </m:rPr>
                            <a:rPr lang="en-US" altLang="zh-CN" sz="2400" b="0" i="1" smtClean="0">
                              <a:solidFill>
                                <a:srgbClr val="C00000"/>
                              </a:solidFill>
                              <a:latin typeface="Cambria Math" panose="02040503050406030204" pitchFamily="18" charset="0"/>
                            </a:rPr>
                            <m:t>𝑘</m:t>
                          </m:r>
                          <m:r>
                            <a:rPr lang="en-US" altLang="zh-CN" sz="2400" b="0" i="1" smtClean="0">
                              <a:solidFill>
                                <a:srgbClr val="C00000"/>
                              </a:solidFill>
                              <a:latin typeface="Cambria Math" panose="02040503050406030204" pitchFamily="18" charset="0"/>
                            </a:rPr>
                            <m:t>=ℓ</m:t>
                          </m:r>
                        </m:sub>
                        <m:sup>
                          <m:r>
                            <a:rPr lang="en-US" altLang="zh-CN" sz="2400" b="0" i="1" smtClean="0">
                              <a:solidFill>
                                <a:srgbClr val="C00000"/>
                              </a:solidFill>
                              <a:latin typeface="Cambria Math" panose="02040503050406030204" pitchFamily="18" charset="0"/>
                            </a:rPr>
                            <m:t>𝐿</m:t>
                          </m:r>
                          <m:r>
                            <a:rPr lang="en-US" altLang="zh-CN" sz="2400" b="0" i="1" smtClean="0">
                              <a:solidFill>
                                <a:srgbClr val="C00000"/>
                              </a:solidFill>
                              <a:latin typeface="Cambria Math" panose="02040503050406030204" pitchFamily="18" charset="0"/>
                            </a:rPr>
                            <m:t>−1</m:t>
                          </m:r>
                        </m:sup>
                        <m:e>
                          <m:d>
                            <m:dPr>
                              <m:ctrlPr>
                                <a:rPr lang="en-US" altLang="zh-CN" sz="2400" b="0" i="1" smtClean="0">
                                  <a:solidFill>
                                    <a:srgbClr val="C00000"/>
                                  </a:solidFill>
                                  <a:latin typeface="Cambria Math" panose="02040503050406030204" pitchFamily="18" charset="0"/>
                                </a:rPr>
                              </m:ctrlPr>
                            </m:dPr>
                            <m:e>
                              <m:d>
                                <m:dPr>
                                  <m:begChr m:val="‖"/>
                                  <m:endChr m:val="‖"/>
                                  <m:ctrlPr>
                                    <a:rPr lang="en-US" altLang="zh-CN" sz="2400" i="1">
                                      <a:solidFill>
                                        <a:srgbClr val="C00000"/>
                                      </a:solidFill>
                                      <a:latin typeface="Cambria Math" panose="02040503050406030204" pitchFamily="18" charset="0"/>
                                    </a:rPr>
                                  </m:ctrlPr>
                                </m:dPr>
                                <m:e>
                                  <m:sSup>
                                    <m:sSupPr>
                                      <m:ctrlPr>
                                        <a:rPr lang="en-US" altLang="zh-CN" sz="2400" i="1">
                                          <a:solidFill>
                                            <a:srgbClr val="C00000"/>
                                          </a:solidFill>
                                          <a:latin typeface="Cambria Math" panose="02040503050406030204" pitchFamily="18" charset="0"/>
                                        </a:rPr>
                                      </m:ctrlPr>
                                    </m:sSupPr>
                                    <m:e>
                                      <m:r>
                                        <a:rPr lang="en-US" altLang="zh-CN" sz="2400" i="1">
                                          <a:solidFill>
                                            <a:srgbClr val="C00000"/>
                                          </a:solidFill>
                                          <a:latin typeface="Cambria Math" panose="02040503050406030204" pitchFamily="18" charset="0"/>
                                        </a:rPr>
                                        <m:t>𝐷</m:t>
                                      </m:r>
                                    </m:e>
                                    <m:sup>
                                      <m:d>
                                        <m:dPr>
                                          <m:ctrlPr>
                                            <a:rPr lang="en-US" altLang="zh-CN" sz="2400" i="1">
                                              <a:solidFill>
                                                <a:srgbClr val="C00000"/>
                                              </a:solidFill>
                                              <a:latin typeface="Cambria Math" panose="02040503050406030204" pitchFamily="18" charset="0"/>
                                            </a:rPr>
                                          </m:ctrlPr>
                                        </m:dPr>
                                        <m:e>
                                          <m:r>
                                            <a:rPr lang="en-US" altLang="zh-CN" sz="2400" i="1">
                                              <a:solidFill>
                                                <a:srgbClr val="C00000"/>
                                              </a:solidFill>
                                              <a:latin typeface="Cambria Math" panose="02040503050406030204" pitchFamily="18" charset="0"/>
                                            </a:rPr>
                                            <m:t>𝑘</m:t>
                                          </m:r>
                                        </m:e>
                                      </m:d>
                                    </m:sup>
                                  </m:sSup>
                                </m:e>
                              </m:d>
                              <m:d>
                                <m:dPr>
                                  <m:begChr m:val="‖"/>
                                  <m:endChr m:val="‖"/>
                                  <m:ctrlPr>
                                    <a:rPr lang="en-US" altLang="zh-CN" sz="2400" i="1">
                                      <a:solidFill>
                                        <a:srgbClr val="C00000"/>
                                      </a:solidFill>
                                      <a:latin typeface="Cambria Math" panose="02040503050406030204" pitchFamily="18" charset="0"/>
                                    </a:rPr>
                                  </m:ctrlPr>
                                </m:dPr>
                                <m:e>
                                  <m:sSup>
                                    <m:sSupPr>
                                      <m:ctrlPr>
                                        <a:rPr lang="en-US" altLang="zh-CN" sz="2400" i="1">
                                          <a:solidFill>
                                            <a:srgbClr val="C00000"/>
                                          </a:solidFill>
                                          <a:latin typeface="Cambria Math" panose="02040503050406030204" pitchFamily="18" charset="0"/>
                                        </a:rPr>
                                      </m:ctrlPr>
                                    </m:sSupPr>
                                    <m:e>
                                      <m:r>
                                        <a:rPr lang="en-US" altLang="zh-CN" sz="2400" i="1">
                                          <a:solidFill>
                                            <a:srgbClr val="C00000"/>
                                          </a:solidFill>
                                          <a:latin typeface="Cambria Math" panose="02040503050406030204" pitchFamily="18" charset="0"/>
                                        </a:rPr>
                                        <m:t>𝑊</m:t>
                                      </m:r>
                                    </m:e>
                                    <m:sup>
                                      <m:d>
                                        <m:dPr>
                                          <m:ctrlPr>
                                            <a:rPr lang="en-US" altLang="zh-CN" sz="2400" i="1">
                                              <a:solidFill>
                                                <a:srgbClr val="C00000"/>
                                              </a:solidFill>
                                              <a:latin typeface="Cambria Math" panose="02040503050406030204" pitchFamily="18" charset="0"/>
                                            </a:rPr>
                                          </m:ctrlPr>
                                        </m:dPr>
                                        <m:e>
                                          <m:r>
                                            <a:rPr lang="en-US" altLang="zh-CN" sz="2400" i="1">
                                              <a:solidFill>
                                                <a:srgbClr val="C00000"/>
                                              </a:solidFill>
                                              <a:latin typeface="Cambria Math" panose="02040503050406030204" pitchFamily="18" charset="0"/>
                                            </a:rPr>
                                            <m:t>𝑘</m:t>
                                          </m:r>
                                          <m:r>
                                            <a:rPr lang="en-US" altLang="zh-CN" sz="2400" i="1">
                                              <a:solidFill>
                                                <a:srgbClr val="C00000"/>
                                              </a:solidFill>
                                              <a:latin typeface="Cambria Math" panose="02040503050406030204" pitchFamily="18" charset="0"/>
                                            </a:rPr>
                                            <m:t>+1</m:t>
                                          </m:r>
                                        </m:e>
                                      </m:d>
                                    </m:sup>
                                  </m:sSup>
                                </m:e>
                              </m:d>
                            </m:e>
                          </m:d>
                        </m:e>
                      </m:nary>
                    </m:oMath>
                  </m:oMathPara>
                </a14:m>
                <a:endParaRPr lang="zh-CN" altLang="en-US" sz="2400" dirty="0">
                  <a:solidFill>
                    <a:srgbClr val="C00000"/>
                  </a:solidFill>
                </a:endParaRPr>
              </a:p>
            </p:txBody>
          </p:sp>
        </mc:Choice>
        <mc:Fallback xmlns="">
          <p:sp>
            <p:nvSpPr>
              <p:cNvPr id="18" name="文本框 17">
                <a:extLst>
                  <a:ext uri="{FF2B5EF4-FFF2-40B4-BE49-F238E27FC236}">
                    <a16:creationId xmlns:a16="http://schemas.microsoft.com/office/drawing/2014/main" id="{9F7291C6-73FF-F042-9F78-E701851BCF73}"/>
                  </a:ext>
                </a:extLst>
              </p:cNvPr>
              <p:cNvSpPr txBox="1">
                <a:spLocks noRot="1" noChangeAspect="1" noMove="1" noResize="1" noEditPoints="1" noAdjustHandles="1" noChangeArrowheads="1" noChangeShapeType="1" noTextEdit="1"/>
              </p:cNvSpPr>
              <p:nvPr/>
            </p:nvSpPr>
            <p:spPr>
              <a:xfrm>
                <a:off x="3045994" y="4770475"/>
                <a:ext cx="6100010" cy="880754"/>
              </a:xfrm>
              <a:prstGeom prst="rect">
                <a:avLst/>
              </a:prstGeom>
              <a:blipFill>
                <a:blip r:embed="rId7"/>
                <a:stretch>
                  <a:fillRect/>
                </a:stretch>
              </a:blipFill>
            </p:spPr>
            <p:txBody>
              <a:bodyPr/>
              <a:lstStyle/>
              <a:p>
                <a:r>
                  <a:rPr lang="zh-CN" altLang="en-US">
                    <a:noFill/>
                  </a:rPr>
                  <a:t> </a:t>
                </a:r>
              </a:p>
            </p:txBody>
          </p:sp>
        </mc:Fallback>
      </mc:AlternateContent>
      <p:sp>
        <p:nvSpPr>
          <p:cNvPr id="19" name="燕尾形箭头 18">
            <a:extLst>
              <a:ext uri="{FF2B5EF4-FFF2-40B4-BE49-F238E27FC236}">
                <a16:creationId xmlns:a16="http://schemas.microsoft.com/office/drawing/2014/main" id="{0528F323-171B-4A4F-8682-4C3F8366E987}"/>
              </a:ext>
            </a:extLst>
          </p:cNvPr>
          <p:cNvSpPr/>
          <p:nvPr/>
        </p:nvSpPr>
        <p:spPr bwMode="auto">
          <a:xfrm>
            <a:off x="2492316" y="4994559"/>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5" name="文本框 4">
            <a:extLst>
              <a:ext uri="{FF2B5EF4-FFF2-40B4-BE49-F238E27FC236}">
                <a16:creationId xmlns:a16="http://schemas.microsoft.com/office/drawing/2014/main" id="{86F661FE-5F70-5F45-94EA-40E1713EEB9F}"/>
              </a:ext>
            </a:extLst>
          </p:cNvPr>
          <p:cNvSpPr txBox="1"/>
          <p:nvPr/>
        </p:nvSpPr>
        <p:spPr>
          <a:xfrm>
            <a:off x="4699292" y="6125517"/>
            <a:ext cx="1415772" cy="461665"/>
          </a:xfrm>
          <a:prstGeom prst="rect">
            <a:avLst/>
          </a:prstGeom>
          <a:noFill/>
        </p:spPr>
        <p:txBody>
          <a:bodyPr wrap="none" rtlCol="0">
            <a:spAutoFit/>
          </a:bodyPr>
          <a:lstStyle/>
          <a:p>
            <a:r>
              <a:rPr kumimoji="1" lang="zh-CN" altLang="en-US" sz="2400" b="1" dirty="0">
                <a:solidFill>
                  <a:srgbClr val="C00000"/>
                </a:solidFill>
              </a:rPr>
              <a:t>梯度爆炸</a:t>
            </a:r>
          </a:p>
        </p:txBody>
      </p:sp>
      <p:sp>
        <p:nvSpPr>
          <p:cNvPr id="21" name="文本框 20">
            <a:extLst>
              <a:ext uri="{FF2B5EF4-FFF2-40B4-BE49-F238E27FC236}">
                <a16:creationId xmlns:a16="http://schemas.microsoft.com/office/drawing/2014/main" id="{C33929FA-30A4-7B40-AC22-B2FE6CC69F87}"/>
              </a:ext>
            </a:extLst>
          </p:cNvPr>
          <p:cNvSpPr txBox="1"/>
          <p:nvPr/>
        </p:nvSpPr>
        <p:spPr>
          <a:xfrm>
            <a:off x="8393120" y="6068852"/>
            <a:ext cx="1415772" cy="461665"/>
          </a:xfrm>
          <a:prstGeom prst="rect">
            <a:avLst/>
          </a:prstGeom>
          <a:noFill/>
        </p:spPr>
        <p:txBody>
          <a:bodyPr wrap="none" rtlCol="0">
            <a:spAutoFit/>
          </a:bodyPr>
          <a:lstStyle/>
          <a:p>
            <a:r>
              <a:rPr kumimoji="1" lang="zh-CN" altLang="en-US" sz="2400" b="1" dirty="0">
                <a:solidFill>
                  <a:srgbClr val="C00000"/>
                </a:solidFill>
              </a:rPr>
              <a:t>梯度消失</a:t>
            </a:r>
          </a:p>
        </p:txBody>
      </p:sp>
      <p:sp>
        <p:nvSpPr>
          <p:cNvPr id="22" name="Straight Arrow Connector 35">
            <a:extLst>
              <a:ext uri="{FF2B5EF4-FFF2-40B4-BE49-F238E27FC236}">
                <a16:creationId xmlns:a16="http://schemas.microsoft.com/office/drawing/2014/main" id="{BDD1ED0B-1278-A849-9A11-2EAB017FDE97}"/>
              </a:ext>
            </a:extLst>
          </p:cNvPr>
          <p:cNvSpPr/>
          <p:nvPr/>
        </p:nvSpPr>
        <p:spPr>
          <a:xfrm flipH="1">
            <a:off x="5126834" y="5620599"/>
            <a:ext cx="2127258" cy="504918"/>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p:sp>
        <p:nvSpPr>
          <p:cNvPr id="23" name="Straight Arrow Connector 35">
            <a:extLst>
              <a:ext uri="{FF2B5EF4-FFF2-40B4-BE49-F238E27FC236}">
                <a16:creationId xmlns:a16="http://schemas.microsoft.com/office/drawing/2014/main" id="{18D1C029-0A38-7E48-A25C-34B11F5E3535}"/>
              </a:ext>
            </a:extLst>
          </p:cNvPr>
          <p:cNvSpPr/>
          <p:nvPr/>
        </p:nvSpPr>
        <p:spPr>
          <a:xfrm>
            <a:off x="7406492" y="5620599"/>
            <a:ext cx="1674980" cy="461665"/>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96B6F2D-BEA3-9146-8EEB-ECFF2AB7D9B1}"/>
                  </a:ext>
                </a:extLst>
              </p:cNvPr>
              <p:cNvSpPr txBox="1"/>
              <p:nvPr/>
            </p:nvSpPr>
            <p:spPr>
              <a:xfrm>
                <a:off x="6081130" y="5803081"/>
                <a:ext cx="7558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solidFill>
                            <a:srgbClr val="C00000"/>
                          </a:solidFill>
                          <a:latin typeface="Cambria Math" panose="02040503050406030204" pitchFamily="18" charset="0"/>
                        </a:rPr>
                        <m:t>&gt;1</m:t>
                      </m:r>
                    </m:oMath>
                  </m:oMathPara>
                </a14:m>
                <a:endParaRPr kumimoji="1" lang="zh-CN" altLang="en-US" sz="2400" dirty="0">
                  <a:solidFill>
                    <a:srgbClr val="C00000"/>
                  </a:solidFill>
                </a:endParaRPr>
              </a:p>
            </p:txBody>
          </p:sp>
        </mc:Choice>
        <mc:Fallback xmlns="">
          <p:sp>
            <p:nvSpPr>
              <p:cNvPr id="8" name="文本框 7">
                <a:extLst>
                  <a:ext uri="{FF2B5EF4-FFF2-40B4-BE49-F238E27FC236}">
                    <a16:creationId xmlns:a16="http://schemas.microsoft.com/office/drawing/2014/main" id="{F96B6F2D-BEA3-9146-8EEB-ECFF2AB7D9B1}"/>
                  </a:ext>
                </a:extLst>
              </p:cNvPr>
              <p:cNvSpPr txBox="1">
                <a:spLocks noRot="1" noChangeAspect="1" noMove="1" noResize="1" noEditPoints="1" noAdjustHandles="1" noChangeArrowheads="1" noChangeShapeType="1" noTextEdit="1"/>
              </p:cNvSpPr>
              <p:nvPr/>
            </p:nvSpPr>
            <p:spPr>
              <a:xfrm>
                <a:off x="6081130" y="5803081"/>
                <a:ext cx="755848" cy="4616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60F92F53-3302-0945-99AD-9A222A5FF8F0}"/>
                  </a:ext>
                </a:extLst>
              </p:cNvPr>
              <p:cNvSpPr txBox="1"/>
              <p:nvPr/>
            </p:nvSpPr>
            <p:spPr>
              <a:xfrm>
                <a:off x="7696157" y="5757642"/>
                <a:ext cx="7558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solidFill>
                            <a:srgbClr val="C00000"/>
                          </a:solidFill>
                          <a:latin typeface="Cambria Math" panose="02040503050406030204" pitchFamily="18" charset="0"/>
                        </a:rPr>
                        <m:t>&lt;1</m:t>
                      </m:r>
                    </m:oMath>
                  </m:oMathPara>
                </a14:m>
                <a:endParaRPr kumimoji="1" lang="zh-CN" altLang="en-US" sz="2400" dirty="0">
                  <a:solidFill>
                    <a:srgbClr val="C00000"/>
                  </a:solidFill>
                </a:endParaRPr>
              </a:p>
            </p:txBody>
          </p:sp>
        </mc:Choice>
        <mc:Fallback xmlns="">
          <p:sp>
            <p:nvSpPr>
              <p:cNvPr id="26" name="文本框 25">
                <a:extLst>
                  <a:ext uri="{FF2B5EF4-FFF2-40B4-BE49-F238E27FC236}">
                    <a16:creationId xmlns:a16="http://schemas.microsoft.com/office/drawing/2014/main" id="{60F92F53-3302-0945-99AD-9A222A5FF8F0}"/>
                  </a:ext>
                </a:extLst>
              </p:cNvPr>
              <p:cNvSpPr txBox="1">
                <a:spLocks noRot="1" noChangeAspect="1" noMove="1" noResize="1" noEditPoints="1" noAdjustHandles="1" noChangeArrowheads="1" noChangeShapeType="1" noTextEdit="1"/>
              </p:cNvSpPr>
              <p:nvPr/>
            </p:nvSpPr>
            <p:spPr>
              <a:xfrm>
                <a:off x="7696157" y="5757642"/>
                <a:ext cx="755848" cy="46166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4B1FF36-2D1D-4831-93DA-2BE12CEAC120}"/>
                  </a:ext>
                </a:extLst>
              </p:cNvPr>
              <p:cNvSpPr txBox="1"/>
              <p:nvPr/>
            </p:nvSpPr>
            <p:spPr>
              <a:xfrm>
                <a:off x="122097" y="5604333"/>
                <a:ext cx="6101254" cy="369332"/>
              </a:xfrm>
              <a:prstGeom prst="rect">
                <a:avLst/>
              </a:prstGeom>
              <a:noFill/>
            </p:spPr>
            <p:txBody>
              <a:bodyPr wrap="square">
                <a:spAutoFit/>
              </a:bodyPr>
              <a:lstStyle/>
              <a:p>
                <a:r>
                  <a:rPr lang="zh-CN" altLang="en-US" sz="1800" dirty="0">
                    <a:solidFill>
                      <a:srgbClr val="C00000"/>
                    </a:solidFill>
                  </a:rPr>
                  <a:t>对于</a:t>
                </a:r>
                <a14:m>
                  <m:oMath xmlns:m="http://schemas.openxmlformats.org/officeDocument/2006/math">
                    <m:r>
                      <a:rPr lang="zh-CN" altLang="en-US" i="1">
                        <a:solidFill>
                          <a:srgbClr val="C00000"/>
                        </a:solidFill>
                        <a:latin typeface="Cambria Math" panose="02040503050406030204" pitchFamily="18" charset="0"/>
                      </a:rPr>
                      <m:t>任意</m:t>
                    </m:r>
                    <m:r>
                      <a:rPr lang="zh-CN" altLang="en-US" i="1" smtClean="0">
                        <a:solidFill>
                          <a:srgbClr val="C00000"/>
                        </a:solidFill>
                        <a:latin typeface="Cambria Math" panose="02040503050406030204" pitchFamily="18" charset="0"/>
                      </a:rPr>
                      <m:t>矩阵</m:t>
                    </m:r>
                    <m:r>
                      <a:rPr kumimoji="1" lang="en-US" altLang="zh-CN" b="1" i="1">
                        <a:solidFill>
                          <a:srgbClr val="C00000"/>
                        </a:solidFill>
                        <a:latin typeface="Cambria Math" panose="02040503050406030204" pitchFamily="18" charset="0"/>
                      </a:rPr>
                      <m:t>𝑨</m:t>
                    </m:r>
                    <m:r>
                      <a:rPr lang="zh-CN" altLang="en-US" i="1" smtClean="0">
                        <a:solidFill>
                          <a:srgbClr val="C00000"/>
                        </a:solidFill>
                        <a:latin typeface="Cambria Math" panose="02040503050406030204" pitchFamily="18" charset="0"/>
                      </a:rPr>
                      <m:t>和</m:t>
                    </m:r>
                    <m:r>
                      <a:rPr lang="zh-CN" altLang="en-US" i="1">
                        <a:solidFill>
                          <a:srgbClr val="C00000"/>
                        </a:solidFill>
                        <a:latin typeface="Cambria Math" panose="02040503050406030204" pitchFamily="18" charset="0"/>
                      </a:rPr>
                      <m:t>向量</m:t>
                    </m:r>
                    <m:r>
                      <a:rPr kumimoji="1" lang="en-US" altLang="zh-CN" i="1">
                        <a:solidFill>
                          <a:srgbClr val="C00000"/>
                        </a:solidFill>
                        <a:latin typeface="Cambria Math" panose="02040503050406030204" pitchFamily="18" charset="0"/>
                      </a:rPr>
                      <m:t>𝑣</m:t>
                    </m:r>
                    <m:r>
                      <a:rPr lang="zh-CN" altLang="en-US" i="1">
                        <a:solidFill>
                          <a:srgbClr val="C00000"/>
                        </a:solidFill>
                        <a:latin typeface="Cambria Math" panose="02040503050406030204" pitchFamily="18" charset="0"/>
                      </a:rPr>
                      <m:t>，</m:t>
                    </m:r>
                    <m:r>
                      <a:rPr lang="zh-CN" altLang="en-US" i="1" smtClean="0">
                        <a:solidFill>
                          <a:srgbClr val="C00000"/>
                        </a:solidFill>
                        <a:latin typeface="Cambria Math" panose="02040503050406030204" pitchFamily="18" charset="0"/>
                      </a:rPr>
                      <m:t>有</m:t>
                    </m:r>
                    <m:d>
                      <m:dPr>
                        <m:begChr m:val="‖"/>
                        <m:endChr m:val="‖"/>
                        <m:ctrlPr>
                          <a:rPr lang="en-US" altLang="zh-CN" sz="1800" i="1" smtClean="0">
                            <a:solidFill>
                              <a:srgbClr val="C00000"/>
                            </a:solidFill>
                            <a:latin typeface="Cambria Math" panose="02040503050406030204" pitchFamily="18" charset="0"/>
                          </a:rPr>
                        </m:ctrlPr>
                      </m:dPr>
                      <m:e>
                        <m:r>
                          <a:rPr kumimoji="1" lang="en-US" altLang="zh-CN" b="1" i="1">
                            <a:solidFill>
                              <a:srgbClr val="C00000"/>
                            </a:solidFill>
                            <a:latin typeface="Cambria Math" panose="02040503050406030204" pitchFamily="18" charset="0"/>
                          </a:rPr>
                          <m:t>𝑨</m:t>
                        </m:r>
                        <m:r>
                          <a:rPr kumimoji="1" lang="en-US" altLang="zh-CN" b="0" i="1" smtClean="0">
                            <a:solidFill>
                              <a:srgbClr val="C00000"/>
                            </a:solidFill>
                            <a:latin typeface="Cambria Math" panose="02040503050406030204" pitchFamily="18" charset="0"/>
                          </a:rPr>
                          <m:t>𝑣</m:t>
                        </m:r>
                      </m:e>
                    </m:d>
                  </m:oMath>
                </a14:m>
                <a:r>
                  <a:rPr lang="en-US" altLang="zh-CN" dirty="0">
                    <a:solidFill>
                      <a:srgbClr val="C00000"/>
                    </a:solidFill>
                  </a:rPr>
                  <a:t> </a:t>
                </a:r>
                <a14:m>
                  <m:oMath xmlns:m="http://schemas.openxmlformats.org/officeDocument/2006/math">
                    <m:r>
                      <a:rPr lang="en-US" altLang="zh-CN" i="1">
                        <a:solidFill>
                          <a:srgbClr val="C00000"/>
                        </a:solidFill>
                        <a:latin typeface="Cambria Math" panose="02040503050406030204" pitchFamily="18" charset="0"/>
                      </a:rPr>
                      <m:t>≤</m:t>
                    </m:r>
                    <m:d>
                      <m:dPr>
                        <m:begChr m:val="‖"/>
                        <m:endChr m:val="‖"/>
                        <m:ctrlPr>
                          <a:rPr lang="en-US" altLang="zh-CN" sz="1800" i="1" smtClean="0">
                            <a:solidFill>
                              <a:srgbClr val="C00000"/>
                            </a:solidFill>
                            <a:latin typeface="Cambria Math" panose="02040503050406030204" pitchFamily="18" charset="0"/>
                          </a:rPr>
                        </m:ctrlPr>
                      </m:dPr>
                      <m:e>
                        <m:r>
                          <a:rPr kumimoji="1" lang="en-US" altLang="zh-CN" b="1" i="1">
                            <a:solidFill>
                              <a:srgbClr val="C00000"/>
                            </a:solidFill>
                            <a:latin typeface="Cambria Math" panose="02040503050406030204" pitchFamily="18" charset="0"/>
                          </a:rPr>
                          <m:t>𝑨</m:t>
                        </m:r>
                      </m:e>
                    </m:d>
                    <m:d>
                      <m:dPr>
                        <m:begChr m:val="‖"/>
                        <m:endChr m:val="‖"/>
                        <m:ctrlPr>
                          <a:rPr lang="en-US" altLang="zh-CN" i="1">
                            <a:solidFill>
                              <a:srgbClr val="C00000"/>
                            </a:solidFill>
                            <a:latin typeface="Cambria Math" panose="02040503050406030204" pitchFamily="18" charset="0"/>
                          </a:rPr>
                        </m:ctrlPr>
                      </m:dPr>
                      <m:e>
                        <m:r>
                          <a:rPr kumimoji="1" lang="en-US" altLang="zh-CN" i="1">
                            <a:solidFill>
                              <a:srgbClr val="C00000"/>
                            </a:solidFill>
                            <a:latin typeface="Cambria Math" panose="02040503050406030204" pitchFamily="18" charset="0"/>
                          </a:rPr>
                          <m:t>𝑣</m:t>
                        </m:r>
                      </m:e>
                    </m:d>
                  </m:oMath>
                </a14:m>
                <a:endParaRPr lang="zh-CN" altLang="en-US" dirty="0"/>
              </a:p>
            </p:txBody>
          </p:sp>
        </mc:Choice>
        <mc:Fallback xmlns="">
          <p:sp>
            <p:nvSpPr>
              <p:cNvPr id="24" name="文本框 23">
                <a:extLst>
                  <a:ext uri="{FF2B5EF4-FFF2-40B4-BE49-F238E27FC236}">
                    <a16:creationId xmlns:a16="http://schemas.microsoft.com/office/drawing/2014/main" id="{B4B1FF36-2D1D-4831-93DA-2BE12CEAC120}"/>
                  </a:ext>
                </a:extLst>
              </p:cNvPr>
              <p:cNvSpPr txBox="1">
                <a:spLocks noRot="1" noChangeAspect="1" noMove="1" noResize="1" noEditPoints="1" noAdjustHandles="1" noChangeArrowheads="1" noChangeShapeType="1" noTextEdit="1"/>
              </p:cNvSpPr>
              <p:nvPr/>
            </p:nvSpPr>
            <p:spPr>
              <a:xfrm>
                <a:off x="122097" y="5604333"/>
                <a:ext cx="6101254" cy="369332"/>
              </a:xfrm>
              <a:prstGeom prst="rect">
                <a:avLst/>
              </a:prstGeom>
              <a:blipFill>
                <a:blip r:embed="rId10"/>
                <a:stretch>
                  <a:fillRect l="-799"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9165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5" grpId="0"/>
      <p:bldP spid="21" grpId="0"/>
      <p:bldP spid="22" grpId="0" animBg="1"/>
      <p:bldP spid="23" grpId="0" animBg="1"/>
      <p:bldP spid="8" grpId="0"/>
      <p:bldP spid="2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79</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4430059"/>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第</a:t>
                </a:r>
                <a14:m>
                  <m:oMath xmlns:m="http://schemas.openxmlformats.org/officeDocument/2006/math">
                    <m:r>
                      <a:rPr lang="en-US" altLang="zh-CN" sz="2400" b="0" i="1" smtClean="0">
                        <a:latin typeface="Cambria Math" panose="02040503050406030204" pitchFamily="18" charset="0"/>
                      </a:rPr>
                      <m:t>ℓ</m:t>
                    </m:r>
                  </m:oMath>
                </a14:m>
                <a:r>
                  <a:rPr lang="zh-CN" altLang="en-US" sz="2400" dirty="0"/>
                  <a:t>层梯度</a:t>
                </a:r>
                <a:r>
                  <a:rPr lang="en-US" altLang="zh-CN" sz="2400" dirty="0"/>
                  <a:t>(</a:t>
                </a:r>
                <a:r>
                  <a:rPr lang="zh-CN" altLang="en-US" sz="2400" dirty="0"/>
                  <a:t>重写</a:t>
                </a:r>
                <a:r>
                  <a:rPr lang="en-US" altLang="zh-CN" sz="2400" dirty="0"/>
                  <a:t>)</a:t>
                </a:r>
              </a:p>
              <a:p>
                <a:pPr>
                  <a:lnSpc>
                    <a:spcPct val="150000"/>
                  </a:lnSpc>
                </a:pPr>
                <a:endParaRPr lang="en-US" altLang="zh-CN" sz="2400" dirty="0"/>
              </a:p>
              <a:p>
                <a:pPr marL="342900" indent="-342900">
                  <a:lnSpc>
                    <a:spcPct val="150000"/>
                  </a:lnSpc>
                  <a:buFont typeface="Wingdings" pitchFamily="2" charset="2"/>
                  <a:buChar char="n"/>
                </a:pPr>
                <a:r>
                  <a:rPr lang="zh-CN" altLang="en-US" sz="2400" dirty="0"/>
                  <a:t>令</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𝐷</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ℓ</m:t>
                            </m:r>
                          </m:e>
                        </m:d>
                      </m:sup>
                    </m:sSup>
                    <m:r>
                      <a:rPr lang="en-US" altLang="zh-CN" sz="2400" i="1">
                        <a:latin typeface="Cambria Math" panose="02040503050406030204" pitchFamily="18" charset="0"/>
                      </a:rPr>
                      <m:t>=</m:t>
                    </m:r>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diag</m:t>
                        </m:r>
                      </m:fName>
                      <m:e>
                        <m:d>
                          <m:dPr>
                            <m:ctrlPr>
                              <a:rPr lang="en-US" altLang="zh-CN" sz="2400" b="0" i="1" smtClean="0">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r>
                                  <a:rPr kumimoji="1" lang="en-US" altLang="zh-CN" sz="2400" i="1">
                                    <a:latin typeface="Cambria Math" panose="02040503050406030204" pitchFamily="18" charset="0"/>
                                  </a:rPr>
                                  <m:t>′</m:t>
                                </m:r>
                              </m:sup>
                            </m:sSup>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e>
                            </m:d>
                          </m:e>
                        </m:d>
                      </m:e>
                    </m:func>
                  </m:oMath>
                </a14:m>
                <a:r>
                  <a:rPr lang="zh-CN" altLang="en-US" sz="2400" dirty="0"/>
                  <a:t>，对于</a:t>
                </a:r>
                <a14:m>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oMath>
                </a14:m>
                <a:r>
                  <a:rPr lang="zh-CN" altLang="en-US" sz="2400" dirty="0"/>
                  <a:t>又有：</a:t>
                </a:r>
                <a:endParaRPr lang="en-US" altLang="zh-CN" sz="2400" dirty="0"/>
              </a:p>
              <a:p>
                <a:pPr>
                  <a:lnSpc>
                    <a:spcPct val="150000"/>
                  </a:lnSpc>
                </a:pPr>
                <a:endParaRPr lang="en-US" altLang="zh-CN" sz="2400" dirty="0"/>
              </a:p>
              <a:p>
                <a:pPr marL="342900" indent="-342900">
                  <a:buFont typeface="Wingdings" pitchFamily="2" charset="2"/>
                  <a:buChar char="n"/>
                </a:pPr>
                <a:r>
                  <a:rPr lang="zh-CN" altLang="en-US" sz="2400" dirty="0"/>
                  <a:t>对于</a:t>
                </a:r>
                <a:r>
                  <a:rPr lang="en-US" altLang="zh-CN" sz="2400" dirty="0"/>
                  <a:t>Sigmoid</a:t>
                </a:r>
                <a:r>
                  <a:rPr lang="zh-CN" altLang="en-US" sz="2400" dirty="0"/>
                  <a:t>函数</a:t>
                </a: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endParaRPr lang="en-US" altLang="zh-CN" sz="2400" dirty="0"/>
              </a:p>
              <a:p>
                <a:pPr marL="800100" lvl="1" indent="-342900">
                  <a:buFont typeface="Wingdings" pitchFamily="2" charset="2"/>
                  <a:buChar char="p"/>
                </a:pPr>
                <a:r>
                  <a:rPr lang="zh-CN" altLang="en-US" sz="2400" dirty="0">
                    <a:solidFill>
                      <a:srgbClr val="C00000"/>
                    </a:solidFill>
                  </a:rPr>
                  <a:t>容易梯度消失</a:t>
                </a:r>
                <a:endParaRPr lang="en-US" altLang="zh-CN" sz="2400" dirty="0">
                  <a:solidFill>
                    <a:srgbClr val="C00000"/>
                  </a:solidFill>
                </a:endParaRPr>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4430059"/>
              </a:xfrm>
              <a:prstGeom prst="rect">
                <a:avLst/>
              </a:prstGeom>
              <a:blipFill>
                <a:blip r:embed="rId3"/>
                <a:stretch>
                  <a:fillRect l="-1311" b="-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B402517-44EF-2D4B-B27C-2FD6AA02B732}"/>
                  </a:ext>
                </a:extLst>
              </p:cNvPr>
              <p:cNvSpPr txBox="1"/>
              <p:nvPr/>
            </p:nvSpPr>
            <p:spPr>
              <a:xfrm>
                <a:off x="1918681" y="2787061"/>
                <a:ext cx="8354635"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oMath>
                  </m:oMathPara>
                </a14:m>
                <a:endParaRPr lang="zh-CN" altLang="en-US" sz="2400" dirty="0"/>
              </a:p>
            </p:txBody>
          </p:sp>
        </mc:Choice>
        <mc:Fallback xmlns="">
          <p:sp>
            <p:nvSpPr>
              <p:cNvPr id="46" name="文本框 45">
                <a:extLst>
                  <a:ext uri="{FF2B5EF4-FFF2-40B4-BE49-F238E27FC236}">
                    <a16:creationId xmlns:a16="http://schemas.microsoft.com/office/drawing/2014/main" id="{9B402517-44EF-2D4B-B27C-2FD6AA02B732}"/>
                  </a:ext>
                </a:extLst>
              </p:cNvPr>
              <p:cNvSpPr txBox="1">
                <a:spLocks noRot="1" noChangeAspect="1" noMove="1" noResize="1" noEditPoints="1" noAdjustHandles="1" noChangeArrowheads="1" noChangeShapeType="1" noTextEdit="1"/>
              </p:cNvSpPr>
              <p:nvPr/>
            </p:nvSpPr>
            <p:spPr>
              <a:xfrm>
                <a:off x="1918681" y="2787061"/>
                <a:ext cx="8354635" cy="875432"/>
              </a:xfrm>
              <a:prstGeom prst="rect">
                <a:avLst/>
              </a:prstGeom>
              <a:blipFill>
                <a:blip r:embed="rId4"/>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8BA5B93-FE9C-4E43-9598-70A58E4A7579}"/>
                  </a:ext>
                </a:extLst>
              </p:cNvPr>
              <p:cNvSpPr txBox="1"/>
              <p:nvPr/>
            </p:nvSpPr>
            <p:spPr>
              <a:xfrm>
                <a:off x="3045993" y="4161175"/>
                <a:ext cx="6100010" cy="84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𝛿</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e>
                      </m:d>
                      <m:r>
                        <a:rPr lang="en-US" altLang="zh-CN" sz="2400" b="0" i="1" smtClean="0">
                          <a:solidFill>
                            <a:schemeClr val="tx1"/>
                          </a:solidFill>
                          <a:latin typeface="Cambria Math" panose="02040503050406030204" pitchFamily="18" charset="0"/>
                        </a:rPr>
                        <m:t>≤</m:t>
                      </m:r>
                      <m:d>
                        <m:dPr>
                          <m:begChr m:val="‖"/>
                          <m:endChr m:val="‖"/>
                          <m:ctrlPr>
                            <a:rPr lang="en-US" altLang="zh-CN" sz="2400" i="1">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𝛿</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𝐿</m:t>
                                  </m:r>
                                </m:e>
                              </m:d>
                            </m:sup>
                          </m:sSup>
                        </m:e>
                      </m:d>
                      <m:nary>
                        <m:naryPr>
                          <m:chr m:val="∏"/>
                          <m:limLoc m:val="subSup"/>
                          <m:ctrlPr>
                            <a:rPr lang="en-US" altLang="zh-CN" sz="2400" b="0" i="1" smtClean="0">
                              <a:solidFill>
                                <a:schemeClr val="tx1"/>
                              </a:solidFill>
                              <a:latin typeface="Cambria Math" panose="02040503050406030204" pitchFamily="18" charset="0"/>
                            </a:rPr>
                          </m:ctrlPr>
                        </m:naryPr>
                        <m:sub>
                          <m:r>
                            <m:rPr>
                              <m:brk m:alnAt="25"/>
                            </m:rPr>
                            <a:rPr lang="en-US" altLang="zh-CN" sz="2400" b="0" i="1" smtClean="0">
                              <a:solidFill>
                                <a:schemeClr val="tx1"/>
                              </a:solidFill>
                              <a:latin typeface="Cambria Math" panose="02040503050406030204" pitchFamily="18" charset="0"/>
                            </a:rPr>
                            <m:t>𝑘</m:t>
                          </m:r>
                          <m:r>
                            <a:rPr lang="en-US" altLang="zh-CN" sz="2400" b="0" i="1" smtClean="0">
                              <a:solidFill>
                                <a:schemeClr val="tx1"/>
                              </a:solidFill>
                              <a:latin typeface="Cambria Math" panose="02040503050406030204" pitchFamily="18" charset="0"/>
                            </a:rPr>
                            <m:t>=ℓ</m:t>
                          </m:r>
                        </m:sub>
                        <m:sup>
                          <m:r>
                            <a:rPr lang="en-US" altLang="zh-CN" sz="2400" b="0" i="1" smtClean="0">
                              <a:solidFill>
                                <a:schemeClr val="tx1"/>
                              </a:solidFill>
                              <a:latin typeface="Cambria Math" panose="02040503050406030204" pitchFamily="18" charset="0"/>
                            </a:rPr>
                            <m:t>𝐿</m:t>
                          </m:r>
                          <m:r>
                            <a:rPr lang="en-US" altLang="zh-CN" sz="2400" b="0" i="1" smtClean="0">
                              <a:solidFill>
                                <a:schemeClr val="tx1"/>
                              </a:solidFill>
                              <a:latin typeface="Cambria Math" panose="02040503050406030204" pitchFamily="18" charset="0"/>
                            </a:rPr>
                            <m:t>−1</m:t>
                          </m:r>
                        </m:sup>
                        <m:e>
                          <m:d>
                            <m:dPr>
                              <m:ctrlPr>
                                <a:rPr lang="en-US" altLang="zh-CN" sz="2400" b="0" i="1" smtClean="0">
                                  <a:solidFill>
                                    <a:schemeClr val="tx1"/>
                                  </a:solidFill>
                                  <a:latin typeface="Cambria Math" panose="02040503050406030204" pitchFamily="18" charset="0"/>
                                </a:rPr>
                              </m:ctrlPr>
                            </m:dPr>
                            <m:e>
                              <m:d>
                                <m:dPr>
                                  <m:begChr m:val="‖"/>
                                  <m:endChr m:val="‖"/>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𝐷</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sup>
                                  </m:sSup>
                                </m:e>
                              </m:d>
                              <m:d>
                                <m:dPr>
                                  <m:begChr m:val="‖"/>
                                  <m:endChr m:val="‖"/>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𝑊</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r>
                                            <a:rPr lang="en-US" altLang="zh-CN" sz="2400" i="1">
                                              <a:solidFill>
                                                <a:schemeClr val="tx1"/>
                                              </a:solidFill>
                                              <a:latin typeface="Cambria Math" panose="02040503050406030204" pitchFamily="18" charset="0"/>
                                            </a:rPr>
                                            <m:t>+1</m:t>
                                          </m:r>
                                        </m:e>
                                      </m:d>
                                    </m:sup>
                                  </m:sSup>
                                </m:e>
                              </m:d>
                            </m:e>
                          </m:d>
                        </m:e>
                      </m:nary>
                    </m:oMath>
                  </m:oMathPara>
                </a14:m>
                <a:endParaRPr lang="zh-CN" altLang="en-US" sz="2400" dirty="0">
                  <a:solidFill>
                    <a:schemeClr val="tx1"/>
                  </a:solidFill>
                </a:endParaRPr>
              </a:p>
            </p:txBody>
          </p:sp>
        </mc:Choice>
        <mc:Fallback xmlns="">
          <p:sp>
            <p:nvSpPr>
              <p:cNvPr id="20" name="文本框 19">
                <a:extLst>
                  <a:ext uri="{FF2B5EF4-FFF2-40B4-BE49-F238E27FC236}">
                    <a16:creationId xmlns:a16="http://schemas.microsoft.com/office/drawing/2014/main" id="{08BA5B93-FE9C-4E43-9598-70A58E4A7579}"/>
                  </a:ext>
                </a:extLst>
              </p:cNvPr>
              <p:cNvSpPr txBox="1">
                <a:spLocks noRot="1" noChangeAspect="1" noMove="1" noResize="1" noEditPoints="1" noAdjustHandles="1" noChangeArrowheads="1" noChangeShapeType="1" noTextEdit="1"/>
              </p:cNvSpPr>
              <p:nvPr/>
            </p:nvSpPr>
            <p:spPr>
              <a:xfrm>
                <a:off x="3045993" y="4161175"/>
                <a:ext cx="6100010" cy="848246"/>
              </a:xfrm>
              <a:prstGeom prst="rect">
                <a:avLst/>
              </a:prstGeom>
              <a:blipFill>
                <a:blip r:embed="rId5"/>
                <a:stretch>
                  <a:fillRect t="-150000" b="-2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0DD96CD-F81F-9241-AD4E-10AA35984002}"/>
                  </a:ext>
                </a:extLst>
              </p:cNvPr>
              <p:cNvSpPr txBox="1"/>
              <p:nvPr/>
            </p:nvSpPr>
            <p:spPr>
              <a:xfrm>
                <a:off x="838200" y="5407360"/>
                <a:ext cx="2585896"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i="1" smtClean="0">
                          <a:solidFill>
                            <a:schemeClr val="tx1"/>
                          </a:solidFill>
                          <a:latin typeface="Cambria Math" panose="02040503050406030204" pitchFamily="18" charset="0"/>
                        </a:rPr>
                        <m:t>𝜎</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𝑧</m:t>
                          </m:r>
                        </m:e>
                      </m:d>
                      <m:r>
                        <a:rPr lang="en-US" altLang="zh-CN" sz="2400" i="1">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1+</m:t>
                          </m:r>
                          <m:sSup>
                            <m:sSupPr>
                              <m:ctrlPr>
                                <a:rPr lang="en-US" altLang="zh-CN" sz="2400" b="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𝑒</m:t>
                              </m:r>
                            </m:e>
                            <m:sup>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𝑧</m:t>
                              </m:r>
                            </m:sup>
                          </m:sSup>
                        </m:den>
                      </m:f>
                    </m:oMath>
                  </m:oMathPara>
                </a14:m>
                <a:endParaRPr lang="zh-CN" altLang="en-US" sz="2400" dirty="0">
                  <a:solidFill>
                    <a:schemeClr val="tx1"/>
                  </a:solidFill>
                </a:endParaRPr>
              </a:p>
            </p:txBody>
          </p:sp>
        </mc:Choice>
        <mc:Fallback xmlns="">
          <p:sp>
            <p:nvSpPr>
              <p:cNvPr id="24" name="文本框 23">
                <a:extLst>
                  <a:ext uri="{FF2B5EF4-FFF2-40B4-BE49-F238E27FC236}">
                    <a16:creationId xmlns:a16="http://schemas.microsoft.com/office/drawing/2014/main" id="{D0DD96CD-F81F-9241-AD4E-10AA35984002}"/>
                  </a:ext>
                </a:extLst>
              </p:cNvPr>
              <p:cNvSpPr txBox="1">
                <a:spLocks noRot="1" noChangeAspect="1" noMove="1" noResize="1" noEditPoints="1" noAdjustHandles="1" noChangeArrowheads="1" noChangeShapeType="1" noTextEdit="1"/>
              </p:cNvSpPr>
              <p:nvPr/>
            </p:nvSpPr>
            <p:spPr>
              <a:xfrm>
                <a:off x="838200" y="5407360"/>
                <a:ext cx="2585896" cy="792396"/>
              </a:xfrm>
              <a:prstGeom prst="rect">
                <a:avLst/>
              </a:prstGeom>
              <a:blipFill>
                <a:blip r:embed="rId6"/>
                <a:stretch>
                  <a:fillRect b="-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B1BC9A-3877-2042-A657-66E8688DD137}"/>
                  </a:ext>
                </a:extLst>
              </p:cNvPr>
              <p:cNvSpPr txBox="1"/>
              <p:nvPr/>
            </p:nvSpPr>
            <p:spPr>
              <a:xfrm>
                <a:off x="4286237" y="5471634"/>
                <a:ext cx="3996675" cy="7940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i="1" smtClean="0">
                              <a:solidFill>
                                <a:schemeClr val="tx1"/>
                              </a:solidFill>
                              <a:latin typeface="Cambria Math" panose="02040503050406030204" pitchFamily="18" charset="0"/>
                            </a:rPr>
                            <m:t>𝜎</m:t>
                          </m:r>
                        </m:e>
                        <m:sup>
                          <m:r>
                            <a:rPr kumimoji="1" lang="en-US" altLang="zh-CN" sz="2400" b="0" i="1" smtClean="0">
                              <a:solidFill>
                                <a:schemeClr val="tx1"/>
                              </a:solidFill>
                              <a:latin typeface="Cambria Math" panose="02040503050406030204" pitchFamily="18" charset="0"/>
                            </a:rPr>
                            <m:t>′</m:t>
                          </m:r>
                        </m:sup>
                      </m:sSup>
                      <m:r>
                        <a:rPr lang="en-US" altLang="zh-CN" sz="2400" i="1">
                          <a:solidFill>
                            <a:schemeClr val="tx1"/>
                          </a:solidFill>
                          <a:latin typeface="Cambria Math" panose="02040503050406030204" pitchFamily="18" charset="0"/>
                        </a:rPr>
                        <m:t>=</m:t>
                      </m:r>
                      <m:r>
                        <a:rPr lang="en-US" altLang="zh-CN" sz="2400" i="1">
                          <a:latin typeface="Cambria Math" panose="02040503050406030204" pitchFamily="18" charset="0"/>
                        </a:rPr>
                        <m:t>𝜎</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𝑧</m:t>
                          </m:r>
                        </m:e>
                      </m:d>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1−</m:t>
                          </m:r>
                          <m:r>
                            <a:rPr lang="en-US" altLang="zh-CN" sz="2400" b="0" i="1" smtClean="0">
                              <a:solidFill>
                                <a:schemeClr val="tx1"/>
                              </a:solidFill>
                              <a:latin typeface="Cambria Math" panose="02040503050406030204" pitchFamily="18" charset="0"/>
                            </a:rPr>
                            <m:t>𝜎</m:t>
                          </m:r>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𝑧</m:t>
                              </m:r>
                            </m:e>
                          </m:d>
                        </m:e>
                      </m:d>
                      <m:r>
                        <a:rPr lang="en-US" altLang="zh-CN" sz="2400" b="0" i="1" smtClean="0">
                          <a:solidFill>
                            <a:schemeClr val="tx1"/>
                          </a:solidFill>
                          <a:latin typeface="Cambria Math" panose="02040503050406030204" pitchFamily="18" charset="0"/>
                        </a:rPr>
                        <m:t>∈</m:t>
                      </m:r>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0,</m:t>
                          </m:r>
                          <m:f>
                            <m:fPr>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4</m:t>
                              </m:r>
                            </m:den>
                          </m:f>
                        </m:e>
                      </m:d>
                    </m:oMath>
                  </m:oMathPara>
                </a14:m>
                <a:endParaRPr lang="zh-CN" altLang="en-US" sz="2400" dirty="0">
                  <a:solidFill>
                    <a:schemeClr val="tx1"/>
                  </a:solidFill>
                </a:endParaRPr>
              </a:p>
            </p:txBody>
          </p:sp>
        </mc:Choice>
        <mc:Fallback xmlns="">
          <p:sp>
            <p:nvSpPr>
              <p:cNvPr id="27" name="文本框 26">
                <a:extLst>
                  <a:ext uri="{FF2B5EF4-FFF2-40B4-BE49-F238E27FC236}">
                    <a16:creationId xmlns:a16="http://schemas.microsoft.com/office/drawing/2014/main" id="{3EB1BC9A-3877-2042-A657-66E8688DD137}"/>
                  </a:ext>
                </a:extLst>
              </p:cNvPr>
              <p:cNvSpPr txBox="1">
                <a:spLocks noRot="1" noChangeAspect="1" noMove="1" noResize="1" noEditPoints="1" noAdjustHandles="1" noChangeArrowheads="1" noChangeShapeType="1" noTextEdit="1"/>
              </p:cNvSpPr>
              <p:nvPr/>
            </p:nvSpPr>
            <p:spPr>
              <a:xfrm>
                <a:off x="4286237" y="5471634"/>
                <a:ext cx="3996675" cy="794064"/>
              </a:xfrm>
              <a:prstGeom prst="rect">
                <a:avLst/>
              </a:prstGeom>
              <a:blipFill>
                <a:blip r:embed="rId7"/>
                <a:stretch>
                  <a:fillRect b="-4762"/>
                </a:stretch>
              </a:blipFill>
            </p:spPr>
            <p:txBody>
              <a:bodyPr/>
              <a:lstStyle/>
              <a:p>
                <a:r>
                  <a:rPr lang="zh-CN" altLang="en-US">
                    <a:noFill/>
                  </a:rPr>
                  <a:t> </a:t>
                </a:r>
              </a:p>
            </p:txBody>
          </p:sp>
        </mc:Fallback>
      </mc:AlternateContent>
      <p:sp>
        <p:nvSpPr>
          <p:cNvPr id="28" name="燕尾形箭头 27">
            <a:extLst>
              <a:ext uri="{FF2B5EF4-FFF2-40B4-BE49-F238E27FC236}">
                <a16:creationId xmlns:a16="http://schemas.microsoft.com/office/drawing/2014/main" id="{75119597-4096-2647-ADC7-F4FB88D5D544}"/>
              </a:ext>
            </a:extLst>
          </p:cNvPr>
          <p:cNvSpPr/>
          <p:nvPr/>
        </p:nvSpPr>
        <p:spPr bwMode="auto">
          <a:xfrm>
            <a:off x="3412125" y="5648268"/>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pic>
        <p:nvPicPr>
          <p:cNvPr id="4" name="图片 3">
            <a:extLst>
              <a:ext uri="{FF2B5EF4-FFF2-40B4-BE49-F238E27FC236}">
                <a16:creationId xmlns:a16="http://schemas.microsoft.com/office/drawing/2014/main" id="{88334A58-F413-F74D-B5A0-62E1033E8658}"/>
              </a:ext>
            </a:extLst>
          </p:cNvPr>
          <p:cNvPicPr>
            <a:picLocks noChangeAspect="1"/>
          </p:cNvPicPr>
          <p:nvPr/>
        </p:nvPicPr>
        <p:blipFill>
          <a:blip r:embed="rId8"/>
          <a:stretch>
            <a:fillRect/>
          </a:stretch>
        </p:blipFill>
        <p:spPr>
          <a:xfrm>
            <a:off x="8674148" y="4608295"/>
            <a:ext cx="3007340" cy="1976455"/>
          </a:xfrm>
          <a:prstGeom prst="rect">
            <a:avLst/>
          </a:prstGeom>
        </p:spPr>
      </p:pic>
      <p:sp>
        <p:nvSpPr>
          <p:cNvPr id="30" name="爆炸形 2 29">
            <a:extLst>
              <a:ext uri="{FF2B5EF4-FFF2-40B4-BE49-F238E27FC236}">
                <a16:creationId xmlns:a16="http://schemas.microsoft.com/office/drawing/2014/main" id="{6622FDEF-54CE-AD47-B695-9AD93288B555}"/>
              </a:ext>
            </a:extLst>
          </p:cNvPr>
          <p:cNvSpPr/>
          <p:nvPr/>
        </p:nvSpPr>
        <p:spPr>
          <a:xfrm rot="20831819">
            <a:off x="8602947" y="3880029"/>
            <a:ext cx="3731974"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C00000"/>
                </a:solidFill>
              </a:rPr>
              <a:t>Tanh</a:t>
            </a:r>
            <a:r>
              <a:rPr lang="zh-CN" altLang="en-US" sz="2400" dirty="0">
                <a:solidFill>
                  <a:srgbClr val="C00000"/>
                </a:solidFill>
              </a:rPr>
              <a:t>函数问题类似！</a:t>
            </a:r>
          </a:p>
        </p:txBody>
      </p:sp>
    </p:spTree>
    <p:extLst>
      <p:ext uri="{BB962C8B-B14F-4D97-AF65-F5344CB8AC3E}">
        <p14:creationId xmlns:p14="http://schemas.microsoft.com/office/powerpoint/2010/main" val="62264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80</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0469130" cy="424539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第</a:t>
                </a:r>
                <a14:m>
                  <m:oMath xmlns:m="http://schemas.openxmlformats.org/officeDocument/2006/math">
                    <m:r>
                      <a:rPr lang="en-US" altLang="zh-CN" sz="2400" b="0" i="1" smtClean="0">
                        <a:latin typeface="Cambria Math" panose="02040503050406030204" pitchFamily="18" charset="0"/>
                      </a:rPr>
                      <m:t>ℓ</m:t>
                    </m:r>
                  </m:oMath>
                </a14:m>
                <a:r>
                  <a:rPr lang="zh-CN" altLang="en-US" sz="2400" dirty="0"/>
                  <a:t>层梯度</a:t>
                </a:r>
                <a:r>
                  <a:rPr lang="en-US" altLang="zh-CN" sz="2400" dirty="0"/>
                  <a:t>(</a:t>
                </a:r>
                <a:r>
                  <a:rPr lang="zh-CN" altLang="en-US" sz="2400" dirty="0"/>
                  <a:t>重写</a:t>
                </a:r>
                <a:r>
                  <a:rPr lang="en-US" altLang="zh-CN" sz="2400" dirty="0"/>
                  <a:t>)</a:t>
                </a:r>
              </a:p>
              <a:p>
                <a:pPr>
                  <a:lnSpc>
                    <a:spcPct val="150000"/>
                  </a:lnSpc>
                </a:pPr>
                <a:endParaRPr lang="en-US" altLang="zh-CN" sz="2400" dirty="0"/>
              </a:p>
              <a:p>
                <a:pPr marL="342900" indent="-342900">
                  <a:lnSpc>
                    <a:spcPct val="150000"/>
                  </a:lnSpc>
                  <a:buFont typeface="Wingdings" pitchFamily="2" charset="2"/>
                  <a:buChar char="n"/>
                </a:pPr>
                <a:r>
                  <a:rPr lang="zh-CN" altLang="en-US" sz="2400" dirty="0"/>
                  <a:t>令</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𝐷</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ℓ</m:t>
                            </m:r>
                          </m:e>
                        </m:d>
                      </m:sup>
                    </m:sSup>
                    <m:r>
                      <a:rPr lang="en-US" altLang="zh-CN" sz="2400" i="1">
                        <a:latin typeface="Cambria Math" panose="02040503050406030204" pitchFamily="18" charset="0"/>
                      </a:rPr>
                      <m:t>=</m:t>
                    </m:r>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diag</m:t>
                        </m:r>
                      </m:fName>
                      <m:e>
                        <m:d>
                          <m:dPr>
                            <m:ctrlPr>
                              <a:rPr lang="en-US" altLang="zh-CN" sz="2400" b="0" i="1" smtClean="0">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r>
                                  <a:rPr kumimoji="1" lang="en-US" altLang="zh-CN" sz="2400" i="1">
                                    <a:latin typeface="Cambria Math" panose="02040503050406030204" pitchFamily="18" charset="0"/>
                                  </a:rPr>
                                  <m:t>′</m:t>
                                </m:r>
                              </m:sup>
                            </m:sSup>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e>
                            </m:d>
                          </m:e>
                        </m:d>
                      </m:e>
                    </m:func>
                  </m:oMath>
                </a14:m>
                <a:r>
                  <a:rPr lang="zh-CN" altLang="en-US" sz="2400" dirty="0"/>
                  <a:t>，对于</a:t>
                </a:r>
                <a14:m>
                  <m:oMath xmlns:m="http://schemas.openxmlformats.org/officeDocument/2006/math">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oMath>
                </a14:m>
                <a:r>
                  <a:rPr lang="zh-CN" altLang="en-US" sz="2400" dirty="0"/>
                  <a:t>又有：</a:t>
                </a: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r>
                  <a:rPr lang="zh-CN" altLang="en-US" sz="2400" dirty="0"/>
                  <a:t>对于</a:t>
                </a:r>
                <a:r>
                  <a:rPr lang="en-US" altLang="zh-CN" sz="2400" dirty="0" err="1"/>
                  <a:t>ReLU</a:t>
                </a:r>
                <a:r>
                  <a:rPr lang="zh-CN" altLang="en-US" sz="2400" dirty="0"/>
                  <a:t>函数</a:t>
                </a: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endParaRPr lang="en-US" altLang="zh-CN" sz="2400" dirty="0"/>
              </a:p>
              <a:p>
                <a:pPr marL="800100" lvl="1" indent="-342900">
                  <a:buFont typeface="Wingdings" pitchFamily="2" charset="2"/>
                  <a:buChar char="p"/>
                </a:pPr>
                <a:r>
                  <a:rPr lang="zh-CN" altLang="en-US" sz="2400" dirty="0"/>
                  <a:t>当</a:t>
                </a:r>
                <a14:m>
                  <m:oMath xmlns:m="http://schemas.openxmlformats.org/officeDocument/2006/math">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≤0</m:t>
                    </m:r>
                  </m:oMath>
                </a14:m>
                <a:r>
                  <a:rPr lang="zh-CN" altLang="en-US" sz="2400" dirty="0"/>
                  <a:t>频繁出现时，有梯度消失风险</a:t>
                </a:r>
                <a:r>
                  <a:rPr lang="en-US" altLang="zh-CN" sz="2400" dirty="0"/>
                  <a:t>(</a:t>
                </a:r>
                <a:r>
                  <a:rPr lang="zh-CN" altLang="en-US" sz="2400" dirty="0"/>
                  <a:t>一般不会</a:t>
                </a:r>
                <a:r>
                  <a:rPr lang="en-US" altLang="zh-CN" sz="2400" dirty="0"/>
                  <a:t>)</a:t>
                </a:r>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10469130" cy="4245393"/>
              </a:xfrm>
              <a:prstGeom prst="rect">
                <a:avLst/>
              </a:prstGeom>
              <a:blipFill>
                <a:blip r:embed="rId3"/>
                <a:stretch>
                  <a:fillRect l="-848" b="-26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B402517-44EF-2D4B-B27C-2FD6AA02B732}"/>
                  </a:ext>
                </a:extLst>
              </p:cNvPr>
              <p:cNvSpPr txBox="1"/>
              <p:nvPr/>
            </p:nvSpPr>
            <p:spPr>
              <a:xfrm>
                <a:off x="1918681" y="2787061"/>
                <a:ext cx="8354635"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oMath>
                  </m:oMathPara>
                </a14:m>
                <a:endParaRPr lang="zh-CN" altLang="en-US" sz="2400" dirty="0"/>
              </a:p>
            </p:txBody>
          </p:sp>
        </mc:Choice>
        <mc:Fallback xmlns="">
          <p:sp>
            <p:nvSpPr>
              <p:cNvPr id="46" name="文本框 45">
                <a:extLst>
                  <a:ext uri="{FF2B5EF4-FFF2-40B4-BE49-F238E27FC236}">
                    <a16:creationId xmlns:a16="http://schemas.microsoft.com/office/drawing/2014/main" id="{9B402517-44EF-2D4B-B27C-2FD6AA02B732}"/>
                  </a:ext>
                </a:extLst>
              </p:cNvPr>
              <p:cNvSpPr txBox="1">
                <a:spLocks noRot="1" noChangeAspect="1" noMove="1" noResize="1" noEditPoints="1" noAdjustHandles="1" noChangeArrowheads="1" noChangeShapeType="1" noTextEdit="1"/>
              </p:cNvSpPr>
              <p:nvPr/>
            </p:nvSpPr>
            <p:spPr>
              <a:xfrm>
                <a:off x="1918681" y="2787061"/>
                <a:ext cx="8354635" cy="875432"/>
              </a:xfrm>
              <a:prstGeom prst="rect">
                <a:avLst/>
              </a:prstGeom>
              <a:blipFill>
                <a:blip r:embed="rId4"/>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F08E6B6-B738-8C40-BFA8-3BEE9368AF0B}"/>
                  </a:ext>
                </a:extLst>
              </p:cNvPr>
              <p:cNvSpPr txBox="1"/>
              <p:nvPr/>
            </p:nvSpPr>
            <p:spPr>
              <a:xfrm>
                <a:off x="1620425" y="5595251"/>
                <a:ext cx="294368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i="1" smtClean="0">
                          <a:solidFill>
                            <a:schemeClr val="tx1"/>
                          </a:solidFill>
                          <a:latin typeface="Cambria Math" panose="02040503050406030204" pitchFamily="18" charset="0"/>
                        </a:rPr>
                        <m:t>𝜎</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𝑧</m:t>
                          </m:r>
                        </m:e>
                      </m:d>
                      <m:r>
                        <a:rPr lang="en-US" altLang="zh-CN" sz="2400" i="1">
                          <a:solidFill>
                            <a:schemeClr val="tx1"/>
                          </a:solidFill>
                          <a:latin typeface="Cambria Math" panose="02040503050406030204" pitchFamily="18" charset="0"/>
                        </a:rPr>
                        <m:t>=</m:t>
                      </m:r>
                      <m:func>
                        <m:funcPr>
                          <m:ctrlPr>
                            <a:rPr lang="en-US" altLang="zh-CN" sz="2400" b="0" i="1" smtClean="0">
                              <a:solidFill>
                                <a:schemeClr val="tx1"/>
                              </a:solidFill>
                              <a:latin typeface="Cambria Math" panose="02040503050406030204" pitchFamily="18" charset="0"/>
                            </a:rPr>
                          </m:ctrlPr>
                        </m:funcPr>
                        <m:fName>
                          <m:r>
                            <m:rPr>
                              <m:sty m:val="p"/>
                            </m:rPr>
                            <a:rPr lang="en-US" altLang="zh-CN" sz="2400" b="0" i="0" smtClean="0">
                              <a:solidFill>
                                <a:schemeClr val="tx1"/>
                              </a:solidFill>
                              <a:latin typeface="Cambria Math" panose="02040503050406030204" pitchFamily="18" charset="0"/>
                            </a:rPr>
                            <m:t>max</m:t>
                          </m:r>
                        </m:fName>
                        <m:e>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0,</m:t>
                              </m:r>
                              <m:r>
                                <a:rPr lang="en-US" altLang="zh-CN" sz="2400" b="0" i="1" smtClean="0">
                                  <a:solidFill>
                                    <a:schemeClr val="tx1"/>
                                  </a:solidFill>
                                  <a:latin typeface="Cambria Math" panose="02040503050406030204" pitchFamily="18" charset="0"/>
                                </a:rPr>
                                <m:t>𝑧</m:t>
                              </m:r>
                            </m:e>
                          </m:d>
                        </m:e>
                      </m:func>
                    </m:oMath>
                  </m:oMathPara>
                </a14:m>
                <a:endParaRPr lang="zh-CN" altLang="en-US" sz="2400" dirty="0">
                  <a:solidFill>
                    <a:schemeClr val="tx1"/>
                  </a:solidFill>
                </a:endParaRPr>
              </a:p>
            </p:txBody>
          </p:sp>
        </mc:Choice>
        <mc:Fallback xmlns="">
          <p:sp>
            <p:nvSpPr>
              <p:cNvPr id="15" name="文本框 14">
                <a:extLst>
                  <a:ext uri="{FF2B5EF4-FFF2-40B4-BE49-F238E27FC236}">
                    <a16:creationId xmlns:a16="http://schemas.microsoft.com/office/drawing/2014/main" id="{BF08E6B6-B738-8C40-BFA8-3BEE9368AF0B}"/>
                  </a:ext>
                </a:extLst>
              </p:cNvPr>
              <p:cNvSpPr txBox="1">
                <a:spLocks noRot="1" noChangeAspect="1" noMove="1" noResize="1" noEditPoints="1" noAdjustHandles="1" noChangeArrowheads="1" noChangeShapeType="1" noTextEdit="1"/>
              </p:cNvSpPr>
              <p:nvPr/>
            </p:nvSpPr>
            <p:spPr>
              <a:xfrm>
                <a:off x="1620425" y="5595251"/>
                <a:ext cx="2943687" cy="4616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AB0F149-6D31-324E-A655-269A9480B5EE}"/>
                  </a:ext>
                </a:extLst>
              </p:cNvPr>
              <p:cNvSpPr txBox="1"/>
              <p:nvPr/>
            </p:nvSpPr>
            <p:spPr>
              <a:xfrm>
                <a:off x="5029200" y="5298763"/>
                <a:ext cx="3637388"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i="1" smtClean="0">
                              <a:solidFill>
                                <a:schemeClr val="tx1"/>
                              </a:solidFill>
                              <a:latin typeface="Cambria Math" panose="02040503050406030204" pitchFamily="18" charset="0"/>
                            </a:rPr>
                            <m:t>𝜎</m:t>
                          </m:r>
                        </m:e>
                        <m:sup>
                          <m:r>
                            <a:rPr kumimoji="1" lang="en-US" altLang="zh-CN" sz="2400" b="0" i="1" smtClean="0">
                              <a:solidFill>
                                <a:schemeClr val="tx1"/>
                              </a:solidFill>
                              <a:latin typeface="Cambria Math" panose="02040503050406030204" pitchFamily="18" charset="0"/>
                            </a:rPr>
                            <m:t>′</m:t>
                          </m:r>
                        </m:sup>
                      </m:s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𝑧</m:t>
                          </m:r>
                        </m:e>
                      </m:d>
                      <m:r>
                        <a:rPr lang="en-US" altLang="zh-CN" sz="2400" i="1">
                          <a:solidFill>
                            <a:schemeClr val="tx1"/>
                          </a:solidFill>
                          <a:latin typeface="Cambria Math" panose="02040503050406030204" pitchFamily="18" charset="0"/>
                        </a:rPr>
                        <m:t>=</m:t>
                      </m:r>
                      <m:d>
                        <m:dPr>
                          <m:begChr m:val="{"/>
                          <m:endChr m:val=""/>
                          <m:ctrlPr>
                            <a:rPr lang="en-US" altLang="zh-CN" sz="2400" i="1" smtClean="0">
                              <a:solidFill>
                                <a:schemeClr val="tx1"/>
                              </a:solidFill>
                              <a:latin typeface="Cambria Math" panose="02040503050406030204" pitchFamily="18" charset="0"/>
                            </a:rPr>
                          </m:ctrlPr>
                        </m:dPr>
                        <m:e>
                          <m:m>
                            <m:mPr>
                              <m:mcs>
                                <m:mc>
                                  <m:mcPr>
                                    <m:count m:val="1"/>
                                    <m:mcJc m:val="center"/>
                                  </m:mcPr>
                                </m:mc>
                              </m:mcs>
                              <m:ctrlPr>
                                <a:rPr lang="en-US" altLang="zh-CN" sz="2400" i="1" smtClean="0">
                                  <a:solidFill>
                                    <a:schemeClr val="tx1"/>
                                  </a:solidFill>
                                  <a:latin typeface="Cambria Math" panose="02040503050406030204" pitchFamily="18" charset="0"/>
                                </a:rPr>
                              </m:ctrlPr>
                            </m:mPr>
                            <m:mr>
                              <m:e>
                                <m:r>
                                  <m:rPr>
                                    <m:brk m:alnAt="7"/>
                                  </m:rPr>
                                  <a:rPr lang="en-US" altLang="zh-CN" sz="2400" b="0" i="1" smtClean="0">
                                    <a:solidFill>
                                      <a:schemeClr val="tx1"/>
                                    </a:solidFill>
                                    <a:latin typeface="Cambria Math" panose="02040503050406030204" pitchFamily="18" charset="0"/>
                                  </a:rPr>
                                  <m:t>1</m:t>
                                </m:r>
                                <m:r>
                                  <a:rPr lang="en-US" altLang="zh-CN" sz="2400" b="0" i="1" smtClean="0">
                                    <a:solidFill>
                                      <a:schemeClr val="tx1"/>
                                    </a:solidFill>
                                    <a:latin typeface="Cambria Math" panose="02040503050406030204" pitchFamily="18" charset="0"/>
                                  </a:rPr>
                                  <m:t>, </m:t>
                                </m:r>
                                <m:r>
                                  <m:rPr>
                                    <m:sty m:val="p"/>
                                    <m:brk m:alnAt="7"/>
                                  </m:rPr>
                                  <a:rPr lang="en-US" altLang="zh-CN" sz="2400" b="0" i="0" smtClean="0">
                                    <a:solidFill>
                                      <a:schemeClr val="tx1"/>
                                    </a:solidFill>
                                    <a:latin typeface="Cambria Math" panose="02040503050406030204" pitchFamily="18" charset="0"/>
                                  </a:rPr>
                                  <m:t>i</m:t>
                                </m:r>
                                <m:r>
                                  <m:rPr>
                                    <m:sty m:val="p"/>
                                  </m:rPr>
                                  <a:rPr lang="en-US" altLang="zh-CN" sz="2400" b="0" i="0" smtClean="0">
                                    <a:solidFill>
                                      <a:schemeClr val="tx1"/>
                                    </a:solidFill>
                                    <a:latin typeface="Cambria Math" panose="02040503050406030204" pitchFamily="18" charset="0"/>
                                  </a:rPr>
                                  <m:t>f</m:t>
                                </m:r>
                                <m:r>
                                  <m:rPr>
                                    <m:brk m:alnAt="7"/>
                                  </m:rPr>
                                  <a:rPr lang="en-US" altLang="zh-CN" sz="2400" b="0" i="1" smtClean="0">
                                    <a:solidFill>
                                      <a:schemeClr val="tx1"/>
                                    </a:solidFill>
                                    <a:latin typeface="Cambria Math" panose="02040503050406030204" pitchFamily="18" charset="0"/>
                                  </a:rPr>
                                  <m:t> </m:t>
                                </m:r>
                                <m:r>
                                  <a:rPr lang="en-US" altLang="zh-CN" sz="2400" b="0" i="1" smtClean="0">
                                    <a:solidFill>
                                      <a:schemeClr val="tx1"/>
                                    </a:solidFill>
                                    <a:latin typeface="Cambria Math" panose="02040503050406030204" pitchFamily="18" charset="0"/>
                                  </a:rPr>
                                  <m:t>𝑧</m:t>
                                </m:r>
                                <m:r>
                                  <a:rPr lang="en-US" altLang="zh-CN" sz="2400" b="0" i="1" smtClean="0">
                                    <a:solidFill>
                                      <a:schemeClr val="tx1"/>
                                    </a:solidFill>
                                    <a:latin typeface="Cambria Math" panose="02040503050406030204" pitchFamily="18" charset="0"/>
                                  </a:rPr>
                                  <m:t>&gt;0</m:t>
                                </m:r>
                              </m:e>
                            </m:mr>
                            <m:mr>
                              <m:e>
                                <m:r>
                                  <a:rPr lang="en-US" altLang="zh-CN" sz="2400" b="0" i="1" smtClean="0">
                                    <a:solidFill>
                                      <a:srgbClr val="C00000"/>
                                    </a:solidFill>
                                    <a:latin typeface="Cambria Math" panose="02040503050406030204" pitchFamily="18" charset="0"/>
                                  </a:rPr>
                                  <m:t>0</m:t>
                                </m:r>
                                <m:r>
                                  <a:rPr lang="en-US" altLang="zh-CN" sz="2400" b="0" i="1" smtClean="0">
                                    <a:solidFill>
                                      <a:schemeClr val="tx1"/>
                                    </a:solidFill>
                                    <a:latin typeface="Cambria Math" panose="02040503050406030204" pitchFamily="18" charset="0"/>
                                  </a:rPr>
                                  <m:t>, </m:t>
                                </m:r>
                                <m:r>
                                  <m:rPr>
                                    <m:sty m:val="p"/>
                                  </m:rPr>
                                  <a:rPr lang="en-US" altLang="zh-CN" sz="2400" b="0" i="0" smtClean="0">
                                    <a:solidFill>
                                      <a:schemeClr val="tx1"/>
                                    </a:solidFill>
                                    <a:latin typeface="Cambria Math" panose="02040503050406030204" pitchFamily="18" charset="0"/>
                                  </a:rPr>
                                  <m:t>otherwise</m:t>
                                </m:r>
                              </m:e>
                            </m:mr>
                          </m:m>
                        </m:e>
                      </m:d>
                    </m:oMath>
                  </m:oMathPara>
                </a14:m>
                <a:endParaRPr lang="zh-CN" altLang="en-US" sz="2400" dirty="0">
                  <a:solidFill>
                    <a:schemeClr val="tx1"/>
                  </a:solidFill>
                </a:endParaRPr>
              </a:p>
            </p:txBody>
          </p:sp>
        </mc:Choice>
        <mc:Fallback xmlns="">
          <p:sp>
            <p:nvSpPr>
              <p:cNvPr id="16" name="文本框 15">
                <a:extLst>
                  <a:ext uri="{FF2B5EF4-FFF2-40B4-BE49-F238E27FC236}">
                    <a16:creationId xmlns:a16="http://schemas.microsoft.com/office/drawing/2014/main" id="{0AB0F149-6D31-324E-A655-269A9480B5EE}"/>
                  </a:ext>
                </a:extLst>
              </p:cNvPr>
              <p:cNvSpPr txBox="1">
                <a:spLocks noRot="1" noChangeAspect="1" noMove="1" noResize="1" noEditPoints="1" noAdjustHandles="1" noChangeArrowheads="1" noChangeShapeType="1" noTextEdit="1"/>
              </p:cNvSpPr>
              <p:nvPr/>
            </p:nvSpPr>
            <p:spPr>
              <a:xfrm>
                <a:off x="5029200" y="5298763"/>
                <a:ext cx="3637388" cy="916148"/>
              </a:xfrm>
              <a:prstGeom prst="rect">
                <a:avLst/>
              </a:prstGeom>
              <a:blipFill>
                <a:blip r:embed="rId6"/>
                <a:stretch>
                  <a:fillRect l="-1742" t="-198630" b="-287671"/>
                </a:stretch>
              </a:blipFill>
            </p:spPr>
            <p:txBody>
              <a:bodyPr/>
              <a:lstStyle/>
              <a:p>
                <a:r>
                  <a:rPr lang="zh-CN" altLang="en-US">
                    <a:noFill/>
                  </a:rPr>
                  <a:t> </a:t>
                </a:r>
              </a:p>
            </p:txBody>
          </p:sp>
        </mc:Fallback>
      </mc:AlternateContent>
      <p:sp>
        <p:nvSpPr>
          <p:cNvPr id="17" name="燕尾形箭头 16">
            <a:extLst>
              <a:ext uri="{FF2B5EF4-FFF2-40B4-BE49-F238E27FC236}">
                <a16:creationId xmlns:a16="http://schemas.microsoft.com/office/drawing/2014/main" id="{84AEAE1A-C91A-DD4D-B5DF-693238DB8798}"/>
              </a:ext>
            </a:extLst>
          </p:cNvPr>
          <p:cNvSpPr/>
          <p:nvPr/>
        </p:nvSpPr>
        <p:spPr bwMode="auto">
          <a:xfrm>
            <a:off x="4526245" y="5595251"/>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2C4BD8E-78BA-A041-A363-F5DE35F60764}"/>
                  </a:ext>
                </a:extLst>
              </p:cNvPr>
              <p:cNvSpPr txBox="1"/>
              <p:nvPr/>
            </p:nvSpPr>
            <p:spPr>
              <a:xfrm>
                <a:off x="3045993" y="4161175"/>
                <a:ext cx="6100010" cy="84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𝛿</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e>
                      </m:d>
                      <m:r>
                        <a:rPr lang="en-US" altLang="zh-CN" sz="2400" b="0" i="1" smtClean="0">
                          <a:solidFill>
                            <a:schemeClr val="tx1"/>
                          </a:solidFill>
                          <a:latin typeface="Cambria Math" panose="02040503050406030204" pitchFamily="18" charset="0"/>
                        </a:rPr>
                        <m:t>≤</m:t>
                      </m:r>
                      <m:d>
                        <m:dPr>
                          <m:begChr m:val="‖"/>
                          <m:endChr m:val="‖"/>
                          <m:ctrlPr>
                            <a:rPr lang="en-US" altLang="zh-CN" sz="2400" i="1">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𝛿</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𝐿</m:t>
                                  </m:r>
                                </m:e>
                              </m:d>
                            </m:sup>
                          </m:sSup>
                        </m:e>
                      </m:d>
                      <m:nary>
                        <m:naryPr>
                          <m:chr m:val="∏"/>
                          <m:limLoc m:val="subSup"/>
                          <m:ctrlPr>
                            <a:rPr lang="en-US" altLang="zh-CN" sz="2400" b="0" i="1" smtClean="0">
                              <a:solidFill>
                                <a:schemeClr val="tx1"/>
                              </a:solidFill>
                              <a:latin typeface="Cambria Math" panose="02040503050406030204" pitchFamily="18" charset="0"/>
                            </a:rPr>
                          </m:ctrlPr>
                        </m:naryPr>
                        <m:sub>
                          <m:r>
                            <m:rPr>
                              <m:brk m:alnAt="25"/>
                            </m:rPr>
                            <a:rPr lang="en-US" altLang="zh-CN" sz="2400" b="0" i="1" smtClean="0">
                              <a:solidFill>
                                <a:schemeClr val="tx1"/>
                              </a:solidFill>
                              <a:latin typeface="Cambria Math" panose="02040503050406030204" pitchFamily="18" charset="0"/>
                            </a:rPr>
                            <m:t>𝑘</m:t>
                          </m:r>
                          <m:r>
                            <a:rPr lang="en-US" altLang="zh-CN" sz="2400" b="0" i="1" smtClean="0">
                              <a:solidFill>
                                <a:schemeClr val="tx1"/>
                              </a:solidFill>
                              <a:latin typeface="Cambria Math" panose="02040503050406030204" pitchFamily="18" charset="0"/>
                            </a:rPr>
                            <m:t>=ℓ</m:t>
                          </m:r>
                        </m:sub>
                        <m:sup>
                          <m:r>
                            <a:rPr lang="en-US" altLang="zh-CN" sz="2400" b="0" i="1" smtClean="0">
                              <a:solidFill>
                                <a:schemeClr val="tx1"/>
                              </a:solidFill>
                              <a:latin typeface="Cambria Math" panose="02040503050406030204" pitchFamily="18" charset="0"/>
                            </a:rPr>
                            <m:t>𝐿</m:t>
                          </m:r>
                          <m:r>
                            <a:rPr lang="en-US" altLang="zh-CN" sz="2400" b="0" i="1" smtClean="0">
                              <a:solidFill>
                                <a:schemeClr val="tx1"/>
                              </a:solidFill>
                              <a:latin typeface="Cambria Math" panose="02040503050406030204" pitchFamily="18" charset="0"/>
                            </a:rPr>
                            <m:t>−1</m:t>
                          </m:r>
                        </m:sup>
                        <m:e>
                          <m:d>
                            <m:dPr>
                              <m:ctrlPr>
                                <a:rPr lang="en-US" altLang="zh-CN" sz="2400" b="0" i="1" smtClean="0">
                                  <a:solidFill>
                                    <a:schemeClr val="tx1"/>
                                  </a:solidFill>
                                  <a:latin typeface="Cambria Math" panose="02040503050406030204" pitchFamily="18" charset="0"/>
                                </a:rPr>
                              </m:ctrlPr>
                            </m:dPr>
                            <m:e>
                              <m:d>
                                <m:dPr>
                                  <m:begChr m:val="‖"/>
                                  <m:endChr m:val="‖"/>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𝐷</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sup>
                                  </m:sSup>
                                </m:e>
                              </m:d>
                              <m:d>
                                <m:dPr>
                                  <m:begChr m:val="‖"/>
                                  <m:endChr m:val="‖"/>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𝑊</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r>
                                            <a:rPr lang="en-US" altLang="zh-CN" sz="2400" i="1">
                                              <a:solidFill>
                                                <a:schemeClr val="tx1"/>
                                              </a:solidFill>
                                              <a:latin typeface="Cambria Math" panose="02040503050406030204" pitchFamily="18" charset="0"/>
                                            </a:rPr>
                                            <m:t>+1</m:t>
                                          </m:r>
                                        </m:e>
                                      </m:d>
                                    </m:sup>
                                  </m:sSup>
                                </m:e>
                              </m:d>
                            </m:e>
                          </m:d>
                        </m:e>
                      </m:nary>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A2C4BD8E-78BA-A041-A363-F5DE35F60764}"/>
                  </a:ext>
                </a:extLst>
              </p:cNvPr>
              <p:cNvSpPr txBox="1">
                <a:spLocks noRot="1" noChangeAspect="1" noMove="1" noResize="1" noEditPoints="1" noAdjustHandles="1" noChangeArrowheads="1" noChangeShapeType="1" noTextEdit="1"/>
              </p:cNvSpPr>
              <p:nvPr/>
            </p:nvSpPr>
            <p:spPr>
              <a:xfrm>
                <a:off x="3045993" y="4161175"/>
                <a:ext cx="6100010" cy="848246"/>
              </a:xfrm>
              <a:prstGeom prst="rect">
                <a:avLst/>
              </a:prstGeom>
              <a:blipFill>
                <a:blip r:embed="rId7"/>
                <a:stretch>
                  <a:fillRect t="-150000" b="-22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140576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81</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10469130" cy="4372607"/>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第</a:t>
                </a:r>
                <a14:m>
                  <m:oMath xmlns:m="http://schemas.openxmlformats.org/officeDocument/2006/math">
                    <m:r>
                      <a:rPr lang="en-US" altLang="zh-CN" sz="2400" b="0" i="1" smtClean="0">
                        <a:latin typeface="Cambria Math" panose="02040503050406030204" pitchFamily="18" charset="0"/>
                      </a:rPr>
                      <m:t>ℓ</m:t>
                    </m:r>
                  </m:oMath>
                </a14:m>
                <a:r>
                  <a:rPr lang="zh-CN" altLang="en-US" sz="2400" dirty="0"/>
                  <a:t>层梯度</a:t>
                </a:r>
                <a:r>
                  <a:rPr lang="en-US" altLang="zh-CN" sz="2400" dirty="0"/>
                  <a:t>(</a:t>
                </a:r>
                <a:r>
                  <a:rPr lang="zh-CN" altLang="en-US" sz="2400" dirty="0"/>
                  <a:t>重写</a:t>
                </a:r>
                <a:r>
                  <a:rPr lang="en-US" altLang="zh-CN" sz="2400" dirty="0"/>
                  <a:t>)</a:t>
                </a:r>
              </a:p>
              <a:p>
                <a:pPr>
                  <a:lnSpc>
                    <a:spcPct val="150000"/>
                  </a:lnSpc>
                </a:pPr>
                <a:endParaRPr lang="en-US" altLang="zh-CN" sz="2400" dirty="0"/>
              </a:p>
              <a:p>
                <a:pPr marL="342900" indent="-342900">
                  <a:lnSpc>
                    <a:spcPct val="150000"/>
                  </a:lnSpc>
                  <a:buFont typeface="Wingdings" pitchFamily="2" charset="2"/>
                  <a:buChar char="n"/>
                </a:pPr>
                <a:r>
                  <a:rPr lang="zh-CN" altLang="en-US" sz="2400" dirty="0"/>
                  <a:t>令</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𝐷</m:t>
                        </m:r>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ℓ</m:t>
                            </m:r>
                          </m:e>
                        </m:d>
                      </m:sup>
                    </m:sSup>
                    <m:r>
                      <a:rPr lang="en-US" altLang="zh-CN" sz="2400" i="1">
                        <a:latin typeface="Cambria Math" panose="02040503050406030204" pitchFamily="18" charset="0"/>
                      </a:rPr>
                      <m:t>=</m:t>
                    </m:r>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diag</m:t>
                        </m:r>
                      </m:fName>
                      <m:e>
                        <m:d>
                          <m:dPr>
                            <m:ctrlPr>
                              <a:rPr lang="en-US" altLang="zh-CN" sz="2400" b="0" i="1" smtClean="0">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𝜎</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r>
                                  <a:rPr kumimoji="1" lang="en-US" altLang="zh-CN" sz="2400" i="1">
                                    <a:latin typeface="Cambria Math" panose="02040503050406030204" pitchFamily="18" charset="0"/>
                                  </a:rPr>
                                  <m:t>′</m:t>
                                </m:r>
                              </m:sup>
                            </m:sSup>
                            <m:d>
                              <m:dPr>
                                <m:ctrlPr>
                                  <a:rPr kumimoji="1" lang="en-US" altLang="zh-CN" sz="2400" i="1">
                                    <a:latin typeface="Cambria Math" panose="02040503050406030204" pitchFamily="18" charset="0"/>
                                  </a:rPr>
                                </m:ctrlPr>
                              </m:d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e>
                            </m:d>
                          </m:e>
                        </m:d>
                      </m:e>
                    </m:func>
                  </m:oMath>
                </a14:m>
                <a:r>
                  <a:rPr lang="zh-CN" altLang="en-US" sz="2400" dirty="0"/>
                  <a:t>，对于</a:t>
                </a:r>
                <a14:m>
                  <m:oMath xmlns:m="http://schemas.openxmlformats.org/officeDocument/2006/math">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oMath>
                </a14:m>
                <a:r>
                  <a:rPr lang="zh-CN" altLang="en-US" sz="2400" dirty="0"/>
                  <a:t>又有：</a:t>
                </a: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r>
                  <a:rPr lang="zh-CN" altLang="en-US" sz="2400" dirty="0"/>
                  <a:t>对于</a:t>
                </a:r>
                <a:r>
                  <a:rPr lang="en-US" altLang="zh-CN" sz="2400" dirty="0"/>
                  <a:t>Leaky </a:t>
                </a:r>
                <a:r>
                  <a:rPr lang="en-US" altLang="zh-CN" sz="2400" dirty="0" err="1"/>
                  <a:t>ReLU</a:t>
                </a:r>
                <a:r>
                  <a:rPr lang="zh-CN" altLang="en-US" sz="2400" dirty="0"/>
                  <a:t>函数</a:t>
                </a:r>
                <a:endParaRPr lang="en-US" altLang="zh-CN" sz="2400" dirty="0"/>
              </a:p>
              <a:p>
                <a:pPr marL="342900" indent="-342900">
                  <a:buFont typeface="Wingdings" pitchFamily="2" charset="2"/>
                  <a:buChar char="n"/>
                </a:pPr>
                <a:endParaRPr lang="en-US" altLang="zh-CN" sz="2400" dirty="0"/>
              </a:p>
              <a:p>
                <a:pPr marL="342900" indent="-342900">
                  <a:buFont typeface="Wingdings" pitchFamily="2" charset="2"/>
                  <a:buChar char="n"/>
                </a:pPr>
                <a:endParaRPr lang="en-US" altLang="zh-CN" sz="2400" dirty="0"/>
              </a:p>
              <a:p>
                <a:pPr marL="800100" lvl="1" indent="-342900">
                  <a:lnSpc>
                    <a:spcPct val="150000"/>
                  </a:lnSpc>
                  <a:buFont typeface="Wingdings" pitchFamily="2" charset="2"/>
                  <a:buChar char="p"/>
                </a:pPr>
                <a:r>
                  <a:rPr lang="zh-CN" altLang="en-US" sz="2400" dirty="0"/>
                  <a:t>梯度消失风险更低</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10469130" cy="4372607"/>
              </a:xfrm>
              <a:prstGeom prst="rect">
                <a:avLst/>
              </a:prstGeom>
              <a:blipFill>
                <a:blip r:embed="rId3"/>
                <a:stretch>
                  <a:fillRect l="-848" b="-23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B402517-44EF-2D4B-B27C-2FD6AA02B732}"/>
                  </a:ext>
                </a:extLst>
              </p:cNvPr>
              <p:cNvSpPr txBox="1"/>
              <p:nvPr/>
            </p:nvSpPr>
            <p:spPr>
              <a:xfrm>
                <a:off x="1918681" y="2787061"/>
                <a:ext cx="8354635"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oMath>
                  </m:oMathPara>
                </a14:m>
                <a:endParaRPr lang="zh-CN" altLang="en-US" sz="2400" dirty="0"/>
              </a:p>
            </p:txBody>
          </p:sp>
        </mc:Choice>
        <mc:Fallback xmlns="">
          <p:sp>
            <p:nvSpPr>
              <p:cNvPr id="46" name="文本框 45">
                <a:extLst>
                  <a:ext uri="{FF2B5EF4-FFF2-40B4-BE49-F238E27FC236}">
                    <a16:creationId xmlns:a16="http://schemas.microsoft.com/office/drawing/2014/main" id="{9B402517-44EF-2D4B-B27C-2FD6AA02B732}"/>
                  </a:ext>
                </a:extLst>
              </p:cNvPr>
              <p:cNvSpPr txBox="1">
                <a:spLocks noRot="1" noChangeAspect="1" noMove="1" noResize="1" noEditPoints="1" noAdjustHandles="1" noChangeArrowheads="1" noChangeShapeType="1" noTextEdit="1"/>
              </p:cNvSpPr>
              <p:nvPr/>
            </p:nvSpPr>
            <p:spPr>
              <a:xfrm>
                <a:off x="1918681" y="2787061"/>
                <a:ext cx="8354635" cy="875432"/>
              </a:xfrm>
              <a:prstGeom prst="rect">
                <a:avLst/>
              </a:prstGeom>
              <a:blipFill>
                <a:blip r:embed="rId4"/>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AB0F149-6D31-324E-A655-269A9480B5EE}"/>
                  </a:ext>
                </a:extLst>
              </p:cNvPr>
              <p:cNvSpPr txBox="1"/>
              <p:nvPr/>
            </p:nvSpPr>
            <p:spPr>
              <a:xfrm>
                <a:off x="5107611" y="5306670"/>
                <a:ext cx="3637388"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i="1" smtClean="0">
                              <a:solidFill>
                                <a:schemeClr val="tx1"/>
                              </a:solidFill>
                              <a:latin typeface="Cambria Math" panose="02040503050406030204" pitchFamily="18" charset="0"/>
                            </a:rPr>
                            <m:t>𝜎</m:t>
                          </m:r>
                        </m:e>
                        <m:sup>
                          <m:r>
                            <a:rPr kumimoji="1" lang="en-US" altLang="zh-CN" sz="2400" b="0" i="1" smtClean="0">
                              <a:solidFill>
                                <a:schemeClr val="tx1"/>
                              </a:solidFill>
                              <a:latin typeface="Cambria Math" panose="02040503050406030204" pitchFamily="18" charset="0"/>
                            </a:rPr>
                            <m:t>′</m:t>
                          </m:r>
                        </m:sup>
                      </m:s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𝑧</m:t>
                          </m:r>
                        </m:e>
                      </m:d>
                      <m:r>
                        <a:rPr lang="en-US" altLang="zh-CN" sz="2400" i="1">
                          <a:solidFill>
                            <a:schemeClr val="tx1"/>
                          </a:solidFill>
                          <a:latin typeface="Cambria Math" panose="02040503050406030204" pitchFamily="18" charset="0"/>
                        </a:rPr>
                        <m:t>=</m:t>
                      </m:r>
                      <m:d>
                        <m:dPr>
                          <m:begChr m:val="{"/>
                          <m:endChr m:val=""/>
                          <m:ctrlPr>
                            <a:rPr lang="en-US" altLang="zh-CN" sz="2400" i="1" smtClean="0">
                              <a:solidFill>
                                <a:schemeClr val="tx1"/>
                              </a:solidFill>
                              <a:latin typeface="Cambria Math" panose="02040503050406030204" pitchFamily="18" charset="0"/>
                            </a:rPr>
                          </m:ctrlPr>
                        </m:dPr>
                        <m:e>
                          <m:m>
                            <m:mPr>
                              <m:mcs>
                                <m:mc>
                                  <m:mcPr>
                                    <m:count m:val="1"/>
                                    <m:mcJc m:val="center"/>
                                  </m:mcPr>
                                </m:mc>
                              </m:mcs>
                              <m:ctrlPr>
                                <a:rPr lang="en-US" altLang="zh-CN" sz="2400" i="1" smtClean="0">
                                  <a:solidFill>
                                    <a:schemeClr val="tx1"/>
                                  </a:solidFill>
                                  <a:latin typeface="Cambria Math" panose="02040503050406030204" pitchFamily="18" charset="0"/>
                                </a:rPr>
                              </m:ctrlPr>
                            </m:mPr>
                            <m:mr>
                              <m:e>
                                <m:r>
                                  <m:rPr>
                                    <m:brk m:alnAt="7"/>
                                  </m:rPr>
                                  <a:rPr lang="en-US" altLang="zh-CN" sz="2400" b="0" i="1" smtClean="0">
                                    <a:solidFill>
                                      <a:schemeClr val="tx1"/>
                                    </a:solidFill>
                                    <a:latin typeface="Cambria Math" panose="02040503050406030204" pitchFamily="18" charset="0"/>
                                  </a:rPr>
                                  <m:t>1</m:t>
                                </m:r>
                                <m:r>
                                  <a:rPr lang="en-US" altLang="zh-CN" sz="2400" b="0" i="1" smtClean="0">
                                    <a:solidFill>
                                      <a:schemeClr val="tx1"/>
                                    </a:solidFill>
                                    <a:latin typeface="Cambria Math" panose="02040503050406030204" pitchFamily="18" charset="0"/>
                                  </a:rPr>
                                  <m:t>, </m:t>
                                </m:r>
                                <m:r>
                                  <m:rPr>
                                    <m:sty m:val="p"/>
                                    <m:brk m:alnAt="7"/>
                                  </m:rPr>
                                  <a:rPr lang="en-US" altLang="zh-CN" sz="2400" b="0" i="0" smtClean="0">
                                    <a:solidFill>
                                      <a:schemeClr val="tx1"/>
                                    </a:solidFill>
                                    <a:latin typeface="Cambria Math" panose="02040503050406030204" pitchFamily="18" charset="0"/>
                                  </a:rPr>
                                  <m:t>i</m:t>
                                </m:r>
                                <m:r>
                                  <m:rPr>
                                    <m:sty m:val="p"/>
                                  </m:rPr>
                                  <a:rPr lang="en-US" altLang="zh-CN" sz="2400" b="0" i="0" smtClean="0">
                                    <a:solidFill>
                                      <a:schemeClr val="tx1"/>
                                    </a:solidFill>
                                    <a:latin typeface="Cambria Math" panose="02040503050406030204" pitchFamily="18" charset="0"/>
                                  </a:rPr>
                                  <m:t>f</m:t>
                                </m:r>
                                <m:r>
                                  <m:rPr>
                                    <m:brk m:alnAt="7"/>
                                  </m:rPr>
                                  <a:rPr lang="en-US" altLang="zh-CN" sz="2400" b="0" i="1" smtClean="0">
                                    <a:solidFill>
                                      <a:schemeClr val="tx1"/>
                                    </a:solidFill>
                                    <a:latin typeface="Cambria Math" panose="02040503050406030204" pitchFamily="18" charset="0"/>
                                  </a:rPr>
                                  <m:t> </m:t>
                                </m:r>
                                <m:r>
                                  <a:rPr lang="en-US" altLang="zh-CN" sz="2400" b="0" i="1" smtClean="0">
                                    <a:solidFill>
                                      <a:schemeClr val="tx1"/>
                                    </a:solidFill>
                                    <a:latin typeface="Cambria Math" panose="02040503050406030204" pitchFamily="18" charset="0"/>
                                  </a:rPr>
                                  <m:t>𝑧</m:t>
                                </m:r>
                                <m:r>
                                  <a:rPr lang="en-US" altLang="zh-CN" sz="2400" b="0" i="1" smtClean="0">
                                    <a:solidFill>
                                      <a:schemeClr val="tx1"/>
                                    </a:solidFill>
                                    <a:latin typeface="Cambria Math" panose="02040503050406030204" pitchFamily="18" charset="0"/>
                                  </a:rPr>
                                  <m:t>&gt;0</m:t>
                                </m:r>
                              </m:e>
                            </m:mr>
                            <m:mr>
                              <m:e>
                                <m:r>
                                  <a:rPr lang="en-US" altLang="zh-CN" sz="2400" b="0" i="1" smtClean="0">
                                    <a:solidFill>
                                      <a:schemeClr val="tx1"/>
                                    </a:solidFill>
                                    <a:latin typeface="Cambria Math" panose="02040503050406030204" pitchFamily="18" charset="0"/>
                                  </a:rPr>
                                  <m:t>𝛼</m:t>
                                </m:r>
                                <m:r>
                                  <a:rPr lang="en-US" altLang="zh-CN" sz="2400" b="0" i="1" smtClean="0">
                                    <a:solidFill>
                                      <a:schemeClr val="tx1"/>
                                    </a:solidFill>
                                    <a:latin typeface="Cambria Math" panose="02040503050406030204" pitchFamily="18" charset="0"/>
                                  </a:rPr>
                                  <m:t>, </m:t>
                                </m:r>
                                <m:r>
                                  <m:rPr>
                                    <m:sty m:val="p"/>
                                  </m:rPr>
                                  <a:rPr lang="en-US" altLang="zh-CN" sz="2400" b="0" i="0" smtClean="0">
                                    <a:solidFill>
                                      <a:schemeClr val="tx1"/>
                                    </a:solidFill>
                                    <a:latin typeface="Cambria Math" panose="02040503050406030204" pitchFamily="18" charset="0"/>
                                  </a:rPr>
                                  <m:t>otherwise</m:t>
                                </m:r>
                              </m:e>
                            </m:mr>
                          </m:m>
                        </m:e>
                      </m:d>
                    </m:oMath>
                  </m:oMathPara>
                </a14:m>
                <a:endParaRPr lang="zh-CN" altLang="en-US" sz="2400" dirty="0">
                  <a:solidFill>
                    <a:schemeClr val="tx1"/>
                  </a:solidFill>
                </a:endParaRPr>
              </a:p>
            </p:txBody>
          </p:sp>
        </mc:Choice>
        <mc:Fallback xmlns="">
          <p:sp>
            <p:nvSpPr>
              <p:cNvPr id="16" name="文本框 15">
                <a:extLst>
                  <a:ext uri="{FF2B5EF4-FFF2-40B4-BE49-F238E27FC236}">
                    <a16:creationId xmlns:a16="http://schemas.microsoft.com/office/drawing/2014/main" id="{0AB0F149-6D31-324E-A655-269A9480B5EE}"/>
                  </a:ext>
                </a:extLst>
              </p:cNvPr>
              <p:cNvSpPr txBox="1">
                <a:spLocks noRot="1" noChangeAspect="1" noMove="1" noResize="1" noEditPoints="1" noAdjustHandles="1" noChangeArrowheads="1" noChangeShapeType="1" noTextEdit="1"/>
              </p:cNvSpPr>
              <p:nvPr/>
            </p:nvSpPr>
            <p:spPr>
              <a:xfrm>
                <a:off x="5107611" y="5306670"/>
                <a:ext cx="3637388" cy="916148"/>
              </a:xfrm>
              <a:prstGeom prst="rect">
                <a:avLst/>
              </a:prstGeom>
              <a:blipFill>
                <a:blip r:embed="rId5"/>
                <a:stretch>
                  <a:fillRect l="-2091" t="-198630" b="-287671"/>
                </a:stretch>
              </a:blipFill>
            </p:spPr>
            <p:txBody>
              <a:bodyPr/>
              <a:lstStyle/>
              <a:p>
                <a:r>
                  <a:rPr lang="zh-CN" altLang="en-US">
                    <a:noFill/>
                  </a:rPr>
                  <a:t> </a:t>
                </a:r>
              </a:p>
            </p:txBody>
          </p:sp>
        </mc:Fallback>
      </mc:AlternateContent>
      <p:sp>
        <p:nvSpPr>
          <p:cNvPr id="17" name="燕尾形箭头 16">
            <a:extLst>
              <a:ext uri="{FF2B5EF4-FFF2-40B4-BE49-F238E27FC236}">
                <a16:creationId xmlns:a16="http://schemas.microsoft.com/office/drawing/2014/main" id="{84AEAE1A-C91A-DD4D-B5DF-693238DB8798}"/>
              </a:ext>
            </a:extLst>
          </p:cNvPr>
          <p:cNvSpPr/>
          <p:nvPr/>
        </p:nvSpPr>
        <p:spPr bwMode="auto">
          <a:xfrm>
            <a:off x="4526245" y="5595251"/>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2C4BD8E-78BA-A041-A363-F5DE35F60764}"/>
                  </a:ext>
                </a:extLst>
              </p:cNvPr>
              <p:cNvSpPr txBox="1"/>
              <p:nvPr/>
            </p:nvSpPr>
            <p:spPr>
              <a:xfrm>
                <a:off x="3045993" y="4161175"/>
                <a:ext cx="6100010" cy="84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𝛿</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ℓ</m:t>
                                  </m:r>
                                </m:e>
                              </m:d>
                            </m:sup>
                          </m:sSup>
                        </m:e>
                      </m:d>
                      <m:r>
                        <a:rPr lang="en-US" altLang="zh-CN" sz="2400" b="0" i="1" smtClean="0">
                          <a:solidFill>
                            <a:schemeClr val="tx1"/>
                          </a:solidFill>
                          <a:latin typeface="Cambria Math" panose="02040503050406030204" pitchFamily="18" charset="0"/>
                        </a:rPr>
                        <m:t>≤</m:t>
                      </m:r>
                      <m:d>
                        <m:dPr>
                          <m:begChr m:val="‖"/>
                          <m:endChr m:val="‖"/>
                          <m:ctrlPr>
                            <a:rPr lang="en-US" altLang="zh-CN" sz="2400" i="1">
                              <a:solidFill>
                                <a:schemeClr val="tx1"/>
                              </a:solidFill>
                              <a:latin typeface="Cambria Math" panose="02040503050406030204" pitchFamily="18" charset="0"/>
                            </a:rPr>
                          </m:ctrlPr>
                        </m:dPr>
                        <m:e>
                          <m:sSup>
                            <m:sSupPr>
                              <m:ctrlPr>
                                <a:rPr kumimoji="1" lang="en-US" altLang="zh-CN" sz="2400" i="1">
                                  <a:solidFill>
                                    <a:schemeClr val="tx1"/>
                                  </a:solidFill>
                                  <a:latin typeface="Cambria Math" panose="02040503050406030204" pitchFamily="18" charset="0"/>
                                </a:rPr>
                              </m:ctrlPr>
                            </m:sSupPr>
                            <m:e>
                              <m:r>
                                <a:rPr kumimoji="1" lang="en-US" altLang="zh-CN" sz="2400" i="1">
                                  <a:solidFill>
                                    <a:schemeClr val="tx1"/>
                                  </a:solidFill>
                                  <a:latin typeface="Cambria Math" panose="02040503050406030204" pitchFamily="18" charset="0"/>
                                </a:rPr>
                                <m:t>𝛿</m:t>
                              </m:r>
                            </m:e>
                            <m:sup>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𝐿</m:t>
                                  </m:r>
                                </m:e>
                              </m:d>
                            </m:sup>
                          </m:sSup>
                        </m:e>
                      </m:d>
                      <m:nary>
                        <m:naryPr>
                          <m:chr m:val="∏"/>
                          <m:limLoc m:val="subSup"/>
                          <m:ctrlPr>
                            <a:rPr lang="en-US" altLang="zh-CN" sz="2400" b="0" i="1" smtClean="0">
                              <a:solidFill>
                                <a:schemeClr val="tx1"/>
                              </a:solidFill>
                              <a:latin typeface="Cambria Math" panose="02040503050406030204" pitchFamily="18" charset="0"/>
                            </a:rPr>
                          </m:ctrlPr>
                        </m:naryPr>
                        <m:sub>
                          <m:r>
                            <m:rPr>
                              <m:brk m:alnAt="25"/>
                            </m:rPr>
                            <a:rPr lang="en-US" altLang="zh-CN" sz="2400" b="0" i="1" smtClean="0">
                              <a:solidFill>
                                <a:schemeClr val="tx1"/>
                              </a:solidFill>
                              <a:latin typeface="Cambria Math" panose="02040503050406030204" pitchFamily="18" charset="0"/>
                            </a:rPr>
                            <m:t>𝑘</m:t>
                          </m:r>
                          <m:r>
                            <a:rPr lang="en-US" altLang="zh-CN" sz="2400" b="0" i="1" smtClean="0">
                              <a:solidFill>
                                <a:schemeClr val="tx1"/>
                              </a:solidFill>
                              <a:latin typeface="Cambria Math" panose="02040503050406030204" pitchFamily="18" charset="0"/>
                            </a:rPr>
                            <m:t>=ℓ</m:t>
                          </m:r>
                        </m:sub>
                        <m:sup>
                          <m:r>
                            <a:rPr lang="en-US" altLang="zh-CN" sz="2400" b="0" i="1" smtClean="0">
                              <a:solidFill>
                                <a:schemeClr val="tx1"/>
                              </a:solidFill>
                              <a:latin typeface="Cambria Math" panose="02040503050406030204" pitchFamily="18" charset="0"/>
                            </a:rPr>
                            <m:t>𝐿</m:t>
                          </m:r>
                          <m:r>
                            <a:rPr lang="en-US" altLang="zh-CN" sz="2400" b="0" i="1" smtClean="0">
                              <a:solidFill>
                                <a:schemeClr val="tx1"/>
                              </a:solidFill>
                              <a:latin typeface="Cambria Math" panose="02040503050406030204" pitchFamily="18" charset="0"/>
                            </a:rPr>
                            <m:t>−1</m:t>
                          </m:r>
                        </m:sup>
                        <m:e>
                          <m:d>
                            <m:dPr>
                              <m:ctrlPr>
                                <a:rPr lang="en-US" altLang="zh-CN" sz="2400" b="0" i="1" smtClean="0">
                                  <a:solidFill>
                                    <a:schemeClr val="tx1"/>
                                  </a:solidFill>
                                  <a:latin typeface="Cambria Math" panose="02040503050406030204" pitchFamily="18" charset="0"/>
                                </a:rPr>
                              </m:ctrlPr>
                            </m:dPr>
                            <m:e>
                              <m:d>
                                <m:dPr>
                                  <m:begChr m:val="‖"/>
                                  <m:endChr m:val="‖"/>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𝐷</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e>
                                      </m:d>
                                    </m:sup>
                                  </m:sSup>
                                </m:e>
                              </m:d>
                              <m:d>
                                <m:dPr>
                                  <m:begChr m:val="‖"/>
                                  <m:endChr m:val="‖"/>
                                  <m:ctrlPr>
                                    <a:rPr lang="en-US" altLang="zh-CN" sz="2400" i="1">
                                      <a:solidFill>
                                        <a:schemeClr val="tx1"/>
                                      </a:solidFill>
                                      <a:latin typeface="Cambria Math" panose="02040503050406030204" pitchFamily="18" charset="0"/>
                                    </a:rPr>
                                  </m:ctrlPr>
                                </m:dPr>
                                <m:e>
                                  <m:sSup>
                                    <m:sSupPr>
                                      <m:ctrlPr>
                                        <a:rPr lang="en-US"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𝑊</m:t>
                                      </m:r>
                                    </m:e>
                                    <m:sup>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𝑘</m:t>
                                          </m:r>
                                          <m:r>
                                            <a:rPr lang="en-US" altLang="zh-CN" sz="2400" i="1">
                                              <a:solidFill>
                                                <a:schemeClr val="tx1"/>
                                              </a:solidFill>
                                              <a:latin typeface="Cambria Math" panose="02040503050406030204" pitchFamily="18" charset="0"/>
                                            </a:rPr>
                                            <m:t>+1</m:t>
                                          </m:r>
                                        </m:e>
                                      </m:d>
                                    </m:sup>
                                  </m:sSup>
                                </m:e>
                              </m:d>
                            </m:e>
                          </m:d>
                        </m:e>
                      </m:nary>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A2C4BD8E-78BA-A041-A363-F5DE35F60764}"/>
                  </a:ext>
                </a:extLst>
              </p:cNvPr>
              <p:cNvSpPr txBox="1">
                <a:spLocks noRot="1" noChangeAspect="1" noMove="1" noResize="1" noEditPoints="1" noAdjustHandles="1" noChangeArrowheads="1" noChangeShapeType="1" noTextEdit="1"/>
              </p:cNvSpPr>
              <p:nvPr/>
            </p:nvSpPr>
            <p:spPr>
              <a:xfrm>
                <a:off x="3045993" y="4161175"/>
                <a:ext cx="6100010" cy="848246"/>
              </a:xfrm>
              <a:prstGeom prst="rect">
                <a:avLst/>
              </a:prstGeom>
              <a:blipFill>
                <a:blip r:embed="rId6"/>
                <a:stretch>
                  <a:fillRect t="-150000" b="-2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DF85B2E-89CA-944F-9055-F9E53F5D51A3}"/>
                  </a:ext>
                </a:extLst>
              </p:cNvPr>
              <p:cNvSpPr txBox="1"/>
              <p:nvPr/>
            </p:nvSpPr>
            <p:spPr>
              <a:xfrm>
                <a:off x="883731" y="5336654"/>
                <a:ext cx="3637388"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i="1" smtClean="0">
                          <a:solidFill>
                            <a:schemeClr val="tx1"/>
                          </a:solidFill>
                          <a:latin typeface="Cambria Math" panose="02040503050406030204" pitchFamily="18" charset="0"/>
                        </a:rPr>
                        <m:t>𝜎</m:t>
                      </m:r>
                      <m:d>
                        <m:dPr>
                          <m:ctrlPr>
                            <a:rPr kumimoji="1" lang="en-US" altLang="zh-CN" sz="2400" i="1">
                              <a:solidFill>
                                <a:schemeClr val="tx1"/>
                              </a:solidFill>
                              <a:latin typeface="Cambria Math" panose="02040503050406030204" pitchFamily="18" charset="0"/>
                            </a:rPr>
                          </m:ctrlPr>
                        </m:dPr>
                        <m:e>
                          <m:r>
                            <a:rPr kumimoji="1" lang="en-US" altLang="zh-CN" sz="2400" i="1">
                              <a:solidFill>
                                <a:schemeClr val="tx1"/>
                              </a:solidFill>
                              <a:latin typeface="Cambria Math" panose="02040503050406030204" pitchFamily="18" charset="0"/>
                            </a:rPr>
                            <m:t>𝑧</m:t>
                          </m:r>
                        </m:e>
                      </m:d>
                      <m:r>
                        <a:rPr lang="en-US" altLang="zh-CN" sz="2400" i="1">
                          <a:solidFill>
                            <a:schemeClr val="tx1"/>
                          </a:solidFill>
                          <a:latin typeface="Cambria Math" panose="02040503050406030204" pitchFamily="18" charset="0"/>
                        </a:rPr>
                        <m:t>=</m:t>
                      </m:r>
                      <m:d>
                        <m:dPr>
                          <m:begChr m:val="{"/>
                          <m:endChr m:val=""/>
                          <m:ctrlPr>
                            <a:rPr lang="en-US" altLang="zh-CN" sz="2400" i="1" smtClean="0">
                              <a:solidFill>
                                <a:schemeClr val="tx1"/>
                              </a:solidFill>
                              <a:latin typeface="Cambria Math" panose="02040503050406030204" pitchFamily="18" charset="0"/>
                            </a:rPr>
                          </m:ctrlPr>
                        </m:dPr>
                        <m:e>
                          <m:eqArr>
                            <m:eqArrPr>
                              <m:ctrlPr>
                                <a:rPr lang="en-US" altLang="zh-CN" sz="2400" i="1" smtClean="0">
                                  <a:solidFill>
                                    <a:schemeClr val="tx1"/>
                                  </a:solidFill>
                                  <a:latin typeface="Cambria Math" panose="02040503050406030204" pitchFamily="18" charset="0"/>
                                </a:rPr>
                              </m:ctrlPr>
                            </m:eqArrPr>
                            <m:e>
                              <m:r>
                                <a:rPr lang="en-US" altLang="zh-CN" sz="2400" b="0" i="1" smtClean="0">
                                  <a:solidFill>
                                    <a:schemeClr val="tx1"/>
                                  </a:solidFill>
                                  <a:latin typeface="Cambria Math" panose="02040503050406030204" pitchFamily="18" charset="0"/>
                                </a:rPr>
                                <m:t>𝑧</m:t>
                              </m:r>
                              <m:r>
                                <a:rPr lang="en-US" altLang="zh-CN" sz="2400" b="0" i="1" smtClean="0">
                                  <a:solidFill>
                                    <a:schemeClr val="tx1"/>
                                  </a:solidFill>
                                  <a:latin typeface="Cambria Math" panose="02040503050406030204" pitchFamily="18" charset="0"/>
                                </a:rPr>
                                <m:t>, </m:t>
                              </m:r>
                              <m:r>
                                <m:rPr>
                                  <m:sty m:val="p"/>
                                </m:rPr>
                                <a:rPr lang="en-US" altLang="zh-CN" sz="2400" b="0" i="0" smtClean="0">
                                  <a:solidFill>
                                    <a:schemeClr val="tx1"/>
                                  </a:solidFill>
                                  <a:latin typeface="Cambria Math" panose="02040503050406030204" pitchFamily="18" charset="0"/>
                                </a:rPr>
                                <m:t>if</m:t>
                              </m:r>
                              <m:r>
                                <a:rPr lang="en-US" altLang="zh-CN" sz="2400" b="0" i="1" smtClean="0">
                                  <a:solidFill>
                                    <a:schemeClr val="tx1"/>
                                  </a:solidFill>
                                  <a:latin typeface="Cambria Math" panose="02040503050406030204" pitchFamily="18" charset="0"/>
                                </a:rPr>
                                <m:t> </m:t>
                              </m:r>
                              <m:r>
                                <a:rPr lang="en-US" altLang="zh-CN" sz="2400" b="0" i="1" smtClean="0">
                                  <a:solidFill>
                                    <a:schemeClr val="tx1"/>
                                  </a:solidFill>
                                  <a:latin typeface="Cambria Math" panose="02040503050406030204" pitchFamily="18" charset="0"/>
                                </a:rPr>
                                <m:t>𝑧</m:t>
                              </m:r>
                              <m:r>
                                <a:rPr lang="en-US" altLang="zh-CN" sz="2400" b="0" i="1" smtClean="0">
                                  <a:solidFill>
                                    <a:schemeClr val="tx1"/>
                                  </a:solidFill>
                                  <a:latin typeface="Cambria Math" panose="02040503050406030204" pitchFamily="18" charset="0"/>
                                </a:rPr>
                                <m:t>&gt;0</m:t>
                              </m:r>
                            </m:e>
                            <m:e>
                              <m:r>
                                <a:rPr lang="en-US" altLang="zh-CN" sz="2400" b="0" i="1" smtClean="0">
                                  <a:solidFill>
                                    <a:schemeClr val="tx1"/>
                                  </a:solidFill>
                                  <a:latin typeface="Cambria Math" panose="02040503050406030204" pitchFamily="18" charset="0"/>
                                </a:rPr>
                                <m:t>𝛼</m:t>
                              </m:r>
                              <m:r>
                                <a:rPr lang="en-US" altLang="zh-CN" sz="2400" b="0" i="1" smtClean="0">
                                  <a:solidFill>
                                    <a:schemeClr val="tx1"/>
                                  </a:solidFill>
                                  <a:latin typeface="Cambria Math" panose="02040503050406030204" pitchFamily="18" charset="0"/>
                                </a:rPr>
                                <m:t>𝑧</m:t>
                              </m:r>
                              <m:r>
                                <a:rPr lang="en-US" altLang="zh-CN" sz="2400" b="0" i="1" smtClean="0">
                                  <a:solidFill>
                                    <a:schemeClr val="tx1"/>
                                  </a:solidFill>
                                  <a:latin typeface="Cambria Math" panose="02040503050406030204" pitchFamily="18" charset="0"/>
                                </a:rPr>
                                <m:t>, </m:t>
                              </m:r>
                              <m:r>
                                <m:rPr>
                                  <m:sty m:val="p"/>
                                </m:rPr>
                                <a:rPr lang="en-US" altLang="zh-CN" sz="2400" b="0" i="0" smtClean="0">
                                  <a:solidFill>
                                    <a:schemeClr val="tx1"/>
                                  </a:solidFill>
                                  <a:latin typeface="Cambria Math" panose="02040503050406030204" pitchFamily="18" charset="0"/>
                                </a:rPr>
                                <m:t>otherwise</m:t>
                              </m:r>
                            </m:e>
                          </m:eqArr>
                        </m:e>
                      </m:d>
                    </m:oMath>
                  </m:oMathPara>
                </a14:m>
                <a:endParaRPr lang="zh-CN" altLang="en-US" sz="2400" dirty="0">
                  <a:solidFill>
                    <a:schemeClr val="tx1"/>
                  </a:solidFill>
                </a:endParaRPr>
              </a:p>
            </p:txBody>
          </p:sp>
        </mc:Choice>
        <mc:Fallback xmlns="">
          <p:sp>
            <p:nvSpPr>
              <p:cNvPr id="12" name="文本框 11">
                <a:extLst>
                  <a:ext uri="{FF2B5EF4-FFF2-40B4-BE49-F238E27FC236}">
                    <a16:creationId xmlns:a16="http://schemas.microsoft.com/office/drawing/2014/main" id="{FDF85B2E-89CA-944F-9055-F9E53F5D51A3}"/>
                  </a:ext>
                </a:extLst>
              </p:cNvPr>
              <p:cNvSpPr txBox="1">
                <a:spLocks noRot="1" noChangeAspect="1" noMove="1" noResize="1" noEditPoints="1" noAdjustHandles="1" noChangeArrowheads="1" noChangeShapeType="1" noTextEdit="1"/>
              </p:cNvSpPr>
              <p:nvPr/>
            </p:nvSpPr>
            <p:spPr>
              <a:xfrm>
                <a:off x="883731" y="5336654"/>
                <a:ext cx="3637388" cy="916148"/>
              </a:xfrm>
              <a:prstGeom prst="rect">
                <a:avLst/>
              </a:prstGeom>
              <a:blipFill>
                <a:blip r:embed="rId7"/>
                <a:stretch>
                  <a:fillRect l="-5208" t="-198630" b="-2890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24528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82</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897730"/>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确定损失函数后，多层感知机的参数优化同样遵循经验风险最小化原则。因此一般会被转化为优化问题，再利用梯度信息进行迭代求解。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多层感知机：梯度计算</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334643"/>
                <a:ext cx="6771867" cy="3040704"/>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第</a:t>
                </a:r>
                <a14:m>
                  <m:oMath xmlns:m="http://schemas.openxmlformats.org/officeDocument/2006/math">
                    <m:r>
                      <a:rPr lang="en-US" altLang="zh-CN" sz="2400" b="0" i="1" smtClean="0">
                        <a:latin typeface="Cambria Math" panose="02040503050406030204" pitchFamily="18" charset="0"/>
                      </a:rPr>
                      <m:t>ℓ</m:t>
                    </m:r>
                  </m:oMath>
                </a14:m>
                <a:r>
                  <a:rPr lang="zh-CN" altLang="en-US" sz="2400" dirty="0"/>
                  <a:t>层梯度</a:t>
                </a:r>
                <a:r>
                  <a:rPr lang="en-US" altLang="zh-CN" sz="2400" dirty="0"/>
                  <a:t>(</a:t>
                </a:r>
                <a:r>
                  <a:rPr lang="zh-CN" altLang="en-US" sz="2400" dirty="0"/>
                  <a:t>重写</a:t>
                </a:r>
                <a:r>
                  <a:rPr lang="en-US" altLang="zh-CN" sz="2400" dirty="0"/>
                  <a:t>)</a:t>
                </a:r>
              </a:p>
              <a:p>
                <a:pPr>
                  <a:lnSpc>
                    <a:spcPct val="150000"/>
                  </a:lnSpc>
                </a:pPr>
                <a:endParaRPr lang="en-US" altLang="zh-CN" sz="2400" dirty="0"/>
              </a:p>
              <a:p>
                <a:pPr marL="342900" indent="-342900">
                  <a:lnSpc>
                    <a:spcPct val="200000"/>
                  </a:lnSpc>
                  <a:buFont typeface="Wingdings" pitchFamily="2" charset="2"/>
                  <a:buChar char="n"/>
                </a:pPr>
                <a:r>
                  <a:rPr lang="zh-CN" altLang="en-US" sz="2400" dirty="0">
                    <a:solidFill>
                      <a:srgbClr val="C00000"/>
                    </a:solidFill>
                  </a:rPr>
                  <a:t>假设没有激活函数</a:t>
                </a:r>
                <a:r>
                  <a:rPr lang="zh-CN" altLang="en-US" sz="2400" dirty="0"/>
                  <a:t>，</a:t>
                </a:r>
                <a14:m>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oMath>
                </a14:m>
                <a:r>
                  <a:rPr lang="zh-CN" altLang="en-US" sz="2400" dirty="0"/>
                  <a:t>可以做如下简化：</a:t>
                </a:r>
                <a:endParaRPr lang="en-US" altLang="zh-CN" sz="2400" dirty="0"/>
              </a:p>
              <a:p>
                <a:pPr marL="342900" indent="-342900">
                  <a:lnSpc>
                    <a:spcPct val="150000"/>
                  </a:lnSpc>
                  <a:buFont typeface="Wingdings" pitchFamily="2" charset="2"/>
                  <a:buChar char="n"/>
                </a:pPr>
                <a:endParaRPr lang="en-US" altLang="zh-CN" sz="2400" dirty="0"/>
              </a:p>
              <a:p>
                <a:pPr marL="342900" indent="-342900">
                  <a:lnSpc>
                    <a:spcPct val="150000"/>
                  </a:lnSpc>
                  <a:buFont typeface="Wingdings" pitchFamily="2" charset="2"/>
                  <a:buChar char="n"/>
                </a:pP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334643"/>
                <a:ext cx="6771867" cy="3040704"/>
              </a:xfrm>
              <a:prstGeom prst="rect">
                <a:avLst/>
              </a:prstGeom>
              <a:blipFill>
                <a:blip r:embed="rId3"/>
                <a:stretch>
                  <a:fillRect l="-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9B402517-44EF-2D4B-B27C-2FD6AA02B732}"/>
                  </a:ext>
                </a:extLst>
              </p:cNvPr>
              <p:cNvSpPr txBox="1"/>
              <p:nvPr/>
            </p:nvSpPr>
            <p:spPr>
              <a:xfrm>
                <a:off x="1918681" y="2787061"/>
                <a:ext cx="8354635" cy="87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𝑦</m:t>
                              </m:r>
                            </m:e>
                          </m:d>
                        </m:num>
                        <m:den>
                          <m:r>
                            <a:rPr kumimoji="1" lang="en-US" altLang="zh-CN" sz="2400" b="0" i="1" smtClean="0">
                              <a:latin typeface="Cambria Math" panose="02040503050406030204" pitchFamily="18" charset="0"/>
                            </a:rPr>
                            <m:t>𝜕</m:t>
                          </m:r>
                          <m:sSup>
                            <m:sSupPr>
                              <m:ctrlPr>
                                <a:rPr kumimoji="1" lang="en-US" altLang="zh-CN" sz="2400" b="0" i="1" smtClean="0">
                                  <a:latin typeface="Cambria Math" panose="02040503050406030204" pitchFamily="18" charset="0"/>
                                </a:rPr>
                              </m:ctrlPr>
                            </m:sSupPr>
                            <m:e>
                              <m:r>
                                <a:rPr kumimoji="1" lang="en-US" altLang="zh-CN" sz="2400" b="0" i="1" smtClean="0">
                                  <a:latin typeface="Cambria Math" panose="02040503050406030204" pitchFamily="18" charset="0"/>
                                </a:rPr>
                                <m:t>𝜃</m:t>
                              </m:r>
                            </m:e>
                            <m:sup>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b="0" i="1" smtClean="0">
                                  <a:latin typeface="Cambria Math" panose="02040503050406030204" pitchFamily="18" charset="0"/>
                                </a:rPr>
                                <m:t>𝑧</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num>
                        <m:den>
                          <m:r>
                            <a:rPr kumimoji="1" lang="en-US" altLang="zh-CN" sz="2400" i="1">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𝜃</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ℓ</m:t>
                                  </m:r>
                                </m:e>
                              </m:d>
                            </m:sup>
                          </m:sSup>
                        </m:den>
                      </m:f>
                    </m:oMath>
                  </m:oMathPara>
                </a14:m>
                <a:endParaRPr lang="zh-CN" altLang="en-US" sz="2400" dirty="0"/>
              </a:p>
            </p:txBody>
          </p:sp>
        </mc:Choice>
        <mc:Fallback xmlns="">
          <p:sp>
            <p:nvSpPr>
              <p:cNvPr id="46" name="文本框 45">
                <a:extLst>
                  <a:ext uri="{FF2B5EF4-FFF2-40B4-BE49-F238E27FC236}">
                    <a16:creationId xmlns:a16="http://schemas.microsoft.com/office/drawing/2014/main" id="{9B402517-44EF-2D4B-B27C-2FD6AA02B732}"/>
                  </a:ext>
                </a:extLst>
              </p:cNvPr>
              <p:cNvSpPr txBox="1">
                <a:spLocks noRot="1" noChangeAspect="1" noMove="1" noResize="1" noEditPoints="1" noAdjustHandles="1" noChangeArrowheads="1" noChangeShapeType="1" noTextEdit="1"/>
              </p:cNvSpPr>
              <p:nvPr/>
            </p:nvSpPr>
            <p:spPr>
              <a:xfrm>
                <a:off x="1918681" y="2787061"/>
                <a:ext cx="8354635" cy="875432"/>
              </a:xfrm>
              <a:prstGeom prst="rect">
                <a:avLst/>
              </a:prstGeom>
              <a:blipFill>
                <a:blip r:embed="rId4"/>
                <a:stretch>
                  <a:fillRect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05539A74-3814-0045-9643-6095B53855E9}"/>
                  </a:ext>
                </a:extLst>
              </p:cNvPr>
              <p:cNvSpPr txBox="1"/>
              <p:nvPr/>
            </p:nvSpPr>
            <p:spPr>
              <a:xfrm>
                <a:off x="1218614" y="4318057"/>
                <a:ext cx="3908220" cy="4866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r>
                            <a:rPr kumimoji="1" lang="en-US" altLang="zh-CN" sz="2400" i="1">
                              <a:latin typeface="Cambria Math" panose="02040503050406030204" pitchFamily="18" charset="0"/>
                            </a:rPr>
                            <m:t>⊤</m:t>
                          </m:r>
                        </m:sup>
                      </m:sSup>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sup>
                      </m:sSup>
                    </m:oMath>
                  </m:oMathPara>
                </a14:m>
                <a:endParaRPr lang="zh-CN" altLang="en-US" sz="2400" dirty="0">
                  <a:solidFill>
                    <a:schemeClr val="tx1"/>
                  </a:solidFill>
                </a:endParaRPr>
              </a:p>
            </p:txBody>
          </p:sp>
        </mc:Choice>
        <mc:Fallback xmlns="">
          <p:sp>
            <p:nvSpPr>
              <p:cNvPr id="60" name="文本框 59">
                <a:extLst>
                  <a:ext uri="{FF2B5EF4-FFF2-40B4-BE49-F238E27FC236}">
                    <a16:creationId xmlns:a16="http://schemas.microsoft.com/office/drawing/2014/main" id="{05539A74-3814-0045-9643-6095B53855E9}"/>
                  </a:ext>
                </a:extLst>
              </p:cNvPr>
              <p:cNvSpPr txBox="1">
                <a:spLocks noRot="1" noChangeAspect="1" noMove="1" noResize="1" noEditPoints="1" noAdjustHandles="1" noChangeArrowheads="1" noChangeShapeType="1" noTextEdit="1"/>
              </p:cNvSpPr>
              <p:nvPr/>
            </p:nvSpPr>
            <p:spPr>
              <a:xfrm>
                <a:off x="1218614" y="4318057"/>
                <a:ext cx="3908220" cy="48667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5CB7A01-2ED4-3E40-9401-A28CA02CF158}"/>
                  </a:ext>
                </a:extLst>
              </p:cNvPr>
              <p:cNvSpPr txBox="1"/>
              <p:nvPr/>
            </p:nvSpPr>
            <p:spPr>
              <a:xfrm>
                <a:off x="5374863" y="4247725"/>
                <a:ext cx="5297062" cy="4932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400" b="0" i="1" smtClean="0">
                              <a:solidFill>
                                <a:schemeClr val="tx1"/>
                              </a:solidFill>
                              <a:latin typeface="Cambria Math" panose="02040503050406030204" pitchFamily="18" charset="0"/>
                            </a:rPr>
                          </m:ctrlPr>
                        </m:sSupPr>
                        <m:e>
                          <m:r>
                            <a:rPr kumimoji="1" lang="en-US" altLang="zh-CN" sz="2400" b="0" i="1" smtClean="0">
                              <a:solidFill>
                                <a:schemeClr val="tx1"/>
                              </a:solidFill>
                              <a:latin typeface="Cambria Math" panose="02040503050406030204" pitchFamily="18" charset="0"/>
                            </a:rPr>
                            <m:t>𝛿</m:t>
                          </m:r>
                        </m:e>
                        <m:sup>
                          <m:d>
                            <m:dPr>
                              <m:ctrlPr>
                                <a:rPr kumimoji="1" lang="en-US" altLang="zh-CN" sz="2400" b="0" i="1" smtClean="0">
                                  <a:solidFill>
                                    <a:schemeClr val="tx1"/>
                                  </a:solidFill>
                                  <a:latin typeface="Cambria Math" panose="02040503050406030204" pitchFamily="18" charset="0"/>
                                </a:rPr>
                              </m:ctrlPr>
                            </m:dPr>
                            <m:e>
                              <m:r>
                                <a:rPr kumimoji="1" lang="en-US" altLang="zh-CN" sz="2400" b="0" i="1" smtClean="0">
                                  <a:solidFill>
                                    <a:schemeClr val="tx1"/>
                                  </a:solidFill>
                                  <a:latin typeface="Cambria Math" panose="02040503050406030204" pitchFamily="18" charset="0"/>
                                </a:rPr>
                                <m:t>ℓ</m:t>
                              </m:r>
                            </m:e>
                          </m:d>
                        </m:sup>
                      </m:sSup>
                      <m:r>
                        <a:rPr kumimoji="1" lang="en-US" altLang="zh-CN" sz="2400" b="0" i="1" smtClean="0">
                          <a:solidFill>
                            <a:schemeClr val="tx1"/>
                          </a:solidFill>
                          <a:latin typeface="Cambria Math" panose="02040503050406030204" pitchFamily="18" charset="0"/>
                        </a:rPr>
                        <m:t>=</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ℓ+1</m:t>
                              </m:r>
                            </m:e>
                          </m:d>
                          <m:r>
                            <a:rPr kumimoji="1" lang="en-US" altLang="zh-CN" sz="2400" i="1">
                              <a:latin typeface="Cambria Math" panose="02040503050406030204" pitchFamily="18" charset="0"/>
                            </a:rPr>
                            <m:t>⊤</m:t>
                          </m:r>
                        </m:sup>
                      </m:sSup>
                      <m:r>
                        <a:rPr kumimoji="1" lang="en-US" altLang="zh-CN" sz="2400" b="0" i="1" smtClean="0">
                          <a:latin typeface="Cambria Math" panose="02040503050406030204" pitchFamily="18" charset="0"/>
                        </a:rPr>
                        <m:t>…</m:t>
                      </m:r>
                      <m:sSup>
                        <m:sSupPr>
                          <m:ctrlPr>
                            <a:rPr kumimoji="1" lang="en-US" altLang="zh-CN" sz="2400" i="1">
                              <a:latin typeface="Cambria Math" panose="02040503050406030204" pitchFamily="18" charset="0"/>
                            </a:rPr>
                          </m:ctrlPr>
                        </m:sSupPr>
                        <m:e>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𝑊</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𝐿</m:t>
                                  </m:r>
                                </m:e>
                              </m:d>
                              <m:r>
                                <a:rPr kumimoji="1" lang="en-US" altLang="zh-CN" sz="2400" i="1">
                                  <a:latin typeface="Cambria Math" panose="02040503050406030204" pitchFamily="18" charset="0"/>
                                </a:rPr>
                                <m:t>⊤</m:t>
                              </m:r>
                            </m:sup>
                          </m:sSup>
                          <m:r>
                            <a:rPr kumimoji="1" lang="en-US" altLang="zh-CN" sz="2400" i="1">
                              <a:latin typeface="Cambria Math" panose="02040503050406030204" pitchFamily="18" charset="0"/>
                            </a:rPr>
                            <m:t>𝛿</m:t>
                          </m:r>
                        </m:e>
                        <m:sup>
                          <m:d>
                            <m:dPr>
                              <m:ctrlPr>
                                <a:rPr kumimoji="1" lang="en-US" altLang="zh-CN" sz="2400" i="1">
                                  <a:latin typeface="Cambria Math" panose="02040503050406030204" pitchFamily="18" charset="0"/>
                                </a:rPr>
                              </m:ctrlPr>
                            </m:dPr>
                            <m:e>
                              <m:r>
                                <a:rPr kumimoji="1" lang="en-US" altLang="zh-CN" sz="2400" b="0" i="1" smtClean="0">
                                  <a:latin typeface="Cambria Math" panose="02040503050406030204" pitchFamily="18" charset="0"/>
                                </a:rPr>
                                <m:t>𝐿</m:t>
                              </m:r>
                            </m:e>
                          </m:d>
                        </m:sup>
                      </m:sSup>
                    </m:oMath>
                  </m:oMathPara>
                </a14:m>
                <a:endParaRPr lang="zh-CN" altLang="en-US" sz="2400" dirty="0">
                  <a:solidFill>
                    <a:schemeClr val="tx1"/>
                  </a:solidFill>
                </a:endParaRPr>
              </a:p>
            </p:txBody>
          </p:sp>
        </mc:Choice>
        <mc:Fallback xmlns="">
          <p:sp>
            <p:nvSpPr>
              <p:cNvPr id="15" name="文本框 14">
                <a:extLst>
                  <a:ext uri="{FF2B5EF4-FFF2-40B4-BE49-F238E27FC236}">
                    <a16:creationId xmlns:a16="http://schemas.microsoft.com/office/drawing/2014/main" id="{25CB7A01-2ED4-3E40-9401-A28CA02CF158}"/>
                  </a:ext>
                </a:extLst>
              </p:cNvPr>
              <p:cNvSpPr txBox="1">
                <a:spLocks noRot="1" noChangeAspect="1" noMove="1" noResize="1" noEditPoints="1" noAdjustHandles="1" noChangeArrowheads="1" noChangeShapeType="1" noTextEdit="1"/>
              </p:cNvSpPr>
              <p:nvPr/>
            </p:nvSpPr>
            <p:spPr>
              <a:xfrm>
                <a:off x="5374863" y="4247725"/>
                <a:ext cx="5297062" cy="493277"/>
              </a:xfrm>
              <a:prstGeom prst="rect">
                <a:avLst/>
              </a:prstGeom>
              <a:blipFill>
                <a:blip r:embed="rId6"/>
                <a:stretch>
                  <a:fillRect/>
                </a:stretch>
              </a:blipFill>
            </p:spPr>
            <p:txBody>
              <a:bodyPr/>
              <a:lstStyle/>
              <a:p>
                <a:r>
                  <a:rPr lang="zh-CN" altLang="en-US">
                    <a:noFill/>
                  </a:rPr>
                  <a:t> </a:t>
                </a:r>
              </a:p>
            </p:txBody>
          </p:sp>
        </mc:Fallback>
      </mc:AlternateContent>
      <p:sp>
        <p:nvSpPr>
          <p:cNvPr id="16" name="燕尾形箭头 15">
            <a:extLst>
              <a:ext uri="{FF2B5EF4-FFF2-40B4-BE49-F238E27FC236}">
                <a16:creationId xmlns:a16="http://schemas.microsoft.com/office/drawing/2014/main" id="{57B6F13A-8F6B-3E42-AB7E-EDEBB21C08BB}"/>
              </a:ext>
            </a:extLst>
          </p:cNvPr>
          <p:cNvSpPr/>
          <p:nvPr/>
        </p:nvSpPr>
        <p:spPr bwMode="auto">
          <a:xfrm>
            <a:off x="5005137" y="4268501"/>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F7291C6-73FF-F042-9F78-E701851BCF73}"/>
                  </a:ext>
                </a:extLst>
              </p:cNvPr>
              <p:cNvSpPr txBox="1"/>
              <p:nvPr/>
            </p:nvSpPr>
            <p:spPr>
              <a:xfrm>
                <a:off x="3045994" y="4770475"/>
                <a:ext cx="6100010" cy="8807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solidFill>
                                <a:srgbClr val="C00000"/>
                              </a:solidFill>
                              <a:latin typeface="Cambria Math" panose="02040503050406030204" pitchFamily="18" charset="0"/>
                            </a:rPr>
                          </m:ctrlPr>
                        </m:dPr>
                        <m:e>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𝛿</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ℓ</m:t>
                                  </m:r>
                                </m:e>
                              </m:d>
                            </m:sup>
                          </m:sSup>
                        </m:e>
                      </m:d>
                      <m:r>
                        <a:rPr lang="en-US" altLang="zh-CN" sz="2400" b="0" i="1" smtClean="0">
                          <a:solidFill>
                            <a:srgbClr val="C00000"/>
                          </a:solidFill>
                          <a:latin typeface="Cambria Math" panose="02040503050406030204" pitchFamily="18" charset="0"/>
                        </a:rPr>
                        <m:t>≤</m:t>
                      </m:r>
                      <m:d>
                        <m:dPr>
                          <m:begChr m:val="‖"/>
                          <m:endChr m:val="‖"/>
                          <m:ctrlPr>
                            <a:rPr lang="en-US" altLang="zh-CN" sz="2400" i="1">
                              <a:solidFill>
                                <a:srgbClr val="C00000"/>
                              </a:solidFill>
                              <a:latin typeface="Cambria Math" panose="02040503050406030204" pitchFamily="18" charset="0"/>
                            </a:rPr>
                          </m:ctrlPr>
                        </m:dPr>
                        <m:e>
                          <m:sSup>
                            <m:sSupPr>
                              <m:ctrlPr>
                                <a:rPr kumimoji="1" lang="en-US" altLang="zh-CN" sz="2400" i="1">
                                  <a:solidFill>
                                    <a:srgbClr val="C00000"/>
                                  </a:solidFill>
                                  <a:latin typeface="Cambria Math" panose="02040503050406030204" pitchFamily="18" charset="0"/>
                                </a:rPr>
                              </m:ctrlPr>
                            </m:sSupPr>
                            <m:e>
                              <m:r>
                                <a:rPr kumimoji="1" lang="en-US" altLang="zh-CN" sz="2400" i="1">
                                  <a:solidFill>
                                    <a:srgbClr val="C00000"/>
                                  </a:solidFill>
                                  <a:latin typeface="Cambria Math" panose="02040503050406030204" pitchFamily="18" charset="0"/>
                                </a:rPr>
                                <m:t>𝛿</m:t>
                              </m:r>
                            </m:e>
                            <m:sup>
                              <m:d>
                                <m:dPr>
                                  <m:ctrlPr>
                                    <a:rPr kumimoji="1" lang="en-US" altLang="zh-CN" sz="2400" i="1">
                                      <a:solidFill>
                                        <a:srgbClr val="C00000"/>
                                      </a:solidFill>
                                      <a:latin typeface="Cambria Math" panose="02040503050406030204" pitchFamily="18" charset="0"/>
                                    </a:rPr>
                                  </m:ctrlPr>
                                </m:dPr>
                                <m:e>
                                  <m:r>
                                    <a:rPr kumimoji="1" lang="en-US" altLang="zh-CN" sz="2400" i="1">
                                      <a:solidFill>
                                        <a:srgbClr val="C00000"/>
                                      </a:solidFill>
                                      <a:latin typeface="Cambria Math" panose="02040503050406030204" pitchFamily="18" charset="0"/>
                                    </a:rPr>
                                    <m:t>𝐿</m:t>
                                  </m:r>
                                </m:e>
                              </m:d>
                            </m:sup>
                          </m:sSup>
                        </m:e>
                      </m:d>
                      <m:nary>
                        <m:naryPr>
                          <m:chr m:val="∏"/>
                          <m:limLoc m:val="subSup"/>
                          <m:ctrlPr>
                            <a:rPr lang="en-US" altLang="zh-CN" sz="2400" b="0" i="1" smtClean="0">
                              <a:solidFill>
                                <a:srgbClr val="C00000"/>
                              </a:solidFill>
                              <a:latin typeface="Cambria Math" panose="02040503050406030204" pitchFamily="18" charset="0"/>
                            </a:rPr>
                          </m:ctrlPr>
                        </m:naryPr>
                        <m:sub>
                          <m:r>
                            <m:rPr>
                              <m:brk m:alnAt="25"/>
                            </m:rPr>
                            <a:rPr lang="en-US" altLang="zh-CN" sz="2400" b="0" i="1" smtClean="0">
                              <a:solidFill>
                                <a:srgbClr val="C00000"/>
                              </a:solidFill>
                              <a:latin typeface="Cambria Math" panose="02040503050406030204" pitchFamily="18" charset="0"/>
                            </a:rPr>
                            <m:t>𝑘</m:t>
                          </m:r>
                          <m:r>
                            <a:rPr lang="en-US" altLang="zh-CN" sz="2400" b="0" i="1" smtClean="0">
                              <a:solidFill>
                                <a:srgbClr val="C00000"/>
                              </a:solidFill>
                              <a:latin typeface="Cambria Math" panose="02040503050406030204" pitchFamily="18" charset="0"/>
                            </a:rPr>
                            <m:t>=ℓ</m:t>
                          </m:r>
                        </m:sub>
                        <m:sup>
                          <m:r>
                            <a:rPr lang="en-US" altLang="zh-CN" sz="2400" b="0" i="1" smtClean="0">
                              <a:solidFill>
                                <a:srgbClr val="C00000"/>
                              </a:solidFill>
                              <a:latin typeface="Cambria Math" panose="02040503050406030204" pitchFamily="18" charset="0"/>
                            </a:rPr>
                            <m:t>𝐿</m:t>
                          </m:r>
                          <m:r>
                            <a:rPr lang="en-US" altLang="zh-CN" sz="2400" b="0" i="1" smtClean="0">
                              <a:solidFill>
                                <a:srgbClr val="C00000"/>
                              </a:solidFill>
                              <a:latin typeface="Cambria Math" panose="02040503050406030204" pitchFamily="18" charset="0"/>
                            </a:rPr>
                            <m:t>−1</m:t>
                          </m:r>
                        </m:sup>
                        <m:e>
                          <m:d>
                            <m:dPr>
                              <m:ctrlPr>
                                <a:rPr lang="en-US" altLang="zh-CN" sz="2400" b="0" i="1" smtClean="0">
                                  <a:solidFill>
                                    <a:srgbClr val="C00000"/>
                                  </a:solidFill>
                                  <a:latin typeface="Cambria Math" panose="02040503050406030204" pitchFamily="18" charset="0"/>
                                </a:rPr>
                              </m:ctrlPr>
                            </m:dPr>
                            <m:e>
                              <m:d>
                                <m:dPr>
                                  <m:begChr m:val="‖"/>
                                  <m:endChr m:val="‖"/>
                                  <m:ctrlPr>
                                    <a:rPr lang="en-US" altLang="zh-CN" sz="2400" i="1">
                                      <a:solidFill>
                                        <a:srgbClr val="C00000"/>
                                      </a:solidFill>
                                      <a:latin typeface="Cambria Math" panose="02040503050406030204" pitchFamily="18" charset="0"/>
                                    </a:rPr>
                                  </m:ctrlPr>
                                </m:dPr>
                                <m:e>
                                  <m:sSup>
                                    <m:sSupPr>
                                      <m:ctrlPr>
                                        <a:rPr lang="en-US" altLang="zh-CN" sz="2400" i="1">
                                          <a:solidFill>
                                            <a:srgbClr val="C00000"/>
                                          </a:solidFill>
                                          <a:latin typeface="Cambria Math" panose="02040503050406030204" pitchFamily="18" charset="0"/>
                                        </a:rPr>
                                      </m:ctrlPr>
                                    </m:sSupPr>
                                    <m:e>
                                      <m:r>
                                        <a:rPr lang="en-US" altLang="zh-CN" sz="2400" i="1">
                                          <a:solidFill>
                                            <a:srgbClr val="C00000"/>
                                          </a:solidFill>
                                          <a:latin typeface="Cambria Math" panose="02040503050406030204" pitchFamily="18" charset="0"/>
                                        </a:rPr>
                                        <m:t>𝑊</m:t>
                                      </m:r>
                                    </m:e>
                                    <m:sup>
                                      <m:d>
                                        <m:dPr>
                                          <m:ctrlPr>
                                            <a:rPr lang="en-US" altLang="zh-CN" sz="2400" i="1">
                                              <a:solidFill>
                                                <a:srgbClr val="C00000"/>
                                              </a:solidFill>
                                              <a:latin typeface="Cambria Math" panose="02040503050406030204" pitchFamily="18" charset="0"/>
                                            </a:rPr>
                                          </m:ctrlPr>
                                        </m:dPr>
                                        <m:e>
                                          <m:r>
                                            <a:rPr lang="en-US" altLang="zh-CN" sz="2400" i="1">
                                              <a:solidFill>
                                                <a:srgbClr val="C00000"/>
                                              </a:solidFill>
                                              <a:latin typeface="Cambria Math" panose="02040503050406030204" pitchFamily="18" charset="0"/>
                                            </a:rPr>
                                            <m:t>𝑘</m:t>
                                          </m:r>
                                          <m:r>
                                            <a:rPr lang="en-US" altLang="zh-CN" sz="2400" i="1">
                                              <a:solidFill>
                                                <a:srgbClr val="C00000"/>
                                              </a:solidFill>
                                              <a:latin typeface="Cambria Math" panose="02040503050406030204" pitchFamily="18" charset="0"/>
                                            </a:rPr>
                                            <m:t>+1</m:t>
                                          </m:r>
                                        </m:e>
                                      </m:d>
                                    </m:sup>
                                  </m:sSup>
                                </m:e>
                              </m:d>
                            </m:e>
                          </m:d>
                        </m:e>
                      </m:nary>
                    </m:oMath>
                  </m:oMathPara>
                </a14:m>
                <a:endParaRPr lang="zh-CN" altLang="en-US" sz="2400" dirty="0">
                  <a:solidFill>
                    <a:srgbClr val="C00000"/>
                  </a:solidFill>
                </a:endParaRPr>
              </a:p>
            </p:txBody>
          </p:sp>
        </mc:Choice>
        <mc:Fallback xmlns="">
          <p:sp>
            <p:nvSpPr>
              <p:cNvPr id="18" name="文本框 17">
                <a:extLst>
                  <a:ext uri="{FF2B5EF4-FFF2-40B4-BE49-F238E27FC236}">
                    <a16:creationId xmlns:a16="http://schemas.microsoft.com/office/drawing/2014/main" id="{9F7291C6-73FF-F042-9F78-E701851BCF73}"/>
                  </a:ext>
                </a:extLst>
              </p:cNvPr>
              <p:cNvSpPr txBox="1">
                <a:spLocks noRot="1" noChangeAspect="1" noMove="1" noResize="1" noEditPoints="1" noAdjustHandles="1" noChangeArrowheads="1" noChangeShapeType="1" noTextEdit="1"/>
              </p:cNvSpPr>
              <p:nvPr/>
            </p:nvSpPr>
            <p:spPr>
              <a:xfrm>
                <a:off x="3045994" y="4770475"/>
                <a:ext cx="6100010" cy="880754"/>
              </a:xfrm>
              <a:prstGeom prst="rect">
                <a:avLst/>
              </a:prstGeom>
              <a:blipFill>
                <a:blip r:embed="rId7"/>
                <a:stretch>
                  <a:fillRect t="-145714" b="-215714"/>
                </a:stretch>
              </a:blipFill>
            </p:spPr>
            <p:txBody>
              <a:bodyPr/>
              <a:lstStyle/>
              <a:p>
                <a:r>
                  <a:rPr lang="zh-CN" altLang="en-US">
                    <a:noFill/>
                  </a:rPr>
                  <a:t> </a:t>
                </a:r>
              </a:p>
            </p:txBody>
          </p:sp>
        </mc:Fallback>
      </mc:AlternateContent>
      <p:sp>
        <p:nvSpPr>
          <p:cNvPr id="19" name="燕尾形箭头 18">
            <a:extLst>
              <a:ext uri="{FF2B5EF4-FFF2-40B4-BE49-F238E27FC236}">
                <a16:creationId xmlns:a16="http://schemas.microsoft.com/office/drawing/2014/main" id="{0528F323-171B-4A4F-8682-4C3F8366E987}"/>
              </a:ext>
            </a:extLst>
          </p:cNvPr>
          <p:cNvSpPr/>
          <p:nvPr/>
        </p:nvSpPr>
        <p:spPr bwMode="auto">
          <a:xfrm>
            <a:off x="2492316" y="4994559"/>
            <a:ext cx="739452" cy="456801"/>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5" name="文本框 4">
            <a:extLst>
              <a:ext uri="{FF2B5EF4-FFF2-40B4-BE49-F238E27FC236}">
                <a16:creationId xmlns:a16="http://schemas.microsoft.com/office/drawing/2014/main" id="{86F661FE-5F70-5F45-94EA-40E1713EEB9F}"/>
              </a:ext>
            </a:extLst>
          </p:cNvPr>
          <p:cNvSpPr txBox="1"/>
          <p:nvPr/>
        </p:nvSpPr>
        <p:spPr>
          <a:xfrm>
            <a:off x="4699292" y="6125517"/>
            <a:ext cx="1415772" cy="461665"/>
          </a:xfrm>
          <a:prstGeom prst="rect">
            <a:avLst/>
          </a:prstGeom>
          <a:noFill/>
        </p:spPr>
        <p:txBody>
          <a:bodyPr wrap="none" rtlCol="0">
            <a:spAutoFit/>
          </a:bodyPr>
          <a:lstStyle/>
          <a:p>
            <a:r>
              <a:rPr kumimoji="1" lang="zh-CN" altLang="en-US" sz="2400" b="1" dirty="0">
                <a:solidFill>
                  <a:srgbClr val="C00000"/>
                </a:solidFill>
              </a:rPr>
              <a:t>梯度爆炸</a:t>
            </a:r>
          </a:p>
        </p:txBody>
      </p:sp>
      <p:sp>
        <p:nvSpPr>
          <p:cNvPr id="21" name="文本框 20">
            <a:extLst>
              <a:ext uri="{FF2B5EF4-FFF2-40B4-BE49-F238E27FC236}">
                <a16:creationId xmlns:a16="http://schemas.microsoft.com/office/drawing/2014/main" id="{C33929FA-30A4-7B40-AC22-B2FE6CC69F87}"/>
              </a:ext>
            </a:extLst>
          </p:cNvPr>
          <p:cNvSpPr txBox="1"/>
          <p:nvPr/>
        </p:nvSpPr>
        <p:spPr>
          <a:xfrm>
            <a:off x="8393120" y="6068852"/>
            <a:ext cx="1415772" cy="461665"/>
          </a:xfrm>
          <a:prstGeom prst="rect">
            <a:avLst/>
          </a:prstGeom>
          <a:noFill/>
        </p:spPr>
        <p:txBody>
          <a:bodyPr wrap="none" rtlCol="0">
            <a:spAutoFit/>
          </a:bodyPr>
          <a:lstStyle/>
          <a:p>
            <a:r>
              <a:rPr kumimoji="1" lang="zh-CN" altLang="en-US" sz="2400" b="1" dirty="0">
                <a:solidFill>
                  <a:srgbClr val="C00000"/>
                </a:solidFill>
              </a:rPr>
              <a:t>梯度消失</a:t>
            </a:r>
          </a:p>
        </p:txBody>
      </p:sp>
      <p:sp>
        <p:nvSpPr>
          <p:cNvPr id="22" name="Straight Arrow Connector 35">
            <a:extLst>
              <a:ext uri="{FF2B5EF4-FFF2-40B4-BE49-F238E27FC236}">
                <a16:creationId xmlns:a16="http://schemas.microsoft.com/office/drawing/2014/main" id="{BDD1ED0B-1278-A849-9A11-2EAB017FDE97}"/>
              </a:ext>
            </a:extLst>
          </p:cNvPr>
          <p:cNvSpPr/>
          <p:nvPr/>
        </p:nvSpPr>
        <p:spPr>
          <a:xfrm flipH="1">
            <a:off x="5126834" y="5620599"/>
            <a:ext cx="2127258" cy="504918"/>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p:sp>
        <p:nvSpPr>
          <p:cNvPr id="23" name="Straight Arrow Connector 35">
            <a:extLst>
              <a:ext uri="{FF2B5EF4-FFF2-40B4-BE49-F238E27FC236}">
                <a16:creationId xmlns:a16="http://schemas.microsoft.com/office/drawing/2014/main" id="{18D1C029-0A38-7E48-A25C-34B11F5E3535}"/>
              </a:ext>
            </a:extLst>
          </p:cNvPr>
          <p:cNvSpPr/>
          <p:nvPr/>
        </p:nvSpPr>
        <p:spPr>
          <a:xfrm>
            <a:off x="7406492" y="5620599"/>
            <a:ext cx="1674980" cy="461665"/>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96B6F2D-BEA3-9146-8EEB-ECFF2AB7D9B1}"/>
                  </a:ext>
                </a:extLst>
              </p:cNvPr>
              <p:cNvSpPr txBox="1"/>
              <p:nvPr/>
            </p:nvSpPr>
            <p:spPr>
              <a:xfrm>
                <a:off x="6081130" y="5803081"/>
                <a:ext cx="7558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solidFill>
                            <a:srgbClr val="C00000"/>
                          </a:solidFill>
                          <a:latin typeface="Cambria Math" panose="02040503050406030204" pitchFamily="18" charset="0"/>
                        </a:rPr>
                        <m:t>&gt;1</m:t>
                      </m:r>
                    </m:oMath>
                  </m:oMathPara>
                </a14:m>
                <a:endParaRPr kumimoji="1" lang="zh-CN" altLang="en-US" sz="2400" dirty="0">
                  <a:solidFill>
                    <a:srgbClr val="C00000"/>
                  </a:solidFill>
                </a:endParaRPr>
              </a:p>
            </p:txBody>
          </p:sp>
        </mc:Choice>
        <mc:Fallback xmlns="">
          <p:sp>
            <p:nvSpPr>
              <p:cNvPr id="8" name="文本框 7">
                <a:extLst>
                  <a:ext uri="{FF2B5EF4-FFF2-40B4-BE49-F238E27FC236}">
                    <a16:creationId xmlns:a16="http://schemas.microsoft.com/office/drawing/2014/main" id="{F96B6F2D-BEA3-9146-8EEB-ECFF2AB7D9B1}"/>
                  </a:ext>
                </a:extLst>
              </p:cNvPr>
              <p:cNvSpPr txBox="1">
                <a:spLocks noRot="1" noChangeAspect="1" noMove="1" noResize="1" noEditPoints="1" noAdjustHandles="1" noChangeArrowheads="1" noChangeShapeType="1" noTextEdit="1"/>
              </p:cNvSpPr>
              <p:nvPr/>
            </p:nvSpPr>
            <p:spPr>
              <a:xfrm>
                <a:off x="6081130" y="5803081"/>
                <a:ext cx="755848" cy="4616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60F92F53-3302-0945-99AD-9A222A5FF8F0}"/>
                  </a:ext>
                </a:extLst>
              </p:cNvPr>
              <p:cNvSpPr txBox="1"/>
              <p:nvPr/>
            </p:nvSpPr>
            <p:spPr>
              <a:xfrm>
                <a:off x="7696157" y="5757642"/>
                <a:ext cx="7558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solidFill>
                            <a:srgbClr val="C00000"/>
                          </a:solidFill>
                          <a:latin typeface="Cambria Math" panose="02040503050406030204" pitchFamily="18" charset="0"/>
                        </a:rPr>
                        <m:t>&lt;1</m:t>
                      </m:r>
                    </m:oMath>
                  </m:oMathPara>
                </a14:m>
                <a:endParaRPr kumimoji="1" lang="zh-CN" altLang="en-US" sz="2400" dirty="0">
                  <a:solidFill>
                    <a:srgbClr val="C00000"/>
                  </a:solidFill>
                </a:endParaRPr>
              </a:p>
            </p:txBody>
          </p:sp>
        </mc:Choice>
        <mc:Fallback xmlns="">
          <p:sp>
            <p:nvSpPr>
              <p:cNvPr id="26" name="文本框 25">
                <a:extLst>
                  <a:ext uri="{FF2B5EF4-FFF2-40B4-BE49-F238E27FC236}">
                    <a16:creationId xmlns:a16="http://schemas.microsoft.com/office/drawing/2014/main" id="{60F92F53-3302-0945-99AD-9A222A5FF8F0}"/>
                  </a:ext>
                </a:extLst>
              </p:cNvPr>
              <p:cNvSpPr txBox="1">
                <a:spLocks noRot="1" noChangeAspect="1" noMove="1" noResize="1" noEditPoints="1" noAdjustHandles="1" noChangeArrowheads="1" noChangeShapeType="1" noTextEdit="1"/>
              </p:cNvSpPr>
              <p:nvPr/>
            </p:nvSpPr>
            <p:spPr>
              <a:xfrm>
                <a:off x="7696157" y="5757642"/>
                <a:ext cx="755848" cy="461665"/>
              </a:xfrm>
              <a:prstGeom prst="rect">
                <a:avLst/>
              </a:prstGeom>
              <a:blipFill>
                <a:blip r:embed="rId9"/>
                <a:stretch>
                  <a:fillRect/>
                </a:stretch>
              </a:blipFill>
            </p:spPr>
            <p:txBody>
              <a:bodyPr/>
              <a:lstStyle/>
              <a:p>
                <a:r>
                  <a:rPr lang="zh-CN" altLang="en-US">
                    <a:noFill/>
                  </a:rPr>
                  <a:t> </a:t>
                </a:r>
              </a:p>
            </p:txBody>
          </p:sp>
        </mc:Fallback>
      </mc:AlternateContent>
      <p:sp>
        <p:nvSpPr>
          <p:cNvPr id="20" name="爆炸形 2 19">
            <a:extLst>
              <a:ext uri="{FF2B5EF4-FFF2-40B4-BE49-F238E27FC236}">
                <a16:creationId xmlns:a16="http://schemas.microsoft.com/office/drawing/2014/main" id="{20DD427D-4610-EA4F-9B3A-5C5F139BC890}"/>
              </a:ext>
            </a:extLst>
          </p:cNvPr>
          <p:cNvSpPr/>
          <p:nvPr/>
        </p:nvSpPr>
        <p:spPr>
          <a:xfrm rot="20831819">
            <a:off x="7716552" y="4501892"/>
            <a:ext cx="4260869" cy="1314997"/>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rPr>
              <a:t>权重谱范数大小同样重要！</a:t>
            </a:r>
          </a:p>
        </p:txBody>
      </p:sp>
    </p:spTree>
    <p:extLst>
      <p:ext uri="{BB962C8B-B14F-4D97-AF65-F5344CB8AC3E}">
        <p14:creationId xmlns:p14="http://schemas.microsoft.com/office/powerpoint/2010/main" val="43853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5" grpId="0"/>
      <p:bldP spid="21" grpId="0"/>
      <p:bldP spid="22" grpId="0" animBg="1"/>
      <p:bldP spid="23" grpId="0" animBg="1"/>
      <p:bldP spid="8" grpId="0"/>
      <p:bldP spid="26" grpId="0"/>
      <p:bldP spid="2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83</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对于传统机器学习算法，通过经验风险最小化原则转化为优化问题之后，大多可以采用梯度下降法进行求解。其中一个非常关键的因素是那些优化问题通常都是凸优化问题，梯度下降法能够保证收敛到最优解。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719651"/>
                <a:ext cx="11094720" cy="226068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凸函数</a:t>
                </a:r>
                <a:r>
                  <a:rPr lang="en-US" altLang="zh-CN" sz="2400" dirty="0"/>
                  <a:t>(Convex Function)</a:t>
                </a:r>
                <a:r>
                  <a:rPr lang="zh-CN" altLang="en-US" sz="2400" dirty="0"/>
                  <a:t>：当</a:t>
                </a:r>
                <a:r>
                  <a:rPr lang="zh-CN" altLang="en-US" sz="2400" dirty="0">
                    <a:ea typeface="Cambria Math" panose="02040503050406030204" pitchFamily="18" charset="0"/>
                  </a:rPr>
                  <a:t>函数</a:t>
                </a:r>
                <a14:m>
                  <m:oMath xmlns:m="http://schemas.openxmlformats.org/officeDocument/2006/math">
                    <m:sSup>
                      <m:sSupPr>
                        <m:ctrlPr>
                          <a:rPr lang="en-US" altLang="zh-CN" sz="2400" i="1" smtClean="0">
                            <a:solidFill>
                              <a:schemeClr val="tx1"/>
                            </a:solidFill>
                            <a:latin typeface="Cambria Math" panose="02040503050406030204" pitchFamily="18" charset="0"/>
                            <a:ea typeface="Cambria Math" panose="02040503050406030204" pitchFamily="18" charset="0"/>
                          </a:rPr>
                        </m:ctrlPr>
                      </m:sSupPr>
                      <m:e>
                        <m:r>
                          <a:rPr lang="en-US" altLang="zh-CN" sz="2400" b="0" i="1" smtClean="0">
                            <a:solidFill>
                              <a:schemeClr val="tx1"/>
                            </a:solidFill>
                            <a:latin typeface="Cambria Math" panose="02040503050406030204" pitchFamily="18" charset="0"/>
                            <a:ea typeface="Cambria Math" panose="02040503050406030204" pitchFamily="18" charset="0"/>
                          </a:rPr>
                          <m:t>𝑓</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ℝ</m:t>
                        </m:r>
                      </m:e>
                      <m:sup>
                        <m:r>
                          <a:rPr lang="en-US" altLang="zh-CN" sz="2400" i="1">
                            <a:solidFill>
                              <a:schemeClr val="tx1"/>
                            </a:solidFill>
                            <a:latin typeface="Cambria Math" panose="02040503050406030204" pitchFamily="18" charset="0"/>
                            <a:ea typeface="Cambria Math" panose="02040503050406030204" pitchFamily="18" charset="0"/>
                          </a:rPr>
                          <m:t>𝑑</m:t>
                        </m:r>
                      </m:sup>
                    </m:sSup>
                    <m:r>
                      <a:rPr lang="en-US" altLang="zh-CN" sz="2400" i="1">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ℝ</m:t>
                    </m:r>
                  </m:oMath>
                </a14:m>
                <a:r>
                  <a:rPr lang="zh-CN" altLang="en-US" sz="2400" dirty="0">
                    <a:solidFill>
                      <a:schemeClr val="tx1"/>
                    </a:solidFill>
                  </a:rPr>
                  <a:t>满足下列条件时，称之为凸函数</a:t>
                </a:r>
                <a:r>
                  <a:rPr lang="en-US" altLang="zh-CN" sz="2400" dirty="0">
                    <a:solidFill>
                      <a:schemeClr val="tx1"/>
                    </a:solidFill>
                  </a:rPr>
                  <a:t> </a:t>
                </a:r>
                <a:endParaRPr lang="en-US" altLang="zh-CN" sz="2400" dirty="0"/>
              </a:p>
              <a:p>
                <a:pPr marL="800100" lvl="1" indent="-342900">
                  <a:lnSpc>
                    <a:spcPct val="150000"/>
                  </a:lnSpc>
                  <a:buFont typeface="Wingdings" pitchFamily="2" charset="2"/>
                  <a:buChar char="p"/>
                </a:pPr>
                <a:r>
                  <a:rPr lang="zh-CN" altLang="en-US" sz="2400" dirty="0"/>
                  <a:t>其可行域</a:t>
                </a:r>
                <a14:m>
                  <m:oMath xmlns:m="http://schemas.openxmlformats.org/officeDocument/2006/math">
                    <m:r>
                      <m:rPr>
                        <m:sty m:val="p"/>
                      </m:rPr>
                      <a:rPr lang="en-US" altLang="zh-CN" sz="2400" b="0" i="0" smtClean="0">
                        <a:latin typeface="Cambria Math" panose="02040503050406030204" pitchFamily="18" charset="0"/>
                      </a:rPr>
                      <m:t>dom</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𝑓</m:t>
                    </m:r>
                  </m:oMath>
                </a14:m>
                <a:r>
                  <a:rPr lang="zh-CN" altLang="en-US" sz="2400" dirty="0"/>
                  <a:t>为凸集合，即</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𝛼</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𝛼</m:t>
                          </m:r>
                        </m:e>
                      </m:d>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dom</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𝛼</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0,1</m:t>
                          </m:r>
                        </m:e>
                      </m:d>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r>
                        <m:rPr>
                          <m:sty m:val="p"/>
                        </m:rPr>
                        <a:rPr lang="en-US" altLang="zh-CN" sz="2400" i="0">
                          <a:latin typeface="Cambria Math" panose="02040503050406030204" pitchFamily="18" charset="0"/>
                        </a:rPr>
                        <m:t>dom</m:t>
                      </m:r>
                      <m:r>
                        <a:rPr lang="en-US" altLang="zh-CN" sz="2400" i="1">
                          <a:latin typeface="Cambria Math" panose="02040503050406030204" pitchFamily="18" charset="0"/>
                        </a:rPr>
                        <m:t> </m:t>
                      </m:r>
                      <m:r>
                        <a:rPr lang="en-US" altLang="zh-CN" sz="2400" i="1">
                          <a:latin typeface="Cambria Math" panose="02040503050406030204" pitchFamily="18" charset="0"/>
                        </a:rPr>
                        <m:t>𝑓</m:t>
                      </m:r>
                    </m:oMath>
                  </m:oMathPara>
                </a14:m>
                <a:endParaRPr lang="en-US" altLang="zh-CN" sz="2400" dirty="0"/>
              </a:p>
              <a:p>
                <a:pPr lvl="1">
                  <a:lnSpc>
                    <a:spcPct val="150000"/>
                  </a:lnSpc>
                </a:pP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719651"/>
                <a:ext cx="11094720" cy="2260683"/>
              </a:xfrm>
              <a:prstGeom prst="rect">
                <a:avLst/>
              </a:prstGeom>
              <a:blipFill>
                <a:blip r:embed="rId3"/>
                <a:stretch>
                  <a:fillRect l="-801"/>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8882B9EC-3F7F-A04C-AEEB-932DD5D4A7E4}"/>
              </a:ext>
            </a:extLst>
          </p:cNvPr>
          <p:cNvPicPr>
            <a:picLocks noChangeAspect="1"/>
          </p:cNvPicPr>
          <p:nvPr/>
        </p:nvPicPr>
        <p:blipFill>
          <a:blip r:embed="rId4"/>
          <a:stretch>
            <a:fillRect/>
          </a:stretch>
        </p:blipFill>
        <p:spPr>
          <a:xfrm>
            <a:off x="2302851" y="5056534"/>
            <a:ext cx="6660740" cy="1533723"/>
          </a:xfrm>
          <a:prstGeom prst="rect">
            <a:avLst/>
          </a:prstGeom>
        </p:spPr>
      </p:pic>
      <p:sp>
        <p:nvSpPr>
          <p:cNvPr id="9" name="文本框 8">
            <a:extLst>
              <a:ext uri="{FF2B5EF4-FFF2-40B4-BE49-F238E27FC236}">
                <a16:creationId xmlns:a16="http://schemas.microsoft.com/office/drawing/2014/main" id="{4A1B258E-442C-2746-A024-3D61FDE63ECA}"/>
              </a:ext>
            </a:extLst>
          </p:cNvPr>
          <p:cNvSpPr txBox="1"/>
          <p:nvPr/>
        </p:nvSpPr>
        <p:spPr>
          <a:xfrm>
            <a:off x="3540340" y="4556769"/>
            <a:ext cx="4185761" cy="461665"/>
          </a:xfrm>
          <a:prstGeom prst="rect">
            <a:avLst/>
          </a:prstGeom>
          <a:noFill/>
        </p:spPr>
        <p:txBody>
          <a:bodyPr wrap="none" rtlCol="0">
            <a:spAutoFit/>
          </a:bodyPr>
          <a:lstStyle/>
          <a:p>
            <a:r>
              <a:rPr lang="zh-CN" altLang="en-US" sz="2400" dirty="0">
                <a:solidFill>
                  <a:srgbClr val="C00000"/>
                </a:solidFill>
                <a:latin typeface="Times New Roman" panose="02020603050405020304" pitchFamily="18" charset="0"/>
                <a:cs typeface="Times New Roman" panose="02020603050405020304" pitchFamily="18" charset="0"/>
              </a:rPr>
              <a:t>问题：下列哪个集合是凸的？</a:t>
            </a:r>
            <a:endParaRPr kumimoji="1" lang="zh-CN" altLang="en-US" sz="2400" dirty="0">
              <a:solidFill>
                <a:srgbClr val="C00000"/>
              </a:solidFill>
              <a:cs typeface="Verdana" panose="020B0604030504040204" pitchFamily="34" charset="0"/>
            </a:endParaRPr>
          </a:p>
        </p:txBody>
      </p:sp>
    </p:spTree>
    <p:extLst>
      <p:ext uri="{BB962C8B-B14F-4D97-AF65-F5344CB8AC3E}">
        <p14:creationId xmlns:p14="http://schemas.microsoft.com/office/powerpoint/2010/main" val="295576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84</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对于传统机器学习算法，通过经验风险最小化原则转化为优化问题之后，大多可以采用梯度下降法进行求解。其中一个非常关键的因素是那些优化问题通常都是凸优化问题，梯度下降法能够保证收敛到最优解。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719651"/>
                <a:ext cx="11094720" cy="336983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t>凸函数</a:t>
                </a:r>
                <a:r>
                  <a:rPr lang="en-US" altLang="zh-CN" sz="2400" dirty="0"/>
                  <a:t>(Convex Function)</a:t>
                </a:r>
                <a:r>
                  <a:rPr lang="zh-CN" altLang="en-US" sz="2400" dirty="0"/>
                  <a:t>：当</a:t>
                </a:r>
                <a:r>
                  <a:rPr lang="zh-CN" altLang="en-US" sz="2400" dirty="0">
                    <a:ea typeface="Cambria Math" panose="02040503050406030204" pitchFamily="18" charset="0"/>
                  </a:rPr>
                  <a:t>函数</a:t>
                </a:r>
                <a14:m>
                  <m:oMath xmlns:m="http://schemas.openxmlformats.org/officeDocument/2006/math">
                    <m:sSup>
                      <m:sSupPr>
                        <m:ctrlPr>
                          <a:rPr lang="en-US" altLang="zh-CN" sz="2400" i="1" smtClean="0">
                            <a:solidFill>
                              <a:schemeClr val="tx1"/>
                            </a:solidFill>
                            <a:latin typeface="Cambria Math" panose="02040503050406030204" pitchFamily="18" charset="0"/>
                            <a:ea typeface="Cambria Math" panose="02040503050406030204" pitchFamily="18" charset="0"/>
                          </a:rPr>
                        </m:ctrlPr>
                      </m:sSupPr>
                      <m:e>
                        <m:r>
                          <a:rPr lang="en-US" altLang="zh-CN" sz="2400" b="0" i="1" smtClean="0">
                            <a:solidFill>
                              <a:schemeClr val="tx1"/>
                            </a:solidFill>
                            <a:latin typeface="Cambria Math" panose="02040503050406030204" pitchFamily="18" charset="0"/>
                            <a:ea typeface="Cambria Math" panose="02040503050406030204" pitchFamily="18" charset="0"/>
                          </a:rPr>
                          <m:t>𝑓</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ℝ</m:t>
                        </m:r>
                      </m:e>
                      <m:sup>
                        <m:r>
                          <a:rPr lang="en-US" altLang="zh-CN" sz="2400" i="1">
                            <a:solidFill>
                              <a:schemeClr val="tx1"/>
                            </a:solidFill>
                            <a:latin typeface="Cambria Math" panose="02040503050406030204" pitchFamily="18" charset="0"/>
                            <a:ea typeface="Cambria Math" panose="02040503050406030204" pitchFamily="18" charset="0"/>
                          </a:rPr>
                          <m:t>𝑑</m:t>
                        </m:r>
                      </m:sup>
                    </m:sSup>
                    <m:r>
                      <a:rPr lang="en-US" altLang="zh-CN" sz="2400" i="1">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ℝ</m:t>
                    </m:r>
                  </m:oMath>
                </a14:m>
                <a:r>
                  <a:rPr lang="zh-CN" altLang="en-US" sz="2400" dirty="0">
                    <a:solidFill>
                      <a:schemeClr val="tx1"/>
                    </a:solidFill>
                  </a:rPr>
                  <a:t>满足下列条件时，称之为凸函数</a:t>
                </a:r>
                <a:r>
                  <a:rPr lang="en-US" altLang="zh-CN" sz="2400" dirty="0">
                    <a:solidFill>
                      <a:schemeClr val="tx1"/>
                    </a:solidFill>
                  </a:rPr>
                  <a:t> </a:t>
                </a:r>
                <a:endParaRPr lang="en-US" altLang="zh-CN" sz="2400" dirty="0"/>
              </a:p>
              <a:p>
                <a:pPr marL="800100" lvl="1" indent="-342900">
                  <a:lnSpc>
                    <a:spcPct val="150000"/>
                  </a:lnSpc>
                  <a:buFont typeface="Wingdings" pitchFamily="2" charset="2"/>
                  <a:buChar char="p"/>
                </a:pPr>
                <a:r>
                  <a:rPr lang="zh-CN" altLang="en-US" sz="2400" dirty="0"/>
                  <a:t>其可行域</a:t>
                </a:r>
                <a14:m>
                  <m:oMath xmlns:m="http://schemas.openxmlformats.org/officeDocument/2006/math">
                    <m:r>
                      <m:rPr>
                        <m:sty m:val="p"/>
                      </m:rPr>
                      <a:rPr lang="en-US" altLang="zh-CN" sz="2400" b="0" i="0" smtClean="0">
                        <a:latin typeface="Cambria Math" panose="02040503050406030204" pitchFamily="18" charset="0"/>
                      </a:rPr>
                      <m:t>dom</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𝑓</m:t>
                    </m:r>
                  </m:oMath>
                </a14:m>
                <a:r>
                  <a:rPr lang="zh-CN" altLang="en-US" sz="2400" dirty="0"/>
                  <a:t>为凸集合，即</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𝛼</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𝛼</m:t>
                          </m:r>
                        </m:e>
                      </m:d>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dom</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𝛼</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0,1</m:t>
                          </m:r>
                        </m:e>
                      </m:d>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r>
                        <m:rPr>
                          <m:sty m:val="p"/>
                        </m:rPr>
                        <a:rPr lang="en-US" altLang="zh-CN" sz="2400" i="0">
                          <a:latin typeface="Cambria Math" panose="02040503050406030204" pitchFamily="18" charset="0"/>
                        </a:rPr>
                        <m:t>dom</m:t>
                      </m:r>
                      <m:r>
                        <a:rPr lang="en-US" altLang="zh-CN" sz="2400" i="1">
                          <a:latin typeface="Cambria Math" panose="02040503050406030204" pitchFamily="18" charset="0"/>
                        </a:rPr>
                        <m:t> </m:t>
                      </m:r>
                      <m:r>
                        <a:rPr lang="en-US" altLang="zh-CN" sz="2400" i="1">
                          <a:latin typeface="Cambria Math" panose="02040503050406030204" pitchFamily="18" charset="0"/>
                        </a:rPr>
                        <m:t>𝑓</m:t>
                      </m:r>
                    </m:oMath>
                  </m:oMathPara>
                </a14:m>
                <a:endParaRPr lang="en-US" altLang="zh-CN" sz="2400" dirty="0"/>
              </a:p>
              <a:p>
                <a:pPr marL="800100" lvl="1" indent="-342900">
                  <a:lnSpc>
                    <a:spcPct val="150000"/>
                  </a:lnSpc>
                  <a:buFont typeface="Wingdings" pitchFamily="2" charset="2"/>
                  <a:buChar char="p"/>
                </a:pPr>
                <a14:m>
                  <m:oMath xmlns:m="http://schemas.openxmlformats.org/officeDocument/2006/math">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𝛼</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0,1</m:t>
                        </m:r>
                      </m:e>
                    </m:d>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r>
                      <m:rPr>
                        <m:sty m:val="p"/>
                      </m:rPr>
                      <a:rPr lang="en-US" altLang="zh-CN" sz="2400">
                        <a:latin typeface="Cambria Math" panose="02040503050406030204" pitchFamily="18" charset="0"/>
                      </a:rPr>
                      <m:t>dom</m:t>
                    </m:r>
                    <m:r>
                      <a:rPr lang="en-US" altLang="zh-CN" sz="2400" i="1">
                        <a:latin typeface="Cambria Math" panose="02040503050406030204" pitchFamily="18" charset="0"/>
                      </a:rPr>
                      <m:t> </m:t>
                    </m:r>
                    <m:r>
                      <a:rPr lang="en-US" altLang="zh-CN" sz="2400" i="1">
                        <a:latin typeface="Cambria Math" panose="02040503050406030204" pitchFamily="18" charset="0"/>
                      </a:rPr>
                      <m:t>𝑓</m:t>
                    </m:r>
                  </m:oMath>
                </a14:m>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𝛼</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𝛼</m:t>
                              </m:r>
                            </m:e>
                          </m:d>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𝛼</m:t>
                      </m:r>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𝛼</m:t>
                          </m:r>
                        </m:e>
                      </m:d>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oMath>
                  </m:oMathPara>
                </a14:m>
                <a:endParaRPr lang="en-US" altLang="zh-CN" sz="2400" dirty="0"/>
              </a:p>
              <a:p>
                <a:pPr lvl="1">
                  <a:lnSpc>
                    <a:spcPct val="150000"/>
                  </a:lnSpc>
                </a:pP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719651"/>
                <a:ext cx="11094720" cy="3369833"/>
              </a:xfrm>
              <a:prstGeom prst="rect">
                <a:avLst/>
              </a:prstGeom>
              <a:blipFill>
                <a:blip r:embed="rId3"/>
                <a:stretch>
                  <a:fillRect l="-801"/>
                </a:stretch>
              </a:blipFill>
            </p:spPr>
            <p:txBody>
              <a:bodyPr/>
              <a:lstStyle/>
              <a:p>
                <a:r>
                  <a:rPr lang="zh-CN" altLang="en-US">
                    <a:noFill/>
                  </a:rPr>
                  <a:t> </a:t>
                </a:r>
              </a:p>
            </p:txBody>
          </p:sp>
        </mc:Fallback>
      </mc:AlternateContent>
      <p:pic>
        <p:nvPicPr>
          <p:cNvPr id="15" name="图片 14">
            <a:extLst>
              <a:ext uri="{FF2B5EF4-FFF2-40B4-BE49-F238E27FC236}">
                <a16:creationId xmlns:a16="http://schemas.microsoft.com/office/drawing/2014/main" id="{BE57D9C1-952F-7246-A050-DB14A1E30AB1}"/>
              </a:ext>
            </a:extLst>
          </p:cNvPr>
          <p:cNvPicPr>
            <a:picLocks noChangeAspect="1"/>
          </p:cNvPicPr>
          <p:nvPr/>
        </p:nvPicPr>
        <p:blipFill>
          <a:blip r:embed="rId4"/>
          <a:stretch>
            <a:fillRect/>
          </a:stretch>
        </p:blipFill>
        <p:spPr>
          <a:xfrm>
            <a:off x="3530600" y="4765675"/>
            <a:ext cx="5130800" cy="1955800"/>
          </a:xfrm>
          <a:prstGeom prst="rect">
            <a:avLst/>
          </a:prstGeom>
        </p:spPr>
      </p:pic>
    </p:spTree>
    <p:extLst>
      <p:ext uri="{BB962C8B-B14F-4D97-AF65-F5344CB8AC3E}">
        <p14:creationId xmlns:p14="http://schemas.microsoft.com/office/powerpoint/2010/main" val="423737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85</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对于传统机器学习算法，通过经验风险最小化原则转化为优化问题之后，大多可以采用梯度下降法进行求解。其中一个非常关键的因素是那些优化问题通常都是凸优化问题，梯度下降法能够保证收敛到最优解。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719651"/>
                <a:ext cx="11094720" cy="2249077"/>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可微函数</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𝑓</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oMath>
                </a14:m>
                <a:r>
                  <a:rPr lang="zh-CN" altLang="en-US" sz="2400" dirty="0"/>
                  <a:t>是凸函数，当且仅当</a:t>
                </a:r>
                <a:endParaRPr lang="en-US" altLang="zh-CN" sz="2400" dirty="0"/>
              </a:p>
              <a:p>
                <a:pPr marL="800100" lvl="1" indent="-342900">
                  <a:lnSpc>
                    <a:spcPct val="150000"/>
                  </a:lnSpc>
                  <a:buFont typeface="Wingdings" pitchFamily="2" charset="2"/>
                  <a:buChar char="p"/>
                </a:pPr>
                <a:r>
                  <a:rPr lang="zh-CN" altLang="en-US" sz="2400" dirty="0"/>
                  <a:t>其可行域</a:t>
                </a:r>
                <a14:m>
                  <m:oMath xmlns:m="http://schemas.openxmlformats.org/officeDocument/2006/math">
                    <m:r>
                      <m:rPr>
                        <m:sty m:val="p"/>
                      </m:rPr>
                      <a:rPr lang="en-US" altLang="zh-CN" sz="2400" b="0" i="0" smtClean="0">
                        <a:latin typeface="Cambria Math" panose="02040503050406030204" pitchFamily="18" charset="0"/>
                      </a:rPr>
                      <m:t>dom</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𝑓</m:t>
                    </m:r>
                  </m:oMath>
                </a14:m>
                <a:r>
                  <a:rPr lang="zh-CN" altLang="en-US" sz="2400" dirty="0"/>
                  <a:t>为凸集合</a:t>
                </a:r>
                <a:endParaRPr lang="en-US" altLang="zh-CN" sz="2400" dirty="0"/>
              </a:p>
              <a:p>
                <a:pPr marL="800100" lvl="1" indent="-342900">
                  <a:lnSpc>
                    <a:spcPct val="150000"/>
                  </a:lnSpc>
                  <a:buFont typeface="Wingdings" pitchFamily="2" charset="2"/>
                  <a:buChar char="p"/>
                </a:pPr>
                <a14:m>
                  <m:oMath xmlns:m="http://schemas.openxmlformats.org/officeDocument/2006/math">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e>
                    </m:d>
                    <m:r>
                      <a:rPr lang="en-US" altLang="zh-CN" sz="2400" i="1">
                        <a:latin typeface="Cambria Math" panose="02040503050406030204" pitchFamily="18" charset="0"/>
                      </a:rPr>
                      <m:t>≥</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i="1">
                        <a:latin typeface="Cambria Math" panose="02040503050406030204" pitchFamily="18" charset="0"/>
                      </a:rPr>
                      <m:t>+</m:t>
                    </m:r>
                    <m:r>
                      <m:rPr>
                        <m:sty m:val="p"/>
                      </m:rPr>
                      <a:rPr lang="en-US" altLang="zh-CN" sz="2400">
                        <a:latin typeface="Cambria Math" panose="02040503050406030204" pitchFamily="18" charset="0"/>
                      </a:rPr>
                      <m:t>∇</m:t>
                    </m:r>
                    <m:r>
                      <a:rPr lang="en-US" altLang="zh-CN" sz="2400" i="1">
                        <a:latin typeface="Cambria Math" panose="02040503050406030204" pitchFamily="18" charset="0"/>
                      </a:rPr>
                      <m:t>𝑓</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sup>
                        <m:r>
                          <a:rPr lang="en-US" altLang="zh-CN" sz="2400" i="1">
                            <a:latin typeface="Cambria Math" panose="02040503050406030204" pitchFamily="18" charset="0"/>
                          </a:rPr>
                          <m:t>⊤</m:t>
                        </m:r>
                      </m:sup>
                    </m:s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r>
                          <a:rPr lang="en-US" altLang="zh-CN" sz="2400" i="1">
                            <a:latin typeface="Cambria Math" panose="02040503050406030204" pitchFamily="18" charset="0"/>
                          </a:rPr>
                          <m:t>−</m:t>
                        </m:r>
                        <m:r>
                          <a:rPr lang="en-US" altLang="zh-CN" sz="2400" i="1">
                            <a:latin typeface="Cambria Math" panose="02040503050406030204" pitchFamily="18" charset="0"/>
                          </a:rPr>
                          <m:t>𝑥</m:t>
                        </m:r>
                      </m:e>
                    </m:d>
                    <m:r>
                      <a:rPr lang="en-US" altLang="zh-CN" sz="2400" b="0" i="1" smtClean="0">
                        <a:latin typeface="Cambria Math" panose="02040503050406030204" pitchFamily="18" charset="0"/>
                      </a:rPr>
                      <m:t>,</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r>
                      <m:rPr>
                        <m:sty m:val="p"/>
                      </m:rPr>
                      <a:rPr lang="en-US" altLang="zh-CN" sz="2400">
                        <a:latin typeface="Cambria Math" panose="02040503050406030204" pitchFamily="18" charset="0"/>
                      </a:rPr>
                      <m:t>dom</m:t>
                    </m:r>
                    <m:r>
                      <a:rPr lang="en-US" altLang="zh-CN" sz="2400" i="1">
                        <a:latin typeface="Cambria Math" panose="02040503050406030204" pitchFamily="18" charset="0"/>
                      </a:rPr>
                      <m:t> </m:t>
                    </m:r>
                    <m:r>
                      <a:rPr lang="en-US" altLang="zh-CN" sz="2400" i="1">
                        <a:latin typeface="Cambria Math" panose="02040503050406030204" pitchFamily="18" charset="0"/>
                      </a:rPr>
                      <m:t>𝑓</m:t>
                    </m:r>
                  </m:oMath>
                </a14:m>
                <a:endParaRPr lang="en-US" altLang="zh-CN" sz="2400" dirty="0"/>
              </a:p>
              <a:p>
                <a:pPr marL="800100" lvl="1" indent="-342900">
                  <a:lnSpc>
                    <a:spcPct val="150000"/>
                  </a:lnSpc>
                  <a:buFont typeface="Wingdings" pitchFamily="2" charset="2"/>
                  <a:buChar char="p"/>
                </a:pP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719651"/>
                <a:ext cx="11094720" cy="2249077"/>
              </a:xfrm>
              <a:prstGeom prst="rect">
                <a:avLst/>
              </a:prstGeom>
              <a:blipFill>
                <a:blip r:embed="rId3"/>
                <a:stretch>
                  <a:fillRect l="-801"/>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81A410BC-4972-424E-8C20-1E6A57B21A00}"/>
              </a:ext>
            </a:extLst>
          </p:cNvPr>
          <p:cNvPicPr>
            <a:picLocks noChangeAspect="1"/>
          </p:cNvPicPr>
          <p:nvPr/>
        </p:nvPicPr>
        <p:blipFill>
          <a:blip r:embed="rId4"/>
          <a:stretch>
            <a:fillRect/>
          </a:stretch>
        </p:blipFill>
        <p:spPr>
          <a:xfrm>
            <a:off x="3251200" y="4486275"/>
            <a:ext cx="6731000" cy="2235200"/>
          </a:xfrm>
          <a:prstGeom prst="rect">
            <a:avLst/>
          </a:prstGeom>
        </p:spPr>
      </p:pic>
    </p:spTree>
    <p:extLst>
      <p:ext uri="{BB962C8B-B14F-4D97-AF65-F5344CB8AC3E}">
        <p14:creationId xmlns:p14="http://schemas.microsoft.com/office/powerpoint/2010/main" val="11030472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719651"/>
                <a:ext cx="11094720" cy="3735895"/>
              </a:xfrm>
              <a:prstGeom prst="rect">
                <a:avLst/>
              </a:prstGeom>
              <a:noFill/>
            </p:spPr>
            <p:txBody>
              <a:bodyPr wrap="square" rtlCol="0">
                <a:spAutoFit/>
              </a:bodyPr>
              <a:lstStyle/>
              <a:p>
                <a:pPr marL="342900" indent="-342900">
                  <a:buFont typeface="Wingdings" pitchFamily="2" charset="2"/>
                  <a:buChar char="n"/>
                </a:pPr>
                <a:endParaRPr lang="en-US" altLang="zh-CN" sz="2400" dirty="0">
                  <a:ea typeface="Cambria Math" panose="02040503050406030204" pitchFamily="18" charset="0"/>
                </a:endParaRPr>
              </a:p>
              <a:p>
                <a:pPr marL="342900" indent="-342900">
                  <a:buFont typeface="Wingdings" pitchFamily="2" charset="2"/>
                  <a:buChar char="n"/>
                </a:pPr>
                <a:endParaRPr lang="en-US" altLang="zh-CN" sz="2400" dirty="0">
                  <a:ea typeface="Cambria Math" panose="02040503050406030204" pitchFamily="18" charset="0"/>
                </a:endParaRPr>
              </a:p>
              <a:p>
                <a:pPr marL="342900" indent="-342900">
                  <a:buFont typeface="Wingdings" pitchFamily="2" charset="2"/>
                  <a:buChar char="n"/>
                </a:pPr>
                <a:endParaRPr lang="en-US" altLang="zh-CN" sz="2400" dirty="0">
                  <a:ea typeface="Cambria Math" panose="02040503050406030204" pitchFamily="18" charset="0"/>
                </a:endParaRPr>
              </a:p>
              <a:p>
                <a:pPr marL="342900" indent="-342900">
                  <a:buFont typeface="Wingdings" pitchFamily="2" charset="2"/>
                  <a:buChar char="n"/>
                </a:pPr>
                <a:endParaRPr lang="en-US" altLang="zh-CN" sz="2400" dirty="0">
                  <a:ea typeface="Cambria Math" panose="02040503050406030204" pitchFamily="18" charset="0"/>
                </a:endParaRPr>
              </a:p>
              <a:p>
                <a:endParaRPr lang="en-US" altLang="zh-CN" sz="2400" dirty="0">
                  <a:ea typeface="Cambria Math" panose="02040503050406030204" pitchFamily="18" charset="0"/>
                </a:endParaRPr>
              </a:p>
              <a:p>
                <a:pPr marL="342900" indent="-342900">
                  <a:buFont typeface="Wingdings" pitchFamily="2" charset="2"/>
                  <a:buChar char="n"/>
                </a:pPr>
                <a:r>
                  <a:rPr lang="zh-CN" altLang="en-US" sz="2400" dirty="0">
                    <a:ea typeface="Cambria Math" panose="02040503050406030204" pitchFamily="18" charset="0"/>
                  </a:rPr>
                  <a:t>平滑函数</a:t>
                </a:r>
                <a:r>
                  <a:rPr lang="en-US" altLang="zh-CN" sz="2400" dirty="0">
                    <a:ea typeface="Cambria Math" panose="02040503050406030204" pitchFamily="18" charset="0"/>
                  </a:rPr>
                  <a:t>(Smooth Function)</a:t>
                </a:r>
                <a:r>
                  <a:rPr lang="zh-CN" altLang="en-US" sz="2400" dirty="0"/>
                  <a:t> ：当</a:t>
                </a:r>
                <a:r>
                  <a:rPr lang="zh-CN" altLang="en-US" sz="2400" dirty="0">
                    <a:ea typeface="Cambria Math" panose="02040503050406030204" pitchFamily="18" charset="0"/>
                  </a:rPr>
                  <a:t>函数</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𝑓</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oMath>
                </a14:m>
                <a:r>
                  <a:rPr lang="zh-CN" altLang="en-US" sz="2400" dirty="0"/>
                  <a:t>满足下列条件时，称之为</a:t>
                </a:r>
                <a14:m>
                  <m:oMath xmlns:m="http://schemas.openxmlformats.org/officeDocument/2006/math">
                    <m:r>
                      <a:rPr lang="en-US" altLang="zh-CN" sz="2400" b="0" i="1" smtClean="0">
                        <a:latin typeface="Cambria Math" panose="02040503050406030204" pitchFamily="18" charset="0"/>
                      </a:rPr>
                      <m:t>𝛽</m:t>
                    </m:r>
                  </m:oMath>
                </a14:m>
                <a:r>
                  <a:rPr lang="en-US" altLang="zh-CN" sz="2400" dirty="0"/>
                  <a:t>-</a:t>
                </a:r>
                <a:r>
                  <a:rPr lang="zh-CN" altLang="en-US" sz="2400" dirty="0"/>
                  <a:t>平滑函数</a:t>
                </a:r>
                <a:endParaRPr lang="en-US" altLang="zh-CN" sz="2400" dirty="0"/>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d>
                            <m:dPr>
                              <m:begChr m:val="‖"/>
                              <m:endChr m:val="‖"/>
                              <m:ctrlPr>
                                <a:rPr lang="en-US" altLang="zh-CN" sz="2400" i="1" smtClean="0">
                                  <a:latin typeface="Cambria Math" panose="02040503050406030204" pitchFamily="18" charset="0"/>
                                </a:rPr>
                              </m:ctrlPr>
                            </m:dPr>
                            <m:e>
                              <m:r>
                                <m:rPr>
                                  <m:sty m:val="p"/>
                                </m:rPr>
                                <a:rPr lang="en-US" altLang="zh-CN" sz="2400" b="0" i="0" smtClean="0">
                                  <a:latin typeface="Cambria Math" panose="02040503050406030204" pitchFamily="18" charset="0"/>
                                </a:rPr>
                                <m:t>∇</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i="1">
                                  <a:latin typeface="Cambria Math" panose="02040503050406030204" pitchFamily="18" charset="0"/>
                                </a:rPr>
                                <m:t>−</m:t>
                              </m:r>
                              <m:r>
                                <m:rPr>
                                  <m:sty m:val="p"/>
                                </m:rPr>
                                <a:rPr lang="en-US" altLang="zh-CN" sz="2400" b="0" i="0" smtClean="0">
                                  <a:latin typeface="Cambria Math" panose="02040503050406030204" pitchFamily="18" charset="0"/>
                                </a:rPr>
                                <m:t>∇</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e>
                              </m:d>
                            </m:e>
                          </m:d>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𝛽</m:t>
                      </m:r>
                      <m:sSub>
                        <m:sSubPr>
                          <m:ctrlPr>
                            <a:rPr lang="en-US" altLang="zh-CN" sz="2400" i="1">
                              <a:latin typeface="Cambria Math" panose="02040503050406030204" pitchFamily="18" charset="0"/>
                            </a:rPr>
                          </m:ctrlPr>
                        </m:sSubPr>
                        <m:e>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e>
                          </m:d>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r>
                        <m:rPr>
                          <m:sty m:val="p"/>
                        </m:rPr>
                        <a:rPr lang="en-US" altLang="zh-CN" sz="2400">
                          <a:latin typeface="Cambria Math" panose="02040503050406030204" pitchFamily="18" charset="0"/>
                        </a:rPr>
                        <m:t>dom</m:t>
                      </m:r>
                      <m:r>
                        <a:rPr lang="en-US" altLang="zh-CN" sz="2400" i="1">
                          <a:latin typeface="Cambria Math" panose="02040503050406030204" pitchFamily="18" charset="0"/>
                        </a:rPr>
                        <m:t> </m:t>
                      </m:r>
                      <m:r>
                        <a:rPr lang="en-US" altLang="zh-CN" sz="2400" i="1">
                          <a:latin typeface="Cambria Math" panose="02040503050406030204" pitchFamily="18" charset="0"/>
                        </a:rPr>
                        <m:t>𝑓</m:t>
                      </m:r>
                    </m:oMath>
                  </m:oMathPara>
                </a14:m>
                <a:endParaRPr lang="en-US" altLang="zh-CN" sz="2400" dirty="0"/>
              </a:p>
              <a:p>
                <a:pPr marL="800100" lvl="1" indent="-342900">
                  <a:lnSpc>
                    <a:spcPct val="150000"/>
                  </a:lnSpc>
                  <a:buFont typeface="Wingdings" pitchFamily="2" charset="2"/>
                  <a:buChar char="p"/>
                </a:pPr>
                <a:r>
                  <a:rPr lang="zh-CN" altLang="en-US" sz="2400" dirty="0"/>
                  <a:t>梯度变化量会被输入的变化量控制</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719651"/>
                <a:ext cx="11094720" cy="3735895"/>
              </a:xfrm>
              <a:prstGeom prst="rect">
                <a:avLst/>
              </a:prstGeom>
              <a:blipFill>
                <a:blip r:embed="rId3"/>
                <a:stretch>
                  <a:fillRect l="-801" b="-2712"/>
                </a:stretch>
              </a:blipFill>
            </p:spPr>
            <p:txBody>
              <a:bodyPr/>
              <a:lstStyle/>
              <a:p>
                <a:r>
                  <a:rPr lang="zh-CN" altLang="en-US">
                    <a:noFill/>
                  </a:rPr>
                  <a:t> </a:t>
                </a:r>
              </a:p>
            </p:txBody>
          </p:sp>
        </mc:Fallback>
      </mc:AlternateContent>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86</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对于传统机器学习算法，通过经验风险最小化原则转化为优化问题之后，大多可以采用梯度下降法进行求解。其中一个非常关键的因素是那些优化问题通常都是凸优化问题，梯度下降法能够保证收敛到最优解。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B77B70B-17D3-B54D-9875-736BFDB08709}"/>
                  </a:ext>
                </a:extLst>
              </p:cNvPr>
              <p:cNvSpPr txBox="1"/>
              <p:nvPr/>
            </p:nvSpPr>
            <p:spPr>
              <a:xfrm>
                <a:off x="548640" y="2719651"/>
                <a:ext cx="11094720" cy="1705275"/>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可微函数</a:t>
                </a:r>
                <a14:m>
                  <m:oMath xmlns:m="http://schemas.openxmlformats.org/officeDocument/2006/math">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𝑓</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e>
                      <m:sup>
                        <m:r>
                          <a:rPr lang="en-US" altLang="zh-CN" sz="2400" i="1">
                            <a:latin typeface="Cambria Math" panose="02040503050406030204" pitchFamily="18" charset="0"/>
                            <a:ea typeface="Cambria Math" panose="02040503050406030204" pitchFamily="18" charset="0"/>
                          </a:rPr>
                          <m:t>𝑑</m:t>
                        </m:r>
                      </m:sup>
                    </m:sSup>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ℝ</m:t>
                    </m:r>
                  </m:oMath>
                </a14:m>
                <a:r>
                  <a:rPr lang="zh-CN" altLang="en-US" sz="2400" dirty="0"/>
                  <a:t>是凸函数，当且仅当</a:t>
                </a:r>
                <a:endParaRPr lang="en-US" altLang="zh-CN" sz="2400" dirty="0"/>
              </a:p>
              <a:p>
                <a:pPr marL="800100" lvl="1" indent="-342900">
                  <a:lnSpc>
                    <a:spcPct val="150000"/>
                  </a:lnSpc>
                  <a:buFont typeface="Wingdings" pitchFamily="2" charset="2"/>
                  <a:buChar char="p"/>
                </a:pPr>
                <a:r>
                  <a:rPr lang="zh-CN" altLang="en-US" sz="2400" dirty="0"/>
                  <a:t>其可行域</a:t>
                </a:r>
                <a14:m>
                  <m:oMath xmlns:m="http://schemas.openxmlformats.org/officeDocument/2006/math">
                    <m:r>
                      <m:rPr>
                        <m:sty m:val="p"/>
                      </m:rPr>
                      <a:rPr lang="en-US" altLang="zh-CN" sz="2400" b="0" i="0" smtClean="0">
                        <a:latin typeface="Cambria Math" panose="02040503050406030204" pitchFamily="18" charset="0"/>
                      </a:rPr>
                      <m:t>dom</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𝑓</m:t>
                    </m:r>
                  </m:oMath>
                </a14:m>
                <a:r>
                  <a:rPr lang="zh-CN" altLang="en-US" sz="2400" dirty="0"/>
                  <a:t>为凸集合</a:t>
                </a:r>
                <a:endParaRPr lang="en-US" altLang="zh-CN" sz="2400" dirty="0"/>
              </a:p>
              <a:p>
                <a:pPr marL="800100" lvl="1" indent="-342900">
                  <a:lnSpc>
                    <a:spcPct val="150000"/>
                  </a:lnSpc>
                  <a:buFont typeface="Wingdings" pitchFamily="2" charset="2"/>
                  <a:buChar char="p"/>
                </a:pPr>
                <a14:m>
                  <m:oMath xmlns:m="http://schemas.openxmlformats.org/officeDocument/2006/math">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e>
                    </m:d>
                    <m:r>
                      <a:rPr lang="en-US" altLang="zh-CN" sz="2400" i="1">
                        <a:latin typeface="Cambria Math" panose="02040503050406030204" pitchFamily="18" charset="0"/>
                      </a:rPr>
                      <m:t>≥</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i="1">
                        <a:latin typeface="Cambria Math" panose="02040503050406030204" pitchFamily="18" charset="0"/>
                      </a:rPr>
                      <m:t>+</m:t>
                    </m:r>
                    <m:r>
                      <m:rPr>
                        <m:sty m:val="p"/>
                      </m:rPr>
                      <a:rPr lang="en-US" altLang="zh-CN" sz="2400">
                        <a:latin typeface="Cambria Math" panose="02040503050406030204" pitchFamily="18" charset="0"/>
                      </a:rPr>
                      <m:t>∇</m:t>
                    </m:r>
                    <m:r>
                      <a:rPr lang="en-US" altLang="zh-CN" sz="2400" i="1">
                        <a:latin typeface="Cambria Math" panose="02040503050406030204" pitchFamily="18" charset="0"/>
                      </a:rPr>
                      <m:t>𝑓</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sup>
                        <m:r>
                          <a:rPr lang="en-US" altLang="zh-CN" sz="2400" i="1">
                            <a:latin typeface="Cambria Math" panose="02040503050406030204" pitchFamily="18" charset="0"/>
                          </a:rPr>
                          <m:t>⊤</m:t>
                        </m:r>
                      </m:sup>
                    </m:s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r>
                          <a:rPr lang="en-US" altLang="zh-CN" sz="2400" i="1">
                            <a:latin typeface="Cambria Math" panose="02040503050406030204" pitchFamily="18" charset="0"/>
                          </a:rPr>
                          <m:t>−</m:t>
                        </m:r>
                        <m:r>
                          <a:rPr lang="en-US" altLang="zh-CN" sz="2400" i="1">
                            <a:latin typeface="Cambria Math" panose="02040503050406030204" pitchFamily="18" charset="0"/>
                          </a:rPr>
                          <m:t>𝑥</m:t>
                        </m:r>
                      </m:e>
                    </m:d>
                    <m:r>
                      <a:rPr lang="en-US" altLang="zh-CN" sz="2400" b="0" i="1" smtClean="0">
                        <a:latin typeface="Cambria Math" panose="02040503050406030204" pitchFamily="18" charset="0"/>
                      </a:rPr>
                      <m:t>,</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r>
                      <m:rPr>
                        <m:sty m:val="p"/>
                      </m:rPr>
                      <a:rPr lang="en-US" altLang="zh-CN" sz="2400">
                        <a:latin typeface="Cambria Math" panose="02040503050406030204" pitchFamily="18" charset="0"/>
                      </a:rPr>
                      <m:t>dom</m:t>
                    </m:r>
                    <m:r>
                      <a:rPr lang="en-US" altLang="zh-CN" sz="2400" i="1">
                        <a:latin typeface="Cambria Math" panose="02040503050406030204" pitchFamily="18" charset="0"/>
                      </a:rPr>
                      <m:t> </m:t>
                    </m:r>
                    <m:r>
                      <a:rPr lang="en-US" altLang="zh-CN" sz="2400" i="1">
                        <a:latin typeface="Cambria Math" panose="02040503050406030204" pitchFamily="18" charset="0"/>
                      </a:rPr>
                      <m:t>𝑓</m:t>
                    </m:r>
                  </m:oMath>
                </a14:m>
                <a:endParaRPr lang="en-US" altLang="zh-CN" sz="2400" dirty="0"/>
              </a:p>
            </p:txBody>
          </p:sp>
        </mc:Choice>
        <mc:Fallback xmlns="">
          <p:sp>
            <p:nvSpPr>
              <p:cNvPr id="10" name="文本框 9">
                <a:extLst>
                  <a:ext uri="{FF2B5EF4-FFF2-40B4-BE49-F238E27FC236}">
                    <a16:creationId xmlns:a16="http://schemas.microsoft.com/office/drawing/2014/main" id="{9B77B70B-17D3-B54D-9875-736BFDB08709}"/>
                  </a:ext>
                </a:extLst>
              </p:cNvPr>
              <p:cNvSpPr txBox="1">
                <a:spLocks noRot="1" noChangeAspect="1" noMove="1" noResize="1" noEditPoints="1" noAdjustHandles="1" noChangeArrowheads="1" noChangeShapeType="1" noTextEdit="1"/>
              </p:cNvSpPr>
              <p:nvPr/>
            </p:nvSpPr>
            <p:spPr>
              <a:xfrm>
                <a:off x="548640" y="2719651"/>
                <a:ext cx="11094720" cy="1705275"/>
              </a:xfrm>
              <a:prstGeom prst="rect">
                <a:avLst/>
              </a:prstGeom>
              <a:blipFill>
                <a:blip r:embed="rId4"/>
                <a:stretch>
                  <a:fillRect l="-801" b="-59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503594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497F465-3E1C-F44F-86B7-4433B9A3045A}"/>
              </a:ext>
            </a:extLst>
          </p:cNvPr>
          <p:cNvSpPr txBox="1"/>
          <p:nvPr/>
        </p:nvSpPr>
        <p:spPr>
          <a:xfrm>
            <a:off x="548640" y="2719651"/>
            <a:ext cx="11094720" cy="1938992"/>
          </a:xfrm>
          <a:prstGeom prst="rect">
            <a:avLst/>
          </a:prstGeom>
          <a:noFill/>
        </p:spPr>
        <p:txBody>
          <a:bodyPr wrap="square" rtlCol="0">
            <a:spAutoFit/>
          </a:bodyPr>
          <a:lstStyle/>
          <a:p>
            <a:pPr marL="342900" indent="-342900">
              <a:buFont typeface="Wingdings" pitchFamily="2" charset="2"/>
              <a:buChar char="n"/>
            </a:pPr>
            <a:endParaRPr lang="en-US" altLang="zh-CN" sz="2400" dirty="0">
              <a:ea typeface="Cambria Math" panose="02040503050406030204" pitchFamily="18" charset="0"/>
            </a:endParaRPr>
          </a:p>
          <a:p>
            <a:pPr marL="342900" indent="-342900">
              <a:buFont typeface="Wingdings" pitchFamily="2" charset="2"/>
              <a:buChar char="n"/>
            </a:pPr>
            <a:endParaRPr lang="en-US" altLang="zh-CN" sz="2400" dirty="0">
              <a:ea typeface="Cambria Math" panose="02040503050406030204" pitchFamily="18" charset="0"/>
            </a:endParaRPr>
          </a:p>
          <a:p>
            <a:pPr marL="342900" indent="-342900">
              <a:buFont typeface="Wingdings" pitchFamily="2" charset="2"/>
              <a:buChar char="n"/>
            </a:pPr>
            <a:endParaRPr lang="en-US" altLang="zh-CN" sz="2400" dirty="0">
              <a:ea typeface="Cambria Math" panose="02040503050406030204" pitchFamily="18" charset="0"/>
            </a:endParaRPr>
          </a:p>
          <a:p>
            <a:pPr marL="342900" indent="-342900">
              <a:buFont typeface="Wingdings" pitchFamily="2" charset="2"/>
              <a:buChar char="n"/>
            </a:pPr>
            <a:endParaRPr lang="en-US" altLang="zh-CN" sz="2400" dirty="0">
              <a:ea typeface="Cambria Math" panose="02040503050406030204" pitchFamily="18" charset="0"/>
            </a:endParaRPr>
          </a:p>
          <a:p>
            <a:r>
              <a:rPr lang="en-US" altLang="zh-CN" sz="2400" dirty="0">
                <a:ea typeface="Cambria Math" panose="02040503050406030204" pitchFamily="18" charset="0"/>
              </a:rPr>
              <a:t>     </a:t>
            </a:r>
          </a:p>
        </p:txBody>
      </p:sp>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87</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对于传统机器学习算法，通过经验风险最小化原则转化为优化问题之后，大多可以采用梯度下降法进行求解。其中一个非常关键的因素是那些优化问题通常都是凸优化问题，梯度下降法能够保证收敛到最优解。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p:sp>
        <p:nvSpPr>
          <p:cNvPr id="10" name="文本框 9">
            <a:extLst>
              <a:ext uri="{FF2B5EF4-FFF2-40B4-BE49-F238E27FC236}">
                <a16:creationId xmlns:a16="http://schemas.microsoft.com/office/drawing/2014/main" id="{9B77B70B-17D3-B54D-9875-736BFDB08709}"/>
              </a:ext>
            </a:extLst>
          </p:cNvPr>
          <p:cNvSpPr txBox="1"/>
          <p:nvPr/>
        </p:nvSpPr>
        <p:spPr>
          <a:xfrm>
            <a:off x="548640" y="2719651"/>
            <a:ext cx="11094720" cy="3360022"/>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b="1" dirty="0">
                <a:ea typeface="Cambria Math" panose="02040503050406030204" pitchFamily="18" charset="0"/>
              </a:rPr>
              <a:t>凸性：保证全局最优与下降方向的正确性</a:t>
            </a:r>
            <a:endParaRPr lang="en-US" altLang="zh-CN" sz="2400" b="1" dirty="0">
              <a:ea typeface="Cambria Math" panose="02040503050406030204" pitchFamily="18" charset="0"/>
            </a:endParaRPr>
          </a:p>
          <a:p>
            <a:pPr>
              <a:lnSpc>
                <a:spcPct val="150000"/>
              </a:lnSpc>
            </a:pPr>
            <a:r>
              <a:rPr lang="zh-CN" altLang="en-US" sz="2400" b="0" i="0" dirty="0">
                <a:solidFill>
                  <a:srgbClr val="0F1115"/>
                </a:solidFill>
                <a:effectLst/>
                <a:latin typeface="quote-cjk-patch"/>
              </a:rPr>
              <a:t>     解决了“往哪里走”的问题</a:t>
            </a:r>
            <a:r>
              <a:rPr lang="en-US" altLang="zh-CN" sz="2400" b="0" i="0" dirty="0">
                <a:solidFill>
                  <a:srgbClr val="0F1115"/>
                </a:solidFill>
                <a:effectLst/>
                <a:latin typeface="quote-cjk-patch"/>
              </a:rPr>
              <a:t>——</a:t>
            </a:r>
            <a:r>
              <a:rPr lang="zh-CN" altLang="en-US" sz="2400" b="0" i="0" dirty="0">
                <a:solidFill>
                  <a:srgbClr val="0F1115"/>
                </a:solidFill>
                <a:effectLst/>
                <a:latin typeface="quote-cjk-patch"/>
              </a:rPr>
              <a:t>负梯度方向是下降方向，且最终能到达全局最优</a:t>
            </a:r>
            <a:endParaRPr lang="en-US" altLang="zh-CN" sz="2400" b="1" dirty="0">
              <a:ea typeface="Cambria Math" panose="02040503050406030204" pitchFamily="18" charset="0"/>
            </a:endParaRPr>
          </a:p>
          <a:p>
            <a:pPr marL="342900" indent="-342900">
              <a:lnSpc>
                <a:spcPct val="150000"/>
              </a:lnSpc>
              <a:buFont typeface="Wingdings" pitchFamily="2" charset="2"/>
              <a:buChar char="n"/>
            </a:pPr>
            <a:r>
              <a:rPr lang="zh-CN" altLang="en-US" sz="2400" b="1" dirty="0">
                <a:solidFill>
                  <a:srgbClr val="0F1115"/>
                </a:solidFill>
                <a:effectLst/>
                <a:latin typeface="quote-cjk-patch"/>
              </a:rPr>
              <a:t>平滑性：控制梯度的变化率</a:t>
            </a:r>
          </a:p>
          <a:p>
            <a:pPr>
              <a:lnSpc>
                <a:spcPct val="150000"/>
              </a:lnSpc>
            </a:pPr>
            <a:r>
              <a:rPr lang="zh-CN" altLang="en-US" sz="2400" b="0" i="0" dirty="0">
                <a:solidFill>
                  <a:srgbClr val="0F1115"/>
                </a:solidFill>
                <a:effectLst/>
                <a:latin typeface="quote-cjk-patch"/>
              </a:rPr>
              <a:t>      解决了“走多快”的问题</a:t>
            </a:r>
            <a:r>
              <a:rPr lang="en-US" altLang="zh-CN" sz="2400" b="0" i="0" dirty="0">
                <a:solidFill>
                  <a:srgbClr val="0F1115"/>
                </a:solidFill>
                <a:effectLst/>
                <a:latin typeface="quote-cjk-patch"/>
              </a:rPr>
              <a:t>——</a:t>
            </a:r>
            <a:r>
              <a:rPr lang="zh-CN" altLang="en-US" sz="2400" b="0" i="0" dirty="0">
                <a:solidFill>
                  <a:srgbClr val="0F1115"/>
                </a:solidFill>
                <a:effectLst/>
                <a:latin typeface="quote-cjk-patch"/>
              </a:rPr>
              <a:t>它限制了梯度的变化幅度，使我们可以安全地选择步长，并量化收敛速度</a:t>
            </a:r>
            <a:endParaRPr lang="en-US" altLang="zh-CN" sz="2400" dirty="0">
              <a:ea typeface="Cambria Math" panose="02040503050406030204" pitchFamily="18" charset="0"/>
            </a:endParaRPr>
          </a:p>
          <a:p>
            <a:pPr marL="342900" indent="-342900">
              <a:lnSpc>
                <a:spcPct val="150000"/>
              </a:lnSpc>
              <a:buFont typeface="Wingdings" pitchFamily="2" charset="2"/>
              <a:buChar char="n"/>
            </a:pPr>
            <a:endParaRPr lang="en-US" altLang="zh-CN" sz="2400" b="1" dirty="0"/>
          </a:p>
        </p:txBody>
      </p:sp>
    </p:spTree>
    <p:extLst>
      <p:ext uri="{BB962C8B-B14F-4D97-AF65-F5344CB8AC3E}">
        <p14:creationId xmlns:p14="http://schemas.microsoft.com/office/powerpoint/2010/main" val="33924199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88</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对于传统机器学习算法，通过经验风险最小化原则转化为优化问题之后，大多可以采用梯度下降法进行求解。其中一个非常关键的因素是那些优化问题通常都是凸优化问题，梯度下降法能够保证收敛到最优解。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719651"/>
                <a:ext cx="5283749" cy="1696875"/>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无约束凸优化问题</a:t>
                </a:r>
                <a:endParaRPr lang="en-US" altLang="zh-CN" sz="2400" dirty="0">
                  <a:ea typeface="Cambria Math" panose="02040503050406030204" pitchFamily="18" charset="0"/>
                </a:endParaRPr>
              </a:p>
              <a:p>
                <a:pPr>
                  <a:lnSpc>
                    <a:spcPct val="150000"/>
                  </a:lnSpc>
                </a:pPr>
                <a:endParaRPr lang="en-US" altLang="zh-CN" sz="2400" dirty="0"/>
              </a:p>
              <a:p>
                <a:pPr marL="800100" lvl="1" indent="-342900">
                  <a:lnSpc>
                    <a:spcPct val="150000"/>
                  </a:lnSpc>
                  <a:buFont typeface="Wingdings" pitchFamily="2" charset="2"/>
                  <a:buChar char="p"/>
                </a:pPr>
                <a:r>
                  <a:rPr lang="zh-CN" altLang="en-US" sz="2400" b="0" dirty="0"/>
                  <a:t>其中</a:t>
                </a:r>
                <a14:m>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oMath>
                </a14:m>
                <a:r>
                  <a:rPr lang="zh-CN" altLang="en-US" sz="2400" dirty="0"/>
                  <a:t>是凸函数</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719651"/>
                <a:ext cx="5283749" cy="1696875"/>
              </a:xfrm>
              <a:prstGeom prst="rect">
                <a:avLst/>
              </a:prstGeom>
              <a:blipFill>
                <a:blip r:embed="rId3"/>
                <a:stretch>
                  <a:fillRect l="-1679" b="-7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6E9132E-B9CB-7F4B-8653-E00A87CB9B5B}"/>
                  </a:ext>
                </a:extLst>
              </p:cNvPr>
              <p:cNvSpPr txBox="1"/>
              <p:nvPr/>
            </p:nvSpPr>
            <p:spPr>
              <a:xfrm>
                <a:off x="-271849" y="3281536"/>
                <a:ext cx="6104238" cy="5731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altLang="zh-CN" sz="2400" i="1" smtClean="0">
                              <a:latin typeface="Cambria Math" panose="02040503050406030204" pitchFamily="18" charset="0"/>
                            </a:rPr>
                          </m:ctrlPr>
                        </m:funcPr>
                        <m:fName>
                          <m:limLow>
                            <m:limLowPr>
                              <m:ctrlPr>
                                <a:rPr lang="en-US" altLang="zh-CN" sz="2400" i="1" smtClean="0">
                                  <a:latin typeface="Cambria Math" panose="02040503050406030204" pitchFamily="18" charset="0"/>
                                </a:rPr>
                              </m:ctrlPr>
                            </m:limLowPr>
                            <m:e>
                              <m:r>
                                <m:rPr>
                                  <m:sty m:val="p"/>
                                </m:rPr>
                                <a:rPr lang="en-US" altLang="zh-CN" sz="2400" i="0" smtClean="0">
                                  <a:latin typeface="Cambria Math" panose="02040503050406030204" pitchFamily="18" charset="0"/>
                                </a:rPr>
                                <m:t>min</m:t>
                              </m:r>
                            </m:e>
                            <m:lim>
                              <m:r>
                                <a:rPr lang="en-US" altLang="zh-CN" sz="2400" b="0" i="1" smtClean="0">
                                  <a:latin typeface="Cambria Math" panose="02040503050406030204" pitchFamily="18" charset="0"/>
                                </a:rPr>
                                <m:t>𝑥</m:t>
                              </m:r>
                            </m:lim>
                          </m:limLow>
                        </m:fName>
                        <m:e>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e>
                      </m:func>
                    </m:oMath>
                  </m:oMathPara>
                </a14:m>
                <a:endParaRPr lang="zh-CN" altLang="en-US" sz="2400" dirty="0"/>
              </a:p>
            </p:txBody>
          </p:sp>
        </mc:Choice>
        <mc:Fallback xmlns="">
          <p:sp>
            <p:nvSpPr>
              <p:cNvPr id="10" name="文本框 9">
                <a:extLst>
                  <a:ext uri="{FF2B5EF4-FFF2-40B4-BE49-F238E27FC236}">
                    <a16:creationId xmlns:a16="http://schemas.microsoft.com/office/drawing/2014/main" id="{06E9132E-B9CB-7F4B-8653-E00A87CB9B5B}"/>
                  </a:ext>
                </a:extLst>
              </p:cNvPr>
              <p:cNvSpPr txBox="1">
                <a:spLocks noRot="1" noChangeAspect="1" noMove="1" noResize="1" noEditPoints="1" noAdjustHandles="1" noChangeArrowheads="1" noChangeShapeType="1" noTextEdit="1"/>
              </p:cNvSpPr>
              <p:nvPr/>
            </p:nvSpPr>
            <p:spPr>
              <a:xfrm>
                <a:off x="-271849" y="3281536"/>
                <a:ext cx="6104238" cy="573106"/>
              </a:xfrm>
              <a:prstGeom prst="rect">
                <a:avLst/>
              </a:prstGeom>
              <a:blipFill>
                <a:blip r:embed="rId4"/>
                <a:stretch>
                  <a:fillRect b="-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CA0FE1-6E59-6B44-83BA-B41AF0493681}"/>
                  </a:ext>
                </a:extLst>
              </p:cNvPr>
              <p:cNvSpPr txBox="1"/>
              <p:nvPr/>
            </p:nvSpPr>
            <p:spPr>
              <a:xfrm>
                <a:off x="548639" y="4416526"/>
                <a:ext cx="6104237" cy="225087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迭代式方法：</a:t>
                </a:r>
                <a:r>
                  <a:rPr lang="zh-CN" altLang="en-US" sz="2400" dirty="0"/>
                  <a:t>迭代式优化</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r>
                            <a:rPr lang="en-US" altLang="zh-CN" sz="2400" b="0" i="1" smtClean="0">
                              <a:latin typeface="Cambria Math" panose="02040503050406030204" pitchFamily="18" charset="0"/>
                              <a:cs typeface="Arial" panose="020B0604020202020204" pitchFamily="34" charset="0"/>
                            </a:rPr>
                            <m:t>+1</m:t>
                          </m:r>
                        </m:sub>
                      </m:sSub>
                      <m:r>
                        <a:rPr lang="en-US" altLang="zh-CN" sz="2400" b="0" i="1" smtClean="0">
                          <a:latin typeface="Cambria Math" panose="02040503050406030204" pitchFamily="18" charset="0"/>
                          <a:cs typeface="Arial" panose="020B0604020202020204" pitchFamily="34" charset="0"/>
                        </a:rPr>
                        <m:t>=</m:t>
                      </m:r>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sub>
                      </m:sSub>
                      <m:r>
                        <a:rPr lang="en-US" altLang="zh-CN" sz="2400" b="0" i="1" smtClean="0">
                          <a:latin typeface="Cambria Math" panose="02040503050406030204" pitchFamily="18" charset="0"/>
                          <a:cs typeface="Arial" panose="020B0604020202020204" pitchFamily="34" charset="0"/>
                        </a:rPr>
                        <m:t>+</m:t>
                      </m:r>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𝜂</m:t>
                          </m:r>
                        </m:e>
                        <m:sub>
                          <m:r>
                            <a:rPr lang="en-US" altLang="zh-CN" sz="2400" b="0" i="1" smtClean="0">
                              <a:latin typeface="Cambria Math" panose="02040503050406030204" pitchFamily="18" charset="0"/>
                              <a:cs typeface="Arial" panose="020B0604020202020204" pitchFamily="34" charset="0"/>
                            </a:rPr>
                            <m:t>𝑡</m:t>
                          </m:r>
                        </m:sub>
                      </m:sSub>
                      <m:sSub>
                        <m:sSubPr>
                          <m:ctrlPr>
                            <a:rPr lang="en-US" altLang="zh-CN" sz="2400" b="0" i="1" smtClean="0">
                              <a:latin typeface="Cambria Math" panose="02040503050406030204" pitchFamily="18" charset="0"/>
                              <a:cs typeface="Arial" panose="020B0604020202020204" pitchFamily="34" charset="0"/>
                            </a:rPr>
                          </m:ctrlPr>
                        </m:sSubPr>
                        <m:e>
                          <m:r>
                            <m:rPr>
                              <m:sty m:val="p"/>
                            </m:rPr>
                            <a:rPr lang="en-US" altLang="zh-CN" sz="2400" b="0" i="0" smtClean="0">
                              <a:latin typeface="Cambria Math" panose="02040503050406030204" pitchFamily="18" charset="0"/>
                              <a:cs typeface="Arial" panose="020B0604020202020204" pitchFamily="34" charset="0"/>
                            </a:rPr>
                            <m:t>Δ</m:t>
                          </m:r>
                        </m:e>
                        <m:sub>
                          <m:r>
                            <a:rPr lang="en-US" altLang="zh-CN" sz="2400" b="0" i="1" smtClean="0">
                              <a:latin typeface="Cambria Math" panose="02040503050406030204" pitchFamily="18" charset="0"/>
                              <a:cs typeface="Arial" panose="020B0604020202020204" pitchFamily="34" charset="0"/>
                            </a:rPr>
                            <m:t>𝑡</m:t>
                          </m:r>
                        </m:sub>
                      </m:sSub>
                    </m:oMath>
                  </m:oMathPara>
                </a14:m>
                <a:endParaRPr lang="en-US" altLang="zh-CN" sz="24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p"/>
                </a:pPr>
                <a14:m>
                  <m:oMath xmlns:m="http://schemas.openxmlformats.org/officeDocument/2006/math">
                    <m:sSub>
                      <m:sSubPr>
                        <m:ctrlPr>
                          <a:rPr lang="en-US" altLang="zh-CN" sz="2400" i="1" smtClean="0">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𝜂</m:t>
                        </m:r>
                      </m:e>
                      <m:sub>
                        <m:r>
                          <a:rPr lang="en-US" altLang="zh-CN" sz="2400" i="1">
                            <a:latin typeface="Cambria Math" panose="02040503050406030204" pitchFamily="18" charset="0"/>
                            <a:cs typeface="Arial" panose="020B0604020202020204" pitchFamily="34" charset="0"/>
                          </a:rPr>
                          <m:t>𝑡</m:t>
                        </m:r>
                      </m:sub>
                    </m:sSub>
                  </m:oMath>
                </a14:m>
                <a:r>
                  <a:rPr lang="zh-CN" altLang="en-US" sz="2400" dirty="0"/>
                  <a:t>表示步长或学习率</a:t>
                </a:r>
                <a:endParaRPr lang="en-US" altLang="zh-CN" sz="2400" dirty="0"/>
              </a:p>
              <a:p>
                <a:pPr marL="800100" lvl="1" indent="-342900">
                  <a:lnSpc>
                    <a:spcPct val="150000"/>
                  </a:lnSpc>
                  <a:buFont typeface="Wingdings" pitchFamily="2" charset="2"/>
                  <a:buChar char="p"/>
                </a:pPr>
                <a14:m>
                  <m:oMath xmlns:m="http://schemas.openxmlformats.org/officeDocument/2006/math">
                    <m:sSub>
                      <m:sSubPr>
                        <m:ctrlPr>
                          <a:rPr lang="en-US" altLang="zh-CN" sz="2400" i="1" smtClean="0">
                            <a:latin typeface="Cambria Math" panose="02040503050406030204" pitchFamily="18" charset="0"/>
                            <a:cs typeface="Arial" panose="020B0604020202020204" pitchFamily="34" charset="0"/>
                          </a:rPr>
                        </m:ctrlPr>
                      </m:sSubPr>
                      <m:e>
                        <m:r>
                          <m:rPr>
                            <m:sty m:val="p"/>
                          </m:rPr>
                          <a:rPr lang="en-US" altLang="zh-CN" sz="2400">
                            <a:latin typeface="Cambria Math" panose="02040503050406030204" pitchFamily="18" charset="0"/>
                            <a:cs typeface="Arial" panose="020B0604020202020204" pitchFamily="34" charset="0"/>
                          </a:rPr>
                          <m:t>Δ</m:t>
                        </m:r>
                      </m:e>
                      <m:sub>
                        <m:r>
                          <a:rPr lang="en-US" altLang="zh-CN" sz="2400" i="1">
                            <a:latin typeface="Cambria Math" panose="02040503050406030204" pitchFamily="18" charset="0"/>
                            <a:cs typeface="Arial" panose="020B0604020202020204" pitchFamily="34" charset="0"/>
                          </a:rPr>
                          <m:t>𝑡</m:t>
                        </m:r>
                      </m:sub>
                    </m:sSub>
                  </m:oMath>
                </a14:m>
                <a:r>
                  <a:rPr lang="zh-CN" altLang="en-US" sz="2400" dirty="0"/>
                  <a:t>表示更新方向</a:t>
                </a:r>
                <a:endParaRPr lang="en-US" altLang="zh-CN" sz="2400" dirty="0"/>
              </a:p>
            </p:txBody>
          </p:sp>
        </mc:Choice>
        <mc:Fallback xmlns="">
          <p:sp>
            <p:nvSpPr>
              <p:cNvPr id="11" name="文本框 10">
                <a:extLst>
                  <a:ext uri="{FF2B5EF4-FFF2-40B4-BE49-F238E27FC236}">
                    <a16:creationId xmlns:a16="http://schemas.microsoft.com/office/drawing/2014/main" id="{9BCA0FE1-6E59-6B44-83BA-B41AF0493681}"/>
                  </a:ext>
                </a:extLst>
              </p:cNvPr>
              <p:cNvSpPr txBox="1">
                <a:spLocks noRot="1" noChangeAspect="1" noMove="1" noResize="1" noEditPoints="1" noAdjustHandles="1" noChangeArrowheads="1" noChangeShapeType="1" noTextEdit="1"/>
              </p:cNvSpPr>
              <p:nvPr/>
            </p:nvSpPr>
            <p:spPr>
              <a:xfrm>
                <a:off x="548639" y="4416526"/>
                <a:ext cx="6104237" cy="2250873"/>
              </a:xfrm>
              <a:prstGeom prst="rect">
                <a:avLst/>
              </a:prstGeom>
              <a:blipFill>
                <a:blip r:embed="rId5"/>
                <a:stretch>
                  <a:fillRect l="-1299"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4784621-E69C-7C4E-9C42-522152639921}"/>
                  </a:ext>
                </a:extLst>
              </p:cNvPr>
              <p:cNvSpPr txBox="1"/>
              <p:nvPr/>
            </p:nvSpPr>
            <p:spPr>
              <a:xfrm>
                <a:off x="4722513" y="2719651"/>
                <a:ext cx="6104237" cy="2604431"/>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为何是梯度下降？</a:t>
                </a:r>
                <a:endParaRPr lang="en-US" altLang="zh-CN" sz="2400" dirty="0"/>
              </a:p>
              <a:p>
                <a:pPr marL="800100" lvl="1" indent="-342900">
                  <a:buFont typeface="Wingdings" pitchFamily="2" charset="2"/>
                  <a:buChar char="p"/>
                </a:pPr>
                <a:r>
                  <a:rPr lang="zh-CN" altLang="en-US" sz="2400" dirty="0"/>
                  <a:t>理想目标：除</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func>
                      <m:funcPr>
                        <m:ctrlPr>
                          <a:rPr lang="en-US" altLang="zh-CN" sz="2400" i="1">
                            <a:latin typeface="Cambria Math" panose="02040503050406030204" pitchFamily="18" charset="0"/>
                          </a:rPr>
                        </m:ctrlPr>
                      </m:funcPr>
                      <m:fName>
                        <m:r>
                          <m:rPr>
                            <m:sty m:val="p"/>
                          </m:rPr>
                          <a:rPr lang="en-US" altLang="zh-CN" sz="2400" b="0" i="0" smtClean="0">
                            <a:latin typeface="Cambria Math" panose="02040503050406030204" pitchFamily="18" charset="0"/>
                          </a:rPr>
                          <m:t>arg</m:t>
                        </m:r>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min</m:t>
                            </m:r>
                          </m:e>
                          <m:lim>
                            <m:r>
                              <a:rPr lang="en-US" altLang="zh-CN" sz="2400" i="1">
                                <a:latin typeface="Cambria Math" panose="02040503050406030204" pitchFamily="18" charset="0"/>
                              </a:rPr>
                              <m:t>𝑥</m:t>
                            </m:r>
                          </m:lim>
                        </m:limLow>
                      </m:fName>
                      <m:e>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e>
                    </m:func>
                  </m:oMath>
                </a14:m>
                <a:r>
                  <a:rPr lang="zh-CN" altLang="en-US" sz="2400" dirty="0"/>
                  <a:t>外</a:t>
                </a:r>
                <a:endParaRPr lang="en-US" altLang="zh-CN" sz="2400" dirty="0"/>
              </a:p>
              <a:p>
                <a:pPr lvl="1"/>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cs typeface="Arial" panose="020B0604020202020204" pitchFamily="34" charset="0"/>
                        </a:rPr>
                        <m:t>𝑓</m:t>
                      </m:r>
                      <m:d>
                        <m:dPr>
                          <m:ctrlPr>
                            <a:rPr lang="en-US" altLang="zh-CN" sz="2400" b="0" i="1" smtClean="0">
                              <a:latin typeface="Cambria Math" panose="02040503050406030204" pitchFamily="18" charset="0"/>
                              <a:cs typeface="Arial" panose="020B0604020202020204" pitchFamily="34" charset="0"/>
                            </a:rPr>
                          </m:ctrlPr>
                        </m:dPr>
                        <m:e>
                          <m:sSub>
                            <m:sSubPr>
                              <m:ctrlPr>
                                <a:rPr lang="en-US" altLang="zh-CN" sz="2400" i="1">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𝑥</m:t>
                              </m:r>
                            </m:e>
                            <m:sub>
                              <m:r>
                                <a:rPr lang="en-US" altLang="zh-CN" sz="2400" i="1">
                                  <a:latin typeface="Cambria Math" panose="02040503050406030204" pitchFamily="18" charset="0"/>
                                  <a:cs typeface="Arial" panose="020B0604020202020204" pitchFamily="34" charset="0"/>
                                </a:rPr>
                                <m:t>𝑡</m:t>
                              </m:r>
                              <m:r>
                                <a:rPr lang="en-US" altLang="zh-CN" sz="2400" i="1">
                                  <a:latin typeface="Cambria Math" panose="02040503050406030204" pitchFamily="18" charset="0"/>
                                  <a:cs typeface="Arial" panose="020B0604020202020204" pitchFamily="34" charset="0"/>
                                </a:rPr>
                                <m:t>+1</m:t>
                              </m:r>
                            </m:sub>
                          </m:sSub>
                        </m:e>
                      </m:d>
                      <m:r>
                        <a:rPr lang="en-US" altLang="zh-CN" sz="2400" b="0" i="1" smtClean="0">
                          <a:latin typeface="Cambria Math" panose="02040503050406030204" pitchFamily="18" charset="0"/>
                          <a:cs typeface="Arial" panose="020B0604020202020204" pitchFamily="34" charset="0"/>
                        </a:rPr>
                        <m:t>&lt;</m:t>
                      </m:r>
                      <m:r>
                        <a:rPr lang="en-US" altLang="zh-CN" sz="2400" b="0" i="1" smtClean="0">
                          <a:latin typeface="Cambria Math" panose="02040503050406030204" pitchFamily="18" charset="0"/>
                          <a:cs typeface="Arial" panose="020B0604020202020204" pitchFamily="34" charset="0"/>
                        </a:rPr>
                        <m:t>𝑓</m:t>
                      </m:r>
                      <m:d>
                        <m:dPr>
                          <m:ctrlPr>
                            <a:rPr lang="en-US" altLang="zh-CN" sz="2400" b="0" i="1" smtClean="0">
                              <a:latin typeface="Cambria Math" panose="02040503050406030204" pitchFamily="18" charset="0"/>
                              <a:cs typeface="Arial" panose="020B0604020202020204" pitchFamily="34" charset="0"/>
                            </a:rPr>
                          </m:ctrlPr>
                        </m:dPr>
                        <m:e>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sub>
                          </m:sSub>
                        </m:e>
                      </m:d>
                    </m:oMath>
                  </m:oMathPara>
                </a14:m>
                <a:endParaRPr lang="en-US" altLang="zh-CN" sz="2400" dirty="0"/>
              </a:p>
              <a:p>
                <a:pPr marL="800100" lvl="1" indent="-342900">
                  <a:buFont typeface="Wingdings" pitchFamily="2" charset="2"/>
                  <a:buChar char="p"/>
                </a:pPr>
                <a:r>
                  <a:rPr lang="zh-CN" altLang="en-US" sz="2400" dirty="0"/>
                  <a:t>必要条件</a:t>
                </a:r>
                <a:endParaRPr lang="en-US" altLang="zh-CN" sz="2400" dirty="0"/>
              </a:p>
              <a:p>
                <a:pPr lvl="1"/>
                <a14:m>
                  <m:oMathPara xmlns:m="http://schemas.openxmlformats.org/officeDocument/2006/math">
                    <m:oMathParaPr>
                      <m:jc m:val="centerGroup"/>
                    </m:oMathParaPr>
                    <m:oMath xmlns:m="http://schemas.openxmlformats.org/officeDocument/2006/math">
                      <m:r>
                        <m:rPr>
                          <m:sty m:val="p"/>
                        </m:rPr>
                        <a:rPr lang="en-US" altLang="zh-CN" sz="2400" b="0" i="0" smtClean="0">
                          <a:solidFill>
                            <a:srgbClr val="FF0000"/>
                          </a:solidFill>
                          <a:latin typeface="Cambria Math" panose="02040503050406030204" pitchFamily="18" charset="0"/>
                          <a:cs typeface="Arial" panose="020B0604020202020204" pitchFamily="34" charset="0"/>
                        </a:rPr>
                        <m:t>∇</m:t>
                      </m:r>
                      <m:r>
                        <a:rPr lang="en-US" altLang="zh-CN" sz="2400" b="0" i="1" smtClean="0">
                          <a:solidFill>
                            <a:srgbClr val="FF0000"/>
                          </a:solidFill>
                          <a:latin typeface="Cambria Math" panose="02040503050406030204" pitchFamily="18" charset="0"/>
                          <a:cs typeface="Arial" panose="020B0604020202020204" pitchFamily="34" charset="0"/>
                        </a:rPr>
                        <m:t>𝑓</m:t>
                      </m:r>
                      <m:sSup>
                        <m:sSupPr>
                          <m:ctrlPr>
                            <a:rPr lang="en-US" altLang="zh-CN" sz="2400" b="0" i="1" smtClean="0">
                              <a:solidFill>
                                <a:srgbClr val="FF0000"/>
                              </a:solidFill>
                              <a:latin typeface="Cambria Math" panose="02040503050406030204" pitchFamily="18" charset="0"/>
                              <a:cs typeface="Arial" panose="020B0604020202020204" pitchFamily="34" charset="0"/>
                            </a:rPr>
                          </m:ctrlPr>
                        </m:sSupPr>
                        <m:e>
                          <m:d>
                            <m:dPr>
                              <m:ctrlPr>
                                <a:rPr lang="en-US" altLang="zh-CN" sz="2400" b="0" i="1" smtClean="0">
                                  <a:solidFill>
                                    <a:srgbClr val="FF0000"/>
                                  </a:solidFill>
                                  <a:latin typeface="Cambria Math" panose="02040503050406030204" pitchFamily="18" charset="0"/>
                                  <a:cs typeface="Arial" panose="020B0604020202020204" pitchFamily="34" charset="0"/>
                                </a:rPr>
                              </m:ctrlPr>
                            </m:dPr>
                            <m:e>
                              <m:sSub>
                                <m:sSubPr>
                                  <m:ctrlPr>
                                    <a:rPr lang="en-US" altLang="zh-CN" sz="2400" b="0" i="1" smtClean="0">
                                      <a:solidFill>
                                        <a:srgbClr val="FF0000"/>
                                      </a:solidFill>
                                      <a:latin typeface="Cambria Math" panose="02040503050406030204" pitchFamily="18" charset="0"/>
                                      <a:cs typeface="Arial" panose="020B0604020202020204" pitchFamily="34" charset="0"/>
                                    </a:rPr>
                                  </m:ctrlPr>
                                </m:sSubPr>
                                <m:e>
                                  <m:r>
                                    <a:rPr lang="en-US" altLang="zh-CN" sz="2400" b="0" i="1" smtClean="0">
                                      <a:solidFill>
                                        <a:srgbClr val="FF0000"/>
                                      </a:solidFill>
                                      <a:latin typeface="Cambria Math" panose="02040503050406030204" pitchFamily="18" charset="0"/>
                                      <a:cs typeface="Arial" panose="020B0604020202020204" pitchFamily="34" charset="0"/>
                                    </a:rPr>
                                    <m:t>𝑥</m:t>
                                  </m:r>
                                </m:e>
                                <m:sub>
                                  <m:r>
                                    <a:rPr lang="en-US" altLang="zh-CN" sz="2400" b="0" i="1" smtClean="0">
                                      <a:solidFill>
                                        <a:srgbClr val="FF0000"/>
                                      </a:solidFill>
                                      <a:latin typeface="Cambria Math" panose="02040503050406030204" pitchFamily="18" charset="0"/>
                                      <a:cs typeface="Arial" panose="020B0604020202020204" pitchFamily="34" charset="0"/>
                                    </a:rPr>
                                    <m:t>𝑡</m:t>
                                  </m:r>
                                </m:sub>
                              </m:sSub>
                            </m:e>
                          </m:d>
                        </m:e>
                        <m:sup>
                          <m:r>
                            <a:rPr lang="en-US" altLang="zh-CN" sz="2400" b="0" i="1" smtClean="0">
                              <a:solidFill>
                                <a:srgbClr val="FF0000"/>
                              </a:solidFill>
                              <a:latin typeface="Cambria Math" panose="02040503050406030204" pitchFamily="18" charset="0"/>
                              <a:cs typeface="Arial" panose="020B0604020202020204" pitchFamily="34" charset="0"/>
                            </a:rPr>
                            <m:t>⊤</m:t>
                          </m:r>
                        </m:sup>
                      </m:sSup>
                      <m:sSub>
                        <m:sSubPr>
                          <m:ctrlPr>
                            <a:rPr lang="en-US" altLang="zh-CN" sz="2400" i="1">
                              <a:solidFill>
                                <a:srgbClr val="FF0000"/>
                              </a:solidFill>
                              <a:latin typeface="Cambria Math" panose="02040503050406030204" pitchFamily="18" charset="0"/>
                              <a:cs typeface="Arial" panose="020B0604020202020204" pitchFamily="34" charset="0"/>
                            </a:rPr>
                          </m:ctrlPr>
                        </m:sSubPr>
                        <m:e>
                          <m:r>
                            <m:rPr>
                              <m:sty m:val="p"/>
                            </m:rPr>
                            <a:rPr lang="en-US" altLang="zh-CN" sz="2400">
                              <a:solidFill>
                                <a:srgbClr val="FF0000"/>
                              </a:solidFill>
                              <a:latin typeface="Cambria Math" panose="02040503050406030204" pitchFamily="18" charset="0"/>
                              <a:cs typeface="Arial" panose="020B0604020202020204" pitchFamily="34" charset="0"/>
                            </a:rPr>
                            <m:t>Δ</m:t>
                          </m:r>
                        </m:e>
                        <m:sub>
                          <m:r>
                            <a:rPr lang="en-US" altLang="zh-CN" sz="2400" i="1">
                              <a:solidFill>
                                <a:srgbClr val="FF0000"/>
                              </a:solidFill>
                              <a:latin typeface="Cambria Math" panose="02040503050406030204" pitchFamily="18" charset="0"/>
                              <a:cs typeface="Arial" panose="020B0604020202020204" pitchFamily="34" charset="0"/>
                            </a:rPr>
                            <m:t>𝑡</m:t>
                          </m:r>
                        </m:sub>
                      </m:sSub>
                      <m:r>
                        <a:rPr lang="en-US" altLang="zh-CN" sz="2400" b="0" i="1" smtClean="0">
                          <a:solidFill>
                            <a:srgbClr val="FF0000"/>
                          </a:solidFill>
                          <a:latin typeface="Cambria Math" panose="02040503050406030204" pitchFamily="18" charset="0"/>
                          <a:cs typeface="Arial" panose="020B0604020202020204" pitchFamily="34" charset="0"/>
                        </a:rPr>
                        <m:t>&lt;0</m:t>
                      </m:r>
                    </m:oMath>
                  </m:oMathPara>
                </a14:m>
                <a:endParaRPr lang="en-US" altLang="zh-CN" sz="2400" dirty="0">
                  <a:solidFill>
                    <a:srgbClr val="FF0000"/>
                  </a:solidFill>
                </a:endParaRPr>
              </a:p>
              <a:p>
                <a:pPr marL="800100" lvl="1" indent="-342900">
                  <a:buFont typeface="Wingdings" pitchFamily="2" charset="2"/>
                  <a:buChar char="p"/>
                </a:pPr>
                <a:r>
                  <a:rPr lang="zh-CN" altLang="en-US" sz="2400" dirty="0"/>
                  <a:t>反证法</a:t>
                </a:r>
                <a:endParaRPr lang="en-US" altLang="zh-CN" sz="2400" dirty="0"/>
              </a:p>
            </p:txBody>
          </p:sp>
        </mc:Choice>
        <mc:Fallback xmlns="">
          <p:sp>
            <p:nvSpPr>
              <p:cNvPr id="13" name="文本框 12">
                <a:extLst>
                  <a:ext uri="{FF2B5EF4-FFF2-40B4-BE49-F238E27FC236}">
                    <a16:creationId xmlns:a16="http://schemas.microsoft.com/office/drawing/2014/main" id="{04784621-E69C-7C4E-9C42-522152639921}"/>
                  </a:ext>
                </a:extLst>
              </p:cNvPr>
              <p:cNvSpPr txBox="1">
                <a:spLocks noRot="1" noChangeAspect="1" noMove="1" noResize="1" noEditPoints="1" noAdjustHandles="1" noChangeArrowheads="1" noChangeShapeType="1" noTextEdit="1"/>
              </p:cNvSpPr>
              <p:nvPr/>
            </p:nvSpPr>
            <p:spPr>
              <a:xfrm>
                <a:off x="4722513" y="2719651"/>
                <a:ext cx="6104237" cy="2604431"/>
              </a:xfrm>
              <a:prstGeom prst="rect">
                <a:avLst/>
              </a:prstGeom>
              <a:blipFill>
                <a:blip r:embed="rId6"/>
                <a:stretch>
                  <a:fillRect l="-1399" r="-899" b="-46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A1BEA54-A395-894E-A81D-EAB82A53C5D2}"/>
                  </a:ext>
                </a:extLst>
              </p:cNvPr>
              <p:cNvSpPr txBox="1"/>
              <p:nvPr/>
            </p:nvSpPr>
            <p:spPr>
              <a:xfrm>
                <a:off x="5659567" y="5311979"/>
                <a:ext cx="3795583" cy="877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latin typeface="Cambria Math" panose="02040503050406030204" pitchFamily="18" charset="0"/>
                              <a:cs typeface="Arial" panose="020B0604020202020204" pitchFamily="34" charset="0"/>
                            </a:rPr>
                          </m:ctrlPr>
                        </m:dPr>
                        <m:e>
                          <m:eqArr>
                            <m:eqArrPr>
                              <m:ctrlPr>
                                <a:rPr lang="en-US" altLang="zh-CN" sz="2400" i="1" smtClean="0">
                                  <a:latin typeface="Cambria Math" panose="02040503050406030204" pitchFamily="18" charset="0"/>
                                  <a:cs typeface="Arial" panose="020B0604020202020204" pitchFamily="34" charset="0"/>
                                </a:rPr>
                              </m:ctrlPr>
                            </m:eqArrPr>
                            <m:e>
                              <m:r>
                                <a:rPr lang="en-US" altLang="zh-CN" sz="2400" b="0" i="1" smtClean="0">
                                  <a:latin typeface="Cambria Math" panose="02040503050406030204" pitchFamily="18" charset="0"/>
                                  <a:cs typeface="Arial" panose="020B0604020202020204" pitchFamily="34" charset="0"/>
                                </a:rPr>
                                <m:t>𝑓</m:t>
                              </m:r>
                              <m:d>
                                <m:dPr>
                                  <m:ctrlPr>
                                    <a:rPr lang="en-US" altLang="zh-CN" sz="2400" b="0" i="1" smtClean="0">
                                      <a:latin typeface="Cambria Math" panose="02040503050406030204" pitchFamily="18" charset="0"/>
                                      <a:cs typeface="Arial" panose="020B0604020202020204" pitchFamily="34" charset="0"/>
                                    </a:rPr>
                                  </m:ctrlPr>
                                </m:dPr>
                                <m:e>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r>
                                        <a:rPr lang="en-US" altLang="zh-CN" sz="2400" b="0" i="1" smtClean="0">
                                          <a:latin typeface="Cambria Math" panose="02040503050406030204" pitchFamily="18" charset="0"/>
                                          <a:cs typeface="Arial" panose="020B0604020202020204" pitchFamily="34" charset="0"/>
                                        </a:rPr>
                                        <m:t>+1</m:t>
                                      </m:r>
                                    </m:sub>
                                  </m:sSub>
                                </m:e>
                              </m:d>
                              <m:r>
                                <a:rPr lang="en-US" altLang="zh-CN" sz="2400" b="0" i="1" smtClean="0">
                                  <a:latin typeface="Cambria Math" panose="02040503050406030204" pitchFamily="18" charset="0"/>
                                  <a:cs typeface="Arial" panose="020B0604020202020204" pitchFamily="34" charset="0"/>
                                </a:rPr>
                                <m:t>≥</m:t>
                              </m:r>
                              <m:r>
                                <a:rPr lang="en-US" altLang="zh-CN" sz="2400" b="0" i="1" smtClean="0">
                                  <a:latin typeface="Cambria Math" panose="02040503050406030204" pitchFamily="18" charset="0"/>
                                  <a:cs typeface="Arial" panose="020B0604020202020204" pitchFamily="34" charset="0"/>
                                </a:rPr>
                                <m:t>𝑓</m:t>
                              </m:r>
                              <m:d>
                                <m:dPr>
                                  <m:ctrlPr>
                                    <a:rPr lang="en-US" altLang="zh-CN" sz="2400" b="0" i="1" smtClean="0">
                                      <a:latin typeface="Cambria Math" panose="02040503050406030204" pitchFamily="18" charset="0"/>
                                      <a:cs typeface="Arial" panose="020B0604020202020204" pitchFamily="34" charset="0"/>
                                    </a:rPr>
                                  </m:ctrlPr>
                                </m:dPr>
                                <m:e>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sub>
                                  </m:sSub>
                                </m:e>
                              </m:d>
                              <m:r>
                                <a:rPr lang="en-US" altLang="zh-CN" sz="2400" b="0" i="1" smtClean="0">
                                  <a:latin typeface="Cambria Math" panose="02040503050406030204" pitchFamily="18" charset="0"/>
                                  <a:cs typeface="Arial" panose="020B0604020202020204" pitchFamily="34" charset="0"/>
                                </a:rPr>
                                <m:t>+</m:t>
                              </m:r>
                              <m:r>
                                <m:rPr>
                                  <m:sty m:val="p"/>
                                </m:rPr>
                                <a:rPr lang="en-US" altLang="zh-CN" sz="2400" b="0" i="0" smtClean="0">
                                  <a:latin typeface="Cambria Math" panose="02040503050406030204" pitchFamily="18" charset="0"/>
                                  <a:cs typeface="Arial" panose="020B0604020202020204" pitchFamily="34" charset="0"/>
                                </a:rPr>
                                <m:t>∇</m:t>
                              </m:r>
                              <m:r>
                                <a:rPr lang="en-US" altLang="zh-CN" sz="2400" b="0" i="1" smtClean="0">
                                  <a:latin typeface="Cambria Math" panose="02040503050406030204" pitchFamily="18" charset="0"/>
                                  <a:cs typeface="Arial" panose="020B0604020202020204" pitchFamily="34" charset="0"/>
                                </a:rPr>
                                <m:t>𝑓</m:t>
                              </m:r>
                              <m:sSup>
                                <m:sSupPr>
                                  <m:ctrlPr>
                                    <a:rPr lang="en-US" altLang="zh-CN" sz="2400" b="0" i="1" smtClean="0">
                                      <a:latin typeface="Cambria Math" panose="02040503050406030204" pitchFamily="18" charset="0"/>
                                      <a:cs typeface="Arial" panose="020B0604020202020204" pitchFamily="34" charset="0"/>
                                    </a:rPr>
                                  </m:ctrlPr>
                                </m:sSupPr>
                                <m:e>
                                  <m:d>
                                    <m:dPr>
                                      <m:ctrlPr>
                                        <a:rPr lang="en-US" altLang="zh-CN" sz="2400" b="0" i="1" smtClean="0">
                                          <a:latin typeface="Cambria Math" panose="02040503050406030204" pitchFamily="18" charset="0"/>
                                          <a:cs typeface="Arial" panose="020B0604020202020204" pitchFamily="34" charset="0"/>
                                        </a:rPr>
                                      </m:ctrlPr>
                                    </m:dPr>
                                    <m:e>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sub>
                                      </m:sSub>
                                    </m:e>
                                  </m:d>
                                </m:e>
                                <m:sup>
                                  <m:r>
                                    <a:rPr lang="en-US" altLang="zh-CN" sz="2400" b="0" i="1" smtClean="0">
                                      <a:latin typeface="Cambria Math" panose="02040503050406030204" pitchFamily="18" charset="0"/>
                                      <a:cs typeface="Arial" panose="020B0604020202020204" pitchFamily="34" charset="0"/>
                                    </a:rPr>
                                    <m:t>⊤</m:t>
                                  </m:r>
                                </m:sup>
                              </m:sSup>
                              <m:d>
                                <m:dPr>
                                  <m:ctrlPr>
                                    <a:rPr lang="en-US" altLang="zh-CN" sz="2400" b="0" i="1" smtClean="0">
                                      <a:latin typeface="Cambria Math" panose="02040503050406030204" pitchFamily="18" charset="0"/>
                                      <a:cs typeface="Arial" panose="020B0604020202020204" pitchFamily="34" charset="0"/>
                                    </a:rPr>
                                  </m:ctrlPr>
                                </m:dPr>
                                <m:e>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r>
                                        <a:rPr lang="en-US" altLang="zh-CN" sz="2400" b="0" i="1" smtClean="0">
                                          <a:latin typeface="Cambria Math" panose="02040503050406030204" pitchFamily="18" charset="0"/>
                                          <a:cs typeface="Arial" panose="020B0604020202020204" pitchFamily="34" charset="0"/>
                                        </a:rPr>
                                        <m:t>+1</m:t>
                                      </m:r>
                                    </m:sub>
                                  </m:sSub>
                                  <m:r>
                                    <a:rPr lang="en-US" altLang="zh-CN" sz="2400" b="0" i="1" smtClean="0">
                                      <a:latin typeface="Cambria Math" panose="02040503050406030204" pitchFamily="18" charset="0"/>
                                      <a:cs typeface="Arial" panose="020B0604020202020204" pitchFamily="34" charset="0"/>
                                    </a:rPr>
                                    <m:t>−</m:t>
                                  </m:r>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sub>
                                  </m:sSub>
                                </m:e>
                              </m:d>
                            </m:e>
                            <m:e>
                              <m:r>
                                <m:rPr>
                                  <m:sty m:val="p"/>
                                </m:rPr>
                                <a:rPr lang="en-US" altLang="zh-CN" sz="2400">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𝑓</m:t>
                              </m:r>
                              <m:sSup>
                                <m:sSupPr>
                                  <m:ctrlPr>
                                    <a:rPr lang="en-US" altLang="zh-CN" sz="2400" i="1">
                                      <a:latin typeface="Cambria Math" panose="02040503050406030204" pitchFamily="18" charset="0"/>
                                      <a:cs typeface="Arial" panose="020B0604020202020204" pitchFamily="34" charset="0"/>
                                    </a:rPr>
                                  </m:ctrlPr>
                                </m:sSupPr>
                                <m:e>
                                  <m:d>
                                    <m:dPr>
                                      <m:ctrlPr>
                                        <a:rPr lang="en-US" altLang="zh-CN" sz="2400" i="1">
                                          <a:latin typeface="Cambria Math" panose="02040503050406030204" pitchFamily="18" charset="0"/>
                                          <a:cs typeface="Arial" panose="020B0604020202020204" pitchFamily="34" charset="0"/>
                                        </a:rPr>
                                      </m:ctrlPr>
                                    </m:dPr>
                                    <m:e>
                                      <m:sSub>
                                        <m:sSubPr>
                                          <m:ctrlPr>
                                            <a:rPr lang="en-US" altLang="zh-CN" sz="2400" i="1">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𝑥</m:t>
                                          </m:r>
                                        </m:e>
                                        <m:sub>
                                          <m:r>
                                            <a:rPr lang="en-US" altLang="zh-CN" sz="2400" i="1">
                                              <a:latin typeface="Cambria Math" panose="02040503050406030204" pitchFamily="18" charset="0"/>
                                              <a:cs typeface="Arial" panose="020B0604020202020204" pitchFamily="34" charset="0"/>
                                            </a:rPr>
                                            <m:t>𝑡</m:t>
                                          </m:r>
                                        </m:sub>
                                      </m:sSub>
                                    </m:e>
                                  </m:d>
                                </m:e>
                                <m:sup>
                                  <m:r>
                                    <a:rPr lang="en-US" altLang="zh-CN" sz="2400" i="1">
                                      <a:latin typeface="Cambria Math" panose="02040503050406030204" pitchFamily="18" charset="0"/>
                                      <a:cs typeface="Arial" panose="020B0604020202020204" pitchFamily="34" charset="0"/>
                                    </a:rPr>
                                    <m:t>⊤</m:t>
                                  </m:r>
                                </m:sup>
                              </m:sSup>
                              <m:sSub>
                                <m:sSubPr>
                                  <m:ctrlPr>
                                    <a:rPr lang="en-US" altLang="zh-CN" sz="2400" i="1">
                                      <a:latin typeface="Cambria Math" panose="02040503050406030204" pitchFamily="18" charset="0"/>
                                      <a:cs typeface="Arial" panose="020B0604020202020204" pitchFamily="34" charset="0"/>
                                    </a:rPr>
                                  </m:ctrlPr>
                                </m:sSubPr>
                                <m:e>
                                  <m:r>
                                    <m:rPr>
                                      <m:sty m:val="p"/>
                                    </m:rPr>
                                    <a:rPr lang="en-US" altLang="zh-CN" sz="2400">
                                      <a:latin typeface="Cambria Math" panose="02040503050406030204" pitchFamily="18" charset="0"/>
                                      <a:cs typeface="Arial" panose="020B0604020202020204" pitchFamily="34" charset="0"/>
                                    </a:rPr>
                                    <m:t>Δ</m:t>
                                  </m:r>
                                </m:e>
                                <m:sub>
                                  <m:r>
                                    <a:rPr lang="en-US" altLang="zh-CN" sz="2400" i="1">
                                      <a:latin typeface="Cambria Math" panose="02040503050406030204" pitchFamily="18" charset="0"/>
                                      <a:cs typeface="Arial" panose="020B0604020202020204" pitchFamily="34" charset="0"/>
                                    </a:rPr>
                                    <m:t>𝑡</m:t>
                                  </m:r>
                                </m:sub>
                              </m:sSub>
                              <m:r>
                                <a:rPr lang="en-US" altLang="zh-CN" sz="2400" b="0" i="1" smtClean="0">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0</m:t>
                              </m:r>
                              <m:r>
                                <m:rPr>
                                  <m:nor/>
                                </m:rPr>
                                <a:rPr lang="en-US" altLang="zh-CN" sz="2400" dirty="0">
                                  <a:latin typeface="Arial" panose="020B0604020202020204" pitchFamily="34" charset="0"/>
                                  <a:cs typeface="Arial" panose="020B0604020202020204" pitchFamily="34" charset="0"/>
                                </a:rPr>
                                <m:t> </m:t>
                              </m:r>
                            </m:e>
                          </m:eqArr>
                        </m:e>
                      </m:d>
                    </m:oMath>
                  </m:oMathPara>
                </a14:m>
                <a:endParaRPr lang="zh-CN" altLang="en-US" sz="2400" dirty="0"/>
              </a:p>
            </p:txBody>
          </p:sp>
        </mc:Choice>
        <mc:Fallback xmlns="">
          <p:sp>
            <p:nvSpPr>
              <p:cNvPr id="14" name="文本框 13">
                <a:extLst>
                  <a:ext uri="{FF2B5EF4-FFF2-40B4-BE49-F238E27FC236}">
                    <a16:creationId xmlns:a16="http://schemas.microsoft.com/office/drawing/2014/main" id="{9A1BEA54-A395-894E-A81D-EAB82A53C5D2}"/>
                  </a:ext>
                </a:extLst>
              </p:cNvPr>
              <p:cNvSpPr txBox="1">
                <a:spLocks noRot="1" noChangeAspect="1" noMove="1" noResize="1" noEditPoints="1" noAdjustHandles="1" noChangeArrowheads="1" noChangeShapeType="1" noTextEdit="1"/>
              </p:cNvSpPr>
              <p:nvPr/>
            </p:nvSpPr>
            <p:spPr>
              <a:xfrm>
                <a:off x="5659567" y="5311979"/>
                <a:ext cx="3795583" cy="877869"/>
              </a:xfrm>
              <a:prstGeom prst="rect">
                <a:avLst/>
              </a:prstGeom>
              <a:blipFill>
                <a:blip r:embed="rId7"/>
                <a:stretch>
                  <a:fillRect r="-372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28900AF-869C-7443-A882-AB7C2F30017F}"/>
                  </a:ext>
                </a:extLst>
              </p:cNvPr>
              <p:cNvSpPr txBox="1"/>
              <p:nvPr/>
            </p:nvSpPr>
            <p:spPr>
              <a:xfrm>
                <a:off x="5340350" y="6338638"/>
                <a:ext cx="27432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cs typeface="Arial" panose="020B0604020202020204" pitchFamily="34" charset="0"/>
                        </a:rPr>
                        <m:t>⇒</m:t>
                      </m:r>
                      <m:r>
                        <a:rPr lang="en-US" altLang="zh-CN" sz="2400" i="1" smtClean="0">
                          <a:latin typeface="Cambria Math" panose="02040503050406030204" pitchFamily="18" charset="0"/>
                          <a:cs typeface="Arial" panose="020B0604020202020204" pitchFamily="34" charset="0"/>
                        </a:rPr>
                        <m:t>𝑓</m:t>
                      </m:r>
                      <m:d>
                        <m:dPr>
                          <m:ctrlPr>
                            <a:rPr lang="en-US" altLang="zh-CN" sz="2400" i="1">
                              <a:latin typeface="Cambria Math" panose="02040503050406030204" pitchFamily="18" charset="0"/>
                              <a:cs typeface="Arial" panose="020B0604020202020204" pitchFamily="34" charset="0"/>
                            </a:rPr>
                          </m:ctrlPr>
                        </m:dPr>
                        <m:e>
                          <m:sSub>
                            <m:sSubPr>
                              <m:ctrlPr>
                                <a:rPr lang="en-US" altLang="zh-CN" sz="2400" i="1">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𝑥</m:t>
                              </m:r>
                            </m:e>
                            <m:sub>
                              <m:r>
                                <a:rPr lang="en-US" altLang="zh-CN" sz="2400" i="1">
                                  <a:latin typeface="Cambria Math" panose="02040503050406030204" pitchFamily="18" charset="0"/>
                                  <a:cs typeface="Arial" panose="020B0604020202020204" pitchFamily="34" charset="0"/>
                                </a:rPr>
                                <m:t>𝑡</m:t>
                              </m:r>
                              <m:r>
                                <a:rPr lang="en-US" altLang="zh-CN" sz="2400" i="1">
                                  <a:latin typeface="Cambria Math" panose="02040503050406030204" pitchFamily="18" charset="0"/>
                                  <a:cs typeface="Arial" panose="020B0604020202020204" pitchFamily="34" charset="0"/>
                                </a:rPr>
                                <m:t>+1</m:t>
                              </m:r>
                            </m:sub>
                          </m:sSub>
                        </m:e>
                      </m:d>
                      <m:r>
                        <a:rPr lang="en-US" altLang="zh-CN" sz="2400" i="1">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𝑓</m:t>
                      </m:r>
                      <m:d>
                        <m:dPr>
                          <m:ctrlPr>
                            <a:rPr lang="en-US" altLang="zh-CN" sz="2400" i="1">
                              <a:latin typeface="Cambria Math" panose="02040503050406030204" pitchFamily="18" charset="0"/>
                              <a:cs typeface="Arial" panose="020B0604020202020204" pitchFamily="34" charset="0"/>
                            </a:rPr>
                          </m:ctrlPr>
                        </m:dPr>
                        <m:e>
                          <m:sSub>
                            <m:sSubPr>
                              <m:ctrlPr>
                                <a:rPr lang="en-US" altLang="zh-CN" sz="2400" i="1">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𝑥</m:t>
                              </m:r>
                            </m:e>
                            <m:sub>
                              <m:r>
                                <a:rPr lang="en-US" altLang="zh-CN" sz="2400" i="1">
                                  <a:latin typeface="Cambria Math" panose="02040503050406030204" pitchFamily="18" charset="0"/>
                                  <a:cs typeface="Arial" panose="020B0604020202020204" pitchFamily="34" charset="0"/>
                                </a:rPr>
                                <m:t>𝑡</m:t>
                              </m:r>
                            </m:sub>
                          </m:sSub>
                        </m:e>
                      </m:d>
                    </m:oMath>
                  </m:oMathPara>
                </a14:m>
                <a:endParaRPr lang="zh-CN" altLang="en-US" sz="2400" dirty="0"/>
              </a:p>
            </p:txBody>
          </p:sp>
        </mc:Choice>
        <mc:Fallback xmlns="">
          <p:sp>
            <p:nvSpPr>
              <p:cNvPr id="16" name="文本框 15">
                <a:extLst>
                  <a:ext uri="{FF2B5EF4-FFF2-40B4-BE49-F238E27FC236}">
                    <a16:creationId xmlns:a16="http://schemas.microsoft.com/office/drawing/2014/main" id="{228900AF-869C-7443-A882-AB7C2F30017F}"/>
                  </a:ext>
                </a:extLst>
              </p:cNvPr>
              <p:cNvSpPr txBox="1">
                <a:spLocks noRot="1" noChangeAspect="1" noMove="1" noResize="1" noEditPoints="1" noAdjustHandles="1" noChangeArrowheads="1" noChangeShapeType="1" noTextEdit="1"/>
              </p:cNvSpPr>
              <p:nvPr/>
            </p:nvSpPr>
            <p:spPr>
              <a:xfrm>
                <a:off x="5340350" y="6338638"/>
                <a:ext cx="2743200" cy="461665"/>
              </a:xfrm>
              <a:prstGeom prst="rect">
                <a:avLst/>
              </a:prstGeom>
              <a:blipFill>
                <a:blip r:embed="rId8"/>
                <a:stretch>
                  <a:fillRect b="-17105"/>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BE0F2723-260B-4D5D-9109-4BF0EDD7C22C}"/>
              </a:ext>
            </a:extLst>
          </p:cNvPr>
          <p:cNvSpPr txBox="1"/>
          <p:nvPr/>
        </p:nvSpPr>
        <p:spPr>
          <a:xfrm>
            <a:off x="8598508" y="4394000"/>
            <a:ext cx="3646026" cy="646331"/>
          </a:xfrm>
          <a:prstGeom prst="rect">
            <a:avLst/>
          </a:prstGeom>
          <a:noFill/>
        </p:spPr>
        <p:txBody>
          <a:bodyPr wrap="square">
            <a:spAutoFit/>
          </a:bodyPr>
          <a:lstStyle/>
          <a:p>
            <a:r>
              <a:rPr lang="zh-CN" altLang="en-US" b="1" i="0" dirty="0">
                <a:solidFill>
                  <a:srgbClr val="0F1115"/>
                </a:solidFill>
                <a:effectLst/>
                <a:latin typeface="quote-cjk-patch"/>
              </a:rPr>
              <a:t>任何与梯度方向成钝角的向量 </a:t>
            </a:r>
            <a:r>
              <a:rPr lang="en-US" altLang="zh-CN" b="1" i="0" dirty="0" err="1">
                <a:solidFill>
                  <a:srgbClr val="0F1115"/>
                </a:solidFill>
                <a:effectLst/>
                <a:latin typeface="KaTeX_Main"/>
              </a:rPr>
              <a:t>Δ</a:t>
            </a:r>
            <a:r>
              <a:rPr lang="en-US" altLang="zh-CN" b="1" i="1" dirty="0" err="1">
                <a:solidFill>
                  <a:srgbClr val="0F1115"/>
                </a:solidFill>
                <a:effectLst/>
                <a:latin typeface="KaTeX_Math"/>
              </a:rPr>
              <a:t>t</a:t>
            </a:r>
            <a:r>
              <a:rPr lang="zh-CN" altLang="en-US" b="1" i="0" dirty="0">
                <a:solidFill>
                  <a:srgbClr val="0F1115"/>
                </a:solidFill>
                <a:effectLst/>
                <a:latin typeface="KaTeX_Main"/>
              </a:rPr>
              <a:t>​</a:t>
            </a:r>
            <a:r>
              <a:rPr lang="zh-CN" altLang="en-US" b="1" i="0" dirty="0">
                <a:solidFill>
                  <a:srgbClr val="0F1115"/>
                </a:solidFill>
                <a:effectLst/>
                <a:latin typeface="quote-cjk-patch"/>
              </a:rPr>
              <a:t>，</a:t>
            </a:r>
            <a:endParaRPr lang="en-US" altLang="zh-CN" b="1" i="0" dirty="0">
              <a:solidFill>
                <a:srgbClr val="0F1115"/>
              </a:solidFill>
              <a:effectLst/>
              <a:latin typeface="quote-cjk-patch"/>
            </a:endParaRPr>
          </a:p>
          <a:p>
            <a:r>
              <a:rPr lang="zh-CN" altLang="en-US" b="1" i="0" dirty="0">
                <a:solidFill>
                  <a:srgbClr val="0F1115"/>
                </a:solidFill>
                <a:effectLst/>
                <a:latin typeface="quote-cjk-patch"/>
              </a:rPr>
              <a:t>都能在局部保证下降</a:t>
            </a:r>
            <a:endParaRPr lang="zh-CN" altLang="en-US" dirty="0"/>
          </a:p>
        </p:txBody>
      </p:sp>
    </p:spTree>
    <p:extLst>
      <p:ext uri="{BB962C8B-B14F-4D97-AF65-F5344CB8AC3E}">
        <p14:creationId xmlns:p14="http://schemas.microsoft.com/office/powerpoint/2010/main" val="4926221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89</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对于传统机器学习算法，通过经验风险最小化原则转化为优化问题之后，大多可以采用梯度下降法进行求解。其中一个非常关键的因素是那些优化问题通常都是凸优化问题，梯度下降法能够保证收敛到最优解。</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497F465-3E1C-F44F-86B7-4433B9A3045A}"/>
                  </a:ext>
                </a:extLst>
              </p:cNvPr>
              <p:cNvSpPr txBox="1"/>
              <p:nvPr/>
            </p:nvSpPr>
            <p:spPr>
              <a:xfrm>
                <a:off x="548640" y="2719651"/>
                <a:ext cx="11094721" cy="1696875"/>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无约束凸优化问题</a:t>
                </a:r>
                <a:endParaRPr lang="en-US" altLang="zh-CN" sz="2400" dirty="0">
                  <a:ea typeface="Cambria Math" panose="02040503050406030204" pitchFamily="18" charset="0"/>
                </a:endParaRPr>
              </a:p>
              <a:p>
                <a:pPr>
                  <a:lnSpc>
                    <a:spcPct val="150000"/>
                  </a:lnSpc>
                </a:pPr>
                <a:endParaRPr lang="en-US" altLang="zh-CN" sz="2400" dirty="0"/>
              </a:p>
              <a:p>
                <a:pPr marL="800100" lvl="1" indent="-342900">
                  <a:lnSpc>
                    <a:spcPct val="150000"/>
                  </a:lnSpc>
                  <a:buFont typeface="Wingdings" pitchFamily="2" charset="2"/>
                  <a:buChar char="p"/>
                </a:pPr>
                <a:r>
                  <a:rPr lang="zh-CN" altLang="en-US" sz="2400" b="0" dirty="0"/>
                  <a:t>其中</a:t>
                </a:r>
                <a14:m>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oMath>
                </a14:m>
                <a:r>
                  <a:rPr lang="zh-CN" altLang="en-US" sz="2400" dirty="0"/>
                  <a:t>是凸函数</a:t>
                </a:r>
                <a:endParaRPr lang="en-US" altLang="zh-CN" sz="2400" dirty="0"/>
              </a:p>
            </p:txBody>
          </p:sp>
        </mc:Choice>
        <mc:Fallback xmlns="">
          <p:sp>
            <p:nvSpPr>
              <p:cNvPr id="6" name="文本框 5">
                <a:extLst>
                  <a:ext uri="{FF2B5EF4-FFF2-40B4-BE49-F238E27FC236}">
                    <a16:creationId xmlns:a16="http://schemas.microsoft.com/office/drawing/2014/main" id="{3497F465-3E1C-F44F-86B7-4433B9A3045A}"/>
                  </a:ext>
                </a:extLst>
              </p:cNvPr>
              <p:cNvSpPr txBox="1">
                <a:spLocks noRot="1" noChangeAspect="1" noMove="1" noResize="1" noEditPoints="1" noAdjustHandles="1" noChangeArrowheads="1" noChangeShapeType="1" noTextEdit="1"/>
              </p:cNvSpPr>
              <p:nvPr/>
            </p:nvSpPr>
            <p:spPr>
              <a:xfrm>
                <a:off x="548640" y="2719651"/>
                <a:ext cx="11094721" cy="1696875"/>
              </a:xfrm>
              <a:prstGeom prst="rect">
                <a:avLst/>
              </a:prstGeom>
              <a:blipFill>
                <a:blip r:embed="rId3"/>
                <a:stretch>
                  <a:fillRect l="-801" b="-7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6E9132E-B9CB-7F4B-8653-E00A87CB9B5B}"/>
                  </a:ext>
                </a:extLst>
              </p:cNvPr>
              <p:cNvSpPr txBox="1"/>
              <p:nvPr/>
            </p:nvSpPr>
            <p:spPr>
              <a:xfrm>
                <a:off x="-271849" y="3281536"/>
                <a:ext cx="6104238" cy="5731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altLang="zh-CN" sz="2400" i="1" smtClean="0">
                              <a:latin typeface="Cambria Math" panose="02040503050406030204" pitchFamily="18" charset="0"/>
                            </a:rPr>
                          </m:ctrlPr>
                        </m:funcPr>
                        <m:fName>
                          <m:limLow>
                            <m:limLowPr>
                              <m:ctrlPr>
                                <a:rPr lang="en-US" altLang="zh-CN" sz="2400" i="1" smtClean="0">
                                  <a:latin typeface="Cambria Math" panose="02040503050406030204" pitchFamily="18" charset="0"/>
                                </a:rPr>
                              </m:ctrlPr>
                            </m:limLowPr>
                            <m:e>
                              <m:r>
                                <m:rPr>
                                  <m:sty m:val="p"/>
                                </m:rPr>
                                <a:rPr lang="en-US" altLang="zh-CN" sz="2400" i="0" smtClean="0">
                                  <a:latin typeface="Cambria Math" panose="02040503050406030204" pitchFamily="18" charset="0"/>
                                </a:rPr>
                                <m:t>min</m:t>
                              </m:r>
                            </m:e>
                            <m:lim>
                              <m:r>
                                <a:rPr lang="en-US" altLang="zh-CN" sz="2400" b="0" i="1" smtClean="0">
                                  <a:latin typeface="Cambria Math" panose="02040503050406030204" pitchFamily="18" charset="0"/>
                                </a:rPr>
                                <m:t>𝑥</m:t>
                              </m:r>
                            </m:lim>
                          </m:limLow>
                        </m:fName>
                        <m:e>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e>
                      </m:func>
                    </m:oMath>
                  </m:oMathPara>
                </a14:m>
                <a:endParaRPr lang="zh-CN" altLang="en-US" sz="2400" dirty="0"/>
              </a:p>
            </p:txBody>
          </p:sp>
        </mc:Choice>
        <mc:Fallback xmlns="">
          <p:sp>
            <p:nvSpPr>
              <p:cNvPr id="10" name="文本框 9">
                <a:extLst>
                  <a:ext uri="{FF2B5EF4-FFF2-40B4-BE49-F238E27FC236}">
                    <a16:creationId xmlns:a16="http://schemas.microsoft.com/office/drawing/2014/main" id="{06E9132E-B9CB-7F4B-8653-E00A87CB9B5B}"/>
                  </a:ext>
                </a:extLst>
              </p:cNvPr>
              <p:cNvSpPr txBox="1">
                <a:spLocks noRot="1" noChangeAspect="1" noMove="1" noResize="1" noEditPoints="1" noAdjustHandles="1" noChangeArrowheads="1" noChangeShapeType="1" noTextEdit="1"/>
              </p:cNvSpPr>
              <p:nvPr/>
            </p:nvSpPr>
            <p:spPr>
              <a:xfrm>
                <a:off x="-271849" y="3281536"/>
                <a:ext cx="6104238" cy="573106"/>
              </a:xfrm>
              <a:prstGeom prst="rect">
                <a:avLst/>
              </a:prstGeom>
              <a:blipFill>
                <a:blip r:embed="rId4"/>
                <a:stretch>
                  <a:fillRect b="-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CA0FE1-6E59-6B44-83BA-B41AF0493681}"/>
                  </a:ext>
                </a:extLst>
              </p:cNvPr>
              <p:cNvSpPr txBox="1"/>
              <p:nvPr/>
            </p:nvSpPr>
            <p:spPr>
              <a:xfrm>
                <a:off x="548639" y="4416526"/>
                <a:ext cx="6104237" cy="2250873"/>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梯度下降：</a:t>
                </a:r>
                <a:r>
                  <a:rPr lang="zh-CN" altLang="en-US" sz="2400" dirty="0"/>
                  <a:t>迭代式优化</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r>
                            <a:rPr lang="en-US" altLang="zh-CN" sz="2400" b="0" i="1" smtClean="0">
                              <a:latin typeface="Cambria Math" panose="02040503050406030204" pitchFamily="18" charset="0"/>
                              <a:cs typeface="Arial" panose="020B0604020202020204" pitchFamily="34" charset="0"/>
                            </a:rPr>
                            <m:t>+1</m:t>
                          </m:r>
                        </m:sub>
                      </m:sSub>
                      <m:r>
                        <a:rPr lang="en-US" altLang="zh-CN" sz="2400" b="0" i="1" smtClean="0">
                          <a:latin typeface="Cambria Math" panose="02040503050406030204" pitchFamily="18" charset="0"/>
                          <a:cs typeface="Arial" panose="020B0604020202020204" pitchFamily="34" charset="0"/>
                        </a:rPr>
                        <m:t>=</m:t>
                      </m:r>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sub>
                      </m:sSub>
                      <m:r>
                        <a:rPr lang="en-US" altLang="zh-CN" sz="2400" b="0" i="1" smtClean="0">
                          <a:latin typeface="Cambria Math" panose="02040503050406030204" pitchFamily="18" charset="0"/>
                          <a:cs typeface="Arial" panose="020B0604020202020204" pitchFamily="34" charset="0"/>
                        </a:rPr>
                        <m:t>−</m:t>
                      </m:r>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𝜂</m:t>
                          </m:r>
                        </m:e>
                        <m:sub>
                          <m:r>
                            <a:rPr lang="en-US" altLang="zh-CN" sz="2400" b="0" i="1" smtClean="0">
                              <a:latin typeface="Cambria Math" panose="02040503050406030204" pitchFamily="18" charset="0"/>
                              <a:cs typeface="Arial" panose="020B0604020202020204" pitchFamily="34" charset="0"/>
                            </a:rPr>
                            <m:t>𝑡</m:t>
                          </m:r>
                        </m:sub>
                      </m:sSub>
                      <m:r>
                        <m:rPr>
                          <m:sty m:val="p"/>
                        </m:rPr>
                        <a:rPr lang="en-US" altLang="zh-CN" sz="2400" b="0" i="0" smtClean="0">
                          <a:latin typeface="Cambria Math" panose="02040503050406030204" pitchFamily="18" charset="0"/>
                          <a:cs typeface="Arial" panose="020B0604020202020204" pitchFamily="34" charset="0"/>
                        </a:rPr>
                        <m:t>∇</m:t>
                      </m:r>
                      <m:r>
                        <a:rPr lang="en-US" altLang="zh-CN" sz="2400" b="0" i="1" smtClean="0">
                          <a:latin typeface="Cambria Math" panose="02040503050406030204" pitchFamily="18" charset="0"/>
                          <a:cs typeface="Arial" panose="020B0604020202020204" pitchFamily="34" charset="0"/>
                        </a:rPr>
                        <m:t>𝑓</m:t>
                      </m:r>
                      <m:d>
                        <m:dPr>
                          <m:ctrlPr>
                            <a:rPr lang="en-US" altLang="zh-CN" sz="2400" b="0" i="1" smtClean="0">
                              <a:latin typeface="Cambria Math" panose="02040503050406030204" pitchFamily="18" charset="0"/>
                              <a:cs typeface="Arial" panose="020B0604020202020204" pitchFamily="34" charset="0"/>
                            </a:rPr>
                          </m:ctrlPr>
                        </m:dPr>
                        <m:e>
                          <m:sSub>
                            <m:sSubPr>
                              <m:ctrlPr>
                                <a:rPr lang="en-US" altLang="zh-CN" sz="2400" b="0" i="1" smtClean="0">
                                  <a:latin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cs typeface="Arial" panose="020B0604020202020204" pitchFamily="34" charset="0"/>
                                </a:rPr>
                                <m:t>𝑥</m:t>
                              </m:r>
                            </m:e>
                            <m:sub>
                              <m:r>
                                <a:rPr lang="en-US" altLang="zh-CN" sz="2400" b="0" i="1" smtClean="0">
                                  <a:latin typeface="Cambria Math" panose="02040503050406030204" pitchFamily="18" charset="0"/>
                                  <a:cs typeface="Arial" panose="020B0604020202020204" pitchFamily="34" charset="0"/>
                                </a:rPr>
                                <m:t>𝑡</m:t>
                              </m:r>
                            </m:sub>
                          </m:sSub>
                        </m:e>
                      </m:d>
                    </m:oMath>
                  </m:oMathPara>
                </a14:m>
                <a:endParaRPr lang="en-US" altLang="zh-CN" sz="24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p"/>
                </a:pPr>
                <a14:m>
                  <m:oMath xmlns:m="http://schemas.openxmlformats.org/officeDocument/2006/math">
                    <m:sSub>
                      <m:sSubPr>
                        <m:ctrlPr>
                          <a:rPr lang="en-US" altLang="zh-CN" sz="2400" i="1" smtClean="0">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𝜂</m:t>
                        </m:r>
                      </m:e>
                      <m:sub>
                        <m:r>
                          <a:rPr lang="en-US" altLang="zh-CN" sz="2400" i="1">
                            <a:latin typeface="Cambria Math" panose="02040503050406030204" pitchFamily="18" charset="0"/>
                            <a:cs typeface="Arial" panose="020B0604020202020204" pitchFamily="34" charset="0"/>
                          </a:rPr>
                          <m:t>𝑡</m:t>
                        </m:r>
                      </m:sub>
                    </m:sSub>
                  </m:oMath>
                </a14:m>
                <a:r>
                  <a:rPr lang="zh-CN" altLang="en-US" sz="2400" dirty="0"/>
                  <a:t>表示步长或学习率</a:t>
                </a:r>
                <a:endParaRPr lang="en-US" altLang="zh-CN" sz="2400" dirty="0"/>
              </a:p>
              <a:p>
                <a:pPr lvl="1">
                  <a:lnSpc>
                    <a:spcPct val="150000"/>
                  </a:lnSpc>
                </a:pPr>
                <a:endParaRPr lang="en-US" altLang="zh-CN" sz="2400" dirty="0"/>
              </a:p>
            </p:txBody>
          </p:sp>
        </mc:Choice>
        <mc:Fallback xmlns="">
          <p:sp>
            <p:nvSpPr>
              <p:cNvPr id="11" name="文本框 10">
                <a:extLst>
                  <a:ext uri="{FF2B5EF4-FFF2-40B4-BE49-F238E27FC236}">
                    <a16:creationId xmlns:a16="http://schemas.microsoft.com/office/drawing/2014/main" id="{9BCA0FE1-6E59-6B44-83BA-B41AF0493681}"/>
                  </a:ext>
                </a:extLst>
              </p:cNvPr>
              <p:cNvSpPr txBox="1">
                <a:spLocks noRot="1" noChangeAspect="1" noMove="1" noResize="1" noEditPoints="1" noAdjustHandles="1" noChangeArrowheads="1" noChangeShapeType="1" noTextEdit="1"/>
              </p:cNvSpPr>
              <p:nvPr/>
            </p:nvSpPr>
            <p:spPr>
              <a:xfrm>
                <a:off x="548639" y="4416526"/>
                <a:ext cx="6104237" cy="2250873"/>
              </a:xfrm>
              <a:prstGeom prst="rect">
                <a:avLst/>
              </a:prstGeom>
              <a:blipFill>
                <a:blip r:embed="rId5"/>
                <a:stretch>
                  <a:fillRect l="-12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B657149-2202-9149-8BEC-FB899D148CCD}"/>
                  </a:ext>
                </a:extLst>
              </p:cNvPr>
              <p:cNvSpPr txBox="1"/>
              <p:nvPr/>
            </p:nvSpPr>
            <p:spPr>
              <a:xfrm>
                <a:off x="5249563" y="2719651"/>
                <a:ext cx="6431925" cy="2871876"/>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梯度下降收敛速率（</a:t>
                </a:r>
                <a:r>
                  <a:rPr lang="en-US" altLang="zh-CN" sz="2400" i="1" dirty="0">
                    <a:ea typeface="Cambria Math" panose="02040503050406030204" pitchFamily="18" charset="0"/>
                  </a:rPr>
                  <a:t>T </a:t>
                </a:r>
                <a:r>
                  <a:rPr lang="zh-CN" altLang="en-US" sz="2400" dirty="0">
                    <a:ea typeface="Cambria Math" panose="02040503050406030204" pitchFamily="18" charset="0"/>
                  </a:rPr>
                  <a:t>表示迭代的总次数）</a:t>
                </a:r>
                <a:endParaRPr lang="en-US" altLang="zh-CN" sz="2400" dirty="0"/>
              </a:p>
              <a:p>
                <a:pPr marL="800100" lvl="1" indent="-342900">
                  <a:lnSpc>
                    <a:spcPct val="150000"/>
                  </a:lnSpc>
                  <a:buFont typeface="Wingdings" pitchFamily="2" charset="2"/>
                  <a:buChar char="p"/>
                </a:pPr>
                <a:r>
                  <a:rPr lang="zh-CN" altLang="en-US" sz="2400" dirty="0">
                    <a:solidFill>
                      <a:schemeClr val="tx1"/>
                    </a:solidFill>
                  </a:rPr>
                  <a:t>令</a:t>
                </a:r>
                <a14:m>
                  <m:oMath xmlns:m="http://schemas.openxmlformats.org/officeDocument/2006/math">
                    <m:sSub>
                      <m:sSubPr>
                        <m:ctrlPr>
                          <a:rPr lang="en-US" altLang="zh-CN" sz="2400" b="0" i="1" smtClean="0">
                            <a:solidFill>
                              <a:schemeClr val="tx1"/>
                            </a:solidFill>
                            <a:latin typeface="Cambria Math" panose="02040503050406030204" pitchFamily="18" charset="0"/>
                          </a:rPr>
                        </m:ctrlPr>
                      </m:sSubPr>
                      <m:e>
                        <m:acc>
                          <m:accPr>
                            <m:chr m:val="̂"/>
                            <m:ctrlPr>
                              <a:rPr lang="zh-CN" altLang="en-US" sz="2400" i="1" smtClean="0">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𝑥</m:t>
                            </m:r>
                          </m:e>
                        </m:acc>
                      </m:e>
                      <m:sub>
                        <m:r>
                          <a:rPr lang="en-US" altLang="zh-CN" sz="2400" b="0" i="1" smtClean="0">
                            <a:solidFill>
                              <a:schemeClr val="tx1"/>
                            </a:solidFill>
                            <a:latin typeface="Cambria Math" panose="02040503050406030204" pitchFamily="18" charset="0"/>
                          </a:rPr>
                          <m:t>𝑇</m:t>
                        </m:r>
                      </m:sub>
                    </m:sSub>
                    <m:r>
                      <a:rPr lang="en-US" altLang="zh-CN" sz="2400" b="0" i="1" smtClean="0">
                        <a:solidFill>
                          <a:schemeClr val="tx1"/>
                        </a:solidFill>
                        <a:latin typeface="Cambria Math" panose="02040503050406030204" pitchFamily="18" charset="0"/>
                      </a:rPr>
                      <m:t>=</m:t>
                    </m:r>
                    <m:d>
                      <m:dPr>
                        <m:ctrlPr>
                          <a:rPr lang="en-US" altLang="zh-CN" sz="2400" b="0" i="1" smtClean="0">
                            <a:solidFill>
                              <a:schemeClr val="tx1"/>
                            </a:solidFill>
                            <a:latin typeface="Cambria Math" panose="02040503050406030204" pitchFamily="18" charset="0"/>
                          </a:rPr>
                        </m:ctrlPr>
                      </m:dPr>
                      <m:e>
                        <m:f>
                          <m:fPr>
                            <m:type m:val="lin"/>
                            <m:ctrlPr>
                              <a:rPr lang="en-US" altLang="zh-CN" sz="2400" b="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r>
                              <a:rPr lang="en-US" altLang="zh-CN" sz="2400" b="0" i="1" smtClean="0">
                                <a:solidFill>
                                  <a:schemeClr val="tx1"/>
                                </a:solidFill>
                                <a:latin typeface="Cambria Math" panose="02040503050406030204" pitchFamily="18" charset="0"/>
                              </a:rPr>
                              <m:t>𝑇</m:t>
                            </m:r>
                          </m:den>
                        </m:f>
                      </m:e>
                    </m:d>
                    <m:nary>
                      <m:naryPr>
                        <m:chr m:val="∑"/>
                        <m:limLoc m:val="subSup"/>
                        <m:ctrlPr>
                          <a:rPr lang="en-US" altLang="zh-CN" sz="2400" b="0" i="1" smtClean="0">
                            <a:solidFill>
                              <a:schemeClr val="tx1"/>
                            </a:solidFill>
                            <a:latin typeface="Cambria Math" panose="02040503050406030204" pitchFamily="18" charset="0"/>
                          </a:rPr>
                        </m:ctrlPr>
                      </m:naryPr>
                      <m:sub>
                        <m:r>
                          <m:rPr>
                            <m:brk m:alnAt="25"/>
                          </m:rPr>
                          <a:rPr lang="en-US" altLang="zh-CN" sz="2400" b="0" i="1" smtClean="0">
                            <a:solidFill>
                              <a:schemeClr val="tx1"/>
                            </a:solidFill>
                            <a:latin typeface="Cambria Math" panose="02040503050406030204" pitchFamily="18" charset="0"/>
                          </a:rPr>
                          <m:t>𝑡</m:t>
                        </m:r>
                        <m:r>
                          <a:rPr lang="en-US" altLang="zh-CN" sz="2400" b="0" i="1" smtClean="0">
                            <a:solidFill>
                              <a:schemeClr val="tx1"/>
                            </a:solidFill>
                            <a:latin typeface="Cambria Math" panose="02040503050406030204" pitchFamily="18" charset="0"/>
                          </a:rPr>
                          <m:t>=1</m:t>
                        </m:r>
                      </m:sub>
                      <m:sup>
                        <m:r>
                          <a:rPr lang="en-US" altLang="zh-CN" sz="2400" b="0" i="1" smtClean="0">
                            <a:solidFill>
                              <a:schemeClr val="tx1"/>
                            </a:solidFill>
                            <a:latin typeface="Cambria Math" panose="02040503050406030204" pitchFamily="18" charset="0"/>
                          </a:rPr>
                          <m:t>𝑇</m:t>
                        </m:r>
                      </m:sup>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en-US" altLang="zh-CN" sz="2400" b="0" i="1" smtClean="0">
                                <a:solidFill>
                                  <a:schemeClr val="tx1"/>
                                </a:solidFill>
                                <a:latin typeface="Cambria Math" panose="02040503050406030204" pitchFamily="18" charset="0"/>
                              </a:rPr>
                              <m:t>𝑡</m:t>
                            </m:r>
                          </m:sub>
                        </m:sSub>
                      </m:e>
                    </m:nary>
                  </m:oMath>
                </a14:m>
                <a:r>
                  <a:rPr lang="zh-CN" altLang="en-US" sz="2400" dirty="0">
                    <a:solidFill>
                      <a:schemeClr val="tx1"/>
                    </a:solidFill>
                  </a:rPr>
                  <a:t>，则有</a:t>
                </a:r>
                <a:endParaRPr lang="en-US" altLang="zh-CN" sz="2400" dirty="0">
                  <a:solidFill>
                    <a:schemeClr val="tx1"/>
                  </a:solidFill>
                </a:endParaRPr>
              </a:p>
              <a:p>
                <a:pPr lvl="1">
                  <a:lnSpc>
                    <a:spcPct val="150000"/>
                  </a:lnSpc>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r>
                  <a:rPr lang="zh-CN" altLang="en-US" sz="2400" dirty="0"/>
                  <a:t>如果</a:t>
                </a:r>
                <a14:m>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oMath>
                </a14:m>
                <a:r>
                  <a:rPr lang="zh-CN" altLang="en-US" sz="2400" dirty="0"/>
                  <a:t>具备</a:t>
                </a:r>
                <a14:m>
                  <m:oMath xmlns:m="http://schemas.openxmlformats.org/officeDocument/2006/math">
                    <m:r>
                      <a:rPr lang="en-US" altLang="zh-CN" sz="2400" i="1">
                        <a:latin typeface="Cambria Math" panose="02040503050406030204" pitchFamily="18" charset="0"/>
                      </a:rPr>
                      <m:t>𝛽</m:t>
                    </m:r>
                  </m:oMath>
                </a14:m>
                <a:r>
                  <a:rPr lang="en-US" altLang="zh-CN" sz="2400" dirty="0"/>
                  <a:t>-</a:t>
                </a:r>
                <a:r>
                  <a:rPr lang="zh-CN" altLang="en-US" sz="2400" dirty="0"/>
                  <a:t>平滑性，则有</a:t>
                </a:r>
                <a:endParaRPr lang="en-US" altLang="zh-CN" sz="2400" dirty="0"/>
              </a:p>
            </p:txBody>
          </p:sp>
        </mc:Choice>
        <mc:Fallback xmlns="">
          <p:sp>
            <p:nvSpPr>
              <p:cNvPr id="17" name="文本框 16">
                <a:extLst>
                  <a:ext uri="{FF2B5EF4-FFF2-40B4-BE49-F238E27FC236}">
                    <a16:creationId xmlns:a16="http://schemas.microsoft.com/office/drawing/2014/main" id="{8B657149-2202-9149-8BEC-FB899D148CCD}"/>
                  </a:ext>
                </a:extLst>
              </p:cNvPr>
              <p:cNvSpPr txBox="1">
                <a:spLocks noRot="1" noChangeAspect="1" noMove="1" noResize="1" noEditPoints="1" noAdjustHandles="1" noChangeArrowheads="1" noChangeShapeType="1" noTextEdit="1"/>
              </p:cNvSpPr>
              <p:nvPr/>
            </p:nvSpPr>
            <p:spPr>
              <a:xfrm>
                <a:off x="5249563" y="2719651"/>
                <a:ext cx="6431925" cy="2871876"/>
              </a:xfrm>
              <a:prstGeom prst="rect">
                <a:avLst/>
              </a:prstGeom>
              <a:blipFill>
                <a:blip r:embed="rId6"/>
                <a:stretch>
                  <a:fillRect l="-1232" b="-40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1BA3312-B5EC-C846-AAB0-3625545292F8}"/>
                  </a:ext>
                </a:extLst>
              </p:cNvPr>
              <p:cNvSpPr txBox="1"/>
              <p:nvPr/>
            </p:nvSpPr>
            <p:spPr>
              <a:xfrm>
                <a:off x="6115064" y="4416526"/>
                <a:ext cx="4940232" cy="532390"/>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cs typeface="Arial" panose="020B0604020202020204" pitchFamily="34" charset="0"/>
                        </a:rPr>
                        <m:t>⇒</m:t>
                      </m:r>
                      <m:r>
                        <a:rPr lang="en-US" altLang="zh-CN" sz="2400" b="0" i="1" smtClean="0">
                          <a:solidFill>
                            <a:schemeClr val="tx1"/>
                          </a:solidFill>
                          <a:latin typeface="Cambria Math" panose="02040503050406030204" pitchFamily="18" charset="0"/>
                          <a:cs typeface="Arial" panose="020B0604020202020204" pitchFamily="34" charset="0"/>
                        </a:rPr>
                        <m:t>𝑓</m:t>
                      </m:r>
                      <m:d>
                        <m:dPr>
                          <m:ctrlPr>
                            <a:rPr lang="en-US" altLang="zh-CN" sz="2400" b="0" i="1" smtClean="0">
                              <a:solidFill>
                                <a:schemeClr val="tx1"/>
                              </a:solidFill>
                              <a:latin typeface="Cambria Math" panose="02040503050406030204" pitchFamily="18" charset="0"/>
                              <a:cs typeface="Arial" panose="020B0604020202020204" pitchFamily="34" charset="0"/>
                            </a:rPr>
                          </m:ctrlPr>
                        </m:dPr>
                        <m:e>
                          <m:sSubSup>
                            <m:sSubSupPr>
                              <m:ctrlPr>
                                <a:rPr lang="en-US" altLang="zh-CN" sz="2400" i="1">
                                  <a:solidFill>
                                    <a:schemeClr val="tx1"/>
                                  </a:solidFill>
                                  <a:latin typeface="Cambria Math" panose="02040503050406030204" pitchFamily="18" charset="0"/>
                                  <a:ea typeface="Verdana" panose="020B0604030504040204" pitchFamily="34" charset="0"/>
                                </a:rPr>
                              </m:ctrlPr>
                            </m:sSubSupPr>
                            <m:e>
                              <m:acc>
                                <m:accPr>
                                  <m:chr m:val="̂"/>
                                  <m:ctrlPr>
                                    <a:rPr lang="en-US" altLang="zh-CN" sz="2400" i="1">
                                      <a:solidFill>
                                        <a:schemeClr val="tx1"/>
                                      </a:solidFill>
                                      <a:latin typeface="Cambria Math" panose="02040503050406030204" pitchFamily="18" charset="0"/>
                                      <a:ea typeface="Verdana" panose="020B0604030504040204" pitchFamily="34" charset="0"/>
                                    </a:rPr>
                                  </m:ctrlPr>
                                </m:accPr>
                                <m:e>
                                  <m:r>
                                    <a:rPr lang="en-US" altLang="zh-CN" sz="2400" i="1">
                                      <a:solidFill>
                                        <a:schemeClr val="tx1"/>
                                      </a:solidFill>
                                      <a:latin typeface="Cambria Math" panose="02040503050406030204" pitchFamily="18" charset="0"/>
                                      <a:ea typeface="Verdana" panose="020B0604030504040204" pitchFamily="34" charset="0"/>
                                    </a:rPr>
                                    <m:t>𝑥</m:t>
                                  </m:r>
                                </m:e>
                              </m:acc>
                            </m:e>
                            <m:sub>
                              <m:r>
                                <a:rPr lang="en-US" altLang="zh-CN" sz="2400" i="1">
                                  <a:solidFill>
                                    <a:schemeClr val="tx1"/>
                                  </a:solidFill>
                                  <a:latin typeface="Cambria Math" panose="02040503050406030204" pitchFamily="18" charset="0"/>
                                  <a:ea typeface="Verdana" panose="020B0604030504040204" pitchFamily="34" charset="0"/>
                                </a:rPr>
                                <m:t>𝑇</m:t>
                              </m:r>
                            </m:sub>
                            <m:sup>
                              <m:r>
                                <a:rPr lang="en-US" altLang="zh-CN" sz="2400" i="1">
                                  <a:solidFill>
                                    <a:schemeClr val="tx1"/>
                                  </a:solidFill>
                                  <a:latin typeface="Cambria Math" panose="02040503050406030204" pitchFamily="18" charset="0"/>
                                  <a:ea typeface="Verdana" panose="020B0604030504040204" pitchFamily="34" charset="0"/>
                                </a:rPr>
                                <m:t> </m:t>
                              </m:r>
                            </m:sup>
                          </m:sSubSup>
                        </m:e>
                      </m:d>
                      <m:r>
                        <a:rPr lang="en-US" altLang="zh-CN" sz="2400" b="0" i="1" smtClean="0">
                          <a:solidFill>
                            <a:schemeClr val="tx1"/>
                          </a:solidFill>
                          <a:latin typeface="Cambria Math" panose="02040503050406030204" pitchFamily="18" charset="0"/>
                          <a:cs typeface="Arial" panose="020B0604020202020204" pitchFamily="34" charset="0"/>
                        </a:rPr>
                        <m:t>−</m:t>
                      </m:r>
                      <m:r>
                        <a:rPr lang="en-US" altLang="zh-CN" sz="2400" b="0" i="1" smtClean="0">
                          <a:solidFill>
                            <a:schemeClr val="tx1"/>
                          </a:solidFill>
                          <a:latin typeface="Cambria Math" panose="02040503050406030204" pitchFamily="18" charset="0"/>
                          <a:cs typeface="Arial" panose="020B0604020202020204" pitchFamily="34" charset="0"/>
                        </a:rPr>
                        <m:t>𝑓</m:t>
                      </m:r>
                      <m:d>
                        <m:dPr>
                          <m:ctrlPr>
                            <a:rPr lang="en-US" altLang="zh-CN" sz="2400" b="0" i="1" smtClean="0">
                              <a:solidFill>
                                <a:schemeClr val="tx1"/>
                              </a:solidFill>
                              <a:latin typeface="Cambria Math" panose="02040503050406030204" pitchFamily="18" charset="0"/>
                              <a:cs typeface="Arial" panose="020B0604020202020204" pitchFamily="34" charset="0"/>
                            </a:rPr>
                          </m:ctrlPr>
                        </m:dPr>
                        <m:e>
                          <m:sSup>
                            <m:sSupPr>
                              <m:ctrlPr>
                                <a:rPr lang="en-US" altLang="zh-CN" sz="2400" b="0" i="1" smtClean="0">
                                  <a:solidFill>
                                    <a:schemeClr val="tx1"/>
                                  </a:solidFill>
                                  <a:latin typeface="Cambria Math" panose="02040503050406030204" pitchFamily="18" charset="0"/>
                                  <a:cs typeface="Arial" panose="020B0604020202020204" pitchFamily="34" charset="0"/>
                                </a:rPr>
                              </m:ctrlPr>
                            </m:sSupPr>
                            <m:e>
                              <m:r>
                                <a:rPr lang="en-US" altLang="zh-CN" sz="2400" b="0" i="1" smtClean="0">
                                  <a:solidFill>
                                    <a:schemeClr val="tx1"/>
                                  </a:solidFill>
                                  <a:latin typeface="Cambria Math" panose="02040503050406030204" pitchFamily="18" charset="0"/>
                                  <a:cs typeface="Arial" panose="020B0604020202020204" pitchFamily="34" charset="0"/>
                                </a:rPr>
                                <m:t>𝑥</m:t>
                              </m:r>
                            </m:e>
                            <m:sup>
                              <m:r>
                                <a:rPr lang="en-US" altLang="zh-CN" sz="2400" b="0" i="1" smtClean="0">
                                  <a:solidFill>
                                    <a:schemeClr val="tx1"/>
                                  </a:solidFill>
                                  <a:latin typeface="Cambria Math" panose="02040503050406030204" pitchFamily="18" charset="0"/>
                                  <a:cs typeface="Arial" panose="020B0604020202020204" pitchFamily="34" charset="0"/>
                                </a:rPr>
                                <m:t>∗</m:t>
                              </m:r>
                            </m:sup>
                          </m:sSup>
                        </m:e>
                      </m:d>
                      <m:r>
                        <a:rPr lang="en-US" altLang="zh-CN" sz="2400" i="1">
                          <a:solidFill>
                            <a:schemeClr val="tx1"/>
                          </a:solidFill>
                          <a:latin typeface="Cambria Math" panose="02040503050406030204" pitchFamily="18" charset="0"/>
                          <a:cs typeface="Arial" panose="020B0604020202020204" pitchFamily="34" charset="0"/>
                        </a:rPr>
                        <m:t>=</m:t>
                      </m:r>
                      <m:r>
                        <a:rPr lang="en-US" altLang="zh-CN" sz="2400" i="1">
                          <a:solidFill>
                            <a:schemeClr val="tx1"/>
                          </a:solidFill>
                          <a:latin typeface="Cambria Math" panose="02040503050406030204" pitchFamily="18" charset="0"/>
                          <a:cs typeface="Arial" panose="020B0604020202020204" pitchFamily="34" charset="0"/>
                        </a:rPr>
                        <m:t>𝑂</m:t>
                      </m:r>
                      <m:d>
                        <m:dPr>
                          <m:ctrlPr>
                            <a:rPr lang="en-US" altLang="zh-CN" sz="2400" i="1">
                              <a:solidFill>
                                <a:schemeClr val="tx1"/>
                              </a:solidFill>
                              <a:latin typeface="Cambria Math" panose="02040503050406030204" pitchFamily="18" charset="0"/>
                              <a:cs typeface="Arial" panose="020B0604020202020204" pitchFamily="34" charset="0"/>
                            </a:rPr>
                          </m:ctrlPr>
                        </m:dPr>
                        <m:e>
                          <m:f>
                            <m:fPr>
                              <m:type m:val="lin"/>
                              <m:ctrlPr>
                                <a:rPr lang="en-US" altLang="zh-CN" sz="2400" i="1" smtClean="0">
                                  <a:solidFill>
                                    <a:schemeClr val="tx1"/>
                                  </a:solidFill>
                                  <a:latin typeface="Cambria Math" panose="02040503050406030204" pitchFamily="18" charset="0"/>
                                  <a:cs typeface="Arial" panose="020B0604020202020204" pitchFamily="34" charset="0"/>
                                </a:rPr>
                              </m:ctrlPr>
                            </m:fPr>
                            <m:num>
                              <m:r>
                                <a:rPr lang="en-US" altLang="zh-CN" sz="2400" b="0" i="1" smtClean="0">
                                  <a:solidFill>
                                    <a:schemeClr val="tx1"/>
                                  </a:solidFill>
                                  <a:latin typeface="Cambria Math" panose="02040503050406030204" pitchFamily="18" charset="0"/>
                                  <a:cs typeface="Arial" panose="020B0604020202020204" pitchFamily="34" charset="0"/>
                                </a:rPr>
                                <m:t>1</m:t>
                              </m:r>
                            </m:num>
                            <m:den>
                              <m:rad>
                                <m:radPr>
                                  <m:degHide m:val="on"/>
                                  <m:ctrlPr>
                                    <a:rPr lang="en-US" altLang="zh-CN" sz="2400" i="1">
                                      <a:solidFill>
                                        <a:schemeClr val="tx1"/>
                                      </a:solidFill>
                                      <a:latin typeface="Cambria Math" panose="02040503050406030204" pitchFamily="18" charset="0"/>
                                      <a:cs typeface="Arial" panose="020B0604020202020204" pitchFamily="34" charset="0"/>
                                    </a:rPr>
                                  </m:ctrlPr>
                                </m:radPr>
                                <m:deg/>
                                <m:e>
                                  <m:r>
                                    <a:rPr lang="en-US" altLang="zh-CN" sz="2400" i="1">
                                      <a:solidFill>
                                        <a:schemeClr val="tx1"/>
                                      </a:solidFill>
                                      <a:latin typeface="Cambria Math" panose="02040503050406030204" pitchFamily="18" charset="0"/>
                                      <a:cs typeface="Arial" panose="020B0604020202020204" pitchFamily="34" charset="0"/>
                                    </a:rPr>
                                    <m:t>𝑇</m:t>
                                  </m:r>
                                </m:e>
                              </m:rad>
                            </m:den>
                          </m:f>
                        </m:e>
                      </m:d>
                    </m:oMath>
                  </m:oMathPara>
                </a14:m>
                <a:endParaRPr lang="en-US" altLang="zh-CN" sz="2400" dirty="0">
                  <a:solidFill>
                    <a:schemeClr val="tx1"/>
                  </a:solidFill>
                </a:endParaRPr>
              </a:p>
            </p:txBody>
          </p:sp>
        </mc:Choice>
        <mc:Fallback xmlns="">
          <p:sp>
            <p:nvSpPr>
              <p:cNvPr id="18" name="文本框 17">
                <a:extLst>
                  <a:ext uri="{FF2B5EF4-FFF2-40B4-BE49-F238E27FC236}">
                    <a16:creationId xmlns:a16="http://schemas.microsoft.com/office/drawing/2014/main" id="{41BA3312-B5EC-C846-AAB0-3625545292F8}"/>
                  </a:ext>
                </a:extLst>
              </p:cNvPr>
              <p:cNvSpPr txBox="1">
                <a:spLocks noRot="1" noChangeAspect="1" noMove="1" noResize="1" noEditPoints="1" noAdjustHandles="1" noChangeArrowheads="1" noChangeShapeType="1" noTextEdit="1"/>
              </p:cNvSpPr>
              <p:nvPr/>
            </p:nvSpPr>
            <p:spPr>
              <a:xfrm>
                <a:off x="6115064" y="4416526"/>
                <a:ext cx="4940232" cy="532390"/>
              </a:xfrm>
              <a:prstGeom prst="rect">
                <a:avLst/>
              </a:prstGeom>
              <a:blipFill>
                <a:blip r:embed="rId7"/>
                <a:stretch>
                  <a:fillRect t="-97674" b="-1627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FA9129C-59AE-7D4F-BE10-0F2831AE9AC1}"/>
                  </a:ext>
                </a:extLst>
              </p:cNvPr>
              <p:cNvSpPr txBox="1"/>
              <p:nvPr/>
            </p:nvSpPr>
            <p:spPr>
              <a:xfrm>
                <a:off x="5610172" y="6238126"/>
                <a:ext cx="6240162" cy="461665"/>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Arial" panose="020B0604020202020204" pitchFamily="34" charset="0"/>
                        </a:rPr>
                        <m:t>⇒</m:t>
                      </m:r>
                      <m:r>
                        <a:rPr lang="en-US" altLang="zh-CN" sz="2400" b="0" i="1" smtClean="0">
                          <a:latin typeface="Cambria Math" panose="02040503050406030204" pitchFamily="18" charset="0"/>
                          <a:cs typeface="Arial" panose="020B0604020202020204" pitchFamily="34" charset="0"/>
                        </a:rPr>
                        <m:t>𝑓</m:t>
                      </m:r>
                      <m:d>
                        <m:dPr>
                          <m:ctrlPr>
                            <a:rPr lang="en-US" altLang="zh-CN" sz="2400" b="0" i="1" smtClean="0">
                              <a:latin typeface="Cambria Math" panose="02040503050406030204" pitchFamily="18" charset="0"/>
                              <a:cs typeface="Arial" panose="020B0604020202020204" pitchFamily="34" charset="0"/>
                            </a:rPr>
                          </m:ctrlPr>
                        </m:dPr>
                        <m:e>
                          <m:sSubSup>
                            <m:sSubSupPr>
                              <m:ctrlPr>
                                <a:rPr lang="en-US" altLang="zh-CN" sz="2400" i="1">
                                  <a:latin typeface="Cambria Math" panose="02040503050406030204" pitchFamily="18" charset="0"/>
                                  <a:ea typeface="Verdana" panose="020B0604030504040204" pitchFamily="34" charset="0"/>
                                </a:rPr>
                              </m:ctrlPr>
                            </m:sSubSupPr>
                            <m:e>
                              <m:r>
                                <a:rPr lang="en-US" altLang="zh-CN" sz="2400" b="0" i="1" smtClean="0">
                                  <a:latin typeface="Cambria Math" panose="02040503050406030204" pitchFamily="18" charset="0"/>
                                  <a:ea typeface="Verdana" panose="020B0604030504040204" pitchFamily="34" charset="0"/>
                                </a:rPr>
                                <m:t>𝑥</m:t>
                              </m:r>
                            </m:e>
                            <m:sub>
                              <m:r>
                                <a:rPr lang="en-US" altLang="zh-CN" sz="2400" i="1">
                                  <a:latin typeface="Cambria Math" panose="02040503050406030204" pitchFamily="18" charset="0"/>
                                  <a:ea typeface="Verdana" panose="020B0604030504040204" pitchFamily="34" charset="0"/>
                                </a:rPr>
                                <m:t>𝑇</m:t>
                              </m:r>
                            </m:sub>
                            <m:sup>
                              <m:r>
                                <a:rPr lang="en-US" altLang="zh-CN" sz="2400" i="1">
                                  <a:latin typeface="Cambria Math" panose="02040503050406030204" pitchFamily="18" charset="0"/>
                                  <a:ea typeface="Verdana" panose="020B0604030504040204" pitchFamily="34" charset="0"/>
                                </a:rPr>
                                <m:t> </m:t>
                              </m:r>
                            </m:sup>
                          </m:sSubSup>
                        </m:e>
                      </m:d>
                      <m:r>
                        <a:rPr lang="en-US" altLang="zh-CN" sz="2400" b="0" i="1" smtClean="0">
                          <a:latin typeface="Cambria Math" panose="02040503050406030204" pitchFamily="18" charset="0"/>
                          <a:cs typeface="Arial" panose="020B0604020202020204" pitchFamily="34" charset="0"/>
                        </a:rPr>
                        <m:t>−</m:t>
                      </m:r>
                      <m:r>
                        <a:rPr lang="en-US" altLang="zh-CN" sz="2400" b="0" i="1" smtClean="0">
                          <a:latin typeface="Cambria Math" panose="02040503050406030204" pitchFamily="18" charset="0"/>
                          <a:cs typeface="Arial" panose="020B0604020202020204" pitchFamily="34" charset="0"/>
                        </a:rPr>
                        <m:t>𝑓</m:t>
                      </m:r>
                      <m:d>
                        <m:dPr>
                          <m:ctrlPr>
                            <a:rPr lang="en-US" altLang="zh-CN" sz="2400" b="0" i="1" smtClean="0">
                              <a:latin typeface="Cambria Math" panose="02040503050406030204" pitchFamily="18" charset="0"/>
                              <a:cs typeface="Arial" panose="020B0604020202020204" pitchFamily="34" charset="0"/>
                            </a:rPr>
                          </m:ctrlPr>
                        </m:dPr>
                        <m:e>
                          <m:sSup>
                            <m:sSupPr>
                              <m:ctrlPr>
                                <a:rPr lang="en-US" altLang="zh-CN" sz="2400" b="0" i="1" smtClean="0">
                                  <a:latin typeface="Cambria Math" panose="02040503050406030204" pitchFamily="18" charset="0"/>
                                  <a:cs typeface="Arial" panose="020B0604020202020204" pitchFamily="34" charset="0"/>
                                </a:rPr>
                              </m:ctrlPr>
                            </m:sSupPr>
                            <m:e>
                              <m:r>
                                <a:rPr lang="en-US" altLang="zh-CN" sz="2400" b="0" i="1" smtClean="0">
                                  <a:latin typeface="Cambria Math" panose="02040503050406030204" pitchFamily="18" charset="0"/>
                                  <a:cs typeface="Arial" panose="020B0604020202020204" pitchFamily="34" charset="0"/>
                                </a:rPr>
                                <m:t>𝑥</m:t>
                              </m:r>
                            </m:e>
                            <m:sup>
                              <m:r>
                                <a:rPr lang="en-US" altLang="zh-CN" sz="2400" b="0" i="1" smtClean="0">
                                  <a:latin typeface="Cambria Math" panose="02040503050406030204" pitchFamily="18" charset="0"/>
                                  <a:cs typeface="Arial" panose="020B0604020202020204" pitchFamily="34" charset="0"/>
                                </a:rPr>
                                <m:t>∗</m:t>
                              </m:r>
                            </m:sup>
                          </m:sSup>
                        </m:e>
                      </m:d>
                      <m:r>
                        <a:rPr lang="en-US" altLang="zh-CN" sz="2400" i="1">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𝑂</m:t>
                      </m:r>
                      <m:d>
                        <m:dPr>
                          <m:ctrlPr>
                            <a:rPr lang="en-US" altLang="zh-CN" sz="2400" i="1">
                              <a:latin typeface="Cambria Math" panose="02040503050406030204" pitchFamily="18" charset="0"/>
                              <a:cs typeface="Arial" panose="020B0604020202020204" pitchFamily="34" charset="0"/>
                            </a:rPr>
                          </m:ctrlPr>
                        </m:dPr>
                        <m:e>
                          <m:f>
                            <m:fPr>
                              <m:type m:val="lin"/>
                              <m:ctrlPr>
                                <a:rPr lang="en-US" altLang="zh-CN" sz="2400" i="1" smtClean="0">
                                  <a:latin typeface="Cambria Math" panose="02040503050406030204" pitchFamily="18" charset="0"/>
                                  <a:cs typeface="Arial" panose="020B0604020202020204" pitchFamily="34" charset="0"/>
                                </a:rPr>
                              </m:ctrlPr>
                            </m:fPr>
                            <m:num>
                              <m:r>
                                <a:rPr lang="en-US" altLang="zh-CN" sz="2400" b="0" i="1" smtClean="0">
                                  <a:latin typeface="Cambria Math" panose="02040503050406030204" pitchFamily="18" charset="0"/>
                                  <a:cs typeface="Arial" panose="020B0604020202020204" pitchFamily="34" charset="0"/>
                                </a:rPr>
                                <m:t>1</m:t>
                              </m:r>
                            </m:num>
                            <m:den>
                              <m:r>
                                <a:rPr lang="en-US" altLang="zh-CN" sz="2400" b="0" i="1" smtClean="0">
                                  <a:latin typeface="Cambria Math" panose="02040503050406030204" pitchFamily="18" charset="0"/>
                                  <a:cs typeface="Arial" panose="020B0604020202020204" pitchFamily="34" charset="0"/>
                                </a:rPr>
                                <m:t>𝑇</m:t>
                              </m:r>
                            </m:den>
                          </m:f>
                        </m:e>
                      </m:d>
                    </m:oMath>
                  </m:oMathPara>
                </a14:m>
                <a:endParaRPr lang="en-US" altLang="zh-CN" sz="2400" dirty="0"/>
              </a:p>
            </p:txBody>
          </p:sp>
        </mc:Choice>
        <mc:Fallback xmlns="">
          <p:sp>
            <p:nvSpPr>
              <p:cNvPr id="19" name="文本框 18">
                <a:extLst>
                  <a:ext uri="{FF2B5EF4-FFF2-40B4-BE49-F238E27FC236}">
                    <a16:creationId xmlns:a16="http://schemas.microsoft.com/office/drawing/2014/main" id="{5FA9129C-59AE-7D4F-BE10-0F2831AE9AC1}"/>
                  </a:ext>
                </a:extLst>
              </p:cNvPr>
              <p:cNvSpPr txBox="1">
                <a:spLocks noRot="1" noChangeAspect="1" noMove="1" noResize="1" noEditPoints="1" noAdjustHandles="1" noChangeArrowheads="1" noChangeShapeType="1" noTextEdit="1"/>
              </p:cNvSpPr>
              <p:nvPr/>
            </p:nvSpPr>
            <p:spPr>
              <a:xfrm>
                <a:off x="5610172" y="6238126"/>
                <a:ext cx="6240162" cy="461665"/>
              </a:xfrm>
              <a:prstGeom prst="rect">
                <a:avLst/>
              </a:prstGeom>
              <a:blipFill>
                <a:blip r:embed="rId8"/>
                <a:stretch>
                  <a:fillRect t="-129730" b="-1918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3778D82-C839-B849-BF8D-497666F22362}"/>
                  </a:ext>
                </a:extLst>
              </p:cNvPr>
              <p:cNvSpPr txBox="1"/>
              <p:nvPr/>
            </p:nvSpPr>
            <p:spPr>
              <a:xfrm>
                <a:off x="6533222" y="3931371"/>
                <a:ext cx="4394065" cy="512704"/>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𝜂</m:t>
                          </m:r>
                        </m:e>
                        <m:sub>
                          <m:r>
                            <a:rPr lang="en-US" altLang="zh-CN" sz="2400" b="0" i="1" smtClean="0">
                              <a:solidFill>
                                <a:schemeClr val="tx1"/>
                              </a:solidFill>
                              <a:latin typeface="Cambria Math" panose="02040503050406030204" pitchFamily="18" charset="0"/>
                            </a:rPr>
                            <m:t>𝑡</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𝑂</m:t>
                      </m:r>
                      <m:d>
                        <m:dPr>
                          <m:ctrlPr>
                            <a:rPr lang="en-US" altLang="zh-CN" sz="2400" b="0" i="1" smtClean="0">
                              <a:solidFill>
                                <a:schemeClr val="tx1"/>
                              </a:solidFill>
                              <a:latin typeface="Cambria Math" panose="02040503050406030204" pitchFamily="18" charset="0"/>
                            </a:rPr>
                          </m:ctrlPr>
                        </m:dPr>
                        <m:e>
                          <m:f>
                            <m:fPr>
                              <m:type m:val="lin"/>
                              <m:ctrlPr>
                                <a:rPr lang="en-US" altLang="zh-CN" sz="2400" i="1">
                                  <a:latin typeface="Cambria Math" panose="02040503050406030204" pitchFamily="18" charset="0"/>
                                  <a:cs typeface="Arial" panose="020B0604020202020204" pitchFamily="34" charset="0"/>
                                </a:rPr>
                              </m:ctrlPr>
                            </m:fPr>
                            <m:num>
                              <m:r>
                                <a:rPr lang="en-US" altLang="zh-CN" sz="2400" i="1">
                                  <a:latin typeface="Cambria Math" panose="02040503050406030204" pitchFamily="18" charset="0"/>
                                  <a:cs typeface="Arial" panose="020B0604020202020204" pitchFamily="34" charset="0"/>
                                </a:rPr>
                                <m:t>1</m:t>
                              </m:r>
                            </m:num>
                            <m:den>
                              <m:rad>
                                <m:radPr>
                                  <m:degHide m:val="on"/>
                                  <m:ctrlPr>
                                    <a:rPr lang="en-US" altLang="zh-CN" sz="2400" i="1" smtClean="0">
                                      <a:latin typeface="Cambria Math" panose="02040503050406030204" pitchFamily="18" charset="0"/>
                                      <a:cs typeface="Arial" panose="020B0604020202020204" pitchFamily="34" charset="0"/>
                                    </a:rPr>
                                  </m:ctrlPr>
                                </m:radPr>
                                <m:deg/>
                                <m:e>
                                  <m:r>
                                    <a:rPr lang="en-US" altLang="zh-CN" sz="2400" b="0" i="1" smtClean="0">
                                      <a:latin typeface="Cambria Math" panose="02040503050406030204" pitchFamily="18" charset="0"/>
                                      <a:cs typeface="Arial" panose="020B0604020202020204" pitchFamily="34" charset="0"/>
                                    </a:rPr>
                                    <m:t>𝑡</m:t>
                                  </m:r>
                                </m:e>
                              </m:rad>
                            </m:den>
                          </m:f>
                        </m:e>
                      </m:d>
                    </m:oMath>
                  </m:oMathPara>
                </a14:m>
                <a:endParaRPr lang="en-US" altLang="zh-CN" sz="2400" dirty="0">
                  <a:solidFill>
                    <a:schemeClr val="tx1"/>
                  </a:solidFill>
                </a:endParaRPr>
              </a:p>
            </p:txBody>
          </p:sp>
        </mc:Choice>
        <mc:Fallback xmlns="">
          <p:sp>
            <p:nvSpPr>
              <p:cNvPr id="21" name="文本框 20">
                <a:extLst>
                  <a:ext uri="{FF2B5EF4-FFF2-40B4-BE49-F238E27FC236}">
                    <a16:creationId xmlns:a16="http://schemas.microsoft.com/office/drawing/2014/main" id="{D3778D82-C839-B849-BF8D-497666F22362}"/>
                  </a:ext>
                </a:extLst>
              </p:cNvPr>
              <p:cNvSpPr txBox="1">
                <a:spLocks noRot="1" noChangeAspect="1" noMove="1" noResize="1" noEditPoints="1" noAdjustHandles="1" noChangeArrowheads="1" noChangeShapeType="1" noTextEdit="1"/>
              </p:cNvSpPr>
              <p:nvPr/>
            </p:nvSpPr>
            <p:spPr>
              <a:xfrm>
                <a:off x="6533222" y="3931371"/>
                <a:ext cx="4394065" cy="512704"/>
              </a:xfrm>
              <a:prstGeom prst="rect">
                <a:avLst/>
              </a:prstGeom>
              <a:blipFill>
                <a:blip r:embed="rId9"/>
                <a:stretch>
                  <a:fillRect t="-109756" b="-170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AD8DC79-1B6A-3D48-9E89-E335FC613CBB}"/>
                  </a:ext>
                </a:extLst>
              </p:cNvPr>
              <p:cNvSpPr txBox="1"/>
              <p:nvPr/>
            </p:nvSpPr>
            <p:spPr>
              <a:xfrm>
                <a:off x="6533221" y="5679285"/>
                <a:ext cx="4394065" cy="461665"/>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𝜂</m:t>
                          </m:r>
                        </m:e>
                        <m:sub>
                          <m:r>
                            <a:rPr lang="en-US" altLang="zh-CN" sz="2400" b="0" i="1" smtClean="0">
                              <a:solidFill>
                                <a:schemeClr val="tx1"/>
                              </a:solidFill>
                              <a:latin typeface="Cambria Math" panose="02040503050406030204" pitchFamily="18" charset="0"/>
                            </a:rPr>
                            <m:t>𝑡</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𝑂</m:t>
                      </m:r>
                      <m:d>
                        <m:dPr>
                          <m:ctrlPr>
                            <a:rPr lang="en-US" altLang="zh-CN" sz="2400" b="0" i="1" smtClean="0">
                              <a:solidFill>
                                <a:schemeClr val="tx1"/>
                              </a:solidFill>
                              <a:latin typeface="Cambria Math" panose="02040503050406030204" pitchFamily="18" charset="0"/>
                            </a:rPr>
                          </m:ctrlPr>
                        </m:dPr>
                        <m:e>
                          <m:f>
                            <m:fPr>
                              <m:type m:val="lin"/>
                              <m:ctrlPr>
                                <a:rPr lang="en-US" altLang="zh-CN" sz="2400" i="1">
                                  <a:latin typeface="Cambria Math" panose="02040503050406030204" pitchFamily="18" charset="0"/>
                                  <a:cs typeface="Arial" panose="020B0604020202020204" pitchFamily="34" charset="0"/>
                                </a:rPr>
                              </m:ctrlPr>
                            </m:fPr>
                            <m:num>
                              <m:r>
                                <a:rPr lang="en-US" altLang="zh-CN" sz="2400" i="1">
                                  <a:latin typeface="Cambria Math" panose="02040503050406030204" pitchFamily="18" charset="0"/>
                                  <a:cs typeface="Arial" panose="020B0604020202020204" pitchFamily="34" charset="0"/>
                                </a:rPr>
                                <m:t>1</m:t>
                              </m:r>
                            </m:num>
                            <m:den>
                              <m:r>
                                <a:rPr lang="en-US" altLang="zh-CN" sz="2400" b="0" i="1" smtClean="0">
                                  <a:latin typeface="Cambria Math" panose="02040503050406030204" pitchFamily="18" charset="0"/>
                                  <a:cs typeface="Arial" panose="020B0604020202020204" pitchFamily="34" charset="0"/>
                                </a:rPr>
                                <m:t>𝛽</m:t>
                              </m:r>
                            </m:den>
                          </m:f>
                        </m:e>
                      </m:d>
                    </m:oMath>
                  </m:oMathPara>
                </a14:m>
                <a:endParaRPr lang="en-US" altLang="zh-CN" sz="2400" dirty="0">
                  <a:solidFill>
                    <a:schemeClr val="tx1"/>
                  </a:solidFill>
                </a:endParaRPr>
              </a:p>
            </p:txBody>
          </p:sp>
        </mc:Choice>
        <mc:Fallback xmlns="">
          <p:sp>
            <p:nvSpPr>
              <p:cNvPr id="22" name="文本框 21">
                <a:extLst>
                  <a:ext uri="{FF2B5EF4-FFF2-40B4-BE49-F238E27FC236}">
                    <a16:creationId xmlns:a16="http://schemas.microsoft.com/office/drawing/2014/main" id="{CAD8DC79-1B6A-3D48-9E89-E335FC613CBB}"/>
                  </a:ext>
                </a:extLst>
              </p:cNvPr>
              <p:cNvSpPr txBox="1">
                <a:spLocks noRot="1" noChangeAspect="1" noMove="1" noResize="1" noEditPoints="1" noAdjustHandles="1" noChangeArrowheads="1" noChangeShapeType="1" noTextEdit="1"/>
              </p:cNvSpPr>
              <p:nvPr/>
            </p:nvSpPr>
            <p:spPr>
              <a:xfrm>
                <a:off x="6533221" y="5679285"/>
                <a:ext cx="4394065" cy="461665"/>
              </a:xfrm>
              <a:prstGeom prst="rect">
                <a:avLst/>
              </a:prstGeom>
              <a:blipFill>
                <a:blip r:embed="rId10"/>
                <a:stretch>
                  <a:fillRect t="-129730" b="-1891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61506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90</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然而，对于多层感知机以及其它深度学习模型的训练，则几乎不再使用梯度下降法。主要有两个原因：一是这类模型的损失函数不再具备凸性；二是深度学习模型通常对应大规模数据，梯度下降法计算开销难以承受。</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CA0FE1-6E59-6B44-83BA-B41AF0493681}"/>
                  </a:ext>
                </a:extLst>
              </p:cNvPr>
              <p:cNvSpPr txBox="1"/>
              <p:nvPr/>
            </p:nvSpPr>
            <p:spPr>
              <a:xfrm>
                <a:off x="548640" y="2643451"/>
                <a:ext cx="11132848" cy="3914020"/>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基于梯度下降的多层感知机参数更新：</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r>
                            <a:rPr kumimoji="1" lang="en-US" altLang="zh-CN" sz="2400" i="1">
                              <a:latin typeface="Cambria Math" panose="02040503050406030204" pitchFamily="18" charset="0"/>
                              <a:ea typeface="Cambria Math" panose="02040503050406030204" pitchFamily="18" charset="0"/>
                            </a:rPr>
                            <m:t>+1</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𝜂</m:t>
                          </m:r>
                        </m:e>
                        <m:sub>
                          <m:r>
                            <a:rPr kumimoji="1" lang="en-US" altLang="zh-CN" sz="2400" i="1">
                              <a:latin typeface="Cambria Math" panose="02040503050406030204" pitchFamily="18" charset="0"/>
                              <a:ea typeface="Cambria Math" panose="02040503050406030204" pitchFamily="18" charset="0"/>
                            </a:rPr>
                            <m:t>𝑡</m:t>
                          </m:r>
                        </m:sub>
                      </m:sSub>
                      <m:r>
                        <m:rPr>
                          <m:sty m:val="p"/>
                        </m:rPr>
                        <a:rPr kumimoji="1" lang="en-US" altLang="zh-CN" sz="240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m:oMathPara>
                </a14:m>
                <a:endParaRPr lang="en-US" altLang="zh-CN" sz="24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p"/>
                </a:pPr>
                <a14:m>
                  <m:oMath xmlns:m="http://schemas.openxmlformats.org/officeDocument/2006/math">
                    <m:sSub>
                      <m:sSubPr>
                        <m:ctrlPr>
                          <a:rPr lang="en-US" altLang="zh-CN" sz="2400" i="1" smtClean="0">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𝜂</m:t>
                        </m:r>
                      </m:e>
                      <m:sub>
                        <m:r>
                          <a:rPr lang="en-US" altLang="zh-CN" sz="2400" i="1">
                            <a:latin typeface="Cambria Math" panose="02040503050406030204" pitchFamily="18" charset="0"/>
                            <a:cs typeface="Arial" panose="020B0604020202020204" pitchFamily="34" charset="0"/>
                          </a:rPr>
                          <m:t>𝑡</m:t>
                        </m:r>
                      </m:sub>
                    </m:sSub>
                  </m:oMath>
                </a14:m>
                <a:r>
                  <a:rPr lang="zh-CN" altLang="en-US" sz="2400" dirty="0"/>
                  <a:t>表示步长或学习率</a:t>
                </a:r>
                <a:endParaRPr lang="en-US" altLang="zh-CN" sz="2400" dirty="0"/>
              </a:p>
              <a:p>
                <a:pPr marL="342900" indent="-342900">
                  <a:lnSpc>
                    <a:spcPct val="150000"/>
                  </a:lnSpc>
                  <a:buFont typeface="Wingdings" pitchFamily="2" charset="2"/>
                  <a:buChar char="n"/>
                </a:pPr>
                <a:r>
                  <a:rPr lang="zh-CN" altLang="en-US" sz="2400" dirty="0"/>
                  <a:t>问题</a:t>
                </a:r>
                <a:r>
                  <a:rPr lang="en-US" altLang="zh-CN" sz="2400" dirty="0"/>
                  <a:t>1</a:t>
                </a:r>
                <a:r>
                  <a:rPr lang="zh-CN" altLang="en-US" sz="2400" dirty="0"/>
                  <a:t>：</a:t>
                </a:r>
                <a14:m>
                  <m:oMath xmlns:m="http://schemas.openxmlformats.org/officeDocument/2006/math">
                    <m:r>
                      <m:rPr>
                        <m:sty m:val="p"/>
                      </m:rPr>
                      <a:rPr kumimoji="1" lang="en-US" altLang="zh-CN" sz="2400" b="0" i="0"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a14:m>
                <a:r>
                  <a:rPr lang="zh-CN" altLang="en-US" sz="2400" dirty="0"/>
                  <a:t>的计算开销过大</a:t>
                </a:r>
                <a:endParaRPr lang="en-US" altLang="zh-CN" sz="2400" dirty="0"/>
              </a:p>
              <a:p>
                <a:pPr marL="342900" indent="-342900">
                  <a:lnSpc>
                    <a:spcPct val="150000"/>
                  </a:lnSpc>
                  <a:buFont typeface="Wingdings" pitchFamily="2" charset="2"/>
                  <a:buChar char="n"/>
                </a:pPr>
                <a:endParaRPr lang="en-US" altLang="zh-CN" sz="2400" dirty="0"/>
              </a:p>
              <a:p>
                <a:pPr marL="342900" indent="-342900">
                  <a:lnSpc>
                    <a:spcPct val="150000"/>
                  </a:lnSpc>
                  <a:buFont typeface="Wingdings" pitchFamily="2" charset="2"/>
                  <a:buChar char="n"/>
                </a:pPr>
                <a:endParaRPr lang="en-US" altLang="zh-CN" sz="2400" dirty="0"/>
              </a:p>
              <a:p>
                <a:pPr marL="800100" lvl="1" indent="-342900">
                  <a:lnSpc>
                    <a:spcPct val="150000"/>
                  </a:lnSpc>
                  <a:buFont typeface="Wingdings" pitchFamily="2" charset="2"/>
                  <a:buChar char="p"/>
                </a:pPr>
                <a:r>
                  <a:rPr lang="en-US" altLang="zh-CN" sz="2400" b="0" dirty="0"/>
                  <a:t>ImageNet</a:t>
                </a:r>
                <a:r>
                  <a:rPr lang="zh-CN" altLang="en-US" sz="2400" b="0" dirty="0"/>
                  <a:t>：</a:t>
                </a:r>
                <a14:m>
                  <m:oMath xmlns:m="http://schemas.openxmlformats.org/officeDocument/2006/math">
                    <m:r>
                      <a:rPr lang="en-US" altLang="zh-CN" sz="2400" b="0" i="1" dirty="0" smtClean="0">
                        <a:latin typeface="Cambria Math" panose="02040503050406030204" pitchFamily="18" charset="0"/>
                      </a:rPr>
                      <m:t>𝑚</m:t>
                    </m:r>
                    <m:r>
                      <a:rPr lang="en-US" altLang="zh-CN" sz="2400" b="0" i="1" dirty="0" smtClean="0">
                        <a:latin typeface="Cambria Math" panose="02040503050406030204" pitchFamily="18" charset="0"/>
                      </a:rPr>
                      <m:t>=1.4×</m:t>
                    </m:r>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10</m:t>
                        </m:r>
                      </m:e>
                      <m:sup>
                        <m:r>
                          <a:rPr lang="en-US" altLang="zh-CN" sz="2400" b="0" i="1" dirty="0" smtClean="0">
                            <a:latin typeface="Cambria Math" panose="02040503050406030204" pitchFamily="18" charset="0"/>
                          </a:rPr>
                          <m:t>7</m:t>
                        </m:r>
                      </m:sup>
                    </m:sSup>
                  </m:oMath>
                </a14:m>
                <a:endParaRPr lang="en-US" altLang="zh-CN" sz="2400" dirty="0"/>
              </a:p>
            </p:txBody>
          </p:sp>
        </mc:Choice>
        <mc:Fallback xmlns="">
          <p:sp>
            <p:nvSpPr>
              <p:cNvPr id="11" name="文本框 10">
                <a:extLst>
                  <a:ext uri="{FF2B5EF4-FFF2-40B4-BE49-F238E27FC236}">
                    <a16:creationId xmlns:a16="http://schemas.microsoft.com/office/drawing/2014/main" id="{9BCA0FE1-6E59-6B44-83BA-B41AF0493681}"/>
                  </a:ext>
                </a:extLst>
              </p:cNvPr>
              <p:cNvSpPr txBox="1">
                <a:spLocks noRot="1" noChangeAspect="1" noMove="1" noResize="1" noEditPoints="1" noAdjustHandles="1" noChangeArrowheads="1" noChangeShapeType="1" noTextEdit="1"/>
              </p:cNvSpPr>
              <p:nvPr/>
            </p:nvSpPr>
            <p:spPr>
              <a:xfrm>
                <a:off x="548640" y="2643451"/>
                <a:ext cx="11132848" cy="3914020"/>
              </a:xfrm>
              <a:prstGeom prst="rect">
                <a:avLst/>
              </a:prstGeom>
              <a:blipFill>
                <a:blip r:embed="rId3"/>
                <a:stretch>
                  <a:fillRect l="-712" b="-2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8C45F9F-026D-894D-B54C-6EB361209423}"/>
                  </a:ext>
                </a:extLst>
              </p:cNvPr>
              <p:cNvSpPr txBox="1"/>
              <p:nvPr/>
            </p:nvSpPr>
            <p:spPr>
              <a:xfrm>
                <a:off x="2702425" y="5012096"/>
                <a:ext cx="6107722" cy="8179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a:latin typeface="Cambria Math" panose="02040503050406030204" pitchFamily="18" charset="0"/>
                          <a:ea typeface="Cambria Math" panose="02040503050406030204" pitchFamily="18" charset="0"/>
                        </a:rPr>
                        <m:t>∇</m:t>
                      </m:r>
                      <m:r>
                        <a:rPr kumimoji="1" lang="en-US" altLang="zh-CN" sz="2400" i="1" smtClean="0">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r>
                            <a:rPr kumimoji="1" lang="en-US" altLang="zh-CN" sz="2400" i="1">
                              <a:latin typeface="Cambria Math" panose="02040503050406030204" pitchFamily="18" charset="0"/>
                              <a:ea typeface="Cambria Math" panose="02040503050406030204" pitchFamily="18" charset="0"/>
                            </a:rPr>
                            <m:t>𝜃</m:t>
                          </m:r>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r>
                        <a:rPr lang="en-US" altLang="zh-CN" sz="2400" b="0" i="1" smtClean="0">
                          <a:latin typeface="Cambria Math" panose="02040503050406030204" pitchFamily="18" charset="0"/>
                          <a:cs typeface="Times New Roman" panose="02020603050405020304" pitchFamily="18" charset="0"/>
                        </a:rPr>
                        <m:t>=</m:t>
                      </m:r>
                      <m:nary>
                        <m:naryPr>
                          <m:chr m:val="∑"/>
                          <m:limLoc m:val="subSup"/>
                          <m:ctrlPr>
                            <a:rPr kumimoji="1" lang="en-US" altLang="zh-CN" sz="2400" i="1">
                              <a:latin typeface="Cambria Math" panose="02040503050406030204" pitchFamily="18" charset="0"/>
                            </a:rPr>
                          </m:ctrlPr>
                        </m:naryPr>
                        <m:sub>
                          <m:r>
                            <m:rPr>
                              <m:brk m:alnAt="25"/>
                            </m:rPr>
                            <a:rPr kumimoji="1" lang="en-US" altLang="zh-CN" sz="2400" i="1">
                              <a:latin typeface="Cambria Math" panose="02040503050406030204" pitchFamily="18" charset="0"/>
                            </a:rPr>
                            <m:t>𝑖</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𝑚</m:t>
                          </m:r>
                        </m:sup>
                        <m:e>
                          <m:r>
                            <m:rPr>
                              <m:sty m:val="p"/>
                            </m:rPr>
                            <a:rPr kumimoji="1" lang="en-US" altLang="zh-CN" sz="240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rPr>
                            <m:t>ℓ</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𝜃</m:t>
                              </m:r>
                              <m:r>
                                <a:rPr kumimoji="1" lang="en-US" altLang="zh-CN" sz="2400" b="0" i="1" smtClean="0">
                                  <a:latin typeface="Cambria Math" panose="02040503050406030204" pitchFamily="18" charset="0"/>
                                </a:rPr>
                                <m: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𝑖</m:t>
                                  </m:r>
                                </m:sub>
                              </m:sSub>
                            </m:e>
                          </m:d>
                        </m:e>
                      </m:nary>
                    </m:oMath>
                  </m:oMathPara>
                </a14:m>
                <a:endParaRPr lang="zh-CN" altLang="en-US" sz="2400" dirty="0"/>
              </a:p>
            </p:txBody>
          </p:sp>
        </mc:Choice>
        <mc:Fallback xmlns="">
          <p:sp>
            <p:nvSpPr>
              <p:cNvPr id="16" name="文本框 15">
                <a:extLst>
                  <a:ext uri="{FF2B5EF4-FFF2-40B4-BE49-F238E27FC236}">
                    <a16:creationId xmlns:a16="http://schemas.microsoft.com/office/drawing/2014/main" id="{98C45F9F-026D-894D-B54C-6EB361209423}"/>
                  </a:ext>
                </a:extLst>
              </p:cNvPr>
              <p:cNvSpPr txBox="1">
                <a:spLocks noRot="1" noChangeAspect="1" noMove="1" noResize="1" noEditPoints="1" noAdjustHandles="1" noChangeArrowheads="1" noChangeShapeType="1" noTextEdit="1"/>
              </p:cNvSpPr>
              <p:nvPr/>
            </p:nvSpPr>
            <p:spPr>
              <a:xfrm>
                <a:off x="2702425" y="5012096"/>
                <a:ext cx="6107722" cy="817981"/>
              </a:xfrm>
              <a:prstGeom prst="rect">
                <a:avLst/>
              </a:prstGeom>
              <a:blipFill>
                <a:blip r:embed="rId4"/>
                <a:stretch>
                  <a:fillRect t="-161538" b="-236923"/>
                </a:stretch>
              </a:blipFill>
            </p:spPr>
            <p:txBody>
              <a:bodyPr/>
              <a:lstStyle/>
              <a:p>
                <a:r>
                  <a:rPr lang="zh-CN" altLang="en-US">
                    <a:noFill/>
                  </a:rPr>
                  <a:t> </a:t>
                </a:r>
              </a:p>
            </p:txBody>
          </p:sp>
        </mc:Fallback>
      </mc:AlternateContent>
      <p:sp>
        <p:nvSpPr>
          <p:cNvPr id="17" name="爆炸形 2 16">
            <a:extLst>
              <a:ext uri="{FF2B5EF4-FFF2-40B4-BE49-F238E27FC236}">
                <a16:creationId xmlns:a16="http://schemas.microsoft.com/office/drawing/2014/main" id="{3CC2B521-C30D-A84F-AA40-659202BEA4F8}"/>
              </a:ext>
            </a:extLst>
          </p:cNvPr>
          <p:cNvSpPr/>
          <p:nvPr/>
        </p:nvSpPr>
        <p:spPr>
          <a:xfrm rot="20831819">
            <a:off x="7797633" y="4175618"/>
            <a:ext cx="3731974"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随机梯度！</a:t>
            </a:r>
          </a:p>
        </p:txBody>
      </p:sp>
    </p:spTree>
    <p:extLst>
      <p:ext uri="{BB962C8B-B14F-4D97-AF65-F5344CB8AC3E}">
        <p14:creationId xmlns:p14="http://schemas.microsoft.com/office/powerpoint/2010/main" val="216620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91</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然而，对于多层感知机以及其它深度学习模型的训练，则几乎不再使用梯度下降法。主要有两个原因：一是这类模型的损失函数不再具备凸性；二是深度学习模型通常对应大规模数据，梯度下降法计算开销难以承受。</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CA0FE1-6E59-6B44-83BA-B41AF0493681}"/>
                  </a:ext>
                </a:extLst>
              </p:cNvPr>
              <p:cNvSpPr txBox="1"/>
              <p:nvPr/>
            </p:nvSpPr>
            <p:spPr>
              <a:xfrm>
                <a:off x="548640" y="2643451"/>
                <a:ext cx="11132848" cy="3914020"/>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基于梯度下降的多层感知机参数更新：</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r>
                            <a:rPr kumimoji="1" lang="en-US" altLang="zh-CN" sz="2400" i="1">
                              <a:latin typeface="Cambria Math" panose="02040503050406030204" pitchFamily="18" charset="0"/>
                              <a:ea typeface="Cambria Math" panose="02040503050406030204" pitchFamily="18" charset="0"/>
                            </a:rPr>
                            <m:t>+1</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𝜂</m:t>
                          </m:r>
                        </m:e>
                        <m:sub>
                          <m:r>
                            <a:rPr kumimoji="1" lang="en-US" altLang="zh-CN" sz="2400" i="1">
                              <a:latin typeface="Cambria Math" panose="02040503050406030204" pitchFamily="18" charset="0"/>
                              <a:ea typeface="Cambria Math" panose="02040503050406030204" pitchFamily="18" charset="0"/>
                            </a:rPr>
                            <m:t>𝑡</m:t>
                          </m:r>
                        </m:sub>
                      </m:sSub>
                      <m:r>
                        <m:rPr>
                          <m:sty m:val="p"/>
                        </m:rPr>
                        <a:rPr kumimoji="1" lang="en-US" altLang="zh-CN" sz="240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m:oMathPara>
                </a14:m>
                <a:endParaRPr lang="en-US" altLang="zh-CN" sz="24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p"/>
                </a:pPr>
                <a14:m>
                  <m:oMath xmlns:m="http://schemas.openxmlformats.org/officeDocument/2006/math">
                    <m:sSub>
                      <m:sSubPr>
                        <m:ctrlPr>
                          <a:rPr lang="en-US" altLang="zh-CN" sz="2400" i="1" smtClean="0">
                            <a:latin typeface="Cambria Math" panose="02040503050406030204" pitchFamily="18" charset="0"/>
                            <a:cs typeface="Arial" panose="020B0604020202020204" pitchFamily="34" charset="0"/>
                          </a:rPr>
                        </m:ctrlPr>
                      </m:sSubPr>
                      <m:e>
                        <m:r>
                          <a:rPr lang="en-US" altLang="zh-CN" sz="2400" i="1">
                            <a:latin typeface="Cambria Math" panose="02040503050406030204" pitchFamily="18" charset="0"/>
                            <a:cs typeface="Arial" panose="020B0604020202020204" pitchFamily="34" charset="0"/>
                          </a:rPr>
                          <m:t>𝜂</m:t>
                        </m:r>
                      </m:e>
                      <m:sub>
                        <m:r>
                          <a:rPr lang="en-US" altLang="zh-CN" sz="2400" i="1">
                            <a:latin typeface="Cambria Math" panose="02040503050406030204" pitchFamily="18" charset="0"/>
                            <a:cs typeface="Arial" panose="020B0604020202020204" pitchFamily="34" charset="0"/>
                          </a:rPr>
                          <m:t>𝑡</m:t>
                        </m:r>
                      </m:sub>
                    </m:sSub>
                  </m:oMath>
                </a14:m>
                <a:r>
                  <a:rPr lang="zh-CN" altLang="en-US" sz="2400" dirty="0"/>
                  <a:t>表示步长或学习率</a:t>
                </a:r>
                <a:endParaRPr lang="en-US" altLang="zh-CN" sz="2400" dirty="0"/>
              </a:p>
              <a:p>
                <a:pPr marL="342900" indent="-342900">
                  <a:lnSpc>
                    <a:spcPct val="150000"/>
                  </a:lnSpc>
                  <a:buFont typeface="Wingdings" pitchFamily="2" charset="2"/>
                  <a:buChar char="n"/>
                </a:pPr>
                <a:r>
                  <a:rPr lang="zh-CN" altLang="en-US" sz="2400" dirty="0"/>
                  <a:t>问题</a:t>
                </a:r>
                <a:r>
                  <a:rPr lang="en-US" altLang="zh-CN" sz="2400" dirty="0"/>
                  <a:t>2</a:t>
                </a:r>
                <a:r>
                  <a:rPr lang="zh-CN" altLang="en-US" sz="2400" dirty="0"/>
                  <a:t>：</a:t>
                </a:r>
                <a14:m>
                  <m:oMath xmlns:m="http://schemas.openxmlformats.org/officeDocument/2006/math">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𝜃</m:t>
                        </m:r>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a14:m>
                <a:r>
                  <a:rPr lang="zh-CN" altLang="en-US" sz="2400" dirty="0"/>
                  <a:t>为非凸函数</a:t>
                </a:r>
                <a:endParaRPr lang="en-US" altLang="zh-CN" sz="2400" dirty="0"/>
              </a:p>
              <a:p>
                <a:pPr marL="800100" lvl="1" indent="-342900">
                  <a:lnSpc>
                    <a:spcPct val="150000"/>
                  </a:lnSpc>
                  <a:buFont typeface="Wingdings" pitchFamily="2" charset="2"/>
                  <a:buChar char="p"/>
                </a:pPr>
                <a:r>
                  <a:rPr lang="zh-CN" altLang="en-US" sz="2400" dirty="0"/>
                  <a:t>梯度下降的非凸优化理论</a:t>
                </a:r>
                <a:endParaRPr lang="en-US" altLang="zh-CN" sz="2400" dirty="0"/>
              </a:p>
              <a:p>
                <a:pPr lvl="1">
                  <a:lnSpc>
                    <a:spcPct val="150000"/>
                  </a:lnSpc>
                </a:pPr>
                <a:endParaRPr lang="en-US" altLang="zh-CN" sz="2400" dirty="0"/>
              </a:p>
              <a:p>
                <a:pPr lvl="1">
                  <a:lnSpc>
                    <a:spcPct val="150000"/>
                  </a:lnSpc>
                </a:pPr>
                <a:r>
                  <a:rPr lang="en-US" altLang="zh-CN" sz="2400" dirty="0"/>
                  <a:t>     </a:t>
                </a:r>
                <a:r>
                  <a:rPr lang="zh-CN" altLang="en-US" sz="2400" dirty="0"/>
                  <a:t>假设函数平滑</a:t>
                </a:r>
                <a:endParaRPr lang="en-US" altLang="zh-CN" sz="2400" dirty="0"/>
              </a:p>
            </p:txBody>
          </p:sp>
        </mc:Choice>
        <mc:Fallback xmlns="">
          <p:sp>
            <p:nvSpPr>
              <p:cNvPr id="11" name="文本框 10">
                <a:extLst>
                  <a:ext uri="{FF2B5EF4-FFF2-40B4-BE49-F238E27FC236}">
                    <a16:creationId xmlns:a16="http://schemas.microsoft.com/office/drawing/2014/main" id="{9BCA0FE1-6E59-6B44-83BA-B41AF0493681}"/>
                  </a:ext>
                </a:extLst>
              </p:cNvPr>
              <p:cNvSpPr txBox="1">
                <a:spLocks noRot="1" noChangeAspect="1" noMove="1" noResize="1" noEditPoints="1" noAdjustHandles="1" noChangeArrowheads="1" noChangeShapeType="1" noTextEdit="1"/>
              </p:cNvSpPr>
              <p:nvPr/>
            </p:nvSpPr>
            <p:spPr>
              <a:xfrm>
                <a:off x="548640" y="2643451"/>
                <a:ext cx="11132848" cy="3914020"/>
              </a:xfrm>
              <a:prstGeom prst="rect">
                <a:avLst/>
              </a:prstGeom>
              <a:blipFill>
                <a:blip r:embed="rId3"/>
                <a:stretch>
                  <a:fillRect l="-712" b="-2804"/>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D12A5506-480E-074E-903B-9469ECFF8279}"/>
              </a:ext>
            </a:extLst>
          </p:cNvPr>
          <p:cNvGrpSpPr/>
          <p:nvPr/>
        </p:nvGrpSpPr>
        <p:grpSpPr>
          <a:xfrm>
            <a:off x="6400477" y="4600461"/>
            <a:ext cx="3764870" cy="1815812"/>
            <a:chOff x="1881988" y="2535305"/>
            <a:chExt cx="8428024" cy="4362809"/>
          </a:xfrm>
        </p:grpSpPr>
        <p:sp>
          <p:nvSpPr>
            <p:cNvPr id="13" name="手繪多邊形 5">
              <a:extLst>
                <a:ext uri="{FF2B5EF4-FFF2-40B4-BE49-F238E27FC236}">
                  <a16:creationId xmlns:a16="http://schemas.microsoft.com/office/drawing/2014/main" id="{0C0ED8E3-FEC6-6343-A33C-56ABB2D0192D}"/>
                </a:ext>
              </a:extLst>
            </p:cNvPr>
            <p:cNvSpPr/>
            <p:nvPr/>
          </p:nvSpPr>
          <p:spPr>
            <a:xfrm>
              <a:off x="2071621" y="2643451"/>
              <a:ext cx="7914542"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1" fmla="*/ 0 w 7754816"/>
                <a:gd name="connsiteY0-2" fmla="*/ 0 h 4208267"/>
                <a:gd name="connsiteX1-3" fmla="*/ 1019908 w 7754816"/>
                <a:gd name="connsiteY1-4" fmla="*/ 2356339 h 4208267"/>
                <a:gd name="connsiteX2-5" fmla="*/ 3499339 w 7754816"/>
                <a:gd name="connsiteY2-6" fmla="*/ 2760785 h 4208267"/>
                <a:gd name="connsiteX3-7" fmla="*/ 5732254 w 7754816"/>
                <a:gd name="connsiteY3-8" fmla="*/ 3511062 h 4208267"/>
                <a:gd name="connsiteX4-9" fmla="*/ 5820508 w 7754816"/>
                <a:gd name="connsiteY4-10" fmla="*/ 2602523 h 4208267"/>
                <a:gd name="connsiteX5-11" fmla="*/ 6664570 w 7754816"/>
                <a:gd name="connsiteY5-12" fmla="*/ 2391508 h 4208267"/>
                <a:gd name="connsiteX6-13" fmla="*/ 7561385 w 7754816"/>
                <a:gd name="connsiteY6-14" fmla="*/ 3991708 h 4208267"/>
                <a:gd name="connsiteX7-15" fmla="*/ 7754816 w 7754816"/>
                <a:gd name="connsiteY7-16" fmla="*/ 4149970 h 4208267"/>
                <a:gd name="connsiteX0-17" fmla="*/ 0 w 7754816"/>
                <a:gd name="connsiteY0-18" fmla="*/ 0 h 4208267"/>
                <a:gd name="connsiteX1-19" fmla="*/ 1019908 w 7754816"/>
                <a:gd name="connsiteY1-20" fmla="*/ 2356339 h 4208267"/>
                <a:gd name="connsiteX2-21" fmla="*/ 3499339 w 7754816"/>
                <a:gd name="connsiteY2-22" fmla="*/ 2760785 h 4208267"/>
                <a:gd name="connsiteX3-23" fmla="*/ 5732254 w 7754816"/>
                <a:gd name="connsiteY3-24" fmla="*/ 3511062 h 4208267"/>
                <a:gd name="connsiteX4-25" fmla="*/ 6289268 w 7754816"/>
                <a:gd name="connsiteY4-26" fmla="*/ 2754923 h 4208267"/>
                <a:gd name="connsiteX5-27" fmla="*/ 6664570 w 7754816"/>
                <a:gd name="connsiteY5-28" fmla="*/ 2391508 h 4208267"/>
                <a:gd name="connsiteX6-29" fmla="*/ 7561385 w 7754816"/>
                <a:gd name="connsiteY6-30" fmla="*/ 3991708 h 4208267"/>
                <a:gd name="connsiteX7-31" fmla="*/ 7754816 w 7754816"/>
                <a:gd name="connsiteY7-32" fmla="*/ 4149970 h 4208267"/>
                <a:gd name="connsiteX0-33" fmla="*/ 0 w 7754816"/>
                <a:gd name="connsiteY0-34" fmla="*/ 0 h 4208267"/>
                <a:gd name="connsiteX1-35" fmla="*/ 1019908 w 7754816"/>
                <a:gd name="connsiteY1-36" fmla="*/ 2356339 h 4208267"/>
                <a:gd name="connsiteX2-37" fmla="*/ 3941312 w 7754816"/>
                <a:gd name="connsiteY2-38" fmla="*/ 2760785 h 4208267"/>
                <a:gd name="connsiteX3-39" fmla="*/ 5732254 w 7754816"/>
                <a:gd name="connsiteY3-40" fmla="*/ 3511062 h 4208267"/>
                <a:gd name="connsiteX4-41" fmla="*/ 6289268 w 7754816"/>
                <a:gd name="connsiteY4-42" fmla="*/ 2754923 h 4208267"/>
                <a:gd name="connsiteX5-43" fmla="*/ 6664570 w 7754816"/>
                <a:gd name="connsiteY5-44" fmla="*/ 2391508 h 4208267"/>
                <a:gd name="connsiteX6-45" fmla="*/ 7561385 w 7754816"/>
                <a:gd name="connsiteY6-46" fmla="*/ 3991708 h 4208267"/>
                <a:gd name="connsiteX7-47" fmla="*/ 7754816 w 7754816"/>
                <a:gd name="connsiteY7-48" fmla="*/ 4149970 h 4208267"/>
                <a:gd name="connsiteX0-49" fmla="*/ 0 w 7754816"/>
                <a:gd name="connsiteY0-50" fmla="*/ 0 h 4208267"/>
                <a:gd name="connsiteX1-51" fmla="*/ 1019908 w 7754816"/>
                <a:gd name="connsiteY1-52" fmla="*/ 2356339 h 4208267"/>
                <a:gd name="connsiteX2-53" fmla="*/ 3941312 w 7754816"/>
                <a:gd name="connsiteY2-54" fmla="*/ 2760785 h 4208267"/>
                <a:gd name="connsiteX3-55" fmla="*/ 5732254 w 7754816"/>
                <a:gd name="connsiteY3-56" fmla="*/ 3511062 h 4208267"/>
                <a:gd name="connsiteX4-57" fmla="*/ 6289268 w 7754816"/>
                <a:gd name="connsiteY4-58" fmla="*/ 2754923 h 4208267"/>
                <a:gd name="connsiteX5-59" fmla="*/ 6664570 w 7754816"/>
                <a:gd name="connsiteY5-60" fmla="*/ 2391508 h 4208267"/>
                <a:gd name="connsiteX6-61" fmla="*/ 7561385 w 7754816"/>
                <a:gd name="connsiteY6-62" fmla="*/ 3991708 h 4208267"/>
                <a:gd name="connsiteX7-63" fmla="*/ 7754816 w 7754816"/>
                <a:gd name="connsiteY7-64" fmla="*/ 4149970 h 4208267"/>
                <a:gd name="connsiteX0-65" fmla="*/ 0 w 7754816"/>
                <a:gd name="connsiteY0-66" fmla="*/ 0 h 4208267"/>
                <a:gd name="connsiteX1-67" fmla="*/ 1314558 w 7754816"/>
                <a:gd name="connsiteY1-68" fmla="*/ 2225710 h 4208267"/>
                <a:gd name="connsiteX2-69" fmla="*/ 3941312 w 7754816"/>
                <a:gd name="connsiteY2-70" fmla="*/ 2760785 h 4208267"/>
                <a:gd name="connsiteX3-71" fmla="*/ 5732254 w 7754816"/>
                <a:gd name="connsiteY3-72" fmla="*/ 3511062 h 4208267"/>
                <a:gd name="connsiteX4-73" fmla="*/ 6289268 w 7754816"/>
                <a:gd name="connsiteY4-74" fmla="*/ 2754923 h 4208267"/>
                <a:gd name="connsiteX5-75" fmla="*/ 6664570 w 7754816"/>
                <a:gd name="connsiteY5-76" fmla="*/ 2391508 h 4208267"/>
                <a:gd name="connsiteX6-77" fmla="*/ 7561385 w 7754816"/>
                <a:gd name="connsiteY6-78" fmla="*/ 3991708 h 4208267"/>
                <a:gd name="connsiteX7-79" fmla="*/ 7754816 w 7754816"/>
                <a:gd name="connsiteY7-80" fmla="*/ 4149970 h 4208267"/>
                <a:gd name="connsiteX0-81" fmla="*/ 0 w 7754816"/>
                <a:gd name="connsiteY0-82" fmla="*/ 0 h 4208267"/>
                <a:gd name="connsiteX1-83" fmla="*/ 1314558 w 7754816"/>
                <a:gd name="connsiteY1-84" fmla="*/ 2225710 h 4208267"/>
                <a:gd name="connsiteX2-85" fmla="*/ 3767202 w 7754816"/>
                <a:gd name="connsiteY2-86" fmla="*/ 2717243 h 4208267"/>
                <a:gd name="connsiteX3-87" fmla="*/ 5732254 w 7754816"/>
                <a:gd name="connsiteY3-88" fmla="*/ 3511062 h 4208267"/>
                <a:gd name="connsiteX4-89" fmla="*/ 6289268 w 7754816"/>
                <a:gd name="connsiteY4-90" fmla="*/ 2754923 h 4208267"/>
                <a:gd name="connsiteX5-91" fmla="*/ 6664570 w 7754816"/>
                <a:gd name="connsiteY5-92" fmla="*/ 2391508 h 4208267"/>
                <a:gd name="connsiteX6-93" fmla="*/ 7561385 w 7754816"/>
                <a:gd name="connsiteY6-94" fmla="*/ 3991708 h 4208267"/>
                <a:gd name="connsiteX7-95" fmla="*/ 7754816 w 7754816"/>
                <a:gd name="connsiteY7-96" fmla="*/ 4149970 h 4208267"/>
                <a:gd name="connsiteX0-97" fmla="*/ 0 w 7754816"/>
                <a:gd name="connsiteY0-98" fmla="*/ 0 h 4208267"/>
                <a:gd name="connsiteX1-99" fmla="*/ 1314558 w 7754816"/>
                <a:gd name="connsiteY1-100" fmla="*/ 2225710 h 4208267"/>
                <a:gd name="connsiteX2-101" fmla="*/ 3767202 w 7754816"/>
                <a:gd name="connsiteY2-102" fmla="*/ 2717243 h 4208267"/>
                <a:gd name="connsiteX3-103" fmla="*/ 5732254 w 7754816"/>
                <a:gd name="connsiteY3-104" fmla="*/ 3511062 h 4208267"/>
                <a:gd name="connsiteX4-105" fmla="*/ 6289268 w 7754816"/>
                <a:gd name="connsiteY4-106" fmla="*/ 2754923 h 4208267"/>
                <a:gd name="connsiteX5-107" fmla="*/ 6664570 w 7754816"/>
                <a:gd name="connsiteY5-108" fmla="*/ 2391508 h 4208267"/>
                <a:gd name="connsiteX6-109" fmla="*/ 7561385 w 7754816"/>
                <a:gd name="connsiteY6-110" fmla="*/ 3991708 h 4208267"/>
                <a:gd name="connsiteX7-111" fmla="*/ 7754816 w 7754816"/>
                <a:gd name="connsiteY7-112" fmla="*/ 4149970 h 4208267"/>
                <a:gd name="connsiteX0-113" fmla="*/ 0 w 7754816"/>
                <a:gd name="connsiteY0-114" fmla="*/ 0 h 4208267"/>
                <a:gd name="connsiteX1-115" fmla="*/ 1314558 w 7754816"/>
                <a:gd name="connsiteY1-116" fmla="*/ 2225710 h 4208267"/>
                <a:gd name="connsiteX2-117" fmla="*/ 3823199 w 7754816"/>
                <a:gd name="connsiteY2-118" fmla="*/ 2698193 h 4208267"/>
                <a:gd name="connsiteX3-119" fmla="*/ 5732254 w 7754816"/>
                <a:gd name="connsiteY3-120" fmla="*/ 3511062 h 4208267"/>
                <a:gd name="connsiteX4-121" fmla="*/ 6289268 w 7754816"/>
                <a:gd name="connsiteY4-122" fmla="*/ 2754923 h 4208267"/>
                <a:gd name="connsiteX5-123" fmla="*/ 6664570 w 7754816"/>
                <a:gd name="connsiteY5-124" fmla="*/ 2391508 h 4208267"/>
                <a:gd name="connsiteX6-125" fmla="*/ 7561385 w 7754816"/>
                <a:gd name="connsiteY6-126" fmla="*/ 3991708 h 4208267"/>
                <a:gd name="connsiteX7-127" fmla="*/ 7754816 w 7754816"/>
                <a:gd name="connsiteY7-128" fmla="*/ 4149970 h 42082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charset="0"/>
                <a:cs typeface="Times New Roman" panose="02020603050405020304" charset="0"/>
              </a:endParaRPr>
            </a:p>
          </p:txBody>
        </p:sp>
        <p:cxnSp>
          <p:nvCxnSpPr>
            <p:cNvPr id="14" name="直線單箭頭接點 4">
              <a:extLst>
                <a:ext uri="{FF2B5EF4-FFF2-40B4-BE49-F238E27FC236}">
                  <a16:creationId xmlns:a16="http://schemas.microsoft.com/office/drawing/2014/main" id="{C2A52530-A979-1642-B7B5-309ED4BB95A1}"/>
                </a:ext>
              </a:extLst>
            </p:cNvPr>
            <p:cNvCxnSpPr>
              <a:cxnSpLocks/>
            </p:cNvCxnSpPr>
            <p:nvPr/>
          </p:nvCxnSpPr>
          <p:spPr>
            <a:xfrm>
              <a:off x="1881988" y="6688947"/>
              <a:ext cx="842802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3">
              <a:extLst>
                <a:ext uri="{FF2B5EF4-FFF2-40B4-BE49-F238E27FC236}">
                  <a16:creationId xmlns:a16="http://schemas.microsoft.com/office/drawing/2014/main" id="{73D95D18-076D-864B-A3F7-E4015B6761BE}"/>
                </a:ext>
              </a:extLst>
            </p:cNvPr>
            <p:cNvCxnSpPr>
              <a:cxnSpLocks/>
            </p:cNvCxnSpPr>
            <p:nvPr/>
          </p:nvCxnSpPr>
          <p:spPr>
            <a:xfrm flipV="1">
              <a:off x="2300220" y="2535305"/>
              <a:ext cx="0" cy="43628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54512B0-B3A2-2F47-8060-49A97BB9955D}"/>
                  </a:ext>
                </a:extLst>
              </p:cNvPr>
              <p:cNvSpPr txBox="1"/>
              <p:nvPr/>
            </p:nvSpPr>
            <p:spPr>
              <a:xfrm>
                <a:off x="1532738" y="5494763"/>
                <a:ext cx="3956507" cy="532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latin typeface="Cambria Math" panose="02040503050406030204" pitchFamily="18" charset="0"/>
                            </a:rPr>
                          </m:ctrlPr>
                        </m:dPr>
                        <m:e>
                          <m:r>
                            <m:rPr>
                              <m:sty m:val="p"/>
                            </m:rPr>
                            <a:rPr lang="en-US" altLang="zh-CN" sz="2400">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𝑓</m:t>
                          </m:r>
                          <m:d>
                            <m:dPr>
                              <m:ctrlPr>
                                <a:rPr lang="en-US" altLang="zh-CN" sz="2400" i="1">
                                  <a:latin typeface="Cambria Math" panose="02040503050406030204" pitchFamily="18" charset="0"/>
                                  <a:cs typeface="Arial" panose="020B0604020202020204" pitchFamily="34" charset="0"/>
                                </a:rPr>
                              </m:ctrlPr>
                            </m:dPr>
                            <m:e>
                              <m:sSub>
                                <m:sSubPr>
                                  <m:ctrlPr>
                                    <a:rPr lang="en-US" altLang="zh-CN" sz="2400" i="1">
                                      <a:latin typeface="Cambria Math" panose="02040503050406030204" pitchFamily="18" charset="0"/>
                                    </a:rPr>
                                  </m:ctrlPr>
                                </m:sSubPr>
                                <m:e>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𝑇</m:t>
                                  </m:r>
                                </m:sub>
                              </m:sSub>
                            </m:e>
                          </m:d>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f>
                            <m:fPr>
                              <m:type m:val="lin"/>
                              <m:ctrlPr>
                                <a:rPr lang="en-US" altLang="zh-CN" sz="2400" i="1">
                                  <a:latin typeface="Cambria Math" panose="02040503050406030204" pitchFamily="18" charset="0"/>
                                  <a:cs typeface="Arial" panose="020B0604020202020204" pitchFamily="34" charset="0"/>
                                </a:rPr>
                              </m:ctrlPr>
                            </m:fPr>
                            <m:num>
                              <m:r>
                                <a:rPr lang="en-US" altLang="zh-CN" sz="2400" i="1">
                                  <a:latin typeface="Cambria Math" panose="02040503050406030204" pitchFamily="18" charset="0"/>
                                  <a:cs typeface="Arial" panose="020B0604020202020204" pitchFamily="34" charset="0"/>
                                </a:rPr>
                                <m:t>1</m:t>
                              </m:r>
                            </m:num>
                            <m:den>
                              <m:rad>
                                <m:radPr>
                                  <m:degHide m:val="on"/>
                                  <m:ctrlPr>
                                    <a:rPr lang="en-US" altLang="zh-CN" sz="2400" i="1">
                                      <a:latin typeface="Cambria Math" panose="02040503050406030204" pitchFamily="18" charset="0"/>
                                      <a:cs typeface="Arial" panose="020B0604020202020204" pitchFamily="34" charset="0"/>
                                    </a:rPr>
                                  </m:ctrlPr>
                                </m:radPr>
                                <m:deg/>
                                <m:e>
                                  <m:r>
                                    <a:rPr lang="en-US" altLang="zh-CN" sz="2400" i="1">
                                      <a:latin typeface="Cambria Math" panose="02040503050406030204" pitchFamily="18" charset="0"/>
                                      <a:cs typeface="Arial" panose="020B0604020202020204" pitchFamily="34" charset="0"/>
                                    </a:rPr>
                                    <m:t>𝑇</m:t>
                                  </m:r>
                                </m:e>
                              </m:rad>
                            </m:den>
                          </m:f>
                        </m:e>
                      </m:d>
                    </m:oMath>
                  </m:oMathPara>
                </a14:m>
                <a:endParaRPr lang="zh-CN" altLang="en-US" sz="2400" dirty="0"/>
              </a:p>
            </p:txBody>
          </p:sp>
        </mc:Choice>
        <mc:Fallback xmlns="">
          <p:sp>
            <p:nvSpPr>
              <p:cNvPr id="21" name="文本框 20">
                <a:extLst>
                  <a:ext uri="{FF2B5EF4-FFF2-40B4-BE49-F238E27FC236}">
                    <a16:creationId xmlns:a16="http://schemas.microsoft.com/office/drawing/2014/main" id="{D54512B0-B3A2-2F47-8060-49A97BB9955D}"/>
                  </a:ext>
                </a:extLst>
              </p:cNvPr>
              <p:cNvSpPr txBox="1">
                <a:spLocks noRot="1" noChangeAspect="1" noMove="1" noResize="1" noEditPoints="1" noAdjustHandles="1" noChangeArrowheads="1" noChangeShapeType="1" noTextEdit="1"/>
              </p:cNvSpPr>
              <p:nvPr/>
            </p:nvSpPr>
            <p:spPr>
              <a:xfrm>
                <a:off x="1532738" y="5494763"/>
                <a:ext cx="3956507" cy="532390"/>
              </a:xfrm>
              <a:prstGeom prst="rect">
                <a:avLst/>
              </a:prstGeom>
              <a:blipFill>
                <a:blip r:embed="rId4"/>
                <a:stretch>
                  <a:fillRect t="-97674" b="-162791"/>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4CDC2F83-890F-0041-AC5D-E935C939F87F}"/>
              </a:ext>
            </a:extLst>
          </p:cNvPr>
          <p:cNvSpPr txBox="1"/>
          <p:nvPr/>
        </p:nvSpPr>
        <p:spPr>
          <a:xfrm>
            <a:off x="8486571" y="4839831"/>
            <a:ext cx="1444626" cy="461665"/>
          </a:xfrm>
          <a:prstGeom prst="rect">
            <a:avLst/>
          </a:prstGeom>
          <a:noFill/>
        </p:spPr>
        <p:txBody>
          <a:bodyPr wrap="none" rtlCol="0">
            <a:spAutoFit/>
          </a:bodyPr>
          <a:lstStyle/>
          <a:p>
            <a:r>
              <a:rPr kumimoji="1" lang="zh-CN" altLang="en-US" sz="2400" b="1" dirty="0">
                <a:solidFill>
                  <a:srgbClr val="C00000"/>
                </a:solidFill>
              </a:rPr>
              <a:t>局部最优</a:t>
            </a:r>
          </a:p>
        </p:txBody>
      </p:sp>
      <p:sp>
        <p:nvSpPr>
          <p:cNvPr id="24" name="Straight Arrow Connector 35">
            <a:extLst>
              <a:ext uri="{FF2B5EF4-FFF2-40B4-BE49-F238E27FC236}">
                <a16:creationId xmlns:a16="http://schemas.microsoft.com/office/drawing/2014/main" id="{63653DBF-0159-4641-BD43-75908502677E}"/>
              </a:ext>
            </a:extLst>
          </p:cNvPr>
          <p:cNvSpPr/>
          <p:nvPr/>
        </p:nvSpPr>
        <p:spPr>
          <a:xfrm flipV="1">
            <a:off x="9153851" y="5306532"/>
            <a:ext cx="110066" cy="777303"/>
          </a:xfrm>
          <a:prstGeom prst="line">
            <a:avLst/>
          </a:prstGeom>
          <a:ln w="25400">
            <a:solidFill>
              <a:srgbClr val="C00000"/>
            </a:solidFill>
            <a:tailEnd type="triangle"/>
          </a:ln>
        </p:spPr>
        <p:txBody>
          <a:bodyPr tIns="91439" bIns="91439"/>
          <a:lstStyle/>
          <a:p>
            <a:pPr algn="l" defTabSz="1828800">
              <a:defRPr sz="4800" b="0">
                <a:latin typeface="Calibri"/>
                <a:ea typeface="Calibri"/>
                <a:cs typeface="Calibri"/>
                <a:sym typeface="Calibri"/>
              </a:defRPr>
            </a:pPr>
            <a:endParaRPr/>
          </a:p>
        </p:txBody>
      </p:sp>
    </p:spTree>
    <p:extLst>
      <p:ext uri="{BB962C8B-B14F-4D97-AF65-F5344CB8AC3E}">
        <p14:creationId xmlns:p14="http://schemas.microsoft.com/office/powerpoint/2010/main" val="404954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92</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然而，对于多层感知机以及其它深度学习模型的训练，则几乎不再使用梯度下降法。主要有两个原因：一是这类模型的损失函数不再具备凸性；二是深度学习模型通常对应大规模数据，梯度下降法计算开销难以承受。</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CA0FE1-6E59-6B44-83BA-B41AF0493681}"/>
                  </a:ext>
                </a:extLst>
              </p:cNvPr>
              <p:cNvSpPr txBox="1"/>
              <p:nvPr/>
            </p:nvSpPr>
            <p:spPr>
              <a:xfrm>
                <a:off x="548640" y="2643451"/>
                <a:ext cx="11132848" cy="3842270"/>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基于</a:t>
                </a:r>
                <a:r>
                  <a:rPr lang="zh-CN" altLang="en-US" sz="2400" dirty="0">
                    <a:solidFill>
                      <a:srgbClr val="C00000"/>
                    </a:solidFill>
                    <a:ea typeface="Cambria Math" panose="02040503050406030204" pitchFamily="18" charset="0"/>
                  </a:rPr>
                  <a:t>随机梯度下降</a:t>
                </a:r>
                <a:r>
                  <a:rPr lang="zh-CN" altLang="en-US" sz="2400" dirty="0">
                    <a:ea typeface="Cambria Math" panose="02040503050406030204" pitchFamily="18" charset="0"/>
                  </a:rPr>
                  <a:t>的多层感知机参数更新：</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r>
                            <a:rPr kumimoji="1" lang="en-US" altLang="zh-CN" sz="2400" i="1">
                              <a:latin typeface="Cambria Math" panose="02040503050406030204" pitchFamily="18" charset="0"/>
                              <a:ea typeface="Cambria Math" panose="02040503050406030204" pitchFamily="18" charset="0"/>
                            </a:rPr>
                            <m:t>+1</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𝜂</m:t>
                          </m:r>
                        </m:e>
                        <m:sub>
                          <m:r>
                            <a:rPr kumimoji="1" lang="en-US" altLang="zh-CN" sz="2400" i="1">
                              <a:latin typeface="Cambria Math" panose="02040503050406030204" pitchFamily="18" charset="0"/>
                              <a:ea typeface="Cambria Math" panose="02040503050406030204" pitchFamily="18" charset="0"/>
                            </a:rPr>
                            <m:t>𝑡</m:t>
                          </m:r>
                        </m:sub>
                      </m:sSub>
                      <m:acc>
                        <m:accPr>
                          <m:chr m:val="̃"/>
                          <m:ctrlPr>
                            <a:rPr kumimoji="1" lang="en-US" altLang="zh-CN" sz="2400" i="1">
                              <a:latin typeface="Cambria Math" panose="02040503050406030204" pitchFamily="18" charset="0"/>
                              <a:ea typeface="Cambria Math" panose="02040503050406030204" pitchFamily="18" charset="0"/>
                            </a:rPr>
                          </m:ctrlPr>
                        </m:accPr>
                        <m:e>
                          <m:r>
                            <m:rPr>
                              <m:sty m:val="p"/>
                            </m:rPr>
                            <a:rPr kumimoji="1" lang="en-US" altLang="zh-CN" sz="2400">
                              <a:latin typeface="Cambria Math" panose="02040503050406030204" pitchFamily="18" charset="0"/>
                              <a:ea typeface="Cambria Math" panose="02040503050406030204" pitchFamily="18" charset="0"/>
                            </a:rPr>
                            <m:t>∇</m:t>
                          </m:r>
                        </m:e>
                      </m:acc>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m:oMathPara>
                </a14:m>
                <a:endParaRPr lang="en-US" altLang="zh-CN" sz="2400" dirty="0">
                  <a:latin typeface="Arial" panose="020B0604020202020204" pitchFamily="34" charset="0"/>
                  <a:cs typeface="Arial" panose="020B0604020202020204" pitchFamily="34" charset="0"/>
                </a:endParaRPr>
              </a:p>
              <a:p>
                <a:pPr marL="800100" lvl="1" indent="-342900">
                  <a:buFont typeface="Wingdings" pitchFamily="2" charset="2"/>
                  <a:buChar char="p"/>
                </a:pPr>
                <a14:m>
                  <m:oMath xmlns:m="http://schemas.openxmlformats.org/officeDocument/2006/math">
                    <m:acc>
                      <m:accPr>
                        <m:chr m:val="̃"/>
                        <m:ctrlPr>
                          <a:rPr kumimoji="1" lang="en-US" altLang="zh-CN" sz="2400" i="1">
                            <a:latin typeface="Cambria Math" panose="02040503050406030204" pitchFamily="18" charset="0"/>
                            <a:ea typeface="Cambria Math" panose="02040503050406030204" pitchFamily="18" charset="0"/>
                          </a:rPr>
                        </m:ctrlPr>
                      </m:accPr>
                      <m:e>
                        <m:r>
                          <m:rPr>
                            <m:sty m:val="p"/>
                          </m:rPr>
                          <a:rPr kumimoji="1" lang="en-US" altLang="zh-CN" sz="2400">
                            <a:latin typeface="Cambria Math" panose="02040503050406030204" pitchFamily="18" charset="0"/>
                            <a:ea typeface="Cambria Math" panose="02040503050406030204" pitchFamily="18" charset="0"/>
                          </a:rPr>
                          <m:t>∇</m:t>
                        </m:r>
                      </m:e>
                    </m:acc>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a14:m>
                <a:r>
                  <a:rPr lang="zh-CN" altLang="en-US" sz="2400" dirty="0"/>
                  <a:t>为梯度</a:t>
                </a:r>
                <a14:m>
                  <m:oMath xmlns:m="http://schemas.openxmlformats.org/officeDocument/2006/math">
                    <m:r>
                      <m:rPr>
                        <m:sty m:val="p"/>
                      </m:rPr>
                      <a:rPr kumimoji="1" lang="en-US" altLang="zh-CN" sz="2400" b="0" i="0"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a14:m>
                <a:r>
                  <a:rPr lang="zh-CN" altLang="en-US" sz="2400" dirty="0"/>
                  <a:t>的无偏估计，例如均匀采样数据集</a:t>
                </a:r>
                <a14:m>
                  <m:oMath xmlns:m="http://schemas.openxmlformats.org/officeDocument/2006/math">
                    <m:r>
                      <a:rPr lang="en-US" altLang="zh-CN" sz="2400" b="0" i="1" dirty="0" smtClean="0">
                        <a:latin typeface="Cambria Math" panose="02040503050406030204" pitchFamily="18" charset="0"/>
                      </a:rPr>
                      <m:t>𝐷</m:t>
                    </m:r>
                  </m:oMath>
                </a14:m>
                <a:r>
                  <a:rPr lang="zh-CN" altLang="en-US" sz="2400" dirty="0"/>
                  <a:t>的一个大小为</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oMath>
                </a14:m>
                <a:r>
                  <a:rPr lang="zh-CN" altLang="en-US" sz="2400" dirty="0"/>
                  <a:t>的子集</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𝐷</m:t>
                        </m:r>
                      </m:e>
                      <m: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𝑠</m:t>
                            </m:r>
                          </m:sub>
                        </m:sSub>
                      </m:sub>
                    </m:sSub>
                  </m:oMath>
                </a14:m>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endParaRPr lang="en-US" altLang="zh-CN" sz="2400" dirty="0"/>
              </a:p>
              <a:p>
                <a:pPr marL="800100" lvl="1" indent="-342900">
                  <a:buFont typeface="Wingdings" pitchFamily="2" charset="2"/>
                  <a:buChar char="p"/>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𝑠</m:t>
                        </m:r>
                      </m:sub>
                    </m:sSub>
                  </m:oMath>
                </a14:m>
                <a:r>
                  <a:rPr lang="zh-CN" altLang="en-US" sz="2400" dirty="0"/>
                  <a:t>被称为批大小</a:t>
                </a:r>
                <a:r>
                  <a:rPr lang="en-US" altLang="zh-CN" sz="2400" dirty="0"/>
                  <a:t>(Batch Size)</a:t>
                </a:r>
                <a:r>
                  <a:rPr lang="zh-CN" altLang="en-US" sz="2400" dirty="0"/>
                  <a:t>，每次迭代的时间复杂度从</a:t>
                </a:r>
                <a14:m>
                  <m:oMath xmlns:m="http://schemas.openxmlformats.org/officeDocument/2006/math">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e>
                    </m:d>
                  </m:oMath>
                </a14:m>
                <a:r>
                  <a:rPr lang="zh-CN" altLang="en-US" sz="2400" dirty="0"/>
                  <a:t>降低至</a:t>
                </a:r>
                <a:endParaRPr lang="en-US" altLang="zh-CN" sz="2400" dirty="0"/>
              </a:p>
              <a:p>
                <a:pPr lvl="1"/>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𝑠</m:t>
                              </m:r>
                            </m:sub>
                          </m:sSub>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e>
                      </m:d>
                    </m:oMath>
                  </m:oMathPara>
                </a14:m>
                <a:endParaRPr lang="en-US" altLang="zh-CN" sz="2400" dirty="0"/>
              </a:p>
            </p:txBody>
          </p:sp>
        </mc:Choice>
        <mc:Fallback xmlns="">
          <p:sp>
            <p:nvSpPr>
              <p:cNvPr id="11" name="文本框 10">
                <a:extLst>
                  <a:ext uri="{FF2B5EF4-FFF2-40B4-BE49-F238E27FC236}">
                    <a16:creationId xmlns:a16="http://schemas.microsoft.com/office/drawing/2014/main" id="{9BCA0FE1-6E59-6B44-83BA-B41AF0493681}"/>
                  </a:ext>
                </a:extLst>
              </p:cNvPr>
              <p:cNvSpPr txBox="1">
                <a:spLocks noRot="1" noChangeAspect="1" noMove="1" noResize="1" noEditPoints="1" noAdjustHandles="1" noChangeArrowheads="1" noChangeShapeType="1" noTextEdit="1"/>
              </p:cNvSpPr>
              <p:nvPr/>
            </p:nvSpPr>
            <p:spPr>
              <a:xfrm>
                <a:off x="548640" y="2643451"/>
                <a:ext cx="11132848" cy="3842270"/>
              </a:xfrm>
              <a:prstGeom prst="rect">
                <a:avLst/>
              </a:prstGeom>
              <a:blipFill>
                <a:blip r:embed="rId3"/>
                <a:stretch>
                  <a:fillRect l="-7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CAA251D-CEB0-BC4A-9699-EB948155530F}"/>
                  </a:ext>
                </a:extLst>
              </p:cNvPr>
              <p:cNvSpPr txBox="1"/>
              <p:nvPr/>
            </p:nvSpPr>
            <p:spPr>
              <a:xfrm>
                <a:off x="1722619" y="4281205"/>
                <a:ext cx="8770495" cy="1377621"/>
              </a:xfrm>
              <a:prstGeom prst="rect">
                <a:avLst/>
              </a:prstGeom>
              <a:noFill/>
            </p:spPr>
            <p:txBody>
              <a:bodyPr wrap="square">
                <a:spAutoFit/>
              </a:bodyPr>
              <a:lstStyle/>
              <a:p>
                <a:pPr lvl="2">
                  <a:lnSpc>
                    <a:spcPct val="150000"/>
                  </a:lnSpc>
                </a:pPr>
                <a14:m>
                  <m:oMathPara xmlns:m="http://schemas.openxmlformats.org/officeDocument/2006/math">
                    <m:oMathParaPr>
                      <m:jc m:val="centerGroup"/>
                    </m:oMathParaPr>
                    <m:oMath xmlns:m="http://schemas.openxmlformats.org/officeDocument/2006/math">
                      <m:acc>
                        <m:accPr>
                          <m:chr m:val="̃"/>
                          <m:ctrlPr>
                            <a:rPr kumimoji="1" lang="en-US" altLang="zh-CN" sz="2400" i="1" smtClean="0">
                              <a:latin typeface="Cambria Math" panose="02040503050406030204" pitchFamily="18" charset="0"/>
                              <a:ea typeface="Cambria Math" panose="02040503050406030204" pitchFamily="18" charset="0"/>
                            </a:rPr>
                          </m:ctrlPr>
                        </m:accPr>
                        <m:e>
                          <m:r>
                            <m:rPr>
                              <m:sty m:val="p"/>
                            </m:rPr>
                            <a:rPr kumimoji="1" lang="en-US" altLang="zh-CN" sz="2400">
                              <a:latin typeface="Cambria Math" panose="02040503050406030204" pitchFamily="18" charset="0"/>
                              <a:ea typeface="Cambria Math" panose="02040503050406030204" pitchFamily="18" charset="0"/>
                            </a:rPr>
                            <m:t>∇</m:t>
                          </m:r>
                        </m:e>
                      </m:acc>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r>
                        <a:rPr lang="en-US" altLang="zh-CN" sz="2400" b="0" i="1" smtClean="0">
                          <a:latin typeface="Cambria Math" panose="02040503050406030204" pitchFamily="18" charset="0"/>
                          <a:cs typeface="Times New Roman" panose="02020603050405020304" pitchFamily="18" charset="0"/>
                        </a:rPr>
                        <m:t>=</m:t>
                      </m:r>
                      <m:f>
                        <m:fPr>
                          <m:ctrlPr>
                            <a:rPr lang="en-US" altLang="zh-CN" sz="2400" b="0" i="1" smtClean="0">
                              <a:latin typeface="Cambria Math" panose="02040503050406030204" pitchFamily="18" charset="0"/>
                              <a:cs typeface="Times New Roman" panose="02020603050405020304" pitchFamily="18" charset="0"/>
                            </a:rPr>
                          </m:ctrlPr>
                        </m:fPr>
                        <m:num>
                          <m:r>
                            <a:rPr lang="en-US" altLang="zh-CN" sz="2400" b="0" i="1" smtClean="0">
                              <a:latin typeface="Cambria Math" panose="02040503050406030204" pitchFamily="18" charset="0"/>
                              <a:cs typeface="Times New Roman" panose="02020603050405020304" pitchFamily="18" charset="0"/>
                            </a:rPr>
                            <m:t>1</m:t>
                          </m:r>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𝑠</m:t>
                              </m:r>
                            </m:sub>
                          </m:sSub>
                        </m:den>
                      </m:f>
                      <m:nary>
                        <m:naryPr>
                          <m:chr m:val="∑"/>
                          <m:limLoc m:val="subSup"/>
                          <m:supHide m:val="on"/>
                          <m:ctrlPr>
                            <a:rPr kumimoji="1" lang="en-US" altLang="zh-CN" sz="2400" i="1">
                              <a:latin typeface="Cambria Math" panose="02040503050406030204" pitchFamily="18" charset="0"/>
                            </a:rPr>
                          </m:ctrlPr>
                        </m:naryPr>
                        <m:sub>
                          <m:d>
                            <m:dPr>
                              <m:begChr m:val="（"/>
                              <m:endChr m:val="）"/>
                              <m:ctrlPr>
                                <a:rPr kumimoji="1" lang="zh-CN" altLang="en-US" sz="2400" b="0" i="1" smtClean="0">
                                  <a:latin typeface="Cambria Math" panose="02040503050406030204" pitchFamily="18" charset="0"/>
                                </a:rPr>
                              </m:ctrlPr>
                            </m:dPr>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rPr>
                                    <m:t>𝑖</m:t>
                                  </m:r>
                                </m:sub>
                              </m:sSub>
                            </m:e>
                          </m:d>
                          <m:r>
                            <a:rPr kumimoji="1"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𝐷</m:t>
                              </m:r>
                            </m:e>
                            <m: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𝑠</m:t>
                                  </m:r>
                                </m:sub>
                              </m:sSub>
                            </m:sub>
                          </m:sSub>
                        </m:sub>
                        <m:sup/>
                        <m:e>
                          <m:r>
                            <m:rPr>
                              <m:sty m:val="p"/>
                            </m:rPr>
                            <a:rPr kumimoji="1" lang="en-US" altLang="zh-CN" sz="240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rPr>
                            <m:t>ℓ</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𝜃</m:t>
                              </m:r>
                              <m:r>
                                <a:rPr kumimoji="1" lang="en-US" altLang="zh-CN" sz="2400" i="1">
                                  <a:latin typeface="Cambria Math" panose="02040503050406030204" pitchFamily="18" charset="0"/>
                                </a:rPr>
                                <m:t>,</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e>
                          </m:d>
                        </m:e>
                      </m:nary>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𝔼</m:t>
                      </m:r>
                      <m:d>
                        <m:dPr>
                          <m:begChr m:val="["/>
                          <m:endChr m:val="]"/>
                          <m:ctrlPr>
                            <a:rPr kumimoji="1" lang="en-US" altLang="zh-CN" sz="2400" b="0" i="1" smtClean="0">
                              <a:latin typeface="Cambria Math" panose="02040503050406030204" pitchFamily="18" charset="0"/>
                              <a:ea typeface="Cambria Math" panose="02040503050406030204" pitchFamily="18" charset="0"/>
                            </a:rPr>
                          </m:ctrlPr>
                        </m:dPr>
                        <m:e>
                          <m:r>
                            <m:rPr>
                              <m:sty m:val="p"/>
                            </m:rPr>
                            <a:rPr kumimoji="1" lang="en-US" altLang="zh-CN" sz="240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𝜃</m:t>
                              </m:r>
                            </m:e>
                            <m:sub>
                              <m:r>
                                <a:rPr lang="en-US" altLang="zh-CN" sz="2400" b="0" i="1" smtClean="0">
                                  <a:latin typeface="Cambria Math" panose="02040503050406030204" pitchFamily="18" charset="0"/>
                                  <a:cs typeface="Times New Roman" panose="02020603050405020304" pitchFamily="18" charset="0"/>
                                </a:rPr>
                                <m:t>𝑡</m:t>
                              </m:r>
                            </m:sub>
                          </m:sSub>
                        </m:e>
                      </m:d>
                    </m:oMath>
                  </m:oMathPara>
                </a14:m>
                <a:endParaRPr lang="en-US" altLang="zh-CN" sz="2400" dirty="0"/>
              </a:p>
            </p:txBody>
          </p:sp>
        </mc:Choice>
        <mc:Fallback xmlns="">
          <p:sp>
            <p:nvSpPr>
              <p:cNvPr id="10" name="文本框 9">
                <a:extLst>
                  <a:ext uri="{FF2B5EF4-FFF2-40B4-BE49-F238E27FC236}">
                    <a16:creationId xmlns:a16="http://schemas.microsoft.com/office/drawing/2014/main" id="{ECAA251D-CEB0-BC4A-9699-EB948155530F}"/>
                  </a:ext>
                </a:extLst>
              </p:cNvPr>
              <p:cNvSpPr txBox="1">
                <a:spLocks noRot="1" noChangeAspect="1" noMove="1" noResize="1" noEditPoints="1" noAdjustHandles="1" noChangeArrowheads="1" noChangeShapeType="1" noTextEdit="1"/>
              </p:cNvSpPr>
              <p:nvPr/>
            </p:nvSpPr>
            <p:spPr>
              <a:xfrm>
                <a:off x="1722619" y="4281205"/>
                <a:ext cx="8770495" cy="1377621"/>
              </a:xfrm>
              <a:prstGeom prst="rect">
                <a:avLst/>
              </a:prstGeom>
              <a:blipFill>
                <a:blip r:embed="rId4"/>
                <a:stretch>
                  <a:fillRect t="-64545" b="-1290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35288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93</a:t>
            </a:fld>
            <a:endParaRPr lang="zh-CN" altLang="en-US" dirty="0"/>
          </a:p>
        </p:txBody>
      </p:sp>
      <p:sp>
        <p:nvSpPr>
          <p:cNvPr id="25" name="矩形 24">
            <a:extLst>
              <a:ext uri="{FF2B5EF4-FFF2-40B4-BE49-F238E27FC236}">
                <a16:creationId xmlns:a16="http://schemas.microsoft.com/office/drawing/2014/main" id="{B799E8CC-E9B7-854E-B0AD-2972BA69C905}"/>
              </a:ext>
            </a:extLst>
          </p:cNvPr>
          <p:cNvSpPr/>
          <p:nvPr/>
        </p:nvSpPr>
        <p:spPr bwMode="auto">
          <a:xfrm>
            <a:off x="548640" y="1436913"/>
            <a:ext cx="11132848" cy="120653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然而，对于多层感知机以及其它深度学习模型的训练，则几乎不再使用梯度下降法。主要有两个原因：一是这类模型的损失函数不再具备凸性；二是深度学习模型通常对应大规模数据，梯度下降法计算开销难以承受。</a:t>
            </a:r>
          </a:p>
        </p:txBody>
      </p:sp>
      <p:sp>
        <p:nvSpPr>
          <p:cNvPr id="7" name="object 5">
            <a:extLst>
              <a:ext uri="{FF2B5EF4-FFF2-40B4-BE49-F238E27FC236}">
                <a16:creationId xmlns:a16="http://schemas.microsoft.com/office/drawing/2014/main" id="{97B0A0B1-C880-B44C-A506-EFEED42B9DFC}"/>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多层感知机：优化基础</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CA0FE1-6E59-6B44-83BA-B41AF0493681}"/>
                  </a:ext>
                </a:extLst>
              </p:cNvPr>
              <p:cNvSpPr txBox="1"/>
              <p:nvPr/>
            </p:nvSpPr>
            <p:spPr>
              <a:xfrm>
                <a:off x="548640" y="2643451"/>
                <a:ext cx="11094720" cy="3545394"/>
              </a:xfrm>
              <a:prstGeom prst="rect">
                <a:avLst/>
              </a:prstGeom>
              <a:noFill/>
            </p:spPr>
            <p:txBody>
              <a:bodyPr wrap="square" rtlCol="0">
                <a:spAutoFit/>
              </a:bodyPr>
              <a:lstStyle/>
              <a:p>
                <a:pPr marL="342900" indent="-342900">
                  <a:lnSpc>
                    <a:spcPct val="150000"/>
                  </a:lnSpc>
                  <a:buFont typeface="Wingdings" pitchFamily="2" charset="2"/>
                  <a:buChar char="n"/>
                </a:pPr>
                <a:r>
                  <a:rPr lang="zh-CN" altLang="en-US" sz="2400" dirty="0">
                    <a:ea typeface="Cambria Math" panose="02040503050406030204" pitchFamily="18" charset="0"/>
                  </a:rPr>
                  <a:t>基于</a:t>
                </a:r>
                <a:r>
                  <a:rPr lang="zh-CN" altLang="en-US" sz="2400" dirty="0">
                    <a:solidFill>
                      <a:srgbClr val="C00000"/>
                    </a:solidFill>
                    <a:ea typeface="Cambria Math" panose="02040503050406030204" pitchFamily="18" charset="0"/>
                  </a:rPr>
                  <a:t>随机梯度下降</a:t>
                </a:r>
                <a:r>
                  <a:rPr lang="zh-CN" altLang="en-US" sz="2400" dirty="0">
                    <a:ea typeface="Cambria Math" panose="02040503050406030204" pitchFamily="18" charset="0"/>
                  </a:rPr>
                  <a:t>的多层感知机参数更新：</a:t>
                </a:r>
                <a:endParaRPr lang="en-US" altLang="zh-CN" sz="2400" dirty="0"/>
              </a:p>
              <a:p>
                <a:pPr lvl="1">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r>
                            <a:rPr kumimoji="1" lang="en-US" altLang="zh-CN" sz="2400" i="1">
                              <a:latin typeface="Cambria Math" panose="02040503050406030204" pitchFamily="18" charset="0"/>
                              <a:ea typeface="Cambria Math" panose="02040503050406030204" pitchFamily="18" charset="0"/>
                            </a:rPr>
                            <m:t>+1</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𝜂</m:t>
                          </m:r>
                        </m:e>
                        <m:sub>
                          <m:r>
                            <a:rPr kumimoji="1" lang="en-US" altLang="zh-CN" sz="2400" i="1">
                              <a:latin typeface="Cambria Math" panose="02040503050406030204" pitchFamily="18" charset="0"/>
                              <a:ea typeface="Cambria Math" panose="02040503050406030204" pitchFamily="18" charset="0"/>
                            </a:rPr>
                            <m:t>𝑡</m:t>
                          </m:r>
                        </m:sub>
                      </m:sSub>
                      <m:acc>
                        <m:accPr>
                          <m:chr m:val="̃"/>
                          <m:ctrlPr>
                            <a:rPr kumimoji="1" lang="en-US" altLang="zh-CN" sz="2400" i="1">
                              <a:latin typeface="Cambria Math" panose="02040503050406030204" pitchFamily="18" charset="0"/>
                              <a:ea typeface="Cambria Math" panose="02040503050406030204" pitchFamily="18" charset="0"/>
                            </a:rPr>
                          </m:ctrlPr>
                        </m:accPr>
                        <m:e>
                          <m:r>
                            <m:rPr>
                              <m:sty m:val="p"/>
                            </m:rPr>
                            <a:rPr kumimoji="1" lang="en-US" altLang="zh-CN" sz="2400">
                              <a:latin typeface="Cambria Math" panose="02040503050406030204" pitchFamily="18" charset="0"/>
                              <a:ea typeface="Cambria Math" panose="02040503050406030204" pitchFamily="18" charset="0"/>
                            </a:rPr>
                            <m:t>∇</m:t>
                          </m:r>
                        </m:e>
                      </m:acc>
                      <m:r>
                        <a:rPr kumimoji="1" lang="en-US" altLang="zh-CN" sz="2400" i="1">
                          <a:latin typeface="Cambria Math" panose="02040503050406030204" pitchFamily="18" charset="0"/>
                          <a:ea typeface="Cambria Math" panose="02040503050406030204" pitchFamily="18" charset="0"/>
                        </a:rPr>
                        <m:t>ℒ</m:t>
                      </m:r>
                      <m:d>
                        <m:dPr>
                          <m:ctrlPr>
                            <a:rPr kumimoji="1" lang="en-US" altLang="zh-CN" sz="2400" i="1">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ea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𝜃</m:t>
                              </m:r>
                            </m:e>
                            <m:sub>
                              <m:r>
                                <a:rPr kumimoji="1" lang="en-US" altLang="zh-CN" sz="2400" i="1">
                                  <a:latin typeface="Cambria Math" panose="02040503050406030204" pitchFamily="18" charset="0"/>
                                  <a:ea typeface="Cambria Math" panose="02040503050406030204" pitchFamily="18" charset="0"/>
                                </a:rPr>
                                <m:t>𝑡</m:t>
                              </m:r>
                            </m:sub>
                          </m:sSub>
                          <m:r>
                            <a:rPr kumimoji="1"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Times New Roman" panose="02020603050405020304" pitchFamily="18" charset="0"/>
                            </a:rPr>
                            <m:t>𝐷</m:t>
                          </m:r>
                        </m:e>
                      </m:d>
                    </m:oMath>
                  </m:oMathPara>
                </a14:m>
                <a:endParaRPr lang="en-US" altLang="zh-CN" sz="24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p"/>
                </a:pPr>
                <a:r>
                  <a:rPr lang="zh-CN" altLang="en-US" sz="2400" dirty="0"/>
                  <a:t>对于凸优化问题，随机梯度下降有</a:t>
                </a:r>
                <a:endParaRPr lang="en-US" altLang="zh-CN" sz="2400" dirty="0"/>
              </a:p>
              <a:p>
                <a:pPr marL="1257300" lvl="2" indent="-342900">
                  <a:lnSpc>
                    <a:spcPct val="150000"/>
                  </a:lnSpc>
                  <a:buFont typeface="Arial" panose="020B0604020202020204" pitchFamily="34" charset="0"/>
                  <a:buChar char="•"/>
                </a:pPr>
                <a:r>
                  <a:rPr lang="zh-CN" altLang="en-US" sz="2400" b="0" dirty="0">
                    <a:cs typeface="Arial" panose="020B0604020202020204" pitchFamily="34" charset="0"/>
                  </a:rPr>
                  <a:t>凸函数：</a:t>
                </a:r>
                <a14:m>
                  <m:oMath xmlns:m="http://schemas.openxmlformats.org/officeDocument/2006/math">
                    <m:r>
                      <a:rPr kumimoji="1" lang="en-US" altLang="zh-CN" sz="2400" i="1" smtClean="0">
                        <a:latin typeface="Cambria Math" panose="02040503050406030204" pitchFamily="18" charset="0"/>
                        <a:ea typeface="Cambria Math" panose="02040503050406030204" pitchFamily="18" charset="0"/>
                      </a:rPr>
                      <m:t>𝔼</m:t>
                    </m:r>
                    <m:d>
                      <m:dPr>
                        <m:begChr m:val="["/>
                        <m:endChr m:val="]"/>
                        <m:ctrlPr>
                          <a:rPr kumimoji="1" lang="en-US" altLang="zh-CN" sz="2400" b="0" i="1" smtClean="0">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cs typeface="Arial" panose="020B0604020202020204" pitchFamily="34" charset="0"/>
                          </a:rPr>
                          <m:t>𝑓</m:t>
                        </m:r>
                        <m:d>
                          <m:dPr>
                            <m:ctrlPr>
                              <a:rPr lang="en-US" altLang="zh-CN" sz="2400" i="1">
                                <a:latin typeface="Cambria Math" panose="02040503050406030204" pitchFamily="18" charset="0"/>
                                <a:cs typeface="Arial" panose="020B0604020202020204" pitchFamily="34" charset="0"/>
                              </a:rPr>
                            </m:ctrlPr>
                          </m:dPr>
                          <m:e>
                            <m:sSubSup>
                              <m:sSubSupPr>
                                <m:ctrlPr>
                                  <a:rPr lang="en-US" altLang="zh-CN" sz="2400" i="1">
                                    <a:latin typeface="Cambria Math" panose="02040503050406030204" pitchFamily="18" charset="0"/>
                                    <a:ea typeface="Verdana" panose="020B0604030504040204" pitchFamily="34" charset="0"/>
                                  </a:rPr>
                                </m:ctrlPr>
                              </m:sSubSupPr>
                              <m:e>
                                <m:acc>
                                  <m:accPr>
                                    <m:chr m:val="̂"/>
                                    <m:ctrlPr>
                                      <a:rPr lang="en-US" altLang="zh-CN" sz="2400" i="1">
                                        <a:latin typeface="Cambria Math" panose="02040503050406030204" pitchFamily="18" charset="0"/>
                                        <a:ea typeface="Verdana" panose="020B0604030504040204" pitchFamily="34" charset="0"/>
                                      </a:rPr>
                                    </m:ctrlPr>
                                  </m:accPr>
                                  <m:e>
                                    <m:r>
                                      <a:rPr lang="en-US" altLang="zh-CN" sz="2400" i="1">
                                        <a:latin typeface="Cambria Math" panose="02040503050406030204" pitchFamily="18" charset="0"/>
                                        <a:ea typeface="Verdana" panose="020B0604030504040204" pitchFamily="34" charset="0"/>
                                      </a:rPr>
                                      <m:t>𝑥</m:t>
                                    </m:r>
                                  </m:e>
                                </m:acc>
                              </m:e>
                              <m:sub>
                                <m:r>
                                  <a:rPr lang="en-US" altLang="zh-CN" sz="2400" i="1">
                                    <a:latin typeface="Cambria Math" panose="02040503050406030204" pitchFamily="18" charset="0"/>
                                    <a:ea typeface="Verdana" panose="020B0604030504040204" pitchFamily="34" charset="0"/>
                                  </a:rPr>
                                  <m:t>𝑇</m:t>
                                </m:r>
                              </m:sub>
                              <m:sup>
                                <m:r>
                                  <a:rPr lang="en-US" altLang="zh-CN" sz="2400" i="1">
                                    <a:latin typeface="Cambria Math" panose="02040503050406030204" pitchFamily="18" charset="0"/>
                                    <a:ea typeface="Verdana" panose="020B0604030504040204" pitchFamily="34" charset="0"/>
                                  </a:rPr>
                                  <m:t> </m:t>
                                </m:r>
                              </m:sup>
                            </m:sSubSup>
                          </m:e>
                        </m:d>
                        <m:r>
                          <a:rPr lang="en-US" altLang="zh-CN" sz="2400" i="1">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𝑓</m:t>
                        </m:r>
                        <m:d>
                          <m:dPr>
                            <m:ctrlPr>
                              <a:rPr lang="en-US" altLang="zh-CN" sz="2400" i="1">
                                <a:latin typeface="Cambria Math" panose="02040503050406030204" pitchFamily="18" charset="0"/>
                                <a:cs typeface="Arial" panose="020B0604020202020204" pitchFamily="34" charset="0"/>
                              </a:rPr>
                            </m:ctrlPr>
                          </m:dPr>
                          <m:e>
                            <m:sSup>
                              <m:sSupPr>
                                <m:ctrlPr>
                                  <a:rPr lang="en-US" altLang="zh-CN" sz="2400" i="1">
                                    <a:latin typeface="Cambria Math" panose="02040503050406030204" pitchFamily="18" charset="0"/>
                                    <a:cs typeface="Arial" panose="020B0604020202020204" pitchFamily="34" charset="0"/>
                                  </a:rPr>
                                </m:ctrlPr>
                              </m:sSupPr>
                              <m:e>
                                <m:r>
                                  <a:rPr lang="en-US" altLang="zh-CN" sz="2400" i="1">
                                    <a:latin typeface="Cambria Math" panose="02040503050406030204" pitchFamily="18" charset="0"/>
                                    <a:cs typeface="Arial" panose="020B0604020202020204" pitchFamily="34" charset="0"/>
                                  </a:rPr>
                                  <m:t>𝑥</m:t>
                                </m:r>
                              </m:e>
                              <m:sup>
                                <m:r>
                                  <a:rPr lang="en-US" altLang="zh-CN" sz="2400" i="1">
                                    <a:latin typeface="Cambria Math" panose="02040503050406030204" pitchFamily="18" charset="0"/>
                                    <a:cs typeface="Arial" panose="020B0604020202020204" pitchFamily="34" charset="0"/>
                                  </a:rPr>
                                  <m:t>∗</m:t>
                                </m:r>
                              </m:sup>
                            </m:sSup>
                          </m:e>
                        </m:d>
                      </m:e>
                    </m:d>
                    <m:r>
                      <a:rPr lang="en-US" altLang="zh-CN" sz="2400" i="1">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𝑂</m:t>
                    </m:r>
                    <m:d>
                      <m:dPr>
                        <m:ctrlPr>
                          <a:rPr lang="en-US" altLang="zh-CN" sz="2400" i="1">
                            <a:latin typeface="Cambria Math" panose="02040503050406030204" pitchFamily="18" charset="0"/>
                            <a:cs typeface="Arial" panose="020B0604020202020204" pitchFamily="34" charset="0"/>
                          </a:rPr>
                        </m:ctrlPr>
                      </m:dPr>
                      <m:e>
                        <m:f>
                          <m:fPr>
                            <m:type m:val="lin"/>
                            <m:ctrlPr>
                              <a:rPr lang="en-US" altLang="zh-CN" sz="2400" i="1" smtClean="0">
                                <a:latin typeface="Cambria Math" panose="02040503050406030204" pitchFamily="18" charset="0"/>
                                <a:cs typeface="Arial" panose="020B0604020202020204" pitchFamily="34" charset="0"/>
                              </a:rPr>
                            </m:ctrlPr>
                          </m:fPr>
                          <m:num>
                            <m:r>
                              <a:rPr lang="en-US" altLang="zh-CN" sz="2400" b="0" i="1" smtClean="0">
                                <a:latin typeface="Cambria Math" panose="02040503050406030204" pitchFamily="18" charset="0"/>
                                <a:cs typeface="Arial" panose="020B0604020202020204" pitchFamily="34" charset="0"/>
                              </a:rPr>
                              <m:t>1</m:t>
                            </m:r>
                          </m:num>
                          <m:den>
                            <m:rad>
                              <m:radPr>
                                <m:degHide m:val="on"/>
                                <m:ctrlPr>
                                  <a:rPr lang="en-US" altLang="zh-CN" sz="2400" i="1">
                                    <a:latin typeface="Cambria Math" panose="02040503050406030204" pitchFamily="18" charset="0"/>
                                    <a:cs typeface="Arial" panose="020B0604020202020204" pitchFamily="34" charset="0"/>
                                  </a:rPr>
                                </m:ctrlPr>
                              </m:radPr>
                              <m:deg/>
                              <m:e>
                                <m:r>
                                  <a:rPr lang="en-US" altLang="zh-CN" sz="2400" i="1">
                                    <a:latin typeface="Cambria Math" panose="02040503050406030204" pitchFamily="18" charset="0"/>
                                    <a:cs typeface="Arial" panose="020B0604020202020204" pitchFamily="34" charset="0"/>
                                  </a:rPr>
                                  <m:t>𝑇</m:t>
                                </m:r>
                              </m:e>
                            </m:rad>
                          </m:den>
                        </m:f>
                      </m:e>
                    </m:d>
                  </m:oMath>
                </a14:m>
                <a:endParaRPr lang="en-US" altLang="zh-CN" sz="2400" dirty="0"/>
              </a:p>
              <a:p>
                <a:pPr marL="800100" lvl="1" indent="-342900">
                  <a:lnSpc>
                    <a:spcPct val="150000"/>
                  </a:lnSpc>
                  <a:buFont typeface="Wingdings" pitchFamily="2" charset="2"/>
                  <a:buChar char="p"/>
                </a:pPr>
                <a:r>
                  <a:rPr lang="zh-CN" altLang="en-US" sz="2400" dirty="0"/>
                  <a:t>对于非凸优化问题，随机梯度下降有</a:t>
                </a:r>
                <a:endParaRPr lang="en-US" altLang="zh-CN" sz="2400" dirty="0"/>
              </a:p>
              <a:p>
                <a:pPr marL="1257300" lvl="2" indent="-342900">
                  <a:lnSpc>
                    <a:spcPct val="150000"/>
                  </a:lnSpc>
                  <a:buFont typeface="Arial" panose="020B0604020202020204" pitchFamily="34" charset="0"/>
                  <a:buChar char="•"/>
                </a:pPr>
                <a:r>
                  <a:rPr lang="zh-CN" altLang="en-US" sz="2400" dirty="0"/>
                  <a:t>平滑函数：</a:t>
                </a:r>
                <a:r>
                  <a:rPr kumimoji="1" lang="en-US" altLang="zh-CN" sz="2400" dirty="0">
                    <a:ea typeface="Cambria Math" panose="02040503050406030204" pitchFamily="18" charset="0"/>
                  </a:rPr>
                  <a:t> </a:t>
                </a:r>
                <a14:m>
                  <m:oMath xmlns:m="http://schemas.openxmlformats.org/officeDocument/2006/math">
                    <m:r>
                      <a:rPr kumimoji="1" lang="en-US" altLang="zh-CN" sz="2400" i="1" smtClean="0">
                        <a:latin typeface="Cambria Math" panose="02040503050406030204" pitchFamily="18" charset="0"/>
                        <a:ea typeface="Cambria Math" panose="02040503050406030204" pitchFamily="18" charset="0"/>
                      </a:rPr>
                      <m:t>𝔼</m:t>
                    </m:r>
                    <m:d>
                      <m:dPr>
                        <m:begChr m:val="["/>
                        <m:endChr m:val="]"/>
                        <m:ctrlPr>
                          <a:rPr kumimoji="1" lang="en-US" altLang="zh-CN" sz="2400" b="0" i="1" smtClean="0">
                            <a:latin typeface="Cambria Math" panose="02040503050406030204" pitchFamily="18" charset="0"/>
                            <a:ea typeface="Cambria Math" panose="02040503050406030204" pitchFamily="18" charset="0"/>
                          </a:rPr>
                        </m:ctrlPr>
                      </m:dPr>
                      <m:e>
                        <m:d>
                          <m:dPr>
                            <m:begChr m:val="‖"/>
                            <m:endChr m:val="‖"/>
                            <m:ctrlPr>
                              <a:rPr lang="en-US" altLang="zh-CN" sz="2400" i="1">
                                <a:latin typeface="Cambria Math" panose="02040503050406030204" pitchFamily="18" charset="0"/>
                              </a:rPr>
                            </m:ctrlPr>
                          </m:dPr>
                          <m:e>
                            <m:r>
                              <m:rPr>
                                <m:sty m:val="p"/>
                              </m:rPr>
                              <a:rPr lang="en-US" altLang="zh-CN" sz="2400">
                                <a:latin typeface="Cambria Math" panose="02040503050406030204" pitchFamily="18" charset="0"/>
                                <a:cs typeface="Arial" panose="020B0604020202020204" pitchFamily="34" charset="0"/>
                              </a:rPr>
                              <m:t>∇</m:t>
                            </m:r>
                            <m:r>
                              <a:rPr lang="en-US" altLang="zh-CN" sz="2400" i="1">
                                <a:latin typeface="Cambria Math" panose="02040503050406030204" pitchFamily="18" charset="0"/>
                                <a:cs typeface="Arial" panose="020B0604020202020204" pitchFamily="34" charset="0"/>
                              </a:rPr>
                              <m:t>𝑓</m:t>
                            </m:r>
                            <m:d>
                              <m:dPr>
                                <m:ctrlPr>
                                  <a:rPr lang="en-US" altLang="zh-CN" sz="2400" i="1">
                                    <a:latin typeface="Cambria Math" panose="02040503050406030204" pitchFamily="18" charset="0"/>
                                    <a:cs typeface="Arial" panose="020B0604020202020204" pitchFamily="34" charset="0"/>
                                  </a:rPr>
                                </m:ctrlPr>
                              </m:dPr>
                              <m:e>
                                <m:sSub>
                                  <m:sSubPr>
                                    <m:ctrlPr>
                                      <a:rPr lang="en-US" altLang="zh-CN" sz="2400" i="1">
                                        <a:latin typeface="Cambria Math" panose="02040503050406030204" pitchFamily="18" charset="0"/>
                                      </a:rPr>
                                    </m:ctrlPr>
                                  </m:sSubPr>
                                  <m:e>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𝑇</m:t>
                                    </m:r>
                                  </m:sub>
                                </m:sSub>
                              </m:e>
                            </m:d>
                          </m:e>
                        </m:d>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𝑇</m:t>
                            </m:r>
                          </m:e>
                          <m:sup>
                            <m:f>
                              <m:fPr>
                                <m:type m:val="lin"/>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4</m:t>
                                </m:r>
                              </m:den>
                            </m:f>
                          </m:sup>
                        </m:sSup>
                      </m:e>
                    </m:d>
                  </m:oMath>
                </a14:m>
                <a:endParaRPr lang="en-US" altLang="zh-CN" sz="2400" dirty="0"/>
              </a:p>
            </p:txBody>
          </p:sp>
        </mc:Choice>
        <mc:Fallback xmlns="">
          <p:sp>
            <p:nvSpPr>
              <p:cNvPr id="11" name="文本框 10">
                <a:extLst>
                  <a:ext uri="{FF2B5EF4-FFF2-40B4-BE49-F238E27FC236}">
                    <a16:creationId xmlns:a16="http://schemas.microsoft.com/office/drawing/2014/main" id="{9BCA0FE1-6E59-6B44-83BA-B41AF0493681}"/>
                  </a:ext>
                </a:extLst>
              </p:cNvPr>
              <p:cNvSpPr txBox="1">
                <a:spLocks noRot="1" noChangeAspect="1" noMove="1" noResize="1" noEditPoints="1" noAdjustHandles="1" noChangeArrowheads="1" noChangeShapeType="1" noTextEdit="1"/>
              </p:cNvSpPr>
              <p:nvPr/>
            </p:nvSpPr>
            <p:spPr>
              <a:xfrm>
                <a:off x="548640" y="2643451"/>
                <a:ext cx="11094720" cy="3545394"/>
              </a:xfrm>
              <a:prstGeom prst="rect">
                <a:avLst/>
              </a:prstGeom>
              <a:blipFill>
                <a:blip r:embed="rId3"/>
                <a:stretch>
                  <a:fillRect l="-801" b="-12857"/>
                </a:stretch>
              </a:blipFill>
            </p:spPr>
            <p:txBody>
              <a:bodyPr/>
              <a:lstStyle/>
              <a:p>
                <a:r>
                  <a:rPr lang="zh-CN" altLang="en-US">
                    <a:noFill/>
                  </a:rPr>
                  <a:t> </a:t>
                </a:r>
              </a:p>
            </p:txBody>
          </p:sp>
        </mc:Fallback>
      </mc:AlternateContent>
      <p:sp>
        <p:nvSpPr>
          <p:cNvPr id="13" name="爆炸形 2 12">
            <a:extLst>
              <a:ext uri="{FF2B5EF4-FFF2-40B4-BE49-F238E27FC236}">
                <a16:creationId xmlns:a16="http://schemas.microsoft.com/office/drawing/2014/main" id="{1724F5E2-DF6A-1746-8BC3-B130CA241985}"/>
              </a:ext>
            </a:extLst>
          </p:cNvPr>
          <p:cNvSpPr/>
          <p:nvPr/>
        </p:nvSpPr>
        <p:spPr>
          <a:xfrm rot="21232580">
            <a:off x="7399130" y="3313134"/>
            <a:ext cx="3958925"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rPr>
              <a:t>非凸情况下的理论保证，要弱于凸情况下的理论保证</a:t>
            </a:r>
          </a:p>
        </p:txBody>
      </p:sp>
      <p:sp>
        <p:nvSpPr>
          <p:cNvPr id="14" name="爆炸形 2 13">
            <a:extLst>
              <a:ext uri="{FF2B5EF4-FFF2-40B4-BE49-F238E27FC236}">
                <a16:creationId xmlns:a16="http://schemas.microsoft.com/office/drawing/2014/main" id="{DAE23062-0443-BA47-8C1D-DB26151F2711}"/>
              </a:ext>
            </a:extLst>
          </p:cNvPr>
          <p:cNvSpPr/>
          <p:nvPr/>
        </p:nvSpPr>
        <p:spPr>
          <a:xfrm rot="21232580">
            <a:off x="7597647" y="4819299"/>
            <a:ext cx="4377165"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C00000"/>
                </a:solidFill>
              </a:rPr>
              <a:t>实践经验：随机性有助于跳出局部最优！</a:t>
            </a:r>
          </a:p>
        </p:txBody>
      </p:sp>
    </p:spTree>
    <p:extLst>
      <p:ext uri="{BB962C8B-B14F-4D97-AF65-F5344CB8AC3E}">
        <p14:creationId xmlns:p14="http://schemas.microsoft.com/office/powerpoint/2010/main" val="258241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94</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多层感知机：仿真实验</a:t>
            </a:r>
          </a:p>
        </p:txBody>
      </p:sp>
      <p:pic>
        <p:nvPicPr>
          <p:cNvPr id="16" name="图片 15">
            <a:extLst>
              <a:ext uri="{FF2B5EF4-FFF2-40B4-BE49-F238E27FC236}">
                <a16:creationId xmlns:a16="http://schemas.microsoft.com/office/drawing/2014/main" id="{C97C90A2-8D01-B945-943A-0E185EB7A12D}"/>
              </a:ext>
            </a:extLst>
          </p:cNvPr>
          <p:cNvPicPr>
            <a:picLocks noChangeAspect="1"/>
          </p:cNvPicPr>
          <p:nvPr/>
        </p:nvPicPr>
        <p:blipFill>
          <a:blip r:embed="rId3"/>
          <a:stretch>
            <a:fillRect/>
          </a:stretch>
        </p:blipFill>
        <p:spPr>
          <a:xfrm>
            <a:off x="9244698" y="2758468"/>
            <a:ext cx="2393191" cy="2383986"/>
          </a:xfrm>
          <a:prstGeom prst="rect">
            <a:avLst/>
          </a:prstGeom>
        </p:spPr>
      </p:pic>
      <p:pic>
        <p:nvPicPr>
          <p:cNvPr id="17" name="图片 16">
            <a:extLst>
              <a:ext uri="{FF2B5EF4-FFF2-40B4-BE49-F238E27FC236}">
                <a16:creationId xmlns:a16="http://schemas.microsoft.com/office/drawing/2014/main" id="{05C6785D-2AA7-3942-8701-E712F3EE77E5}"/>
              </a:ext>
            </a:extLst>
          </p:cNvPr>
          <p:cNvPicPr>
            <a:picLocks noChangeAspect="1"/>
          </p:cNvPicPr>
          <p:nvPr/>
        </p:nvPicPr>
        <p:blipFill>
          <a:blip r:embed="rId4"/>
          <a:stretch>
            <a:fillRect/>
          </a:stretch>
        </p:blipFill>
        <p:spPr>
          <a:xfrm>
            <a:off x="9704693" y="5294635"/>
            <a:ext cx="1473200" cy="482600"/>
          </a:xfrm>
          <a:prstGeom prst="rect">
            <a:avLst/>
          </a:prstGeom>
        </p:spPr>
      </p:pic>
      <p:pic>
        <p:nvPicPr>
          <p:cNvPr id="18" name="图片 17">
            <a:extLst>
              <a:ext uri="{FF2B5EF4-FFF2-40B4-BE49-F238E27FC236}">
                <a16:creationId xmlns:a16="http://schemas.microsoft.com/office/drawing/2014/main" id="{52771CD0-776E-C043-A4BA-2C04685EC2AB}"/>
              </a:ext>
            </a:extLst>
          </p:cNvPr>
          <p:cNvPicPr>
            <a:picLocks noChangeAspect="1"/>
          </p:cNvPicPr>
          <p:nvPr/>
        </p:nvPicPr>
        <p:blipFill>
          <a:blip r:embed="rId5"/>
          <a:stretch>
            <a:fillRect/>
          </a:stretch>
        </p:blipFill>
        <p:spPr>
          <a:xfrm>
            <a:off x="6384372" y="2758468"/>
            <a:ext cx="2393227" cy="2384021"/>
          </a:xfrm>
          <a:prstGeom prst="rect">
            <a:avLst/>
          </a:prstGeom>
        </p:spPr>
      </p:pic>
      <p:pic>
        <p:nvPicPr>
          <p:cNvPr id="19" name="图片 18">
            <a:extLst>
              <a:ext uri="{FF2B5EF4-FFF2-40B4-BE49-F238E27FC236}">
                <a16:creationId xmlns:a16="http://schemas.microsoft.com/office/drawing/2014/main" id="{0C8A9399-E0EF-1146-86EE-4498A665D4A2}"/>
              </a:ext>
            </a:extLst>
          </p:cNvPr>
          <p:cNvPicPr>
            <a:picLocks noChangeAspect="1"/>
          </p:cNvPicPr>
          <p:nvPr/>
        </p:nvPicPr>
        <p:blipFill>
          <a:blip r:embed="rId6"/>
          <a:stretch>
            <a:fillRect/>
          </a:stretch>
        </p:blipFill>
        <p:spPr>
          <a:xfrm>
            <a:off x="6850735" y="5254969"/>
            <a:ext cx="1460500" cy="508000"/>
          </a:xfrm>
          <a:prstGeom prst="rect">
            <a:avLst/>
          </a:prstGeom>
        </p:spPr>
      </p:pic>
      <p:pic>
        <p:nvPicPr>
          <p:cNvPr id="21" name="图片 20">
            <a:extLst>
              <a:ext uri="{FF2B5EF4-FFF2-40B4-BE49-F238E27FC236}">
                <a16:creationId xmlns:a16="http://schemas.microsoft.com/office/drawing/2014/main" id="{BA8C1E6B-36ED-4546-AC4F-151FF24B4075}"/>
              </a:ext>
            </a:extLst>
          </p:cNvPr>
          <p:cNvPicPr>
            <a:picLocks noChangeAspect="1"/>
          </p:cNvPicPr>
          <p:nvPr/>
        </p:nvPicPr>
        <p:blipFill>
          <a:blip r:embed="rId7"/>
          <a:stretch>
            <a:fillRect/>
          </a:stretch>
        </p:blipFill>
        <p:spPr>
          <a:xfrm>
            <a:off x="542346" y="2758467"/>
            <a:ext cx="2393227" cy="2383987"/>
          </a:xfrm>
          <a:prstGeom prst="rect">
            <a:avLst/>
          </a:prstGeom>
        </p:spPr>
      </p:pic>
      <p:pic>
        <p:nvPicPr>
          <p:cNvPr id="22" name="图片 21">
            <a:extLst>
              <a:ext uri="{FF2B5EF4-FFF2-40B4-BE49-F238E27FC236}">
                <a16:creationId xmlns:a16="http://schemas.microsoft.com/office/drawing/2014/main" id="{854E8121-4E3C-6446-A6F3-D90858DDE52A}"/>
              </a:ext>
            </a:extLst>
          </p:cNvPr>
          <p:cNvPicPr>
            <a:picLocks noChangeAspect="1"/>
          </p:cNvPicPr>
          <p:nvPr/>
        </p:nvPicPr>
        <p:blipFill>
          <a:blip r:embed="rId8"/>
          <a:stretch>
            <a:fillRect/>
          </a:stretch>
        </p:blipFill>
        <p:spPr>
          <a:xfrm>
            <a:off x="899751" y="5294635"/>
            <a:ext cx="1422400" cy="495300"/>
          </a:xfrm>
          <a:prstGeom prst="rect">
            <a:avLst/>
          </a:prstGeom>
        </p:spPr>
      </p:pic>
      <p:pic>
        <p:nvPicPr>
          <p:cNvPr id="23" name="图片 22">
            <a:extLst>
              <a:ext uri="{FF2B5EF4-FFF2-40B4-BE49-F238E27FC236}">
                <a16:creationId xmlns:a16="http://schemas.microsoft.com/office/drawing/2014/main" id="{126496FD-30A7-614A-8569-EDFB84881007}"/>
              </a:ext>
            </a:extLst>
          </p:cNvPr>
          <p:cNvPicPr>
            <a:picLocks noChangeAspect="1"/>
          </p:cNvPicPr>
          <p:nvPr/>
        </p:nvPicPr>
        <p:blipFill>
          <a:blip r:embed="rId9"/>
          <a:stretch>
            <a:fillRect/>
          </a:stretch>
        </p:blipFill>
        <p:spPr>
          <a:xfrm>
            <a:off x="3402672" y="2758433"/>
            <a:ext cx="2393227" cy="2384022"/>
          </a:xfrm>
          <a:prstGeom prst="rect">
            <a:avLst/>
          </a:prstGeom>
        </p:spPr>
      </p:pic>
      <p:pic>
        <p:nvPicPr>
          <p:cNvPr id="24" name="图片 23">
            <a:extLst>
              <a:ext uri="{FF2B5EF4-FFF2-40B4-BE49-F238E27FC236}">
                <a16:creationId xmlns:a16="http://schemas.microsoft.com/office/drawing/2014/main" id="{49B0968D-F064-AC4A-8FEE-134DFF636537}"/>
              </a:ext>
            </a:extLst>
          </p:cNvPr>
          <p:cNvPicPr>
            <a:picLocks noChangeAspect="1"/>
          </p:cNvPicPr>
          <p:nvPr/>
        </p:nvPicPr>
        <p:blipFill>
          <a:blip r:embed="rId10"/>
          <a:stretch>
            <a:fillRect/>
          </a:stretch>
        </p:blipFill>
        <p:spPr>
          <a:xfrm>
            <a:off x="3825728" y="5254969"/>
            <a:ext cx="1435100" cy="495300"/>
          </a:xfrm>
          <a:prstGeom prst="rect">
            <a:avLst/>
          </a:prstGeom>
        </p:spPr>
      </p:pic>
      <p:sp>
        <p:nvSpPr>
          <p:cNvPr id="14" name="矩形 13">
            <a:extLst>
              <a:ext uri="{FF2B5EF4-FFF2-40B4-BE49-F238E27FC236}">
                <a16:creationId xmlns:a16="http://schemas.microsoft.com/office/drawing/2014/main" id="{259E221F-2C6D-B944-B11E-5737433999F0}"/>
              </a:ext>
            </a:extLst>
          </p:cNvPr>
          <p:cNvSpPr/>
          <p:nvPr/>
        </p:nvSpPr>
        <p:spPr bwMode="auto">
          <a:xfrm>
            <a:off x="542346" y="1420222"/>
            <a:ext cx="11132848" cy="115564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实验设置：网络层数设置为</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不含输入层</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Sigmoid</a:t>
            </a:r>
            <a:r>
              <a:rPr lang="zh-CN" altLang="en-US" sz="2400" dirty="0">
                <a:latin typeface="Times New Roman" panose="02020603050405020304" pitchFamily="18" charset="0"/>
                <a:cs typeface="Times New Roman" panose="02020603050405020304" pitchFamily="18" charset="0"/>
              </a:rPr>
              <a:t>激活函数，隐藏层神经元个数分别为</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。可以看出，随着隐藏层神经元个数的增加，模型拟合实际分类边界的能力更强。</a:t>
            </a:r>
          </a:p>
        </p:txBody>
      </p:sp>
      <p:sp>
        <p:nvSpPr>
          <p:cNvPr id="20" name="文本框 19">
            <a:extLst>
              <a:ext uri="{FF2B5EF4-FFF2-40B4-BE49-F238E27FC236}">
                <a16:creationId xmlns:a16="http://schemas.microsoft.com/office/drawing/2014/main" id="{C71ACF18-1C81-CB49-8D11-A13B6E135014}"/>
              </a:ext>
            </a:extLst>
          </p:cNvPr>
          <p:cNvSpPr txBox="1"/>
          <p:nvPr/>
        </p:nvSpPr>
        <p:spPr>
          <a:xfrm>
            <a:off x="3877962" y="6077247"/>
            <a:ext cx="6104238" cy="461665"/>
          </a:xfrm>
          <a:prstGeom prst="rect">
            <a:avLst/>
          </a:prstGeom>
          <a:noFill/>
        </p:spPr>
        <p:txBody>
          <a:bodyPr wrap="square">
            <a:spAutoFit/>
          </a:bodyPr>
          <a:lstStyle/>
          <a:p>
            <a:r>
              <a:rPr lang="zh-CN" altLang="en-US" sz="2400" dirty="0"/>
              <a:t>https://playground.tensorflow.org/</a:t>
            </a:r>
          </a:p>
        </p:txBody>
      </p:sp>
    </p:spTree>
    <p:extLst>
      <p:ext uri="{BB962C8B-B14F-4D97-AF65-F5344CB8AC3E}">
        <p14:creationId xmlns:p14="http://schemas.microsoft.com/office/powerpoint/2010/main" val="5790458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95</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多层感知机：仿真实验</a:t>
            </a:r>
          </a:p>
        </p:txBody>
      </p:sp>
      <p:sp>
        <p:nvSpPr>
          <p:cNvPr id="14" name="矩形 13">
            <a:extLst>
              <a:ext uri="{FF2B5EF4-FFF2-40B4-BE49-F238E27FC236}">
                <a16:creationId xmlns:a16="http://schemas.microsoft.com/office/drawing/2014/main" id="{259E221F-2C6D-B944-B11E-5737433999F0}"/>
              </a:ext>
            </a:extLst>
          </p:cNvPr>
          <p:cNvSpPr/>
          <p:nvPr/>
        </p:nvSpPr>
        <p:spPr bwMode="auto">
          <a:xfrm>
            <a:off x="542346" y="1420222"/>
            <a:ext cx="11132848" cy="8842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实验设置：隐藏层神经元个数统一设置为</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ReLu</a:t>
            </a:r>
            <a:r>
              <a:rPr lang="zh-CN" altLang="en-US" sz="2400" dirty="0">
                <a:latin typeface="Times New Roman" panose="02020603050405020304" pitchFamily="18" charset="0"/>
                <a:cs typeface="Times New Roman" panose="02020603050405020304" pitchFamily="18" charset="0"/>
              </a:rPr>
              <a:t>激活函数，隐藏层数分别为</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。可以看出，随着隐藏层数的增加，模型拟合实际分类边界的能力也更强。</a:t>
            </a:r>
          </a:p>
        </p:txBody>
      </p:sp>
      <p:sp>
        <p:nvSpPr>
          <p:cNvPr id="20" name="文本框 19">
            <a:extLst>
              <a:ext uri="{FF2B5EF4-FFF2-40B4-BE49-F238E27FC236}">
                <a16:creationId xmlns:a16="http://schemas.microsoft.com/office/drawing/2014/main" id="{C71ACF18-1C81-CB49-8D11-A13B6E135014}"/>
              </a:ext>
            </a:extLst>
          </p:cNvPr>
          <p:cNvSpPr txBox="1"/>
          <p:nvPr/>
        </p:nvSpPr>
        <p:spPr>
          <a:xfrm>
            <a:off x="3877962" y="6259810"/>
            <a:ext cx="6104238" cy="461665"/>
          </a:xfrm>
          <a:prstGeom prst="rect">
            <a:avLst/>
          </a:prstGeom>
          <a:noFill/>
        </p:spPr>
        <p:txBody>
          <a:bodyPr wrap="square">
            <a:spAutoFit/>
          </a:bodyPr>
          <a:lstStyle/>
          <a:p>
            <a:r>
              <a:rPr lang="zh-CN" altLang="en-US" sz="2400" dirty="0"/>
              <a:t>https://playground.tensorflow.org/</a:t>
            </a:r>
          </a:p>
        </p:txBody>
      </p:sp>
      <p:pic>
        <p:nvPicPr>
          <p:cNvPr id="28" name="图片 27">
            <a:extLst>
              <a:ext uri="{FF2B5EF4-FFF2-40B4-BE49-F238E27FC236}">
                <a16:creationId xmlns:a16="http://schemas.microsoft.com/office/drawing/2014/main" id="{56DA712B-C268-914E-9AE3-C498145077F7}"/>
              </a:ext>
            </a:extLst>
          </p:cNvPr>
          <p:cNvPicPr>
            <a:picLocks noChangeAspect="1"/>
          </p:cNvPicPr>
          <p:nvPr/>
        </p:nvPicPr>
        <p:blipFill>
          <a:blip r:embed="rId3"/>
          <a:stretch>
            <a:fillRect/>
          </a:stretch>
        </p:blipFill>
        <p:spPr>
          <a:xfrm>
            <a:off x="6305555" y="2805501"/>
            <a:ext cx="2478040" cy="2487571"/>
          </a:xfrm>
          <a:prstGeom prst="rect">
            <a:avLst/>
          </a:prstGeom>
        </p:spPr>
      </p:pic>
      <p:pic>
        <p:nvPicPr>
          <p:cNvPr id="29" name="图片 28">
            <a:extLst>
              <a:ext uri="{FF2B5EF4-FFF2-40B4-BE49-F238E27FC236}">
                <a16:creationId xmlns:a16="http://schemas.microsoft.com/office/drawing/2014/main" id="{D0425545-7674-AC43-8D18-188CEB7FC0E6}"/>
              </a:ext>
            </a:extLst>
          </p:cNvPr>
          <p:cNvPicPr>
            <a:picLocks noChangeAspect="1"/>
          </p:cNvPicPr>
          <p:nvPr/>
        </p:nvPicPr>
        <p:blipFill>
          <a:blip r:embed="rId4"/>
          <a:stretch>
            <a:fillRect/>
          </a:stretch>
        </p:blipFill>
        <p:spPr>
          <a:xfrm>
            <a:off x="6814325" y="5415079"/>
            <a:ext cx="1460500" cy="533400"/>
          </a:xfrm>
          <a:prstGeom prst="rect">
            <a:avLst/>
          </a:prstGeom>
        </p:spPr>
      </p:pic>
      <p:pic>
        <p:nvPicPr>
          <p:cNvPr id="30" name="图片 29">
            <a:extLst>
              <a:ext uri="{FF2B5EF4-FFF2-40B4-BE49-F238E27FC236}">
                <a16:creationId xmlns:a16="http://schemas.microsoft.com/office/drawing/2014/main" id="{94A7AE1B-62F1-DD42-B088-F53D84C5CED2}"/>
              </a:ext>
            </a:extLst>
          </p:cNvPr>
          <p:cNvPicPr>
            <a:picLocks noChangeAspect="1"/>
          </p:cNvPicPr>
          <p:nvPr/>
        </p:nvPicPr>
        <p:blipFill>
          <a:blip r:embed="rId5"/>
          <a:stretch>
            <a:fillRect/>
          </a:stretch>
        </p:blipFill>
        <p:spPr>
          <a:xfrm>
            <a:off x="9155160" y="2805501"/>
            <a:ext cx="2478040" cy="2458978"/>
          </a:xfrm>
          <a:prstGeom prst="rect">
            <a:avLst/>
          </a:prstGeom>
        </p:spPr>
      </p:pic>
      <p:pic>
        <p:nvPicPr>
          <p:cNvPr id="31" name="图片 30">
            <a:extLst>
              <a:ext uri="{FF2B5EF4-FFF2-40B4-BE49-F238E27FC236}">
                <a16:creationId xmlns:a16="http://schemas.microsoft.com/office/drawing/2014/main" id="{17EA3C47-5310-8644-A35B-5BAF6A7044E4}"/>
              </a:ext>
            </a:extLst>
          </p:cNvPr>
          <p:cNvPicPr>
            <a:picLocks noChangeAspect="1"/>
          </p:cNvPicPr>
          <p:nvPr/>
        </p:nvPicPr>
        <p:blipFill>
          <a:blip r:embed="rId6"/>
          <a:stretch>
            <a:fillRect/>
          </a:stretch>
        </p:blipFill>
        <p:spPr>
          <a:xfrm>
            <a:off x="9651230" y="5452021"/>
            <a:ext cx="1485900" cy="457200"/>
          </a:xfrm>
          <a:prstGeom prst="rect">
            <a:avLst/>
          </a:prstGeom>
        </p:spPr>
      </p:pic>
      <p:pic>
        <p:nvPicPr>
          <p:cNvPr id="32" name="图片 31">
            <a:extLst>
              <a:ext uri="{FF2B5EF4-FFF2-40B4-BE49-F238E27FC236}">
                <a16:creationId xmlns:a16="http://schemas.microsoft.com/office/drawing/2014/main" id="{D0872290-CCDB-EE45-8DB7-A3483EB818E0}"/>
              </a:ext>
            </a:extLst>
          </p:cNvPr>
          <p:cNvPicPr>
            <a:picLocks noChangeAspect="1"/>
          </p:cNvPicPr>
          <p:nvPr/>
        </p:nvPicPr>
        <p:blipFill>
          <a:blip r:embed="rId7"/>
          <a:stretch>
            <a:fillRect/>
          </a:stretch>
        </p:blipFill>
        <p:spPr>
          <a:xfrm>
            <a:off x="3408405" y="2853154"/>
            <a:ext cx="2478041" cy="2439918"/>
          </a:xfrm>
          <a:prstGeom prst="rect">
            <a:avLst/>
          </a:prstGeom>
        </p:spPr>
      </p:pic>
      <p:pic>
        <p:nvPicPr>
          <p:cNvPr id="33" name="图片 32">
            <a:extLst>
              <a:ext uri="{FF2B5EF4-FFF2-40B4-BE49-F238E27FC236}">
                <a16:creationId xmlns:a16="http://schemas.microsoft.com/office/drawing/2014/main" id="{E8EB1F88-6F6D-584B-B81E-0FDCBA75AC7A}"/>
              </a:ext>
            </a:extLst>
          </p:cNvPr>
          <p:cNvPicPr>
            <a:picLocks noChangeAspect="1"/>
          </p:cNvPicPr>
          <p:nvPr/>
        </p:nvPicPr>
        <p:blipFill>
          <a:blip r:embed="rId8"/>
          <a:stretch>
            <a:fillRect/>
          </a:stretch>
        </p:blipFill>
        <p:spPr>
          <a:xfrm>
            <a:off x="3871073" y="5448562"/>
            <a:ext cx="1447800" cy="508000"/>
          </a:xfrm>
          <a:prstGeom prst="rect">
            <a:avLst/>
          </a:prstGeom>
        </p:spPr>
      </p:pic>
      <p:pic>
        <p:nvPicPr>
          <p:cNvPr id="34" name="图片 33">
            <a:extLst>
              <a:ext uri="{FF2B5EF4-FFF2-40B4-BE49-F238E27FC236}">
                <a16:creationId xmlns:a16="http://schemas.microsoft.com/office/drawing/2014/main" id="{3D7102EA-3B5B-2A4B-BFD2-5294CEDC08A3}"/>
              </a:ext>
            </a:extLst>
          </p:cNvPr>
          <p:cNvPicPr>
            <a:picLocks noChangeAspect="1"/>
          </p:cNvPicPr>
          <p:nvPr/>
        </p:nvPicPr>
        <p:blipFill>
          <a:blip r:embed="rId9"/>
          <a:stretch>
            <a:fillRect/>
          </a:stretch>
        </p:blipFill>
        <p:spPr>
          <a:xfrm>
            <a:off x="542346" y="2847486"/>
            <a:ext cx="2490064" cy="2470761"/>
          </a:xfrm>
          <a:prstGeom prst="rect">
            <a:avLst/>
          </a:prstGeom>
        </p:spPr>
      </p:pic>
      <p:pic>
        <p:nvPicPr>
          <p:cNvPr id="35" name="图片 34">
            <a:extLst>
              <a:ext uri="{FF2B5EF4-FFF2-40B4-BE49-F238E27FC236}">
                <a16:creationId xmlns:a16="http://schemas.microsoft.com/office/drawing/2014/main" id="{40FF3ACE-4752-E540-B31D-A48A23D9A414}"/>
              </a:ext>
            </a:extLst>
          </p:cNvPr>
          <p:cNvPicPr>
            <a:picLocks noChangeAspect="1"/>
          </p:cNvPicPr>
          <p:nvPr/>
        </p:nvPicPr>
        <p:blipFill>
          <a:blip r:embed="rId10"/>
          <a:stretch>
            <a:fillRect/>
          </a:stretch>
        </p:blipFill>
        <p:spPr>
          <a:xfrm>
            <a:off x="1072268" y="5499810"/>
            <a:ext cx="1422400" cy="469900"/>
          </a:xfrm>
          <a:prstGeom prst="rect">
            <a:avLst/>
          </a:prstGeom>
        </p:spPr>
      </p:pic>
    </p:spTree>
    <p:extLst>
      <p:ext uri="{BB962C8B-B14F-4D97-AF65-F5344CB8AC3E}">
        <p14:creationId xmlns:p14="http://schemas.microsoft.com/office/powerpoint/2010/main" val="15610917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96</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75650" y="537234"/>
            <a:ext cx="4653550"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多层感知机：仿真实验</a:t>
            </a:r>
          </a:p>
        </p:txBody>
      </p:sp>
      <p:sp>
        <p:nvSpPr>
          <p:cNvPr id="14" name="矩形 13">
            <a:extLst>
              <a:ext uri="{FF2B5EF4-FFF2-40B4-BE49-F238E27FC236}">
                <a16:creationId xmlns:a16="http://schemas.microsoft.com/office/drawing/2014/main" id="{259E221F-2C6D-B944-B11E-5737433999F0}"/>
              </a:ext>
            </a:extLst>
          </p:cNvPr>
          <p:cNvSpPr/>
          <p:nvPr/>
        </p:nvSpPr>
        <p:spPr bwMode="auto">
          <a:xfrm>
            <a:off x="542346" y="1420222"/>
            <a:ext cx="11132848" cy="88422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实验设置：隐藏层神经元个数统一设置为</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cs typeface="Times New Roman" panose="02020603050405020304" pitchFamily="18" charset="0"/>
              </a:rPr>
              <a:t>，隐藏层数统一设置为</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，激活函数分别为</a:t>
            </a:r>
            <a:r>
              <a:rPr lang="en-US" altLang="zh-CN" sz="2400" dirty="0" err="1">
                <a:latin typeface="Times New Roman" panose="02020603050405020304" pitchFamily="18" charset="0"/>
                <a:cs typeface="Times New Roman" panose="02020603050405020304" pitchFamily="18" charset="0"/>
              </a:rPr>
              <a:t>ReLu</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Tanh</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Sigmoid </a:t>
            </a:r>
            <a:r>
              <a:rPr lang="zh-CN" altLang="en-US" sz="2400" dirty="0">
                <a:latin typeface="Times New Roman" panose="02020603050405020304" pitchFamily="18" charset="0"/>
                <a:cs typeface="Times New Roman" panose="02020603050405020304" pitchFamily="18" charset="0"/>
              </a:rPr>
              <a:t>。可以看出，使用</a:t>
            </a:r>
            <a:r>
              <a:rPr lang="en-US" altLang="zh-CN" sz="2400" dirty="0">
                <a:latin typeface="Times New Roman" panose="02020603050405020304" pitchFamily="18" charset="0"/>
                <a:cs typeface="Times New Roman" panose="02020603050405020304" pitchFamily="18" charset="0"/>
              </a:rPr>
              <a:t>Sigmoid</a:t>
            </a:r>
            <a:r>
              <a:rPr lang="zh-CN" altLang="en-US" sz="2400" dirty="0">
                <a:latin typeface="Times New Roman" panose="02020603050405020304" pitchFamily="18" charset="0"/>
                <a:cs typeface="Times New Roman" panose="02020603050405020304" pitchFamily="18" charset="0"/>
              </a:rPr>
              <a:t>的情况几乎没有学习。</a:t>
            </a:r>
          </a:p>
        </p:txBody>
      </p:sp>
      <p:sp>
        <p:nvSpPr>
          <p:cNvPr id="20" name="文本框 19">
            <a:extLst>
              <a:ext uri="{FF2B5EF4-FFF2-40B4-BE49-F238E27FC236}">
                <a16:creationId xmlns:a16="http://schemas.microsoft.com/office/drawing/2014/main" id="{C71ACF18-1C81-CB49-8D11-A13B6E135014}"/>
              </a:ext>
            </a:extLst>
          </p:cNvPr>
          <p:cNvSpPr txBox="1"/>
          <p:nvPr/>
        </p:nvSpPr>
        <p:spPr>
          <a:xfrm>
            <a:off x="3877962" y="6259810"/>
            <a:ext cx="6104238" cy="461665"/>
          </a:xfrm>
          <a:prstGeom prst="rect">
            <a:avLst/>
          </a:prstGeom>
          <a:noFill/>
        </p:spPr>
        <p:txBody>
          <a:bodyPr wrap="square">
            <a:spAutoFit/>
          </a:bodyPr>
          <a:lstStyle/>
          <a:p>
            <a:r>
              <a:rPr lang="zh-CN" altLang="en-US" sz="2400" dirty="0"/>
              <a:t>https://playground.tensorflow.org/</a:t>
            </a:r>
          </a:p>
        </p:txBody>
      </p:sp>
      <p:pic>
        <p:nvPicPr>
          <p:cNvPr id="30" name="图片 29">
            <a:extLst>
              <a:ext uri="{FF2B5EF4-FFF2-40B4-BE49-F238E27FC236}">
                <a16:creationId xmlns:a16="http://schemas.microsoft.com/office/drawing/2014/main" id="{94A7AE1B-62F1-DD42-B088-F53D84C5CED2}"/>
              </a:ext>
            </a:extLst>
          </p:cNvPr>
          <p:cNvPicPr>
            <a:picLocks noChangeAspect="1"/>
          </p:cNvPicPr>
          <p:nvPr/>
        </p:nvPicPr>
        <p:blipFill>
          <a:blip r:embed="rId3"/>
          <a:stretch>
            <a:fillRect/>
          </a:stretch>
        </p:blipFill>
        <p:spPr>
          <a:xfrm>
            <a:off x="542346" y="2778540"/>
            <a:ext cx="2478040" cy="2458978"/>
          </a:xfrm>
          <a:prstGeom prst="rect">
            <a:avLst/>
          </a:prstGeom>
        </p:spPr>
      </p:pic>
      <p:pic>
        <p:nvPicPr>
          <p:cNvPr id="31" name="图片 30">
            <a:extLst>
              <a:ext uri="{FF2B5EF4-FFF2-40B4-BE49-F238E27FC236}">
                <a16:creationId xmlns:a16="http://schemas.microsoft.com/office/drawing/2014/main" id="{17EA3C47-5310-8644-A35B-5BAF6A7044E4}"/>
              </a:ext>
            </a:extLst>
          </p:cNvPr>
          <p:cNvPicPr>
            <a:picLocks noChangeAspect="1"/>
          </p:cNvPicPr>
          <p:nvPr/>
        </p:nvPicPr>
        <p:blipFill>
          <a:blip r:embed="rId4"/>
          <a:stretch>
            <a:fillRect/>
          </a:stretch>
        </p:blipFill>
        <p:spPr>
          <a:xfrm>
            <a:off x="1038416" y="5425060"/>
            <a:ext cx="1485900" cy="457200"/>
          </a:xfrm>
          <a:prstGeom prst="rect">
            <a:avLst/>
          </a:prstGeom>
        </p:spPr>
      </p:pic>
      <p:pic>
        <p:nvPicPr>
          <p:cNvPr id="3" name="图片 2">
            <a:extLst>
              <a:ext uri="{FF2B5EF4-FFF2-40B4-BE49-F238E27FC236}">
                <a16:creationId xmlns:a16="http://schemas.microsoft.com/office/drawing/2014/main" id="{8E908AFD-19E7-6E4F-B3F6-5E679B45B11E}"/>
              </a:ext>
            </a:extLst>
          </p:cNvPr>
          <p:cNvPicPr>
            <a:picLocks noChangeAspect="1"/>
          </p:cNvPicPr>
          <p:nvPr/>
        </p:nvPicPr>
        <p:blipFill>
          <a:blip r:embed="rId5"/>
          <a:stretch>
            <a:fillRect/>
          </a:stretch>
        </p:blipFill>
        <p:spPr>
          <a:xfrm>
            <a:off x="4881155" y="2775365"/>
            <a:ext cx="2429690" cy="2420272"/>
          </a:xfrm>
          <a:prstGeom prst="rect">
            <a:avLst/>
          </a:prstGeom>
        </p:spPr>
      </p:pic>
      <p:pic>
        <p:nvPicPr>
          <p:cNvPr id="4" name="图片 3">
            <a:extLst>
              <a:ext uri="{FF2B5EF4-FFF2-40B4-BE49-F238E27FC236}">
                <a16:creationId xmlns:a16="http://schemas.microsoft.com/office/drawing/2014/main" id="{80AC7DA7-AFDB-8849-BED0-5B1468D04D65}"/>
              </a:ext>
            </a:extLst>
          </p:cNvPr>
          <p:cNvPicPr>
            <a:picLocks noChangeAspect="1"/>
          </p:cNvPicPr>
          <p:nvPr/>
        </p:nvPicPr>
        <p:blipFill>
          <a:blip r:embed="rId6"/>
          <a:stretch>
            <a:fillRect/>
          </a:stretch>
        </p:blipFill>
        <p:spPr>
          <a:xfrm>
            <a:off x="5302143" y="5415535"/>
            <a:ext cx="1460500" cy="469900"/>
          </a:xfrm>
          <a:prstGeom prst="rect">
            <a:avLst/>
          </a:prstGeom>
        </p:spPr>
      </p:pic>
      <p:pic>
        <p:nvPicPr>
          <p:cNvPr id="5" name="图片 4">
            <a:extLst>
              <a:ext uri="{FF2B5EF4-FFF2-40B4-BE49-F238E27FC236}">
                <a16:creationId xmlns:a16="http://schemas.microsoft.com/office/drawing/2014/main" id="{909EE3A9-C043-684B-B4B2-99FBA4A8A964}"/>
              </a:ext>
            </a:extLst>
          </p:cNvPr>
          <p:cNvPicPr>
            <a:picLocks noChangeAspect="1"/>
          </p:cNvPicPr>
          <p:nvPr/>
        </p:nvPicPr>
        <p:blipFill>
          <a:blip r:embed="rId7"/>
          <a:stretch>
            <a:fillRect/>
          </a:stretch>
        </p:blipFill>
        <p:spPr>
          <a:xfrm>
            <a:off x="9171614" y="2724984"/>
            <a:ext cx="2478040" cy="2449337"/>
          </a:xfrm>
          <a:prstGeom prst="rect">
            <a:avLst/>
          </a:prstGeom>
        </p:spPr>
      </p:pic>
      <p:pic>
        <p:nvPicPr>
          <p:cNvPr id="6" name="图片 5">
            <a:extLst>
              <a:ext uri="{FF2B5EF4-FFF2-40B4-BE49-F238E27FC236}">
                <a16:creationId xmlns:a16="http://schemas.microsoft.com/office/drawing/2014/main" id="{31A6F07D-3AA4-0448-BB73-5ECAFF89BF17}"/>
              </a:ext>
            </a:extLst>
          </p:cNvPr>
          <p:cNvPicPr>
            <a:picLocks noChangeAspect="1"/>
          </p:cNvPicPr>
          <p:nvPr/>
        </p:nvPicPr>
        <p:blipFill>
          <a:blip r:embed="rId8"/>
          <a:stretch>
            <a:fillRect/>
          </a:stretch>
        </p:blipFill>
        <p:spPr>
          <a:xfrm>
            <a:off x="9674034" y="5356505"/>
            <a:ext cx="1473200" cy="495300"/>
          </a:xfrm>
          <a:prstGeom prst="rect">
            <a:avLst/>
          </a:prstGeom>
        </p:spPr>
      </p:pic>
    </p:spTree>
    <p:extLst>
      <p:ext uri="{BB962C8B-B14F-4D97-AF65-F5344CB8AC3E}">
        <p14:creationId xmlns:p14="http://schemas.microsoft.com/office/powerpoint/2010/main" val="41855435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97</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50937" y="536354"/>
            <a:ext cx="2021561"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架构设计</a:t>
            </a:r>
          </a:p>
        </p:txBody>
      </p:sp>
      <p:sp>
        <p:nvSpPr>
          <p:cNvPr id="14" name="矩形 13">
            <a:extLst>
              <a:ext uri="{FF2B5EF4-FFF2-40B4-BE49-F238E27FC236}">
                <a16:creationId xmlns:a16="http://schemas.microsoft.com/office/drawing/2014/main" id="{259E221F-2C6D-B944-B11E-5737433999F0}"/>
              </a:ext>
            </a:extLst>
          </p:cNvPr>
          <p:cNvSpPr/>
          <p:nvPr/>
        </p:nvSpPr>
        <p:spPr bwMode="auto">
          <a:xfrm>
            <a:off x="542346" y="1420222"/>
            <a:ext cx="11132848" cy="115564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多层感知机网络只考虑了相邻层的神经元之间两两都连接的情况，这种层也被称为全连接层</a:t>
            </a:r>
            <a:r>
              <a:rPr lang="en-US" altLang="zh-CN" sz="2400" dirty="0">
                <a:latin typeface="Times New Roman" panose="02020603050405020304" pitchFamily="18" charset="0"/>
                <a:cs typeface="Times New Roman" panose="02020603050405020304" pitchFamily="18" charset="0"/>
              </a:rPr>
              <a:t>(Fully Connected Layer)</a:t>
            </a:r>
            <a:r>
              <a:rPr lang="zh-CN" altLang="en-US" sz="2400" dirty="0">
                <a:latin typeface="Times New Roman" panose="02020603050405020304" pitchFamily="18" charset="0"/>
                <a:cs typeface="Times New Roman" panose="02020603050405020304" pitchFamily="18" charset="0"/>
              </a:rPr>
              <a:t>。实践中根据任务的不同，通常需要设计和利用不同类型的层。</a:t>
            </a:r>
          </a:p>
        </p:txBody>
      </p:sp>
      <p:pic>
        <p:nvPicPr>
          <p:cNvPr id="38914" name="Picture 2" descr="AI 生成的图片">
            <a:extLst>
              <a:ext uri="{FF2B5EF4-FFF2-40B4-BE49-F238E27FC236}">
                <a16:creationId xmlns:a16="http://schemas.microsoft.com/office/drawing/2014/main" id="{65EEFE27-032B-9F40-8C9B-A10D8D7019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346" y="2754966"/>
            <a:ext cx="7160494" cy="3905639"/>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8F3C18F1-0ACD-8E44-87E3-79A9A7E945DC}"/>
              </a:ext>
            </a:extLst>
          </p:cNvPr>
          <p:cNvSpPr txBox="1"/>
          <p:nvPr/>
        </p:nvSpPr>
        <p:spPr>
          <a:xfrm>
            <a:off x="7761050" y="2711783"/>
            <a:ext cx="4430950" cy="3154710"/>
          </a:xfrm>
          <a:prstGeom prst="rect">
            <a:avLst/>
          </a:prstGeom>
          <a:noFill/>
        </p:spPr>
        <p:txBody>
          <a:bodyPr wrap="square" rtlCol="0">
            <a:spAutoFit/>
          </a:bodyPr>
          <a:lstStyle/>
          <a:p>
            <a:pPr marL="285750" indent="-285750">
              <a:buFont typeface="Wingdings" pitchFamily="2" charset="2"/>
              <a:buChar char="n"/>
            </a:pPr>
            <a:r>
              <a:rPr kumimoji="1" lang="zh-CN" altLang="en-US" sz="2400" dirty="0"/>
              <a:t>典型的卷积神经网络</a:t>
            </a:r>
            <a:endParaRPr kumimoji="1" lang="en-US" altLang="zh-CN" sz="2400" dirty="0"/>
          </a:p>
          <a:p>
            <a:pPr marL="800100" lvl="1" indent="-342900">
              <a:lnSpc>
                <a:spcPct val="150000"/>
              </a:lnSpc>
              <a:buFont typeface="Wingdings" pitchFamily="2" charset="2"/>
              <a:buChar char="p"/>
            </a:pPr>
            <a:r>
              <a:rPr kumimoji="1" lang="zh-CN" altLang="en-US" sz="2200" dirty="0"/>
              <a:t>卷积层</a:t>
            </a:r>
            <a:r>
              <a:rPr kumimoji="1" lang="en-US" altLang="zh-CN" sz="2200" dirty="0"/>
              <a:t>(Convolutional Layer)</a:t>
            </a:r>
          </a:p>
          <a:p>
            <a:pPr marL="800100" lvl="1" indent="-342900">
              <a:buFont typeface="Wingdings" pitchFamily="2" charset="2"/>
              <a:buChar char="p"/>
            </a:pPr>
            <a:endParaRPr kumimoji="1" lang="en-US" altLang="zh-CN" sz="2200" dirty="0"/>
          </a:p>
          <a:p>
            <a:pPr marL="800100" lvl="1" indent="-342900">
              <a:buFont typeface="Wingdings" pitchFamily="2" charset="2"/>
              <a:buChar char="p"/>
            </a:pPr>
            <a:r>
              <a:rPr kumimoji="1" lang="zh-CN" altLang="en-US" sz="2400" dirty="0"/>
              <a:t>池化层</a:t>
            </a:r>
            <a:r>
              <a:rPr kumimoji="1" lang="en-US" altLang="zh-CN" sz="2400" dirty="0"/>
              <a:t>(Pooling Layer)</a:t>
            </a:r>
          </a:p>
          <a:p>
            <a:pPr marL="800100" lvl="1" indent="-342900">
              <a:buFont typeface="Wingdings" pitchFamily="2" charset="2"/>
              <a:buChar char="p"/>
            </a:pPr>
            <a:endParaRPr kumimoji="1" lang="en-US" altLang="zh-CN" sz="2400" dirty="0"/>
          </a:p>
          <a:p>
            <a:pPr marL="800100" lvl="1" indent="-342900">
              <a:buFont typeface="Wingdings" pitchFamily="2" charset="2"/>
              <a:buChar char="p"/>
            </a:pPr>
            <a:r>
              <a:rPr kumimoji="1" lang="zh-CN" altLang="en-US" sz="2400" dirty="0"/>
              <a:t>展平层</a:t>
            </a:r>
            <a:r>
              <a:rPr kumimoji="1" lang="en-US" altLang="zh-CN" sz="2400" dirty="0"/>
              <a:t>(Flatten</a:t>
            </a:r>
            <a:r>
              <a:rPr kumimoji="1" lang="zh-CN" altLang="en-US" sz="2400" dirty="0"/>
              <a:t> </a:t>
            </a:r>
            <a:r>
              <a:rPr kumimoji="1" lang="en-US" altLang="zh-CN" sz="2400" dirty="0"/>
              <a:t>Layer)</a:t>
            </a:r>
          </a:p>
          <a:p>
            <a:pPr marL="800100" lvl="1" indent="-342900">
              <a:buFont typeface="Wingdings" pitchFamily="2" charset="2"/>
              <a:buChar char="p"/>
            </a:pPr>
            <a:endParaRPr kumimoji="1" lang="en-US" altLang="zh-CN" sz="2400" dirty="0"/>
          </a:p>
          <a:p>
            <a:pPr marL="800100" lvl="1" indent="-342900">
              <a:buFont typeface="Wingdings" pitchFamily="2" charset="2"/>
              <a:buChar char="p"/>
            </a:pPr>
            <a:r>
              <a:rPr kumimoji="1" lang="zh-CN" altLang="en-US" sz="2400" dirty="0"/>
              <a:t>全连接层</a:t>
            </a:r>
            <a:endParaRPr kumimoji="1" lang="en-US" altLang="zh-CN" sz="2400" dirty="0"/>
          </a:p>
        </p:txBody>
      </p:sp>
    </p:spTree>
    <p:extLst>
      <p:ext uri="{BB962C8B-B14F-4D97-AF65-F5344CB8AC3E}">
        <p14:creationId xmlns:p14="http://schemas.microsoft.com/office/powerpoint/2010/main" val="28324561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1D79868D-9E42-F341-8E3D-31224CA5C332}"/>
              </a:ext>
            </a:extLst>
          </p:cNvPr>
          <p:cNvSpPr txBox="1"/>
          <p:nvPr/>
        </p:nvSpPr>
        <p:spPr>
          <a:xfrm>
            <a:off x="542346" y="2711783"/>
            <a:ext cx="10455168" cy="3785652"/>
          </a:xfrm>
          <a:prstGeom prst="rect">
            <a:avLst/>
          </a:prstGeom>
          <a:noFill/>
        </p:spPr>
        <p:txBody>
          <a:bodyPr wrap="square" rtlCol="0">
            <a:spAutoFit/>
          </a:bodyPr>
          <a:lstStyle/>
          <a:p>
            <a:pPr marL="285750" indent="-285750">
              <a:buFont typeface="Wingdings" pitchFamily="2" charset="2"/>
              <a:buChar char="n"/>
            </a:pPr>
            <a:r>
              <a:rPr kumimoji="1" lang="zh-CN" altLang="en-US" sz="2400" dirty="0"/>
              <a:t>卷积层示意图</a:t>
            </a: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342900" indent="-342900">
              <a:buFont typeface="Wingdings" pitchFamily="2" charset="2"/>
              <a:buChar char="n"/>
            </a:pPr>
            <a:r>
              <a:rPr kumimoji="1" lang="zh-CN" altLang="en-US" sz="2400" dirty="0"/>
              <a:t>实践技巧</a:t>
            </a:r>
            <a:endParaRPr kumimoji="1" lang="en-US" altLang="zh-CN" sz="2400" dirty="0"/>
          </a:p>
          <a:p>
            <a:pPr marL="800100" lvl="1" indent="-342900">
              <a:buFont typeface="Wingdings" pitchFamily="2" charset="2"/>
              <a:buChar char="p"/>
            </a:pPr>
            <a:r>
              <a:rPr kumimoji="1" lang="zh-CN" altLang="en-US" sz="2400" dirty="0"/>
              <a:t>偏置项、边缘填充</a:t>
            </a:r>
            <a:r>
              <a:rPr kumimoji="1" lang="en-US" altLang="zh-CN" sz="2400" dirty="0"/>
              <a:t>(Padding)</a:t>
            </a:r>
            <a:r>
              <a:rPr kumimoji="1" lang="zh-CN" altLang="en-US" sz="2400" dirty="0"/>
              <a:t>、跨步</a:t>
            </a:r>
            <a:r>
              <a:rPr kumimoji="1" lang="en-US" altLang="zh-CN" sz="2400" dirty="0"/>
              <a:t>(Stride)</a:t>
            </a:r>
            <a:r>
              <a:rPr kumimoji="1" lang="zh-CN" altLang="en-US" sz="2400" dirty="0"/>
              <a:t>计算</a:t>
            </a:r>
            <a:endParaRPr kumimoji="1" lang="en-US" altLang="zh-CN" sz="2400" dirty="0"/>
          </a:p>
        </p:txBody>
      </p:sp>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98</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50937" y="536354"/>
            <a:ext cx="2021561"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架构设计</a:t>
            </a:r>
          </a:p>
        </p:txBody>
      </p:sp>
      <p:sp>
        <p:nvSpPr>
          <p:cNvPr id="14" name="矩形 13">
            <a:extLst>
              <a:ext uri="{FF2B5EF4-FFF2-40B4-BE49-F238E27FC236}">
                <a16:creationId xmlns:a16="http://schemas.microsoft.com/office/drawing/2014/main" id="{259E221F-2C6D-B944-B11E-5737433999F0}"/>
              </a:ext>
            </a:extLst>
          </p:cNvPr>
          <p:cNvSpPr/>
          <p:nvPr/>
        </p:nvSpPr>
        <p:spPr bwMode="auto">
          <a:xfrm>
            <a:off x="542346" y="1420222"/>
            <a:ext cx="11132848" cy="115564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多层感知机网络只考虑了相邻层的神经元之间两两都连接的情况，这种层也被称为全连接层</a:t>
            </a:r>
            <a:r>
              <a:rPr lang="en-US" altLang="zh-CN" sz="2400" dirty="0">
                <a:latin typeface="Times New Roman" panose="02020603050405020304" pitchFamily="18" charset="0"/>
                <a:cs typeface="Times New Roman" panose="02020603050405020304" pitchFamily="18" charset="0"/>
              </a:rPr>
              <a:t>(Fully Connected Layer)</a:t>
            </a:r>
            <a:r>
              <a:rPr lang="zh-CN" altLang="en-US" sz="2400" dirty="0">
                <a:latin typeface="Times New Roman" panose="02020603050405020304" pitchFamily="18" charset="0"/>
                <a:cs typeface="Times New Roman" panose="02020603050405020304" pitchFamily="18" charset="0"/>
              </a:rPr>
              <a:t>。实践中根据任务的不同，通常需要设计和利用不同类型的层。</a:t>
            </a:r>
          </a:p>
        </p:txBody>
      </p:sp>
      <p:pic>
        <p:nvPicPr>
          <p:cNvPr id="5" name="图片 4">
            <a:extLst>
              <a:ext uri="{FF2B5EF4-FFF2-40B4-BE49-F238E27FC236}">
                <a16:creationId xmlns:a16="http://schemas.microsoft.com/office/drawing/2014/main" id="{ABF45F5E-EC43-9845-9FE2-613F0EC9C173}"/>
              </a:ext>
            </a:extLst>
          </p:cNvPr>
          <p:cNvPicPr>
            <a:picLocks noChangeAspect="1"/>
          </p:cNvPicPr>
          <p:nvPr/>
        </p:nvPicPr>
        <p:blipFill>
          <a:blip r:embed="rId3"/>
          <a:stretch>
            <a:fillRect/>
          </a:stretch>
        </p:blipFill>
        <p:spPr>
          <a:xfrm>
            <a:off x="1590520" y="3277169"/>
            <a:ext cx="6759925" cy="2160609"/>
          </a:xfrm>
          <a:prstGeom prst="rect">
            <a:avLst/>
          </a:prstGeom>
        </p:spPr>
      </p:pic>
      <p:graphicFrame>
        <p:nvGraphicFramePr>
          <p:cNvPr id="3" name="表格 5">
            <a:extLst>
              <a:ext uri="{FF2B5EF4-FFF2-40B4-BE49-F238E27FC236}">
                <a16:creationId xmlns:a16="http://schemas.microsoft.com/office/drawing/2014/main" id="{E10EE830-77E9-CD4E-A1D8-B6AD7944246B}"/>
              </a:ext>
            </a:extLst>
          </p:cNvPr>
          <p:cNvGraphicFramePr>
            <a:graphicFrameLocks noGrp="1"/>
          </p:cNvGraphicFramePr>
          <p:nvPr>
            <p:extLst>
              <p:ext uri="{D42A27DB-BD31-4B8C-83A1-F6EECF244321}">
                <p14:modId xmlns:p14="http://schemas.microsoft.com/office/powerpoint/2010/main" val="377503193"/>
              </p:ext>
            </p:extLst>
          </p:nvPr>
        </p:nvGraphicFramePr>
        <p:xfrm>
          <a:off x="8610600" y="3865068"/>
          <a:ext cx="1213731" cy="1204383"/>
        </p:xfrm>
        <a:graphic>
          <a:graphicData uri="http://schemas.openxmlformats.org/drawingml/2006/table">
            <a:tbl>
              <a:tblPr firstRow="1" bandRow="1">
                <a:tableStyleId>{2D5ABB26-0587-4C30-8999-92F81FD0307C}</a:tableStyleId>
              </a:tblPr>
              <a:tblGrid>
                <a:gridCol w="404577">
                  <a:extLst>
                    <a:ext uri="{9D8B030D-6E8A-4147-A177-3AD203B41FA5}">
                      <a16:colId xmlns:a16="http://schemas.microsoft.com/office/drawing/2014/main" val="1747778637"/>
                    </a:ext>
                  </a:extLst>
                </a:gridCol>
                <a:gridCol w="404577">
                  <a:extLst>
                    <a:ext uri="{9D8B030D-6E8A-4147-A177-3AD203B41FA5}">
                      <a16:colId xmlns:a16="http://schemas.microsoft.com/office/drawing/2014/main" val="2423366284"/>
                    </a:ext>
                  </a:extLst>
                </a:gridCol>
                <a:gridCol w="404577">
                  <a:extLst>
                    <a:ext uri="{9D8B030D-6E8A-4147-A177-3AD203B41FA5}">
                      <a16:colId xmlns:a16="http://schemas.microsoft.com/office/drawing/2014/main" val="111473948"/>
                    </a:ext>
                  </a:extLst>
                </a:gridCol>
              </a:tblGrid>
              <a:tr h="401461">
                <a:tc>
                  <a:txBody>
                    <a:bodyPr/>
                    <a:lstStyle/>
                    <a:p>
                      <a:pPr algn="ctr"/>
                      <a:r>
                        <a:rPr lang="en-US" altLang="zh-CN" sz="1600" dirty="0"/>
                        <a:t>7</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9</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11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37780000"/>
                  </a:ext>
                </a:extLst>
              </a:tr>
              <a:tr h="401461">
                <a:tc>
                  <a:txBody>
                    <a:bodyPr/>
                    <a:lstStyle/>
                    <a:p>
                      <a:pPr algn="ctr"/>
                      <a:r>
                        <a:rPr lang="en-US" altLang="zh-CN" sz="1600" dirty="0"/>
                        <a:t>13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13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13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701874497"/>
                  </a:ext>
                </a:extLst>
              </a:tr>
              <a:tr h="401461">
                <a:tc>
                  <a:txBody>
                    <a:bodyPr/>
                    <a:lstStyle/>
                    <a:p>
                      <a:pPr algn="ctr"/>
                      <a:r>
                        <a:rPr lang="en-US" altLang="zh-CN" sz="1600" dirty="0"/>
                        <a:t>13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11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9</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783522878"/>
                  </a:ext>
                </a:extLst>
              </a:tr>
            </a:tbl>
          </a:graphicData>
        </a:graphic>
      </p:graphicFrame>
      <p:sp>
        <p:nvSpPr>
          <p:cNvPr id="6" name="文本框 5">
            <a:extLst>
              <a:ext uri="{FF2B5EF4-FFF2-40B4-BE49-F238E27FC236}">
                <a16:creationId xmlns:a16="http://schemas.microsoft.com/office/drawing/2014/main" id="{525FDAD3-C26B-4348-9205-B90CD4CAA3D7}"/>
              </a:ext>
            </a:extLst>
          </p:cNvPr>
          <p:cNvSpPr txBox="1"/>
          <p:nvPr/>
        </p:nvSpPr>
        <p:spPr>
          <a:xfrm>
            <a:off x="8647406" y="3458558"/>
            <a:ext cx="1176925" cy="338554"/>
          </a:xfrm>
          <a:prstGeom prst="rect">
            <a:avLst/>
          </a:prstGeom>
          <a:noFill/>
        </p:spPr>
        <p:txBody>
          <a:bodyPr wrap="none" rtlCol="0">
            <a:spAutoFit/>
          </a:bodyPr>
          <a:lstStyle/>
          <a:p>
            <a:r>
              <a:rPr kumimoji="1" lang="en-US" altLang="zh-CN" sz="1600" dirty="0"/>
              <a:t>3x3 Output</a:t>
            </a:r>
            <a:endParaRPr kumimoji="1" lang="zh-CN" altLang="en-US" sz="1600" dirty="0"/>
          </a:p>
        </p:txBody>
      </p:sp>
    </p:spTree>
    <p:extLst>
      <p:ext uri="{BB962C8B-B14F-4D97-AF65-F5344CB8AC3E}">
        <p14:creationId xmlns:p14="http://schemas.microsoft.com/office/powerpoint/2010/main" val="6269136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1D79868D-9E42-F341-8E3D-31224CA5C332}"/>
              </a:ext>
            </a:extLst>
          </p:cNvPr>
          <p:cNvSpPr txBox="1"/>
          <p:nvPr/>
        </p:nvSpPr>
        <p:spPr>
          <a:xfrm>
            <a:off x="542346" y="2711783"/>
            <a:ext cx="10455168" cy="3785652"/>
          </a:xfrm>
          <a:prstGeom prst="rect">
            <a:avLst/>
          </a:prstGeom>
          <a:noFill/>
        </p:spPr>
        <p:txBody>
          <a:bodyPr wrap="square" rtlCol="0">
            <a:spAutoFit/>
          </a:bodyPr>
          <a:lstStyle/>
          <a:p>
            <a:pPr marL="285750" indent="-285750">
              <a:buFont typeface="Wingdings" pitchFamily="2" charset="2"/>
              <a:buChar char="n"/>
            </a:pPr>
            <a:r>
              <a:rPr kumimoji="1" lang="zh-CN" altLang="en-US" sz="2400" dirty="0"/>
              <a:t>池化层示意图</a:t>
            </a: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endParaRPr kumimoji="1" lang="en-US" altLang="zh-CN" sz="2400" dirty="0"/>
          </a:p>
          <a:p>
            <a:pPr marL="800100" lvl="1" indent="-342900">
              <a:buFont typeface="Wingdings" pitchFamily="2" charset="2"/>
              <a:buChar char="p"/>
            </a:pPr>
            <a:r>
              <a:rPr kumimoji="1" lang="zh-CN" altLang="en-US" sz="2400" dirty="0"/>
              <a:t>无需学习</a:t>
            </a:r>
            <a:endParaRPr kumimoji="1" lang="en-US" altLang="zh-CN" sz="2400" dirty="0"/>
          </a:p>
        </p:txBody>
      </p:sp>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99</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50937" y="536354"/>
            <a:ext cx="2021561"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架构设计</a:t>
            </a:r>
          </a:p>
        </p:txBody>
      </p:sp>
      <p:sp>
        <p:nvSpPr>
          <p:cNvPr id="14" name="矩形 13">
            <a:extLst>
              <a:ext uri="{FF2B5EF4-FFF2-40B4-BE49-F238E27FC236}">
                <a16:creationId xmlns:a16="http://schemas.microsoft.com/office/drawing/2014/main" id="{259E221F-2C6D-B944-B11E-5737433999F0}"/>
              </a:ext>
            </a:extLst>
          </p:cNvPr>
          <p:cNvSpPr/>
          <p:nvPr/>
        </p:nvSpPr>
        <p:spPr bwMode="auto">
          <a:xfrm>
            <a:off x="542346" y="1420222"/>
            <a:ext cx="11132848" cy="115564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多层感知机网络只考虑了相邻层的神经元之间两两都连接的情况，这种层也被称为全连接层</a:t>
            </a:r>
            <a:r>
              <a:rPr lang="en-US" altLang="zh-CN" sz="2400" dirty="0">
                <a:latin typeface="Times New Roman" panose="02020603050405020304" pitchFamily="18" charset="0"/>
                <a:cs typeface="Times New Roman" panose="02020603050405020304" pitchFamily="18" charset="0"/>
              </a:rPr>
              <a:t>(Fully Connected Layer)</a:t>
            </a:r>
            <a:r>
              <a:rPr lang="zh-CN" altLang="en-US" sz="2400" dirty="0">
                <a:latin typeface="Times New Roman" panose="02020603050405020304" pitchFamily="18" charset="0"/>
                <a:cs typeface="Times New Roman" panose="02020603050405020304" pitchFamily="18" charset="0"/>
              </a:rPr>
              <a:t>。实践中根据任务的不同，通常需要设计和利用不同类型的层。</a:t>
            </a:r>
          </a:p>
        </p:txBody>
      </p:sp>
      <p:pic>
        <p:nvPicPr>
          <p:cNvPr id="4" name="图片 3">
            <a:extLst>
              <a:ext uri="{FF2B5EF4-FFF2-40B4-BE49-F238E27FC236}">
                <a16:creationId xmlns:a16="http://schemas.microsoft.com/office/drawing/2014/main" id="{E0A86AA1-CDDA-B54E-AF7C-1A2E575DF7B8}"/>
              </a:ext>
            </a:extLst>
          </p:cNvPr>
          <p:cNvPicPr>
            <a:picLocks noChangeAspect="1"/>
          </p:cNvPicPr>
          <p:nvPr/>
        </p:nvPicPr>
        <p:blipFill>
          <a:blip r:embed="rId3"/>
          <a:stretch>
            <a:fillRect/>
          </a:stretch>
        </p:blipFill>
        <p:spPr>
          <a:xfrm>
            <a:off x="2077541" y="3429000"/>
            <a:ext cx="7815968" cy="2237978"/>
          </a:xfrm>
          <a:prstGeom prst="rect">
            <a:avLst/>
          </a:prstGeom>
        </p:spPr>
      </p:pic>
    </p:spTree>
    <p:extLst>
      <p:ext uri="{BB962C8B-B14F-4D97-AF65-F5344CB8AC3E}">
        <p14:creationId xmlns:p14="http://schemas.microsoft.com/office/powerpoint/2010/main" val="5415283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1D79868D-9E42-F341-8E3D-31224CA5C332}"/>
              </a:ext>
            </a:extLst>
          </p:cNvPr>
          <p:cNvSpPr txBox="1"/>
          <p:nvPr/>
        </p:nvSpPr>
        <p:spPr>
          <a:xfrm>
            <a:off x="542346" y="2711783"/>
            <a:ext cx="10455168" cy="3785652"/>
          </a:xfrm>
          <a:prstGeom prst="rect">
            <a:avLst/>
          </a:prstGeom>
          <a:noFill/>
        </p:spPr>
        <p:txBody>
          <a:bodyPr wrap="square" rtlCol="0">
            <a:spAutoFit/>
          </a:bodyPr>
          <a:lstStyle/>
          <a:p>
            <a:pPr marL="285750" indent="-285750">
              <a:buFont typeface="Wingdings" pitchFamily="2" charset="2"/>
              <a:buChar char="n"/>
            </a:pPr>
            <a:r>
              <a:rPr kumimoji="1" lang="zh-CN" altLang="en-US" sz="2400" dirty="0"/>
              <a:t>展平层示意图</a:t>
            </a: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pPr marL="285750" indent="-285750">
              <a:buFont typeface="Wingdings" pitchFamily="2" charset="2"/>
              <a:buChar char="n"/>
            </a:pPr>
            <a:endParaRPr kumimoji="1" lang="en-US" altLang="zh-CN" sz="2400" dirty="0"/>
          </a:p>
          <a:p>
            <a:endParaRPr kumimoji="1" lang="en-US" altLang="zh-CN" sz="2400" dirty="0"/>
          </a:p>
          <a:p>
            <a:pPr marL="800100" lvl="1" indent="-342900">
              <a:buFont typeface="Wingdings" pitchFamily="2" charset="2"/>
              <a:buChar char="p"/>
            </a:pPr>
            <a:r>
              <a:rPr kumimoji="1" lang="zh-CN" altLang="en-US" sz="2400" dirty="0"/>
              <a:t>无需学习</a:t>
            </a:r>
            <a:endParaRPr kumimoji="1" lang="en-US" altLang="zh-CN" sz="2400" dirty="0"/>
          </a:p>
        </p:txBody>
      </p:sp>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100</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50937" y="536354"/>
            <a:ext cx="2021561"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架构设计</a:t>
            </a:r>
          </a:p>
        </p:txBody>
      </p:sp>
      <p:sp>
        <p:nvSpPr>
          <p:cNvPr id="14" name="矩形 13">
            <a:extLst>
              <a:ext uri="{FF2B5EF4-FFF2-40B4-BE49-F238E27FC236}">
                <a16:creationId xmlns:a16="http://schemas.microsoft.com/office/drawing/2014/main" id="{259E221F-2C6D-B944-B11E-5737433999F0}"/>
              </a:ext>
            </a:extLst>
          </p:cNvPr>
          <p:cNvSpPr/>
          <p:nvPr/>
        </p:nvSpPr>
        <p:spPr bwMode="auto">
          <a:xfrm>
            <a:off x="542346" y="1420222"/>
            <a:ext cx="11132848" cy="1155648"/>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just">
              <a:buClr>
                <a:srgbClr val="C00000"/>
              </a:buClr>
            </a:pPr>
            <a:r>
              <a:rPr lang="zh-CN" altLang="en-US" sz="2400" dirty="0">
                <a:latin typeface="Times New Roman" panose="02020603050405020304" pitchFamily="18" charset="0"/>
                <a:cs typeface="Times New Roman" panose="02020603050405020304" pitchFamily="18" charset="0"/>
              </a:rPr>
              <a:t>多层感知机网络只考虑了相邻层的神经元之间两两都连接的情况，这种层也被称为全连接层</a:t>
            </a:r>
            <a:r>
              <a:rPr lang="en-US" altLang="zh-CN" sz="2400" dirty="0">
                <a:latin typeface="Times New Roman" panose="02020603050405020304" pitchFamily="18" charset="0"/>
                <a:cs typeface="Times New Roman" panose="02020603050405020304" pitchFamily="18" charset="0"/>
              </a:rPr>
              <a:t>(Fully Connected Layer)</a:t>
            </a:r>
            <a:r>
              <a:rPr lang="zh-CN" altLang="en-US" sz="2400" dirty="0">
                <a:latin typeface="Times New Roman" panose="02020603050405020304" pitchFamily="18" charset="0"/>
                <a:cs typeface="Times New Roman" panose="02020603050405020304" pitchFamily="18" charset="0"/>
              </a:rPr>
              <a:t>。实践中根据任务的不同，通常需要设计和利用不同类型的层。</a:t>
            </a:r>
          </a:p>
        </p:txBody>
      </p:sp>
      <p:graphicFrame>
        <p:nvGraphicFramePr>
          <p:cNvPr id="11" name="表格 5">
            <a:extLst>
              <a:ext uri="{FF2B5EF4-FFF2-40B4-BE49-F238E27FC236}">
                <a16:creationId xmlns:a16="http://schemas.microsoft.com/office/drawing/2014/main" id="{54A4206A-FC41-074E-81A3-FF509B6B8D48}"/>
              </a:ext>
            </a:extLst>
          </p:cNvPr>
          <p:cNvGraphicFramePr>
            <a:graphicFrameLocks noGrp="1"/>
          </p:cNvGraphicFramePr>
          <p:nvPr>
            <p:extLst>
              <p:ext uri="{D42A27DB-BD31-4B8C-83A1-F6EECF244321}">
                <p14:modId xmlns:p14="http://schemas.microsoft.com/office/powerpoint/2010/main" val="3581615973"/>
              </p:ext>
            </p:extLst>
          </p:nvPr>
        </p:nvGraphicFramePr>
        <p:xfrm>
          <a:off x="5146644" y="4273178"/>
          <a:ext cx="4129270" cy="338555"/>
        </p:xfrm>
        <a:graphic>
          <a:graphicData uri="http://schemas.openxmlformats.org/drawingml/2006/table">
            <a:tbl>
              <a:tblPr firstRow="1" bandRow="1">
                <a:tableStyleId>{2D5ABB26-0587-4C30-8999-92F81FD0307C}</a:tableStyleId>
              </a:tblPr>
              <a:tblGrid>
                <a:gridCol w="412927">
                  <a:extLst>
                    <a:ext uri="{9D8B030D-6E8A-4147-A177-3AD203B41FA5}">
                      <a16:colId xmlns:a16="http://schemas.microsoft.com/office/drawing/2014/main" val="1747778637"/>
                    </a:ext>
                  </a:extLst>
                </a:gridCol>
                <a:gridCol w="412927">
                  <a:extLst>
                    <a:ext uri="{9D8B030D-6E8A-4147-A177-3AD203B41FA5}">
                      <a16:colId xmlns:a16="http://schemas.microsoft.com/office/drawing/2014/main" val="2423366284"/>
                    </a:ext>
                  </a:extLst>
                </a:gridCol>
                <a:gridCol w="412927">
                  <a:extLst>
                    <a:ext uri="{9D8B030D-6E8A-4147-A177-3AD203B41FA5}">
                      <a16:colId xmlns:a16="http://schemas.microsoft.com/office/drawing/2014/main" val="111473948"/>
                    </a:ext>
                  </a:extLst>
                </a:gridCol>
                <a:gridCol w="412927">
                  <a:extLst>
                    <a:ext uri="{9D8B030D-6E8A-4147-A177-3AD203B41FA5}">
                      <a16:colId xmlns:a16="http://schemas.microsoft.com/office/drawing/2014/main" val="107419069"/>
                    </a:ext>
                  </a:extLst>
                </a:gridCol>
                <a:gridCol w="412927">
                  <a:extLst>
                    <a:ext uri="{9D8B030D-6E8A-4147-A177-3AD203B41FA5}">
                      <a16:colId xmlns:a16="http://schemas.microsoft.com/office/drawing/2014/main" val="2651415087"/>
                    </a:ext>
                  </a:extLst>
                </a:gridCol>
                <a:gridCol w="412927">
                  <a:extLst>
                    <a:ext uri="{9D8B030D-6E8A-4147-A177-3AD203B41FA5}">
                      <a16:colId xmlns:a16="http://schemas.microsoft.com/office/drawing/2014/main" val="3314838970"/>
                    </a:ext>
                  </a:extLst>
                </a:gridCol>
                <a:gridCol w="412927">
                  <a:extLst>
                    <a:ext uri="{9D8B030D-6E8A-4147-A177-3AD203B41FA5}">
                      <a16:colId xmlns:a16="http://schemas.microsoft.com/office/drawing/2014/main" val="1821140998"/>
                    </a:ext>
                  </a:extLst>
                </a:gridCol>
                <a:gridCol w="412927">
                  <a:extLst>
                    <a:ext uri="{9D8B030D-6E8A-4147-A177-3AD203B41FA5}">
                      <a16:colId xmlns:a16="http://schemas.microsoft.com/office/drawing/2014/main" val="1996615146"/>
                    </a:ext>
                  </a:extLst>
                </a:gridCol>
                <a:gridCol w="412927">
                  <a:extLst>
                    <a:ext uri="{9D8B030D-6E8A-4147-A177-3AD203B41FA5}">
                      <a16:colId xmlns:a16="http://schemas.microsoft.com/office/drawing/2014/main" val="1462260006"/>
                    </a:ext>
                  </a:extLst>
                </a:gridCol>
                <a:gridCol w="412927">
                  <a:extLst>
                    <a:ext uri="{9D8B030D-6E8A-4147-A177-3AD203B41FA5}">
                      <a16:colId xmlns:a16="http://schemas.microsoft.com/office/drawing/2014/main" val="1254989389"/>
                    </a:ext>
                  </a:extLst>
                </a:gridCol>
              </a:tblGrid>
              <a:tr h="338555">
                <a:tc>
                  <a:txBody>
                    <a:bodyPr/>
                    <a:lstStyle/>
                    <a:p>
                      <a:pPr algn="ctr"/>
                      <a:r>
                        <a:rPr lang="en-US" altLang="zh-CN" sz="1600" dirty="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2</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4</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5</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41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42</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43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altLang="zh-CN" sz="1600" dirty="0"/>
                        <a:t>44</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37780000"/>
                  </a:ext>
                </a:extLst>
              </a:tr>
            </a:tbl>
          </a:graphicData>
        </a:graphic>
      </p:graphicFrame>
      <p:pic>
        <p:nvPicPr>
          <p:cNvPr id="5" name="图片 4">
            <a:extLst>
              <a:ext uri="{FF2B5EF4-FFF2-40B4-BE49-F238E27FC236}">
                <a16:creationId xmlns:a16="http://schemas.microsoft.com/office/drawing/2014/main" id="{2C9E096F-2838-3844-8129-CD8B4F2B1FA4}"/>
              </a:ext>
            </a:extLst>
          </p:cNvPr>
          <p:cNvPicPr>
            <a:picLocks noChangeAspect="1"/>
          </p:cNvPicPr>
          <p:nvPr/>
        </p:nvPicPr>
        <p:blipFill>
          <a:blip r:embed="rId3"/>
          <a:stretch>
            <a:fillRect/>
          </a:stretch>
        </p:blipFill>
        <p:spPr>
          <a:xfrm>
            <a:off x="2037940" y="3446619"/>
            <a:ext cx="1949443" cy="2283633"/>
          </a:xfrm>
          <a:prstGeom prst="rect">
            <a:avLst/>
          </a:prstGeom>
        </p:spPr>
      </p:pic>
      <p:sp>
        <p:nvSpPr>
          <p:cNvPr id="13" name="燕尾形箭头 12">
            <a:extLst>
              <a:ext uri="{FF2B5EF4-FFF2-40B4-BE49-F238E27FC236}">
                <a16:creationId xmlns:a16="http://schemas.microsoft.com/office/drawing/2014/main" id="{48F9781D-9A7D-8C41-BB68-DFAE70888C20}"/>
              </a:ext>
            </a:extLst>
          </p:cNvPr>
          <p:cNvSpPr/>
          <p:nvPr/>
        </p:nvSpPr>
        <p:spPr bwMode="auto">
          <a:xfrm>
            <a:off x="4355684" y="4273178"/>
            <a:ext cx="434674" cy="338555"/>
          </a:xfrm>
          <a:prstGeom prst="notchedRightArrow">
            <a:avLst/>
          </a:prstGeom>
          <a:solidFill>
            <a:schemeClr val="accent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15" name="文本框 14">
            <a:extLst>
              <a:ext uri="{FF2B5EF4-FFF2-40B4-BE49-F238E27FC236}">
                <a16:creationId xmlns:a16="http://schemas.microsoft.com/office/drawing/2014/main" id="{04844128-2FB3-0C43-AFF9-08A3FE04B5E7}"/>
              </a:ext>
            </a:extLst>
          </p:cNvPr>
          <p:cNvSpPr txBox="1"/>
          <p:nvPr/>
        </p:nvSpPr>
        <p:spPr>
          <a:xfrm>
            <a:off x="6412953" y="4626519"/>
            <a:ext cx="1941557" cy="338554"/>
          </a:xfrm>
          <a:prstGeom prst="rect">
            <a:avLst/>
          </a:prstGeom>
          <a:noFill/>
        </p:spPr>
        <p:txBody>
          <a:bodyPr wrap="none" rtlCol="0">
            <a:spAutoFit/>
          </a:bodyPr>
          <a:lstStyle/>
          <a:p>
            <a:r>
              <a:rPr kumimoji="1" lang="en-US" altLang="zh-CN" sz="1600" dirty="0"/>
              <a:t>1D Flattened Vector</a:t>
            </a:r>
            <a:endParaRPr kumimoji="1" lang="zh-CN" altLang="en-US" sz="1600" dirty="0"/>
          </a:p>
        </p:txBody>
      </p:sp>
    </p:spTree>
    <p:extLst>
      <p:ext uri="{BB962C8B-B14F-4D97-AF65-F5344CB8AC3E}">
        <p14:creationId xmlns:p14="http://schemas.microsoft.com/office/powerpoint/2010/main" val="355521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0" y="491331"/>
            <a:ext cx="12192000" cy="688925"/>
          </a:xfrm>
          <a:prstGeom prst="rect">
            <a:avLst/>
          </a:prstGeom>
          <a:solidFill>
            <a:srgbClr val="142C68"/>
          </a:solidFill>
          <a:ln>
            <a:solidFill>
              <a:srgbClr val="142C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7BBEB7E-D8DD-224A-A2C2-F8D57D0B2DA8}"/>
              </a:ext>
            </a:extLst>
          </p:cNvPr>
          <p:cNvSpPr>
            <a:spLocks noGrp="1"/>
          </p:cNvSpPr>
          <p:nvPr>
            <p:ph type="sldNum" sz="quarter" idx="12"/>
          </p:nvPr>
        </p:nvSpPr>
        <p:spPr/>
        <p:txBody>
          <a:bodyPr/>
          <a:lstStyle/>
          <a:p>
            <a:fld id="{74633FFB-1C19-419E-8E77-89EB46374809}" type="slidenum">
              <a:rPr lang="zh-CN" altLang="en-US" smtClean="0"/>
              <a:pPr/>
              <a:t>101</a:t>
            </a:fld>
            <a:endParaRPr lang="zh-CN" altLang="en-US" dirty="0"/>
          </a:p>
        </p:txBody>
      </p:sp>
      <p:sp>
        <p:nvSpPr>
          <p:cNvPr id="9" name="object 5">
            <a:extLst>
              <a:ext uri="{FF2B5EF4-FFF2-40B4-BE49-F238E27FC236}">
                <a16:creationId xmlns:a16="http://schemas.microsoft.com/office/drawing/2014/main" id="{238FC2C1-6B4B-6F4B-8C58-0974B923519D}"/>
              </a:ext>
            </a:extLst>
          </p:cNvPr>
          <p:cNvSpPr txBox="1">
            <a:spLocks/>
          </p:cNvSpPr>
          <p:nvPr/>
        </p:nvSpPr>
        <p:spPr>
          <a:xfrm>
            <a:off x="326225" y="552382"/>
            <a:ext cx="1008305" cy="566822"/>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zh-CN" altLang="en-US" sz="3600" dirty="0">
                <a:solidFill>
                  <a:schemeClr val="bg1"/>
                </a:solidFill>
                <a:latin typeface="Calibri" panose="020F0502020204030204" pitchFamily="34" charset="0"/>
                <a:cs typeface="Calibri" panose="020F0502020204030204" pitchFamily="34" charset="0"/>
              </a:rPr>
              <a:t>总结</a:t>
            </a:r>
          </a:p>
        </p:txBody>
      </p:sp>
      <p:sp>
        <p:nvSpPr>
          <p:cNvPr id="6" name="文本框 5">
            <a:extLst>
              <a:ext uri="{FF2B5EF4-FFF2-40B4-BE49-F238E27FC236}">
                <a16:creationId xmlns:a16="http://schemas.microsoft.com/office/drawing/2014/main" id="{E0D57BD8-3192-E041-AED3-7E504897806A}"/>
              </a:ext>
            </a:extLst>
          </p:cNvPr>
          <p:cNvSpPr txBox="1"/>
          <p:nvPr/>
        </p:nvSpPr>
        <p:spPr>
          <a:xfrm>
            <a:off x="326225" y="1344653"/>
            <a:ext cx="4605539" cy="5022016"/>
          </a:xfrm>
          <a:prstGeom prst="rect">
            <a:avLst/>
          </a:prstGeom>
          <a:noFill/>
        </p:spPr>
        <p:txBody>
          <a:bodyPr wrap="square" rtlCol="0">
            <a:spAutoFit/>
          </a:bodyPr>
          <a:lstStyle/>
          <a:p>
            <a:pPr marL="285750" indent="-285750">
              <a:lnSpc>
                <a:spcPct val="150000"/>
              </a:lnSpc>
              <a:buFont typeface="Wingdings" pitchFamily="2" charset="2"/>
              <a:buChar char="n"/>
            </a:pPr>
            <a:r>
              <a:rPr kumimoji="1" lang="zh-CN" altLang="en-US" sz="2400" dirty="0"/>
              <a:t>感知机的局限性</a:t>
            </a:r>
            <a:endParaRPr kumimoji="1" lang="en-US" altLang="zh-CN" sz="2400" dirty="0"/>
          </a:p>
          <a:p>
            <a:pPr marL="285750" indent="-285750">
              <a:lnSpc>
                <a:spcPct val="150000"/>
              </a:lnSpc>
              <a:buFont typeface="Wingdings" pitchFamily="2" charset="2"/>
              <a:buChar char="n"/>
            </a:pPr>
            <a:r>
              <a:rPr kumimoji="1" lang="zh-CN" altLang="en-US" sz="2400" dirty="0"/>
              <a:t>多层感知机</a:t>
            </a:r>
            <a:endParaRPr kumimoji="1" lang="en-US" altLang="zh-CN" sz="2400" dirty="0"/>
          </a:p>
          <a:p>
            <a:pPr marL="800100" lvl="1" indent="-342900">
              <a:lnSpc>
                <a:spcPct val="150000"/>
              </a:lnSpc>
              <a:buFont typeface="Wingdings" pitchFamily="2" charset="2"/>
              <a:buChar char="p"/>
            </a:pPr>
            <a:r>
              <a:rPr kumimoji="1" lang="zh-CN" altLang="en-US" sz="2400" dirty="0"/>
              <a:t>基本结构</a:t>
            </a:r>
            <a:endParaRPr kumimoji="1" lang="en-US" altLang="zh-CN" sz="2400" dirty="0"/>
          </a:p>
          <a:p>
            <a:pPr marL="800100" lvl="1" indent="-342900">
              <a:lnSpc>
                <a:spcPct val="150000"/>
              </a:lnSpc>
              <a:buFont typeface="Wingdings" pitchFamily="2" charset="2"/>
              <a:buChar char="p"/>
            </a:pPr>
            <a:r>
              <a:rPr kumimoji="1" lang="zh-CN" altLang="en-US" sz="2400" dirty="0"/>
              <a:t>激活函数</a:t>
            </a:r>
            <a:endParaRPr kumimoji="1" lang="en-US" altLang="zh-CN" sz="2400" dirty="0"/>
          </a:p>
          <a:p>
            <a:pPr marL="800100" lvl="1" indent="-342900">
              <a:lnSpc>
                <a:spcPct val="150000"/>
              </a:lnSpc>
              <a:buFont typeface="Wingdings" pitchFamily="2" charset="2"/>
              <a:buChar char="p"/>
            </a:pPr>
            <a:r>
              <a:rPr kumimoji="1" lang="zh-CN" altLang="en-US" sz="2400" dirty="0"/>
              <a:t>损失函数</a:t>
            </a:r>
            <a:endParaRPr kumimoji="1" lang="en-US" altLang="zh-CN" sz="2400" dirty="0"/>
          </a:p>
          <a:p>
            <a:pPr marL="800100" lvl="1" indent="-342900">
              <a:lnSpc>
                <a:spcPct val="150000"/>
              </a:lnSpc>
              <a:buFont typeface="Wingdings" pitchFamily="2" charset="2"/>
              <a:buChar char="p"/>
            </a:pPr>
            <a:r>
              <a:rPr kumimoji="1" lang="zh-CN" altLang="en-US" sz="2400" dirty="0"/>
              <a:t>梯度计算</a:t>
            </a:r>
            <a:endParaRPr kumimoji="1" lang="en-US" altLang="zh-CN" sz="2400" dirty="0"/>
          </a:p>
          <a:p>
            <a:pPr marL="800100" lvl="1" indent="-342900">
              <a:lnSpc>
                <a:spcPct val="150000"/>
              </a:lnSpc>
              <a:buFont typeface="Wingdings" pitchFamily="2" charset="2"/>
              <a:buChar char="p"/>
            </a:pPr>
            <a:r>
              <a:rPr kumimoji="1" lang="zh-CN" altLang="en-US" sz="2400" dirty="0"/>
              <a:t>优化基础</a:t>
            </a:r>
            <a:endParaRPr kumimoji="1" lang="en-US" altLang="zh-CN" sz="2400" dirty="0"/>
          </a:p>
          <a:p>
            <a:pPr marL="285750" indent="-285750">
              <a:lnSpc>
                <a:spcPct val="150000"/>
              </a:lnSpc>
              <a:buFont typeface="Wingdings" pitchFamily="2" charset="2"/>
              <a:buChar char="n"/>
            </a:pPr>
            <a:r>
              <a:rPr kumimoji="1" lang="zh-CN" altLang="en-US" sz="2400" dirty="0"/>
              <a:t>架构设计</a:t>
            </a:r>
            <a:endParaRPr kumimoji="1" lang="en-US" altLang="zh-CN" sz="2400" dirty="0"/>
          </a:p>
          <a:p>
            <a:pPr marL="800100" lvl="1" indent="-342900">
              <a:lnSpc>
                <a:spcPct val="150000"/>
              </a:lnSpc>
              <a:buFont typeface="Wingdings" pitchFamily="2" charset="2"/>
              <a:buChar char="p"/>
            </a:pPr>
            <a:r>
              <a:rPr kumimoji="1" lang="zh-CN" altLang="en-US" sz="2400" dirty="0"/>
              <a:t>卷积神经网络</a:t>
            </a:r>
            <a:endParaRPr kumimoji="1" lang="en-US" altLang="zh-CN" sz="2400" dirty="0"/>
          </a:p>
        </p:txBody>
      </p:sp>
      <p:sp>
        <p:nvSpPr>
          <p:cNvPr id="7" name="爆炸形 2 6">
            <a:extLst>
              <a:ext uri="{FF2B5EF4-FFF2-40B4-BE49-F238E27FC236}">
                <a16:creationId xmlns:a16="http://schemas.microsoft.com/office/drawing/2014/main" id="{027CE2D4-E2C6-3444-AB70-D7F7912FF2D8}"/>
              </a:ext>
            </a:extLst>
          </p:cNvPr>
          <p:cNvSpPr/>
          <p:nvPr/>
        </p:nvSpPr>
        <p:spPr>
          <a:xfrm rot="21079939">
            <a:off x="6082885" y="1846481"/>
            <a:ext cx="4483870" cy="1789475"/>
          </a:xfrm>
          <a:prstGeom prst="irregularSeal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开启你的深度学习之旅！</a:t>
            </a:r>
          </a:p>
        </p:txBody>
      </p:sp>
      <p:pic>
        <p:nvPicPr>
          <p:cNvPr id="3" name="图片 2">
            <a:extLst>
              <a:ext uri="{FF2B5EF4-FFF2-40B4-BE49-F238E27FC236}">
                <a16:creationId xmlns:a16="http://schemas.microsoft.com/office/drawing/2014/main" id="{27ABAAB5-AA78-F947-9117-48D2A1059ACC}"/>
              </a:ext>
            </a:extLst>
          </p:cNvPr>
          <p:cNvPicPr>
            <a:picLocks noChangeAspect="1"/>
          </p:cNvPicPr>
          <p:nvPr/>
        </p:nvPicPr>
        <p:blipFill>
          <a:blip r:embed="rId3"/>
          <a:stretch>
            <a:fillRect/>
          </a:stretch>
        </p:blipFill>
        <p:spPr>
          <a:xfrm>
            <a:off x="5563233" y="4024734"/>
            <a:ext cx="1976820" cy="678095"/>
          </a:xfrm>
          <a:prstGeom prst="rect">
            <a:avLst/>
          </a:prstGeom>
        </p:spPr>
      </p:pic>
      <p:pic>
        <p:nvPicPr>
          <p:cNvPr id="4" name="图片 3">
            <a:extLst>
              <a:ext uri="{FF2B5EF4-FFF2-40B4-BE49-F238E27FC236}">
                <a16:creationId xmlns:a16="http://schemas.microsoft.com/office/drawing/2014/main" id="{03805D50-0D29-9C4F-8F37-D75179278B43}"/>
              </a:ext>
            </a:extLst>
          </p:cNvPr>
          <p:cNvPicPr>
            <a:picLocks noChangeAspect="1"/>
          </p:cNvPicPr>
          <p:nvPr/>
        </p:nvPicPr>
        <p:blipFill>
          <a:blip r:embed="rId4"/>
          <a:stretch>
            <a:fillRect/>
          </a:stretch>
        </p:blipFill>
        <p:spPr>
          <a:xfrm>
            <a:off x="7743084" y="4038399"/>
            <a:ext cx="2966204" cy="688925"/>
          </a:xfrm>
          <a:prstGeom prst="rect">
            <a:avLst/>
          </a:prstGeom>
        </p:spPr>
      </p:pic>
      <p:pic>
        <p:nvPicPr>
          <p:cNvPr id="5" name="图片 4">
            <a:extLst>
              <a:ext uri="{FF2B5EF4-FFF2-40B4-BE49-F238E27FC236}">
                <a16:creationId xmlns:a16="http://schemas.microsoft.com/office/drawing/2014/main" id="{915E4402-0AAC-6B47-A943-8E745AC13557}"/>
              </a:ext>
            </a:extLst>
          </p:cNvPr>
          <p:cNvPicPr>
            <a:picLocks noChangeAspect="1"/>
          </p:cNvPicPr>
          <p:nvPr/>
        </p:nvPicPr>
        <p:blipFill>
          <a:blip r:embed="rId5"/>
          <a:stretch>
            <a:fillRect/>
          </a:stretch>
        </p:blipFill>
        <p:spPr>
          <a:xfrm>
            <a:off x="6887981" y="4966545"/>
            <a:ext cx="2133600" cy="711200"/>
          </a:xfrm>
          <a:prstGeom prst="rect">
            <a:avLst/>
          </a:prstGeom>
        </p:spPr>
      </p:pic>
    </p:spTree>
    <p:extLst>
      <p:ext uri="{BB962C8B-B14F-4D97-AF65-F5344CB8AC3E}">
        <p14:creationId xmlns:p14="http://schemas.microsoft.com/office/powerpoint/2010/main" val="417374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70718</TotalTime>
  <Words>9222</Words>
  <Application>Microsoft Office PowerPoint</Application>
  <PresentationFormat>宽屏</PresentationFormat>
  <Paragraphs>1453</Paragraphs>
  <Slides>101</Slides>
  <Notes>101</Notes>
  <HiddenSlides>0</HiddenSlides>
  <MMClips>1</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101</vt:i4>
      </vt:variant>
    </vt:vector>
  </HeadingPairs>
  <TitlesOfParts>
    <vt:vector size="117" baseType="lpstr">
      <vt:lpstr>KaTeX_Main</vt:lpstr>
      <vt:lpstr>KaTeX_Math</vt:lpstr>
      <vt:lpstr>quote-cjk-patch</vt:lpstr>
      <vt:lpstr>Xingkai SC</vt:lpstr>
      <vt:lpstr>等线</vt:lpstr>
      <vt:lpstr>等线 Light</vt:lpstr>
      <vt:lpstr>黑体</vt:lpstr>
      <vt:lpstr>江城正义体 500W</vt:lpstr>
      <vt:lpstr>微软雅黑</vt:lpstr>
      <vt:lpstr>Arial</vt:lpstr>
      <vt:lpstr>Calibri</vt:lpstr>
      <vt:lpstr>Cambria Math</vt:lpstr>
      <vt:lpstr>Times New Roman</vt:lpstr>
      <vt:lpstr>Verdana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嘉俊 洪</cp:lastModifiedBy>
  <cp:revision>2486</cp:revision>
  <cp:lastPrinted>2026-03-24T03:15:05Z</cp:lastPrinted>
  <dcterms:created xsi:type="dcterms:W3CDTF">2023-11-05T01:38:25Z</dcterms:created>
  <dcterms:modified xsi:type="dcterms:W3CDTF">2026-03-29T12:09:27Z</dcterms:modified>
</cp:coreProperties>
</file>