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02"/>
  </p:notesMasterIdLst>
  <p:sldIdLst>
    <p:sldId id="274" r:id="rId2"/>
    <p:sldId id="772" r:id="rId3"/>
    <p:sldId id="773" r:id="rId4"/>
    <p:sldId id="774" r:id="rId5"/>
    <p:sldId id="775" r:id="rId6"/>
    <p:sldId id="776" r:id="rId7"/>
    <p:sldId id="777" r:id="rId8"/>
    <p:sldId id="778" r:id="rId9"/>
    <p:sldId id="779" r:id="rId10"/>
    <p:sldId id="780" r:id="rId11"/>
    <p:sldId id="781" r:id="rId12"/>
    <p:sldId id="782" r:id="rId13"/>
    <p:sldId id="732" r:id="rId14"/>
    <p:sldId id="733" r:id="rId15"/>
    <p:sldId id="734" r:id="rId16"/>
    <p:sldId id="735" r:id="rId17"/>
    <p:sldId id="736" r:id="rId18"/>
    <p:sldId id="737" r:id="rId19"/>
    <p:sldId id="738" r:id="rId20"/>
    <p:sldId id="739" r:id="rId21"/>
    <p:sldId id="740" r:id="rId22"/>
    <p:sldId id="741" r:id="rId23"/>
    <p:sldId id="742" r:id="rId24"/>
    <p:sldId id="743" r:id="rId25"/>
    <p:sldId id="744" r:id="rId26"/>
    <p:sldId id="745" r:id="rId27"/>
    <p:sldId id="746" r:id="rId28"/>
    <p:sldId id="747" r:id="rId29"/>
    <p:sldId id="748" r:id="rId30"/>
    <p:sldId id="749" r:id="rId31"/>
    <p:sldId id="750" r:id="rId32"/>
    <p:sldId id="751" r:id="rId33"/>
    <p:sldId id="752" r:id="rId34"/>
    <p:sldId id="753" r:id="rId35"/>
    <p:sldId id="754" r:id="rId36"/>
    <p:sldId id="755" r:id="rId37"/>
    <p:sldId id="756" r:id="rId38"/>
    <p:sldId id="757" r:id="rId39"/>
    <p:sldId id="758" r:id="rId40"/>
    <p:sldId id="759" r:id="rId41"/>
    <p:sldId id="760" r:id="rId42"/>
    <p:sldId id="761" r:id="rId43"/>
    <p:sldId id="762" r:id="rId44"/>
    <p:sldId id="763" r:id="rId45"/>
    <p:sldId id="764" r:id="rId46"/>
    <p:sldId id="765" r:id="rId47"/>
    <p:sldId id="767" r:id="rId48"/>
    <p:sldId id="769" r:id="rId49"/>
    <p:sldId id="798" r:id="rId50"/>
    <p:sldId id="768" r:id="rId51"/>
    <p:sldId id="770" r:id="rId52"/>
    <p:sldId id="303" r:id="rId53"/>
    <p:sldId id="304" r:id="rId54"/>
    <p:sldId id="259" r:id="rId55"/>
    <p:sldId id="305" r:id="rId56"/>
    <p:sldId id="306" r:id="rId57"/>
    <p:sldId id="307" r:id="rId58"/>
    <p:sldId id="263" r:id="rId59"/>
    <p:sldId id="308" r:id="rId60"/>
    <p:sldId id="309" r:id="rId61"/>
    <p:sldId id="310" r:id="rId62"/>
    <p:sldId id="351" r:id="rId63"/>
    <p:sldId id="311" r:id="rId64"/>
    <p:sldId id="268" r:id="rId65"/>
    <p:sldId id="783" r:id="rId66"/>
    <p:sldId id="784" r:id="rId67"/>
    <p:sldId id="350" r:id="rId68"/>
    <p:sldId id="317" r:id="rId69"/>
    <p:sldId id="318" r:id="rId70"/>
    <p:sldId id="320" r:id="rId71"/>
    <p:sldId id="727" r:id="rId72"/>
    <p:sldId id="785" r:id="rId73"/>
    <p:sldId id="786" r:id="rId74"/>
    <p:sldId id="787" r:id="rId75"/>
    <p:sldId id="789" r:id="rId76"/>
    <p:sldId id="325" r:id="rId77"/>
    <p:sldId id="328" r:id="rId78"/>
    <p:sldId id="790" r:id="rId79"/>
    <p:sldId id="329" r:id="rId80"/>
    <p:sldId id="791" r:id="rId81"/>
    <p:sldId id="792" r:id="rId82"/>
    <p:sldId id="793" r:id="rId83"/>
    <p:sldId id="794" r:id="rId84"/>
    <p:sldId id="804" r:id="rId85"/>
    <p:sldId id="795" r:id="rId86"/>
    <p:sldId id="796" r:id="rId87"/>
    <p:sldId id="802" r:id="rId88"/>
    <p:sldId id="797" r:id="rId89"/>
    <p:sldId id="332" r:id="rId90"/>
    <p:sldId id="333" r:id="rId91"/>
    <p:sldId id="799" r:id="rId92"/>
    <p:sldId id="806" r:id="rId93"/>
    <p:sldId id="807" r:id="rId94"/>
    <p:sldId id="334" r:id="rId95"/>
    <p:sldId id="805" r:id="rId96"/>
    <p:sldId id="800" r:id="rId97"/>
    <p:sldId id="801" r:id="rId98"/>
    <p:sldId id="336" r:id="rId99"/>
    <p:sldId id="335" r:id="rId100"/>
    <p:sldId id="626" r:id="rId10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FF3300"/>
    <a:srgbClr val="F79A78"/>
    <a:srgbClr val="142C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16" autoAdjust="0"/>
    <p:restoredTop sz="85953" autoAdjust="0"/>
  </p:normalViewPr>
  <p:slideViewPr>
    <p:cSldViewPr snapToGrid="0">
      <p:cViewPr varScale="1">
        <p:scale>
          <a:sx n="66" d="100"/>
          <a:sy n="66" d="100"/>
        </p:scale>
        <p:origin x="84" y="231"/>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0B4CC9-83B5-9E47-A806-853A90D7F7A0}" type="datetimeFigureOut">
              <a:rPr kumimoji="1" lang="zh-CN" altLang="en-US" smtClean="0"/>
              <a:pPr/>
              <a:t>2026/4/3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01F51-E497-1449-8DC9-60B7BE2806BF}" type="slidenum">
              <a:rPr kumimoji="1" lang="zh-CN" altLang="en-US" smtClean="0"/>
              <a:pPr/>
              <a:t>‹#›</a:t>
            </a:fld>
            <a:endParaRPr kumimoji="1" lang="zh-CN" altLang="en-US"/>
          </a:p>
        </p:txBody>
      </p:sp>
    </p:spTree>
    <p:extLst>
      <p:ext uri="{BB962C8B-B14F-4D97-AF65-F5344CB8AC3E}">
        <p14:creationId xmlns:p14="http://schemas.microsoft.com/office/powerpoint/2010/main" val="1866883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4</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5</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6</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7</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8</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9</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10</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11</a:t>
            </a:fld>
            <a:endParaRPr kumimoji="1" lang="zh-CN" altLang="en-US"/>
          </a:p>
        </p:txBody>
      </p:sp>
    </p:spTree>
    <p:extLst>
      <p:ext uri="{BB962C8B-B14F-4D97-AF65-F5344CB8AC3E}">
        <p14:creationId xmlns:p14="http://schemas.microsoft.com/office/powerpoint/2010/main" val="2611672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t>12</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1D227-6F81-17EF-6AE6-F2BD010CF4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A9FD69-07AF-2BAE-C7B9-9B0B1ED63A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B2D561-B08B-F3E3-E57B-E9B222458A2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97FB35-8E08-DEA4-25C7-293DEC6EBC23}"/>
              </a:ext>
            </a:extLst>
          </p:cNvPr>
          <p:cNvSpPr>
            <a:spLocks noGrp="1"/>
          </p:cNvSpPr>
          <p:nvPr>
            <p:ph type="sldNum" sz="quarter" idx="5"/>
          </p:nvPr>
        </p:nvSpPr>
        <p:spPr/>
        <p:txBody>
          <a:bodyPr/>
          <a:lstStyle/>
          <a:p>
            <a:fld id="{B9501F51-E497-1449-8DC9-60B7BE2806BF}" type="slidenum">
              <a:rPr kumimoji="1" lang="zh-CN" altLang="en-US" smtClean="0"/>
              <a:pPr/>
              <a:t>13</a:t>
            </a:fld>
            <a:endParaRPr kumimoji="1" lang="zh-CN" altLang="en-US"/>
          </a:p>
        </p:txBody>
      </p:sp>
    </p:spTree>
    <p:extLst>
      <p:ext uri="{BB962C8B-B14F-4D97-AF65-F5344CB8AC3E}">
        <p14:creationId xmlns:p14="http://schemas.microsoft.com/office/powerpoint/2010/main" val="2089288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0D8F4-FE3D-B78E-502B-E8951CD4D2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466580-997C-EEEF-1FEF-4091E62561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935BA3-CA0E-4FCE-2124-E631B29DA8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BFB456-94F5-142B-85E9-E6621262756D}"/>
              </a:ext>
            </a:extLst>
          </p:cNvPr>
          <p:cNvSpPr>
            <a:spLocks noGrp="1"/>
          </p:cNvSpPr>
          <p:nvPr>
            <p:ph type="sldNum" sz="quarter" idx="5"/>
          </p:nvPr>
        </p:nvSpPr>
        <p:spPr/>
        <p:txBody>
          <a:bodyPr/>
          <a:lstStyle/>
          <a:p>
            <a:fld id="{B9501F51-E497-1449-8DC9-60B7BE2806BF}" type="slidenum">
              <a:rPr kumimoji="1" lang="zh-CN" altLang="en-US" smtClean="0"/>
              <a:pPr/>
              <a:t>14</a:t>
            </a:fld>
            <a:endParaRPr kumimoji="1" lang="zh-CN" altLang="en-US"/>
          </a:p>
        </p:txBody>
      </p:sp>
    </p:spTree>
    <p:extLst>
      <p:ext uri="{BB962C8B-B14F-4D97-AF65-F5344CB8AC3E}">
        <p14:creationId xmlns:p14="http://schemas.microsoft.com/office/powerpoint/2010/main" val="2597153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A6588-0F2C-5BEF-2948-F24A38B9BE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0F8D3C-48B7-748B-716D-0036D2A2F8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BFEDA1-E8F0-A21F-0B52-1B80B3F30EA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26EAD70-E4A7-F319-67BD-5F8057B814C4}"/>
              </a:ext>
            </a:extLst>
          </p:cNvPr>
          <p:cNvSpPr>
            <a:spLocks noGrp="1"/>
          </p:cNvSpPr>
          <p:nvPr>
            <p:ph type="sldNum" sz="quarter" idx="5"/>
          </p:nvPr>
        </p:nvSpPr>
        <p:spPr/>
        <p:txBody>
          <a:bodyPr/>
          <a:lstStyle/>
          <a:p>
            <a:fld id="{B9501F51-E497-1449-8DC9-60B7BE2806BF}" type="slidenum">
              <a:rPr kumimoji="1" lang="zh-CN" altLang="en-US" smtClean="0"/>
              <a:pPr/>
              <a:t>15</a:t>
            </a:fld>
            <a:endParaRPr kumimoji="1" lang="zh-CN" altLang="en-US"/>
          </a:p>
        </p:txBody>
      </p:sp>
    </p:spTree>
    <p:extLst>
      <p:ext uri="{BB962C8B-B14F-4D97-AF65-F5344CB8AC3E}">
        <p14:creationId xmlns:p14="http://schemas.microsoft.com/office/powerpoint/2010/main" val="2268628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E1727-2574-8817-2E81-8A6CA9C837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35C8FC-7E20-1916-2FEA-F64BA33B91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759F51-57E7-0BB4-CA43-AE1CA41D802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E2DDD3E-1DE8-A16F-9252-6B1714E07B16}"/>
              </a:ext>
            </a:extLst>
          </p:cNvPr>
          <p:cNvSpPr>
            <a:spLocks noGrp="1"/>
          </p:cNvSpPr>
          <p:nvPr>
            <p:ph type="sldNum" sz="quarter" idx="5"/>
          </p:nvPr>
        </p:nvSpPr>
        <p:spPr/>
        <p:txBody>
          <a:bodyPr/>
          <a:lstStyle/>
          <a:p>
            <a:fld id="{B9501F51-E497-1449-8DC9-60B7BE2806BF}" type="slidenum">
              <a:rPr kumimoji="1" lang="zh-CN" altLang="en-US" smtClean="0"/>
              <a:pPr/>
              <a:t>16</a:t>
            </a:fld>
            <a:endParaRPr kumimoji="1" lang="zh-CN" altLang="en-US"/>
          </a:p>
        </p:txBody>
      </p:sp>
    </p:spTree>
    <p:extLst>
      <p:ext uri="{BB962C8B-B14F-4D97-AF65-F5344CB8AC3E}">
        <p14:creationId xmlns:p14="http://schemas.microsoft.com/office/powerpoint/2010/main" val="729572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B8285-B0C8-AB01-C0C3-1DAD98B2BD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B23940-579B-9A54-10CE-CAC3EBC0E4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746A76-1B98-3BB1-BBD7-CF2597FBABB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A8B199-C6BB-9DC2-7662-2F0A0A79AD66}"/>
              </a:ext>
            </a:extLst>
          </p:cNvPr>
          <p:cNvSpPr>
            <a:spLocks noGrp="1"/>
          </p:cNvSpPr>
          <p:nvPr>
            <p:ph type="sldNum" sz="quarter" idx="5"/>
          </p:nvPr>
        </p:nvSpPr>
        <p:spPr/>
        <p:txBody>
          <a:bodyPr/>
          <a:lstStyle/>
          <a:p>
            <a:fld id="{B9501F51-E497-1449-8DC9-60B7BE2806BF}" type="slidenum">
              <a:rPr kumimoji="1" lang="zh-CN" altLang="en-US" smtClean="0"/>
              <a:pPr/>
              <a:t>17</a:t>
            </a:fld>
            <a:endParaRPr kumimoji="1" lang="zh-CN" altLang="en-US"/>
          </a:p>
        </p:txBody>
      </p:sp>
    </p:spTree>
    <p:extLst>
      <p:ext uri="{BB962C8B-B14F-4D97-AF65-F5344CB8AC3E}">
        <p14:creationId xmlns:p14="http://schemas.microsoft.com/office/powerpoint/2010/main" val="2427370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8CCE2-89EE-BEB0-7D2A-0511D95960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C8BAB8-4490-DC55-D1D4-6894FC39EB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DF1E65-258F-1AA0-E6DC-048AD3ED193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B74A29-68A2-2BAD-8B0B-084D70970438}"/>
              </a:ext>
            </a:extLst>
          </p:cNvPr>
          <p:cNvSpPr>
            <a:spLocks noGrp="1"/>
          </p:cNvSpPr>
          <p:nvPr>
            <p:ph type="sldNum" sz="quarter" idx="5"/>
          </p:nvPr>
        </p:nvSpPr>
        <p:spPr/>
        <p:txBody>
          <a:bodyPr/>
          <a:lstStyle/>
          <a:p>
            <a:fld id="{B9501F51-E497-1449-8DC9-60B7BE2806BF}" type="slidenum">
              <a:rPr kumimoji="1" lang="zh-CN" altLang="en-US" smtClean="0"/>
              <a:pPr/>
              <a:t>18</a:t>
            </a:fld>
            <a:endParaRPr kumimoji="1" lang="zh-CN" altLang="en-US"/>
          </a:p>
        </p:txBody>
      </p:sp>
    </p:spTree>
    <p:extLst>
      <p:ext uri="{BB962C8B-B14F-4D97-AF65-F5344CB8AC3E}">
        <p14:creationId xmlns:p14="http://schemas.microsoft.com/office/powerpoint/2010/main" val="1235782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6EACF-2AA6-5F2D-3CEA-86DDEAB511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305C6C-8A16-32B5-5E01-46B19B2B66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61DFAC-AEF6-822F-AC79-F4307E7D5C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573431-57C7-D050-C29A-6658BDEC1A0E}"/>
              </a:ext>
            </a:extLst>
          </p:cNvPr>
          <p:cNvSpPr>
            <a:spLocks noGrp="1"/>
          </p:cNvSpPr>
          <p:nvPr>
            <p:ph type="sldNum" sz="quarter" idx="5"/>
          </p:nvPr>
        </p:nvSpPr>
        <p:spPr/>
        <p:txBody>
          <a:bodyPr/>
          <a:lstStyle/>
          <a:p>
            <a:fld id="{B9501F51-E497-1449-8DC9-60B7BE2806BF}" type="slidenum">
              <a:rPr kumimoji="1" lang="zh-CN" altLang="en-US" smtClean="0"/>
              <a:pPr/>
              <a:t>19</a:t>
            </a:fld>
            <a:endParaRPr kumimoji="1" lang="zh-CN" altLang="en-US"/>
          </a:p>
        </p:txBody>
      </p:sp>
    </p:spTree>
    <p:extLst>
      <p:ext uri="{BB962C8B-B14F-4D97-AF65-F5344CB8AC3E}">
        <p14:creationId xmlns:p14="http://schemas.microsoft.com/office/powerpoint/2010/main" val="4004170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A55EA-4ED6-9C7A-B55C-398524A2F6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E9D443-0E41-5618-7210-87BE72DBF1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895D48-4530-476F-6966-6BAD421AF6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01CC3DA-3A65-C87B-AD93-DDC81FB7C100}"/>
              </a:ext>
            </a:extLst>
          </p:cNvPr>
          <p:cNvSpPr>
            <a:spLocks noGrp="1"/>
          </p:cNvSpPr>
          <p:nvPr>
            <p:ph type="sldNum" sz="quarter" idx="5"/>
          </p:nvPr>
        </p:nvSpPr>
        <p:spPr/>
        <p:txBody>
          <a:bodyPr/>
          <a:lstStyle/>
          <a:p>
            <a:fld id="{B9501F51-E497-1449-8DC9-60B7BE2806BF}" type="slidenum">
              <a:rPr kumimoji="1" lang="zh-CN" altLang="en-US" smtClean="0"/>
              <a:pPr/>
              <a:t>20</a:t>
            </a:fld>
            <a:endParaRPr kumimoji="1" lang="zh-CN" altLang="en-US"/>
          </a:p>
        </p:txBody>
      </p:sp>
    </p:spTree>
    <p:extLst>
      <p:ext uri="{BB962C8B-B14F-4D97-AF65-F5344CB8AC3E}">
        <p14:creationId xmlns:p14="http://schemas.microsoft.com/office/powerpoint/2010/main" val="2501518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29F0-F6FF-4E19-7778-2396FC76E3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858B98-8E5E-A4AA-A019-8EA13BB5FE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BB26CA-7C3E-A675-1D5D-794E120C4F0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641C485-8BE8-62AD-1B4E-6520FB7C3910}"/>
              </a:ext>
            </a:extLst>
          </p:cNvPr>
          <p:cNvSpPr>
            <a:spLocks noGrp="1"/>
          </p:cNvSpPr>
          <p:nvPr>
            <p:ph type="sldNum" sz="quarter" idx="5"/>
          </p:nvPr>
        </p:nvSpPr>
        <p:spPr/>
        <p:txBody>
          <a:bodyPr/>
          <a:lstStyle/>
          <a:p>
            <a:fld id="{B9501F51-E497-1449-8DC9-60B7BE2806BF}" type="slidenum">
              <a:rPr kumimoji="1" lang="zh-CN" altLang="en-US" smtClean="0"/>
              <a:pPr/>
              <a:t>21</a:t>
            </a:fld>
            <a:endParaRPr kumimoji="1" lang="zh-CN" altLang="en-US"/>
          </a:p>
        </p:txBody>
      </p:sp>
    </p:spTree>
    <p:extLst>
      <p:ext uri="{BB962C8B-B14F-4D97-AF65-F5344CB8AC3E}">
        <p14:creationId xmlns:p14="http://schemas.microsoft.com/office/powerpoint/2010/main" val="2455004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22C61-D127-48BB-44FF-D03860B25C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460026-8489-7AC8-BA51-C16E02FAD8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C7BD6A-79CA-7BFA-E9C5-647A13872F6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F4A3766-DF91-E976-30E3-6FB6FF35F6AB}"/>
              </a:ext>
            </a:extLst>
          </p:cNvPr>
          <p:cNvSpPr>
            <a:spLocks noGrp="1"/>
          </p:cNvSpPr>
          <p:nvPr>
            <p:ph type="sldNum" sz="quarter" idx="5"/>
          </p:nvPr>
        </p:nvSpPr>
        <p:spPr/>
        <p:txBody>
          <a:bodyPr/>
          <a:lstStyle/>
          <a:p>
            <a:fld id="{B9501F51-E497-1449-8DC9-60B7BE2806BF}" type="slidenum">
              <a:rPr kumimoji="1" lang="zh-CN" altLang="en-US" smtClean="0"/>
              <a:pPr/>
              <a:t>22</a:t>
            </a:fld>
            <a:endParaRPr kumimoji="1" lang="zh-CN" altLang="en-US"/>
          </a:p>
        </p:txBody>
      </p:sp>
    </p:spTree>
    <p:extLst>
      <p:ext uri="{BB962C8B-B14F-4D97-AF65-F5344CB8AC3E}">
        <p14:creationId xmlns:p14="http://schemas.microsoft.com/office/powerpoint/2010/main" val="3835002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7BE89-4441-6F2D-CAC4-AD6398BF33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9B49D7-D846-0C97-27F4-6696CF2ACE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4C4522-6ECB-DF93-7187-B7D755A9D2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6088D84-EDBD-22F0-0387-5E5E029D2B65}"/>
              </a:ext>
            </a:extLst>
          </p:cNvPr>
          <p:cNvSpPr>
            <a:spLocks noGrp="1"/>
          </p:cNvSpPr>
          <p:nvPr>
            <p:ph type="sldNum" sz="quarter" idx="5"/>
          </p:nvPr>
        </p:nvSpPr>
        <p:spPr/>
        <p:txBody>
          <a:bodyPr/>
          <a:lstStyle/>
          <a:p>
            <a:fld id="{B9501F51-E497-1449-8DC9-60B7BE2806BF}" type="slidenum">
              <a:rPr kumimoji="1" lang="zh-CN" altLang="en-US" smtClean="0"/>
              <a:pPr/>
              <a:t>23</a:t>
            </a:fld>
            <a:endParaRPr kumimoji="1" lang="zh-CN" altLang="en-US"/>
          </a:p>
        </p:txBody>
      </p:sp>
    </p:spTree>
    <p:extLst>
      <p:ext uri="{BB962C8B-B14F-4D97-AF65-F5344CB8AC3E}">
        <p14:creationId xmlns:p14="http://schemas.microsoft.com/office/powerpoint/2010/main" val="4172031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341C0-669B-A163-F623-E2E3105FB5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D635C5-E5B3-9851-728E-8C7E15DC59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34C8DF-69EB-7694-81D6-2D7CD563547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3383D61-C049-CF30-086C-392E58EF2D93}"/>
              </a:ext>
            </a:extLst>
          </p:cNvPr>
          <p:cNvSpPr>
            <a:spLocks noGrp="1"/>
          </p:cNvSpPr>
          <p:nvPr>
            <p:ph type="sldNum" sz="quarter" idx="5"/>
          </p:nvPr>
        </p:nvSpPr>
        <p:spPr/>
        <p:txBody>
          <a:bodyPr/>
          <a:lstStyle/>
          <a:p>
            <a:fld id="{B9501F51-E497-1449-8DC9-60B7BE2806BF}" type="slidenum">
              <a:rPr kumimoji="1" lang="zh-CN" altLang="en-US" smtClean="0"/>
              <a:pPr/>
              <a:t>24</a:t>
            </a:fld>
            <a:endParaRPr kumimoji="1" lang="zh-CN" altLang="en-US"/>
          </a:p>
        </p:txBody>
      </p:sp>
    </p:spTree>
    <p:extLst>
      <p:ext uri="{BB962C8B-B14F-4D97-AF65-F5344CB8AC3E}">
        <p14:creationId xmlns:p14="http://schemas.microsoft.com/office/powerpoint/2010/main" val="2764347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CC8D-487C-E5FF-5899-003FDABEF3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0407F7-24A4-9A0D-784B-A378F461E85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A703FF-0389-D42D-4F54-88321B63355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9E518EF-3F7D-C71C-4A4F-4C7B46043FFD}"/>
              </a:ext>
            </a:extLst>
          </p:cNvPr>
          <p:cNvSpPr>
            <a:spLocks noGrp="1"/>
          </p:cNvSpPr>
          <p:nvPr>
            <p:ph type="sldNum" sz="quarter" idx="5"/>
          </p:nvPr>
        </p:nvSpPr>
        <p:spPr/>
        <p:txBody>
          <a:bodyPr/>
          <a:lstStyle/>
          <a:p>
            <a:fld id="{B9501F51-E497-1449-8DC9-60B7BE2806BF}" type="slidenum">
              <a:rPr kumimoji="1" lang="zh-CN" altLang="en-US" smtClean="0"/>
              <a:pPr/>
              <a:t>25</a:t>
            </a:fld>
            <a:endParaRPr kumimoji="1" lang="zh-CN" altLang="en-US"/>
          </a:p>
        </p:txBody>
      </p:sp>
    </p:spTree>
    <p:extLst>
      <p:ext uri="{BB962C8B-B14F-4D97-AF65-F5344CB8AC3E}">
        <p14:creationId xmlns:p14="http://schemas.microsoft.com/office/powerpoint/2010/main" val="994743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F542-7E63-02D8-F180-AC06875268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8FA0FE-457E-CD21-8E24-7ED9AA01FA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1F08B4-9CD9-2C5B-1E3B-BE8ACE91C75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BE9507-D06E-844D-F608-BB8833E273D2}"/>
              </a:ext>
            </a:extLst>
          </p:cNvPr>
          <p:cNvSpPr>
            <a:spLocks noGrp="1"/>
          </p:cNvSpPr>
          <p:nvPr>
            <p:ph type="sldNum" sz="quarter" idx="5"/>
          </p:nvPr>
        </p:nvSpPr>
        <p:spPr/>
        <p:txBody>
          <a:bodyPr/>
          <a:lstStyle/>
          <a:p>
            <a:fld id="{B9501F51-E497-1449-8DC9-60B7BE2806BF}" type="slidenum">
              <a:rPr kumimoji="1" lang="zh-CN" altLang="en-US" smtClean="0"/>
              <a:pPr/>
              <a:t>26</a:t>
            </a:fld>
            <a:endParaRPr kumimoji="1" lang="zh-CN" altLang="en-US"/>
          </a:p>
        </p:txBody>
      </p:sp>
    </p:spTree>
    <p:extLst>
      <p:ext uri="{BB962C8B-B14F-4D97-AF65-F5344CB8AC3E}">
        <p14:creationId xmlns:p14="http://schemas.microsoft.com/office/powerpoint/2010/main" val="30124615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1795C-B4D5-9D11-4DDF-181DE55D2C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B0A14F-3D05-08C9-205D-A6A81A0064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740DE3-99D2-3577-DB22-A713F312368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FE842F-714E-19A4-C98C-6E3C0F76C997}"/>
              </a:ext>
            </a:extLst>
          </p:cNvPr>
          <p:cNvSpPr>
            <a:spLocks noGrp="1"/>
          </p:cNvSpPr>
          <p:nvPr>
            <p:ph type="sldNum" sz="quarter" idx="5"/>
          </p:nvPr>
        </p:nvSpPr>
        <p:spPr/>
        <p:txBody>
          <a:bodyPr/>
          <a:lstStyle/>
          <a:p>
            <a:fld id="{B9501F51-E497-1449-8DC9-60B7BE2806BF}" type="slidenum">
              <a:rPr kumimoji="1" lang="zh-CN" altLang="en-US" smtClean="0"/>
              <a:pPr/>
              <a:t>27</a:t>
            </a:fld>
            <a:endParaRPr kumimoji="1" lang="zh-CN" altLang="en-US"/>
          </a:p>
        </p:txBody>
      </p:sp>
    </p:spTree>
    <p:extLst>
      <p:ext uri="{BB962C8B-B14F-4D97-AF65-F5344CB8AC3E}">
        <p14:creationId xmlns:p14="http://schemas.microsoft.com/office/powerpoint/2010/main" val="4003344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5D14D-23AF-7BFD-5C9F-2754245443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9ACCBE-42F3-6E90-49AF-953682D307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F7E846-066F-C976-9DCE-8211042761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37DD4FC-1515-ACB2-5753-9CE8837CA58D}"/>
              </a:ext>
            </a:extLst>
          </p:cNvPr>
          <p:cNvSpPr>
            <a:spLocks noGrp="1"/>
          </p:cNvSpPr>
          <p:nvPr>
            <p:ph type="sldNum" sz="quarter" idx="5"/>
          </p:nvPr>
        </p:nvSpPr>
        <p:spPr/>
        <p:txBody>
          <a:bodyPr/>
          <a:lstStyle/>
          <a:p>
            <a:fld id="{B9501F51-E497-1449-8DC9-60B7BE2806BF}" type="slidenum">
              <a:rPr kumimoji="1" lang="zh-CN" altLang="en-US" smtClean="0"/>
              <a:pPr/>
              <a:t>28</a:t>
            </a:fld>
            <a:endParaRPr kumimoji="1" lang="zh-CN" altLang="en-US"/>
          </a:p>
        </p:txBody>
      </p:sp>
    </p:spTree>
    <p:extLst>
      <p:ext uri="{BB962C8B-B14F-4D97-AF65-F5344CB8AC3E}">
        <p14:creationId xmlns:p14="http://schemas.microsoft.com/office/powerpoint/2010/main" val="3035678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74DA4-04C4-5E97-A82E-61E55200F3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A4A42F-34BB-93EE-C034-8BF284D40F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493C6C-6968-EE3F-893A-6DE282210F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B7E188B-C71F-F3C5-1992-E3AA96D93D51}"/>
              </a:ext>
            </a:extLst>
          </p:cNvPr>
          <p:cNvSpPr>
            <a:spLocks noGrp="1"/>
          </p:cNvSpPr>
          <p:nvPr>
            <p:ph type="sldNum" sz="quarter" idx="5"/>
          </p:nvPr>
        </p:nvSpPr>
        <p:spPr/>
        <p:txBody>
          <a:bodyPr/>
          <a:lstStyle/>
          <a:p>
            <a:fld id="{B9501F51-E497-1449-8DC9-60B7BE2806BF}" type="slidenum">
              <a:rPr kumimoji="1" lang="zh-CN" altLang="en-US" smtClean="0"/>
              <a:pPr/>
              <a:t>29</a:t>
            </a:fld>
            <a:endParaRPr kumimoji="1" lang="zh-CN" altLang="en-US"/>
          </a:p>
        </p:txBody>
      </p:sp>
    </p:spTree>
    <p:extLst>
      <p:ext uri="{BB962C8B-B14F-4D97-AF65-F5344CB8AC3E}">
        <p14:creationId xmlns:p14="http://schemas.microsoft.com/office/powerpoint/2010/main" val="38193913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EC362-069E-C287-CB2A-CDC42F5A48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792EFC-ED0A-7617-54A0-80ECADC17A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2864CB-200D-E61A-EE2E-427FC95A4EE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3C6B3B-C215-F145-AE58-22F5B37F34A4}"/>
              </a:ext>
            </a:extLst>
          </p:cNvPr>
          <p:cNvSpPr>
            <a:spLocks noGrp="1"/>
          </p:cNvSpPr>
          <p:nvPr>
            <p:ph type="sldNum" sz="quarter" idx="5"/>
          </p:nvPr>
        </p:nvSpPr>
        <p:spPr/>
        <p:txBody>
          <a:bodyPr/>
          <a:lstStyle/>
          <a:p>
            <a:fld id="{B9501F51-E497-1449-8DC9-60B7BE2806BF}" type="slidenum">
              <a:rPr kumimoji="1" lang="zh-CN" altLang="en-US" smtClean="0"/>
              <a:pPr/>
              <a:t>30</a:t>
            </a:fld>
            <a:endParaRPr kumimoji="1" lang="zh-CN" altLang="en-US"/>
          </a:p>
        </p:txBody>
      </p:sp>
    </p:spTree>
    <p:extLst>
      <p:ext uri="{BB962C8B-B14F-4D97-AF65-F5344CB8AC3E}">
        <p14:creationId xmlns:p14="http://schemas.microsoft.com/office/powerpoint/2010/main" val="4472448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7C1C1-51B1-629F-1967-90E1196279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0E9745-AEB8-71FD-5526-F757FEE473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416295-974C-4B21-26F2-0AE30A4184B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9EA9915-4558-4B89-6222-65A778BD016B}"/>
              </a:ext>
            </a:extLst>
          </p:cNvPr>
          <p:cNvSpPr>
            <a:spLocks noGrp="1"/>
          </p:cNvSpPr>
          <p:nvPr>
            <p:ph type="sldNum" sz="quarter" idx="5"/>
          </p:nvPr>
        </p:nvSpPr>
        <p:spPr/>
        <p:txBody>
          <a:bodyPr/>
          <a:lstStyle/>
          <a:p>
            <a:fld id="{B9501F51-E497-1449-8DC9-60B7BE2806BF}" type="slidenum">
              <a:rPr kumimoji="1" lang="zh-CN" altLang="en-US" smtClean="0"/>
              <a:pPr/>
              <a:t>31</a:t>
            </a:fld>
            <a:endParaRPr kumimoji="1" lang="zh-CN" altLang="en-US"/>
          </a:p>
        </p:txBody>
      </p:sp>
    </p:spTree>
    <p:extLst>
      <p:ext uri="{BB962C8B-B14F-4D97-AF65-F5344CB8AC3E}">
        <p14:creationId xmlns:p14="http://schemas.microsoft.com/office/powerpoint/2010/main" val="11537886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EB9F9-8BC4-02E1-E556-FB633BCED2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9D6644-DF43-B585-48A8-BB66257220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2F5277-0BAD-2034-1131-3A4BEEB80A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C55F288-BFAA-A008-7067-1B0F0DF250FE}"/>
              </a:ext>
            </a:extLst>
          </p:cNvPr>
          <p:cNvSpPr>
            <a:spLocks noGrp="1"/>
          </p:cNvSpPr>
          <p:nvPr>
            <p:ph type="sldNum" sz="quarter" idx="5"/>
          </p:nvPr>
        </p:nvSpPr>
        <p:spPr/>
        <p:txBody>
          <a:bodyPr/>
          <a:lstStyle/>
          <a:p>
            <a:fld id="{B9501F51-E497-1449-8DC9-60B7BE2806BF}" type="slidenum">
              <a:rPr kumimoji="1" lang="zh-CN" altLang="en-US" smtClean="0"/>
              <a:pPr/>
              <a:t>32</a:t>
            </a:fld>
            <a:endParaRPr kumimoji="1" lang="zh-CN" altLang="en-US"/>
          </a:p>
        </p:txBody>
      </p:sp>
    </p:spTree>
    <p:extLst>
      <p:ext uri="{BB962C8B-B14F-4D97-AF65-F5344CB8AC3E}">
        <p14:creationId xmlns:p14="http://schemas.microsoft.com/office/powerpoint/2010/main" val="25692364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3335-4C41-30DC-731D-45C7E13E09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EE89E4-BB2E-21E2-7E60-DF4DC79DAF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40EE68-D7F5-8A3D-5A81-B3B13D9B9E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9B01CBB-CE1D-F07A-46A5-59CD7E9DA620}"/>
              </a:ext>
            </a:extLst>
          </p:cNvPr>
          <p:cNvSpPr>
            <a:spLocks noGrp="1"/>
          </p:cNvSpPr>
          <p:nvPr>
            <p:ph type="sldNum" sz="quarter" idx="5"/>
          </p:nvPr>
        </p:nvSpPr>
        <p:spPr/>
        <p:txBody>
          <a:bodyPr/>
          <a:lstStyle/>
          <a:p>
            <a:fld id="{B9501F51-E497-1449-8DC9-60B7BE2806BF}" type="slidenum">
              <a:rPr kumimoji="1" lang="zh-CN" altLang="en-US" smtClean="0"/>
              <a:pPr/>
              <a:t>33</a:t>
            </a:fld>
            <a:endParaRPr kumimoji="1" lang="zh-CN" altLang="en-US"/>
          </a:p>
        </p:txBody>
      </p:sp>
    </p:spTree>
    <p:extLst>
      <p:ext uri="{BB962C8B-B14F-4D97-AF65-F5344CB8AC3E}">
        <p14:creationId xmlns:p14="http://schemas.microsoft.com/office/powerpoint/2010/main" val="23347077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39D8B-60F1-F88C-89A0-F70FB8FB06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5AFA25-9508-CE97-1093-FECA207DB6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7FA750-19AC-EB50-AE4C-B713B6BB8C2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7C9074-3DE6-8B7C-5D9D-73BD4BA7572B}"/>
              </a:ext>
            </a:extLst>
          </p:cNvPr>
          <p:cNvSpPr>
            <a:spLocks noGrp="1"/>
          </p:cNvSpPr>
          <p:nvPr>
            <p:ph type="sldNum" sz="quarter" idx="5"/>
          </p:nvPr>
        </p:nvSpPr>
        <p:spPr/>
        <p:txBody>
          <a:bodyPr/>
          <a:lstStyle/>
          <a:p>
            <a:fld id="{B9501F51-E497-1449-8DC9-60B7BE2806BF}" type="slidenum">
              <a:rPr kumimoji="1" lang="zh-CN" altLang="en-US" smtClean="0"/>
              <a:pPr/>
              <a:t>34</a:t>
            </a:fld>
            <a:endParaRPr kumimoji="1" lang="zh-CN" altLang="en-US"/>
          </a:p>
        </p:txBody>
      </p:sp>
    </p:spTree>
    <p:extLst>
      <p:ext uri="{BB962C8B-B14F-4D97-AF65-F5344CB8AC3E}">
        <p14:creationId xmlns:p14="http://schemas.microsoft.com/office/powerpoint/2010/main" val="24488860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4A845-8520-3B9B-AF45-ADE1346D15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BB93C5-FC94-737F-8594-E5F09E23B6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2DFCD7-0830-AA72-071C-97A5BFA612E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D2A5F8-E9E9-BD6B-3321-713DAC87BF64}"/>
              </a:ext>
            </a:extLst>
          </p:cNvPr>
          <p:cNvSpPr>
            <a:spLocks noGrp="1"/>
          </p:cNvSpPr>
          <p:nvPr>
            <p:ph type="sldNum" sz="quarter" idx="5"/>
          </p:nvPr>
        </p:nvSpPr>
        <p:spPr/>
        <p:txBody>
          <a:bodyPr/>
          <a:lstStyle/>
          <a:p>
            <a:fld id="{B9501F51-E497-1449-8DC9-60B7BE2806BF}" type="slidenum">
              <a:rPr kumimoji="1" lang="zh-CN" altLang="en-US" smtClean="0"/>
              <a:pPr/>
              <a:t>35</a:t>
            </a:fld>
            <a:endParaRPr kumimoji="1" lang="zh-CN" altLang="en-US"/>
          </a:p>
        </p:txBody>
      </p:sp>
    </p:spTree>
    <p:extLst>
      <p:ext uri="{BB962C8B-B14F-4D97-AF65-F5344CB8AC3E}">
        <p14:creationId xmlns:p14="http://schemas.microsoft.com/office/powerpoint/2010/main" val="17738007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76A2B-AA07-EC8A-D247-DFCBAAF8AA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2ECA0D-7816-4C6E-F88B-EA70AD5BD8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2FEA42-1E3D-2BB2-3AF0-746D70A4F83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155D9B-6952-9567-CAD7-B470AEFC6EDA}"/>
              </a:ext>
            </a:extLst>
          </p:cNvPr>
          <p:cNvSpPr>
            <a:spLocks noGrp="1"/>
          </p:cNvSpPr>
          <p:nvPr>
            <p:ph type="sldNum" sz="quarter" idx="5"/>
          </p:nvPr>
        </p:nvSpPr>
        <p:spPr/>
        <p:txBody>
          <a:bodyPr/>
          <a:lstStyle/>
          <a:p>
            <a:fld id="{B9501F51-E497-1449-8DC9-60B7BE2806BF}" type="slidenum">
              <a:rPr kumimoji="1" lang="zh-CN" altLang="en-US" smtClean="0"/>
              <a:pPr/>
              <a:t>36</a:t>
            </a:fld>
            <a:endParaRPr kumimoji="1" lang="zh-CN" altLang="en-US"/>
          </a:p>
        </p:txBody>
      </p:sp>
    </p:spTree>
    <p:extLst>
      <p:ext uri="{BB962C8B-B14F-4D97-AF65-F5344CB8AC3E}">
        <p14:creationId xmlns:p14="http://schemas.microsoft.com/office/powerpoint/2010/main" val="18501217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B87FA-058F-ACB7-7883-E69A382016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4E4A45-6525-1F78-B156-AE2E73E07F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6D9BBF-13EB-3A4C-0CA0-4E4C0071FB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B83C8BE-5164-48FF-17FC-379C4421C2D6}"/>
              </a:ext>
            </a:extLst>
          </p:cNvPr>
          <p:cNvSpPr>
            <a:spLocks noGrp="1"/>
          </p:cNvSpPr>
          <p:nvPr>
            <p:ph type="sldNum" sz="quarter" idx="5"/>
          </p:nvPr>
        </p:nvSpPr>
        <p:spPr/>
        <p:txBody>
          <a:bodyPr/>
          <a:lstStyle/>
          <a:p>
            <a:fld id="{B9501F51-E497-1449-8DC9-60B7BE2806BF}" type="slidenum">
              <a:rPr kumimoji="1" lang="zh-CN" altLang="en-US" smtClean="0"/>
              <a:pPr/>
              <a:t>37</a:t>
            </a:fld>
            <a:endParaRPr kumimoji="1" lang="zh-CN" altLang="en-US"/>
          </a:p>
        </p:txBody>
      </p:sp>
    </p:spTree>
    <p:extLst>
      <p:ext uri="{BB962C8B-B14F-4D97-AF65-F5344CB8AC3E}">
        <p14:creationId xmlns:p14="http://schemas.microsoft.com/office/powerpoint/2010/main" val="21061471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A9950-8E4B-D983-C331-F12750D8A6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07CCB0-54BF-B4F5-811F-05B4199AB9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8D102D-A103-DAEC-4897-8CDB33E8D61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5FDCBF-7461-CA5C-FBC0-B579D32AC837}"/>
              </a:ext>
            </a:extLst>
          </p:cNvPr>
          <p:cNvSpPr>
            <a:spLocks noGrp="1"/>
          </p:cNvSpPr>
          <p:nvPr>
            <p:ph type="sldNum" sz="quarter" idx="5"/>
          </p:nvPr>
        </p:nvSpPr>
        <p:spPr/>
        <p:txBody>
          <a:bodyPr/>
          <a:lstStyle/>
          <a:p>
            <a:fld id="{B9501F51-E497-1449-8DC9-60B7BE2806BF}" type="slidenum">
              <a:rPr kumimoji="1" lang="zh-CN" altLang="en-US" smtClean="0"/>
              <a:pPr/>
              <a:t>38</a:t>
            </a:fld>
            <a:endParaRPr kumimoji="1" lang="zh-CN" altLang="en-US"/>
          </a:p>
        </p:txBody>
      </p:sp>
    </p:spTree>
    <p:extLst>
      <p:ext uri="{BB962C8B-B14F-4D97-AF65-F5344CB8AC3E}">
        <p14:creationId xmlns:p14="http://schemas.microsoft.com/office/powerpoint/2010/main" val="27359319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1A331-FF28-FC74-FFAB-69AC466701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463EAF-E967-A8D9-323E-B155071843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8C9526-8CA9-20CF-459B-EB6A64BEF36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829A7D-A3A0-F595-420A-2C9409C9BC08}"/>
              </a:ext>
            </a:extLst>
          </p:cNvPr>
          <p:cNvSpPr>
            <a:spLocks noGrp="1"/>
          </p:cNvSpPr>
          <p:nvPr>
            <p:ph type="sldNum" sz="quarter" idx="5"/>
          </p:nvPr>
        </p:nvSpPr>
        <p:spPr/>
        <p:txBody>
          <a:bodyPr/>
          <a:lstStyle/>
          <a:p>
            <a:fld id="{B9501F51-E497-1449-8DC9-60B7BE2806BF}" type="slidenum">
              <a:rPr kumimoji="1" lang="zh-CN" altLang="en-US" smtClean="0"/>
              <a:pPr/>
              <a:t>39</a:t>
            </a:fld>
            <a:endParaRPr kumimoji="1" lang="zh-CN" altLang="en-US"/>
          </a:p>
        </p:txBody>
      </p:sp>
    </p:spTree>
    <p:extLst>
      <p:ext uri="{BB962C8B-B14F-4D97-AF65-F5344CB8AC3E}">
        <p14:creationId xmlns:p14="http://schemas.microsoft.com/office/powerpoint/2010/main" val="7470950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94FC-EBE5-AA82-01A2-796FF89F1D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92C7B8-7962-BD92-F085-CBF889FF37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6C55AA-07AB-2E8B-2D67-07073A479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BCFD5D-95EF-7851-211B-AE17716FA3EA}"/>
              </a:ext>
            </a:extLst>
          </p:cNvPr>
          <p:cNvSpPr>
            <a:spLocks noGrp="1"/>
          </p:cNvSpPr>
          <p:nvPr>
            <p:ph type="sldNum" sz="quarter" idx="5"/>
          </p:nvPr>
        </p:nvSpPr>
        <p:spPr/>
        <p:txBody>
          <a:bodyPr/>
          <a:lstStyle/>
          <a:p>
            <a:fld id="{B9501F51-E497-1449-8DC9-60B7BE2806BF}" type="slidenum">
              <a:rPr kumimoji="1" lang="zh-CN" altLang="en-US" smtClean="0"/>
              <a:pPr/>
              <a:t>40</a:t>
            </a:fld>
            <a:endParaRPr kumimoji="1" lang="zh-CN" altLang="en-US"/>
          </a:p>
        </p:txBody>
      </p:sp>
    </p:spTree>
    <p:extLst>
      <p:ext uri="{BB962C8B-B14F-4D97-AF65-F5344CB8AC3E}">
        <p14:creationId xmlns:p14="http://schemas.microsoft.com/office/powerpoint/2010/main" val="3182824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6C0E-DE4D-D3FF-50B8-DE7E8F49DE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DBA1BD-E016-219D-C0AB-FDB12C9315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B0586E-1CA3-FFB3-6CD7-9391D7B1111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0B2D007-B633-D3FD-70FA-83278A13D282}"/>
              </a:ext>
            </a:extLst>
          </p:cNvPr>
          <p:cNvSpPr>
            <a:spLocks noGrp="1"/>
          </p:cNvSpPr>
          <p:nvPr>
            <p:ph type="sldNum" sz="quarter" idx="5"/>
          </p:nvPr>
        </p:nvSpPr>
        <p:spPr/>
        <p:txBody>
          <a:bodyPr/>
          <a:lstStyle/>
          <a:p>
            <a:fld id="{B9501F51-E497-1449-8DC9-60B7BE2806BF}" type="slidenum">
              <a:rPr kumimoji="1" lang="zh-CN" altLang="en-US" smtClean="0"/>
              <a:pPr/>
              <a:t>41</a:t>
            </a:fld>
            <a:endParaRPr kumimoji="1" lang="zh-CN" altLang="en-US"/>
          </a:p>
        </p:txBody>
      </p:sp>
    </p:spTree>
    <p:extLst>
      <p:ext uri="{BB962C8B-B14F-4D97-AF65-F5344CB8AC3E}">
        <p14:creationId xmlns:p14="http://schemas.microsoft.com/office/powerpoint/2010/main" val="1366951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DF431-C5C5-8357-803B-8D0B2582FE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8BB736-17C7-ECBB-3C26-D7AA33A452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D42C38-ECA1-5259-13C5-BFD6A9E4903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D6471AA-A1B8-449A-FFB5-46D2A060A300}"/>
              </a:ext>
            </a:extLst>
          </p:cNvPr>
          <p:cNvSpPr>
            <a:spLocks noGrp="1"/>
          </p:cNvSpPr>
          <p:nvPr>
            <p:ph type="sldNum" sz="quarter" idx="5"/>
          </p:nvPr>
        </p:nvSpPr>
        <p:spPr/>
        <p:txBody>
          <a:bodyPr/>
          <a:lstStyle/>
          <a:p>
            <a:fld id="{B9501F51-E497-1449-8DC9-60B7BE2806BF}" type="slidenum">
              <a:rPr kumimoji="1" lang="zh-CN" altLang="en-US" smtClean="0"/>
              <a:pPr/>
              <a:t>42</a:t>
            </a:fld>
            <a:endParaRPr kumimoji="1" lang="zh-CN" altLang="en-US"/>
          </a:p>
        </p:txBody>
      </p:sp>
    </p:spTree>
    <p:extLst>
      <p:ext uri="{BB962C8B-B14F-4D97-AF65-F5344CB8AC3E}">
        <p14:creationId xmlns:p14="http://schemas.microsoft.com/office/powerpoint/2010/main" val="25519141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4192D-D6C6-A46E-7206-4BC2814EF0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669852-BE25-95B3-C8FB-36C47D0614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2B8648-D4F6-4B58-B37B-4D012CA4D5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DED7A45-84A3-17E1-ED52-1411C4152DF0}"/>
              </a:ext>
            </a:extLst>
          </p:cNvPr>
          <p:cNvSpPr>
            <a:spLocks noGrp="1"/>
          </p:cNvSpPr>
          <p:nvPr>
            <p:ph type="sldNum" sz="quarter" idx="5"/>
          </p:nvPr>
        </p:nvSpPr>
        <p:spPr/>
        <p:txBody>
          <a:bodyPr/>
          <a:lstStyle/>
          <a:p>
            <a:fld id="{B9501F51-E497-1449-8DC9-60B7BE2806BF}" type="slidenum">
              <a:rPr kumimoji="1" lang="zh-CN" altLang="en-US" smtClean="0"/>
              <a:pPr/>
              <a:t>43</a:t>
            </a:fld>
            <a:endParaRPr kumimoji="1" lang="zh-CN" altLang="en-US"/>
          </a:p>
        </p:txBody>
      </p:sp>
    </p:spTree>
    <p:extLst>
      <p:ext uri="{BB962C8B-B14F-4D97-AF65-F5344CB8AC3E}">
        <p14:creationId xmlns:p14="http://schemas.microsoft.com/office/powerpoint/2010/main" val="14550435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395B2-5F51-083D-CF3C-13B00E018B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F7BBCF-B85C-0A5A-676E-7A06C0D896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FDB529-C868-D27A-783C-6C1AC0AE4C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29D88E-06EC-FF83-A736-78788A4F461A}"/>
              </a:ext>
            </a:extLst>
          </p:cNvPr>
          <p:cNvSpPr>
            <a:spLocks noGrp="1"/>
          </p:cNvSpPr>
          <p:nvPr>
            <p:ph type="sldNum" sz="quarter" idx="5"/>
          </p:nvPr>
        </p:nvSpPr>
        <p:spPr/>
        <p:txBody>
          <a:bodyPr/>
          <a:lstStyle/>
          <a:p>
            <a:fld id="{B9501F51-E497-1449-8DC9-60B7BE2806BF}" type="slidenum">
              <a:rPr kumimoji="1" lang="zh-CN" altLang="en-US" smtClean="0"/>
              <a:pPr/>
              <a:t>44</a:t>
            </a:fld>
            <a:endParaRPr kumimoji="1" lang="zh-CN" altLang="en-US"/>
          </a:p>
        </p:txBody>
      </p:sp>
    </p:spTree>
    <p:extLst>
      <p:ext uri="{BB962C8B-B14F-4D97-AF65-F5344CB8AC3E}">
        <p14:creationId xmlns:p14="http://schemas.microsoft.com/office/powerpoint/2010/main" val="7228360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493EA-C9B5-2A4F-3152-71A8298F5B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8AB32B-EAF1-DD1E-AA3F-0FC7DA13A0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0C394E-23AF-9205-A760-0DC5EB55DB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31AE31A-04D6-FB18-1F53-D744F1D22205}"/>
              </a:ext>
            </a:extLst>
          </p:cNvPr>
          <p:cNvSpPr>
            <a:spLocks noGrp="1"/>
          </p:cNvSpPr>
          <p:nvPr>
            <p:ph type="sldNum" sz="quarter" idx="5"/>
          </p:nvPr>
        </p:nvSpPr>
        <p:spPr/>
        <p:txBody>
          <a:bodyPr/>
          <a:lstStyle/>
          <a:p>
            <a:fld id="{B9501F51-E497-1449-8DC9-60B7BE2806BF}" type="slidenum">
              <a:rPr kumimoji="1" lang="zh-CN" altLang="en-US" smtClean="0"/>
              <a:pPr/>
              <a:t>45</a:t>
            </a:fld>
            <a:endParaRPr kumimoji="1" lang="zh-CN" altLang="en-US"/>
          </a:p>
        </p:txBody>
      </p:sp>
    </p:spTree>
    <p:extLst>
      <p:ext uri="{BB962C8B-B14F-4D97-AF65-F5344CB8AC3E}">
        <p14:creationId xmlns:p14="http://schemas.microsoft.com/office/powerpoint/2010/main" val="32467950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009B-C9DD-5093-1B26-A4A2BBA334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3C5505-B4CC-4105-B76B-BD01606729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85869B-97BD-6B83-D05F-F9DA6740C06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201A6D1-549D-6643-2AE9-0BAEE3783124}"/>
              </a:ext>
            </a:extLst>
          </p:cNvPr>
          <p:cNvSpPr>
            <a:spLocks noGrp="1"/>
          </p:cNvSpPr>
          <p:nvPr>
            <p:ph type="sldNum" sz="quarter" idx="5"/>
          </p:nvPr>
        </p:nvSpPr>
        <p:spPr/>
        <p:txBody>
          <a:bodyPr/>
          <a:lstStyle/>
          <a:p>
            <a:fld id="{B9501F51-E497-1449-8DC9-60B7BE2806BF}" type="slidenum">
              <a:rPr kumimoji="1" lang="zh-CN" altLang="en-US" smtClean="0"/>
              <a:pPr/>
              <a:t>46</a:t>
            </a:fld>
            <a:endParaRPr kumimoji="1" lang="zh-CN" altLang="en-US"/>
          </a:p>
        </p:txBody>
      </p:sp>
    </p:spTree>
    <p:extLst>
      <p:ext uri="{BB962C8B-B14F-4D97-AF65-F5344CB8AC3E}">
        <p14:creationId xmlns:p14="http://schemas.microsoft.com/office/powerpoint/2010/main" val="21524313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D660F-EB9C-D458-0BD7-27806BDC46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777AE2-EC03-77B5-0028-FE813AF7C3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AB463F2-4112-EC33-5999-28F400EE6B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3C36378-6CCD-368F-3744-647FEE681FF6}"/>
              </a:ext>
            </a:extLst>
          </p:cNvPr>
          <p:cNvSpPr>
            <a:spLocks noGrp="1"/>
          </p:cNvSpPr>
          <p:nvPr>
            <p:ph type="sldNum" sz="quarter" idx="5"/>
          </p:nvPr>
        </p:nvSpPr>
        <p:spPr/>
        <p:txBody>
          <a:bodyPr/>
          <a:lstStyle/>
          <a:p>
            <a:fld id="{B9501F51-E497-1449-8DC9-60B7BE2806BF}" type="slidenum">
              <a:rPr kumimoji="1" lang="zh-CN" altLang="en-US" smtClean="0"/>
              <a:pPr/>
              <a:t>47</a:t>
            </a:fld>
            <a:endParaRPr kumimoji="1" lang="zh-CN" altLang="en-US"/>
          </a:p>
        </p:txBody>
      </p:sp>
    </p:spTree>
    <p:extLst>
      <p:ext uri="{BB962C8B-B14F-4D97-AF65-F5344CB8AC3E}">
        <p14:creationId xmlns:p14="http://schemas.microsoft.com/office/powerpoint/2010/main" val="17834356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6EA04-D171-A100-F2A3-04C3875EEF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958DC5-BA39-D3B5-E1AB-B8ED5F96F7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4A3076-2C64-5ABD-489E-E015C2F7D9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DB13FA0-C7C1-1E77-A8CA-970D4A44CA4D}"/>
              </a:ext>
            </a:extLst>
          </p:cNvPr>
          <p:cNvSpPr>
            <a:spLocks noGrp="1"/>
          </p:cNvSpPr>
          <p:nvPr>
            <p:ph type="sldNum" sz="quarter" idx="5"/>
          </p:nvPr>
        </p:nvSpPr>
        <p:spPr/>
        <p:txBody>
          <a:bodyPr/>
          <a:lstStyle/>
          <a:p>
            <a:fld id="{B9501F51-E497-1449-8DC9-60B7BE2806BF}" type="slidenum">
              <a:rPr kumimoji="1" lang="zh-CN" altLang="en-US" smtClean="0"/>
              <a:pPr/>
              <a:t>48</a:t>
            </a:fld>
            <a:endParaRPr kumimoji="1" lang="zh-CN" altLang="en-US"/>
          </a:p>
        </p:txBody>
      </p:sp>
    </p:spTree>
    <p:extLst>
      <p:ext uri="{BB962C8B-B14F-4D97-AF65-F5344CB8AC3E}">
        <p14:creationId xmlns:p14="http://schemas.microsoft.com/office/powerpoint/2010/main" val="18417641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150B5-D95B-5B46-34A4-4D8210D97A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4F9AB6-8330-B591-BAAF-845563C839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503BD8-72C2-8DB7-F856-3FCEDC9644A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31D3229-A525-FB4F-4F92-7005415A4061}"/>
              </a:ext>
            </a:extLst>
          </p:cNvPr>
          <p:cNvSpPr>
            <a:spLocks noGrp="1"/>
          </p:cNvSpPr>
          <p:nvPr>
            <p:ph type="sldNum" sz="quarter" idx="5"/>
          </p:nvPr>
        </p:nvSpPr>
        <p:spPr/>
        <p:txBody>
          <a:bodyPr/>
          <a:lstStyle/>
          <a:p>
            <a:fld id="{B9501F51-E497-1449-8DC9-60B7BE2806BF}" type="slidenum">
              <a:rPr kumimoji="1" lang="zh-CN" altLang="en-US" smtClean="0"/>
              <a:pPr/>
              <a:t>49</a:t>
            </a:fld>
            <a:endParaRPr kumimoji="1" lang="zh-CN" altLang="en-US"/>
          </a:p>
        </p:txBody>
      </p:sp>
    </p:spTree>
    <p:extLst>
      <p:ext uri="{BB962C8B-B14F-4D97-AF65-F5344CB8AC3E}">
        <p14:creationId xmlns:p14="http://schemas.microsoft.com/office/powerpoint/2010/main" val="33889644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C9A51-E3CB-BBA2-7924-07343EAA57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E22E29-857A-4C4E-E309-7E2D1A4AE3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F51198-85DB-8F9F-EEA7-C080A41027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F36016-5233-F8C6-8521-6BA0D0FF4848}"/>
              </a:ext>
            </a:extLst>
          </p:cNvPr>
          <p:cNvSpPr>
            <a:spLocks noGrp="1"/>
          </p:cNvSpPr>
          <p:nvPr>
            <p:ph type="sldNum" sz="quarter" idx="5"/>
          </p:nvPr>
        </p:nvSpPr>
        <p:spPr/>
        <p:txBody>
          <a:bodyPr/>
          <a:lstStyle/>
          <a:p>
            <a:fld id="{B9501F51-E497-1449-8DC9-60B7BE2806BF}" type="slidenum">
              <a:rPr kumimoji="1" lang="zh-CN" altLang="en-US" smtClean="0"/>
              <a:pPr/>
              <a:t>50</a:t>
            </a:fld>
            <a:endParaRPr kumimoji="1" lang="zh-CN" altLang="en-US"/>
          </a:p>
        </p:txBody>
      </p:sp>
    </p:spTree>
    <p:extLst>
      <p:ext uri="{BB962C8B-B14F-4D97-AF65-F5344CB8AC3E}">
        <p14:creationId xmlns:p14="http://schemas.microsoft.com/office/powerpoint/2010/main" val="3199441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A7E0-3DFE-C9C1-B2CC-6412FB9284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300D33-EE71-DA2B-2183-FFF25ECF16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4CE182-3A2C-EA58-6653-925DA1F3AEB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B64B3D4-DBBF-82E8-A23A-23E9344020C6}"/>
              </a:ext>
            </a:extLst>
          </p:cNvPr>
          <p:cNvSpPr>
            <a:spLocks noGrp="1"/>
          </p:cNvSpPr>
          <p:nvPr>
            <p:ph type="sldNum" sz="quarter" idx="5"/>
          </p:nvPr>
        </p:nvSpPr>
        <p:spPr/>
        <p:txBody>
          <a:bodyPr/>
          <a:lstStyle/>
          <a:p>
            <a:fld id="{B9501F51-E497-1449-8DC9-60B7BE2806BF}" type="slidenum">
              <a:rPr kumimoji="1" lang="zh-CN" altLang="en-US" smtClean="0"/>
              <a:pPr/>
              <a:t>51</a:t>
            </a:fld>
            <a:endParaRPr kumimoji="1" lang="zh-CN" altLang="en-US"/>
          </a:p>
        </p:txBody>
      </p:sp>
    </p:spTree>
    <p:extLst>
      <p:ext uri="{BB962C8B-B14F-4D97-AF65-F5344CB8AC3E}">
        <p14:creationId xmlns:p14="http://schemas.microsoft.com/office/powerpoint/2010/main" val="30072198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01F51-E497-1449-8DC9-60B7BE2806BF}" type="slidenum">
              <a:rPr kumimoji="1" lang="zh-CN" altLang="en-US" smtClean="0"/>
              <a:pPr/>
              <a:t>52</a:t>
            </a:fld>
            <a:endParaRPr kumimoji="1" lang="zh-CN" altLang="en-US"/>
          </a:p>
        </p:txBody>
      </p:sp>
    </p:spTree>
    <p:extLst>
      <p:ext uri="{BB962C8B-B14F-4D97-AF65-F5344CB8AC3E}">
        <p14:creationId xmlns:p14="http://schemas.microsoft.com/office/powerpoint/2010/main" val="39202337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en-US" altLang="zh-CN" sz="1400" b="1" dirty="0" err="1">
                <a:latin typeface="等线" panose="02010600030101010101" charset="-122"/>
                <a:ea typeface="等线" panose="02010600030101010101" charset="-122"/>
                <a:cs typeface="等线" panose="02010600030101010101" charset="-122"/>
                <a:sym typeface="+mn-ea"/>
              </a:rPr>
              <a:t>ResNet</a:t>
            </a:r>
            <a:r>
              <a:rPr lang="en-US" altLang="zh-CN" sz="1400" b="1" dirty="0">
                <a:latin typeface="等线" panose="02010600030101010101" charset="-122"/>
                <a:ea typeface="等线" panose="02010600030101010101" charset="-122"/>
                <a:cs typeface="等线" panose="02010600030101010101" charset="-122"/>
                <a:sym typeface="+mn-ea"/>
              </a:rPr>
              <a:t> </a:t>
            </a:r>
            <a:r>
              <a:rPr lang="zh-CN" altLang="en-US" sz="1400" b="1" dirty="0">
                <a:latin typeface="等线" panose="02010600030101010101" charset="-122"/>
                <a:ea typeface="等线" panose="02010600030101010101" charset="-122"/>
                <a:cs typeface="等线" panose="02010600030101010101" charset="-122"/>
                <a:sym typeface="+mn-ea"/>
              </a:rPr>
              <a:t>的工作原理</a:t>
            </a:r>
          </a:p>
          <a:p>
            <a:pPr algn="l"/>
            <a:endParaRPr lang="zh-CN" altLang="en-US" sz="1200" dirty="0">
              <a:latin typeface="等线" panose="02010600030101010101" charset="-122"/>
              <a:ea typeface="等线" panose="02010600030101010101" charset="-122"/>
              <a:cs typeface="等线" panose="02010600030101010101" charset="-122"/>
              <a:sym typeface="+mn-ea"/>
            </a:endParaRPr>
          </a:p>
          <a:p>
            <a:pPr marL="342900" indent="-342900" algn="l">
              <a:lnSpc>
                <a:spcPct val="120000"/>
              </a:lnSpc>
              <a:spcBef>
                <a:spcPts val="0"/>
              </a:spcBef>
              <a:spcAft>
                <a:spcPts val="0"/>
              </a:spcAft>
              <a:buFont typeface="Arial" panose="020B0604020202020204" pitchFamily="34" charset="0"/>
              <a:buChar char="•"/>
            </a:pPr>
            <a:r>
              <a:rPr lang="zh-CN" altLang="en-US" sz="1200" b="1" dirty="0">
                <a:latin typeface="等线" panose="02010600030101010101" charset="-122"/>
                <a:ea typeface="等线" panose="02010600030101010101" charset="-122"/>
                <a:cs typeface="等线" panose="02010600030101010101" charset="-122"/>
                <a:sym typeface="+mn-ea"/>
              </a:rPr>
              <a:t>输入层：</a:t>
            </a:r>
            <a:r>
              <a:rPr lang="zh-CN" altLang="en-US" sz="1200" dirty="0">
                <a:latin typeface="等线" panose="02010600030101010101" charset="-122"/>
                <a:ea typeface="等线" panose="02010600030101010101" charset="-122"/>
                <a:cs typeface="等线" panose="02010600030101010101" charset="-122"/>
                <a:sym typeface="+mn-ea"/>
              </a:rPr>
              <a:t>首先，图像数据作为输入被送入</a:t>
            </a:r>
            <a:r>
              <a:rPr lang="en-US" altLang="zh-CN" sz="1200" dirty="0" err="1">
                <a:latin typeface="等线" panose="02010600030101010101" charset="-122"/>
                <a:ea typeface="等线" panose="02010600030101010101" charset="-122"/>
                <a:cs typeface="等线" panose="02010600030101010101" charset="-122"/>
                <a:sym typeface="+mn-ea"/>
              </a:rPr>
              <a:t>ResNet</a:t>
            </a:r>
            <a:r>
              <a:rPr lang="zh-CN" altLang="en-US" sz="1200" dirty="0">
                <a:latin typeface="等线" panose="02010600030101010101" charset="-122"/>
                <a:ea typeface="等线" panose="02010600030101010101" charset="-122"/>
                <a:cs typeface="等线" panose="02010600030101010101" charset="-122"/>
                <a:sym typeface="+mn-ea"/>
              </a:rPr>
              <a:t>的第一个卷积层，这通常是一个</a:t>
            </a:r>
            <a:r>
              <a:rPr lang="en-US" altLang="zh-CN" sz="1200" dirty="0">
                <a:latin typeface="等线" panose="02010600030101010101" charset="-122"/>
                <a:ea typeface="等线" panose="02010600030101010101" charset="-122"/>
                <a:cs typeface="等线" panose="02010600030101010101" charset="-122"/>
                <a:sym typeface="+mn-ea"/>
              </a:rPr>
              <a:t>7x7</a:t>
            </a:r>
            <a:r>
              <a:rPr lang="zh-CN" altLang="en-US" sz="1200" dirty="0">
                <a:latin typeface="等线" panose="02010600030101010101" charset="-122"/>
                <a:ea typeface="等线" panose="02010600030101010101" charset="-122"/>
                <a:cs typeface="等线" panose="02010600030101010101" charset="-122"/>
                <a:sym typeface="+mn-ea"/>
              </a:rPr>
              <a:t>的卷积层，用于初步提取图像特征。</a:t>
            </a:r>
          </a:p>
          <a:p>
            <a:pPr marL="342900" indent="-342900" algn="l">
              <a:lnSpc>
                <a:spcPct val="120000"/>
              </a:lnSpc>
              <a:spcBef>
                <a:spcPts val="0"/>
              </a:spcBef>
              <a:spcAft>
                <a:spcPts val="0"/>
              </a:spcAft>
              <a:buFont typeface="Arial" panose="020B0604020202020204" pitchFamily="34" charset="0"/>
              <a:buChar char="•"/>
            </a:pPr>
            <a:r>
              <a:rPr lang="zh-CN" altLang="en-US" sz="1200" b="1" dirty="0">
                <a:latin typeface="等线" panose="02010600030101010101" charset="-122"/>
                <a:ea typeface="等线" panose="02010600030101010101" charset="-122"/>
                <a:cs typeface="等线" panose="02010600030101010101" charset="-122"/>
                <a:sym typeface="+mn-ea"/>
              </a:rPr>
              <a:t>残差块：</a:t>
            </a:r>
            <a:r>
              <a:rPr lang="zh-CN" altLang="en-US" sz="1200" dirty="0">
                <a:latin typeface="等线" panose="02010600030101010101" charset="-122"/>
                <a:ea typeface="等线" panose="02010600030101010101" charset="-122"/>
                <a:cs typeface="等线" panose="02010600030101010101" charset="-122"/>
                <a:sym typeface="+mn-ea"/>
              </a:rPr>
              <a:t>随后，图像数据通过一系列残差块（</a:t>
            </a:r>
            <a:r>
              <a:rPr lang="en-US" altLang="zh-CN" sz="1200" dirty="0">
                <a:latin typeface="等线" panose="02010600030101010101" charset="-122"/>
                <a:ea typeface="等线" panose="02010600030101010101" charset="-122"/>
                <a:cs typeface="等线" panose="02010600030101010101" charset="-122"/>
                <a:sym typeface="+mn-ea"/>
              </a:rPr>
              <a:t>Residual Blocks</a:t>
            </a:r>
            <a:r>
              <a:rPr lang="zh-CN" altLang="en-US" sz="1200" dirty="0">
                <a:latin typeface="等线" panose="02010600030101010101" charset="-122"/>
                <a:ea typeface="等线" panose="02010600030101010101" charset="-122"/>
                <a:cs typeface="等线" panose="02010600030101010101" charset="-122"/>
                <a:sym typeface="+mn-ea"/>
              </a:rPr>
              <a:t>）。每个残差块都包含两层卷积层，用于进一步提取图像特征。重要的是，每个残差块都通过跳跃连接（</a:t>
            </a:r>
            <a:r>
              <a:rPr lang="en-US" altLang="zh-CN" sz="1200" dirty="0">
                <a:latin typeface="等线" panose="02010600030101010101" charset="-122"/>
                <a:ea typeface="等线" panose="02010600030101010101" charset="-122"/>
                <a:cs typeface="等线" panose="02010600030101010101" charset="-122"/>
                <a:sym typeface="+mn-ea"/>
              </a:rPr>
              <a:t>Skip Connection</a:t>
            </a:r>
            <a:r>
              <a:rPr lang="zh-CN" altLang="en-US" sz="1200" dirty="0">
                <a:latin typeface="等线" panose="02010600030101010101" charset="-122"/>
                <a:ea typeface="等线" panose="02010600030101010101" charset="-122"/>
                <a:cs typeface="等线" panose="02010600030101010101" charset="-122"/>
                <a:sym typeface="+mn-ea"/>
              </a:rPr>
              <a:t>）实现，</a:t>
            </a:r>
            <a:r>
              <a:rPr lang="en-US" altLang="zh-CN" sz="1200" dirty="0">
                <a:latin typeface="等线" panose="02010600030101010101" charset="-122"/>
                <a:ea typeface="等线" panose="02010600030101010101" charset="-122"/>
                <a:cs typeface="等线" panose="02010600030101010101" charset="-122"/>
                <a:sym typeface="+mn-ea"/>
              </a:rPr>
              <a:t> </a:t>
            </a:r>
            <a:r>
              <a:rPr lang="zh-CN" altLang="en-US" sz="1200" dirty="0">
                <a:latin typeface="等线" panose="02010600030101010101" charset="-122"/>
                <a:ea typeface="等线" panose="02010600030101010101" charset="-122"/>
                <a:cs typeface="等线" panose="02010600030101010101" charset="-122"/>
                <a:sym typeface="+mn-ea"/>
              </a:rPr>
              <a:t>这意味着每个残差块的输入都会直接加到其输出上。</a:t>
            </a:r>
          </a:p>
          <a:p>
            <a:pPr marL="342900" indent="-342900" algn="l">
              <a:lnSpc>
                <a:spcPct val="120000"/>
              </a:lnSpc>
              <a:spcBef>
                <a:spcPts val="0"/>
              </a:spcBef>
              <a:spcAft>
                <a:spcPts val="0"/>
              </a:spcAft>
              <a:buFont typeface="Arial" panose="020B0604020202020204" pitchFamily="34" charset="0"/>
              <a:buChar char="•"/>
            </a:pPr>
            <a:r>
              <a:rPr lang="zh-CN" altLang="en-US" sz="1200" b="1" dirty="0">
                <a:latin typeface="等线" panose="02010600030101010101" charset="-122"/>
                <a:ea typeface="等线" panose="02010600030101010101" charset="-122"/>
                <a:cs typeface="等线" panose="02010600030101010101" charset="-122"/>
                <a:sym typeface="+mn-ea"/>
              </a:rPr>
              <a:t>降采样：</a:t>
            </a:r>
            <a:r>
              <a:rPr lang="zh-CN" altLang="en-US" sz="1200" dirty="0">
                <a:latin typeface="等线" panose="02010600030101010101" charset="-122"/>
                <a:ea typeface="等线" panose="02010600030101010101" charset="-122"/>
                <a:cs typeface="等线" panose="02010600030101010101" charset="-122"/>
                <a:sym typeface="+mn-ea"/>
              </a:rPr>
              <a:t>在残差块之间，可能会通过改变卷积的步长或使用额外的卷积层来实现降采样操作，以减小特征图的尺寸并保留空间层次结构。</a:t>
            </a:r>
          </a:p>
          <a:p>
            <a:pPr marL="342900" indent="-342900" algn="l">
              <a:lnSpc>
                <a:spcPct val="120000"/>
              </a:lnSpc>
              <a:spcBef>
                <a:spcPts val="0"/>
              </a:spcBef>
              <a:spcAft>
                <a:spcPts val="0"/>
              </a:spcAft>
              <a:buFont typeface="Arial" panose="020B0604020202020204" pitchFamily="34" charset="0"/>
              <a:buChar char="•"/>
            </a:pPr>
            <a:r>
              <a:rPr lang="zh-CN" altLang="en-US" sz="1200" b="1" dirty="0">
                <a:latin typeface="等线" panose="02010600030101010101" charset="-122"/>
                <a:ea typeface="等线" panose="02010600030101010101" charset="-122"/>
                <a:cs typeface="等线" panose="02010600030101010101" charset="-122"/>
                <a:sym typeface="+mn-ea"/>
              </a:rPr>
              <a:t>全连接层：</a:t>
            </a:r>
            <a:r>
              <a:rPr lang="zh-CN" altLang="en-US" sz="1200" dirty="0">
                <a:latin typeface="等线" panose="02010600030101010101" charset="-122"/>
                <a:ea typeface="等线" panose="02010600030101010101" charset="-122"/>
                <a:cs typeface="等线" panose="02010600030101010101" charset="-122"/>
                <a:sym typeface="+mn-ea"/>
              </a:rPr>
              <a:t>在所有残差块之后，全局平均池化层将特征图的空间维度减小到</a:t>
            </a:r>
            <a:r>
              <a:rPr lang="en-US" altLang="zh-CN" sz="1200" dirty="0">
                <a:latin typeface="等线" panose="02010600030101010101" charset="-122"/>
                <a:ea typeface="等线" panose="02010600030101010101" charset="-122"/>
                <a:cs typeface="等线" panose="02010600030101010101" charset="-122"/>
                <a:sym typeface="+mn-ea"/>
              </a:rPr>
              <a:t>1x1</a:t>
            </a:r>
            <a:r>
              <a:rPr lang="zh-CN" altLang="en-US" sz="1200" dirty="0">
                <a:latin typeface="等线" panose="02010600030101010101" charset="-122"/>
                <a:ea typeface="等线" panose="02010600030101010101" charset="-122"/>
                <a:cs typeface="等线" panose="02010600030101010101" charset="-122"/>
                <a:sym typeface="+mn-ea"/>
              </a:rPr>
              <a:t>，生成一个特征向量。</a:t>
            </a:r>
            <a:r>
              <a:rPr lang="en-US" altLang="zh-CN" sz="1200" dirty="0">
                <a:latin typeface="等线" panose="02010600030101010101" charset="-122"/>
                <a:ea typeface="等线" panose="02010600030101010101" charset="-122"/>
                <a:cs typeface="等线" panose="02010600030101010101" charset="-122"/>
                <a:sym typeface="+mn-ea"/>
              </a:rPr>
              <a:t> </a:t>
            </a:r>
            <a:r>
              <a:rPr lang="zh-CN" altLang="en-US" sz="1200" dirty="0">
                <a:latin typeface="等线" panose="02010600030101010101" charset="-122"/>
                <a:ea typeface="等线" panose="02010600030101010101" charset="-122"/>
                <a:cs typeface="等线" panose="02010600030101010101" charset="-122"/>
                <a:sym typeface="+mn-ea"/>
              </a:rPr>
              <a:t>然后，这个特征向量被传递给一个或多个全连接层，用于执行分类或回归任务。</a:t>
            </a:r>
          </a:p>
          <a:p>
            <a:pPr marL="342900" indent="-342900" algn="l">
              <a:lnSpc>
                <a:spcPct val="120000"/>
              </a:lnSpc>
              <a:spcBef>
                <a:spcPts val="0"/>
              </a:spcBef>
              <a:spcAft>
                <a:spcPts val="0"/>
              </a:spcAft>
              <a:buFont typeface="Arial" panose="020B0604020202020204" pitchFamily="34" charset="0"/>
              <a:buChar char="•"/>
            </a:pPr>
            <a:r>
              <a:rPr lang="zh-CN" altLang="en-US" sz="1200" b="1" dirty="0">
                <a:latin typeface="等线" panose="02010600030101010101" charset="-122"/>
                <a:ea typeface="等线" panose="02010600030101010101" charset="-122"/>
                <a:cs typeface="等线" panose="02010600030101010101" charset="-122"/>
                <a:sym typeface="+mn-ea"/>
              </a:rPr>
              <a:t>输出：</a:t>
            </a:r>
            <a:r>
              <a:rPr lang="zh-CN" altLang="en-US" sz="1200" dirty="0">
                <a:latin typeface="等线" panose="02010600030101010101" charset="-122"/>
                <a:ea typeface="等线" panose="02010600030101010101" charset="-122"/>
                <a:cs typeface="等线" panose="02010600030101010101" charset="-122"/>
                <a:sym typeface="+mn-ea"/>
              </a:rPr>
              <a:t>最后，输出预测结果。对于分类任务，输出通常是一个概率分布向量，表示图像属于各个类别的概率；对于回归任务，输出则可能是具体的数值。</a:t>
            </a:r>
          </a:p>
          <a:p>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3940533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2852773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4350607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5172430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1795713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6728946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4264096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3246556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77220067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作为特征提取器</a:t>
            </a:r>
            <a:r>
              <a:rPr lang="en-US" altLang="zh-CN"/>
              <a:t> (Fixed Feature Extractor)</a:t>
            </a:r>
            <a:r>
              <a:rPr lang="zh-CN" altLang="en-US"/>
              <a:t>：</a:t>
            </a:r>
            <a:r>
              <a:rPr lang="en-US" altLang="zh-CN"/>
              <a:t> </a:t>
            </a:r>
            <a:r>
              <a:rPr lang="zh-CN" altLang="en-US"/>
              <a:t>冻结所有卷积层参数，只训练最后新加的分类层。</a:t>
            </a:r>
          </a:p>
          <a:p>
            <a:r>
              <a:rPr lang="zh-CN" altLang="en-US"/>
              <a:t>微调</a:t>
            </a:r>
            <a:r>
              <a:rPr lang="en-US" altLang="zh-CN"/>
              <a:t> (Fine-tuning)</a:t>
            </a:r>
            <a:r>
              <a:rPr lang="zh-CN" altLang="en-US"/>
              <a:t>：</a:t>
            </a:r>
            <a:r>
              <a:rPr lang="en-US" altLang="zh-CN"/>
              <a:t> </a:t>
            </a:r>
            <a:r>
              <a:rPr lang="zh-CN" altLang="en-US"/>
              <a:t>加载预训练权重后，以极小的学习率对整个网络进行二次训练。</a:t>
            </a:r>
          </a:p>
          <a:p>
            <a:r>
              <a:rPr lang="zh-CN" altLang="en-US"/>
              <a:t>部分冻结：</a:t>
            </a:r>
            <a:r>
              <a:rPr lang="en-US" altLang="zh-CN"/>
              <a:t> </a:t>
            </a:r>
            <a:r>
              <a:rPr lang="zh-CN" altLang="en-US"/>
              <a:t>冻结靠近输入的底层，只微调靠近输出的高层，在保留通用特征的同时适应新任务。</a:t>
            </a:r>
          </a:p>
        </p:txBody>
      </p:sp>
    </p:spTree>
    <p:extLst>
      <p:ext uri="{BB962C8B-B14F-4D97-AF65-F5344CB8AC3E}">
        <p14:creationId xmlns:p14="http://schemas.microsoft.com/office/powerpoint/2010/main" val="333832433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38329-22A8-320B-3EAE-E868836FB2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3BF31A-3947-5AA2-2BC4-DB917BC8F3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A3490A-38D7-D80A-442C-CAB50B2F64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BE3FBF5E-239A-6F35-2CBE-A3B1CC9D73FE}"/>
              </a:ext>
            </a:extLst>
          </p:cNvPr>
          <p:cNvSpPr>
            <a:spLocks noGrp="1"/>
          </p:cNvSpPr>
          <p:nvPr>
            <p:ph type="sldNum" sz="quarter" idx="5"/>
          </p:nvPr>
        </p:nvSpPr>
        <p:spPr/>
        <p:txBody>
          <a:bodyPr/>
          <a:lstStyle/>
          <a:p>
            <a:fld id="{31B8AEB2-C67E-8C47-A16B-D74EB7CD360C}" type="slidenum">
              <a:rPr kumimoji="1" lang="zh-CN" altLang="en-US" smtClean="0"/>
              <a:pPr/>
              <a:t>100</a:t>
            </a:fld>
            <a:endParaRPr kumimoji="1" lang="zh-CN" altLang="en-US"/>
          </a:p>
        </p:txBody>
      </p:sp>
    </p:spTree>
    <p:extLst>
      <p:ext uri="{BB962C8B-B14F-4D97-AF65-F5344CB8AC3E}">
        <p14:creationId xmlns:p14="http://schemas.microsoft.com/office/powerpoint/2010/main" val="3558616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292763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699737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444673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088339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2637920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6493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94229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4251185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1974026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2040017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7CC5A40-E76B-A240-8908-23C20EDAB14D}" type="datetimeFigureOut">
              <a:rPr kumimoji="1" lang="zh-CN" altLang="en-US" smtClean="0"/>
              <a:pPr/>
              <a:t>2026/4/3</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1930941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C5A40-E76B-A240-8908-23C20EDAB14D}" type="datetimeFigureOut">
              <a:rPr kumimoji="1" lang="zh-CN" altLang="en-US" smtClean="0"/>
              <a:pPr/>
              <a:t>2026/4/3</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67601325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Layout" Target="../slideLayouts/slideLayout2.xml"/><Relationship Id="rId4" Type="http://schemas.openxmlformats.org/officeDocument/2006/relationships/tags" Target="../tags/tag4.xml"/><Relationship Id="rId9" Type="http://schemas.openxmlformats.org/officeDocument/2006/relationships/tags" Target="../tags/tag9.xml"/></Relationships>
</file>

<file path=ppt/slides/_rels/slide9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DBA570A-0839-B7BA-53F6-BC6EFFD9B697}"/>
              </a:ext>
            </a:extLst>
          </p:cNvPr>
          <p:cNvSpPr/>
          <p:nvPr/>
        </p:nvSpPr>
        <p:spPr>
          <a:xfrm>
            <a:off x="0" y="5610"/>
            <a:ext cx="12192000" cy="6858000"/>
          </a:xfrm>
          <a:prstGeom prst="rect">
            <a:avLst/>
          </a:prstGeom>
          <a:solidFill>
            <a:srgbClr val="142C68"/>
          </a:solidFill>
          <a:ln>
            <a:solidFill>
              <a:srgbClr val="142C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rgbClr val="02164B"/>
                </a:solidFill>
              </a:ln>
              <a:solidFill>
                <a:srgbClr val="01164B"/>
              </a:solidFill>
            </a:endParaRPr>
          </a:p>
        </p:txBody>
      </p:sp>
      <p:sp>
        <p:nvSpPr>
          <p:cNvPr id="13" name="矩形 12"/>
          <p:cNvSpPr/>
          <p:nvPr/>
        </p:nvSpPr>
        <p:spPr>
          <a:xfrm>
            <a:off x="0" y="4648611"/>
            <a:ext cx="12192000" cy="1163111"/>
          </a:xfrm>
          <a:prstGeom prst="rect">
            <a:avLst/>
          </a:prstGeom>
          <a:solidFill>
            <a:srgbClr val="5184BF">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nvGrpSpPr>
          <p:cNvPr id="6" name="组 5"/>
          <p:cNvGrpSpPr/>
          <p:nvPr/>
        </p:nvGrpSpPr>
        <p:grpSpPr>
          <a:xfrm>
            <a:off x="1311910" y="1971254"/>
            <a:ext cx="10098603" cy="2755756"/>
            <a:chOff x="-3312885" y="995824"/>
            <a:chExt cx="10098603" cy="2755756"/>
          </a:xfrm>
        </p:grpSpPr>
        <p:sp>
          <p:nvSpPr>
            <p:cNvPr id="17" name="标题 1"/>
            <p:cNvSpPr txBox="1">
              <a:spLocks/>
            </p:cNvSpPr>
            <p:nvPr/>
          </p:nvSpPr>
          <p:spPr>
            <a:xfrm>
              <a:off x="-3312885" y="995824"/>
              <a:ext cx="9572891" cy="11227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5400" dirty="0">
                  <a:solidFill>
                    <a:schemeClr val="bg1"/>
                  </a:solidFill>
                  <a:latin typeface="微软雅黑" panose="020B0503020204020204" pitchFamily="34" charset="-122"/>
                  <a:ea typeface="微软雅黑" panose="020B0503020204020204" pitchFamily="34" charset="-122"/>
                </a:rPr>
                <a:t>第六章：深度视觉模型（一）</a:t>
              </a:r>
            </a:p>
          </p:txBody>
        </p:sp>
        <p:sp>
          <p:nvSpPr>
            <p:cNvPr id="19" name="标题 1"/>
            <p:cNvSpPr txBox="1">
              <a:spLocks/>
            </p:cNvSpPr>
            <p:nvPr/>
          </p:nvSpPr>
          <p:spPr>
            <a:xfrm>
              <a:off x="5712822" y="2980471"/>
              <a:ext cx="1072896" cy="7711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zh-CN" altLang="en-US" sz="15000" b="1" dirty="0">
                <a:solidFill>
                  <a:schemeClr val="bg1"/>
                </a:solidFill>
                <a:effectLst>
                  <a:outerShdw blurRad="50800" dist="76200" dir="2700000" algn="tl" rotWithShape="0">
                    <a:schemeClr val="bg1">
                      <a:alpha val="40000"/>
                    </a:schemeClr>
                  </a:outerShdw>
                </a:effectLst>
                <a:latin typeface="Xingkai SC" charset="-122"/>
                <a:ea typeface="Xingkai SC" charset="-122"/>
                <a:cs typeface="Xingkai SC" charset="-122"/>
              </a:endParaRPr>
            </a:p>
          </p:txBody>
        </p:sp>
        <p:sp>
          <p:nvSpPr>
            <p:cNvPr id="20" name="标题 1"/>
            <p:cNvSpPr txBox="1">
              <a:spLocks/>
            </p:cNvSpPr>
            <p:nvPr/>
          </p:nvSpPr>
          <p:spPr>
            <a:xfrm>
              <a:off x="4169664" y="2379501"/>
              <a:ext cx="1072896" cy="7711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altLang="zh-CN" sz="15000" b="1" dirty="0">
                  <a:solidFill>
                    <a:schemeClr val="accent1">
                      <a:lumMod val="75000"/>
                    </a:schemeClr>
                  </a:solidFill>
                  <a:effectLst>
                    <a:outerShdw blurRad="50800" dist="76200" dir="2700000" algn="tl" rotWithShape="0">
                      <a:schemeClr val="bg1">
                        <a:alpha val="40000"/>
                      </a:schemeClr>
                    </a:outerShdw>
                  </a:effectLst>
                  <a:latin typeface="Xingkai SC" charset="-122"/>
                  <a:ea typeface="Xingkai SC" charset="-122"/>
                  <a:cs typeface="Xingkai SC" charset="-122"/>
                </a:rPr>
              </a:br>
              <a:r>
                <a:rPr lang="en-US" altLang="zh-CN" sz="15000" b="1" dirty="0">
                  <a:solidFill>
                    <a:schemeClr val="accent1">
                      <a:lumMod val="75000"/>
                    </a:schemeClr>
                  </a:solidFill>
                  <a:effectLst>
                    <a:outerShdw blurRad="50800" dist="76200" dir="2700000" algn="tl" rotWithShape="0">
                      <a:schemeClr val="bg1">
                        <a:alpha val="40000"/>
                      </a:schemeClr>
                    </a:outerShdw>
                  </a:effectLst>
                  <a:latin typeface="Xingkai SC" charset="-122"/>
                  <a:ea typeface="Xingkai SC" charset="-122"/>
                  <a:cs typeface="Xingkai SC" charset="-122"/>
                </a:rPr>
                <a:t>      </a:t>
              </a:r>
              <a:endParaRPr lang="zh-CN" altLang="en-US" sz="15000" b="1" dirty="0">
                <a:solidFill>
                  <a:schemeClr val="bg1"/>
                </a:solidFill>
                <a:effectLst>
                  <a:outerShdw blurRad="50800" dist="76200" dir="2700000" algn="tl" rotWithShape="0">
                    <a:schemeClr val="bg1">
                      <a:alpha val="40000"/>
                    </a:schemeClr>
                  </a:outerShdw>
                </a:effectLst>
                <a:latin typeface="Xingkai SC" charset="-122"/>
                <a:ea typeface="Xingkai SC" charset="-122"/>
                <a:cs typeface="Xingkai SC" charset="-122"/>
              </a:endParaRPr>
            </a:p>
          </p:txBody>
        </p:sp>
      </p:grpSp>
      <p:pic>
        <p:nvPicPr>
          <p:cNvPr id="2" name="Picture 4" descr="浙江大学">
            <a:extLst>
              <a:ext uri="{FF2B5EF4-FFF2-40B4-BE49-F238E27FC236}">
                <a16:creationId xmlns:a16="http://schemas.microsoft.com/office/drawing/2014/main" id="{A0FEC789-007D-C7E1-D7DF-BB58DBE4B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122" y="185775"/>
            <a:ext cx="1856758" cy="53727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FDF2B7BD-970D-B5F7-FAF7-A88ACF923A2C}"/>
              </a:ext>
            </a:extLst>
          </p:cNvPr>
          <p:cNvSpPr txBox="1"/>
          <p:nvPr/>
        </p:nvSpPr>
        <p:spPr>
          <a:xfrm>
            <a:off x="2455675" y="4956824"/>
            <a:ext cx="7600684" cy="523220"/>
          </a:xfrm>
          <a:prstGeom prst="rect">
            <a:avLst/>
          </a:prstGeom>
          <a:noFill/>
        </p:spPr>
        <p:txBody>
          <a:bodyPr wrap="square" rtlCol="0">
            <a:spAutoFit/>
          </a:bodyPr>
          <a:lstStyle/>
          <a:p>
            <a:pPr algn="ctr"/>
            <a:r>
              <a:rPr lang="zh-CN" altLang="en-US" sz="2800" spc="-55" dirty="0">
                <a:solidFill>
                  <a:schemeClr val="bg1"/>
                </a:solidFill>
                <a:latin typeface="微软雅黑" panose="020B0503020204020204" pitchFamily="34" charset="-122"/>
                <a:ea typeface="微软雅黑" panose="020B0503020204020204" pitchFamily="34" charset="-122"/>
                <a:cs typeface="Calibri"/>
              </a:rPr>
              <a:t>主讲教师：王文冠</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80E0B13B-31D0-80DD-20B3-7C77931F645D}"/>
              </a:ext>
            </a:extLst>
          </p:cNvPr>
          <p:cNvSpPr txBox="1"/>
          <p:nvPr/>
        </p:nvSpPr>
        <p:spPr>
          <a:xfrm>
            <a:off x="8229601" y="254358"/>
            <a:ext cx="3674790" cy="461665"/>
          </a:xfrm>
          <a:prstGeom prst="rect">
            <a:avLst/>
          </a:prstGeom>
          <a:noFill/>
        </p:spPr>
        <p:txBody>
          <a:bodyPr wrap="square" rtlCol="0">
            <a:spAutoFit/>
          </a:bodyPr>
          <a:lstStyle/>
          <a:p>
            <a:pPr algn="ctr"/>
            <a:r>
              <a:rPr lang="zh-CN" altLang="en-US" sz="2400" spc="-55" dirty="0">
                <a:solidFill>
                  <a:schemeClr val="bg1"/>
                </a:solidFill>
                <a:latin typeface="Calibri"/>
                <a:ea typeface="黑体" panose="02010609060101010101" pitchFamily="49" charset="-122"/>
                <a:cs typeface="Calibri"/>
              </a:rPr>
              <a:t>课程</a:t>
            </a:r>
            <a:r>
              <a:rPr lang="zh-CN" altLang="en-US" sz="2400" spc="-55">
                <a:solidFill>
                  <a:schemeClr val="bg1"/>
                </a:solidFill>
                <a:latin typeface="Calibri"/>
                <a:ea typeface="黑体" panose="02010609060101010101" pitchFamily="49" charset="-122"/>
                <a:cs typeface="Calibri"/>
              </a:rPr>
              <a:t>名称：深度学习导论</a:t>
            </a:r>
            <a:endParaRPr lang="en-US" altLang="zh-CN" sz="24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计算机视觉基础</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57476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kumimoji="1" lang="zh-CN" altLang="en-US" sz="2400" dirty="0"/>
              <a:t>什么是计算机视觉？</a:t>
            </a:r>
            <a:r>
              <a:rPr lang="zh-CN" altLang="en-US" sz="2400" dirty="0">
                <a:latin typeface="Times New Roman" panose="02020603050405020304" pitchFamily="18" charset="0"/>
                <a:cs typeface="Times New Roman" panose="02020603050405020304" pitchFamily="18" charset="0"/>
              </a:rPr>
              <a:t>赋予计算机“看”的能力，通过观察至少什么在哪里的能力。</a:t>
            </a:r>
          </a:p>
        </p:txBody>
      </p:sp>
      <p:sp>
        <p:nvSpPr>
          <p:cNvPr id="2" name="矩形 1"/>
          <p:cNvSpPr/>
          <p:nvPr/>
        </p:nvSpPr>
        <p:spPr>
          <a:xfrm>
            <a:off x="548639" y="2317173"/>
            <a:ext cx="11132847" cy="41615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3"/>
          <a:srcRect b="10330"/>
          <a:stretch>
            <a:fillRect/>
          </a:stretch>
        </p:blipFill>
        <p:spPr>
          <a:xfrm>
            <a:off x="1067793" y="2607258"/>
            <a:ext cx="4882194" cy="3078245"/>
          </a:xfrm>
          <a:prstGeom prst="rect">
            <a:avLst/>
          </a:prstGeom>
        </p:spPr>
      </p:pic>
      <p:sp>
        <p:nvSpPr>
          <p:cNvPr id="5" name="文本框 4"/>
          <p:cNvSpPr txBox="1"/>
          <p:nvPr/>
        </p:nvSpPr>
        <p:spPr>
          <a:xfrm>
            <a:off x="1948569" y="5897451"/>
            <a:ext cx="3589450" cy="369332"/>
          </a:xfrm>
          <a:prstGeom prst="rect">
            <a:avLst/>
          </a:prstGeom>
          <a:noFill/>
        </p:spPr>
        <p:txBody>
          <a:bodyPr wrap="square" rtlCol="0">
            <a:spAutoFit/>
          </a:bodyPr>
          <a:lstStyle/>
          <a:p>
            <a:r>
              <a:rPr lang="zh-CN" altLang="en-US" dirty="0"/>
              <a:t>碟中谍</a:t>
            </a:r>
            <a:r>
              <a:rPr lang="en-US" altLang="zh-CN" dirty="0"/>
              <a:t>7</a:t>
            </a:r>
            <a:r>
              <a:rPr lang="zh-CN" altLang="en-US" dirty="0"/>
              <a:t>中机场的人脸识别系统</a:t>
            </a:r>
          </a:p>
        </p:txBody>
      </p:sp>
      <p:pic>
        <p:nvPicPr>
          <p:cNvPr id="1028" name="Picture 4" descr="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663" y="2607258"/>
            <a:ext cx="4834940" cy="3078245"/>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p:cNvSpPr txBox="1"/>
          <p:nvPr/>
        </p:nvSpPr>
        <p:spPr>
          <a:xfrm>
            <a:off x="7716717" y="5897451"/>
            <a:ext cx="2791508" cy="369332"/>
          </a:xfrm>
          <a:prstGeom prst="rect">
            <a:avLst/>
          </a:prstGeom>
          <a:noFill/>
        </p:spPr>
        <p:txBody>
          <a:bodyPr wrap="square" rtlCol="0">
            <a:spAutoFit/>
          </a:bodyPr>
          <a:lstStyle/>
          <a:p>
            <a:r>
              <a:rPr lang="zh-CN" altLang="en-US" dirty="0"/>
              <a:t>机器的眼睛</a:t>
            </a:r>
            <a:r>
              <a:rPr lang="en-US" altLang="zh-CN" dirty="0"/>
              <a:t>——</a:t>
            </a:r>
            <a:r>
              <a:rPr lang="zh-CN" altLang="en-US" dirty="0"/>
              <a:t>摄像头</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计算机视觉基础</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57476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zh-CN" altLang="en-US" sz="2400" dirty="0"/>
              <a:t>现实中的广泛应用：人脸识别、自动驾驶、医学影像</a:t>
            </a:r>
          </a:p>
        </p:txBody>
      </p:sp>
      <p:pic>
        <p:nvPicPr>
          <p:cNvPr id="1026" name="Picture 2" descr="面部识别技术：AI 如何识别人脸_ai怎么过人脸验证-CSDN博客">
            <a:extLst>
              <a:ext uri="{FF2B5EF4-FFF2-40B4-BE49-F238E27FC236}">
                <a16:creationId xmlns:a16="http://schemas.microsoft.com/office/drawing/2014/main" id="{A9F08D7E-CB57-81D6-B799-EA060D026B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638"/>
          <a:stretch/>
        </p:blipFill>
        <p:spPr bwMode="auto">
          <a:xfrm>
            <a:off x="548639" y="2579279"/>
            <a:ext cx="3373087" cy="311546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I向“新”力丨“车路云一体化”系统——探索自动驾驶汽车的未来之路-新华网重庆频道">
            <a:extLst>
              <a:ext uri="{FF2B5EF4-FFF2-40B4-BE49-F238E27FC236}">
                <a16:creationId xmlns:a16="http://schemas.microsoft.com/office/drawing/2014/main" id="{04EDE065-97D5-543D-FF12-85902B26C0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456" y="2579279"/>
            <a:ext cx="3115466" cy="311546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E42A15E-E4EF-7640-9A87-DC69942558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4329" y="2579279"/>
            <a:ext cx="3517159" cy="311546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283C98E3-7904-0173-2E42-E08EA50C5D47}"/>
              </a:ext>
            </a:extLst>
          </p:cNvPr>
          <p:cNvSpPr txBox="1"/>
          <p:nvPr/>
        </p:nvSpPr>
        <p:spPr>
          <a:xfrm>
            <a:off x="1612905" y="5897451"/>
            <a:ext cx="3589450" cy="369332"/>
          </a:xfrm>
          <a:prstGeom prst="rect">
            <a:avLst/>
          </a:prstGeom>
          <a:noFill/>
        </p:spPr>
        <p:txBody>
          <a:bodyPr wrap="square" rtlCol="0">
            <a:spAutoFit/>
          </a:bodyPr>
          <a:lstStyle/>
          <a:p>
            <a:r>
              <a:rPr lang="zh-CN" altLang="en-US" dirty="0"/>
              <a:t>人脸识别</a:t>
            </a:r>
          </a:p>
        </p:txBody>
      </p:sp>
      <p:sp>
        <p:nvSpPr>
          <p:cNvPr id="4" name="文本框 3">
            <a:extLst>
              <a:ext uri="{FF2B5EF4-FFF2-40B4-BE49-F238E27FC236}">
                <a16:creationId xmlns:a16="http://schemas.microsoft.com/office/drawing/2014/main" id="{602B0CBC-731E-5A89-FDAF-40AAAA310C2A}"/>
              </a:ext>
            </a:extLst>
          </p:cNvPr>
          <p:cNvSpPr txBox="1"/>
          <p:nvPr/>
        </p:nvSpPr>
        <p:spPr>
          <a:xfrm>
            <a:off x="5596527" y="5897451"/>
            <a:ext cx="3589450" cy="369332"/>
          </a:xfrm>
          <a:prstGeom prst="rect">
            <a:avLst/>
          </a:prstGeom>
          <a:noFill/>
        </p:spPr>
        <p:txBody>
          <a:bodyPr wrap="square" rtlCol="0">
            <a:spAutoFit/>
          </a:bodyPr>
          <a:lstStyle/>
          <a:p>
            <a:r>
              <a:rPr lang="zh-CN" altLang="en-US" dirty="0"/>
              <a:t>自动驾驶</a:t>
            </a:r>
          </a:p>
        </p:txBody>
      </p:sp>
      <p:sp>
        <p:nvSpPr>
          <p:cNvPr id="5" name="文本框 4">
            <a:extLst>
              <a:ext uri="{FF2B5EF4-FFF2-40B4-BE49-F238E27FC236}">
                <a16:creationId xmlns:a16="http://schemas.microsoft.com/office/drawing/2014/main" id="{62DBDCF5-365D-1212-7A7D-9B1C68473DE9}"/>
              </a:ext>
            </a:extLst>
          </p:cNvPr>
          <p:cNvSpPr txBox="1"/>
          <p:nvPr/>
        </p:nvSpPr>
        <p:spPr>
          <a:xfrm>
            <a:off x="9475975" y="5893012"/>
            <a:ext cx="3589450" cy="369332"/>
          </a:xfrm>
          <a:prstGeom prst="rect">
            <a:avLst/>
          </a:prstGeom>
          <a:noFill/>
        </p:spPr>
        <p:txBody>
          <a:bodyPr wrap="square" rtlCol="0">
            <a:spAutoFit/>
          </a:bodyPr>
          <a:lstStyle/>
          <a:p>
            <a:r>
              <a:rPr lang="zh-CN" altLang="en-US" dirty="0"/>
              <a:t>医学影像</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计算机视觉基础</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57476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solidFill>
                  <a:srgbClr val="1D1D1F"/>
                </a:solidFill>
                <a:latin typeface="system-ui"/>
              </a:rPr>
              <a:t>人类</a:t>
            </a:r>
            <a:r>
              <a:rPr lang="zh-CN" altLang="en-US" sz="2400" b="0" i="0" dirty="0">
                <a:solidFill>
                  <a:srgbClr val="1D1D1F"/>
                </a:solidFill>
                <a:effectLst/>
                <a:latin typeface="system-ui"/>
              </a:rPr>
              <a:t>眼中的图像是连续的光影内容，而计算机眼中图像只是一组离散的数字矩阵</a:t>
            </a:r>
            <a:endParaRPr kumimoji="1" lang="zh-CN" altLang="en-US" sz="2400" dirty="0"/>
          </a:p>
        </p:txBody>
      </p:sp>
      <p:pic>
        <p:nvPicPr>
          <p:cNvPr id="2" name="Picture 2">
            <a:extLst>
              <a:ext uri="{FF2B5EF4-FFF2-40B4-BE49-F238E27FC236}">
                <a16:creationId xmlns:a16="http://schemas.microsoft.com/office/drawing/2014/main" id="{60CF7189-E989-7B03-FC7B-90DB556524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785"/>
          <a:stretch/>
        </p:blipFill>
        <p:spPr bwMode="auto">
          <a:xfrm>
            <a:off x="548638" y="2196380"/>
            <a:ext cx="11132849" cy="403978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D9659BB0-591F-EE5C-AE69-FA05CA2D44B7}"/>
              </a:ext>
            </a:extLst>
          </p:cNvPr>
          <p:cNvSpPr txBox="1"/>
          <p:nvPr/>
        </p:nvSpPr>
        <p:spPr>
          <a:xfrm>
            <a:off x="1925421" y="6305618"/>
            <a:ext cx="3589450" cy="369332"/>
          </a:xfrm>
          <a:prstGeom prst="rect">
            <a:avLst/>
          </a:prstGeom>
          <a:noFill/>
        </p:spPr>
        <p:txBody>
          <a:bodyPr wrap="square" rtlCol="0">
            <a:spAutoFit/>
          </a:bodyPr>
          <a:lstStyle/>
          <a:p>
            <a:r>
              <a:rPr lang="zh-CN" altLang="en-US" dirty="0"/>
              <a:t>人类眼中的图像</a:t>
            </a:r>
          </a:p>
        </p:txBody>
      </p:sp>
      <p:sp>
        <p:nvSpPr>
          <p:cNvPr id="5" name="文本框 4">
            <a:extLst>
              <a:ext uri="{FF2B5EF4-FFF2-40B4-BE49-F238E27FC236}">
                <a16:creationId xmlns:a16="http://schemas.microsoft.com/office/drawing/2014/main" id="{4EF5F9F8-1205-2AB2-8BB3-D5593D66C9E2}"/>
              </a:ext>
            </a:extLst>
          </p:cNvPr>
          <p:cNvSpPr txBox="1"/>
          <p:nvPr/>
        </p:nvSpPr>
        <p:spPr>
          <a:xfrm>
            <a:off x="8182485" y="6305618"/>
            <a:ext cx="3589450" cy="369332"/>
          </a:xfrm>
          <a:prstGeom prst="rect">
            <a:avLst/>
          </a:prstGeom>
          <a:noFill/>
        </p:spPr>
        <p:txBody>
          <a:bodyPr wrap="square" rtlCol="0">
            <a:spAutoFit/>
          </a:bodyPr>
          <a:lstStyle/>
          <a:p>
            <a:r>
              <a:rPr lang="zh-CN" altLang="en-US" dirty="0"/>
              <a:t>计算机眼中的图像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计算机视觉基础</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199208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b="0" i="0" dirty="0">
                <a:solidFill>
                  <a:srgbClr val="1D1D1F"/>
                </a:solidFill>
                <a:effectLst/>
                <a:latin typeface="system-ui"/>
              </a:rPr>
              <a:t>彩色图像由多个通道叠加构成，</a:t>
            </a:r>
            <a:r>
              <a:rPr lang="en" altLang="zh-CN" sz="2400" b="0" i="0" dirty="0">
                <a:solidFill>
                  <a:srgbClr val="1D1D1F"/>
                </a:solidFill>
                <a:effectLst/>
                <a:latin typeface="system-ui"/>
              </a:rPr>
              <a:t>RGB</a:t>
            </a:r>
            <a:r>
              <a:rPr lang="zh-CN" altLang="en-US" sz="2400" b="0" i="0" dirty="0">
                <a:solidFill>
                  <a:srgbClr val="1D1D1F"/>
                </a:solidFill>
                <a:effectLst/>
                <a:latin typeface="system-ui"/>
              </a:rPr>
              <a:t>模式使用红、绿、蓝三个正交色轴，每个通道以</a:t>
            </a:r>
            <a:r>
              <a:rPr lang="en-US" altLang="zh-CN" sz="2400" b="0" i="0" dirty="0">
                <a:solidFill>
                  <a:srgbClr val="1D1D1F"/>
                </a:solidFill>
                <a:effectLst/>
                <a:latin typeface="system-ui"/>
              </a:rPr>
              <a:t>0~255</a:t>
            </a:r>
            <a:r>
              <a:rPr lang="zh-CN" altLang="en-US" sz="2400" b="0" i="0" dirty="0">
                <a:solidFill>
                  <a:srgbClr val="1D1D1F"/>
                </a:solidFill>
                <a:effectLst/>
                <a:latin typeface="system-ui"/>
              </a:rPr>
              <a:t>的数值表示颜色强度，三通道组合可生成约</a:t>
            </a:r>
            <a:r>
              <a:rPr lang="en-US" altLang="zh-CN" sz="2400" b="0" i="0" dirty="0">
                <a:solidFill>
                  <a:srgbClr val="1D1D1F"/>
                </a:solidFill>
                <a:effectLst/>
                <a:latin typeface="system-ui"/>
              </a:rPr>
              <a:t>1670</a:t>
            </a:r>
            <a:r>
              <a:rPr lang="zh-CN" altLang="en-US" sz="2400" b="0" i="0" dirty="0">
                <a:solidFill>
                  <a:srgbClr val="1D1D1F"/>
                </a:solidFill>
                <a:effectLst/>
                <a:latin typeface="system-ui"/>
              </a:rPr>
              <a:t>万种颜色（</a:t>
            </a:r>
            <a:r>
              <a:rPr lang="en-US" altLang="zh-CN" sz="2400" b="0" i="0" dirty="0">
                <a:solidFill>
                  <a:srgbClr val="1D1D1F"/>
                </a:solidFill>
                <a:effectLst/>
                <a:latin typeface="system-ui"/>
              </a:rPr>
              <a:t>24</a:t>
            </a:r>
            <a:r>
              <a:rPr lang="zh-CN" altLang="en-US" sz="2400" b="0" i="0" dirty="0">
                <a:solidFill>
                  <a:srgbClr val="1D1D1F"/>
                </a:solidFill>
                <a:effectLst/>
                <a:latin typeface="system-ui"/>
              </a:rPr>
              <a:t>位色深）；</a:t>
            </a:r>
            <a:r>
              <a:rPr lang="zh-CN" altLang="en-US" sz="2400" b="1" i="0" dirty="0">
                <a:solidFill>
                  <a:srgbClr val="1D1D1F"/>
                </a:solidFill>
                <a:effectLst/>
                <a:latin typeface="system-ui"/>
              </a:rPr>
              <a:t>位深度</a:t>
            </a:r>
            <a:r>
              <a:rPr lang="zh-CN" altLang="en-US" sz="2400" b="0" i="0" dirty="0">
                <a:solidFill>
                  <a:srgbClr val="1D1D1F"/>
                </a:solidFill>
                <a:effectLst/>
                <a:latin typeface="system-ui"/>
              </a:rPr>
              <a:t>决定单通道的强度级数（如</a:t>
            </a:r>
            <a:r>
              <a:rPr lang="en-US" altLang="zh-CN" sz="2400" b="0" i="0" dirty="0">
                <a:solidFill>
                  <a:srgbClr val="1D1D1F"/>
                </a:solidFill>
                <a:effectLst/>
                <a:latin typeface="system-ui"/>
              </a:rPr>
              <a:t>8</a:t>
            </a:r>
            <a:r>
              <a:rPr lang="zh-CN" altLang="en-US" sz="2400" b="0" i="0" dirty="0">
                <a:solidFill>
                  <a:srgbClr val="1D1D1F"/>
                </a:solidFill>
                <a:effectLst/>
                <a:latin typeface="system-ui"/>
              </a:rPr>
              <a:t>位</a:t>
            </a:r>
            <a:r>
              <a:rPr lang="en-US" altLang="zh-CN" sz="2400" b="0" i="0" dirty="0">
                <a:solidFill>
                  <a:srgbClr val="1D1D1F"/>
                </a:solidFill>
                <a:effectLst/>
                <a:latin typeface="system-ui"/>
              </a:rPr>
              <a:t>=256</a:t>
            </a:r>
            <a:r>
              <a:rPr lang="zh-CN" altLang="en-US" sz="2400" b="0" i="0" dirty="0">
                <a:solidFill>
                  <a:srgbClr val="1D1D1F"/>
                </a:solidFill>
                <a:effectLst/>
                <a:latin typeface="system-ui"/>
              </a:rPr>
              <a:t>级），位深越高色彩越细腻，数据量也越大；除</a:t>
            </a:r>
            <a:r>
              <a:rPr lang="en" altLang="zh-CN" sz="2400" b="0" i="0" dirty="0">
                <a:solidFill>
                  <a:srgbClr val="1D1D1F"/>
                </a:solidFill>
                <a:effectLst/>
                <a:latin typeface="system-ui"/>
              </a:rPr>
              <a:t>RGB</a:t>
            </a:r>
            <a:r>
              <a:rPr lang="zh-CN" altLang="en-US" sz="2400" b="0" i="0" dirty="0">
                <a:solidFill>
                  <a:srgbClr val="1D1D1F"/>
                </a:solidFill>
                <a:effectLst/>
                <a:latin typeface="system-ui"/>
              </a:rPr>
              <a:t>外，</a:t>
            </a:r>
            <a:r>
              <a:rPr lang="en" altLang="zh-CN" sz="2400" b="0" i="0" dirty="0">
                <a:solidFill>
                  <a:srgbClr val="1D1D1F"/>
                </a:solidFill>
                <a:effectLst/>
                <a:latin typeface="system-ui"/>
              </a:rPr>
              <a:t>HSL</a:t>
            </a:r>
            <a:r>
              <a:rPr lang="zh-CN" altLang="en-US" sz="2400" b="0" i="0" dirty="0">
                <a:solidFill>
                  <a:srgbClr val="1D1D1F"/>
                </a:solidFill>
                <a:effectLst/>
                <a:latin typeface="system-ui"/>
              </a:rPr>
              <a:t>是一种更符合人类直觉的色彩表示方式，</a:t>
            </a:r>
            <a:r>
              <a:rPr lang="en" altLang="zh-CN" sz="2400" b="1" i="0" dirty="0">
                <a:solidFill>
                  <a:srgbClr val="1D1D1F"/>
                </a:solidFill>
                <a:effectLst/>
                <a:latin typeface="system-ui"/>
              </a:rPr>
              <a:t>H</a:t>
            </a:r>
            <a:r>
              <a:rPr lang="zh-CN" altLang="en" sz="2400" b="1" i="0" dirty="0">
                <a:solidFill>
                  <a:srgbClr val="1D1D1F"/>
                </a:solidFill>
                <a:effectLst/>
                <a:latin typeface="system-ui"/>
              </a:rPr>
              <a:t>（</a:t>
            </a:r>
            <a:r>
              <a:rPr lang="zh-CN" altLang="en-US" sz="2400" b="1" i="0" dirty="0">
                <a:solidFill>
                  <a:srgbClr val="1D1D1F"/>
                </a:solidFill>
                <a:effectLst/>
                <a:latin typeface="system-ui"/>
              </a:rPr>
              <a:t>色相）</a:t>
            </a:r>
            <a:r>
              <a:rPr lang="zh-CN" altLang="en-US" sz="2400" b="0" i="0" dirty="0">
                <a:solidFill>
                  <a:srgbClr val="1D1D1F"/>
                </a:solidFill>
                <a:effectLst/>
                <a:latin typeface="system-ui"/>
              </a:rPr>
              <a:t> 表示颜色种类，</a:t>
            </a:r>
            <a:r>
              <a:rPr lang="en" altLang="zh-CN" sz="2400" b="1" i="0" dirty="0">
                <a:solidFill>
                  <a:srgbClr val="1D1D1F"/>
                </a:solidFill>
                <a:effectLst/>
                <a:latin typeface="system-ui"/>
              </a:rPr>
              <a:t>S</a:t>
            </a:r>
            <a:r>
              <a:rPr lang="zh-CN" altLang="en" sz="2400" b="1" i="0" dirty="0">
                <a:solidFill>
                  <a:srgbClr val="1D1D1F"/>
                </a:solidFill>
                <a:effectLst/>
                <a:latin typeface="system-ui"/>
              </a:rPr>
              <a:t>（</a:t>
            </a:r>
            <a:r>
              <a:rPr lang="zh-CN" altLang="en-US" sz="2400" b="1" i="0" dirty="0">
                <a:solidFill>
                  <a:srgbClr val="1D1D1F"/>
                </a:solidFill>
                <a:effectLst/>
                <a:latin typeface="system-ui"/>
              </a:rPr>
              <a:t>饱和度）</a:t>
            </a:r>
            <a:r>
              <a:rPr lang="zh-CN" altLang="en-US" sz="2400" b="0" i="0" dirty="0">
                <a:solidFill>
                  <a:srgbClr val="1D1D1F"/>
                </a:solidFill>
                <a:effectLst/>
                <a:latin typeface="system-ui"/>
              </a:rPr>
              <a:t>表示颜色纯度，</a:t>
            </a:r>
            <a:r>
              <a:rPr lang="en" altLang="zh-CN" sz="2400" b="1" i="0" dirty="0">
                <a:solidFill>
                  <a:srgbClr val="1D1D1F"/>
                </a:solidFill>
                <a:effectLst/>
                <a:latin typeface="system-ui"/>
              </a:rPr>
              <a:t>L</a:t>
            </a:r>
            <a:r>
              <a:rPr lang="zh-CN" altLang="en" sz="2400" b="1" i="0" dirty="0">
                <a:solidFill>
                  <a:srgbClr val="1D1D1F"/>
                </a:solidFill>
                <a:effectLst/>
                <a:latin typeface="system-ui"/>
              </a:rPr>
              <a:t>（</a:t>
            </a:r>
            <a:r>
              <a:rPr lang="zh-CN" altLang="en-US" sz="2400" b="1" dirty="0">
                <a:solidFill>
                  <a:srgbClr val="1D1D1F"/>
                </a:solidFill>
                <a:latin typeface="system-ui"/>
              </a:rPr>
              <a:t>亮</a:t>
            </a:r>
            <a:r>
              <a:rPr lang="zh-CN" altLang="en-US" sz="2400" b="1" i="0" dirty="0">
                <a:solidFill>
                  <a:srgbClr val="1D1D1F"/>
                </a:solidFill>
                <a:effectLst/>
                <a:latin typeface="system-ui"/>
              </a:rPr>
              <a:t>度）</a:t>
            </a:r>
            <a:r>
              <a:rPr lang="zh-CN" altLang="en-US" sz="2400" b="0" i="0" dirty="0">
                <a:solidFill>
                  <a:srgbClr val="1D1D1F"/>
                </a:solidFill>
                <a:effectLst/>
                <a:latin typeface="system-ui"/>
              </a:rPr>
              <a:t> 表示明暗程度。</a:t>
            </a:r>
            <a:endParaRPr kumimoji="1" lang="zh-CN" altLang="en-US" sz="2400" dirty="0"/>
          </a:p>
        </p:txBody>
      </p:sp>
      <p:sp>
        <p:nvSpPr>
          <p:cNvPr id="3" name="矩形 2"/>
          <p:cNvSpPr/>
          <p:nvPr/>
        </p:nvSpPr>
        <p:spPr>
          <a:xfrm>
            <a:off x="1533012" y="6034755"/>
            <a:ext cx="4467633" cy="369332"/>
          </a:xfrm>
          <a:prstGeom prst="rect">
            <a:avLst/>
          </a:prstGeom>
        </p:spPr>
        <p:txBody>
          <a:bodyPr wrap="none">
            <a:spAutoFit/>
          </a:bodyPr>
          <a:lstStyle/>
          <a:p>
            <a:r>
              <a:rPr lang="zh-CN" altLang="en-US" dirty="0">
                <a:solidFill>
                  <a:srgbClr val="191B1F"/>
                </a:solidFill>
                <a:latin typeface="-apple-system"/>
              </a:rPr>
              <a:t>液晶显示器用红绿蓝三个滤光片表示颜色</a:t>
            </a:r>
            <a:endParaRPr lang="zh-CN" altLang="en-US" dirty="0"/>
          </a:p>
        </p:txBody>
      </p:sp>
      <p:sp>
        <p:nvSpPr>
          <p:cNvPr id="10" name="矩形 9"/>
          <p:cNvSpPr/>
          <p:nvPr/>
        </p:nvSpPr>
        <p:spPr>
          <a:xfrm>
            <a:off x="7661787" y="6034755"/>
            <a:ext cx="3571812" cy="369332"/>
          </a:xfrm>
          <a:prstGeom prst="rect">
            <a:avLst/>
          </a:prstGeom>
        </p:spPr>
        <p:txBody>
          <a:bodyPr wrap="none">
            <a:spAutoFit/>
          </a:bodyPr>
          <a:lstStyle/>
          <a:p>
            <a:r>
              <a:rPr lang="en-US" altLang="zh-CN" dirty="0"/>
              <a:t>HSL</a:t>
            </a:r>
            <a:r>
              <a:rPr lang="zh-CN" altLang="en-US" dirty="0"/>
              <a:t>表示</a:t>
            </a:r>
            <a:r>
              <a:rPr lang="en-US" altLang="zh-CN" dirty="0"/>
              <a:t>——</a:t>
            </a:r>
            <a:r>
              <a:rPr lang="zh-CN" altLang="en-US" dirty="0"/>
              <a:t>色相、饱和度、亮度</a:t>
            </a:r>
          </a:p>
        </p:txBody>
      </p:sp>
      <p:pic>
        <p:nvPicPr>
          <p:cNvPr id="4" name="Picture 2" descr="https://pic2.zhimg.com/v2-8444a662d7b9c7ba98c3c3dee7a08d73_1440w.jpg">
            <a:extLst>
              <a:ext uri="{FF2B5EF4-FFF2-40B4-BE49-F238E27FC236}">
                <a16:creationId xmlns:a16="http://schemas.microsoft.com/office/drawing/2014/main" id="{3F1A2976-EE7A-DE2A-7947-3A8EB05566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062"/>
          <a:stretch/>
        </p:blipFill>
        <p:spPr bwMode="auto">
          <a:xfrm>
            <a:off x="1440412" y="3683150"/>
            <a:ext cx="4467633" cy="222357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038D137-58AE-C825-9EBC-09266E8665D4}"/>
              </a:ext>
            </a:extLst>
          </p:cNvPr>
          <p:cNvPicPr>
            <a:picLocks noChangeAspect="1" noChangeArrowheads="1"/>
          </p:cNvPicPr>
          <p:nvPr/>
        </p:nvPicPr>
        <p:blipFill>
          <a:blip r:embed="rId4"/>
          <a:srcRect/>
          <a:stretch/>
        </p:blipFill>
        <p:spPr bwMode="auto">
          <a:xfrm>
            <a:off x="7661786" y="3683150"/>
            <a:ext cx="3421995" cy="22235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图像分类任务</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9228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zh-CN" altLang="en-US" sz="2400" dirty="0"/>
              <a:t>从计算机视觉中的分类开始讲起，我们要让计算机识别图像中样本的语义并输出相应的类别</a:t>
            </a:r>
          </a:p>
        </p:txBody>
      </p:sp>
      <p:pic>
        <p:nvPicPr>
          <p:cNvPr id="4104" name="Picture 8">
            <a:extLst>
              <a:ext uri="{FF2B5EF4-FFF2-40B4-BE49-F238E27FC236}">
                <a16:creationId xmlns:a16="http://schemas.microsoft.com/office/drawing/2014/main" id="{325FBA3E-96CB-B6E1-5546-8127A3D890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5451" y="2579167"/>
            <a:ext cx="8841097" cy="40613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图像分类的难点</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9228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zh-CN" altLang="en-US" sz="2400" dirty="0"/>
              <a:t>难点：</a:t>
            </a:r>
            <a:r>
              <a:rPr lang="zh-CN" altLang="en-US" sz="2400" dirty="0"/>
              <a:t>视角、尺度、遮挡以及不同的光照和照明等</a:t>
            </a:r>
            <a:endParaRPr kumimoji="1" lang="zh-CN" altLang="en-US" sz="2400" dirty="0"/>
          </a:p>
        </p:txBody>
      </p:sp>
      <p:pic>
        <p:nvPicPr>
          <p:cNvPr id="5122" name="Picture 2">
            <a:extLst>
              <a:ext uri="{FF2B5EF4-FFF2-40B4-BE49-F238E27FC236}">
                <a16:creationId xmlns:a16="http://schemas.microsoft.com/office/drawing/2014/main" id="{7C4266D6-BD59-8D6C-FD2A-D696A926B8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39" y="2609995"/>
            <a:ext cx="11132849" cy="39617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线性图像分类</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9228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zh-CN" altLang="en-US" sz="2400" dirty="0"/>
              <a:t>使用已经学习过的线性分类器，我们可以直接尝试实现图像分类任务</a:t>
            </a:r>
            <a:endParaRPr kumimoji="1" lang="en-US" altLang="zh-CN" sz="2400" dirty="0"/>
          </a:p>
        </p:txBody>
      </p:sp>
      <p:sp>
        <p:nvSpPr>
          <p:cNvPr id="2" name="矩形: 圆角 1"/>
          <p:cNvSpPr/>
          <p:nvPr/>
        </p:nvSpPr>
        <p:spPr>
          <a:xfrm>
            <a:off x="7500396" y="4316744"/>
            <a:ext cx="3692324" cy="7816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t>图像的维度极高，线性分类器的学习难度很高</a:t>
            </a:r>
            <a:endParaRPr lang="en-US" altLang="zh-CN" sz="2000" dirty="0"/>
          </a:p>
        </p:txBody>
      </p:sp>
      <p:pic>
        <p:nvPicPr>
          <p:cNvPr id="6146" name="Picture 2">
            <a:extLst>
              <a:ext uri="{FF2B5EF4-FFF2-40B4-BE49-F238E27FC236}">
                <a16:creationId xmlns:a16="http://schemas.microsoft.com/office/drawing/2014/main" id="{4F2432D5-8EBE-5C85-D0DA-60DF510478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282" y="2700576"/>
            <a:ext cx="5997621" cy="401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传统图像特征提取</a:t>
            </a:r>
            <a:endParaRPr lang="en-US" altLang="zh-CN"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138248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sz="2400" b="0" i="0" dirty="0">
                <a:solidFill>
                  <a:srgbClr val="1D1D1F"/>
                </a:solidFill>
                <a:effectLst/>
                <a:latin typeface="system-ui"/>
              </a:rPr>
              <a:t>2000</a:t>
            </a:r>
            <a:r>
              <a:rPr lang="zh-CN" altLang="en-US" sz="2400" b="0" i="0" dirty="0">
                <a:solidFill>
                  <a:srgbClr val="1D1D1F"/>
                </a:solidFill>
                <a:effectLst/>
                <a:latin typeface="system-ui"/>
              </a:rPr>
              <a:t>年代初期，计算机视觉主要依赖</a:t>
            </a:r>
            <a:r>
              <a:rPr lang="zh-CN" altLang="en-US" sz="2400" b="1" i="0" dirty="0">
                <a:solidFill>
                  <a:srgbClr val="1D1D1F"/>
                </a:solidFill>
                <a:effectLst/>
                <a:latin typeface="system-ui"/>
              </a:rPr>
              <a:t>人工设计的特征提取器</a:t>
            </a:r>
            <a:r>
              <a:rPr lang="zh-CN" altLang="en-US" sz="2400" b="0" i="0" dirty="0">
                <a:solidFill>
                  <a:srgbClr val="1D1D1F"/>
                </a:solidFill>
                <a:effectLst/>
                <a:latin typeface="system-ui"/>
              </a:rPr>
              <a:t>：</a:t>
            </a:r>
            <a:r>
              <a:rPr lang="zh-CN" altLang="en-US" sz="2400" b="1" i="0" dirty="0">
                <a:solidFill>
                  <a:srgbClr val="1D1D1F"/>
                </a:solidFill>
                <a:effectLst/>
                <a:latin typeface="system-ui"/>
              </a:rPr>
              <a:t>颜色直方图</a:t>
            </a:r>
            <a:r>
              <a:rPr lang="zh-CN" altLang="en-US" sz="2400" b="0" i="0" dirty="0">
                <a:solidFill>
                  <a:srgbClr val="1D1D1F"/>
                </a:solidFill>
                <a:effectLst/>
                <a:latin typeface="system-ui"/>
              </a:rPr>
              <a:t>统计图像中颜色的分布频率，对旋转和尺度变化鲁棒但丢失空间结构；</a:t>
            </a:r>
            <a:r>
              <a:rPr lang="zh-CN" altLang="en-US" sz="2400" b="1" i="0" dirty="0">
                <a:solidFill>
                  <a:srgbClr val="1D1D1F"/>
                </a:solidFill>
                <a:effectLst/>
                <a:latin typeface="system-ui"/>
              </a:rPr>
              <a:t>梯度方向直方图</a:t>
            </a:r>
            <a:r>
              <a:rPr lang="zh-CN" altLang="en-US" sz="2400" b="0" i="0" dirty="0">
                <a:solidFill>
                  <a:srgbClr val="1D1D1F"/>
                </a:solidFill>
                <a:effectLst/>
                <a:latin typeface="system-ui"/>
              </a:rPr>
              <a:t> 则通过计算局部区域的梯度方向分布来捕捉形状与边缘信息。</a:t>
            </a:r>
            <a:endParaRPr kumimoji="1" lang="zh-CN" altLang="en-US" sz="2400" dirty="0"/>
          </a:p>
        </p:txBody>
      </p:sp>
      <p:grpSp>
        <p:nvGrpSpPr>
          <p:cNvPr id="3" name="组合 2">
            <a:extLst>
              <a:ext uri="{FF2B5EF4-FFF2-40B4-BE49-F238E27FC236}">
                <a16:creationId xmlns:a16="http://schemas.microsoft.com/office/drawing/2014/main" id="{9A0E0982-7C8A-7810-0369-642B7B10BCF6}"/>
              </a:ext>
            </a:extLst>
          </p:cNvPr>
          <p:cNvGrpSpPr/>
          <p:nvPr/>
        </p:nvGrpSpPr>
        <p:grpSpPr>
          <a:xfrm>
            <a:off x="1193800" y="3005817"/>
            <a:ext cx="4281312" cy="3078894"/>
            <a:chOff x="1193799" y="3073550"/>
            <a:chExt cx="4824367" cy="3662061"/>
          </a:xfrm>
        </p:grpSpPr>
        <p:pic>
          <p:nvPicPr>
            <p:cNvPr id="1026" name="Picture 2" descr="CV基础知识回顾——颜色直方图的概念-CSDN博客">
              <a:extLst>
                <a:ext uri="{FF2B5EF4-FFF2-40B4-BE49-F238E27FC236}">
                  <a16:creationId xmlns:a16="http://schemas.microsoft.com/office/drawing/2014/main" id="{3EE3E414-618F-E949-A20D-C63900D76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799" y="3073550"/>
              <a:ext cx="4824367" cy="366206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CA780D70-7FF9-E682-5AF5-263B70C2851E}"/>
                </a:ext>
              </a:extLst>
            </p:cNvPr>
            <p:cNvSpPr/>
            <p:nvPr/>
          </p:nvSpPr>
          <p:spPr>
            <a:xfrm>
              <a:off x="5243805" y="6612296"/>
              <a:ext cx="709126" cy="984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028" name="Picture 4" descr="Input image, Histogram of Oriented Gradients">
            <a:extLst>
              <a:ext uri="{FF2B5EF4-FFF2-40B4-BE49-F238E27FC236}">
                <a16:creationId xmlns:a16="http://schemas.microsoft.com/office/drawing/2014/main" id="{BFA72CF7-A1A3-49F4-4F13-EBBA4E5C269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693"/>
          <a:stretch/>
        </p:blipFill>
        <p:spPr bwMode="auto">
          <a:xfrm>
            <a:off x="6096000" y="3278682"/>
            <a:ext cx="5322712" cy="290081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F1562329-1444-7E12-DC75-81F324A5A825}"/>
              </a:ext>
            </a:extLst>
          </p:cNvPr>
          <p:cNvSpPr/>
          <p:nvPr/>
        </p:nvSpPr>
        <p:spPr>
          <a:xfrm>
            <a:off x="2665042" y="6179495"/>
            <a:ext cx="1338828" cy="369332"/>
          </a:xfrm>
          <a:prstGeom prst="rect">
            <a:avLst/>
          </a:prstGeom>
        </p:spPr>
        <p:txBody>
          <a:bodyPr wrap="none">
            <a:spAutoFit/>
          </a:bodyPr>
          <a:lstStyle/>
          <a:p>
            <a:r>
              <a:rPr lang="zh-CN" altLang="en-US" dirty="0"/>
              <a:t>颜色直方图</a:t>
            </a:r>
          </a:p>
        </p:txBody>
      </p:sp>
      <p:sp>
        <p:nvSpPr>
          <p:cNvPr id="5" name="矩形 4">
            <a:extLst>
              <a:ext uri="{FF2B5EF4-FFF2-40B4-BE49-F238E27FC236}">
                <a16:creationId xmlns:a16="http://schemas.microsoft.com/office/drawing/2014/main" id="{7FAE08ED-4F48-25E9-A305-FFFA3CB48A2C}"/>
              </a:ext>
            </a:extLst>
          </p:cNvPr>
          <p:cNvSpPr/>
          <p:nvPr/>
        </p:nvSpPr>
        <p:spPr>
          <a:xfrm>
            <a:off x="8200832" y="6084711"/>
            <a:ext cx="1338828" cy="369332"/>
          </a:xfrm>
          <a:prstGeom prst="rect">
            <a:avLst/>
          </a:prstGeom>
        </p:spPr>
        <p:txBody>
          <a:bodyPr wrap="none">
            <a:spAutoFit/>
          </a:bodyPr>
          <a:lstStyle/>
          <a:p>
            <a:r>
              <a:rPr lang="zh-CN" altLang="en-US" dirty="0"/>
              <a:t>梯度直方图</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传统图像特征提取</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9228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en-US" altLang="zh-CN" sz="2400" dirty="0"/>
              <a:t>SIFT</a:t>
            </a:r>
            <a:r>
              <a:rPr kumimoji="1" lang="zh-CN" altLang="en-US" sz="2400" dirty="0"/>
              <a:t>特征</a:t>
            </a:r>
            <a:r>
              <a:rPr kumimoji="1" lang="en-US" altLang="zh-CN" sz="2400" dirty="0"/>
              <a:t>——</a:t>
            </a:r>
            <a:r>
              <a:rPr kumimoji="1" lang="zh-CN" altLang="en-US" sz="2400" dirty="0"/>
              <a:t>图像的局部特征，其对旋转、尺度缩放、亮度变化保持不变性，对视角变化、仿射变换、噪声也保持一定程度的稳定性。</a:t>
            </a:r>
          </a:p>
        </p:txBody>
      </p:sp>
      <p:pic>
        <p:nvPicPr>
          <p:cNvPr id="11" name="图片 10">
            <a:extLst>
              <a:ext uri="{FF2B5EF4-FFF2-40B4-BE49-F238E27FC236}">
                <a16:creationId xmlns:a16="http://schemas.microsoft.com/office/drawing/2014/main" id="{3A6C150F-DB38-D59C-F3AB-6A4077F06810}"/>
              </a:ext>
            </a:extLst>
          </p:cNvPr>
          <p:cNvPicPr>
            <a:picLocks noChangeAspect="1"/>
          </p:cNvPicPr>
          <p:nvPr/>
        </p:nvPicPr>
        <p:blipFill>
          <a:blip r:embed="rId3"/>
          <a:stretch>
            <a:fillRect/>
          </a:stretch>
        </p:blipFill>
        <p:spPr>
          <a:xfrm>
            <a:off x="2022778" y="2785708"/>
            <a:ext cx="8146443" cy="34251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458380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传统图像特征提取</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13764"/>
            <a:ext cx="11132848" cy="249847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en" altLang="zh-CN" sz="2400" dirty="0"/>
              <a:t>SIFT</a:t>
            </a:r>
            <a:r>
              <a:rPr kumimoji="1" lang="zh-CN" altLang="en" sz="2400" dirty="0"/>
              <a:t>算法，</a:t>
            </a:r>
            <a:r>
              <a:rPr kumimoji="1" lang="zh-CN" altLang="en-US" sz="2400" dirty="0"/>
              <a:t>全称为 </a:t>
            </a:r>
            <a:r>
              <a:rPr kumimoji="1" lang="en" altLang="zh-CN" sz="2400" dirty="0"/>
              <a:t>Scale-Invariant Feature Transform</a:t>
            </a:r>
            <a:r>
              <a:rPr kumimoji="1" lang="zh-CN" altLang="en" sz="2400" dirty="0"/>
              <a:t>（</a:t>
            </a:r>
            <a:r>
              <a:rPr kumimoji="1" lang="zh-CN" altLang="en-US" sz="2400" dirty="0"/>
              <a:t>尺度不变特征变换），是一种用于图像特征检测和描述的经典算法。</a:t>
            </a:r>
            <a:r>
              <a:rPr lang="zh-CN" altLang="en-US" sz="2400" b="0" i="0" dirty="0">
                <a:solidFill>
                  <a:srgbClr val="1D1D1F"/>
                </a:solidFill>
                <a:effectLst/>
                <a:latin typeface="system-ui"/>
              </a:rPr>
              <a:t>其核心思想是在图像的</a:t>
            </a:r>
            <a:r>
              <a:rPr lang="zh-CN" altLang="en-US" sz="2400" i="0" dirty="0">
                <a:solidFill>
                  <a:srgbClr val="1D1D1F"/>
                </a:solidFill>
                <a:effectLst/>
                <a:latin typeface="system-ui"/>
              </a:rPr>
              <a:t>高斯尺度空间</a:t>
            </a:r>
            <a:r>
              <a:rPr lang="zh-CN" altLang="en-US" sz="2400" b="0" i="0" dirty="0">
                <a:solidFill>
                  <a:srgbClr val="1D1D1F"/>
                </a:solidFill>
                <a:effectLst/>
                <a:latin typeface="system-ui"/>
              </a:rPr>
              <a:t>中检测对尺度、旋转、光照变化鲁棒的关键点，并为每个关键点生成一个</a:t>
            </a:r>
            <a:r>
              <a:rPr lang="en-US" altLang="zh-CN" sz="2400" b="0" i="0" dirty="0">
                <a:solidFill>
                  <a:srgbClr val="1D1D1F"/>
                </a:solidFill>
                <a:effectLst/>
                <a:latin typeface="system-ui"/>
              </a:rPr>
              <a:t>128</a:t>
            </a:r>
            <a:r>
              <a:rPr lang="zh-CN" altLang="en-US" sz="2400" b="0" i="0" dirty="0">
                <a:solidFill>
                  <a:srgbClr val="1D1D1F"/>
                </a:solidFill>
                <a:effectLst/>
                <a:latin typeface="system-ui"/>
              </a:rPr>
              <a:t>维的梯度方向直方图描述符；该算法通过</a:t>
            </a:r>
            <a:r>
              <a:rPr lang="en" altLang="zh-CN" sz="2400" b="0" i="0" dirty="0" err="1">
                <a:solidFill>
                  <a:srgbClr val="1D1D1F"/>
                </a:solidFill>
                <a:effectLst/>
                <a:latin typeface="system-ui"/>
              </a:rPr>
              <a:t>DoG</a:t>
            </a:r>
            <a:r>
              <a:rPr lang="zh-CN" altLang="en" sz="2400" b="0" i="0" dirty="0">
                <a:solidFill>
                  <a:srgbClr val="1D1D1F"/>
                </a:solidFill>
                <a:effectLst/>
                <a:latin typeface="system-ui"/>
              </a:rPr>
              <a:t>（</a:t>
            </a:r>
            <a:r>
              <a:rPr lang="zh-CN" altLang="en-US" sz="2400" b="0" i="0" dirty="0">
                <a:solidFill>
                  <a:srgbClr val="1D1D1F"/>
                </a:solidFill>
                <a:effectLst/>
                <a:latin typeface="system-ui"/>
              </a:rPr>
              <a:t>高斯差分）金字塔实现尺度不变性，通过主方向分配实现旋转不变性，生成的特征具有高度独特性和稳定性，曾广泛应用于图像匹配、物体识别和三维重建等任务</a:t>
            </a:r>
            <a:endParaRPr kumimoji="1" lang="zh-CN" altLang="en-US" sz="2400" dirty="0"/>
          </a:p>
        </p:txBody>
      </p:sp>
      <p:pic>
        <p:nvPicPr>
          <p:cNvPr id="3" name="图片 2">
            <a:extLst>
              <a:ext uri="{FF2B5EF4-FFF2-40B4-BE49-F238E27FC236}">
                <a16:creationId xmlns:a16="http://schemas.microsoft.com/office/drawing/2014/main" id="{D42B579A-E9A9-91CF-DB6B-B9A565720D49}"/>
              </a:ext>
            </a:extLst>
          </p:cNvPr>
          <p:cNvPicPr>
            <a:picLocks noChangeAspect="1"/>
          </p:cNvPicPr>
          <p:nvPr/>
        </p:nvPicPr>
        <p:blipFill>
          <a:blip r:embed="rId3"/>
          <a:stretch>
            <a:fillRect/>
          </a:stretch>
        </p:blipFill>
        <p:spPr>
          <a:xfrm>
            <a:off x="2209800" y="4045751"/>
            <a:ext cx="7772400" cy="2586544"/>
          </a:xfrm>
          <a:prstGeom prst="rect">
            <a:avLst/>
          </a:prstGeom>
        </p:spPr>
      </p:pic>
    </p:spTree>
    <p:extLst>
      <p:ext uri="{BB962C8B-B14F-4D97-AF65-F5344CB8AC3E}">
        <p14:creationId xmlns:p14="http://schemas.microsoft.com/office/powerpoint/2010/main" val="1234973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382"/>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手工特征 </a:t>
            </a:r>
            <a:r>
              <a:rPr lang="en-US" altLang="zh-CN" sz="3600" spc="-10" dirty="0">
                <a:solidFill>
                  <a:schemeClr val="bg1"/>
                </a:solidFill>
                <a:latin typeface="Calibri" panose="020F0502020204030204" pitchFamily="34" charset="0"/>
                <a:cs typeface="Calibri" panose="020F0502020204030204" pitchFamily="34" charset="0"/>
              </a:rPr>
              <a:t>vs </a:t>
            </a:r>
            <a:r>
              <a:rPr lang="zh-CN" altLang="en-US" sz="3600" spc="-10" dirty="0">
                <a:solidFill>
                  <a:schemeClr val="bg1"/>
                </a:solidFill>
                <a:latin typeface="Calibri" panose="020F0502020204030204" pitchFamily="34" charset="0"/>
                <a:cs typeface="Calibri" panose="020F0502020204030204" pitchFamily="34" charset="0"/>
              </a:rPr>
              <a:t>端到端深度学习模型</a:t>
            </a:r>
            <a:endParaRPr lang="en-US" sz="3600" spc="-10" dirty="0">
              <a:solidFill>
                <a:schemeClr val="bg1"/>
              </a:solidFill>
              <a:latin typeface="Calibri" panose="020F0502020204030204" pitchFamily="34" charset="0"/>
              <a:cs typeface="Calibri" panose="020F0502020204030204" pitchFamily="34" charset="0"/>
            </a:endParaRPr>
          </a:p>
        </p:txBody>
      </p:sp>
      <p:sp>
        <p:nvSpPr>
          <p:cNvPr id="8" name="矩形 7"/>
          <p:cNvSpPr/>
          <p:nvPr/>
        </p:nvSpPr>
        <p:spPr bwMode="auto">
          <a:xfrm>
            <a:off x="548640" y="1436914"/>
            <a:ext cx="11132848" cy="223226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b="0" i="0" dirty="0">
                <a:solidFill>
                  <a:srgbClr val="1D1D1F"/>
                </a:solidFill>
                <a:effectLst/>
                <a:latin typeface="system-ui"/>
              </a:rPr>
              <a:t>传统计算机视觉依赖专家手工设计特征（如</a:t>
            </a:r>
            <a:r>
              <a:rPr lang="en" altLang="zh-CN" sz="2400" b="0" i="0" dirty="0">
                <a:solidFill>
                  <a:srgbClr val="1D1D1F"/>
                </a:solidFill>
                <a:effectLst/>
                <a:latin typeface="system-ui"/>
              </a:rPr>
              <a:t>SIFT</a:t>
            </a:r>
            <a:r>
              <a:rPr lang="zh-CN" altLang="en" sz="2400" b="0" i="0" dirty="0">
                <a:solidFill>
                  <a:srgbClr val="1D1D1F"/>
                </a:solidFill>
                <a:effectLst/>
                <a:latin typeface="system-ui"/>
              </a:rPr>
              <a:t>、</a:t>
            </a:r>
            <a:r>
              <a:rPr lang="en" altLang="zh-CN" sz="2400" b="0" i="0" dirty="0">
                <a:solidFill>
                  <a:srgbClr val="1D1D1F"/>
                </a:solidFill>
                <a:effectLst/>
                <a:latin typeface="system-ui"/>
              </a:rPr>
              <a:t>HOG</a:t>
            </a:r>
            <a:r>
              <a:rPr lang="zh-CN" altLang="en" sz="2400" b="0" i="0" dirty="0">
                <a:solidFill>
                  <a:srgbClr val="1D1D1F"/>
                </a:solidFill>
                <a:effectLst/>
                <a:latin typeface="system-ui"/>
              </a:rPr>
              <a:t>），</a:t>
            </a:r>
            <a:r>
              <a:rPr lang="zh-CN" altLang="en-US" sz="2400" b="0" i="0" dirty="0">
                <a:solidFill>
                  <a:srgbClr val="1D1D1F"/>
                </a:solidFill>
                <a:effectLst/>
                <a:latin typeface="system-ui"/>
              </a:rPr>
              <a:t>通过固定算子提取边缘、纹理等浅层表征，可解释性强但表达能力有限且难以泛化；端到端深度学习模型（如</a:t>
            </a:r>
            <a:r>
              <a:rPr lang="en" altLang="zh-CN" sz="2400" b="0" i="0" dirty="0">
                <a:solidFill>
                  <a:srgbClr val="1D1D1F"/>
                </a:solidFill>
                <a:effectLst/>
                <a:latin typeface="system-ui"/>
              </a:rPr>
              <a:t>CNN</a:t>
            </a:r>
            <a:r>
              <a:rPr lang="zh-CN" altLang="en" sz="2400" b="0" i="0" dirty="0">
                <a:solidFill>
                  <a:srgbClr val="1D1D1F"/>
                </a:solidFill>
                <a:effectLst/>
                <a:latin typeface="system-ui"/>
              </a:rPr>
              <a:t>、</a:t>
            </a:r>
            <a:r>
              <a:rPr lang="en" altLang="zh-CN" sz="2400" b="0" i="0" dirty="0" err="1">
                <a:solidFill>
                  <a:srgbClr val="1D1D1F"/>
                </a:solidFill>
                <a:effectLst/>
                <a:latin typeface="system-ui"/>
              </a:rPr>
              <a:t>ViT</a:t>
            </a:r>
            <a:r>
              <a:rPr lang="zh-CN" altLang="en" sz="2400" b="0" i="0" dirty="0">
                <a:solidFill>
                  <a:srgbClr val="1D1D1F"/>
                </a:solidFill>
                <a:effectLst/>
                <a:latin typeface="system-ui"/>
              </a:rPr>
              <a:t>）</a:t>
            </a:r>
            <a:r>
              <a:rPr lang="zh-CN" altLang="en-US" sz="2400" b="0" i="0" dirty="0">
                <a:solidFill>
                  <a:srgbClr val="1D1D1F"/>
                </a:solidFill>
                <a:effectLst/>
                <a:latin typeface="system-ui"/>
              </a:rPr>
              <a:t>直接从像素自动学习层次化特征，实现从低级边缘到高级语义的端到端映射，在大规模数据下显著超越手工特征。本质区别在于：手工特征是</a:t>
            </a:r>
            <a:r>
              <a:rPr lang="zh-CN" altLang="en-US" sz="2400" b="1" i="0" dirty="0">
                <a:solidFill>
                  <a:srgbClr val="1D1D1F"/>
                </a:solidFill>
                <a:effectLst/>
                <a:latin typeface="system-ui"/>
              </a:rPr>
              <a:t>知识驱动</a:t>
            </a:r>
            <a:r>
              <a:rPr lang="zh-CN" altLang="en-US" sz="2400" b="0" i="0" dirty="0">
                <a:solidFill>
                  <a:srgbClr val="1D1D1F"/>
                </a:solidFill>
                <a:effectLst/>
                <a:latin typeface="system-ui"/>
              </a:rPr>
              <a:t>（人类告诉机器看什么），深度学习是</a:t>
            </a:r>
            <a:r>
              <a:rPr lang="zh-CN" altLang="en-US" sz="2400" b="1" i="0" dirty="0">
                <a:solidFill>
                  <a:srgbClr val="1D1D1F"/>
                </a:solidFill>
                <a:effectLst/>
                <a:latin typeface="system-ui"/>
              </a:rPr>
              <a:t>数据驱动</a:t>
            </a:r>
            <a:r>
              <a:rPr lang="zh-CN" altLang="en-US" sz="2400" b="0" i="0" dirty="0">
                <a:solidFill>
                  <a:srgbClr val="1D1D1F"/>
                </a:solidFill>
                <a:effectLst/>
                <a:latin typeface="system-ui"/>
              </a:rPr>
              <a:t>（机器自己学会看什么）。</a:t>
            </a:r>
            <a:endParaRPr kumimoji="1" lang="zh-CN" altLang="en-US" sz="2400" dirty="0"/>
          </a:p>
        </p:txBody>
      </p:sp>
      <p:pic>
        <p:nvPicPr>
          <p:cNvPr id="7172" name="Picture 4">
            <a:extLst>
              <a:ext uri="{FF2B5EF4-FFF2-40B4-BE49-F238E27FC236}">
                <a16:creationId xmlns:a16="http://schemas.microsoft.com/office/drawing/2014/main" id="{62A58809-FCE3-E739-9C96-D782214D95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303"/>
          <a:stretch/>
        </p:blipFill>
        <p:spPr bwMode="auto">
          <a:xfrm>
            <a:off x="548639" y="4143737"/>
            <a:ext cx="5398747" cy="212874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E3F8EB8B-A9E1-87B5-1344-52965FADF4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255"/>
          <a:stretch/>
        </p:blipFill>
        <p:spPr bwMode="auto">
          <a:xfrm>
            <a:off x="6087760" y="4166887"/>
            <a:ext cx="5555601" cy="2037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80BFA-FA21-5872-2DE1-701146E7F406}"/>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FB872197-0ECA-BBA4-CC11-4B340DBFED3D}"/>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C27A91F4-7625-43F2-6F60-CB542E513B3F}"/>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BAECCE9-7304-8F3E-134A-A4B48A862915}"/>
              </a:ext>
            </a:extLst>
          </p:cNvPr>
          <p:cNvSpPr/>
          <p:nvPr/>
        </p:nvSpPr>
        <p:spPr bwMode="auto">
          <a:xfrm>
            <a:off x="548640" y="1436914"/>
            <a:ext cx="11132848" cy="9228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每个隐层都是由若干的神经元组成，每个神经元都与前一层中的所有神经元连接。但是在一个隐层中，神经元相互独立不进行任何连接</a:t>
            </a:r>
            <a:r>
              <a:rPr lang="zh-CN" altLang="en-US" dirty="0"/>
              <a:t>。</a:t>
            </a:r>
            <a:endParaRPr kumimoji="1" lang="zh-CN" altLang="en-US" sz="2400" dirty="0"/>
          </a:p>
        </p:txBody>
      </p:sp>
      <p:sp>
        <p:nvSpPr>
          <p:cNvPr id="60" name="矩形 59">
            <a:extLst>
              <a:ext uri="{FF2B5EF4-FFF2-40B4-BE49-F238E27FC236}">
                <a16:creationId xmlns:a16="http://schemas.microsoft.com/office/drawing/2014/main" id="{76B9B510-E656-0493-0A13-18A963388703}"/>
              </a:ext>
            </a:extLst>
          </p:cNvPr>
          <p:cNvSpPr/>
          <p:nvPr/>
        </p:nvSpPr>
        <p:spPr>
          <a:xfrm>
            <a:off x="2437033" y="3195457"/>
            <a:ext cx="720000" cy="212536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椭圆 60">
            <a:extLst>
              <a:ext uri="{FF2B5EF4-FFF2-40B4-BE49-F238E27FC236}">
                <a16:creationId xmlns:a16="http://schemas.microsoft.com/office/drawing/2014/main" id="{C284F750-7027-FC08-4713-D25A14BDF3CB}"/>
              </a:ext>
            </a:extLst>
          </p:cNvPr>
          <p:cNvSpPr/>
          <p:nvPr/>
        </p:nvSpPr>
        <p:spPr>
          <a:xfrm>
            <a:off x="2548244" y="332913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椭圆 61">
            <a:extLst>
              <a:ext uri="{FF2B5EF4-FFF2-40B4-BE49-F238E27FC236}">
                <a16:creationId xmlns:a16="http://schemas.microsoft.com/office/drawing/2014/main" id="{5570458A-A987-9C6E-8753-273C2FFF7E55}"/>
              </a:ext>
            </a:extLst>
          </p:cNvPr>
          <p:cNvSpPr/>
          <p:nvPr/>
        </p:nvSpPr>
        <p:spPr>
          <a:xfrm>
            <a:off x="2548244" y="400482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椭圆 62">
            <a:extLst>
              <a:ext uri="{FF2B5EF4-FFF2-40B4-BE49-F238E27FC236}">
                <a16:creationId xmlns:a16="http://schemas.microsoft.com/office/drawing/2014/main" id="{789C2250-2952-F510-3038-EFD4BB32763D}"/>
              </a:ext>
            </a:extLst>
          </p:cNvPr>
          <p:cNvSpPr/>
          <p:nvPr/>
        </p:nvSpPr>
        <p:spPr>
          <a:xfrm>
            <a:off x="2548244" y="4670124"/>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D12591A5-3817-13E5-EAAD-398B656D5CA2}"/>
              </a:ext>
            </a:extLst>
          </p:cNvPr>
          <p:cNvSpPr/>
          <p:nvPr/>
        </p:nvSpPr>
        <p:spPr>
          <a:xfrm>
            <a:off x="4064420" y="2849468"/>
            <a:ext cx="720000" cy="280498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5" name="椭圆 64">
            <a:extLst>
              <a:ext uri="{FF2B5EF4-FFF2-40B4-BE49-F238E27FC236}">
                <a16:creationId xmlns:a16="http://schemas.microsoft.com/office/drawing/2014/main" id="{58744D83-5443-344B-6053-02EB7FC8D49E}"/>
              </a:ext>
            </a:extLst>
          </p:cNvPr>
          <p:cNvSpPr/>
          <p:nvPr/>
        </p:nvSpPr>
        <p:spPr>
          <a:xfrm>
            <a:off x="4177285" y="301010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椭圆 65">
            <a:extLst>
              <a:ext uri="{FF2B5EF4-FFF2-40B4-BE49-F238E27FC236}">
                <a16:creationId xmlns:a16="http://schemas.microsoft.com/office/drawing/2014/main" id="{B2648B2A-48C2-DA78-015A-9A53F8560E5F}"/>
              </a:ext>
            </a:extLst>
          </p:cNvPr>
          <p:cNvSpPr/>
          <p:nvPr/>
        </p:nvSpPr>
        <p:spPr>
          <a:xfrm>
            <a:off x="4177285" y="367093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椭圆 66">
            <a:extLst>
              <a:ext uri="{FF2B5EF4-FFF2-40B4-BE49-F238E27FC236}">
                <a16:creationId xmlns:a16="http://schemas.microsoft.com/office/drawing/2014/main" id="{A453B291-08D9-222E-B062-1FA2584A9BFD}"/>
              </a:ext>
            </a:extLst>
          </p:cNvPr>
          <p:cNvSpPr/>
          <p:nvPr/>
        </p:nvSpPr>
        <p:spPr>
          <a:xfrm>
            <a:off x="4177285" y="4393548"/>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椭圆 67">
            <a:extLst>
              <a:ext uri="{FF2B5EF4-FFF2-40B4-BE49-F238E27FC236}">
                <a16:creationId xmlns:a16="http://schemas.microsoft.com/office/drawing/2014/main" id="{82388266-8104-1A7F-0DAC-DE0E557ACC62}"/>
              </a:ext>
            </a:extLst>
          </p:cNvPr>
          <p:cNvSpPr/>
          <p:nvPr/>
        </p:nvSpPr>
        <p:spPr>
          <a:xfrm>
            <a:off x="4177285" y="5028448"/>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矩形 68">
            <a:extLst>
              <a:ext uri="{FF2B5EF4-FFF2-40B4-BE49-F238E27FC236}">
                <a16:creationId xmlns:a16="http://schemas.microsoft.com/office/drawing/2014/main" id="{49A3744C-6079-F774-4291-F24106DE10A9}"/>
              </a:ext>
            </a:extLst>
          </p:cNvPr>
          <p:cNvSpPr/>
          <p:nvPr/>
        </p:nvSpPr>
        <p:spPr>
          <a:xfrm>
            <a:off x="5834743" y="2861825"/>
            <a:ext cx="720000" cy="280498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0" name="椭圆 69">
            <a:extLst>
              <a:ext uri="{FF2B5EF4-FFF2-40B4-BE49-F238E27FC236}">
                <a16:creationId xmlns:a16="http://schemas.microsoft.com/office/drawing/2014/main" id="{B24F0603-1195-BBEA-96D4-EC88FB1AF5F6}"/>
              </a:ext>
            </a:extLst>
          </p:cNvPr>
          <p:cNvSpPr/>
          <p:nvPr/>
        </p:nvSpPr>
        <p:spPr>
          <a:xfrm>
            <a:off x="5947608" y="3022462"/>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1" name="椭圆 70">
            <a:extLst>
              <a:ext uri="{FF2B5EF4-FFF2-40B4-BE49-F238E27FC236}">
                <a16:creationId xmlns:a16="http://schemas.microsoft.com/office/drawing/2014/main" id="{607B557F-451D-0179-6C6F-A4B97BE1C8BA}"/>
              </a:ext>
            </a:extLst>
          </p:cNvPr>
          <p:cNvSpPr/>
          <p:nvPr/>
        </p:nvSpPr>
        <p:spPr>
          <a:xfrm>
            <a:off x="5947608" y="3683292"/>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椭圆 71">
            <a:extLst>
              <a:ext uri="{FF2B5EF4-FFF2-40B4-BE49-F238E27FC236}">
                <a16:creationId xmlns:a16="http://schemas.microsoft.com/office/drawing/2014/main" id="{9F6A935A-B6CD-1F43-06B2-CE57C8B3B92F}"/>
              </a:ext>
            </a:extLst>
          </p:cNvPr>
          <p:cNvSpPr/>
          <p:nvPr/>
        </p:nvSpPr>
        <p:spPr>
          <a:xfrm>
            <a:off x="5947608" y="440590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椭圆 72">
            <a:extLst>
              <a:ext uri="{FF2B5EF4-FFF2-40B4-BE49-F238E27FC236}">
                <a16:creationId xmlns:a16="http://schemas.microsoft.com/office/drawing/2014/main" id="{E5598146-86C6-E9A9-7771-79C60358F74C}"/>
              </a:ext>
            </a:extLst>
          </p:cNvPr>
          <p:cNvSpPr/>
          <p:nvPr/>
        </p:nvSpPr>
        <p:spPr>
          <a:xfrm>
            <a:off x="5947608" y="504080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矩形 73">
            <a:extLst>
              <a:ext uri="{FF2B5EF4-FFF2-40B4-BE49-F238E27FC236}">
                <a16:creationId xmlns:a16="http://schemas.microsoft.com/office/drawing/2014/main" id="{5B61965B-CCBD-0C7E-2F58-CD4BA8462DB4}"/>
              </a:ext>
            </a:extLst>
          </p:cNvPr>
          <p:cNvSpPr/>
          <p:nvPr/>
        </p:nvSpPr>
        <p:spPr>
          <a:xfrm>
            <a:off x="7570906" y="3918070"/>
            <a:ext cx="494270" cy="50662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椭圆 74">
            <a:extLst>
              <a:ext uri="{FF2B5EF4-FFF2-40B4-BE49-F238E27FC236}">
                <a16:creationId xmlns:a16="http://schemas.microsoft.com/office/drawing/2014/main" id="{DA9D6918-32A6-D35F-06AE-CC6F1B8975C0}"/>
              </a:ext>
            </a:extLst>
          </p:cNvPr>
          <p:cNvSpPr/>
          <p:nvPr/>
        </p:nvSpPr>
        <p:spPr>
          <a:xfrm>
            <a:off x="7570906" y="3930427"/>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6" name="直线箭头连接符 75">
            <a:extLst>
              <a:ext uri="{FF2B5EF4-FFF2-40B4-BE49-F238E27FC236}">
                <a16:creationId xmlns:a16="http://schemas.microsoft.com/office/drawing/2014/main" id="{3ACC9542-C5CE-A6D5-48CF-BAA532F6B07A}"/>
              </a:ext>
            </a:extLst>
          </p:cNvPr>
          <p:cNvCxnSpPr>
            <a:stCxn id="61" idx="6"/>
            <a:endCxn id="65" idx="2"/>
          </p:cNvCxnSpPr>
          <p:nvPr/>
        </p:nvCxnSpPr>
        <p:spPr>
          <a:xfrm flipV="1">
            <a:off x="3042514" y="3257240"/>
            <a:ext cx="1134771" cy="319031"/>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77" name="直线箭头连接符 76">
            <a:extLst>
              <a:ext uri="{FF2B5EF4-FFF2-40B4-BE49-F238E27FC236}">
                <a16:creationId xmlns:a16="http://schemas.microsoft.com/office/drawing/2014/main" id="{405A2D0C-05DA-F2C3-B6E7-8AC8B3FEF2D3}"/>
              </a:ext>
            </a:extLst>
          </p:cNvPr>
          <p:cNvCxnSpPr>
            <a:cxnSpLocks/>
            <a:stCxn id="61" idx="6"/>
            <a:endCxn id="66" idx="2"/>
          </p:cNvCxnSpPr>
          <p:nvPr/>
        </p:nvCxnSpPr>
        <p:spPr>
          <a:xfrm>
            <a:off x="3042514" y="3576271"/>
            <a:ext cx="1134771" cy="34179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78" name="直线箭头连接符 77">
            <a:extLst>
              <a:ext uri="{FF2B5EF4-FFF2-40B4-BE49-F238E27FC236}">
                <a16:creationId xmlns:a16="http://schemas.microsoft.com/office/drawing/2014/main" id="{A49AE0F7-CBF1-6CDE-8F23-8A8941FD0FE4}"/>
              </a:ext>
            </a:extLst>
          </p:cNvPr>
          <p:cNvCxnSpPr>
            <a:cxnSpLocks/>
            <a:stCxn id="61" idx="6"/>
            <a:endCxn id="67" idx="2"/>
          </p:cNvCxnSpPr>
          <p:nvPr/>
        </p:nvCxnSpPr>
        <p:spPr>
          <a:xfrm>
            <a:off x="3042514" y="3576271"/>
            <a:ext cx="1134771" cy="10644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79" name="直线箭头连接符 78">
            <a:extLst>
              <a:ext uri="{FF2B5EF4-FFF2-40B4-BE49-F238E27FC236}">
                <a16:creationId xmlns:a16="http://schemas.microsoft.com/office/drawing/2014/main" id="{E1EEFDEB-73FC-BDBD-043D-383D0C7F353F}"/>
              </a:ext>
            </a:extLst>
          </p:cNvPr>
          <p:cNvCxnSpPr>
            <a:cxnSpLocks/>
            <a:stCxn id="61" idx="6"/>
            <a:endCxn id="68" idx="2"/>
          </p:cNvCxnSpPr>
          <p:nvPr/>
        </p:nvCxnSpPr>
        <p:spPr>
          <a:xfrm>
            <a:off x="3042514" y="3576271"/>
            <a:ext cx="1134771" cy="16993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0" name="直线箭头连接符 79">
            <a:extLst>
              <a:ext uri="{FF2B5EF4-FFF2-40B4-BE49-F238E27FC236}">
                <a16:creationId xmlns:a16="http://schemas.microsoft.com/office/drawing/2014/main" id="{D376EF4E-4AE5-3701-B2E3-A521A5769573}"/>
              </a:ext>
            </a:extLst>
          </p:cNvPr>
          <p:cNvCxnSpPr>
            <a:cxnSpLocks/>
            <a:stCxn id="62" idx="6"/>
            <a:endCxn id="65" idx="2"/>
          </p:cNvCxnSpPr>
          <p:nvPr/>
        </p:nvCxnSpPr>
        <p:spPr>
          <a:xfrm flipV="1">
            <a:off x="3042514" y="3257240"/>
            <a:ext cx="1134771" cy="99472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1" name="直线箭头连接符 80">
            <a:extLst>
              <a:ext uri="{FF2B5EF4-FFF2-40B4-BE49-F238E27FC236}">
                <a16:creationId xmlns:a16="http://schemas.microsoft.com/office/drawing/2014/main" id="{A073059D-14FA-6D68-9F49-3E06B3B3B84A}"/>
              </a:ext>
            </a:extLst>
          </p:cNvPr>
          <p:cNvCxnSpPr>
            <a:cxnSpLocks/>
            <a:stCxn id="62" idx="6"/>
            <a:endCxn id="66" idx="2"/>
          </p:cNvCxnSpPr>
          <p:nvPr/>
        </p:nvCxnSpPr>
        <p:spPr>
          <a:xfrm flipV="1">
            <a:off x="3042514" y="3918070"/>
            <a:ext cx="1134771" cy="33389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2" name="直线箭头连接符 81">
            <a:extLst>
              <a:ext uri="{FF2B5EF4-FFF2-40B4-BE49-F238E27FC236}">
                <a16:creationId xmlns:a16="http://schemas.microsoft.com/office/drawing/2014/main" id="{8BB0D480-A497-7641-E45D-DDA1C883B11C}"/>
              </a:ext>
            </a:extLst>
          </p:cNvPr>
          <p:cNvCxnSpPr>
            <a:cxnSpLocks/>
            <a:stCxn id="62" idx="6"/>
            <a:endCxn id="67" idx="2"/>
          </p:cNvCxnSpPr>
          <p:nvPr/>
        </p:nvCxnSpPr>
        <p:spPr>
          <a:xfrm>
            <a:off x="3042514" y="4251960"/>
            <a:ext cx="1134771" cy="3887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3" name="直线箭头连接符 82">
            <a:extLst>
              <a:ext uri="{FF2B5EF4-FFF2-40B4-BE49-F238E27FC236}">
                <a16:creationId xmlns:a16="http://schemas.microsoft.com/office/drawing/2014/main" id="{F2878D03-A4A6-5EB1-4C5A-B9B1DF6E6993}"/>
              </a:ext>
            </a:extLst>
          </p:cNvPr>
          <p:cNvCxnSpPr>
            <a:cxnSpLocks/>
            <a:stCxn id="62" idx="6"/>
            <a:endCxn id="68" idx="2"/>
          </p:cNvCxnSpPr>
          <p:nvPr/>
        </p:nvCxnSpPr>
        <p:spPr>
          <a:xfrm>
            <a:off x="3042514" y="4251960"/>
            <a:ext cx="1134771" cy="10236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4" name="直线箭头连接符 83">
            <a:extLst>
              <a:ext uri="{FF2B5EF4-FFF2-40B4-BE49-F238E27FC236}">
                <a16:creationId xmlns:a16="http://schemas.microsoft.com/office/drawing/2014/main" id="{FA13C5ED-4D6B-3B7F-EEF9-86D5D2B5D1FB}"/>
              </a:ext>
            </a:extLst>
          </p:cNvPr>
          <p:cNvCxnSpPr>
            <a:cxnSpLocks/>
            <a:stCxn id="63" idx="6"/>
            <a:endCxn id="65" idx="2"/>
          </p:cNvCxnSpPr>
          <p:nvPr/>
        </p:nvCxnSpPr>
        <p:spPr>
          <a:xfrm flipV="1">
            <a:off x="3042514" y="3257240"/>
            <a:ext cx="1134771" cy="166001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5" name="直线箭头连接符 84">
            <a:extLst>
              <a:ext uri="{FF2B5EF4-FFF2-40B4-BE49-F238E27FC236}">
                <a16:creationId xmlns:a16="http://schemas.microsoft.com/office/drawing/2014/main" id="{6A160472-14E3-F3A0-C1C1-D7194B7E5C06}"/>
              </a:ext>
            </a:extLst>
          </p:cNvPr>
          <p:cNvCxnSpPr>
            <a:cxnSpLocks/>
            <a:stCxn id="63" idx="6"/>
            <a:endCxn id="66" idx="2"/>
          </p:cNvCxnSpPr>
          <p:nvPr/>
        </p:nvCxnSpPr>
        <p:spPr>
          <a:xfrm flipV="1">
            <a:off x="3042514" y="3918070"/>
            <a:ext cx="1134771" cy="99918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6" name="直线箭头连接符 85">
            <a:extLst>
              <a:ext uri="{FF2B5EF4-FFF2-40B4-BE49-F238E27FC236}">
                <a16:creationId xmlns:a16="http://schemas.microsoft.com/office/drawing/2014/main" id="{A75877E8-4752-3D96-FFA5-916BB66620AC}"/>
              </a:ext>
            </a:extLst>
          </p:cNvPr>
          <p:cNvCxnSpPr>
            <a:cxnSpLocks/>
            <a:stCxn id="63" idx="6"/>
            <a:endCxn id="67" idx="2"/>
          </p:cNvCxnSpPr>
          <p:nvPr/>
        </p:nvCxnSpPr>
        <p:spPr>
          <a:xfrm flipV="1">
            <a:off x="3042514" y="4640683"/>
            <a:ext cx="1134771" cy="27657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7" name="直线箭头连接符 86">
            <a:extLst>
              <a:ext uri="{FF2B5EF4-FFF2-40B4-BE49-F238E27FC236}">
                <a16:creationId xmlns:a16="http://schemas.microsoft.com/office/drawing/2014/main" id="{E1D4978B-9BEB-C7EA-28DE-582A87C198C7}"/>
              </a:ext>
            </a:extLst>
          </p:cNvPr>
          <p:cNvCxnSpPr>
            <a:cxnSpLocks/>
            <a:stCxn id="63" idx="6"/>
            <a:endCxn id="68" idx="2"/>
          </p:cNvCxnSpPr>
          <p:nvPr/>
        </p:nvCxnSpPr>
        <p:spPr>
          <a:xfrm>
            <a:off x="3042514" y="4917259"/>
            <a:ext cx="1134771" cy="358324"/>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8" name="直线箭头连接符 87">
            <a:extLst>
              <a:ext uri="{FF2B5EF4-FFF2-40B4-BE49-F238E27FC236}">
                <a16:creationId xmlns:a16="http://schemas.microsoft.com/office/drawing/2014/main" id="{D23149D7-1C49-2AD5-22D1-4C629408B3E0}"/>
              </a:ext>
            </a:extLst>
          </p:cNvPr>
          <p:cNvCxnSpPr>
            <a:cxnSpLocks/>
            <a:stCxn id="65" idx="6"/>
            <a:endCxn id="70" idx="2"/>
          </p:cNvCxnSpPr>
          <p:nvPr/>
        </p:nvCxnSpPr>
        <p:spPr>
          <a:xfrm>
            <a:off x="4671555" y="3257240"/>
            <a:ext cx="1276053" cy="12357"/>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9" name="直线箭头连接符 88">
            <a:extLst>
              <a:ext uri="{FF2B5EF4-FFF2-40B4-BE49-F238E27FC236}">
                <a16:creationId xmlns:a16="http://schemas.microsoft.com/office/drawing/2014/main" id="{4BCEF494-560E-09B3-087E-9CFC694AC4F5}"/>
              </a:ext>
            </a:extLst>
          </p:cNvPr>
          <p:cNvCxnSpPr>
            <a:cxnSpLocks/>
            <a:stCxn id="65" idx="6"/>
            <a:endCxn id="71" idx="2"/>
          </p:cNvCxnSpPr>
          <p:nvPr/>
        </p:nvCxnSpPr>
        <p:spPr>
          <a:xfrm>
            <a:off x="4671555" y="3257240"/>
            <a:ext cx="1276053" cy="673187"/>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0" name="直线箭头连接符 89">
            <a:extLst>
              <a:ext uri="{FF2B5EF4-FFF2-40B4-BE49-F238E27FC236}">
                <a16:creationId xmlns:a16="http://schemas.microsoft.com/office/drawing/2014/main" id="{81399AC6-864B-75E0-3222-748A87184BE6}"/>
              </a:ext>
            </a:extLst>
          </p:cNvPr>
          <p:cNvCxnSpPr>
            <a:cxnSpLocks/>
            <a:stCxn id="65" idx="6"/>
            <a:endCxn id="72" idx="2"/>
          </p:cNvCxnSpPr>
          <p:nvPr/>
        </p:nvCxnSpPr>
        <p:spPr>
          <a:xfrm>
            <a:off x="4671555" y="3257240"/>
            <a:ext cx="1276053" cy="139580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1" name="直线箭头连接符 90">
            <a:extLst>
              <a:ext uri="{FF2B5EF4-FFF2-40B4-BE49-F238E27FC236}">
                <a16:creationId xmlns:a16="http://schemas.microsoft.com/office/drawing/2014/main" id="{E9A7303D-65C2-17BC-3000-51329DCD8E19}"/>
              </a:ext>
            </a:extLst>
          </p:cNvPr>
          <p:cNvCxnSpPr>
            <a:cxnSpLocks/>
            <a:stCxn id="65" idx="6"/>
            <a:endCxn id="73" idx="2"/>
          </p:cNvCxnSpPr>
          <p:nvPr/>
        </p:nvCxnSpPr>
        <p:spPr>
          <a:xfrm>
            <a:off x="4671555" y="3257240"/>
            <a:ext cx="1276053" cy="203070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2" name="直线箭头连接符 91">
            <a:extLst>
              <a:ext uri="{FF2B5EF4-FFF2-40B4-BE49-F238E27FC236}">
                <a16:creationId xmlns:a16="http://schemas.microsoft.com/office/drawing/2014/main" id="{5E12DDF3-ABDF-1723-80FF-C73064E3C378}"/>
              </a:ext>
            </a:extLst>
          </p:cNvPr>
          <p:cNvCxnSpPr>
            <a:cxnSpLocks/>
            <a:stCxn id="66" idx="6"/>
            <a:endCxn id="70" idx="2"/>
          </p:cNvCxnSpPr>
          <p:nvPr/>
        </p:nvCxnSpPr>
        <p:spPr>
          <a:xfrm flipV="1">
            <a:off x="4671555" y="3269597"/>
            <a:ext cx="1276053" cy="64847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3" name="直线箭头连接符 92">
            <a:extLst>
              <a:ext uri="{FF2B5EF4-FFF2-40B4-BE49-F238E27FC236}">
                <a16:creationId xmlns:a16="http://schemas.microsoft.com/office/drawing/2014/main" id="{032FF226-EB72-B733-225F-ECE3B57CAE1C}"/>
              </a:ext>
            </a:extLst>
          </p:cNvPr>
          <p:cNvCxnSpPr>
            <a:cxnSpLocks/>
            <a:stCxn id="66" idx="6"/>
            <a:endCxn id="71" idx="2"/>
          </p:cNvCxnSpPr>
          <p:nvPr/>
        </p:nvCxnSpPr>
        <p:spPr>
          <a:xfrm>
            <a:off x="4671555" y="3918070"/>
            <a:ext cx="1276053" cy="12357"/>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4" name="直线箭头连接符 93">
            <a:extLst>
              <a:ext uri="{FF2B5EF4-FFF2-40B4-BE49-F238E27FC236}">
                <a16:creationId xmlns:a16="http://schemas.microsoft.com/office/drawing/2014/main" id="{8381D5C4-387D-A54D-06C5-B17E1A2B7555}"/>
              </a:ext>
            </a:extLst>
          </p:cNvPr>
          <p:cNvCxnSpPr>
            <a:cxnSpLocks/>
            <a:stCxn id="66" idx="6"/>
            <a:endCxn id="72" idx="2"/>
          </p:cNvCxnSpPr>
          <p:nvPr/>
        </p:nvCxnSpPr>
        <p:spPr>
          <a:xfrm>
            <a:off x="4671555" y="3918070"/>
            <a:ext cx="1276053" cy="73497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5" name="直线箭头连接符 94">
            <a:extLst>
              <a:ext uri="{FF2B5EF4-FFF2-40B4-BE49-F238E27FC236}">
                <a16:creationId xmlns:a16="http://schemas.microsoft.com/office/drawing/2014/main" id="{A44CC792-2503-703C-8ADC-1A84C17372C9}"/>
              </a:ext>
            </a:extLst>
          </p:cNvPr>
          <p:cNvCxnSpPr>
            <a:cxnSpLocks/>
            <a:stCxn id="66" idx="6"/>
            <a:endCxn id="73" idx="2"/>
          </p:cNvCxnSpPr>
          <p:nvPr/>
        </p:nvCxnSpPr>
        <p:spPr>
          <a:xfrm>
            <a:off x="4671555" y="3918070"/>
            <a:ext cx="1276053" cy="136987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6" name="直线箭头连接符 95">
            <a:extLst>
              <a:ext uri="{FF2B5EF4-FFF2-40B4-BE49-F238E27FC236}">
                <a16:creationId xmlns:a16="http://schemas.microsoft.com/office/drawing/2014/main" id="{079CDE8C-DCC2-AA23-B711-DFD7268BA188}"/>
              </a:ext>
            </a:extLst>
          </p:cNvPr>
          <p:cNvCxnSpPr>
            <a:cxnSpLocks/>
            <a:stCxn id="67" idx="6"/>
            <a:endCxn id="70" idx="2"/>
          </p:cNvCxnSpPr>
          <p:nvPr/>
        </p:nvCxnSpPr>
        <p:spPr>
          <a:xfrm flipV="1">
            <a:off x="4671555" y="3269597"/>
            <a:ext cx="1276053" cy="137108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7" name="直线箭头连接符 96">
            <a:extLst>
              <a:ext uri="{FF2B5EF4-FFF2-40B4-BE49-F238E27FC236}">
                <a16:creationId xmlns:a16="http://schemas.microsoft.com/office/drawing/2014/main" id="{BAC858E6-2491-0218-EAEB-BDE2EB18B42B}"/>
              </a:ext>
            </a:extLst>
          </p:cNvPr>
          <p:cNvCxnSpPr>
            <a:cxnSpLocks/>
            <a:stCxn id="67" idx="6"/>
            <a:endCxn id="71" idx="2"/>
          </p:cNvCxnSpPr>
          <p:nvPr/>
        </p:nvCxnSpPr>
        <p:spPr>
          <a:xfrm flipV="1">
            <a:off x="4671555" y="3930427"/>
            <a:ext cx="1276053" cy="71025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8" name="直线箭头连接符 97">
            <a:extLst>
              <a:ext uri="{FF2B5EF4-FFF2-40B4-BE49-F238E27FC236}">
                <a16:creationId xmlns:a16="http://schemas.microsoft.com/office/drawing/2014/main" id="{0608D844-992A-37CD-4D34-8900036384FA}"/>
              </a:ext>
            </a:extLst>
          </p:cNvPr>
          <p:cNvCxnSpPr>
            <a:cxnSpLocks/>
            <a:stCxn id="67" idx="6"/>
            <a:endCxn id="72" idx="2"/>
          </p:cNvCxnSpPr>
          <p:nvPr/>
        </p:nvCxnSpPr>
        <p:spPr>
          <a:xfrm>
            <a:off x="4671555" y="4640683"/>
            <a:ext cx="1276053" cy="12357"/>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9" name="直线箭头连接符 98">
            <a:extLst>
              <a:ext uri="{FF2B5EF4-FFF2-40B4-BE49-F238E27FC236}">
                <a16:creationId xmlns:a16="http://schemas.microsoft.com/office/drawing/2014/main" id="{8814E79B-3086-D4F7-FDD1-F9E85AE22F55}"/>
              </a:ext>
            </a:extLst>
          </p:cNvPr>
          <p:cNvCxnSpPr>
            <a:cxnSpLocks/>
            <a:stCxn id="67" idx="6"/>
            <a:endCxn id="73" idx="2"/>
          </p:cNvCxnSpPr>
          <p:nvPr/>
        </p:nvCxnSpPr>
        <p:spPr>
          <a:xfrm>
            <a:off x="4671555" y="4640683"/>
            <a:ext cx="1276053" cy="647257"/>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0" name="直线箭头连接符 99">
            <a:extLst>
              <a:ext uri="{FF2B5EF4-FFF2-40B4-BE49-F238E27FC236}">
                <a16:creationId xmlns:a16="http://schemas.microsoft.com/office/drawing/2014/main" id="{B2A1EC06-0F01-A6CD-F9A1-6485849BF1AD}"/>
              </a:ext>
            </a:extLst>
          </p:cNvPr>
          <p:cNvCxnSpPr>
            <a:cxnSpLocks/>
            <a:stCxn id="68" idx="6"/>
            <a:endCxn id="70" idx="2"/>
          </p:cNvCxnSpPr>
          <p:nvPr/>
        </p:nvCxnSpPr>
        <p:spPr>
          <a:xfrm flipV="1">
            <a:off x="4671555" y="3269597"/>
            <a:ext cx="1276053" cy="200598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1" name="直线箭头连接符 100">
            <a:extLst>
              <a:ext uri="{FF2B5EF4-FFF2-40B4-BE49-F238E27FC236}">
                <a16:creationId xmlns:a16="http://schemas.microsoft.com/office/drawing/2014/main" id="{CFA0C80D-A813-3097-5D73-E81B8B18EE85}"/>
              </a:ext>
            </a:extLst>
          </p:cNvPr>
          <p:cNvCxnSpPr>
            <a:cxnSpLocks/>
            <a:stCxn id="68" idx="6"/>
            <a:endCxn id="71" idx="2"/>
          </p:cNvCxnSpPr>
          <p:nvPr/>
        </p:nvCxnSpPr>
        <p:spPr>
          <a:xfrm flipV="1">
            <a:off x="4671555" y="3930427"/>
            <a:ext cx="1276053" cy="134515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2" name="直线箭头连接符 101">
            <a:extLst>
              <a:ext uri="{FF2B5EF4-FFF2-40B4-BE49-F238E27FC236}">
                <a16:creationId xmlns:a16="http://schemas.microsoft.com/office/drawing/2014/main" id="{DA4846EA-9605-77F5-A21D-3D24260A167F}"/>
              </a:ext>
            </a:extLst>
          </p:cNvPr>
          <p:cNvCxnSpPr>
            <a:cxnSpLocks/>
            <a:stCxn id="68" idx="6"/>
            <a:endCxn id="72" idx="2"/>
          </p:cNvCxnSpPr>
          <p:nvPr/>
        </p:nvCxnSpPr>
        <p:spPr>
          <a:xfrm flipV="1">
            <a:off x="4671555" y="4653040"/>
            <a:ext cx="1276053" cy="62254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3" name="直线箭头连接符 102">
            <a:extLst>
              <a:ext uri="{FF2B5EF4-FFF2-40B4-BE49-F238E27FC236}">
                <a16:creationId xmlns:a16="http://schemas.microsoft.com/office/drawing/2014/main" id="{58954897-3180-7AA9-C451-5A983F0ADCDA}"/>
              </a:ext>
            </a:extLst>
          </p:cNvPr>
          <p:cNvCxnSpPr>
            <a:cxnSpLocks/>
            <a:stCxn id="68" idx="6"/>
            <a:endCxn id="73" idx="2"/>
          </p:cNvCxnSpPr>
          <p:nvPr/>
        </p:nvCxnSpPr>
        <p:spPr>
          <a:xfrm>
            <a:off x="4671555" y="5275583"/>
            <a:ext cx="1276053" cy="12357"/>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4" name="直线箭头连接符 103">
            <a:extLst>
              <a:ext uri="{FF2B5EF4-FFF2-40B4-BE49-F238E27FC236}">
                <a16:creationId xmlns:a16="http://schemas.microsoft.com/office/drawing/2014/main" id="{6FFB169C-8E5D-E064-B5AD-11C0BBFBA0FA}"/>
              </a:ext>
            </a:extLst>
          </p:cNvPr>
          <p:cNvCxnSpPr>
            <a:cxnSpLocks/>
            <a:stCxn id="70" idx="6"/>
            <a:endCxn id="75" idx="2"/>
          </p:cNvCxnSpPr>
          <p:nvPr/>
        </p:nvCxnSpPr>
        <p:spPr>
          <a:xfrm>
            <a:off x="6441878" y="3269597"/>
            <a:ext cx="1129028" cy="907965"/>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5" name="直线箭头连接符 104">
            <a:extLst>
              <a:ext uri="{FF2B5EF4-FFF2-40B4-BE49-F238E27FC236}">
                <a16:creationId xmlns:a16="http://schemas.microsoft.com/office/drawing/2014/main" id="{155BE3FE-E3F7-829D-4601-629AC5DEB008}"/>
              </a:ext>
            </a:extLst>
          </p:cNvPr>
          <p:cNvCxnSpPr>
            <a:cxnSpLocks/>
            <a:stCxn id="71" idx="6"/>
            <a:endCxn id="75" idx="2"/>
          </p:cNvCxnSpPr>
          <p:nvPr/>
        </p:nvCxnSpPr>
        <p:spPr>
          <a:xfrm>
            <a:off x="6441878" y="3930427"/>
            <a:ext cx="1129028" cy="247135"/>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6" name="直线箭头连接符 105">
            <a:extLst>
              <a:ext uri="{FF2B5EF4-FFF2-40B4-BE49-F238E27FC236}">
                <a16:creationId xmlns:a16="http://schemas.microsoft.com/office/drawing/2014/main" id="{6B1A2152-9C6E-3BF5-E5F2-B9AD25841A6C}"/>
              </a:ext>
            </a:extLst>
          </p:cNvPr>
          <p:cNvCxnSpPr>
            <a:cxnSpLocks/>
            <a:stCxn id="72" idx="6"/>
            <a:endCxn id="75" idx="2"/>
          </p:cNvCxnSpPr>
          <p:nvPr/>
        </p:nvCxnSpPr>
        <p:spPr>
          <a:xfrm flipV="1">
            <a:off x="6441878" y="4177562"/>
            <a:ext cx="1129028" cy="475478"/>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107" name="直线箭头连接符 106">
            <a:extLst>
              <a:ext uri="{FF2B5EF4-FFF2-40B4-BE49-F238E27FC236}">
                <a16:creationId xmlns:a16="http://schemas.microsoft.com/office/drawing/2014/main" id="{6FC0A8B0-34F3-3AF8-5296-9A45529A34DF}"/>
              </a:ext>
            </a:extLst>
          </p:cNvPr>
          <p:cNvCxnSpPr>
            <a:cxnSpLocks/>
            <a:stCxn id="73" idx="6"/>
            <a:endCxn id="75" idx="2"/>
          </p:cNvCxnSpPr>
          <p:nvPr/>
        </p:nvCxnSpPr>
        <p:spPr>
          <a:xfrm flipV="1">
            <a:off x="6441878" y="4177562"/>
            <a:ext cx="1129028" cy="1110378"/>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sp>
        <p:nvSpPr>
          <p:cNvPr id="108" name="文本框 107">
            <a:extLst>
              <a:ext uri="{FF2B5EF4-FFF2-40B4-BE49-F238E27FC236}">
                <a16:creationId xmlns:a16="http://schemas.microsoft.com/office/drawing/2014/main" id="{1AB33320-6B18-1564-DF73-65FD59BA9CA3}"/>
              </a:ext>
            </a:extLst>
          </p:cNvPr>
          <p:cNvSpPr txBox="1"/>
          <p:nvPr/>
        </p:nvSpPr>
        <p:spPr>
          <a:xfrm>
            <a:off x="2149208" y="5707525"/>
            <a:ext cx="1292341" cy="369332"/>
          </a:xfrm>
          <a:prstGeom prst="rect">
            <a:avLst/>
          </a:prstGeom>
          <a:noFill/>
        </p:spPr>
        <p:txBody>
          <a:bodyPr wrap="none" rtlCol="0">
            <a:spAutoFit/>
          </a:bodyPr>
          <a:lstStyle/>
          <a:p>
            <a:r>
              <a:rPr kumimoji="1" lang="en-US" altLang="zh-CN" dirty="0"/>
              <a:t>Input</a:t>
            </a:r>
            <a:r>
              <a:rPr kumimoji="1" lang="zh-CN" altLang="en-US" dirty="0"/>
              <a:t> </a:t>
            </a:r>
            <a:r>
              <a:rPr kumimoji="1" lang="en-US" altLang="zh-CN" dirty="0"/>
              <a:t>Layer</a:t>
            </a:r>
            <a:endParaRPr kumimoji="1" lang="zh-CN" altLang="en-US" dirty="0"/>
          </a:p>
        </p:txBody>
      </p:sp>
      <p:sp>
        <p:nvSpPr>
          <p:cNvPr id="109" name="文本框 108">
            <a:extLst>
              <a:ext uri="{FF2B5EF4-FFF2-40B4-BE49-F238E27FC236}">
                <a16:creationId xmlns:a16="http://schemas.microsoft.com/office/drawing/2014/main" id="{43D56B52-6AB3-EB5D-C4A3-480AE125A160}"/>
              </a:ext>
            </a:extLst>
          </p:cNvPr>
          <p:cNvSpPr txBox="1"/>
          <p:nvPr/>
        </p:nvSpPr>
        <p:spPr>
          <a:xfrm>
            <a:off x="3609899" y="5707525"/>
            <a:ext cx="1681871" cy="369332"/>
          </a:xfrm>
          <a:prstGeom prst="rect">
            <a:avLst/>
          </a:prstGeom>
          <a:noFill/>
        </p:spPr>
        <p:txBody>
          <a:bodyPr wrap="none" rtlCol="0">
            <a:spAutoFit/>
          </a:bodyPr>
          <a:lstStyle/>
          <a:p>
            <a:r>
              <a:rPr kumimoji="1" lang="en-US" altLang="zh-CN" dirty="0"/>
              <a:t>Hidden</a:t>
            </a:r>
            <a:r>
              <a:rPr kumimoji="1" lang="zh-CN" altLang="en-US" dirty="0"/>
              <a:t> </a:t>
            </a:r>
            <a:r>
              <a:rPr kumimoji="1" lang="en-US" altLang="zh-CN" dirty="0"/>
              <a:t>Layer</a:t>
            </a:r>
            <a:r>
              <a:rPr kumimoji="1" lang="zh-CN" altLang="en-US" dirty="0"/>
              <a:t> </a:t>
            </a:r>
            <a:r>
              <a:rPr kumimoji="1" lang="en-US" altLang="zh-CN" dirty="0"/>
              <a:t>1</a:t>
            </a:r>
            <a:endParaRPr kumimoji="1" lang="zh-CN" altLang="en-US" dirty="0"/>
          </a:p>
        </p:txBody>
      </p:sp>
      <p:sp>
        <p:nvSpPr>
          <p:cNvPr id="110" name="文本框 109">
            <a:extLst>
              <a:ext uri="{FF2B5EF4-FFF2-40B4-BE49-F238E27FC236}">
                <a16:creationId xmlns:a16="http://schemas.microsoft.com/office/drawing/2014/main" id="{0920E016-CEEC-B192-EB01-9256FADF0AAC}"/>
              </a:ext>
            </a:extLst>
          </p:cNvPr>
          <p:cNvSpPr txBox="1"/>
          <p:nvPr/>
        </p:nvSpPr>
        <p:spPr>
          <a:xfrm>
            <a:off x="5353807" y="5707525"/>
            <a:ext cx="1681871" cy="369332"/>
          </a:xfrm>
          <a:prstGeom prst="rect">
            <a:avLst/>
          </a:prstGeom>
          <a:noFill/>
        </p:spPr>
        <p:txBody>
          <a:bodyPr wrap="none" rtlCol="0">
            <a:spAutoFit/>
          </a:bodyPr>
          <a:lstStyle/>
          <a:p>
            <a:r>
              <a:rPr kumimoji="1" lang="en-US" altLang="zh-CN" dirty="0"/>
              <a:t>Hidden</a:t>
            </a:r>
            <a:r>
              <a:rPr kumimoji="1" lang="zh-CN" altLang="en-US" dirty="0"/>
              <a:t> </a:t>
            </a:r>
            <a:r>
              <a:rPr kumimoji="1" lang="en-US" altLang="zh-CN" dirty="0"/>
              <a:t>Layer</a:t>
            </a:r>
            <a:r>
              <a:rPr kumimoji="1" lang="zh-CN" altLang="en-US" dirty="0"/>
              <a:t> </a:t>
            </a:r>
            <a:r>
              <a:rPr kumimoji="1" lang="en-US" altLang="zh-CN" dirty="0"/>
              <a:t>2</a:t>
            </a:r>
            <a:endParaRPr kumimoji="1" lang="zh-CN" altLang="en-US" dirty="0"/>
          </a:p>
        </p:txBody>
      </p:sp>
      <p:sp>
        <p:nvSpPr>
          <p:cNvPr id="111" name="文本框 110">
            <a:extLst>
              <a:ext uri="{FF2B5EF4-FFF2-40B4-BE49-F238E27FC236}">
                <a16:creationId xmlns:a16="http://schemas.microsoft.com/office/drawing/2014/main" id="{1E66A12C-1588-11DA-D7C2-42CFAB6B948F}"/>
              </a:ext>
            </a:extLst>
          </p:cNvPr>
          <p:cNvSpPr txBox="1"/>
          <p:nvPr/>
        </p:nvSpPr>
        <p:spPr>
          <a:xfrm>
            <a:off x="7177614" y="4640683"/>
            <a:ext cx="1483098" cy="369332"/>
          </a:xfrm>
          <a:prstGeom prst="rect">
            <a:avLst/>
          </a:prstGeom>
          <a:noFill/>
        </p:spPr>
        <p:txBody>
          <a:bodyPr wrap="none" rtlCol="0">
            <a:spAutoFit/>
          </a:bodyPr>
          <a:lstStyle/>
          <a:p>
            <a:r>
              <a:rPr kumimoji="1" lang="en-US" altLang="zh-CN" dirty="0"/>
              <a:t>Output</a:t>
            </a:r>
            <a:r>
              <a:rPr kumimoji="1" lang="zh-CN" altLang="en-US" dirty="0"/>
              <a:t> </a:t>
            </a:r>
            <a:r>
              <a:rPr kumimoji="1" lang="en-US" altLang="zh-CN" dirty="0"/>
              <a:t>Layer</a:t>
            </a:r>
            <a:endParaRPr kumimoji="1" lang="zh-CN" altLang="en-US" dirty="0"/>
          </a:p>
        </p:txBody>
      </p:sp>
      <p:sp>
        <p:nvSpPr>
          <p:cNvPr id="114" name="object 5">
            <a:extLst>
              <a:ext uri="{FF2B5EF4-FFF2-40B4-BE49-F238E27FC236}">
                <a16:creationId xmlns:a16="http://schemas.microsoft.com/office/drawing/2014/main" id="{7F9ED3B2-A861-675D-9B45-673E112DCAEE}"/>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回顾全连接神经网络</a:t>
            </a:r>
            <a:endParaRPr lang="en-US" sz="3600" spc="-1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634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612CC-AA36-0CFB-CD29-20AF1287FD6D}"/>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0C39CE76-41A9-C5A0-FB34-45C93481F07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F79DA98B-CC0F-C945-72D2-3B00E7164E0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93FA65AB-50BC-DBAD-00B2-CE48853F6FD8}"/>
              </a:ext>
            </a:extLst>
          </p:cNvPr>
          <p:cNvSpPr/>
          <p:nvPr/>
        </p:nvSpPr>
        <p:spPr bwMode="auto">
          <a:xfrm>
            <a:off x="548640" y="1436914"/>
            <a:ext cx="11132848" cy="9228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全连接层要求输入为一维向量</a:t>
            </a:r>
            <a:r>
              <a:rPr lang="en-US" altLang="zh-CN" sz="2400" dirty="0"/>
              <a:t>—</a:t>
            </a:r>
            <a:r>
              <a:rPr lang="zh-CN" altLang="en-US" sz="2400" dirty="0"/>
              <a:t>需要将图像展平处理</a:t>
            </a:r>
            <a:endParaRPr kumimoji="1" lang="zh-CN" altLang="en-US" sz="2400" dirty="0"/>
          </a:p>
        </p:txBody>
      </p:sp>
      <p:sp>
        <p:nvSpPr>
          <p:cNvPr id="114" name="object 5">
            <a:extLst>
              <a:ext uri="{FF2B5EF4-FFF2-40B4-BE49-F238E27FC236}">
                <a16:creationId xmlns:a16="http://schemas.microsoft.com/office/drawing/2014/main" id="{25B41746-1FB8-EC78-186B-F419BB8B29E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全连接层处理图像输入</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BAB4D5A6-C760-E845-6E02-092E97129E4C}"/>
              </a:ext>
            </a:extLst>
          </p:cNvPr>
          <p:cNvPicPr>
            <a:picLocks noChangeAspect="1"/>
          </p:cNvPicPr>
          <p:nvPr/>
        </p:nvPicPr>
        <p:blipFill>
          <a:blip r:embed="rId3"/>
          <a:stretch>
            <a:fillRect/>
          </a:stretch>
        </p:blipFill>
        <p:spPr>
          <a:xfrm>
            <a:off x="1643743" y="2929799"/>
            <a:ext cx="7772400" cy="2266950"/>
          </a:xfrm>
          <a:prstGeom prst="rect">
            <a:avLst/>
          </a:prstGeom>
        </p:spPr>
      </p:pic>
    </p:spTree>
    <p:extLst>
      <p:ext uri="{BB962C8B-B14F-4D97-AF65-F5344CB8AC3E}">
        <p14:creationId xmlns:p14="http://schemas.microsoft.com/office/powerpoint/2010/main" val="2506637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EE99-9550-A0FF-6F02-7870A307D820}"/>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F853D1EF-EF7F-7840-2B79-3CF07CF31B3E}"/>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19150E7C-3D04-8C7F-4210-44084B3EE747}"/>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0373C01-A375-1E70-8948-B347968289D7}"/>
              </a:ext>
            </a:extLst>
          </p:cNvPr>
          <p:cNvSpPr/>
          <p:nvPr/>
        </p:nvSpPr>
        <p:spPr bwMode="auto">
          <a:xfrm>
            <a:off x="339634" y="1355412"/>
            <a:ext cx="11132848" cy="121484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弊端：</a:t>
            </a:r>
            <a:r>
              <a:rPr lang="zh-CN" altLang="en-US" sz="2400" b="1" dirty="0"/>
              <a:t>空间信息丢失。</a:t>
            </a:r>
            <a:endParaRPr lang="en-US" altLang="zh-CN" sz="2400" b="1" dirty="0"/>
          </a:p>
          <a:p>
            <a:r>
              <a:rPr lang="zh-CN" altLang="en-US" sz="2400" dirty="0"/>
              <a:t>强行将二维图像拉直为一维向量，会导致像素之间的空间邻域关系（即上下左右的相对位置）彻底丢失，网络难以捕捉图像中的局部几何特征 。</a:t>
            </a:r>
            <a:endParaRPr kumimoji="1" lang="zh-CN" altLang="en-US" sz="2400" dirty="0"/>
          </a:p>
        </p:txBody>
      </p:sp>
      <p:sp>
        <p:nvSpPr>
          <p:cNvPr id="114" name="object 5">
            <a:extLst>
              <a:ext uri="{FF2B5EF4-FFF2-40B4-BE49-F238E27FC236}">
                <a16:creationId xmlns:a16="http://schemas.microsoft.com/office/drawing/2014/main" id="{AE2FA9E7-7902-6C77-2A13-2FCAD260BD17}"/>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全连接层处理图像输入</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43" name="组合 42">
            <a:extLst>
              <a:ext uri="{FF2B5EF4-FFF2-40B4-BE49-F238E27FC236}">
                <a16:creationId xmlns:a16="http://schemas.microsoft.com/office/drawing/2014/main" id="{4983CFC1-32A8-CF95-233F-18DA9F1B9A0C}"/>
              </a:ext>
            </a:extLst>
          </p:cNvPr>
          <p:cNvGrpSpPr/>
          <p:nvPr/>
        </p:nvGrpSpPr>
        <p:grpSpPr>
          <a:xfrm>
            <a:off x="1768034" y="3264134"/>
            <a:ext cx="1635752" cy="1620000"/>
            <a:chOff x="962844" y="3252651"/>
            <a:chExt cx="1635752" cy="1620000"/>
          </a:xfrm>
        </p:grpSpPr>
        <p:sp>
          <p:nvSpPr>
            <p:cNvPr id="3" name="矩形 2">
              <a:extLst>
                <a:ext uri="{FF2B5EF4-FFF2-40B4-BE49-F238E27FC236}">
                  <a16:creationId xmlns:a16="http://schemas.microsoft.com/office/drawing/2014/main" id="{5AAE3209-8641-28B9-042C-535E2ED3946A}"/>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4350169E-2FCF-129D-2E00-F86F9EC9A728}"/>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5" name="矩形 4">
              <a:extLst>
                <a:ext uri="{FF2B5EF4-FFF2-40B4-BE49-F238E27FC236}">
                  <a16:creationId xmlns:a16="http://schemas.microsoft.com/office/drawing/2014/main" id="{E7D2E162-ED7A-5F5D-872B-D91513B5C5B1}"/>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4D6780D8-8DC5-CE0A-EAD6-E75DA64E613F}"/>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7" name="矩形 6">
              <a:extLst>
                <a:ext uri="{FF2B5EF4-FFF2-40B4-BE49-F238E27FC236}">
                  <a16:creationId xmlns:a16="http://schemas.microsoft.com/office/drawing/2014/main" id="{B3CBF0CE-C6D7-846A-3FEE-A3656B26486A}"/>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A00A989F-2A20-018E-D1DC-E19E6B98D9A2}"/>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10" name="矩形 9">
              <a:extLst>
                <a:ext uri="{FF2B5EF4-FFF2-40B4-BE49-F238E27FC236}">
                  <a16:creationId xmlns:a16="http://schemas.microsoft.com/office/drawing/2014/main" id="{DCD40D47-0F93-940D-13AB-CE34134288FE}"/>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4487624-1867-926A-53D2-01B7E27A71A2}"/>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12" name="矩形 11">
              <a:extLst>
                <a:ext uri="{FF2B5EF4-FFF2-40B4-BE49-F238E27FC236}">
                  <a16:creationId xmlns:a16="http://schemas.microsoft.com/office/drawing/2014/main" id="{45A9315E-F901-B5B4-0FF0-6C9ED1CD6F14}"/>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F7DB99C9-4ED7-AA99-E61F-F0AF6093557C}"/>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14" name="矩形 13">
              <a:extLst>
                <a:ext uri="{FF2B5EF4-FFF2-40B4-BE49-F238E27FC236}">
                  <a16:creationId xmlns:a16="http://schemas.microsoft.com/office/drawing/2014/main" id="{9C40A51C-CF75-48DF-09F1-218214401128}"/>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17" name="矩形 16">
              <a:extLst>
                <a:ext uri="{FF2B5EF4-FFF2-40B4-BE49-F238E27FC236}">
                  <a16:creationId xmlns:a16="http://schemas.microsoft.com/office/drawing/2014/main" id="{59C01C6B-1ED6-12D1-4B4F-14A8479B4644}"/>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F76A45D9-EDF5-6A25-39BE-3F787EE6D7A0}"/>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19" name="矩形 18">
              <a:extLst>
                <a:ext uri="{FF2B5EF4-FFF2-40B4-BE49-F238E27FC236}">
                  <a16:creationId xmlns:a16="http://schemas.microsoft.com/office/drawing/2014/main" id="{7D18AF8A-5AE9-12F5-65FF-8019982402C2}"/>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7E1EB13E-E687-C7D8-8B51-7BB6E24D675F}"/>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21" name="矩形 20">
              <a:extLst>
                <a:ext uri="{FF2B5EF4-FFF2-40B4-BE49-F238E27FC236}">
                  <a16:creationId xmlns:a16="http://schemas.microsoft.com/office/drawing/2014/main" id="{1F98C8BD-B9F9-D0C5-E786-6EB0AE2C02EA}"/>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57519E15-E917-E797-BB37-B0621DB76C6F}"/>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grpSp>
        <p:nvGrpSpPr>
          <p:cNvPr id="44" name="组合 43">
            <a:extLst>
              <a:ext uri="{FF2B5EF4-FFF2-40B4-BE49-F238E27FC236}">
                <a16:creationId xmlns:a16="http://schemas.microsoft.com/office/drawing/2014/main" id="{29C5FB32-F89B-C3B9-9D82-4CE46BA68738}"/>
              </a:ext>
            </a:extLst>
          </p:cNvPr>
          <p:cNvGrpSpPr/>
          <p:nvPr/>
        </p:nvGrpSpPr>
        <p:grpSpPr>
          <a:xfrm>
            <a:off x="6533618" y="3804134"/>
            <a:ext cx="4860001" cy="540000"/>
            <a:chOff x="5486068" y="3804134"/>
            <a:chExt cx="4860001" cy="540000"/>
          </a:xfrm>
        </p:grpSpPr>
        <p:sp>
          <p:nvSpPr>
            <p:cNvPr id="23" name="矩形 22">
              <a:extLst>
                <a:ext uri="{FF2B5EF4-FFF2-40B4-BE49-F238E27FC236}">
                  <a16:creationId xmlns:a16="http://schemas.microsoft.com/office/drawing/2014/main" id="{2D2A8B3B-CAFE-A293-4E05-E0D6051DDAA3}"/>
                </a:ext>
              </a:extLst>
            </p:cNvPr>
            <p:cNvSpPr/>
            <p:nvPr/>
          </p:nvSpPr>
          <p:spPr>
            <a:xfrm>
              <a:off x="6566069"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57691A41-505E-0BF9-50C4-6104F6CC89A7}"/>
                </a:ext>
              </a:extLst>
            </p:cNvPr>
            <p:cNvSpPr txBox="1"/>
            <p:nvPr/>
          </p:nvSpPr>
          <p:spPr>
            <a:xfrm>
              <a:off x="6560993" y="389455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25" name="矩形 24">
              <a:extLst>
                <a:ext uri="{FF2B5EF4-FFF2-40B4-BE49-F238E27FC236}">
                  <a16:creationId xmlns:a16="http://schemas.microsoft.com/office/drawing/2014/main" id="{836290C4-A348-B531-9354-AE7BDA95C266}"/>
                </a:ext>
              </a:extLst>
            </p:cNvPr>
            <p:cNvSpPr/>
            <p:nvPr/>
          </p:nvSpPr>
          <p:spPr>
            <a:xfrm>
              <a:off x="7106069"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94314757-F60A-B9B1-E507-6E16038F57E6}"/>
                </a:ext>
              </a:extLst>
            </p:cNvPr>
            <p:cNvSpPr txBox="1"/>
            <p:nvPr/>
          </p:nvSpPr>
          <p:spPr>
            <a:xfrm>
              <a:off x="7161908" y="3893465"/>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27" name="矩形 26">
              <a:extLst>
                <a:ext uri="{FF2B5EF4-FFF2-40B4-BE49-F238E27FC236}">
                  <a16:creationId xmlns:a16="http://schemas.microsoft.com/office/drawing/2014/main" id="{8446C975-361C-57EF-1744-D3E7768B0A19}"/>
                </a:ext>
              </a:extLst>
            </p:cNvPr>
            <p:cNvSpPr/>
            <p:nvPr/>
          </p:nvSpPr>
          <p:spPr>
            <a:xfrm>
              <a:off x="7646069"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EE13B141-A8B4-E3B4-99BF-0A127C324F80}"/>
                </a:ext>
              </a:extLst>
            </p:cNvPr>
            <p:cNvSpPr txBox="1"/>
            <p:nvPr/>
          </p:nvSpPr>
          <p:spPr>
            <a:xfrm>
              <a:off x="7701908" y="3893465"/>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29" name="矩形 28">
              <a:extLst>
                <a:ext uri="{FF2B5EF4-FFF2-40B4-BE49-F238E27FC236}">
                  <a16:creationId xmlns:a16="http://schemas.microsoft.com/office/drawing/2014/main" id="{1CAD956F-AE98-E738-663A-D8BEBC7D5EAF}"/>
                </a:ext>
              </a:extLst>
            </p:cNvPr>
            <p:cNvSpPr/>
            <p:nvPr/>
          </p:nvSpPr>
          <p:spPr>
            <a:xfrm>
              <a:off x="8186069"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文本框 29">
              <a:extLst>
                <a:ext uri="{FF2B5EF4-FFF2-40B4-BE49-F238E27FC236}">
                  <a16:creationId xmlns:a16="http://schemas.microsoft.com/office/drawing/2014/main" id="{CE5A1A10-808D-27F5-D8A7-572746902E24}"/>
                </a:ext>
              </a:extLst>
            </p:cNvPr>
            <p:cNvSpPr txBox="1"/>
            <p:nvPr/>
          </p:nvSpPr>
          <p:spPr>
            <a:xfrm>
              <a:off x="8241908" y="3893465"/>
              <a:ext cx="428322" cy="369332"/>
            </a:xfrm>
            <a:prstGeom prst="rect">
              <a:avLst/>
            </a:prstGeom>
            <a:noFill/>
          </p:spPr>
          <p:txBody>
            <a:bodyPr wrap="none" rtlCol="0">
              <a:spAutoFit/>
            </a:bodyPr>
            <a:lstStyle/>
            <a:p>
              <a:r>
                <a:rPr kumimoji="1" lang="en-US" altLang="zh-CN" dirty="0"/>
                <a:t>99</a:t>
              </a:r>
              <a:endParaRPr kumimoji="1" lang="zh-CN" altLang="en-US" dirty="0"/>
            </a:p>
          </p:txBody>
        </p:sp>
        <p:sp>
          <p:nvSpPr>
            <p:cNvPr id="31" name="矩形 30">
              <a:extLst>
                <a:ext uri="{FF2B5EF4-FFF2-40B4-BE49-F238E27FC236}">
                  <a16:creationId xmlns:a16="http://schemas.microsoft.com/office/drawing/2014/main" id="{AE67D819-B666-4096-BBE0-ACF83CDAC8A8}"/>
                </a:ext>
              </a:extLst>
            </p:cNvPr>
            <p:cNvSpPr/>
            <p:nvPr/>
          </p:nvSpPr>
          <p:spPr>
            <a:xfrm>
              <a:off x="8726069"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A2A174EE-F2B4-3132-735A-D948920991C8}"/>
                </a:ext>
              </a:extLst>
            </p:cNvPr>
            <p:cNvSpPr txBox="1"/>
            <p:nvPr/>
          </p:nvSpPr>
          <p:spPr>
            <a:xfrm>
              <a:off x="8781908" y="3893465"/>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33" name="矩形 32">
              <a:extLst>
                <a:ext uri="{FF2B5EF4-FFF2-40B4-BE49-F238E27FC236}">
                  <a16:creationId xmlns:a16="http://schemas.microsoft.com/office/drawing/2014/main" id="{DAD92C11-EEAE-1349-CE2E-370A67C04E3D}"/>
                </a:ext>
              </a:extLst>
            </p:cNvPr>
            <p:cNvSpPr/>
            <p:nvPr/>
          </p:nvSpPr>
          <p:spPr>
            <a:xfrm>
              <a:off x="6026068"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框 33">
              <a:extLst>
                <a:ext uri="{FF2B5EF4-FFF2-40B4-BE49-F238E27FC236}">
                  <a16:creationId xmlns:a16="http://schemas.microsoft.com/office/drawing/2014/main" id="{30CF58BC-0BDA-C22F-869D-D9638C9228F8}"/>
                </a:ext>
              </a:extLst>
            </p:cNvPr>
            <p:cNvSpPr txBox="1"/>
            <p:nvPr/>
          </p:nvSpPr>
          <p:spPr>
            <a:xfrm>
              <a:off x="6020993" y="3895425"/>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37" name="矩形 36">
              <a:extLst>
                <a:ext uri="{FF2B5EF4-FFF2-40B4-BE49-F238E27FC236}">
                  <a16:creationId xmlns:a16="http://schemas.microsoft.com/office/drawing/2014/main" id="{3D25D21A-CB44-8CAF-CEF2-2E55496D4AFC}"/>
                </a:ext>
              </a:extLst>
            </p:cNvPr>
            <p:cNvSpPr/>
            <p:nvPr/>
          </p:nvSpPr>
          <p:spPr>
            <a:xfrm>
              <a:off x="5486068"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55A8F6FF-8351-78E1-6F4A-4B38185A52AF}"/>
                </a:ext>
              </a:extLst>
            </p:cNvPr>
            <p:cNvSpPr txBox="1"/>
            <p:nvPr/>
          </p:nvSpPr>
          <p:spPr>
            <a:xfrm>
              <a:off x="5541907" y="3893465"/>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39" name="矩形 38">
              <a:extLst>
                <a:ext uri="{FF2B5EF4-FFF2-40B4-BE49-F238E27FC236}">
                  <a16:creationId xmlns:a16="http://schemas.microsoft.com/office/drawing/2014/main" id="{FEA53F77-87BD-FB3D-8E58-17C97A4A6484}"/>
                </a:ext>
              </a:extLst>
            </p:cNvPr>
            <p:cNvSpPr/>
            <p:nvPr/>
          </p:nvSpPr>
          <p:spPr>
            <a:xfrm>
              <a:off x="9266069"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0DF9E4FA-EB9A-15DF-1C3F-E59014E86A53}"/>
                </a:ext>
              </a:extLst>
            </p:cNvPr>
            <p:cNvSpPr txBox="1"/>
            <p:nvPr/>
          </p:nvSpPr>
          <p:spPr>
            <a:xfrm>
              <a:off x="9260993" y="389455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41" name="矩形 40">
              <a:extLst>
                <a:ext uri="{FF2B5EF4-FFF2-40B4-BE49-F238E27FC236}">
                  <a16:creationId xmlns:a16="http://schemas.microsoft.com/office/drawing/2014/main" id="{165DD16A-EF7E-A3C7-0951-AC4AF2C0B428}"/>
                </a:ext>
              </a:extLst>
            </p:cNvPr>
            <p:cNvSpPr/>
            <p:nvPr/>
          </p:nvSpPr>
          <p:spPr>
            <a:xfrm>
              <a:off x="9806069" y="3804134"/>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文本框 41">
              <a:extLst>
                <a:ext uri="{FF2B5EF4-FFF2-40B4-BE49-F238E27FC236}">
                  <a16:creationId xmlns:a16="http://schemas.microsoft.com/office/drawing/2014/main" id="{44850F15-27A8-B62A-47B8-0F7A430487FD}"/>
                </a:ext>
              </a:extLst>
            </p:cNvPr>
            <p:cNvSpPr txBox="1"/>
            <p:nvPr/>
          </p:nvSpPr>
          <p:spPr>
            <a:xfrm>
              <a:off x="9795917" y="3893465"/>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45" name="右箭头 44">
            <a:extLst>
              <a:ext uri="{FF2B5EF4-FFF2-40B4-BE49-F238E27FC236}">
                <a16:creationId xmlns:a16="http://schemas.microsoft.com/office/drawing/2014/main" id="{6232B4D5-3D7A-BEA8-D4BD-C6714CF85837}"/>
              </a:ext>
            </a:extLst>
          </p:cNvPr>
          <p:cNvSpPr/>
          <p:nvPr/>
        </p:nvSpPr>
        <p:spPr>
          <a:xfrm>
            <a:off x="4170271" y="3983799"/>
            <a:ext cx="1556952" cy="180669"/>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55433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D09FF-CCAE-7B0E-7A38-879936779B25}"/>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F9C1F5F4-284C-1223-EDA7-85A6EA213589}"/>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2A848C4A-2EE1-4881-150E-BA3DF9B920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6D03232-30A4-4406-890B-CBF40E8B2982}"/>
              </a:ext>
            </a:extLst>
          </p:cNvPr>
          <p:cNvSpPr/>
          <p:nvPr/>
        </p:nvSpPr>
        <p:spPr bwMode="auto">
          <a:xfrm>
            <a:off x="339634" y="1355412"/>
            <a:ext cx="11132848" cy="121484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弊端：</a:t>
            </a:r>
            <a:r>
              <a:rPr lang="zh-CN" altLang="en-US" sz="2400" b="1" dirty="0"/>
              <a:t>参数量爆炸。</a:t>
            </a:r>
            <a:endParaRPr lang="en-US" altLang="zh-CN" sz="2400" b="1" dirty="0"/>
          </a:p>
          <a:p>
            <a:r>
              <a:rPr lang="zh-CN" altLang="en-US" sz="2400" dirty="0"/>
              <a:t>全连接层中的每一个神经元都要与前一层的所有输入相连，当输入维度巨大时，参数量会呈指数级增长 。</a:t>
            </a:r>
            <a:endParaRPr kumimoji="1" lang="zh-CN" altLang="en-US" sz="2400" dirty="0"/>
          </a:p>
        </p:txBody>
      </p:sp>
      <p:sp>
        <p:nvSpPr>
          <p:cNvPr id="114" name="object 5">
            <a:extLst>
              <a:ext uri="{FF2B5EF4-FFF2-40B4-BE49-F238E27FC236}">
                <a16:creationId xmlns:a16="http://schemas.microsoft.com/office/drawing/2014/main" id="{F28784A3-377F-854B-FB07-0AF46AC8FA1C}"/>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全连接层处理图像输入</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15" name="图片 14">
            <a:extLst>
              <a:ext uri="{FF2B5EF4-FFF2-40B4-BE49-F238E27FC236}">
                <a16:creationId xmlns:a16="http://schemas.microsoft.com/office/drawing/2014/main" id="{728782AB-BB62-6027-8035-BC065DD0D9DF}"/>
              </a:ext>
            </a:extLst>
          </p:cNvPr>
          <p:cNvPicPr>
            <a:picLocks noChangeAspect="1"/>
          </p:cNvPicPr>
          <p:nvPr/>
        </p:nvPicPr>
        <p:blipFill>
          <a:blip r:embed="rId3"/>
          <a:stretch>
            <a:fillRect/>
          </a:stretch>
        </p:blipFill>
        <p:spPr>
          <a:xfrm>
            <a:off x="1394253" y="2973296"/>
            <a:ext cx="7772400" cy="1455106"/>
          </a:xfrm>
          <a:prstGeom prst="rect">
            <a:avLst/>
          </a:prstGeom>
        </p:spPr>
      </p:pic>
      <p:sp>
        <p:nvSpPr>
          <p:cNvPr id="16" name="矩形 15">
            <a:extLst>
              <a:ext uri="{FF2B5EF4-FFF2-40B4-BE49-F238E27FC236}">
                <a16:creationId xmlns:a16="http://schemas.microsoft.com/office/drawing/2014/main" id="{E547F78D-55FE-E4A5-8305-6032C95652C3}"/>
              </a:ext>
            </a:extLst>
          </p:cNvPr>
          <p:cNvSpPr/>
          <p:nvPr/>
        </p:nvSpPr>
        <p:spPr bwMode="auto">
          <a:xfrm>
            <a:off x="234072" y="4967416"/>
            <a:ext cx="11132848" cy="88150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以 </a:t>
            </a:r>
            <a:r>
              <a:rPr lang="en-US" altLang="zh-CN" sz="2400" dirty="0"/>
              <a:t>3 </a:t>
            </a:r>
            <a:r>
              <a:rPr lang="zh-CN" altLang="en-US" sz="2400" dirty="0"/>
              <a:t>通道 </a:t>
            </a:r>
            <a:r>
              <a:rPr lang="en-US" altLang="zh-CN" sz="2400" dirty="0"/>
              <a:t>32</a:t>
            </a:r>
            <a:r>
              <a:rPr lang="zh-CN" altLang="en-US" sz="2400" dirty="0"/>
              <a:t>*</a:t>
            </a:r>
            <a:r>
              <a:rPr lang="en-US" altLang="zh-CN" sz="2400" dirty="0"/>
              <a:t>32 </a:t>
            </a:r>
            <a:r>
              <a:rPr lang="zh-CN" altLang="en-US" sz="2400" dirty="0"/>
              <a:t>的图像为例，对于每个输出都需要通过</a:t>
            </a:r>
            <a:r>
              <a:rPr lang="en-US" altLang="zh-CN" sz="2400" dirty="0"/>
              <a:t>W</a:t>
            </a:r>
            <a:r>
              <a:rPr lang="zh-CN" altLang="en-US" sz="2400" dirty="0"/>
              <a:t>*</a:t>
            </a:r>
            <a:r>
              <a:rPr lang="en-US" altLang="zh-CN" sz="2400" dirty="0"/>
              <a:t>3072 </a:t>
            </a:r>
            <a:r>
              <a:rPr lang="zh-CN" altLang="en-US" sz="2400" dirty="0"/>
              <a:t>的点积运算，随着图像维度增加，计算复杂度指数级上升。</a:t>
            </a:r>
            <a:endParaRPr kumimoji="1" lang="zh-CN" altLang="en-US" sz="2400" dirty="0"/>
          </a:p>
        </p:txBody>
      </p:sp>
    </p:spTree>
    <p:extLst>
      <p:ext uri="{BB962C8B-B14F-4D97-AF65-F5344CB8AC3E}">
        <p14:creationId xmlns:p14="http://schemas.microsoft.com/office/powerpoint/2010/main" val="2707329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C3B4-3184-917B-60C5-EC58A129AA61}"/>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12B75CDA-C806-422F-CB9B-41158F67B919}"/>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642B7BCE-3719-1A08-3332-1003E39BFB7D}"/>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EBF6B3B-B643-4C45-BE12-2F92893548C1}"/>
              </a:ext>
            </a:extLst>
          </p:cNvPr>
          <p:cNvSpPr/>
          <p:nvPr/>
        </p:nvSpPr>
        <p:spPr bwMode="auto">
          <a:xfrm>
            <a:off x="234072" y="1246562"/>
            <a:ext cx="11132848" cy="185356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sz="2400" dirty="0"/>
              <a:t>1962</a:t>
            </a:r>
            <a:r>
              <a:rPr lang="zh-CN" altLang="en-US" sz="2400" dirty="0"/>
              <a:t>年哈佛大学</a:t>
            </a:r>
            <a:r>
              <a:rPr lang="en" altLang="zh-CN" sz="2400" dirty="0"/>
              <a:t>Hubel</a:t>
            </a:r>
            <a:r>
              <a:rPr lang="zh-CN" altLang="en-US" sz="2400" dirty="0"/>
              <a:t>与</a:t>
            </a:r>
            <a:r>
              <a:rPr lang="en" altLang="zh-CN" sz="2400" dirty="0"/>
              <a:t>Wiesel</a:t>
            </a:r>
            <a:r>
              <a:rPr lang="zh-CN" altLang="en-US" sz="2400" dirty="0"/>
              <a:t>通过猫视觉皮层实验发现，后端神经元仅对视网膜特定局部区域的光刺激产生反应。这一发现证明了视觉处理存在“感知野（</a:t>
            </a:r>
            <a:r>
              <a:rPr lang="en" altLang="zh-CN" sz="2400" dirty="0"/>
              <a:t>Receptive Field</a:t>
            </a:r>
            <a:r>
              <a:rPr lang="zh-CN" altLang="en" sz="2400" dirty="0"/>
              <a:t>）”</a:t>
            </a:r>
            <a:r>
              <a:rPr lang="zh-CN" altLang="en-US" sz="2400" dirty="0"/>
              <a:t>机制，即神经元只感知局部特征而非全局，为卷积神经网络的局部连接和层次化特征提取奠定了生物学基础。</a:t>
            </a:r>
            <a:endParaRPr kumimoji="1" lang="zh-CN" altLang="en-US" sz="2400" dirty="0"/>
          </a:p>
        </p:txBody>
      </p:sp>
      <p:sp>
        <p:nvSpPr>
          <p:cNvPr id="114" name="object 5">
            <a:extLst>
              <a:ext uri="{FF2B5EF4-FFF2-40B4-BE49-F238E27FC236}">
                <a16:creationId xmlns:a16="http://schemas.microsoft.com/office/drawing/2014/main" id="{FA43993D-CC9D-AB5E-45B6-7AB93C7DFD32}"/>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仿生学：感知野的启示</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1026" name="Picture 2" descr="视觉机制探秘-CSDN博客">
            <a:extLst>
              <a:ext uri="{FF2B5EF4-FFF2-40B4-BE49-F238E27FC236}">
                <a16:creationId xmlns:a16="http://schemas.microsoft.com/office/drawing/2014/main" id="{C15248C6-5148-D3FB-F07C-CC2AF092B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723" y="3280001"/>
            <a:ext cx="4916445" cy="345443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B9C0139F-3FB6-45AE-B3AE-9323F9B747A7}"/>
              </a:ext>
            </a:extLst>
          </p:cNvPr>
          <p:cNvSpPr/>
          <p:nvPr/>
        </p:nvSpPr>
        <p:spPr bwMode="auto">
          <a:xfrm>
            <a:off x="6096000" y="4448432"/>
            <a:ext cx="5211140" cy="91587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神经元没有必要对图像进行全局感知，而只需感知图像的局部</a:t>
            </a:r>
            <a:endParaRPr kumimoji="1" lang="zh-CN" altLang="en-US" sz="2400" dirty="0"/>
          </a:p>
        </p:txBody>
      </p:sp>
    </p:spTree>
    <p:extLst>
      <p:ext uri="{BB962C8B-B14F-4D97-AF65-F5344CB8AC3E}">
        <p14:creationId xmlns:p14="http://schemas.microsoft.com/office/powerpoint/2010/main" val="608803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B18DB-26F5-01B9-9B12-8B23AA9A05EB}"/>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F13FF8E1-C8F4-7234-0DA2-6C53B07CAAE8}"/>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FEB9B20-DC2C-B9E1-E342-46761346C2A4}"/>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8AA5E55-B591-89AB-B777-8F5E6A0FF9E3}"/>
              </a:ext>
            </a:extLst>
          </p:cNvPr>
          <p:cNvSpPr/>
          <p:nvPr/>
        </p:nvSpPr>
        <p:spPr bwMode="auto">
          <a:xfrm>
            <a:off x="234072" y="1394843"/>
            <a:ext cx="11132848" cy="124950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卷积核是一个包含权重的矩阵。卷积计算的单步过程是将卷积核内的每一个权重与其覆盖的像素值一一对应相乘，最后将所有乘积结果累加（点内积）。</a:t>
            </a:r>
            <a:endParaRPr kumimoji="1" lang="zh-CN" altLang="en-US" sz="2400" dirty="0"/>
          </a:p>
        </p:txBody>
      </p:sp>
      <p:sp>
        <p:nvSpPr>
          <p:cNvPr id="114" name="object 5">
            <a:extLst>
              <a:ext uri="{FF2B5EF4-FFF2-40B4-BE49-F238E27FC236}">
                <a16:creationId xmlns:a16="http://schemas.microsoft.com/office/drawing/2014/main" id="{BAD3221B-10CD-0130-02D1-6B8C58E8884D}"/>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卷积计算</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2" name="组合 1">
            <a:extLst>
              <a:ext uri="{FF2B5EF4-FFF2-40B4-BE49-F238E27FC236}">
                <a16:creationId xmlns:a16="http://schemas.microsoft.com/office/drawing/2014/main" id="{F2E241C3-0603-23C4-65E0-B42A5801543D}"/>
              </a:ext>
            </a:extLst>
          </p:cNvPr>
          <p:cNvGrpSpPr/>
          <p:nvPr/>
        </p:nvGrpSpPr>
        <p:grpSpPr>
          <a:xfrm>
            <a:off x="1162553" y="3843157"/>
            <a:ext cx="1635752" cy="1620000"/>
            <a:chOff x="962844" y="3252651"/>
            <a:chExt cx="1635752" cy="1620000"/>
          </a:xfrm>
        </p:grpSpPr>
        <p:sp>
          <p:nvSpPr>
            <p:cNvPr id="3" name="矩形 2">
              <a:extLst>
                <a:ext uri="{FF2B5EF4-FFF2-40B4-BE49-F238E27FC236}">
                  <a16:creationId xmlns:a16="http://schemas.microsoft.com/office/drawing/2014/main" id="{6A4DCADB-4463-70ED-4F6C-A02ED7F696EF}"/>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0CAE7EEF-067C-F215-671E-436A3671D7CF}"/>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5" name="矩形 4">
              <a:extLst>
                <a:ext uri="{FF2B5EF4-FFF2-40B4-BE49-F238E27FC236}">
                  <a16:creationId xmlns:a16="http://schemas.microsoft.com/office/drawing/2014/main" id="{FDEAA43E-6F87-2A4D-41E1-F121ED0B52FE}"/>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A7969E0F-CA33-B4DE-4BBC-BD204EAAC37E}"/>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7" name="矩形 6">
              <a:extLst>
                <a:ext uri="{FF2B5EF4-FFF2-40B4-BE49-F238E27FC236}">
                  <a16:creationId xmlns:a16="http://schemas.microsoft.com/office/drawing/2014/main" id="{F2FE2767-F717-EA95-0980-C3C59262301F}"/>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3BB3BF83-704F-5D06-1076-2D65A656EC7D}"/>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10" name="矩形 9">
              <a:extLst>
                <a:ext uri="{FF2B5EF4-FFF2-40B4-BE49-F238E27FC236}">
                  <a16:creationId xmlns:a16="http://schemas.microsoft.com/office/drawing/2014/main" id="{D90C20C8-5D80-870C-5A45-D88F8C2C3425}"/>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C65BA0B5-CA63-81D5-3FDE-183EC21A3774}"/>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12" name="矩形 11">
              <a:extLst>
                <a:ext uri="{FF2B5EF4-FFF2-40B4-BE49-F238E27FC236}">
                  <a16:creationId xmlns:a16="http://schemas.microsoft.com/office/drawing/2014/main" id="{E1BE1C6E-EFC8-6CAC-90FC-35B5F572F730}"/>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FDFF6A79-A52A-B4AD-FDC0-C1ED575FCCCF}"/>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14" name="矩形 13">
              <a:extLst>
                <a:ext uri="{FF2B5EF4-FFF2-40B4-BE49-F238E27FC236}">
                  <a16:creationId xmlns:a16="http://schemas.microsoft.com/office/drawing/2014/main" id="{F8341D38-FE2E-5871-BAD8-408AC3698033}"/>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15" name="矩形 14">
              <a:extLst>
                <a:ext uri="{FF2B5EF4-FFF2-40B4-BE49-F238E27FC236}">
                  <a16:creationId xmlns:a16="http://schemas.microsoft.com/office/drawing/2014/main" id="{918299EE-9590-34F3-31AC-311B92CEC818}"/>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21C05D7B-7FDB-19CC-D5FA-BDBD5ECE55CB}"/>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17" name="矩形 16">
              <a:extLst>
                <a:ext uri="{FF2B5EF4-FFF2-40B4-BE49-F238E27FC236}">
                  <a16:creationId xmlns:a16="http://schemas.microsoft.com/office/drawing/2014/main" id="{2D6D80D6-C4FD-1537-848B-2FFB5D7C4224}"/>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65185A62-96D5-1CA7-0C94-18860057E565}"/>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19" name="矩形 18">
              <a:extLst>
                <a:ext uri="{FF2B5EF4-FFF2-40B4-BE49-F238E27FC236}">
                  <a16:creationId xmlns:a16="http://schemas.microsoft.com/office/drawing/2014/main" id="{77030643-3A52-1AA8-5082-2F34C403AD0D}"/>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69442C25-9E33-8387-DE41-259282A94C7A}"/>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21" name="矩形 20">
            <a:extLst>
              <a:ext uri="{FF2B5EF4-FFF2-40B4-BE49-F238E27FC236}">
                <a16:creationId xmlns:a16="http://schemas.microsoft.com/office/drawing/2014/main" id="{65CCFB23-0528-07C0-114D-211E7514C832}"/>
              </a:ext>
            </a:extLst>
          </p:cNvPr>
          <p:cNvSpPr/>
          <p:nvPr/>
        </p:nvSpPr>
        <p:spPr>
          <a:xfrm>
            <a:off x="1162553" y="3843157"/>
            <a:ext cx="1095752" cy="10800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4E5710C8-8C2A-0DD1-1E34-BE776D124DBD}"/>
              </a:ext>
            </a:extLst>
          </p:cNvPr>
          <p:cNvSpPr txBox="1"/>
          <p:nvPr/>
        </p:nvSpPr>
        <p:spPr>
          <a:xfrm>
            <a:off x="3190088" y="4472488"/>
            <a:ext cx="327334" cy="369332"/>
          </a:xfrm>
          <a:prstGeom prst="rect">
            <a:avLst/>
          </a:prstGeom>
          <a:noFill/>
        </p:spPr>
        <p:txBody>
          <a:bodyPr wrap="none" rtlCol="0">
            <a:spAutoFit/>
          </a:bodyPr>
          <a:lstStyle/>
          <a:p>
            <a:r>
              <a:rPr kumimoji="1" lang="en-US" altLang="zh-CN" b="1" dirty="0"/>
              <a:t>X</a:t>
            </a:r>
            <a:endParaRPr kumimoji="1" lang="zh-CN" altLang="en-US" b="1" dirty="0"/>
          </a:p>
        </p:txBody>
      </p:sp>
      <p:grpSp>
        <p:nvGrpSpPr>
          <p:cNvPr id="44" name="组合 43">
            <a:extLst>
              <a:ext uri="{FF2B5EF4-FFF2-40B4-BE49-F238E27FC236}">
                <a16:creationId xmlns:a16="http://schemas.microsoft.com/office/drawing/2014/main" id="{5675D062-6E75-DD6D-6E47-D30888C257DC}"/>
              </a:ext>
            </a:extLst>
          </p:cNvPr>
          <p:cNvGrpSpPr/>
          <p:nvPr/>
        </p:nvGrpSpPr>
        <p:grpSpPr>
          <a:xfrm>
            <a:off x="3921170" y="4113157"/>
            <a:ext cx="1500406" cy="1080000"/>
            <a:chOff x="3494450" y="3843157"/>
            <a:chExt cx="1500406" cy="1080000"/>
          </a:xfrm>
        </p:grpSpPr>
        <p:sp>
          <p:nvSpPr>
            <p:cNvPr id="24" name="矩形 23">
              <a:extLst>
                <a:ext uri="{FF2B5EF4-FFF2-40B4-BE49-F238E27FC236}">
                  <a16:creationId xmlns:a16="http://schemas.microsoft.com/office/drawing/2014/main" id="{706A5C8D-037D-1247-EA1A-A08B8BC715E2}"/>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BA741ADB-BCC8-7B0F-3EF1-218A0D286D7F}"/>
                </a:ext>
              </a:extLst>
            </p:cNvPr>
            <p:cNvSpPr txBox="1"/>
            <p:nvPr/>
          </p:nvSpPr>
          <p:spPr>
            <a:xfrm>
              <a:off x="3600408" y="3929618"/>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26" name="矩形 25">
              <a:extLst>
                <a:ext uri="{FF2B5EF4-FFF2-40B4-BE49-F238E27FC236}">
                  <a16:creationId xmlns:a16="http://schemas.microsoft.com/office/drawing/2014/main" id="{AC1334C8-32FF-94D3-24B4-3800D1A25F7E}"/>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ACECFBB7-C8BC-D1CA-AFBB-640C0EBA6D69}"/>
                </a:ext>
              </a:extLst>
            </p:cNvPr>
            <p:cNvSpPr txBox="1"/>
            <p:nvPr/>
          </p:nvSpPr>
          <p:spPr>
            <a:xfrm>
              <a:off x="4140408" y="3929618"/>
              <a:ext cx="306494" cy="369332"/>
            </a:xfrm>
            <a:prstGeom prst="rect">
              <a:avLst/>
            </a:prstGeom>
            <a:noFill/>
          </p:spPr>
          <p:txBody>
            <a:bodyPr wrap="none" rtlCol="0">
              <a:spAutoFit/>
            </a:bodyPr>
            <a:lstStyle/>
            <a:p>
              <a:r>
                <a:rPr kumimoji="1" lang="en-US" altLang="zh-CN" dirty="0"/>
                <a:t>0</a:t>
              </a:r>
              <a:endParaRPr kumimoji="1" lang="zh-CN" altLang="en-US" dirty="0"/>
            </a:p>
          </p:txBody>
        </p:sp>
        <p:sp>
          <p:nvSpPr>
            <p:cNvPr id="30" name="矩形 29">
              <a:extLst>
                <a:ext uri="{FF2B5EF4-FFF2-40B4-BE49-F238E27FC236}">
                  <a16:creationId xmlns:a16="http://schemas.microsoft.com/office/drawing/2014/main" id="{00DA1C16-B33B-DA08-BC16-378BC09FD176}"/>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31" name="文本框 30">
              <a:extLst>
                <a:ext uri="{FF2B5EF4-FFF2-40B4-BE49-F238E27FC236}">
                  <a16:creationId xmlns:a16="http://schemas.microsoft.com/office/drawing/2014/main" id="{2224EF44-B844-A026-8A92-A34629CEB963}"/>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32" name="矩形 31">
              <a:extLst>
                <a:ext uri="{FF2B5EF4-FFF2-40B4-BE49-F238E27FC236}">
                  <a16:creationId xmlns:a16="http://schemas.microsoft.com/office/drawing/2014/main" id="{A2AC8E1A-90BB-9FE3-0500-087F5E75D7F4}"/>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811DC68B-198C-077B-8C61-B27EC64FB07C}"/>
                </a:ext>
              </a:extLst>
            </p:cNvPr>
            <p:cNvSpPr txBox="1"/>
            <p:nvPr/>
          </p:nvSpPr>
          <p:spPr>
            <a:xfrm>
              <a:off x="4151221" y="4495864"/>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43" name="文本框 42">
              <a:extLst>
                <a:ext uri="{FF2B5EF4-FFF2-40B4-BE49-F238E27FC236}">
                  <a16:creationId xmlns:a16="http://schemas.microsoft.com/office/drawing/2014/main" id="{B9102620-B6DE-C169-2C50-4C9D5FE6CB60}"/>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
        <p:nvSpPr>
          <p:cNvPr id="45" name="文本框 44">
            <a:extLst>
              <a:ext uri="{FF2B5EF4-FFF2-40B4-BE49-F238E27FC236}">
                <a16:creationId xmlns:a16="http://schemas.microsoft.com/office/drawing/2014/main" id="{CA25A056-4A43-F389-4330-CB8805A9E85B}"/>
              </a:ext>
            </a:extLst>
          </p:cNvPr>
          <p:cNvSpPr txBox="1"/>
          <p:nvPr/>
        </p:nvSpPr>
        <p:spPr>
          <a:xfrm>
            <a:off x="5263574" y="4464416"/>
            <a:ext cx="344966" cy="369332"/>
          </a:xfrm>
          <a:prstGeom prst="rect">
            <a:avLst/>
          </a:prstGeom>
          <a:noFill/>
        </p:spPr>
        <p:txBody>
          <a:bodyPr wrap="none" rtlCol="0">
            <a:spAutoFit/>
          </a:bodyPr>
          <a:lstStyle/>
          <a:p>
            <a:r>
              <a:rPr kumimoji="1" lang="en-US" altLang="zh-CN" b="1" dirty="0"/>
              <a:t>=</a:t>
            </a:r>
            <a:endParaRPr kumimoji="1" lang="zh-CN" altLang="en-US" b="1" dirty="0"/>
          </a:p>
        </p:txBody>
      </p:sp>
      <p:sp>
        <p:nvSpPr>
          <p:cNvPr id="56" name="文本框 55">
            <a:extLst>
              <a:ext uri="{FF2B5EF4-FFF2-40B4-BE49-F238E27FC236}">
                <a16:creationId xmlns:a16="http://schemas.microsoft.com/office/drawing/2014/main" id="{EAE8B534-75F7-61F0-3732-664589A7B751}"/>
              </a:ext>
            </a:extLst>
          </p:cNvPr>
          <p:cNvSpPr txBox="1"/>
          <p:nvPr/>
        </p:nvSpPr>
        <p:spPr>
          <a:xfrm>
            <a:off x="5657232" y="4464416"/>
            <a:ext cx="3252814" cy="369332"/>
          </a:xfrm>
          <a:prstGeom prst="rect">
            <a:avLst/>
          </a:prstGeom>
          <a:noFill/>
        </p:spPr>
        <p:txBody>
          <a:bodyPr wrap="none" rtlCol="0">
            <a:spAutoFit/>
          </a:bodyPr>
          <a:lstStyle/>
          <a:p>
            <a:r>
              <a:rPr kumimoji="1" lang="en-US" altLang="zh-CN" dirty="0"/>
              <a:t>26</a:t>
            </a:r>
            <a:r>
              <a:rPr kumimoji="1" lang="zh-CN" altLang="en-US" dirty="0"/>
              <a:t>*</a:t>
            </a:r>
            <a:r>
              <a:rPr kumimoji="1" lang="en-US" altLang="zh-CN" dirty="0"/>
              <a:t>1+120</a:t>
            </a:r>
            <a:r>
              <a:rPr kumimoji="1" lang="zh-CN" altLang="en-US" dirty="0"/>
              <a:t>*</a:t>
            </a:r>
            <a:r>
              <a:rPr kumimoji="1" lang="en-US" altLang="zh-CN" dirty="0"/>
              <a:t>0+56</a:t>
            </a:r>
            <a:r>
              <a:rPr kumimoji="1" lang="zh-CN" altLang="en-US" dirty="0"/>
              <a:t>*</a:t>
            </a:r>
            <a:r>
              <a:rPr kumimoji="1" lang="en-US" altLang="zh-CN" dirty="0"/>
              <a:t>0+76</a:t>
            </a:r>
            <a:r>
              <a:rPr kumimoji="1" lang="zh-CN" altLang="en-US" dirty="0"/>
              <a:t>*</a:t>
            </a:r>
            <a:r>
              <a:rPr kumimoji="1" lang="en-US" altLang="zh-CN" dirty="0"/>
              <a:t>1</a:t>
            </a:r>
            <a:r>
              <a:rPr kumimoji="1" lang="zh-CN" altLang="en-US" dirty="0"/>
              <a:t> </a:t>
            </a:r>
            <a:r>
              <a:rPr kumimoji="1" lang="en-US" altLang="zh-CN" b="1" dirty="0"/>
              <a:t>=</a:t>
            </a:r>
            <a:r>
              <a:rPr kumimoji="1" lang="zh-CN" altLang="en-US" dirty="0"/>
              <a:t> </a:t>
            </a:r>
            <a:r>
              <a:rPr kumimoji="1" lang="en-US" altLang="zh-CN" dirty="0"/>
              <a:t>102</a:t>
            </a:r>
            <a:endParaRPr kumimoji="1" lang="zh-CN" altLang="en-US" dirty="0"/>
          </a:p>
        </p:txBody>
      </p:sp>
    </p:spTree>
    <p:extLst>
      <p:ext uri="{BB962C8B-B14F-4D97-AF65-F5344CB8AC3E}">
        <p14:creationId xmlns:p14="http://schemas.microsoft.com/office/powerpoint/2010/main" val="359352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9D74D-48F9-568C-A006-B6715A72C676}"/>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A05F6CDA-933F-03BB-B195-820FA8DA40C4}"/>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426ECF6F-3079-F135-0148-45CC78AAF6E7}"/>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A4C6689-FF15-F9CB-9339-3CE6673CDD85}"/>
              </a:ext>
            </a:extLst>
          </p:cNvPr>
          <p:cNvSpPr/>
          <p:nvPr/>
        </p:nvSpPr>
        <p:spPr bwMode="auto">
          <a:xfrm>
            <a:off x="234072" y="1394843"/>
            <a:ext cx="11480850" cy="124950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卷积核在原始图像上由左至右、由上至下平滑移动。每滑动一步，就重复一次单步计算，最终将所有的输出值按空间位置排列，形成一张新的二维矩阵，即特征图</a:t>
            </a:r>
            <a:r>
              <a:rPr lang="zh-CN" altLang="en" sz="2400" dirty="0"/>
              <a:t>。</a:t>
            </a:r>
            <a:endParaRPr kumimoji="1" lang="zh-CN" altLang="en-US" sz="2400" dirty="0"/>
          </a:p>
        </p:txBody>
      </p:sp>
      <p:sp>
        <p:nvSpPr>
          <p:cNvPr id="114" name="object 5">
            <a:extLst>
              <a:ext uri="{FF2B5EF4-FFF2-40B4-BE49-F238E27FC236}">
                <a16:creationId xmlns:a16="http://schemas.microsoft.com/office/drawing/2014/main" id="{A10FD909-BC98-1556-FF1A-2C5AC2FF77B2}"/>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卷积计算</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50" name="组合 49">
            <a:extLst>
              <a:ext uri="{FF2B5EF4-FFF2-40B4-BE49-F238E27FC236}">
                <a16:creationId xmlns:a16="http://schemas.microsoft.com/office/drawing/2014/main" id="{F1AD532E-09C0-F4C7-61F9-D0585792BD70}"/>
              </a:ext>
            </a:extLst>
          </p:cNvPr>
          <p:cNvGrpSpPr/>
          <p:nvPr/>
        </p:nvGrpSpPr>
        <p:grpSpPr>
          <a:xfrm>
            <a:off x="2988972" y="3429000"/>
            <a:ext cx="6214055" cy="1620000"/>
            <a:chOff x="3012581" y="3843157"/>
            <a:chExt cx="6214055" cy="1620000"/>
          </a:xfrm>
        </p:grpSpPr>
        <p:grpSp>
          <p:nvGrpSpPr>
            <p:cNvPr id="2" name="组合 1">
              <a:extLst>
                <a:ext uri="{FF2B5EF4-FFF2-40B4-BE49-F238E27FC236}">
                  <a16:creationId xmlns:a16="http://schemas.microsoft.com/office/drawing/2014/main" id="{3CD29FBE-FF25-5CB2-1282-FE037D866A5C}"/>
                </a:ext>
              </a:extLst>
            </p:cNvPr>
            <p:cNvGrpSpPr/>
            <p:nvPr/>
          </p:nvGrpSpPr>
          <p:grpSpPr>
            <a:xfrm>
              <a:off x="3012581" y="3843157"/>
              <a:ext cx="1635752" cy="1620000"/>
              <a:chOff x="962844" y="3252651"/>
              <a:chExt cx="1635752" cy="1620000"/>
            </a:xfrm>
          </p:grpSpPr>
          <p:sp>
            <p:nvSpPr>
              <p:cNvPr id="3" name="矩形 2">
                <a:extLst>
                  <a:ext uri="{FF2B5EF4-FFF2-40B4-BE49-F238E27FC236}">
                    <a16:creationId xmlns:a16="http://schemas.microsoft.com/office/drawing/2014/main" id="{4F54E18D-D639-1D23-13A8-576AFB678DE3}"/>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600C32E5-A834-2F2A-96F0-F727A1956C44}"/>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5" name="矩形 4">
                <a:extLst>
                  <a:ext uri="{FF2B5EF4-FFF2-40B4-BE49-F238E27FC236}">
                    <a16:creationId xmlns:a16="http://schemas.microsoft.com/office/drawing/2014/main" id="{8C790A52-4FAA-FBF3-5AA8-1F2D0B2519D8}"/>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72CCFE23-E8F1-AB3E-220A-96562937222B}"/>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7" name="矩形 6">
                <a:extLst>
                  <a:ext uri="{FF2B5EF4-FFF2-40B4-BE49-F238E27FC236}">
                    <a16:creationId xmlns:a16="http://schemas.microsoft.com/office/drawing/2014/main" id="{73B71507-AADE-B465-CB79-44586224D4C3}"/>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348CEB72-7D1A-10E1-0B91-23463DEF993C}"/>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10" name="矩形 9">
                <a:extLst>
                  <a:ext uri="{FF2B5EF4-FFF2-40B4-BE49-F238E27FC236}">
                    <a16:creationId xmlns:a16="http://schemas.microsoft.com/office/drawing/2014/main" id="{E405CBF5-B373-3A8F-70FD-D10528EC66E2}"/>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01427700-55E3-44D3-2030-ECC5054B2873}"/>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12" name="矩形 11">
                <a:extLst>
                  <a:ext uri="{FF2B5EF4-FFF2-40B4-BE49-F238E27FC236}">
                    <a16:creationId xmlns:a16="http://schemas.microsoft.com/office/drawing/2014/main" id="{59AE7C06-808E-3B12-4965-869788BE1B7B}"/>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C4ED5E1B-82E6-E672-77B5-03389B75CE94}"/>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14" name="矩形 13">
                <a:extLst>
                  <a:ext uri="{FF2B5EF4-FFF2-40B4-BE49-F238E27FC236}">
                    <a16:creationId xmlns:a16="http://schemas.microsoft.com/office/drawing/2014/main" id="{390026AD-3ADE-E099-FA34-29870E24D30E}"/>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15" name="矩形 14">
                <a:extLst>
                  <a:ext uri="{FF2B5EF4-FFF2-40B4-BE49-F238E27FC236}">
                    <a16:creationId xmlns:a16="http://schemas.microsoft.com/office/drawing/2014/main" id="{D3E7A45A-5C2C-F30B-32A7-8D0803D4E96F}"/>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A665B917-8AD9-D4D6-A274-9546F9927866}"/>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17" name="矩形 16">
                <a:extLst>
                  <a:ext uri="{FF2B5EF4-FFF2-40B4-BE49-F238E27FC236}">
                    <a16:creationId xmlns:a16="http://schemas.microsoft.com/office/drawing/2014/main" id="{C81F77B5-BAB3-DA41-D8A9-10E74A4137A9}"/>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03C1F074-17B3-FA68-744F-C107F996540F}"/>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19" name="矩形 18">
                <a:extLst>
                  <a:ext uri="{FF2B5EF4-FFF2-40B4-BE49-F238E27FC236}">
                    <a16:creationId xmlns:a16="http://schemas.microsoft.com/office/drawing/2014/main" id="{D6677BD2-FCEE-06CF-1A4C-6DB9A5AB1E08}"/>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18B4D971-216E-CF8A-AB1D-54D032DB077D}"/>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21" name="矩形 20">
              <a:extLst>
                <a:ext uri="{FF2B5EF4-FFF2-40B4-BE49-F238E27FC236}">
                  <a16:creationId xmlns:a16="http://schemas.microsoft.com/office/drawing/2014/main" id="{C2A4C74B-6B47-C488-EBA1-682BB30F6043}"/>
                </a:ext>
              </a:extLst>
            </p:cNvPr>
            <p:cNvSpPr/>
            <p:nvPr/>
          </p:nvSpPr>
          <p:spPr>
            <a:xfrm>
              <a:off x="3012581" y="3843157"/>
              <a:ext cx="1095752" cy="10800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764C51FE-5FCD-8ABF-16D6-D7B3749541D1}"/>
                </a:ext>
              </a:extLst>
            </p:cNvPr>
            <p:cNvSpPr txBox="1"/>
            <p:nvPr/>
          </p:nvSpPr>
          <p:spPr>
            <a:xfrm>
              <a:off x="5045393" y="4505081"/>
              <a:ext cx="327334" cy="369332"/>
            </a:xfrm>
            <a:prstGeom prst="rect">
              <a:avLst/>
            </a:prstGeom>
            <a:noFill/>
          </p:spPr>
          <p:txBody>
            <a:bodyPr wrap="none" rtlCol="0">
              <a:spAutoFit/>
            </a:bodyPr>
            <a:lstStyle/>
            <a:p>
              <a:r>
                <a:rPr kumimoji="1" lang="en-US" altLang="zh-CN" b="1" dirty="0"/>
                <a:t>X</a:t>
              </a:r>
              <a:endParaRPr kumimoji="1" lang="zh-CN" altLang="en-US" b="1" dirty="0"/>
            </a:p>
          </p:txBody>
        </p:sp>
        <p:grpSp>
          <p:nvGrpSpPr>
            <p:cNvPr id="44" name="组合 43">
              <a:extLst>
                <a:ext uri="{FF2B5EF4-FFF2-40B4-BE49-F238E27FC236}">
                  <a16:creationId xmlns:a16="http://schemas.microsoft.com/office/drawing/2014/main" id="{7C572683-1F7C-64C8-9DD0-DECDED17C839}"/>
                </a:ext>
              </a:extLst>
            </p:cNvPr>
            <p:cNvGrpSpPr/>
            <p:nvPr/>
          </p:nvGrpSpPr>
          <p:grpSpPr>
            <a:xfrm>
              <a:off x="5776475" y="4145750"/>
              <a:ext cx="1500406" cy="1080000"/>
              <a:chOff x="3494450" y="3843157"/>
              <a:chExt cx="1500406" cy="1080000"/>
            </a:xfrm>
          </p:grpSpPr>
          <p:sp>
            <p:nvSpPr>
              <p:cNvPr id="24" name="矩形 23">
                <a:extLst>
                  <a:ext uri="{FF2B5EF4-FFF2-40B4-BE49-F238E27FC236}">
                    <a16:creationId xmlns:a16="http://schemas.microsoft.com/office/drawing/2014/main" id="{85A7E2DF-7314-3BA1-83A1-E0A949809BC9}"/>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EEAE1E13-1CC4-6296-D956-84CED0EFD18A}"/>
                  </a:ext>
                </a:extLst>
              </p:cNvPr>
              <p:cNvSpPr txBox="1"/>
              <p:nvPr/>
            </p:nvSpPr>
            <p:spPr>
              <a:xfrm>
                <a:off x="3600408" y="3929618"/>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26" name="矩形 25">
                <a:extLst>
                  <a:ext uri="{FF2B5EF4-FFF2-40B4-BE49-F238E27FC236}">
                    <a16:creationId xmlns:a16="http://schemas.microsoft.com/office/drawing/2014/main" id="{CCD9510A-FCC8-0130-0256-B31DAD821629}"/>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FF281B65-9847-50A3-8D4F-D0C5E7628915}"/>
                  </a:ext>
                </a:extLst>
              </p:cNvPr>
              <p:cNvSpPr txBox="1"/>
              <p:nvPr/>
            </p:nvSpPr>
            <p:spPr>
              <a:xfrm>
                <a:off x="4140408" y="3929618"/>
                <a:ext cx="306494" cy="369332"/>
              </a:xfrm>
              <a:prstGeom prst="rect">
                <a:avLst/>
              </a:prstGeom>
              <a:noFill/>
            </p:spPr>
            <p:txBody>
              <a:bodyPr wrap="none" rtlCol="0">
                <a:spAutoFit/>
              </a:bodyPr>
              <a:lstStyle/>
              <a:p>
                <a:r>
                  <a:rPr kumimoji="1" lang="en-US" altLang="zh-CN" dirty="0"/>
                  <a:t>0</a:t>
                </a:r>
                <a:endParaRPr kumimoji="1" lang="zh-CN" altLang="en-US" dirty="0"/>
              </a:p>
            </p:txBody>
          </p:sp>
          <p:sp>
            <p:nvSpPr>
              <p:cNvPr id="30" name="矩形 29">
                <a:extLst>
                  <a:ext uri="{FF2B5EF4-FFF2-40B4-BE49-F238E27FC236}">
                    <a16:creationId xmlns:a16="http://schemas.microsoft.com/office/drawing/2014/main" id="{54B3A288-613E-CA5D-0C02-8882F8113284}"/>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31" name="文本框 30">
                <a:extLst>
                  <a:ext uri="{FF2B5EF4-FFF2-40B4-BE49-F238E27FC236}">
                    <a16:creationId xmlns:a16="http://schemas.microsoft.com/office/drawing/2014/main" id="{72E6D37B-6C47-92A0-3FA8-A24583517D4A}"/>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32" name="矩形 31">
                <a:extLst>
                  <a:ext uri="{FF2B5EF4-FFF2-40B4-BE49-F238E27FC236}">
                    <a16:creationId xmlns:a16="http://schemas.microsoft.com/office/drawing/2014/main" id="{0D4184D6-B7B8-3A4E-A1AB-2E826FA82B02}"/>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C1DE2AAC-FD50-A829-1D43-7EB079011528}"/>
                  </a:ext>
                </a:extLst>
              </p:cNvPr>
              <p:cNvSpPr txBox="1"/>
              <p:nvPr/>
            </p:nvSpPr>
            <p:spPr>
              <a:xfrm>
                <a:off x="4151221" y="4495864"/>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43" name="文本框 42">
                <a:extLst>
                  <a:ext uri="{FF2B5EF4-FFF2-40B4-BE49-F238E27FC236}">
                    <a16:creationId xmlns:a16="http://schemas.microsoft.com/office/drawing/2014/main" id="{0E133C87-1B3B-E2D6-6670-3B6714845EF4}"/>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
          <p:nvSpPr>
            <p:cNvPr id="45" name="文本框 44">
              <a:extLst>
                <a:ext uri="{FF2B5EF4-FFF2-40B4-BE49-F238E27FC236}">
                  <a16:creationId xmlns:a16="http://schemas.microsoft.com/office/drawing/2014/main" id="{3C52395B-901B-7705-CEBF-4ABB8598F5A8}"/>
                </a:ext>
              </a:extLst>
            </p:cNvPr>
            <p:cNvSpPr txBox="1"/>
            <p:nvPr/>
          </p:nvSpPr>
          <p:spPr>
            <a:xfrm>
              <a:off x="7118879" y="4497009"/>
              <a:ext cx="344966" cy="369332"/>
            </a:xfrm>
            <a:prstGeom prst="rect">
              <a:avLst/>
            </a:prstGeom>
            <a:noFill/>
          </p:spPr>
          <p:txBody>
            <a:bodyPr wrap="none" rtlCol="0">
              <a:spAutoFit/>
            </a:bodyPr>
            <a:lstStyle/>
            <a:p>
              <a:r>
                <a:rPr kumimoji="1" lang="en-US" altLang="zh-CN" b="1" dirty="0"/>
                <a:t>=</a:t>
              </a:r>
              <a:endParaRPr kumimoji="1" lang="zh-CN" altLang="en-US" b="1" dirty="0"/>
            </a:p>
          </p:txBody>
        </p:sp>
        <p:grpSp>
          <p:nvGrpSpPr>
            <p:cNvPr id="34" name="组合 33">
              <a:extLst>
                <a:ext uri="{FF2B5EF4-FFF2-40B4-BE49-F238E27FC236}">
                  <a16:creationId xmlns:a16="http://schemas.microsoft.com/office/drawing/2014/main" id="{B694AA70-FB31-1FBB-6342-CD70C14B52DE}"/>
                </a:ext>
              </a:extLst>
            </p:cNvPr>
            <p:cNvGrpSpPr/>
            <p:nvPr/>
          </p:nvGrpSpPr>
          <p:grpSpPr>
            <a:xfrm>
              <a:off x="7726230" y="4149747"/>
              <a:ext cx="1500406" cy="1080000"/>
              <a:chOff x="3494450" y="3843157"/>
              <a:chExt cx="1500406" cy="1080000"/>
            </a:xfrm>
          </p:grpSpPr>
          <p:sp>
            <p:nvSpPr>
              <p:cNvPr id="37" name="矩形 36">
                <a:extLst>
                  <a:ext uri="{FF2B5EF4-FFF2-40B4-BE49-F238E27FC236}">
                    <a16:creationId xmlns:a16="http://schemas.microsoft.com/office/drawing/2014/main" id="{6200291E-E559-ABB9-7660-3118AE589C62}"/>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57A8AAFB-074A-10F3-7EDD-B9721B4ABFEB}"/>
                  </a:ext>
                </a:extLst>
              </p:cNvPr>
              <p:cNvSpPr txBox="1"/>
              <p:nvPr/>
            </p:nvSpPr>
            <p:spPr>
              <a:xfrm>
                <a:off x="3496989" y="3929618"/>
                <a:ext cx="550151" cy="369332"/>
              </a:xfrm>
              <a:prstGeom prst="rect">
                <a:avLst/>
              </a:prstGeom>
              <a:noFill/>
            </p:spPr>
            <p:txBody>
              <a:bodyPr wrap="none" rtlCol="0">
                <a:spAutoFit/>
              </a:bodyPr>
              <a:lstStyle/>
              <a:p>
                <a:r>
                  <a:rPr kumimoji="1" lang="en-US" altLang="zh-CN" dirty="0"/>
                  <a:t>102</a:t>
                </a:r>
                <a:endParaRPr kumimoji="1" lang="zh-CN" altLang="en-US" dirty="0"/>
              </a:p>
            </p:txBody>
          </p:sp>
          <p:sp>
            <p:nvSpPr>
              <p:cNvPr id="39" name="矩形 38">
                <a:extLst>
                  <a:ext uri="{FF2B5EF4-FFF2-40B4-BE49-F238E27FC236}">
                    <a16:creationId xmlns:a16="http://schemas.microsoft.com/office/drawing/2014/main" id="{EF63EA8E-8DB1-E316-4CFE-477D7D16C0C6}"/>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1317CC45-CD14-4BE0-26FA-17CFA5F27449}"/>
                  </a:ext>
                </a:extLst>
              </p:cNvPr>
              <p:cNvSpPr txBox="1"/>
              <p:nvPr/>
            </p:nvSpPr>
            <p:spPr>
              <a:xfrm>
                <a:off x="4140408" y="3929618"/>
                <a:ext cx="184731" cy="369332"/>
              </a:xfrm>
              <a:prstGeom prst="rect">
                <a:avLst/>
              </a:prstGeom>
              <a:noFill/>
            </p:spPr>
            <p:txBody>
              <a:bodyPr wrap="none" rtlCol="0">
                <a:spAutoFit/>
              </a:bodyPr>
              <a:lstStyle/>
              <a:p>
                <a:endParaRPr kumimoji="1" lang="zh-CN" altLang="en-US" dirty="0"/>
              </a:p>
            </p:txBody>
          </p:sp>
          <p:sp>
            <p:nvSpPr>
              <p:cNvPr id="41" name="矩形 40">
                <a:extLst>
                  <a:ext uri="{FF2B5EF4-FFF2-40B4-BE49-F238E27FC236}">
                    <a16:creationId xmlns:a16="http://schemas.microsoft.com/office/drawing/2014/main" id="{658EE048-9F3B-78BA-6972-87FAB34DEBF5}"/>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42" name="文本框 41">
                <a:extLst>
                  <a:ext uri="{FF2B5EF4-FFF2-40B4-BE49-F238E27FC236}">
                    <a16:creationId xmlns:a16="http://schemas.microsoft.com/office/drawing/2014/main" id="{C0545EEF-4F3B-E5AC-F639-5BF0A75C0560}"/>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46" name="矩形 45">
                <a:extLst>
                  <a:ext uri="{FF2B5EF4-FFF2-40B4-BE49-F238E27FC236}">
                    <a16:creationId xmlns:a16="http://schemas.microsoft.com/office/drawing/2014/main" id="{709237FB-8682-2784-E769-664B6CA4E1BB}"/>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6EEFAD7F-94A2-598F-64F6-20BCC4119599}"/>
                  </a:ext>
                </a:extLst>
              </p:cNvPr>
              <p:cNvSpPr txBox="1"/>
              <p:nvPr/>
            </p:nvSpPr>
            <p:spPr>
              <a:xfrm>
                <a:off x="4151221" y="4495864"/>
                <a:ext cx="184731" cy="369332"/>
              </a:xfrm>
              <a:prstGeom prst="rect">
                <a:avLst/>
              </a:prstGeom>
              <a:noFill/>
            </p:spPr>
            <p:txBody>
              <a:bodyPr wrap="none" rtlCol="0">
                <a:spAutoFit/>
              </a:bodyPr>
              <a:lstStyle/>
              <a:p>
                <a:endParaRPr kumimoji="1" lang="zh-CN" altLang="en-US" dirty="0"/>
              </a:p>
            </p:txBody>
          </p:sp>
          <p:sp>
            <p:nvSpPr>
              <p:cNvPr id="48" name="文本框 47">
                <a:extLst>
                  <a:ext uri="{FF2B5EF4-FFF2-40B4-BE49-F238E27FC236}">
                    <a16:creationId xmlns:a16="http://schemas.microsoft.com/office/drawing/2014/main" id="{E45FFA57-9208-AB0C-ACA2-606B2F9CB664}"/>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grpSp>
    </p:spTree>
    <p:extLst>
      <p:ext uri="{BB962C8B-B14F-4D97-AF65-F5344CB8AC3E}">
        <p14:creationId xmlns:p14="http://schemas.microsoft.com/office/powerpoint/2010/main" val="3242857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5691D-93EF-6132-963A-FDF343010A03}"/>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36629897-9B86-3182-9788-EAE341540241}"/>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FC5DD859-3679-2997-B093-1DD0807CB488}"/>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E45117D-0178-69AE-14B3-2A003A0E86A4}"/>
              </a:ext>
            </a:extLst>
          </p:cNvPr>
          <p:cNvSpPr/>
          <p:nvPr/>
        </p:nvSpPr>
        <p:spPr bwMode="auto">
          <a:xfrm>
            <a:off x="234072" y="1394843"/>
            <a:ext cx="11480850" cy="124950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卷积核在原始图像上由左至右、由上至下平滑移动。每滑动一步，就重复一次单步计算，最终将所有的输出值按空间位置排列，形成一张新的二维矩阵，即特征图</a:t>
            </a:r>
            <a:r>
              <a:rPr lang="zh-CN" altLang="en" sz="2400" dirty="0"/>
              <a:t>。</a:t>
            </a:r>
            <a:endParaRPr kumimoji="1" lang="zh-CN" altLang="en-US" sz="2400" dirty="0"/>
          </a:p>
        </p:txBody>
      </p:sp>
      <p:sp>
        <p:nvSpPr>
          <p:cNvPr id="114" name="object 5">
            <a:extLst>
              <a:ext uri="{FF2B5EF4-FFF2-40B4-BE49-F238E27FC236}">
                <a16:creationId xmlns:a16="http://schemas.microsoft.com/office/drawing/2014/main" id="{98699C26-E570-F93C-475B-89A3FC0C8A77}"/>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卷积计算</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2" name="组合 1">
            <a:extLst>
              <a:ext uri="{FF2B5EF4-FFF2-40B4-BE49-F238E27FC236}">
                <a16:creationId xmlns:a16="http://schemas.microsoft.com/office/drawing/2014/main" id="{0B71B9DA-E316-9B4C-B759-31E42927B292}"/>
              </a:ext>
            </a:extLst>
          </p:cNvPr>
          <p:cNvGrpSpPr/>
          <p:nvPr/>
        </p:nvGrpSpPr>
        <p:grpSpPr>
          <a:xfrm>
            <a:off x="2988972" y="3429000"/>
            <a:ext cx="1635752" cy="1620000"/>
            <a:chOff x="962844" y="3252651"/>
            <a:chExt cx="1635752" cy="1620000"/>
          </a:xfrm>
        </p:grpSpPr>
        <p:sp>
          <p:nvSpPr>
            <p:cNvPr id="3" name="矩形 2">
              <a:extLst>
                <a:ext uri="{FF2B5EF4-FFF2-40B4-BE49-F238E27FC236}">
                  <a16:creationId xmlns:a16="http://schemas.microsoft.com/office/drawing/2014/main" id="{B4169D93-FA82-A564-1D4E-F5C03A73A4AF}"/>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A7AF87FA-BB56-2AB1-BFEA-93A7F0BA3C53}"/>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5" name="矩形 4">
              <a:extLst>
                <a:ext uri="{FF2B5EF4-FFF2-40B4-BE49-F238E27FC236}">
                  <a16:creationId xmlns:a16="http://schemas.microsoft.com/office/drawing/2014/main" id="{F0B0711B-4382-BAE3-469F-6AB4D1194417}"/>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DD60717D-D8EC-44D0-3E72-2B22C24EB6A6}"/>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7" name="矩形 6">
              <a:extLst>
                <a:ext uri="{FF2B5EF4-FFF2-40B4-BE49-F238E27FC236}">
                  <a16:creationId xmlns:a16="http://schemas.microsoft.com/office/drawing/2014/main" id="{62A93748-452C-E199-115D-96CA719F9917}"/>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19B0F775-E6C4-7CCF-4FFF-3F33853DC8C1}"/>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10" name="矩形 9">
              <a:extLst>
                <a:ext uri="{FF2B5EF4-FFF2-40B4-BE49-F238E27FC236}">
                  <a16:creationId xmlns:a16="http://schemas.microsoft.com/office/drawing/2014/main" id="{DF61107E-78D4-4C61-0FC7-F45C0E97550A}"/>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C6F993FB-5D6B-B54B-3903-F836D916B76F}"/>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12" name="矩形 11">
              <a:extLst>
                <a:ext uri="{FF2B5EF4-FFF2-40B4-BE49-F238E27FC236}">
                  <a16:creationId xmlns:a16="http://schemas.microsoft.com/office/drawing/2014/main" id="{A0CE332C-0291-CDD8-C0CF-DA656C621FCD}"/>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E5B815A-E17E-1026-1AFB-989467DC610B}"/>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14" name="矩形 13">
              <a:extLst>
                <a:ext uri="{FF2B5EF4-FFF2-40B4-BE49-F238E27FC236}">
                  <a16:creationId xmlns:a16="http://schemas.microsoft.com/office/drawing/2014/main" id="{FD35A05B-8956-CBC9-A9F4-F039E854BBA7}"/>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15" name="矩形 14">
              <a:extLst>
                <a:ext uri="{FF2B5EF4-FFF2-40B4-BE49-F238E27FC236}">
                  <a16:creationId xmlns:a16="http://schemas.microsoft.com/office/drawing/2014/main" id="{16180F4A-D887-49A9-B769-D23391DFD5A3}"/>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48089E1D-4DB8-588F-A17D-4B148CA274C6}"/>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17" name="矩形 16">
              <a:extLst>
                <a:ext uri="{FF2B5EF4-FFF2-40B4-BE49-F238E27FC236}">
                  <a16:creationId xmlns:a16="http://schemas.microsoft.com/office/drawing/2014/main" id="{B6C15427-8EAA-4D4C-8D20-0C4BC5E44FB7}"/>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34AC06B7-B544-E956-A082-1682A2D7BD92}"/>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19" name="矩形 18">
              <a:extLst>
                <a:ext uri="{FF2B5EF4-FFF2-40B4-BE49-F238E27FC236}">
                  <a16:creationId xmlns:a16="http://schemas.microsoft.com/office/drawing/2014/main" id="{0253144F-C380-E022-3F9C-509CC19EF686}"/>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AAD9C646-E0F9-D14A-C442-8CD9F1F086C5}"/>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21" name="矩形 20">
            <a:extLst>
              <a:ext uri="{FF2B5EF4-FFF2-40B4-BE49-F238E27FC236}">
                <a16:creationId xmlns:a16="http://schemas.microsoft.com/office/drawing/2014/main" id="{94345E34-8CFD-95D6-8153-38F9A4CE9B05}"/>
              </a:ext>
            </a:extLst>
          </p:cNvPr>
          <p:cNvSpPr/>
          <p:nvPr/>
        </p:nvSpPr>
        <p:spPr>
          <a:xfrm>
            <a:off x="3534573" y="3429000"/>
            <a:ext cx="1095752" cy="10800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F702F222-640D-6543-52FF-0CB1B609C602}"/>
              </a:ext>
            </a:extLst>
          </p:cNvPr>
          <p:cNvSpPr txBox="1"/>
          <p:nvPr/>
        </p:nvSpPr>
        <p:spPr>
          <a:xfrm>
            <a:off x="5021784" y="4090924"/>
            <a:ext cx="327334" cy="369332"/>
          </a:xfrm>
          <a:prstGeom prst="rect">
            <a:avLst/>
          </a:prstGeom>
          <a:noFill/>
        </p:spPr>
        <p:txBody>
          <a:bodyPr wrap="none" rtlCol="0">
            <a:spAutoFit/>
          </a:bodyPr>
          <a:lstStyle/>
          <a:p>
            <a:r>
              <a:rPr kumimoji="1" lang="en-US" altLang="zh-CN" b="1" dirty="0"/>
              <a:t>X</a:t>
            </a:r>
            <a:endParaRPr kumimoji="1" lang="zh-CN" altLang="en-US" b="1" dirty="0"/>
          </a:p>
        </p:txBody>
      </p:sp>
      <p:grpSp>
        <p:nvGrpSpPr>
          <p:cNvPr id="44" name="组合 43">
            <a:extLst>
              <a:ext uri="{FF2B5EF4-FFF2-40B4-BE49-F238E27FC236}">
                <a16:creationId xmlns:a16="http://schemas.microsoft.com/office/drawing/2014/main" id="{7446E315-0BD9-E44C-C7E7-FEC7B38F9983}"/>
              </a:ext>
            </a:extLst>
          </p:cNvPr>
          <p:cNvGrpSpPr/>
          <p:nvPr/>
        </p:nvGrpSpPr>
        <p:grpSpPr>
          <a:xfrm>
            <a:off x="5752866" y="3731593"/>
            <a:ext cx="1500406" cy="1080000"/>
            <a:chOff x="3494450" y="3843157"/>
            <a:chExt cx="1500406" cy="1080000"/>
          </a:xfrm>
        </p:grpSpPr>
        <p:sp>
          <p:nvSpPr>
            <p:cNvPr id="24" name="矩形 23">
              <a:extLst>
                <a:ext uri="{FF2B5EF4-FFF2-40B4-BE49-F238E27FC236}">
                  <a16:creationId xmlns:a16="http://schemas.microsoft.com/office/drawing/2014/main" id="{48CDEB40-0118-B60C-DECC-812C50A6BA97}"/>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3C37C5A1-6ACD-DD92-18FC-E8418535980C}"/>
                </a:ext>
              </a:extLst>
            </p:cNvPr>
            <p:cNvSpPr txBox="1"/>
            <p:nvPr/>
          </p:nvSpPr>
          <p:spPr>
            <a:xfrm>
              <a:off x="3600408" y="3929618"/>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26" name="矩形 25">
              <a:extLst>
                <a:ext uri="{FF2B5EF4-FFF2-40B4-BE49-F238E27FC236}">
                  <a16:creationId xmlns:a16="http://schemas.microsoft.com/office/drawing/2014/main" id="{F233CBC0-449B-AB48-FD84-A38793D44D1D}"/>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D40A13C3-0C1D-AEDD-6AED-33313D23C19F}"/>
                </a:ext>
              </a:extLst>
            </p:cNvPr>
            <p:cNvSpPr txBox="1"/>
            <p:nvPr/>
          </p:nvSpPr>
          <p:spPr>
            <a:xfrm>
              <a:off x="4140408" y="3929618"/>
              <a:ext cx="306494" cy="369332"/>
            </a:xfrm>
            <a:prstGeom prst="rect">
              <a:avLst/>
            </a:prstGeom>
            <a:noFill/>
          </p:spPr>
          <p:txBody>
            <a:bodyPr wrap="none" rtlCol="0">
              <a:spAutoFit/>
            </a:bodyPr>
            <a:lstStyle/>
            <a:p>
              <a:r>
                <a:rPr kumimoji="1" lang="en-US" altLang="zh-CN" dirty="0"/>
                <a:t>0</a:t>
              </a:r>
              <a:endParaRPr kumimoji="1" lang="zh-CN" altLang="en-US" dirty="0"/>
            </a:p>
          </p:txBody>
        </p:sp>
        <p:sp>
          <p:nvSpPr>
            <p:cNvPr id="30" name="矩形 29">
              <a:extLst>
                <a:ext uri="{FF2B5EF4-FFF2-40B4-BE49-F238E27FC236}">
                  <a16:creationId xmlns:a16="http://schemas.microsoft.com/office/drawing/2014/main" id="{F31EE764-5D76-1965-7AD2-0D38F03FA5A8}"/>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31" name="文本框 30">
              <a:extLst>
                <a:ext uri="{FF2B5EF4-FFF2-40B4-BE49-F238E27FC236}">
                  <a16:creationId xmlns:a16="http://schemas.microsoft.com/office/drawing/2014/main" id="{6CE69331-ACB0-FE98-C05F-A4565F8DDFC9}"/>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32" name="矩形 31">
              <a:extLst>
                <a:ext uri="{FF2B5EF4-FFF2-40B4-BE49-F238E27FC236}">
                  <a16:creationId xmlns:a16="http://schemas.microsoft.com/office/drawing/2014/main" id="{D926E16A-8FA3-6DF2-AAA5-D8F5D67B1E08}"/>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F00AC163-A5BB-F200-64C8-85F08CE85E71}"/>
                </a:ext>
              </a:extLst>
            </p:cNvPr>
            <p:cNvSpPr txBox="1"/>
            <p:nvPr/>
          </p:nvSpPr>
          <p:spPr>
            <a:xfrm>
              <a:off x="4151221" y="4495864"/>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43" name="文本框 42">
              <a:extLst>
                <a:ext uri="{FF2B5EF4-FFF2-40B4-BE49-F238E27FC236}">
                  <a16:creationId xmlns:a16="http://schemas.microsoft.com/office/drawing/2014/main" id="{6ECAC9F5-F7E2-C894-179F-22D9BAA3B2CD}"/>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
        <p:nvSpPr>
          <p:cNvPr id="45" name="文本框 44">
            <a:extLst>
              <a:ext uri="{FF2B5EF4-FFF2-40B4-BE49-F238E27FC236}">
                <a16:creationId xmlns:a16="http://schemas.microsoft.com/office/drawing/2014/main" id="{A026935E-0C95-09BA-6838-BED0BBEB9782}"/>
              </a:ext>
            </a:extLst>
          </p:cNvPr>
          <p:cNvSpPr txBox="1"/>
          <p:nvPr/>
        </p:nvSpPr>
        <p:spPr>
          <a:xfrm>
            <a:off x="7095270" y="4082852"/>
            <a:ext cx="344966" cy="369332"/>
          </a:xfrm>
          <a:prstGeom prst="rect">
            <a:avLst/>
          </a:prstGeom>
          <a:noFill/>
        </p:spPr>
        <p:txBody>
          <a:bodyPr wrap="none" rtlCol="0">
            <a:spAutoFit/>
          </a:bodyPr>
          <a:lstStyle/>
          <a:p>
            <a:r>
              <a:rPr kumimoji="1" lang="en-US" altLang="zh-CN" b="1" dirty="0"/>
              <a:t>=</a:t>
            </a:r>
            <a:endParaRPr kumimoji="1" lang="zh-CN" altLang="en-US" b="1" dirty="0"/>
          </a:p>
        </p:txBody>
      </p:sp>
      <p:grpSp>
        <p:nvGrpSpPr>
          <p:cNvPr id="34" name="组合 33">
            <a:extLst>
              <a:ext uri="{FF2B5EF4-FFF2-40B4-BE49-F238E27FC236}">
                <a16:creationId xmlns:a16="http://schemas.microsoft.com/office/drawing/2014/main" id="{6B236B17-7B36-6583-A0C7-336174A2D4FC}"/>
              </a:ext>
            </a:extLst>
          </p:cNvPr>
          <p:cNvGrpSpPr/>
          <p:nvPr/>
        </p:nvGrpSpPr>
        <p:grpSpPr>
          <a:xfrm>
            <a:off x="7702621" y="3731593"/>
            <a:ext cx="1500406" cy="1080000"/>
            <a:chOff x="3494450" y="3843157"/>
            <a:chExt cx="1500406" cy="1080000"/>
          </a:xfrm>
        </p:grpSpPr>
        <p:sp>
          <p:nvSpPr>
            <p:cNvPr id="37" name="矩形 36">
              <a:extLst>
                <a:ext uri="{FF2B5EF4-FFF2-40B4-BE49-F238E27FC236}">
                  <a16:creationId xmlns:a16="http://schemas.microsoft.com/office/drawing/2014/main" id="{D207BEB0-6A63-4F18-4067-F205711E4345}"/>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EE131885-045C-4739-D649-7AEE31AEBA84}"/>
                </a:ext>
              </a:extLst>
            </p:cNvPr>
            <p:cNvSpPr txBox="1"/>
            <p:nvPr/>
          </p:nvSpPr>
          <p:spPr>
            <a:xfrm>
              <a:off x="3496989" y="3929618"/>
              <a:ext cx="550151" cy="369332"/>
            </a:xfrm>
            <a:prstGeom prst="rect">
              <a:avLst/>
            </a:prstGeom>
            <a:noFill/>
          </p:spPr>
          <p:txBody>
            <a:bodyPr wrap="none" rtlCol="0">
              <a:spAutoFit/>
            </a:bodyPr>
            <a:lstStyle/>
            <a:p>
              <a:r>
                <a:rPr kumimoji="1" lang="en-US" altLang="zh-CN" dirty="0"/>
                <a:t>102</a:t>
              </a:r>
              <a:endParaRPr kumimoji="1" lang="zh-CN" altLang="en-US" dirty="0"/>
            </a:p>
          </p:txBody>
        </p:sp>
        <p:sp>
          <p:nvSpPr>
            <p:cNvPr id="39" name="矩形 38">
              <a:extLst>
                <a:ext uri="{FF2B5EF4-FFF2-40B4-BE49-F238E27FC236}">
                  <a16:creationId xmlns:a16="http://schemas.microsoft.com/office/drawing/2014/main" id="{203D46F8-7FEF-6EBE-333F-D518399B7550}"/>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AF922D4E-C4EE-39BC-522F-0B3D24F846DE}"/>
                </a:ext>
              </a:extLst>
            </p:cNvPr>
            <p:cNvSpPr txBox="1"/>
            <p:nvPr/>
          </p:nvSpPr>
          <p:spPr>
            <a:xfrm>
              <a:off x="4034450" y="3936597"/>
              <a:ext cx="550151" cy="369332"/>
            </a:xfrm>
            <a:prstGeom prst="rect">
              <a:avLst/>
            </a:prstGeom>
            <a:noFill/>
          </p:spPr>
          <p:txBody>
            <a:bodyPr wrap="none" rtlCol="0">
              <a:spAutoFit/>
            </a:bodyPr>
            <a:lstStyle/>
            <a:p>
              <a:r>
                <a:rPr kumimoji="1" lang="en-US" altLang="zh-CN" dirty="0"/>
                <a:t>219</a:t>
              </a:r>
              <a:endParaRPr kumimoji="1" lang="zh-CN" altLang="en-US" dirty="0"/>
            </a:p>
          </p:txBody>
        </p:sp>
        <p:sp>
          <p:nvSpPr>
            <p:cNvPr id="41" name="矩形 40">
              <a:extLst>
                <a:ext uri="{FF2B5EF4-FFF2-40B4-BE49-F238E27FC236}">
                  <a16:creationId xmlns:a16="http://schemas.microsoft.com/office/drawing/2014/main" id="{5BB60938-FAD5-C88C-04A7-B5A472253C79}"/>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42" name="文本框 41">
              <a:extLst>
                <a:ext uri="{FF2B5EF4-FFF2-40B4-BE49-F238E27FC236}">
                  <a16:creationId xmlns:a16="http://schemas.microsoft.com/office/drawing/2014/main" id="{496B8FDB-655B-0F44-B545-7FD6A992D571}"/>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46" name="矩形 45">
              <a:extLst>
                <a:ext uri="{FF2B5EF4-FFF2-40B4-BE49-F238E27FC236}">
                  <a16:creationId xmlns:a16="http://schemas.microsoft.com/office/drawing/2014/main" id="{3E20AA59-3E46-7009-F89A-8205B900B7EC}"/>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7FC208CF-154C-998F-CB06-10DEA40BCE25}"/>
                </a:ext>
              </a:extLst>
            </p:cNvPr>
            <p:cNvSpPr txBox="1"/>
            <p:nvPr/>
          </p:nvSpPr>
          <p:spPr>
            <a:xfrm>
              <a:off x="4151221" y="4495864"/>
              <a:ext cx="184731" cy="369332"/>
            </a:xfrm>
            <a:prstGeom prst="rect">
              <a:avLst/>
            </a:prstGeom>
            <a:noFill/>
          </p:spPr>
          <p:txBody>
            <a:bodyPr wrap="none" rtlCol="0">
              <a:spAutoFit/>
            </a:bodyPr>
            <a:lstStyle/>
            <a:p>
              <a:endParaRPr kumimoji="1" lang="zh-CN" altLang="en-US" dirty="0"/>
            </a:p>
          </p:txBody>
        </p:sp>
        <p:sp>
          <p:nvSpPr>
            <p:cNvPr id="48" name="文本框 47">
              <a:extLst>
                <a:ext uri="{FF2B5EF4-FFF2-40B4-BE49-F238E27FC236}">
                  <a16:creationId xmlns:a16="http://schemas.microsoft.com/office/drawing/2014/main" id="{D133AAAE-2864-1543-F737-90D8121F6832}"/>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Tree>
    <p:extLst>
      <p:ext uri="{BB962C8B-B14F-4D97-AF65-F5344CB8AC3E}">
        <p14:creationId xmlns:p14="http://schemas.microsoft.com/office/powerpoint/2010/main" val="1238126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9A2ED-4A71-F9A5-888D-F112231A4871}"/>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290091DC-8C1B-4224-1330-B7B36FAA4B9D}"/>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A9F0E577-F309-315C-59EA-1C45AC0A1543}"/>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0C81188-0F97-9577-6409-E18A9FC9CB28}"/>
              </a:ext>
            </a:extLst>
          </p:cNvPr>
          <p:cNvSpPr/>
          <p:nvPr/>
        </p:nvSpPr>
        <p:spPr bwMode="auto">
          <a:xfrm>
            <a:off x="234072" y="1394843"/>
            <a:ext cx="11480850" cy="124950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卷积核在原始图像上由左至右、由上至下平滑移动。每滑动一步，就重复一次单步计算，最终将所有的输出值按空间位置排列，形成一张新的二维矩阵，即特征图</a:t>
            </a:r>
            <a:r>
              <a:rPr lang="zh-CN" altLang="en" sz="2400" dirty="0"/>
              <a:t>。</a:t>
            </a:r>
            <a:endParaRPr kumimoji="1" lang="zh-CN" altLang="en-US" sz="2400" dirty="0"/>
          </a:p>
        </p:txBody>
      </p:sp>
      <p:sp>
        <p:nvSpPr>
          <p:cNvPr id="114" name="object 5">
            <a:extLst>
              <a:ext uri="{FF2B5EF4-FFF2-40B4-BE49-F238E27FC236}">
                <a16:creationId xmlns:a16="http://schemas.microsoft.com/office/drawing/2014/main" id="{2C987234-1EA3-2471-5E20-B4BFA5EFAE82}"/>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卷积计算</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23" name="组合 22">
            <a:extLst>
              <a:ext uri="{FF2B5EF4-FFF2-40B4-BE49-F238E27FC236}">
                <a16:creationId xmlns:a16="http://schemas.microsoft.com/office/drawing/2014/main" id="{4A4D98D3-14FA-E3C8-A320-B84D16F3C76D}"/>
              </a:ext>
            </a:extLst>
          </p:cNvPr>
          <p:cNvGrpSpPr/>
          <p:nvPr/>
        </p:nvGrpSpPr>
        <p:grpSpPr>
          <a:xfrm>
            <a:off x="2867469" y="3429000"/>
            <a:ext cx="6214055" cy="1620000"/>
            <a:chOff x="2463983" y="3843157"/>
            <a:chExt cx="6214055" cy="1620000"/>
          </a:xfrm>
        </p:grpSpPr>
        <p:grpSp>
          <p:nvGrpSpPr>
            <p:cNvPr id="2" name="组合 1">
              <a:extLst>
                <a:ext uri="{FF2B5EF4-FFF2-40B4-BE49-F238E27FC236}">
                  <a16:creationId xmlns:a16="http://schemas.microsoft.com/office/drawing/2014/main" id="{D6B85AA5-E83D-54E1-8C5C-4BA98821EFFF}"/>
                </a:ext>
              </a:extLst>
            </p:cNvPr>
            <p:cNvGrpSpPr/>
            <p:nvPr/>
          </p:nvGrpSpPr>
          <p:grpSpPr>
            <a:xfrm>
              <a:off x="2463983" y="3843157"/>
              <a:ext cx="1635752" cy="1620000"/>
              <a:chOff x="962844" y="3252651"/>
              <a:chExt cx="1635752" cy="1620000"/>
            </a:xfrm>
          </p:grpSpPr>
          <p:sp>
            <p:nvSpPr>
              <p:cNvPr id="3" name="矩形 2">
                <a:extLst>
                  <a:ext uri="{FF2B5EF4-FFF2-40B4-BE49-F238E27FC236}">
                    <a16:creationId xmlns:a16="http://schemas.microsoft.com/office/drawing/2014/main" id="{B3BAF620-E572-D601-EDD8-97DE5B5C668F}"/>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230315D5-859C-42AD-4E90-D54DAD3E93FB}"/>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5" name="矩形 4">
                <a:extLst>
                  <a:ext uri="{FF2B5EF4-FFF2-40B4-BE49-F238E27FC236}">
                    <a16:creationId xmlns:a16="http://schemas.microsoft.com/office/drawing/2014/main" id="{09AB6F37-D614-7831-34E6-AB64C0EED24E}"/>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14848E6F-2337-8093-0407-7C5AFEF6EEA4}"/>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7" name="矩形 6">
                <a:extLst>
                  <a:ext uri="{FF2B5EF4-FFF2-40B4-BE49-F238E27FC236}">
                    <a16:creationId xmlns:a16="http://schemas.microsoft.com/office/drawing/2014/main" id="{95CB38AF-8B68-5629-F497-6A78C8947BAF}"/>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0F5D7975-0E82-62F7-F717-F7347AB8DE92}"/>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10" name="矩形 9">
                <a:extLst>
                  <a:ext uri="{FF2B5EF4-FFF2-40B4-BE49-F238E27FC236}">
                    <a16:creationId xmlns:a16="http://schemas.microsoft.com/office/drawing/2014/main" id="{77DB6286-2CFD-F750-2731-5DB87B25E07E}"/>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CCA52921-F029-5C0E-347E-556B4371EAAA}"/>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12" name="矩形 11">
                <a:extLst>
                  <a:ext uri="{FF2B5EF4-FFF2-40B4-BE49-F238E27FC236}">
                    <a16:creationId xmlns:a16="http://schemas.microsoft.com/office/drawing/2014/main" id="{96126BA2-45BD-827B-6D59-371613EDF263}"/>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7A629910-0FE2-E539-F849-0DB9BF1175FF}"/>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14" name="矩形 13">
                <a:extLst>
                  <a:ext uri="{FF2B5EF4-FFF2-40B4-BE49-F238E27FC236}">
                    <a16:creationId xmlns:a16="http://schemas.microsoft.com/office/drawing/2014/main" id="{48D1EE48-1D10-2D36-DBA5-507DEFD8AC5E}"/>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15" name="矩形 14">
                <a:extLst>
                  <a:ext uri="{FF2B5EF4-FFF2-40B4-BE49-F238E27FC236}">
                    <a16:creationId xmlns:a16="http://schemas.microsoft.com/office/drawing/2014/main" id="{51724F1C-73A9-C5EF-4745-C187FAB7F47E}"/>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7629122E-CE89-67D1-F331-1676796629A6}"/>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17" name="矩形 16">
                <a:extLst>
                  <a:ext uri="{FF2B5EF4-FFF2-40B4-BE49-F238E27FC236}">
                    <a16:creationId xmlns:a16="http://schemas.microsoft.com/office/drawing/2014/main" id="{C2C1DCF1-91A1-FCF0-A751-009A16D7C854}"/>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DBA15011-19F4-B2A4-CB6A-E8EE0F3F29B3}"/>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19" name="矩形 18">
                <a:extLst>
                  <a:ext uri="{FF2B5EF4-FFF2-40B4-BE49-F238E27FC236}">
                    <a16:creationId xmlns:a16="http://schemas.microsoft.com/office/drawing/2014/main" id="{A1702250-8189-2883-ADE1-34682067D91B}"/>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BD46159D-EDC2-0A04-33DA-6D9F5E0B2FBB}"/>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21" name="矩形 20">
              <a:extLst>
                <a:ext uri="{FF2B5EF4-FFF2-40B4-BE49-F238E27FC236}">
                  <a16:creationId xmlns:a16="http://schemas.microsoft.com/office/drawing/2014/main" id="{70DE8610-FF05-6BF8-9F21-3776C09451D7}"/>
                </a:ext>
              </a:extLst>
            </p:cNvPr>
            <p:cNvSpPr/>
            <p:nvPr/>
          </p:nvSpPr>
          <p:spPr>
            <a:xfrm>
              <a:off x="2465233" y="4383157"/>
              <a:ext cx="1095752" cy="10800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FE073BD7-2915-C0A6-72AA-BA5E872E6DA8}"/>
                </a:ext>
              </a:extLst>
            </p:cNvPr>
            <p:cNvSpPr txBox="1"/>
            <p:nvPr/>
          </p:nvSpPr>
          <p:spPr>
            <a:xfrm>
              <a:off x="4496795" y="4505081"/>
              <a:ext cx="327334" cy="369332"/>
            </a:xfrm>
            <a:prstGeom prst="rect">
              <a:avLst/>
            </a:prstGeom>
            <a:noFill/>
          </p:spPr>
          <p:txBody>
            <a:bodyPr wrap="none" rtlCol="0">
              <a:spAutoFit/>
            </a:bodyPr>
            <a:lstStyle/>
            <a:p>
              <a:r>
                <a:rPr kumimoji="1" lang="en-US" altLang="zh-CN" b="1" dirty="0"/>
                <a:t>X</a:t>
              </a:r>
              <a:endParaRPr kumimoji="1" lang="zh-CN" altLang="en-US" b="1" dirty="0"/>
            </a:p>
          </p:txBody>
        </p:sp>
        <p:grpSp>
          <p:nvGrpSpPr>
            <p:cNvPr id="44" name="组合 43">
              <a:extLst>
                <a:ext uri="{FF2B5EF4-FFF2-40B4-BE49-F238E27FC236}">
                  <a16:creationId xmlns:a16="http://schemas.microsoft.com/office/drawing/2014/main" id="{BEFF7AD0-2B5E-BAE0-8C2D-49F1A0F05D11}"/>
                </a:ext>
              </a:extLst>
            </p:cNvPr>
            <p:cNvGrpSpPr/>
            <p:nvPr/>
          </p:nvGrpSpPr>
          <p:grpSpPr>
            <a:xfrm>
              <a:off x="5227877" y="4145750"/>
              <a:ext cx="1500406" cy="1080000"/>
              <a:chOff x="3494450" y="3843157"/>
              <a:chExt cx="1500406" cy="1080000"/>
            </a:xfrm>
          </p:grpSpPr>
          <p:sp>
            <p:nvSpPr>
              <p:cNvPr id="24" name="矩形 23">
                <a:extLst>
                  <a:ext uri="{FF2B5EF4-FFF2-40B4-BE49-F238E27FC236}">
                    <a16:creationId xmlns:a16="http://schemas.microsoft.com/office/drawing/2014/main" id="{DC974740-6940-BB8B-E5D4-159D098ED3B0}"/>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11D0DC23-CA97-25FB-8E30-BFB04D76B072}"/>
                  </a:ext>
                </a:extLst>
              </p:cNvPr>
              <p:cNvSpPr txBox="1"/>
              <p:nvPr/>
            </p:nvSpPr>
            <p:spPr>
              <a:xfrm>
                <a:off x="3600408" y="3929618"/>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26" name="矩形 25">
                <a:extLst>
                  <a:ext uri="{FF2B5EF4-FFF2-40B4-BE49-F238E27FC236}">
                    <a16:creationId xmlns:a16="http://schemas.microsoft.com/office/drawing/2014/main" id="{7F5FAFCA-4539-9BAD-A622-3498E58AB254}"/>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D3519A8F-826C-C4CC-BF95-1BDB2319B7C0}"/>
                  </a:ext>
                </a:extLst>
              </p:cNvPr>
              <p:cNvSpPr txBox="1"/>
              <p:nvPr/>
            </p:nvSpPr>
            <p:spPr>
              <a:xfrm>
                <a:off x="4140408" y="3929618"/>
                <a:ext cx="306494" cy="369332"/>
              </a:xfrm>
              <a:prstGeom prst="rect">
                <a:avLst/>
              </a:prstGeom>
              <a:noFill/>
            </p:spPr>
            <p:txBody>
              <a:bodyPr wrap="none" rtlCol="0">
                <a:spAutoFit/>
              </a:bodyPr>
              <a:lstStyle/>
              <a:p>
                <a:r>
                  <a:rPr kumimoji="1" lang="en-US" altLang="zh-CN" dirty="0"/>
                  <a:t>0</a:t>
                </a:r>
                <a:endParaRPr kumimoji="1" lang="zh-CN" altLang="en-US" dirty="0"/>
              </a:p>
            </p:txBody>
          </p:sp>
          <p:sp>
            <p:nvSpPr>
              <p:cNvPr id="30" name="矩形 29">
                <a:extLst>
                  <a:ext uri="{FF2B5EF4-FFF2-40B4-BE49-F238E27FC236}">
                    <a16:creationId xmlns:a16="http://schemas.microsoft.com/office/drawing/2014/main" id="{2CC8B1F0-7CE9-5FCB-6304-66B36A04998A}"/>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31" name="文本框 30">
                <a:extLst>
                  <a:ext uri="{FF2B5EF4-FFF2-40B4-BE49-F238E27FC236}">
                    <a16:creationId xmlns:a16="http://schemas.microsoft.com/office/drawing/2014/main" id="{347CC34A-C543-017F-D409-6F497A3763CB}"/>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32" name="矩形 31">
                <a:extLst>
                  <a:ext uri="{FF2B5EF4-FFF2-40B4-BE49-F238E27FC236}">
                    <a16:creationId xmlns:a16="http://schemas.microsoft.com/office/drawing/2014/main" id="{37330B1B-7E11-2A9E-0C9C-DCF3D6B41157}"/>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A79B9B8E-FF96-7D24-F6BB-D0D11EC80598}"/>
                  </a:ext>
                </a:extLst>
              </p:cNvPr>
              <p:cNvSpPr txBox="1"/>
              <p:nvPr/>
            </p:nvSpPr>
            <p:spPr>
              <a:xfrm>
                <a:off x="4151221" y="4495864"/>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43" name="文本框 42">
                <a:extLst>
                  <a:ext uri="{FF2B5EF4-FFF2-40B4-BE49-F238E27FC236}">
                    <a16:creationId xmlns:a16="http://schemas.microsoft.com/office/drawing/2014/main" id="{C5E4E24B-757D-3D15-8460-1901F7B9199E}"/>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
          <p:nvSpPr>
            <p:cNvPr id="45" name="文本框 44">
              <a:extLst>
                <a:ext uri="{FF2B5EF4-FFF2-40B4-BE49-F238E27FC236}">
                  <a16:creationId xmlns:a16="http://schemas.microsoft.com/office/drawing/2014/main" id="{CD52B431-E6BB-D501-BF44-C081B2B5FD2B}"/>
                </a:ext>
              </a:extLst>
            </p:cNvPr>
            <p:cNvSpPr txBox="1"/>
            <p:nvPr/>
          </p:nvSpPr>
          <p:spPr>
            <a:xfrm>
              <a:off x="6570281" y="4497009"/>
              <a:ext cx="344966" cy="369332"/>
            </a:xfrm>
            <a:prstGeom prst="rect">
              <a:avLst/>
            </a:prstGeom>
            <a:noFill/>
          </p:spPr>
          <p:txBody>
            <a:bodyPr wrap="none" rtlCol="0">
              <a:spAutoFit/>
            </a:bodyPr>
            <a:lstStyle/>
            <a:p>
              <a:r>
                <a:rPr kumimoji="1" lang="en-US" altLang="zh-CN" b="1" dirty="0"/>
                <a:t>=</a:t>
              </a:r>
              <a:endParaRPr kumimoji="1" lang="zh-CN" altLang="en-US" b="1" dirty="0"/>
            </a:p>
          </p:txBody>
        </p:sp>
        <p:grpSp>
          <p:nvGrpSpPr>
            <p:cNvPr id="34" name="组合 33">
              <a:extLst>
                <a:ext uri="{FF2B5EF4-FFF2-40B4-BE49-F238E27FC236}">
                  <a16:creationId xmlns:a16="http://schemas.microsoft.com/office/drawing/2014/main" id="{25750295-7DA1-C73A-7424-BDB5B9468485}"/>
                </a:ext>
              </a:extLst>
            </p:cNvPr>
            <p:cNvGrpSpPr/>
            <p:nvPr/>
          </p:nvGrpSpPr>
          <p:grpSpPr>
            <a:xfrm>
              <a:off x="7177614" y="4145750"/>
              <a:ext cx="1500424" cy="1080000"/>
              <a:chOff x="3494432" y="3843157"/>
              <a:chExt cx="1500424" cy="1080000"/>
            </a:xfrm>
          </p:grpSpPr>
          <p:sp>
            <p:nvSpPr>
              <p:cNvPr id="37" name="矩形 36">
                <a:extLst>
                  <a:ext uri="{FF2B5EF4-FFF2-40B4-BE49-F238E27FC236}">
                    <a16:creationId xmlns:a16="http://schemas.microsoft.com/office/drawing/2014/main" id="{B82E14E6-7E7E-679B-DFBD-2D48E6A7F06D}"/>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AA22B913-F4B0-9908-FA20-834180DB21AF}"/>
                  </a:ext>
                </a:extLst>
              </p:cNvPr>
              <p:cNvSpPr txBox="1"/>
              <p:nvPr/>
            </p:nvSpPr>
            <p:spPr>
              <a:xfrm>
                <a:off x="3496989" y="3929618"/>
                <a:ext cx="550151" cy="369332"/>
              </a:xfrm>
              <a:prstGeom prst="rect">
                <a:avLst/>
              </a:prstGeom>
              <a:noFill/>
            </p:spPr>
            <p:txBody>
              <a:bodyPr wrap="none" rtlCol="0">
                <a:spAutoFit/>
              </a:bodyPr>
              <a:lstStyle/>
              <a:p>
                <a:r>
                  <a:rPr kumimoji="1" lang="en-US" altLang="zh-CN" dirty="0"/>
                  <a:t>102</a:t>
                </a:r>
                <a:endParaRPr kumimoji="1" lang="zh-CN" altLang="en-US" dirty="0"/>
              </a:p>
            </p:txBody>
          </p:sp>
          <p:sp>
            <p:nvSpPr>
              <p:cNvPr id="39" name="矩形 38">
                <a:extLst>
                  <a:ext uri="{FF2B5EF4-FFF2-40B4-BE49-F238E27FC236}">
                    <a16:creationId xmlns:a16="http://schemas.microsoft.com/office/drawing/2014/main" id="{3B47A587-15D8-3183-A3CD-953A90D251BC}"/>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853BC57F-4893-330C-5BD3-7AD141E9EEA5}"/>
                  </a:ext>
                </a:extLst>
              </p:cNvPr>
              <p:cNvSpPr txBox="1"/>
              <p:nvPr/>
            </p:nvSpPr>
            <p:spPr>
              <a:xfrm>
                <a:off x="4034450" y="3936597"/>
                <a:ext cx="550151" cy="369332"/>
              </a:xfrm>
              <a:prstGeom prst="rect">
                <a:avLst/>
              </a:prstGeom>
              <a:noFill/>
            </p:spPr>
            <p:txBody>
              <a:bodyPr wrap="none" rtlCol="0">
                <a:spAutoFit/>
              </a:bodyPr>
              <a:lstStyle/>
              <a:p>
                <a:r>
                  <a:rPr kumimoji="1" lang="en-US" altLang="zh-CN" dirty="0"/>
                  <a:t>219</a:t>
                </a:r>
                <a:endParaRPr kumimoji="1" lang="zh-CN" altLang="en-US" dirty="0"/>
              </a:p>
            </p:txBody>
          </p:sp>
          <p:sp>
            <p:nvSpPr>
              <p:cNvPr id="41" name="矩形 40">
                <a:extLst>
                  <a:ext uri="{FF2B5EF4-FFF2-40B4-BE49-F238E27FC236}">
                    <a16:creationId xmlns:a16="http://schemas.microsoft.com/office/drawing/2014/main" id="{DF35B4B6-46FE-DA33-4754-EDEF8E8F03CB}"/>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42" name="文本框 41">
                <a:extLst>
                  <a:ext uri="{FF2B5EF4-FFF2-40B4-BE49-F238E27FC236}">
                    <a16:creationId xmlns:a16="http://schemas.microsoft.com/office/drawing/2014/main" id="{11755223-C70E-49B5-E6F9-B80FEC6FE1D0}"/>
                  </a:ext>
                </a:extLst>
              </p:cNvPr>
              <p:cNvSpPr txBox="1"/>
              <p:nvPr/>
            </p:nvSpPr>
            <p:spPr>
              <a:xfrm>
                <a:off x="3494432" y="4487418"/>
                <a:ext cx="550151" cy="369332"/>
              </a:xfrm>
              <a:prstGeom prst="rect">
                <a:avLst/>
              </a:prstGeom>
              <a:noFill/>
            </p:spPr>
            <p:txBody>
              <a:bodyPr wrap="none" rtlCol="0">
                <a:spAutoFit/>
              </a:bodyPr>
              <a:lstStyle/>
              <a:p>
                <a:r>
                  <a:rPr kumimoji="1" lang="en-US" altLang="zh-CN" dirty="0"/>
                  <a:t>162</a:t>
                </a:r>
                <a:endParaRPr kumimoji="1" lang="zh-CN" altLang="en-US" dirty="0"/>
              </a:p>
            </p:txBody>
          </p:sp>
          <p:sp>
            <p:nvSpPr>
              <p:cNvPr id="46" name="矩形 45">
                <a:extLst>
                  <a:ext uri="{FF2B5EF4-FFF2-40B4-BE49-F238E27FC236}">
                    <a16:creationId xmlns:a16="http://schemas.microsoft.com/office/drawing/2014/main" id="{DF84CAB9-07BB-CC5B-33F7-F81FF9D8B661}"/>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8334685C-5D08-9DE5-A329-2901D06B9305}"/>
                  </a:ext>
                </a:extLst>
              </p:cNvPr>
              <p:cNvSpPr txBox="1"/>
              <p:nvPr/>
            </p:nvSpPr>
            <p:spPr>
              <a:xfrm>
                <a:off x="4151221" y="4495864"/>
                <a:ext cx="184731" cy="369332"/>
              </a:xfrm>
              <a:prstGeom prst="rect">
                <a:avLst/>
              </a:prstGeom>
              <a:noFill/>
            </p:spPr>
            <p:txBody>
              <a:bodyPr wrap="none" rtlCol="0">
                <a:spAutoFit/>
              </a:bodyPr>
              <a:lstStyle/>
              <a:p>
                <a:endParaRPr kumimoji="1" lang="zh-CN" altLang="en-US" dirty="0"/>
              </a:p>
            </p:txBody>
          </p:sp>
          <p:sp>
            <p:nvSpPr>
              <p:cNvPr id="48" name="文本框 47">
                <a:extLst>
                  <a:ext uri="{FF2B5EF4-FFF2-40B4-BE49-F238E27FC236}">
                    <a16:creationId xmlns:a16="http://schemas.microsoft.com/office/drawing/2014/main" id="{8C0FB9A8-3D61-3B16-B2D7-3254FE1718A6}"/>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grpSp>
    </p:spTree>
    <p:extLst>
      <p:ext uri="{BB962C8B-B14F-4D97-AF65-F5344CB8AC3E}">
        <p14:creationId xmlns:p14="http://schemas.microsoft.com/office/powerpoint/2010/main" val="3520353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5DE3D-F54D-9531-CDA9-6065578F5219}"/>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80DF617B-6550-C1A5-2B23-F12AC6ADFF69}"/>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CAF43144-68D5-D0CC-9829-786DEA7E1CE2}"/>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0B85DFE-4DEC-0287-5E53-B2D22229FA33}"/>
              </a:ext>
            </a:extLst>
          </p:cNvPr>
          <p:cNvSpPr/>
          <p:nvPr/>
        </p:nvSpPr>
        <p:spPr bwMode="auto">
          <a:xfrm>
            <a:off x="234072" y="1394843"/>
            <a:ext cx="11480850" cy="124950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卷积核在原始图像上由左至右、由上至下平滑移动。每滑动一步，就重复一次单步计算，最终将所有的输出值按空间位置排列，形成一张新的二维矩阵，即特征图</a:t>
            </a:r>
            <a:r>
              <a:rPr lang="zh-CN" altLang="en" sz="2400" dirty="0"/>
              <a:t>。</a:t>
            </a:r>
            <a:endParaRPr kumimoji="1" lang="zh-CN" altLang="en-US" sz="2400" dirty="0"/>
          </a:p>
        </p:txBody>
      </p:sp>
      <p:sp>
        <p:nvSpPr>
          <p:cNvPr id="114" name="object 5">
            <a:extLst>
              <a:ext uri="{FF2B5EF4-FFF2-40B4-BE49-F238E27FC236}">
                <a16:creationId xmlns:a16="http://schemas.microsoft.com/office/drawing/2014/main" id="{1DCEB3C6-2FF2-3659-C725-94D713B44B4D}"/>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卷积计算</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23" name="组合 22">
            <a:extLst>
              <a:ext uri="{FF2B5EF4-FFF2-40B4-BE49-F238E27FC236}">
                <a16:creationId xmlns:a16="http://schemas.microsoft.com/office/drawing/2014/main" id="{4EBD80DB-0717-9BB9-FB4B-E1D71507BB01}"/>
              </a:ext>
            </a:extLst>
          </p:cNvPr>
          <p:cNvGrpSpPr/>
          <p:nvPr/>
        </p:nvGrpSpPr>
        <p:grpSpPr>
          <a:xfrm>
            <a:off x="2867460" y="3429000"/>
            <a:ext cx="6214073" cy="1620000"/>
            <a:chOff x="2721031" y="3843157"/>
            <a:chExt cx="6214073" cy="1620000"/>
          </a:xfrm>
        </p:grpSpPr>
        <p:grpSp>
          <p:nvGrpSpPr>
            <p:cNvPr id="2" name="组合 1">
              <a:extLst>
                <a:ext uri="{FF2B5EF4-FFF2-40B4-BE49-F238E27FC236}">
                  <a16:creationId xmlns:a16="http://schemas.microsoft.com/office/drawing/2014/main" id="{B5B446ED-EAB2-DAB6-DFAE-FEC07E03241A}"/>
                </a:ext>
              </a:extLst>
            </p:cNvPr>
            <p:cNvGrpSpPr/>
            <p:nvPr/>
          </p:nvGrpSpPr>
          <p:grpSpPr>
            <a:xfrm>
              <a:off x="2721031" y="3843157"/>
              <a:ext cx="1635752" cy="1620000"/>
              <a:chOff x="962844" y="3252651"/>
              <a:chExt cx="1635752" cy="1620000"/>
            </a:xfrm>
          </p:grpSpPr>
          <p:sp>
            <p:nvSpPr>
              <p:cNvPr id="3" name="矩形 2">
                <a:extLst>
                  <a:ext uri="{FF2B5EF4-FFF2-40B4-BE49-F238E27FC236}">
                    <a16:creationId xmlns:a16="http://schemas.microsoft.com/office/drawing/2014/main" id="{744CB5F1-B7A2-65FE-270A-8B232D030F76}"/>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DD4338B0-77FA-BA50-5C15-2614D68AFF5F}"/>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5" name="矩形 4">
                <a:extLst>
                  <a:ext uri="{FF2B5EF4-FFF2-40B4-BE49-F238E27FC236}">
                    <a16:creationId xmlns:a16="http://schemas.microsoft.com/office/drawing/2014/main" id="{266C81C4-C4D9-DB4D-48BB-169E360F9711}"/>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B87CF4BD-0EA1-6F33-0940-79F91B377054}"/>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7" name="矩形 6">
                <a:extLst>
                  <a:ext uri="{FF2B5EF4-FFF2-40B4-BE49-F238E27FC236}">
                    <a16:creationId xmlns:a16="http://schemas.microsoft.com/office/drawing/2014/main" id="{A9493729-92F9-88BE-7C8D-A20AA63BC261}"/>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1AAA37A4-6973-D4CA-54B6-80C1F012B717}"/>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10" name="矩形 9">
                <a:extLst>
                  <a:ext uri="{FF2B5EF4-FFF2-40B4-BE49-F238E27FC236}">
                    <a16:creationId xmlns:a16="http://schemas.microsoft.com/office/drawing/2014/main" id="{45F5A0CD-5A06-FE7B-1F5C-89C655521FB7}"/>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9F8EA8C5-45FD-6594-60AA-705629AB2AE7}"/>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12" name="矩形 11">
                <a:extLst>
                  <a:ext uri="{FF2B5EF4-FFF2-40B4-BE49-F238E27FC236}">
                    <a16:creationId xmlns:a16="http://schemas.microsoft.com/office/drawing/2014/main" id="{75344054-7271-892B-C686-286C6528DAC5}"/>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62209FA0-9804-9C92-DEC4-BF76DEA1E988}"/>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14" name="矩形 13">
                <a:extLst>
                  <a:ext uri="{FF2B5EF4-FFF2-40B4-BE49-F238E27FC236}">
                    <a16:creationId xmlns:a16="http://schemas.microsoft.com/office/drawing/2014/main" id="{0D276E32-9D66-DED8-3641-B8B826D4EB80}"/>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15" name="矩形 14">
                <a:extLst>
                  <a:ext uri="{FF2B5EF4-FFF2-40B4-BE49-F238E27FC236}">
                    <a16:creationId xmlns:a16="http://schemas.microsoft.com/office/drawing/2014/main" id="{8248013A-D9C9-0860-AD28-D05509975E1F}"/>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CB83B23E-1527-4911-CE71-D1610F7B3A6D}"/>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17" name="矩形 16">
                <a:extLst>
                  <a:ext uri="{FF2B5EF4-FFF2-40B4-BE49-F238E27FC236}">
                    <a16:creationId xmlns:a16="http://schemas.microsoft.com/office/drawing/2014/main" id="{A0033F65-6A83-31F2-D4A8-53608AC97D89}"/>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C4BCF76B-5196-AFFE-ABE2-A0B6BC3FE8F4}"/>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19" name="矩形 18">
                <a:extLst>
                  <a:ext uri="{FF2B5EF4-FFF2-40B4-BE49-F238E27FC236}">
                    <a16:creationId xmlns:a16="http://schemas.microsoft.com/office/drawing/2014/main" id="{6C9FCEB0-5B8F-0A3D-9BA6-5A4906E8D85F}"/>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EA7EA51-147D-55B6-CFB4-5330CBE6DD51}"/>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21" name="矩形 20">
              <a:extLst>
                <a:ext uri="{FF2B5EF4-FFF2-40B4-BE49-F238E27FC236}">
                  <a16:creationId xmlns:a16="http://schemas.microsoft.com/office/drawing/2014/main" id="{74ED59DD-23F6-2981-3694-84A861B7B795}"/>
                </a:ext>
              </a:extLst>
            </p:cNvPr>
            <p:cNvSpPr/>
            <p:nvPr/>
          </p:nvSpPr>
          <p:spPr>
            <a:xfrm>
              <a:off x="3264094" y="4383157"/>
              <a:ext cx="1095752" cy="10800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1F354159-673D-907F-2A5B-BEA2CDB7520B}"/>
                </a:ext>
              </a:extLst>
            </p:cNvPr>
            <p:cNvSpPr txBox="1"/>
            <p:nvPr/>
          </p:nvSpPr>
          <p:spPr>
            <a:xfrm>
              <a:off x="4753843" y="4505081"/>
              <a:ext cx="327334" cy="369332"/>
            </a:xfrm>
            <a:prstGeom prst="rect">
              <a:avLst/>
            </a:prstGeom>
            <a:noFill/>
          </p:spPr>
          <p:txBody>
            <a:bodyPr wrap="none" rtlCol="0">
              <a:spAutoFit/>
            </a:bodyPr>
            <a:lstStyle/>
            <a:p>
              <a:r>
                <a:rPr kumimoji="1" lang="en-US" altLang="zh-CN" b="1" dirty="0"/>
                <a:t>X</a:t>
              </a:r>
              <a:endParaRPr kumimoji="1" lang="zh-CN" altLang="en-US" b="1" dirty="0"/>
            </a:p>
          </p:txBody>
        </p:sp>
        <p:grpSp>
          <p:nvGrpSpPr>
            <p:cNvPr id="44" name="组合 43">
              <a:extLst>
                <a:ext uri="{FF2B5EF4-FFF2-40B4-BE49-F238E27FC236}">
                  <a16:creationId xmlns:a16="http://schemas.microsoft.com/office/drawing/2014/main" id="{BF9DDF59-21AE-EC7A-AFBF-DF1EE7228A02}"/>
                </a:ext>
              </a:extLst>
            </p:cNvPr>
            <p:cNvGrpSpPr/>
            <p:nvPr/>
          </p:nvGrpSpPr>
          <p:grpSpPr>
            <a:xfrm>
              <a:off x="5484925" y="4145750"/>
              <a:ext cx="1500406" cy="1080000"/>
              <a:chOff x="3494450" y="3843157"/>
              <a:chExt cx="1500406" cy="1080000"/>
            </a:xfrm>
          </p:grpSpPr>
          <p:sp>
            <p:nvSpPr>
              <p:cNvPr id="24" name="矩形 23">
                <a:extLst>
                  <a:ext uri="{FF2B5EF4-FFF2-40B4-BE49-F238E27FC236}">
                    <a16:creationId xmlns:a16="http://schemas.microsoft.com/office/drawing/2014/main" id="{D6B2BF15-C074-83A9-C69B-1D5613391113}"/>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B98738CE-3073-DAD1-3972-50770C7D2459}"/>
                  </a:ext>
                </a:extLst>
              </p:cNvPr>
              <p:cNvSpPr txBox="1"/>
              <p:nvPr/>
            </p:nvSpPr>
            <p:spPr>
              <a:xfrm>
                <a:off x="3600408" y="3929618"/>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26" name="矩形 25">
                <a:extLst>
                  <a:ext uri="{FF2B5EF4-FFF2-40B4-BE49-F238E27FC236}">
                    <a16:creationId xmlns:a16="http://schemas.microsoft.com/office/drawing/2014/main" id="{8EB74A38-A98B-ACBE-60DD-F82BE1C56DEB}"/>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EC1E4193-7243-E5D4-904D-00B71B859346}"/>
                  </a:ext>
                </a:extLst>
              </p:cNvPr>
              <p:cNvSpPr txBox="1"/>
              <p:nvPr/>
            </p:nvSpPr>
            <p:spPr>
              <a:xfrm>
                <a:off x="4140408" y="3929618"/>
                <a:ext cx="306494" cy="369332"/>
              </a:xfrm>
              <a:prstGeom prst="rect">
                <a:avLst/>
              </a:prstGeom>
              <a:noFill/>
            </p:spPr>
            <p:txBody>
              <a:bodyPr wrap="none" rtlCol="0">
                <a:spAutoFit/>
              </a:bodyPr>
              <a:lstStyle/>
              <a:p>
                <a:r>
                  <a:rPr kumimoji="1" lang="en-US" altLang="zh-CN" dirty="0"/>
                  <a:t>0</a:t>
                </a:r>
                <a:endParaRPr kumimoji="1" lang="zh-CN" altLang="en-US" dirty="0"/>
              </a:p>
            </p:txBody>
          </p:sp>
          <p:sp>
            <p:nvSpPr>
              <p:cNvPr id="30" name="矩形 29">
                <a:extLst>
                  <a:ext uri="{FF2B5EF4-FFF2-40B4-BE49-F238E27FC236}">
                    <a16:creationId xmlns:a16="http://schemas.microsoft.com/office/drawing/2014/main" id="{04DE44B7-844A-17C7-14F2-C868C3382588}"/>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31" name="文本框 30">
                <a:extLst>
                  <a:ext uri="{FF2B5EF4-FFF2-40B4-BE49-F238E27FC236}">
                    <a16:creationId xmlns:a16="http://schemas.microsoft.com/office/drawing/2014/main" id="{33A0C22D-640A-1469-CBC8-40DDBA6DB678}"/>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32" name="矩形 31">
                <a:extLst>
                  <a:ext uri="{FF2B5EF4-FFF2-40B4-BE49-F238E27FC236}">
                    <a16:creationId xmlns:a16="http://schemas.microsoft.com/office/drawing/2014/main" id="{03BEF595-2414-5BC3-ACF6-B2873175A7B3}"/>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D8698A37-96AB-E2BE-A0A4-071A3343F80A}"/>
                  </a:ext>
                </a:extLst>
              </p:cNvPr>
              <p:cNvSpPr txBox="1"/>
              <p:nvPr/>
            </p:nvSpPr>
            <p:spPr>
              <a:xfrm>
                <a:off x="4151221" y="4495864"/>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43" name="文本框 42">
                <a:extLst>
                  <a:ext uri="{FF2B5EF4-FFF2-40B4-BE49-F238E27FC236}">
                    <a16:creationId xmlns:a16="http://schemas.microsoft.com/office/drawing/2014/main" id="{615849E8-2F94-286F-E2C6-3656A2D24B2B}"/>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
          <p:nvSpPr>
            <p:cNvPr id="45" name="文本框 44">
              <a:extLst>
                <a:ext uri="{FF2B5EF4-FFF2-40B4-BE49-F238E27FC236}">
                  <a16:creationId xmlns:a16="http://schemas.microsoft.com/office/drawing/2014/main" id="{C92B0289-DB32-5588-CD83-C375F7C204C7}"/>
                </a:ext>
              </a:extLst>
            </p:cNvPr>
            <p:cNvSpPr txBox="1"/>
            <p:nvPr/>
          </p:nvSpPr>
          <p:spPr>
            <a:xfrm>
              <a:off x="6827329" y="4497009"/>
              <a:ext cx="344966" cy="369332"/>
            </a:xfrm>
            <a:prstGeom prst="rect">
              <a:avLst/>
            </a:prstGeom>
            <a:noFill/>
          </p:spPr>
          <p:txBody>
            <a:bodyPr wrap="none" rtlCol="0">
              <a:spAutoFit/>
            </a:bodyPr>
            <a:lstStyle/>
            <a:p>
              <a:r>
                <a:rPr kumimoji="1" lang="en-US" altLang="zh-CN" b="1" dirty="0"/>
                <a:t>=</a:t>
              </a:r>
              <a:endParaRPr kumimoji="1" lang="zh-CN" altLang="en-US" b="1" dirty="0"/>
            </a:p>
          </p:txBody>
        </p:sp>
        <p:grpSp>
          <p:nvGrpSpPr>
            <p:cNvPr id="34" name="组合 33">
              <a:extLst>
                <a:ext uri="{FF2B5EF4-FFF2-40B4-BE49-F238E27FC236}">
                  <a16:creationId xmlns:a16="http://schemas.microsoft.com/office/drawing/2014/main" id="{8F7C4742-BEFB-1147-2A91-E86D330B1AE8}"/>
                </a:ext>
              </a:extLst>
            </p:cNvPr>
            <p:cNvGrpSpPr/>
            <p:nvPr/>
          </p:nvGrpSpPr>
          <p:grpSpPr>
            <a:xfrm>
              <a:off x="7434680" y="4145750"/>
              <a:ext cx="1500424" cy="1080000"/>
              <a:chOff x="3494432" y="3843157"/>
              <a:chExt cx="1500424" cy="1080000"/>
            </a:xfrm>
          </p:grpSpPr>
          <p:sp>
            <p:nvSpPr>
              <p:cNvPr id="37" name="矩形 36">
                <a:extLst>
                  <a:ext uri="{FF2B5EF4-FFF2-40B4-BE49-F238E27FC236}">
                    <a16:creationId xmlns:a16="http://schemas.microsoft.com/office/drawing/2014/main" id="{B3C65BAA-E5E0-576D-1DFF-9C4B3B7937C4}"/>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C2751437-EE98-27A1-5408-34047365300B}"/>
                  </a:ext>
                </a:extLst>
              </p:cNvPr>
              <p:cNvSpPr txBox="1"/>
              <p:nvPr/>
            </p:nvSpPr>
            <p:spPr>
              <a:xfrm>
                <a:off x="3496989" y="3929618"/>
                <a:ext cx="550151" cy="369332"/>
              </a:xfrm>
              <a:prstGeom prst="rect">
                <a:avLst/>
              </a:prstGeom>
              <a:noFill/>
            </p:spPr>
            <p:txBody>
              <a:bodyPr wrap="none" rtlCol="0">
                <a:spAutoFit/>
              </a:bodyPr>
              <a:lstStyle/>
              <a:p>
                <a:r>
                  <a:rPr kumimoji="1" lang="en-US" altLang="zh-CN" dirty="0"/>
                  <a:t>102</a:t>
                </a:r>
                <a:endParaRPr kumimoji="1" lang="zh-CN" altLang="en-US" dirty="0"/>
              </a:p>
            </p:txBody>
          </p:sp>
          <p:sp>
            <p:nvSpPr>
              <p:cNvPr id="39" name="矩形 38">
                <a:extLst>
                  <a:ext uri="{FF2B5EF4-FFF2-40B4-BE49-F238E27FC236}">
                    <a16:creationId xmlns:a16="http://schemas.microsoft.com/office/drawing/2014/main" id="{70475887-3CF8-26C8-66CE-90DCACF732AD}"/>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F63E2197-9D49-1402-F095-B229C6ED947A}"/>
                  </a:ext>
                </a:extLst>
              </p:cNvPr>
              <p:cNvSpPr txBox="1"/>
              <p:nvPr/>
            </p:nvSpPr>
            <p:spPr>
              <a:xfrm>
                <a:off x="4034450" y="3936597"/>
                <a:ext cx="550151" cy="369332"/>
              </a:xfrm>
              <a:prstGeom prst="rect">
                <a:avLst/>
              </a:prstGeom>
              <a:noFill/>
            </p:spPr>
            <p:txBody>
              <a:bodyPr wrap="none" rtlCol="0">
                <a:spAutoFit/>
              </a:bodyPr>
              <a:lstStyle/>
              <a:p>
                <a:r>
                  <a:rPr kumimoji="1" lang="en-US" altLang="zh-CN" dirty="0"/>
                  <a:t>219</a:t>
                </a:r>
                <a:endParaRPr kumimoji="1" lang="zh-CN" altLang="en-US" dirty="0"/>
              </a:p>
            </p:txBody>
          </p:sp>
          <p:sp>
            <p:nvSpPr>
              <p:cNvPr id="41" name="矩形 40">
                <a:extLst>
                  <a:ext uri="{FF2B5EF4-FFF2-40B4-BE49-F238E27FC236}">
                    <a16:creationId xmlns:a16="http://schemas.microsoft.com/office/drawing/2014/main" id="{C8DEACE9-124F-3990-6723-0E8BA84E4961}"/>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42" name="文本框 41">
                <a:extLst>
                  <a:ext uri="{FF2B5EF4-FFF2-40B4-BE49-F238E27FC236}">
                    <a16:creationId xmlns:a16="http://schemas.microsoft.com/office/drawing/2014/main" id="{A8D87892-64AF-C18D-8F4B-A681216986A7}"/>
                  </a:ext>
                </a:extLst>
              </p:cNvPr>
              <p:cNvSpPr txBox="1"/>
              <p:nvPr/>
            </p:nvSpPr>
            <p:spPr>
              <a:xfrm>
                <a:off x="3494432" y="4487418"/>
                <a:ext cx="550151" cy="369332"/>
              </a:xfrm>
              <a:prstGeom prst="rect">
                <a:avLst/>
              </a:prstGeom>
              <a:noFill/>
            </p:spPr>
            <p:txBody>
              <a:bodyPr wrap="none" rtlCol="0">
                <a:spAutoFit/>
              </a:bodyPr>
              <a:lstStyle/>
              <a:p>
                <a:r>
                  <a:rPr kumimoji="1" lang="en-US" altLang="zh-CN" dirty="0"/>
                  <a:t>162</a:t>
                </a:r>
                <a:endParaRPr kumimoji="1" lang="zh-CN" altLang="en-US" dirty="0"/>
              </a:p>
            </p:txBody>
          </p:sp>
          <p:sp>
            <p:nvSpPr>
              <p:cNvPr id="46" name="矩形 45">
                <a:extLst>
                  <a:ext uri="{FF2B5EF4-FFF2-40B4-BE49-F238E27FC236}">
                    <a16:creationId xmlns:a16="http://schemas.microsoft.com/office/drawing/2014/main" id="{1EF605D1-9071-3C1F-0DCB-40F8D18F6495}"/>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E177377F-A4E6-E603-BE85-08B743F9D108}"/>
                  </a:ext>
                </a:extLst>
              </p:cNvPr>
              <p:cNvSpPr txBox="1"/>
              <p:nvPr/>
            </p:nvSpPr>
            <p:spPr>
              <a:xfrm>
                <a:off x="4034450" y="4494397"/>
                <a:ext cx="550151" cy="369332"/>
              </a:xfrm>
              <a:prstGeom prst="rect">
                <a:avLst/>
              </a:prstGeom>
              <a:noFill/>
            </p:spPr>
            <p:txBody>
              <a:bodyPr wrap="none" rtlCol="0">
                <a:spAutoFit/>
              </a:bodyPr>
              <a:lstStyle/>
              <a:p>
                <a:r>
                  <a:rPr kumimoji="1" lang="en-US" altLang="zh-CN" dirty="0"/>
                  <a:t>177</a:t>
                </a:r>
                <a:endParaRPr kumimoji="1" lang="zh-CN" altLang="en-US" dirty="0"/>
              </a:p>
            </p:txBody>
          </p:sp>
          <p:sp>
            <p:nvSpPr>
              <p:cNvPr id="48" name="文本框 47">
                <a:extLst>
                  <a:ext uri="{FF2B5EF4-FFF2-40B4-BE49-F238E27FC236}">
                    <a16:creationId xmlns:a16="http://schemas.microsoft.com/office/drawing/2014/main" id="{319335C5-ED55-103C-3073-7359F33E1A9A}"/>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grpSp>
    </p:spTree>
    <p:extLst>
      <p:ext uri="{BB962C8B-B14F-4D97-AF65-F5344CB8AC3E}">
        <p14:creationId xmlns:p14="http://schemas.microsoft.com/office/powerpoint/2010/main" val="3457971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08556-987D-42FC-FAD9-D55C3C816AA5}"/>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AC9AF351-AFC5-FD0A-E501-32BB553BE19A}"/>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9065CA7A-94A4-EC46-C076-1F641124A523}"/>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BC40D40-8227-812F-4A00-AC5F7FBBE153}"/>
              </a:ext>
            </a:extLst>
          </p:cNvPr>
          <p:cNvSpPr/>
          <p:nvPr/>
        </p:nvSpPr>
        <p:spPr bwMode="auto">
          <a:xfrm>
            <a:off x="234072" y="1394843"/>
            <a:ext cx="11480850" cy="124950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对于彩色的多通道图像，以</a:t>
            </a:r>
            <a:r>
              <a:rPr lang="en-US" altLang="zh-CN" sz="2400" dirty="0"/>
              <a:t> RGB </a:t>
            </a:r>
            <a:r>
              <a:rPr lang="zh-CN" altLang="en-US" sz="2400" dirty="0"/>
              <a:t>图像（</a:t>
            </a:r>
            <a:r>
              <a:rPr lang="en-US" altLang="zh-CN" sz="2400" dirty="0"/>
              <a:t>3 </a:t>
            </a:r>
            <a:r>
              <a:rPr lang="zh-CN" altLang="en-US" sz="2400" dirty="0"/>
              <a:t>通道）为例。卷积核深度必须与输入的通道数一致。计算时，卷积核的三个通道分别与图像的红、绿、蓝通道进行卷积，随后将这三个通道的中间结果进行像素级累加，合并为一个单一通道的输出。</a:t>
            </a:r>
            <a:endParaRPr kumimoji="1" lang="zh-CN" altLang="en-US" sz="2400" dirty="0"/>
          </a:p>
        </p:txBody>
      </p:sp>
      <p:sp>
        <p:nvSpPr>
          <p:cNvPr id="114" name="object 5">
            <a:extLst>
              <a:ext uri="{FF2B5EF4-FFF2-40B4-BE49-F238E27FC236}">
                <a16:creationId xmlns:a16="http://schemas.microsoft.com/office/drawing/2014/main" id="{29DAD558-63B8-6D98-845D-D8F354FD891A}"/>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卷积计算</a:t>
            </a:r>
            <a:endParaRPr lang="en-US" sz="3600" spc="-10" dirty="0">
              <a:solidFill>
                <a:schemeClr val="bg1"/>
              </a:solidFill>
              <a:latin typeface="Calibri" panose="020F0502020204030204" pitchFamily="34" charset="0"/>
              <a:cs typeface="Calibri" panose="020F0502020204030204" pitchFamily="34" charset="0"/>
            </a:endParaRPr>
          </a:p>
        </p:txBody>
      </p:sp>
      <p:sp>
        <p:nvSpPr>
          <p:cNvPr id="28" name="立方体 27">
            <a:extLst>
              <a:ext uri="{FF2B5EF4-FFF2-40B4-BE49-F238E27FC236}">
                <a16:creationId xmlns:a16="http://schemas.microsoft.com/office/drawing/2014/main" id="{73B1A232-FA90-F53E-75B6-D0DB5773E733}"/>
              </a:ext>
            </a:extLst>
          </p:cNvPr>
          <p:cNvSpPr/>
          <p:nvPr/>
        </p:nvSpPr>
        <p:spPr>
          <a:xfrm>
            <a:off x="1462815" y="3233479"/>
            <a:ext cx="569844" cy="2229678"/>
          </a:xfrm>
          <a:prstGeom prst="cube">
            <a:avLst>
              <a:gd name="adj" fmla="val 77004"/>
            </a:avLst>
          </a:prstGeom>
          <a:solidFill>
            <a:srgbClr val="FF7E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立方体 28">
            <a:extLst>
              <a:ext uri="{FF2B5EF4-FFF2-40B4-BE49-F238E27FC236}">
                <a16:creationId xmlns:a16="http://schemas.microsoft.com/office/drawing/2014/main" id="{9305FEDB-C6AB-9D6E-AB7B-C2E6703ABAF8}"/>
              </a:ext>
            </a:extLst>
          </p:cNvPr>
          <p:cNvSpPr/>
          <p:nvPr/>
        </p:nvSpPr>
        <p:spPr>
          <a:xfrm>
            <a:off x="1747737" y="3233479"/>
            <a:ext cx="569844" cy="2229678"/>
          </a:xfrm>
          <a:prstGeom prst="cube">
            <a:avLst>
              <a:gd name="adj" fmla="val 77004"/>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立方体 48">
            <a:extLst>
              <a:ext uri="{FF2B5EF4-FFF2-40B4-BE49-F238E27FC236}">
                <a16:creationId xmlns:a16="http://schemas.microsoft.com/office/drawing/2014/main" id="{840F387E-F2E1-D26E-379B-38F1BEC64F8A}"/>
              </a:ext>
            </a:extLst>
          </p:cNvPr>
          <p:cNvSpPr/>
          <p:nvPr/>
        </p:nvSpPr>
        <p:spPr>
          <a:xfrm>
            <a:off x="2032659" y="3233479"/>
            <a:ext cx="569844" cy="2229678"/>
          </a:xfrm>
          <a:prstGeom prst="cube">
            <a:avLst>
              <a:gd name="adj" fmla="val 7700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文本框 50">
            <a:extLst>
              <a:ext uri="{FF2B5EF4-FFF2-40B4-BE49-F238E27FC236}">
                <a16:creationId xmlns:a16="http://schemas.microsoft.com/office/drawing/2014/main" id="{1AEB9CE9-BE84-68F4-754D-57A7BE75BE79}"/>
              </a:ext>
            </a:extLst>
          </p:cNvPr>
          <p:cNvSpPr txBox="1"/>
          <p:nvPr/>
        </p:nvSpPr>
        <p:spPr>
          <a:xfrm>
            <a:off x="3018464" y="4213655"/>
            <a:ext cx="327334" cy="369332"/>
          </a:xfrm>
          <a:prstGeom prst="rect">
            <a:avLst/>
          </a:prstGeom>
          <a:noFill/>
        </p:spPr>
        <p:txBody>
          <a:bodyPr wrap="none" rtlCol="0">
            <a:spAutoFit/>
          </a:bodyPr>
          <a:lstStyle/>
          <a:p>
            <a:r>
              <a:rPr kumimoji="1" lang="en-US" altLang="zh-CN" b="1" dirty="0"/>
              <a:t>X</a:t>
            </a:r>
            <a:endParaRPr kumimoji="1" lang="zh-CN" altLang="en-US" b="1" dirty="0"/>
          </a:p>
        </p:txBody>
      </p:sp>
      <p:sp>
        <p:nvSpPr>
          <p:cNvPr id="52" name="立方体 51">
            <a:extLst>
              <a:ext uri="{FF2B5EF4-FFF2-40B4-BE49-F238E27FC236}">
                <a16:creationId xmlns:a16="http://schemas.microsoft.com/office/drawing/2014/main" id="{CB3268BE-05C9-B025-D8A4-7AB1F787E69C}"/>
              </a:ext>
            </a:extLst>
          </p:cNvPr>
          <p:cNvSpPr/>
          <p:nvPr/>
        </p:nvSpPr>
        <p:spPr>
          <a:xfrm>
            <a:off x="3705843" y="3879855"/>
            <a:ext cx="460609" cy="1036931"/>
          </a:xfrm>
          <a:prstGeom prst="cube">
            <a:avLst>
              <a:gd name="adj" fmla="val 7700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立方体 52">
            <a:extLst>
              <a:ext uri="{FF2B5EF4-FFF2-40B4-BE49-F238E27FC236}">
                <a16:creationId xmlns:a16="http://schemas.microsoft.com/office/drawing/2014/main" id="{ADB246C7-625B-7169-6455-225059D03044}"/>
              </a:ext>
            </a:extLst>
          </p:cNvPr>
          <p:cNvSpPr/>
          <p:nvPr/>
        </p:nvSpPr>
        <p:spPr>
          <a:xfrm>
            <a:off x="3967921" y="3879854"/>
            <a:ext cx="460609" cy="1036931"/>
          </a:xfrm>
          <a:prstGeom prst="cube">
            <a:avLst>
              <a:gd name="adj" fmla="val 7700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54" name="立方体 53">
            <a:extLst>
              <a:ext uri="{FF2B5EF4-FFF2-40B4-BE49-F238E27FC236}">
                <a16:creationId xmlns:a16="http://schemas.microsoft.com/office/drawing/2014/main" id="{327EFCB8-203B-D92E-3905-C6F6A0AF0AA7}"/>
              </a:ext>
            </a:extLst>
          </p:cNvPr>
          <p:cNvSpPr/>
          <p:nvPr/>
        </p:nvSpPr>
        <p:spPr>
          <a:xfrm>
            <a:off x="4229999" y="3879854"/>
            <a:ext cx="460609" cy="1036931"/>
          </a:xfrm>
          <a:prstGeom prst="cube">
            <a:avLst>
              <a:gd name="adj" fmla="val 7700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文本框 54">
            <a:extLst>
              <a:ext uri="{FF2B5EF4-FFF2-40B4-BE49-F238E27FC236}">
                <a16:creationId xmlns:a16="http://schemas.microsoft.com/office/drawing/2014/main" id="{B15856B7-0A94-49EE-BEA7-D346D5E4FCCC}"/>
              </a:ext>
            </a:extLst>
          </p:cNvPr>
          <p:cNvSpPr txBox="1"/>
          <p:nvPr/>
        </p:nvSpPr>
        <p:spPr>
          <a:xfrm>
            <a:off x="1047782" y="5682958"/>
            <a:ext cx="1554721" cy="369332"/>
          </a:xfrm>
          <a:prstGeom prst="rect">
            <a:avLst/>
          </a:prstGeom>
          <a:noFill/>
        </p:spPr>
        <p:txBody>
          <a:bodyPr wrap="none" rtlCol="0">
            <a:spAutoFit/>
          </a:bodyPr>
          <a:lstStyle/>
          <a:p>
            <a:r>
              <a:rPr kumimoji="1" lang="en-US" altLang="zh-CN" dirty="0"/>
              <a:t>RGB </a:t>
            </a:r>
            <a:r>
              <a:rPr kumimoji="1" lang="zh-CN" altLang="en-US" dirty="0"/>
              <a:t>图像输入</a:t>
            </a:r>
          </a:p>
        </p:txBody>
      </p:sp>
      <p:sp>
        <p:nvSpPr>
          <p:cNvPr id="56" name="文本框 55">
            <a:extLst>
              <a:ext uri="{FF2B5EF4-FFF2-40B4-BE49-F238E27FC236}">
                <a16:creationId xmlns:a16="http://schemas.microsoft.com/office/drawing/2014/main" id="{40F07F62-BE2C-9FEB-B52D-C06B46DDDBF2}"/>
              </a:ext>
            </a:extLst>
          </p:cNvPr>
          <p:cNvSpPr txBox="1"/>
          <p:nvPr/>
        </p:nvSpPr>
        <p:spPr>
          <a:xfrm>
            <a:off x="3412079" y="5369896"/>
            <a:ext cx="1508746" cy="369332"/>
          </a:xfrm>
          <a:prstGeom prst="rect">
            <a:avLst/>
          </a:prstGeom>
          <a:noFill/>
        </p:spPr>
        <p:txBody>
          <a:bodyPr wrap="none" rtlCol="0">
            <a:spAutoFit/>
          </a:bodyPr>
          <a:lstStyle/>
          <a:p>
            <a:r>
              <a:rPr kumimoji="1" lang="en-US" altLang="zh-CN" dirty="0"/>
              <a:t>3 </a:t>
            </a:r>
            <a:r>
              <a:rPr kumimoji="1" lang="zh-CN" altLang="en-US" dirty="0"/>
              <a:t>深度卷积核</a:t>
            </a:r>
          </a:p>
        </p:txBody>
      </p:sp>
      <p:sp>
        <p:nvSpPr>
          <p:cNvPr id="57" name="右箭头 56">
            <a:extLst>
              <a:ext uri="{FF2B5EF4-FFF2-40B4-BE49-F238E27FC236}">
                <a16:creationId xmlns:a16="http://schemas.microsoft.com/office/drawing/2014/main" id="{980E9DD3-F2AB-64DD-5063-1160B0BFFC4A}"/>
              </a:ext>
            </a:extLst>
          </p:cNvPr>
          <p:cNvSpPr/>
          <p:nvPr/>
        </p:nvSpPr>
        <p:spPr>
          <a:xfrm>
            <a:off x="5062330" y="4286808"/>
            <a:ext cx="609600" cy="223022"/>
          </a:xfrm>
          <a:prstGeom prst="right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立方体 57">
            <a:extLst>
              <a:ext uri="{FF2B5EF4-FFF2-40B4-BE49-F238E27FC236}">
                <a16:creationId xmlns:a16="http://schemas.microsoft.com/office/drawing/2014/main" id="{DF3405B7-92A2-AB36-E52C-32B43365249E}"/>
              </a:ext>
            </a:extLst>
          </p:cNvPr>
          <p:cNvSpPr/>
          <p:nvPr/>
        </p:nvSpPr>
        <p:spPr>
          <a:xfrm>
            <a:off x="5974497" y="3694591"/>
            <a:ext cx="609600" cy="1407455"/>
          </a:xfrm>
          <a:prstGeom prst="cube">
            <a:avLst>
              <a:gd name="adj" fmla="val 77004"/>
            </a:avLst>
          </a:prstGeom>
          <a:solidFill>
            <a:srgbClr val="FF7E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立方体 58">
            <a:extLst>
              <a:ext uri="{FF2B5EF4-FFF2-40B4-BE49-F238E27FC236}">
                <a16:creationId xmlns:a16="http://schemas.microsoft.com/office/drawing/2014/main" id="{F34DE9A0-49B2-37FE-A1D1-51302DF6E149}"/>
              </a:ext>
            </a:extLst>
          </p:cNvPr>
          <p:cNvSpPr/>
          <p:nvPr/>
        </p:nvSpPr>
        <p:spPr>
          <a:xfrm>
            <a:off x="6346219" y="3684633"/>
            <a:ext cx="609600" cy="1427369"/>
          </a:xfrm>
          <a:prstGeom prst="cube">
            <a:avLst>
              <a:gd name="adj" fmla="val 77004"/>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立方体 59">
            <a:extLst>
              <a:ext uri="{FF2B5EF4-FFF2-40B4-BE49-F238E27FC236}">
                <a16:creationId xmlns:a16="http://schemas.microsoft.com/office/drawing/2014/main" id="{5B7917E5-F2B8-2DDB-752D-19A12051BED2}"/>
              </a:ext>
            </a:extLst>
          </p:cNvPr>
          <p:cNvSpPr/>
          <p:nvPr/>
        </p:nvSpPr>
        <p:spPr>
          <a:xfrm>
            <a:off x="6717942" y="3674675"/>
            <a:ext cx="609599" cy="1437327"/>
          </a:xfrm>
          <a:prstGeom prst="cube">
            <a:avLst>
              <a:gd name="adj" fmla="val 7700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右箭头 61">
            <a:extLst>
              <a:ext uri="{FF2B5EF4-FFF2-40B4-BE49-F238E27FC236}">
                <a16:creationId xmlns:a16="http://schemas.microsoft.com/office/drawing/2014/main" id="{07B6E339-51CF-2768-8631-D635DBD7F4BE}"/>
              </a:ext>
            </a:extLst>
          </p:cNvPr>
          <p:cNvSpPr/>
          <p:nvPr/>
        </p:nvSpPr>
        <p:spPr>
          <a:xfrm>
            <a:off x="7672291" y="4236807"/>
            <a:ext cx="609600" cy="223022"/>
          </a:xfrm>
          <a:prstGeom prst="right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ECB4733A-3EC8-C017-7922-A8C51566FAFD}"/>
              </a:ext>
            </a:extLst>
          </p:cNvPr>
          <p:cNvSpPr txBox="1"/>
          <p:nvPr/>
        </p:nvSpPr>
        <p:spPr>
          <a:xfrm>
            <a:off x="7617963" y="4609720"/>
            <a:ext cx="646331" cy="369332"/>
          </a:xfrm>
          <a:prstGeom prst="rect">
            <a:avLst/>
          </a:prstGeom>
          <a:noFill/>
        </p:spPr>
        <p:txBody>
          <a:bodyPr wrap="none" rtlCol="0">
            <a:spAutoFit/>
          </a:bodyPr>
          <a:lstStyle/>
          <a:p>
            <a:r>
              <a:rPr kumimoji="1" lang="zh-CN" altLang="en-US" dirty="0"/>
              <a:t>累加</a:t>
            </a:r>
          </a:p>
        </p:txBody>
      </p:sp>
      <p:sp>
        <p:nvSpPr>
          <p:cNvPr id="64" name="立方体 63">
            <a:extLst>
              <a:ext uri="{FF2B5EF4-FFF2-40B4-BE49-F238E27FC236}">
                <a16:creationId xmlns:a16="http://schemas.microsoft.com/office/drawing/2014/main" id="{85F86F70-DECC-48C9-A967-A2B0BD1E7023}"/>
              </a:ext>
            </a:extLst>
          </p:cNvPr>
          <p:cNvSpPr/>
          <p:nvPr/>
        </p:nvSpPr>
        <p:spPr>
          <a:xfrm>
            <a:off x="8501247" y="3674674"/>
            <a:ext cx="609599" cy="1437327"/>
          </a:xfrm>
          <a:prstGeom prst="cube">
            <a:avLst>
              <a:gd name="adj" fmla="val 77004"/>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文本框 64">
            <a:extLst>
              <a:ext uri="{FF2B5EF4-FFF2-40B4-BE49-F238E27FC236}">
                <a16:creationId xmlns:a16="http://schemas.microsoft.com/office/drawing/2014/main" id="{5129BD8C-2028-C8B8-77E6-2D1E988DD8DA}"/>
              </a:ext>
            </a:extLst>
          </p:cNvPr>
          <p:cNvSpPr txBox="1"/>
          <p:nvPr/>
        </p:nvSpPr>
        <p:spPr>
          <a:xfrm>
            <a:off x="8281891" y="5369896"/>
            <a:ext cx="1107996" cy="369332"/>
          </a:xfrm>
          <a:prstGeom prst="rect">
            <a:avLst/>
          </a:prstGeom>
          <a:noFill/>
        </p:spPr>
        <p:txBody>
          <a:bodyPr wrap="none" rtlCol="0">
            <a:spAutoFit/>
          </a:bodyPr>
          <a:lstStyle/>
          <a:p>
            <a:r>
              <a:rPr kumimoji="1" lang="zh-CN" altLang="en-US" dirty="0"/>
              <a:t>最终结果</a:t>
            </a:r>
          </a:p>
        </p:txBody>
      </p:sp>
    </p:spTree>
    <p:extLst>
      <p:ext uri="{BB962C8B-B14F-4D97-AF65-F5344CB8AC3E}">
        <p14:creationId xmlns:p14="http://schemas.microsoft.com/office/powerpoint/2010/main" val="3820036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9E860-4016-8885-8184-391725DEB5C0}"/>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44E6CD74-C722-DDCA-783B-F97A5D80EB97}"/>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28478922-57B2-9AC9-E0E2-E9F98808C934}"/>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5EF644E-35E4-2DD2-432F-4B2F50202C74}"/>
              </a:ext>
            </a:extLst>
          </p:cNvPr>
          <p:cNvSpPr/>
          <p:nvPr/>
        </p:nvSpPr>
        <p:spPr bwMode="auto">
          <a:xfrm>
            <a:off x="234072" y="1590262"/>
            <a:ext cx="11480850" cy="107342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卷积层通过多个卷积核的组合来提取输入数据的不同特征。每个卷积核负责提取特定类型的特征，卷积层则将这些特征整合在一起，形成更高层次的特征表示。</a:t>
            </a:r>
            <a:endParaRPr lang="en-US" altLang="zh-CN" sz="2400" dirty="0"/>
          </a:p>
        </p:txBody>
      </p:sp>
      <p:sp>
        <p:nvSpPr>
          <p:cNvPr id="114" name="object 5">
            <a:extLst>
              <a:ext uri="{FF2B5EF4-FFF2-40B4-BE49-F238E27FC236}">
                <a16:creationId xmlns:a16="http://schemas.microsoft.com/office/drawing/2014/main" id="{4CDAB43B-FE54-4420-E7A6-33E48C5FFD80}"/>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94AC9CCF-6D6A-6D80-0134-1B3274BF0BDC}"/>
              </a:ext>
            </a:extLst>
          </p:cNvPr>
          <p:cNvPicPr>
            <a:picLocks noChangeAspect="1"/>
          </p:cNvPicPr>
          <p:nvPr/>
        </p:nvPicPr>
        <p:blipFill>
          <a:blip r:embed="rId3"/>
          <a:stretch>
            <a:fillRect/>
          </a:stretch>
        </p:blipFill>
        <p:spPr>
          <a:xfrm>
            <a:off x="1244876" y="2819952"/>
            <a:ext cx="3924300" cy="2851978"/>
          </a:xfrm>
          <a:prstGeom prst="rect">
            <a:avLst/>
          </a:prstGeom>
        </p:spPr>
      </p:pic>
      <p:sp>
        <p:nvSpPr>
          <p:cNvPr id="3" name="矩形 2">
            <a:extLst>
              <a:ext uri="{FF2B5EF4-FFF2-40B4-BE49-F238E27FC236}">
                <a16:creationId xmlns:a16="http://schemas.microsoft.com/office/drawing/2014/main" id="{58B84F62-A91A-6D98-FCC0-DB4634C83599}"/>
              </a:ext>
            </a:extLst>
          </p:cNvPr>
          <p:cNvSpPr/>
          <p:nvPr/>
        </p:nvSpPr>
        <p:spPr bwMode="auto">
          <a:xfrm>
            <a:off x="5974497" y="3420302"/>
            <a:ext cx="5550502" cy="212241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控制卷积层的几个超参数：</a:t>
            </a:r>
            <a:endParaRPr lang="en-US" altLang="zh-CN" sz="2400" dirty="0"/>
          </a:p>
          <a:p>
            <a:pPr marL="342900" indent="-342900">
              <a:buFont typeface="Wingdings" pitchFamily="2" charset="2"/>
              <a:buChar char="Ø"/>
            </a:pPr>
            <a:r>
              <a:rPr lang="zh-CN" altLang="en-US" sz="2400" dirty="0"/>
              <a:t>深度（</a:t>
            </a:r>
            <a:r>
              <a:rPr lang="en-US" altLang="zh-CN" sz="2400" dirty="0"/>
              <a:t>depth</a:t>
            </a:r>
            <a:r>
              <a:rPr lang="zh-CN" altLang="en-US" sz="2400" dirty="0"/>
              <a:t>）</a:t>
            </a:r>
            <a:endParaRPr lang="en-US" altLang="zh-CN" sz="2400" dirty="0"/>
          </a:p>
          <a:p>
            <a:pPr marL="342900" indent="-342900">
              <a:buFont typeface="Wingdings" pitchFamily="2" charset="2"/>
              <a:buChar char="Ø"/>
            </a:pPr>
            <a:r>
              <a:rPr lang="zh-CN" altLang="en-US" sz="2400" dirty="0"/>
              <a:t>步长（</a:t>
            </a:r>
            <a:r>
              <a:rPr lang="en-US" altLang="zh-CN" sz="2400" dirty="0"/>
              <a:t>stride</a:t>
            </a:r>
            <a:r>
              <a:rPr lang="zh-CN" altLang="en-US" sz="2400" dirty="0"/>
              <a:t>）</a:t>
            </a:r>
            <a:endParaRPr lang="en-US" altLang="zh-CN" sz="2400" dirty="0"/>
          </a:p>
          <a:p>
            <a:pPr marL="342900" indent="-342900">
              <a:buFont typeface="Wingdings" pitchFamily="2" charset="2"/>
              <a:buChar char="Ø"/>
            </a:pPr>
            <a:r>
              <a:rPr lang="zh-CN" altLang="en-US" sz="2400" dirty="0"/>
              <a:t>填充（</a:t>
            </a:r>
            <a:r>
              <a:rPr lang="en-US" altLang="zh-CN" sz="2400" dirty="0"/>
              <a:t>padding</a:t>
            </a:r>
            <a:r>
              <a:rPr lang="zh-CN" altLang="en-US" sz="2400" dirty="0"/>
              <a:t>）</a:t>
            </a:r>
            <a:endParaRPr lang="en-US" altLang="zh-CN" sz="2400" dirty="0"/>
          </a:p>
          <a:p>
            <a:pPr marL="342900" indent="-342900">
              <a:buFont typeface="Wingdings" pitchFamily="2" charset="2"/>
              <a:buChar char="Ø"/>
            </a:pPr>
            <a:r>
              <a:rPr lang="zh-CN" altLang="en-US" sz="2400" dirty="0"/>
              <a:t>偏置（</a:t>
            </a:r>
            <a:r>
              <a:rPr lang="en-US" altLang="zh-CN" sz="2400" dirty="0"/>
              <a:t>bias</a:t>
            </a:r>
            <a:r>
              <a:rPr lang="zh-CN" altLang="en-US" sz="2400" dirty="0"/>
              <a:t>）</a:t>
            </a:r>
            <a:endParaRPr lang="en-US" altLang="zh-CN" sz="2400" dirty="0"/>
          </a:p>
        </p:txBody>
      </p:sp>
    </p:spTree>
    <p:extLst>
      <p:ext uri="{BB962C8B-B14F-4D97-AF65-F5344CB8AC3E}">
        <p14:creationId xmlns:p14="http://schemas.microsoft.com/office/powerpoint/2010/main" val="1121494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0EA85-315A-FFE2-6267-BAD875EED8CF}"/>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2C6AC3E2-2FC4-922D-972D-10233C9CEBC3}"/>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39A75915-6008-08AA-DBD8-1B67A8CD9C4E}"/>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5D2796B-A0B0-F8C6-255E-0D75FAB39F39}"/>
              </a:ext>
            </a:extLst>
          </p:cNvPr>
          <p:cNvSpPr/>
          <p:nvPr/>
        </p:nvSpPr>
        <p:spPr bwMode="auto">
          <a:xfrm>
            <a:off x="355575" y="1429139"/>
            <a:ext cx="11480850" cy="1219199"/>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深度</a:t>
            </a:r>
            <a:r>
              <a:rPr lang="en-US" altLang="zh-CN" sz="2400" dirty="0"/>
              <a:t> Depth</a:t>
            </a:r>
            <a:r>
              <a:rPr lang="zh-CN" altLang="en-US" sz="2400" dirty="0"/>
              <a:t>指使用的卷积核的数量，每个卷积核在输入图像中检测一些不同的特征。举例来说，如果第一个卷积层的输入是原始图像，那么在深度维度上的不同神经元将可能被不同方向的边界，或者是颜色斑点激活。</a:t>
            </a:r>
            <a:endParaRPr lang="en-US" altLang="zh-CN" sz="2400" dirty="0"/>
          </a:p>
        </p:txBody>
      </p:sp>
      <p:sp>
        <p:nvSpPr>
          <p:cNvPr id="114" name="object 5">
            <a:extLst>
              <a:ext uri="{FF2B5EF4-FFF2-40B4-BE49-F238E27FC236}">
                <a16:creationId xmlns:a16="http://schemas.microsoft.com/office/drawing/2014/main" id="{6B201201-26A9-529B-1533-03029B3325FD}"/>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a:t>
            </a:r>
            <a:r>
              <a:rPr lang="en-US" altLang="zh-CN" sz="3600" spc="-10" dirty="0">
                <a:solidFill>
                  <a:schemeClr val="bg1"/>
                </a:solidFill>
                <a:latin typeface="Calibri" panose="020F0502020204030204" pitchFamily="34" charset="0"/>
                <a:cs typeface="Calibri" panose="020F0502020204030204" pitchFamily="34" charset="0"/>
              </a:rPr>
              <a:t>-</a:t>
            </a:r>
            <a:r>
              <a:rPr lang="zh-CN" altLang="en-US" sz="3600" spc="-10" dirty="0">
                <a:solidFill>
                  <a:schemeClr val="bg1"/>
                </a:solidFill>
                <a:latin typeface="Calibri" panose="020F0502020204030204" pitchFamily="34" charset="0"/>
                <a:cs typeface="Calibri" panose="020F0502020204030204" pitchFamily="34" charset="0"/>
              </a:rPr>
              <a:t>深度</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44" name="组合 43">
            <a:extLst>
              <a:ext uri="{FF2B5EF4-FFF2-40B4-BE49-F238E27FC236}">
                <a16:creationId xmlns:a16="http://schemas.microsoft.com/office/drawing/2014/main" id="{86665ED2-DFCA-4D2F-6D75-00977CE1B47D}"/>
              </a:ext>
            </a:extLst>
          </p:cNvPr>
          <p:cNvGrpSpPr/>
          <p:nvPr/>
        </p:nvGrpSpPr>
        <p:grpSpPr>
          <a:xfrm>
            <a:off x="2824329" y="3378200"/>
            <a:ext cx="6149009" cy="2373489"/>
            <a:chOff x="1909929" y="3473612"/>
            <a:chExt cx="6149009" cy="2373489"/>
          </a:xfrm>
        </p:grpSpPr>
        <p:grpSp>
          <p:nvGrpSpPr>
            <p:cNvPr id="13" name="组合 12">
              <a:extLst>
                <a:ext uri="{FF2B5EF4-FFF2-40B4-BE49-F238E27FC236}">
                  <a16:creationId xmlns:a16="http://schemas.microsoft.com/office/drawing/2014/main" id="{79B720C5-8725-FB73-B71F-DA000F699CAC}"/>
                </a:ext>
              </a:extLst>
            </p:cNvPr>
            <p:cNvGrpSpPr/>
            <p:nvPr/>
          </p:nvGrpSpPr>
          <p:grpSpPr>
            <a:xfrm>
              <a:off x="2284775" y="3723506"/>
              <a:ext cx="1047082" cy="1536503"/>
              <a:chOff x="9269775" y="3731236"/>
              <a:chExt cx="1047082" cy="1536503"/>
            </a:xfrm>
          </p:grpSpPr>
          <p:grpSp>
            <p:nvGrpSpPr>
              <p:cNvPr id="11" name="组合 10">
                <a:extLst>
                  <a:ext uri="{FF2B5EF4-FFF2-40B4-BE49-F238E27FC236}">
                    <a16:creationId xmlns:a16="http://schemas.microsoft.com/office/drawing/2014/main" id="{D0AA605B-3227-8099-0316-9CE4636109DA}"/>
                  </a:ext>
                </a:extLst>
              </p:cNvPr>
              <p:cNvGrpSpPr/>
              <p:nvPr/>
            </p:nvGrpSpPr>
            <p:grpSpPr>
              <a:xfrm>
                <a:off x="9306653" y="3731236"/>
                <a:ext cx="980347" cy="1095623"/>
                <a:chOff x="9306653" y="3731236"/>
                <a:chExt cx="980347" cy="1095623"/>
              </a:xfrm>
            </p:grpSpPr>
            <p:sp>
              <p:nvSpPr>
                <p:cNvPr id="6" name="立方体 5">
                  <a:extLst>
                    <a:ext uri="{FF2B5EF4-FFF2-40B4-BE49-F238E27FC236}">
                      <a16:creationId xmlns:a16="http://schemas.microsoft.com/office/drawing/2014/main" id="{F709514F-EBF9-F0EE-923D-CF6BBF19CDBA}"/>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立方体 6">
                  <a:extLst>
                    <a:ext uri="{FF2B5EF4-FFF2-40B4-BE49-F238E27FC236}">
                      <a16:creationId xmlns:a16="http://schemas.microsoft.com/office/drawing/2014/main" id="{965F71D0-72A1-7F10-2527-874783A1ED09}"/>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9" name="立方体 8">
                  <a:extLst>
                    <a:ext uri="{FF2B5EF4-FFF2-40B4-BE49-F238E27FC236}">
                      <a16:creationId xmlns:a16="http://schemas.microsoft.com/office/drawing/2014/main" id="{135B7EDC-20AE-8D63-B389-17C0904B80F8}"/>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 name="立方体 9">
                  <a:extLst>
                    <a:ext uri="{FF2B5EF4-FFF2-40B4-BE49-F238E27FC236}">
                      <a16:creationId xmlns:a16="http://schemas.microsoft.com/office/drawing/2014/main" id="{2BCE895E-126C-861C-38F4-7A4D91CEF996}"/>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2" name="文本框 11">
                <a:extLst>
                  <a:ext uri="{FF2B5EF4-FFF2-40B4-BE49-F238E27FC236}">
                    <a16:creationId xmlns:a16="http://schemas.microsoft.com/office/drawing/2014/main" id="{4055C252-581B-2A82-BFCA-892A1FCEFFEA}"/>
                  </a:ext>
                </a:extLst>
              </p:cNvPr>
              <p:cNvSpPr txBox="1"/>
              <p:nvPr/>
            </p:nvSpPr>
            <p:spPr>
              <a:xfrm>
                <a:off x="9269775" y="4898407"/>
                <a:ext cx="1047082" cy="369332"/>
              </a:xfrm>
              <a:prstGeom prst="rect">
                <a:avLst/>
              </a:prstGeom>
              <a:noFill/>
            </p:spPr>
            <p:txBody>
              <a:bodyPr wrap="none" rtlCol="0">
                <a:spAutoFit/>
              </a:bodyPr>
              <a:lstStyle/>
              <a:p>
                <a:r>
                  <a:rPr kumimoji="1" lang="zh-CN" altLang="en-US" dirty="0"/>
                  <a:t>卷积核 </a:t>
                </a:r>
                <a:r>
                  <a:rPr kumimoji="1" lang="en-US" altLang="zh-CN" dirty="0"/>
                  <a:t>1</a:t>
                </a:r>
                <a:endParaRPr kumimoji="1" lang="zh-CN" altLang="en-US" dirty="0"/>
              </a:p>
            </p:txBody>
          </p:sp>
        </p:grpSp>
        <p:sp>
          <p:nvSpPr>
            <p:cNvPr id="5" name="文本框 4">
              <a:extLst>
                <a:ext uri="{FF2B5EF4-FFF2-40B4-BE49-F238E27FC236}">
                  <a16:creationId xmlns:a16="http://schemas.microsoft.com/office/drawing/2014/main" id="{83ACF02D-4C12-A288-569D-B1CCA4B7C8EE}"/>
                </a:ext>
              </a:extLst>
            </p:cNvPr>
            <p:cNvSpPr txBox="1"/>
            <p:nvPr/>
          </p:nvSpPr>
          <p:spPr>
            <a:xfrm>
              <a:off x="4574797" y="5477769"/>
              <a:ext cx="877163" cy="369332"/>
            </a:xfrm>
            <a:prstGeom prst="rect">
              <a:avLst/>
            </a:prstGeom>
            <a:noFill/>
          </p:spPr>
          <p:txBody>
            <a:bodyPr wrap="none" rtlCol="0">
              <a:spAutoFit/>
            </a:bodyPr>
            <a:lstStyle/>
            <a:p>
              <a:r>
                <a:rPr kumimoji="1" lang="zh-CN" altLang="en-US" dirty="0"/>
                <a:t>卷积层</a:t>
              </a:r>
            </a:p>
          </p:txBody>
        </p:sp>
        <p:grpSp>
          <p:nvGrpSpPr>
            <p:cNvPr id="14" name="组合 13">
              <a:extLst>
                <a:ext uri="{FF2B5EF4-FFF2-40B4-BE49-F238E27FC236}">
                  <a16:creationId xmlns:a16="http://schemas.microsoft.com/office/drawing/2014/main" id="{FA2AD630-2BC2-B6BF-2180-CC6DAB775A62}"/>
                </a:ext>
              </a:extLst>
            </p:cNvPr>
            <p:cNvGrpSpPr/>
            <p:nvPr/>
          </p:nvGrpSpPr>
          <p:grpSpPr>
            <a:xfrm>
              <a:off x="3384069" y="3714923"/>
              <a:ext cx="1047082" cy="1536503"/>
              <a:chOff x="9269775" y="3731236"/>
              <a:chExt cx="1047082" cy="1536503"/>
            </a:xfrm>
          </p:grpSpPr>
          <p:grpSp>
            <p:nvGrpSpPr>
              <p:cNvPr id="15" name="组合 14">
                <a:extLst>
                  <a:ext uri="{FF2B5EF4-FFF2-40B4-BE49-F238E27FC236}">
                    <a16:creationId xmlns:a16="http://schemas.microsoft.com/office/drawing/2014/main" id="{1CFD9AE7-5C15-E790-363F-14FEE4A1A620}"/>
                  </a:ext>
                </a:extLst>
              </p:cNvPr>
              <p:cNvGrpSpPr/>
              <p:nvPr/>
            </p:nvGrpSpPr>
            <p:grpSpPr>
              <a:xfrm>
                <a:off x="9306653" y="3731236"/>
                <a:ext cx="980347" cy="1095623"/>
                <a:chOff x="9306653" y="3731236"/>
                <a:chExt cx="980347" cy="1095623"/>
              </a:xfrm>
            </p:grpSpPr>
            <p:sp>
              <p:nvSpPr>
                <p:cNvPr id="17" name="立方体 16">
                  <a:extLst>
                    <a:ext uri="{FF2B5EF4-FFF2-40B4-BE49-F238E27FC236}">
                      <a16:creationId xmlns:a16="http://schemas.microsoft.com/office/drawing/2014/main" id="{1CF1E484-3F0A-1EDB-E73E-A690FE5DC8D9}"/>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立方体 17">
                  <a:extLst>
                    <a:ext uri="{FF2B5EF4-FFF2-40B4-BE49-F238E27FC236}">
                      <a16:creationId xmlns:a16="http://schemas.microsoft.com/office/drawing/2014/main" id="{EAF3F223-33DD-8370-9B2A-173F2D1A0958}"/>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19" name="立方体 18">
                  <a:extLst>
                    <a:ext uri="{FF2B5EF4-FFF2-40B4-BE49-F238E27FC236}">
                      <a16:creationId xmlns:a16="http://schemas.microsoft.com/office/drawing/2014/main" id="{0DC999EF-E9BD-D016-13F6-6AB0739ED26F}"/>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立方体 19">
                  <a:extLst>
                    <a:ext uri="{FF2B5EF4-FFF2-40B4-BE49-F238E27FC236}">
                      <a16:creationId xmlns:a16="http://schemas.microsoft.com/office/drawing/2014/main" id="{159AB0A6-3B50-FFB8-077E-9453CD95F3F8}"/>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6" name="文本框 15">
                <a:extLst>
                  <a:ext uri="{FF2B5EF4-FFF2-40B4-BE49-F238E27FC236}">
                    <a16:creationId xmlns:a16="http://schemas.microsoft.com/office/drawing/2014/main" id="{270155AD-6F3F-A702-9D22-FE7D8BEF6820}"/>
                  </a:ext>
                </a:extLst>
              </p:cNvPr>
              <p:cNvSpPr txBox="1"/>
              <p:nvPr/>
            </p:nvSpPr>
            <p:spPr>
              <a:xfrm>
                <a:off x="9269775" y="4898407"/>
                <a:ext cx="1047082" cy="369332"/>
              </a:xfrm>
              <a:prstGeom prst="rect">
                <a:avLst/>
              </a:prstGeom>
              <a:noFill/>
            </p:spPr>
            <p:txBody>
              <a:bodyPr wrap="none" rtlCol="0">
                <a:spAutoFit/>
              </a:bodyPr>
              <a:lstStyle/>
              <a:p>
                <a:r>
                  <a:rPr kumimoji="1" lang="zh-CN" altLang="en-US" dirty="0"/>
                  <a:t>卷积核 </a:t>
                </a:r>
                <a:r>
                  <a:rPr kumimoji="1" lang="en-US" altLang="zh-CN" dirty="0"/>
                  <a:t>2</a:t>
                </a:r>
                <a:endParaRPr kumimoji="1" lang="zh-CN" altLang="en-US" dirty="0"/>
              </a:p>
            </p:txBody>
          </p:sp>
        </p:grpSp>
        <p:grpSp>
          <p:nvGrpSpPr>
            <p:cNvPr id="21" name="组合 20">
              <a:extLst>
                <a:ext uri="{FF2B5EF4-FFF2-40B4-BE49-F238E27FC236}">
                  <a16:creationId xmlns:a16="http://schemas.microsoft.com/office/drawing/2014/main" id="{B9D0782B-F7EE-C8E9-AE3E-BDC40EDB1938}"/>
                </a:ext>
              </a:extLst>
            </p:cNvPr>
            <p:cNvGrpSpPr/>
            <p:nvPr/>
          </p:nvGrpSpPr>
          <p:grpSpPr>
            <a:xfrm>
              <a:off x="4404878" y="3714923"/>
              <a:ext cx="1047082" cy="1536503"/>
              <a:chOff x="9269775" y="3731236"/>
              <a:chExt cx="1047082" cy="1536503"/>
            </a:xfrm>
          </p:grpSpPr>
          <p:grpSp>
            <p:nvGrpSpPr>
              <p:cNvPr id="22" name="组合 21">
                <a:extLst>
                  <a:ext uri="{FF2B5EF4-FFF2-40B4-BE49-F238E27FC236}">
                    <a16:creationId xmlns:a16="http://schemas.microsoft.com/office/drawing/2014/main" id="{654ACBB2-8F84-B7F4-69A8-0C73C4204197}"/>
                  </a:ext>
                </a:extLst>
              </p:cNvPr>
              <p:cNvGrpSpPr/>
              <p:nvPr/>
            </p:nvGrpSpPr>
            <p:grpSpPr>
              <a:xfrm>
                <a:off x="9306653" y="3731236"/>
                <a:ext cx="980347" cy="1095623"/>
                <a:chOff x="9306653" y="3731236"/>
                <a:chExt cx="980347" cy="1095623"/>
              </a:xfrm>
            </p:grpSpPr>
            <p:sp>
              <p:nvSpPr>
                <p:cNvPr id="24" name="立方体 23">
                  <a:extLst>
                    <a:ext uri="{FF2B5EF4-FFF2-40B4-BE49-F238E27FC236}">
                      <a16:creationId xmlns:a16="http://schemas.microsoft.com/office/drawing/2014/main" id="{729478C6-CB17-3A2A-B6D4-94C1E13626E8}"/>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立方体 24">
                  <a:extLst>
                    <a:ext uri="{FF2B5EF4-FFF2-40B4-BE49-F238E27FC236}">
                      <a16:creationId xmlns:a16="http://schemas.microsoft.com/office/drawing/2014/main" id="{D2F703F5-BA46-E8A0-21D2-DBF7DDDB611A}"/>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26" name="立方体 25">
                  <a:extLst>
                    <a:ext uri="{FF2B5EF4-FFF2-40B4-BE49-F238E27FC236}">
                      <a16:creationId xmlns:a16="http://schemas.microsoft.com/office/drawing/2014/main" id="{8171C4B1-08F2-3941-E508-218F2C208A0C}"/>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7" name="立方体 26">
                  <a:extLst>
                    <a:ext uri="{FF2B5EF4-FFF2-40B4-BE49-F238E27FC236}">
                      <a16:creationId xmlns:a16="http://schemas.microsoft.com/office/drawing/2014/main" id="{A4E171EE-95DA-8229-F99D-B26069D84081}"/>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3" name="文本框 22">
                <a:extLst>
                  <a:ext uri="{FF2B5EF4-FFF2-40B4-BE49-F238E27FC236}">
                    <a16:creationId xmlns:a16="http://schemas.microsoft.com/office/drawing/2014/main" id="{1530A3C1-EAA0-162F-DDFB-295FADAE6A09}"/>
                  </a:ext>
                </a:extLst>
              </p:cNvPr>
              <p:cNvSpPr txBox="1"/>
              <p:nvPr/>
            </p:nvSpPr>
            <p:spPr>
              <a:xfrm>
                <a:off x="9269775" y="4898407"/>
                <a:ext cx="1047082" cy="369332"/>
              </a:xfrm>
              <a:prstGeom prst="rect">
                <a:avLst/>
              </a:prstGeom>
              <a:noFill/>
            </p:spPr>
            <p:txBody>
              <a:bodyPr wrap="none" rtlCol="0">
                <a:spAutoFit/>
              </a:bodyPr>
              <a:lstStyle/>
              <a:p>
                <a:r>
                  <a:rPr kumimoji="1" lang="zh-CN" altLang="en-US" dirty="0"/>
                  <a:t>卷积核 </a:t>
                </a:r>
                <a:r>
                  <a:rPr kumimoji="1" lang="en-US" altLang="zh-CN" dirty="0"/>
                  <a:t>3</a:t>
                </a:r>
                <a:endParaRPr kumimoji="1" lang="zh-CN" altLang="en-US" dirty="0"/>
              </a:p>
            </p:txBody>
          </p:sp>
        </p:grpSp>
        <p:grpSp>
          <p:nvGrpSpPr>
            <p:cNvPr id="28" name="组合 27">
              <a:extLst>
                <a:ext uri="{FF2B5EF4-FFF2-40B4-BE49-F238E27FC236}">
                  <a16:creationId xmlns:a16="http://schemas.microsoft.com/office/drawing/2014/main" id="{3B3B998A-2502-DE5F-5E49-4FAEB3D9C035}"/>
                </a:ext>
              </a:extLst>
            </p:cNvPr>
            <p:cNvGrpSpPr/>
            <p:nvPr/>
          </p:nvGrpSpPr>
          <p:grpSpPr>
            <a:xfrm>
              <a:off x="5415083" y="3714923"/>
              <a:ext cx="1047082" cy="1536503"/>
              <a:chOff x="9269775" y="3731236"/>
              <a:chExt cx="1047082" cy="1536503"/>
            </a:xfrm>
          </p:grpSpPr>
          <p:grpSp>
            <p:nvGrpSpPr>
              <p:cNvPr id="29" name="组合 28">
                <a:extLst>
                  <a:ext uri="{FF2B5EF4-FFF2-40B4-BE49-F238E27FC236}">
                    <a16:creationId xmlns:a16="http://schemas.microsoft.com/office/drawing/2014/main" id="{9C15988D-C85C-6A64-6671-333BCF508FEF}"/>
                  </a:ext>
                </a:extLst>
              </p:cNvPr>
              <p:cNvGrpSpPr/>
              <p:nvPr/>
            </p:nvGrpSpPr>
            <p:grpSpPr>
              <a:xfrm>
                <a:off x="9306653" y="3731236"/>
                <a:ext cx="980347" cy="1095623"/>
                <a:chOff x="9306653" y="3731236"/>
                <a:chExt cx="980347" cy="1095623"/>
              </a:xfrm>
            </p:grpSpPr>
            <p:sp>
              <p:nvSpPr>
                <p:cNvPr id="31" name="立方体 30">
                  <a:extLst>
                    <a:ext uri="{FF2B5EF4-FFF2-40B4-BE49-F238E27FC236}">
                      <a16:creationId xmlns:a16="http://schemas.microsoft.com/office/drawing/2014/main" id="{BAE572DB-F20A-A4AC-34F9-EB5EA5B22DC6}"/>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立方体 31">
                  <a:extLst>
                    <a:ext uri="{FF2B5EF4-FFF2-40B4-BE49-F238E27FC236}">
                      <a16:creationId xmlns:a16="http://schemas.microsoft.com/office/drawing/2014/main" id="{52E2E00B-4E09-15DB-F997-6D68DA75D4FC}"/>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33" name="立方体 32">
                  <a:extLst>
                    <a:ext uri="{FF2B5EF4-FFF2-40B4-BE49-F238E27FC236}">
                      <a16:creationId xmlns:a16="http://schemas.microsoft.com/office/drawing/2014/main" id="{87151BB4-9C4A-A222-1276-55ACFCD605B8}"/>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4" name="立方体 33">
                  <a:extLst>
                    <a:ext uri="{FF2B5EF4-FFF2-40B4-BE49-F238E27FC236}">
                      <a16:creationId xmlns:a16="http://schemas.microsoft.com/office/drawing/2014/main" id="{B4FDA5C7-F994-5BB8-4A05-19C5BDA11DDE}"/>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0" name="文本框 29">
                <a:extLst>
                  <a:ext uri="{FF2B5EF4-FFF2-40B4-BE49-F238E27FC236}">
                    <a16:creationId xmlns:a16="http://schemas.microsoft.com/office/drawing/2014/main" id="{0160CD0B-7FB1-ECF8-549C-8A1BD2697EE2}"/>
                  </a:ext>
                </a:extLst>
              </p:cNvPr>
              <p:cNvSpPr txBox="1"/>
              <p:nvPr/>
            </p:nvSpPr>
            <p:spPr>
              <a:xfrm>
                <a:off x="9269775" y="4898407"/>
                <a:ext cx="1047082" cy="369332"/>
              </a:xfrm>
              <a:prstGeom prst="rect">
                <a:avLst/>
              </a:prstGeom>
              <a:noFill/>
            </p:spPr>
            <p:txBody>
              <a:bodyPr wrap="none" rtlCol="0">
                <a:spAutoFit/>
              </a:bodyPr>
              <a:lstStyle/>
              <a:p>
                <a:r>
                  <a:rPr kumimoji="1" lang="zh-CN" altLang="en-US" dirty="0"/>
                  <a:t>卷积核 </a:t>
                </a:r>
                <a:r>
                  <a:rPr kumimoji="1" lang="en-US" altLang="zh-CN" dirty="0"/>
                  <a:t>4</a:t>
                </a:r>
                <a:endParaRPr kumimoji="1" lang="zh-CN" altLang="en-US" dirty="0"/>
              </a:p>
            </p:txBody>
          </p:sp>
        </p:grpSp>
        <p:grpSp>
          <p:nvGrpSpPr>
            <p:cNvPr id="37" name="组合 36">
              <a:extLst>
                <a:ext uri="{FF2B5EF4-FFF2-40B4-BE49-F238E27FC236}">
                  <a16:creationId xmlns:a16="http://schemas.microsoft.com/office/drawing/2014/main" id="{05A1267C-7647-D45E-1F3B-EECBB56EC8D6}"/>
                </a:ext>
              </a:extLst>
            </p:cNvPr>
            <p:cNvGrpSpPr/>
            <p:nvPr/>
          </p:nvGrpSpPr>
          <p:grpSpPr>
            <a:xfrm>
              <a:off x="6424304" y="3714923"/>
              <a:ext cx="1047082" cy="1536503"/>
              <a:chOff x="9269775" y="3731236"/>
              <a:chExt cx="1047082" cy="1536503"/>
            </a:xfrm>
          </p:grpSpPr>
          <p:grpSp>
            <p:nvGrpSpPr>
              <p:cNvPr id="38" name="组合 37">
                <a:extLst>
                  <a:ext uri="{FF2B5EF4-FFF2-40B4-BE49-F238E27FC236}">
                    <a16:creationId xmlns:a16="http://schemas.microsoft.com/office/drawing/2014/main" id="{D4CC9F77-20B4-97D6-F7A4-E5EB6CC66FBF}"/>
                  </a:ext>
                </a:extLst>
              </p:cNvPr>
              <p:cNvGrpSpPr/>
              <p:nvPr/>
            </p:nvGrpSpPr>
            <p:grpSpPr>
              <a:xfrm>
                <a:off x="9306653" y="3731236"/>
                <a:ext cx="980347" cy="1095623"/>
                <a:chOff x="9306653" y="3731236"/>
                <a:chExt cx="980347" cy="1095623"/>
              </a:xfrm>
            </p:grpSpPr>
            <p:sp>
              <p:nvSpPr>
                <p:cNvPr id="40" name="立方体 39">
                  <a:extLst>
                    <a:ext uri="{FF2B5EF4-FFF2-40B4-BE49-F238E27FC236}">
                      <a16:creationId xmlns:a16="http://schemas.microsoft.com/office/drawing/2014/main" id="{9133B478-1E24-79F3-DDE6-C0A0AEF925AD}"/>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立方体 40">
                  <a:extLst>
                    <a:ext uri="{FF2B5EF4-FFF2-40B4-BE49-F238E27FC236}">
                      <a16:creationId xmlns:a16="http://schemas.microsoft.com/office/drawing/2014/main" id="{59CE5DCB-3716-6B92-FCD1-8EB8AE7715D8}"/>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42" name="立方体 41">
                  <a:extLst>
                    <a:ext uri="{FF2B5EF4-FFF2-40B4-BE49-F238E27FC236}">
                      <a16:creationId xmlns:a16="http://schemas.microsoft.com/office/drawing/2014/main" id="{EFFB7860-C3EA-28B1-8A55-A7BD8A8AA0B4}"/>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立方体 42">
                  <a:extLst>
                    <a:ext uri="{FF2B5EF4-FFF2-40B4-BE49-F238E27FC236}">
                      <a16:creationId xmlns:a16="http://schemas.microsoft.com/office/drawing/2014/main" id="{78BAB423-D7BE-FA19-15E1-F8CD91303BED}"/>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9" name="文本框 38">
                <a:extLst>
                  <a:ext uri="{FF2B5EF4-FFF2-40B4-BE49-F238E27FC236}">
                    <a16:creationId xmlns:a16="http://schemas.microsoft.com/office/drawing/2014/main" id="{EEB57C95-01FC-50C7-A7F7-6114874F9677}"/>
                  </a:ext>
                </a:extLst>
              </p:cNvPr>
              <p:cNvSpPr txBox="1"/>
              <p:nvPr/>
            </p:nvSpPr>
            <p:spPr>
              <a:xfrm>
                <a:off x="9269775" y="4898407"/>
                <a:ext cx="1047082" cy="369332"/>
              </a:xfrm>
              <a:prstGeom prst="rect">
                <a:avLst/>
              </a:prstGeom>
              <a:noFill/>
            </p:spPr>
            <p:txBody>
              <a:bodyPr wrap="none" rtlCol="0">
                <a:spAutoFit/>
              </a:bodyPr>
              <a:lstStyle/>
              <a:p>
                <a:r>
                  <a:rPr kumimoji="1" lang="zh-CN" altLang="en-US" dirty="0"/>
                  <a:t>卷积核 </a:t>
                </a:r>
                <a:r>
                  <a:rPr kumimoji="1" lang="en-US" altLang="zh-CN" dirty="0"/>
                  <a:t>5</a:t>
                </a:r>
                <a:endParaRPr kumimoji="1" lang="zh-CN" altLang="en-US" dirty="0"/>
              </a:p>
            </p:txBody>
          </p:sp>
        </p:grpSp>
        <p:sp>
          <p:nvSpPr>
            <p:cNvPr id="4" name="立方体 3">
              <a:extLst>
                <a:ext uri="{FF2B5EF4-FFF2-40B4-BE49-F238E27FC236}">
                  <a16:creationId xmlns:a16="http://schemas.microsoft.com/office/drawing/2014/main" id="{2A89A766-5609-B1FB-E9BF-B1B0D3B73FC4}"/>
                </a:ext>
              </a:extLst>
            </p:cNvPr>
            <p:cNvSpPr/>
            <p:nvPr/>
          </p:nvSpPr>
          <p:spPr>
            <a:xfrm>
              <a:off x="1909929" y="3473612"/>
              <a:ext cx="6149009" cy="1881809"/>
            </a:xfrm>
            <a:prstGeom prst="cube">
              <a:avLst/>
            </a:prstGeom>
            <a:solidFill>
              <a:schemeClr val="accent5">
                <a:lumMod val="40000"/>
                <a:lumOff val="60000"/>
                <a:alpha val="3253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Tree>
    <p:extLst>
      <p:ext uri="{BB962C8B-B14F-4D97-AF65-F5344CB8AC3E}">
        <p14:creationId xmlns:p14="http://schemas.microsoft.com/office/powerpoint/2010/main" val="83437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6D8B1-E6F8-D9B4-8FDA-8CCA5330256A}"/>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95C02C9A-FF71-23EA-F3EB-A1D4A8912B9C}"/>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FBBE833B-66D3-0337-F5B9-59EC5947830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B3821A1-5F1F-4ABF-2397-D2B1E550DD55}"/>
              </a:ext>
            </a:extLst>
          </p:cNvPr>
          <p:cNvSpPr/>
          <p:nvPr/>
        </p:nvSpPr>
        <p:spPr bwMode="auto">
          <a:xfrm>
            <a:off x="355575" y="1429139"/>
            <a:ext cx="11480850" cy="1219199"/>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步长</a:t>
            </a:r>
            <a:r>
              <a:rPr lang="en-US" altLang="zh-CN" sz="2400" dirty="0"/>
              <a:t>  Stride</a:t>
            </a:r>
            <a:r>
              <a:rPr lang="zh-CN" altLang="en-US" sz="2400" dirty="0"/>
              <a:t>是指卷积核在输入图像上每次滑动的像素距离。当步长为 </a:t>
            </a:r>
            <a:r>
              <a:rPr lang="en-US" altLang="zh-CN" sz="2400" dirty="0"/>
              <a:t>1</a:t>
            </a:r>
            <a:r>
              <a:rPr lang="zh-CN" altLang="en-US" sz="2400" dirty="0"/>
              <a:t>时，卷积核逐个像素移动，提取最细腻的特征；当步长大于 </a:t>
            </a:r>
            <a:r>
              <a:rPr lang="en-US" altLang="zh-CN" sz="2400" dirty="0"/>
              <a:t>1</a:t>
            </a:r>
            <a:r>
              <a:rPr lang="en" altLang="zh-CN" sz="2400" dirty="0"/>
              <a:t> </a:t>
            </a:r>
            <a:r>
              <a:rPr lang="zh-CN" altLang="en-US" sz="2400" dirty="0"/>
              <a:t>时，卷积核跳跃式滑动，这会导致输出特征图的尺寸成比例减小。</a:t>
            </a:r>
            <a:endParaRPr lang="en-US" altLang="zh-CN" sz="2400" dirty="0"/>
          </a:p>
        </p:txBody>
      </p:sp>
      <p:sp>
        <p:nvSpPr>
          <p:cNvPr id="114" name="object 5">
            <a:extLst>
              <a:ext uri="{FF2B5EF4-FFF2-40B4-BE49-F238E27FC236}">
                <a16:creationId xmlns:a16="http://schemas.microsoft.com/office/drawing/2014/main" id="{06DE8BCA-1B20-7538-59DC-F19855D46513}"/>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a:t>
            </a:r>
            <a:r>
              <a:rPr lang="en-US" altLang="zh-CN" sz="3600" spc="-10" dirty="0">
                <a:solidFill>
                  <a:schemeClr val="bg1"/>
                </a:solidFill>
                <a:latin typeface="Calibri" panose="020F0502020204030204" pitchFamily="34" charset="0"/>
                <a:cs typeface="Calibri" panose="020F0502020204030204" pitchFamily="34" charset="0"/>
              </a:rPr>
              <a:t>-</a:t>
            </a:r>
            <a:r>
              <a:rPr lang="zh-CN" altLang="en-US" sz="3600" spc="-10" dirty="0">
                <a:solidFill>
                  <a:schemeClr val="bg1"/>
                </a:solidFill>
                <a:latin typeface="Calibri" panose="020F0502020204030204" pitchFamily="34" charset="0"/>
                <a:cs typeface="Calibri" panose="020F0502020204030204" pitchFamily="34" charset="0"/>
              </a:rPr>
              <a:t>步长</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109" name="组合 108">
            <a:extLst>
              <a:ext uri="{FF2B5EF4-FFF2-40B4-BE49-F238E27FC236}">
                <a16:creationId xmlns:a16="http://schemas.microsoft.com/office/drawing/2014/main" id="{A4FF4B79-0B36-1F02-CEFD-10422284278B}"/>
              </a:ext>
            </a:extLst>
          </p:cNvPr>
          <p:cNvGrpSpPr/>
          <p:nvPr/>
        </p:nvGrpSpPr>
        <p:grpSpPr>
          <a:xfrm>
            <a:off x="1181658" y="3305265"/>
            <a:ext cx="4914342" cy="2581932"/>
            <a:chOff x="389530" y="3265581"/>
            <a:chExt cx="4914342" cy="2581932"/>
          </a:xfrm>
        </p:grpSpPr>
        <p:cxnSp>
          <p:nvCxnSpPr>
            <p:cNvPr id="71" name="直线连接符 70">
              <a:extLst>
                <a:ext uri="{FF2B5EF4-FFF2-40B4-BE49-F238E27FC236}">
                  <a16:creationId xmlns:a16="http://schemas.microsoft.com/office/drawing/2014/main" id="{BA56BF92-6716-6E6D-8005-35D5B2D4079A}"/>
                </a:ext>
              </a:extLst>
            </p:cNvPr>
            <p:cNvCxnSpPr/>
            <p:nvPr/>
          </p:nvCxnSpPr>
          <p:spPr>
            <a:xfrm flipV="1">
              <a:off x="389530" y="3265626"/>
              <a:ext cx="0" cy="4218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54545ED9-6EA7-DE40-0C7F-715D0EA9E1BB}"/>
                </a:ext>
              </a:extLst>
            </p:cNvPr>
            <p:cNvCxnSpPr/>
            <p:nvPr/>
          </p:nvCxnSpPr>
          <p:spPr>
            <a:xfrm flipV="1">
              <a:off x="908566" y="3265626"/>
              <a:ext cx="0" cy="4218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1C3E1E03-5781-12CC-6A28-37DF25C19181}"/>
                </a:ext>
              </a:extLst>
            </p:cNvPr>
            <p:cNvGrpSpPr/>
            <p:nvPr/>
          </p:nvGrpSpPr>
          <p:grpSpPr>
            <a:xfrm>
              <a:off x="389665" y="3687513"/>
              <a:ext cx="1635752" cy="1620000"/>
              <a:chOff x="962844" y="3252651"/>
              <a:chExt cx="1635752" cy="1620000"/>
            </a:xfrm>
          </p:grpSpPr>
          <p:sp>
            <p:nvSpPr>
              <p:cNvPr id="3" name="矩形 2">
                <a:extLst>
                  <a:ext uri="{FF2B5EF4-FFF2-40B4-BE49-F238E27FC236}">
                    <a16:creationId xmlns:a16="http://schemas.microsoft.com/office/drawing/2014/main" id="{F978C395-C8E7-B69F-5580-322EB8604F8E}"/>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CE16494F-65B4-A641-0396-3040EDAAA483}"/>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46" name="矩形 45">
                <a:extLst>
                  <a:ext uri="{FF2B5EF4-FFF2-40B4-BE49-F238E27FC236}">
                    <a16:creationId xmlns:a16="http://schemas.microsoft.com/office/drawing/2014/main" id="{4C3F02E9-8B05-46F6-8B73-1D5885FBE909}"/>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C579106C-D97E-B68E-3728-E57FC2B9C0D2}"/>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48" name="矩形 47">
                <a:extLst>
                  <a:ext uri="{FF2B5EF4-FFF2-40B4-BE49-F238E27FC236}">
                    <a16:creationId xmlns:a16="http://schemas.microsoft.com/office/drawing/2014/main" id="{CE1FB12A-A0EB-AC4D-4FC4-DCF500F922E5}"/>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文本框 48">
                <a:extLst>
                  <a:ext uri="{FF2B5EF4-FFF2-40B4-BE49-F238E27FC236}">
                    <a16:creationId xmlns:a16="http://schemas.microsoft.com/office/drawing/2014/main" id="{C19CDBBA-CBBE-47EF-3FE6-276617973AA4}"/>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50" name="矩形 49">
                <a:extLst>
                  <a:ext uri="{FF2B5EF4-FFF2-40B4-BE49-F238E27FC236}">
                    <a16:creationId xmlns:a16="http://schemas.microsoft.com/office/drawing/2014/main" id="{D3759408-48F5-70D4-605B-DE3A1450106A}"/>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文本框 50">
                <a:extLst>
                  <a:ext uri="{FF2B5EF4-FFF2-40B4-BE49-F238E27FC236}">
                    <a16:creationId xmlns:a16="http://schemas.microsoft.com/office/drawing/2014/main" id="{DE02BB64-DD32-CB7C-98E3-7304497C02AC}"/>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52" name="矩形 51">
                <a:extLst>
                  <a:ext uri="{FF2B5EF4-FFF2-40B4-BE49-F238E27FC236}">
                    <a16:creationId xmlns:a16="http://schemas.microsoft.com/office/drawing/2014/main" id="{38CB43D5-DD2E-9C04-65FF-FF7BB3A44E30}"/>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文本框 52">
                <a:extLst>
                  <a:ext uri="{FF2B5EF4-FFF2-40B4-BE49-F238E27FC236}">
                    <a16:creationId xmlns:a16="http://schemas.microsoft.com/office/drawing/2014/main" id="{0E0B194E-8850-19A4-7479-5A6BA51BC815}"/>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54" name="矩形 53">
                <a:extLst>
                  <a:ext uri="{FF2B5EF4-FFF2-40B4-BE49-F238E27FC236}">
                    <a16:creationId xmlns:a16="http://schemas.microsoft.com/office/drawing/2014/main" id="{DC619EB6-20CA-44F3-8962-068E27CE3444}"/>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55" name="矩形 54">
                <a:extLst>
                  <a:ext uri="{FF2B5EF4-FFF2-40B4-BE49-F238E27FC236}">
                    <a16:creationId xmlns:a16="http://schemas.microsoft.com/office/drawing/2014/main" id="{AF271F0E-7A3C-6C9F-8158-5FD560266ECB}"/>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文本框 55">
                <a:extLst>
                  <a:ext uri="{FF2B5EF4-FFF2-40B4-BE49-F238E27FC236}">
                    <a16:creationId xmlns:a16="http://schemas.microsoft.com/office/drawing/2014/main" id="{C35C7E83-868E-C6DE-B52C-9394B7A55FAC}"/>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57" name="矩形 56">
                <a:extLst>
                  <a:ext uri="{FF2B5EF4-FFF2-40B4-BE49-F238E27FC236}">
                    <a16:creationId xmlns:a16="http://schemas.microsoft.com/office/drawing/2014/main" id="{F1F0EE31-4B1F-42FA-0564-D013567B8901}"/>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文本框 57">
                <a:extLst>
                  <a:ext uri="{FF2B5EF4-FFF2-40B4-BE49-F238E27FC236}">
                    <a16:creationId xmlns:a16="http://schemas.microsoft.com/office/drawing/2014/main" id="{5F7A0F24-2B9A-AA33-BEB8-95F3495DD41B}"/>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59" name="矩形 58">
                <a:extLst>
                  <a:ext uri="{FF2B5EF4-FFF2-40B4-BE49-F238E27FC236}">
                    <a16:creationId xmlns:a16="http://schemas.microsoft.com/office/drawing/2014/main" id="{52F9CE90-45FB-FBBF-12C5-D913E7E517BD}"/>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文本框 59">
                <a:extLst>
                  <a:ext uri="{FF2B5EF4-FFF2-40B4-BE49-F238E27FC236}">
                    <a16:creationId xmlns:a16="http://schemas.microsoft.com/office/drawing/2014/main" id="{A4096361-D677-E792-B606-90CEFD282C87}"/>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61" name="矩形 60">
              <a:extLst>
                <a:ext uri="{FF2B5EF4-FFF2-40B4-BE49-F238E27FC236}">
                  <a16:creationId xmlns:a16="http://schemas.microsoft.com/office/drawing/2014/main" id="{273C08B1-F827-6E9B-3C74-57F5E65A4D48}"/>
                </a:ext>
              </a:extLst>
            </p:cNvPr>
            <p:cNvSpPr/>
            <p:nvPr/>
          </p:nvSpPr>
          <p:spPr>
            <a:xfrm>
              <a:off x="395640" y="3687513"/>
              <a:ext cx="1095752" cy="10800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E6E7ABC5-6655-C3AF-1EBA-FFE5D2D5DC43}"/>
                </a:ext>
              </a:extLst>
            </p:cNvPr>
            <p:cNvSpPr/>
            <p:nvPr/>
          </p:nvSpPr>
          <p:spPr>
            <a:xfrm>
              <a:off x="2005857" y="368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120</a:t>
              </a:r>
              <a:endParaRPr kumimoji="1" lang="zh-CN" altLang="en-US" dirty="0">
                <a:solidFill>
                  <a:schemeClr val="tx1"/>
                </a:solidFill>
              </a:endParaRPr>
            </a:p>
          </p:txBody>
        </p:sp>
        <p:sp>
          <p:nvSpPr>
            <p:cNvPr id="63" name="矩形 62">
              <a:extLst>
                <a:ext uri="{FF2B5EF4-FFF2-40B4-BE49-F238E27FC236}">
                  <a16:creationId xmlns:a16="http://schemas.microsoft.com/office/drawing/2014/main" id="{398BF263-64B9-19A5-38C6-AD0D6C4FB298}"/>
                </a:ext>
              </a:extLst>
            </p:cNvPr>
            <p:cNvSpPr/>
            <p:nvPr/>
          </p:nvSpPr>
          <p:spPr>
            <a:xfrm>
              <a:off x="2007396" y="422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101</a:t>
              </a:r>
              <a:endParaRPr kumimoji="1" lang="zh-CN" altLang="en-US" dirty="0">
                <a:solidFill>
                  <a:schemeClr val="tx1"/>
                </a:solidFill>
              </a:endParaRPr>
            </a:p>
          </p:txBody>
        </p:sp>
        <p:sp>
          <p:nvSpPr>
            <p:cNvPr id="64" name="矩形 63">
              <a:extLst>
                <a:ext uri="{FF2B5EF4-FFF2-40B4-BE49-F238E27FC236}">
                  <a16:creationId xmlns:a16="http://schemas.microsoft.com/office/drawing/2014/main" id="{52AEE171-7921-FDE8-B3FD-61EA1738266D}"/>
                </a:ext>
              </a:extLst>
            </p:cNvPr>
            <p:cNvSpPr/>
            <p:nvPr/>
          </p:nvSpPr>
          <p:spPr>
            <a:xfrm>
              <a:off x="2004858" y="476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80</a:t>
              </a:r>
              <a:endParaRPr kumimoji="1" lang="zh-CN" altLang="en-US" dirty="0">
                <a:solidFill>
                  <a:schemeClr val="tx1"/>
                </a:solidFill>
              </a:endParaRPr>
            </a:p>
          </p:txBody>
        </p:sp>
        <p:sp>
          <p:nvSpPr>
            <p:cNvPr id="65" name="矩形 64">
              <a:extLst>
                <a:ext uri="{FF2B5EF4-FFF2-40B4-BE49-F238E27FC236}">
                  <a16:creationId xmlns:a16="http://schemas.microsoft.com/office/drawing/2014/main" id="{DB13855D-4031-9A37-3683-659421239275}"/>
                </a:ext>
              </a:extLst>
            </p:cNvPr>
            <p:cNvSpPr/>
            <p:nvPr/>
          </p:nvSpPr>
          <p:spPr>
            <a:xfrm>
              <a:off x="389530"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20</a:t>
              </a:r>
              <a:endParaRPr kumimoji="1" lang="zh-CN" altLang="en-US" dirty="0">
                <a:solidFill>
                  <a:schemeClr val="tx1"/>
                </a:solidFill>
              </a:endParaRPr>
            </a:p>
          </p:txBody>
        </p:sp>
        <p:sp>
          <p:nvSpPr>
            <p:cNvPr id="66" name="矩形 65">
              <a:extLst>
                <a:ext uri="{FF2B5EF4-FFF2-40B4-BE49-F238E27FC236}">
                  <a16:creationId xmlns:a16="http://schemas.microsoft.com/office/drawing/2014/main" id="{5C736210-05ED-0682-C3F0-6B9530F7C66F}"/>
                </a:ext>
              </a:extLst>
            </p:cNvPr>
            <p:cNvSpPr/>
            <p:nvPr/>
          </p:nvSpPr>
          <p:spPr>
            <a:xfrm>
              <a:off x="932473"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46</a:t>
              </a:r>
              <a:endParaRPr kumimoji="1" lang="zh-CN" altLang="en-US" dirty="0">
                <a:solidFill>
                  <a:schemeClr val="tx1"/>
                </a:solidFill>
              </a:endParaRPr>
            </a:p>
          </p:txBody>
        </p:sp>
        <p:sp>
          <p:nvSpPr>
            <p:cNvPr id="67" name="矩形 66">
              <a:extLst>
                <a:ext uri="{FF2B5EF4-FFF2-40B4-BE49-F238E27FC236}">
                  <a16:creationId xmlns:a16="http://schemas.microsoft.com/office/drawing/2014/main" id="{55FFCDB1-91EC-8D59-73D4-9844316D5912}"/>
                </a:ext>
              </a:extLst>
            </p:cNvPr>
            <p:cNvSpPr/>
            <p:nvPr/>
          </p:nvSpPr>
          <p:spPr>
            <a:xfrm>
              <a:off x="1472202"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82</a:t>
              </a:r>
              <a:endParaRPr kumimoji="1" lang="zh-CN" altLang="en-US" dirty="0">
                <a:solidFill>
                  <a:schemeClr val="tx1"/>
                </a:solidFill>
              </a:endParaRPr>
            </a:p>
          </p:txBody>
        </p:sp>
        <p:sp>
          <p:nvSpPr>
            <p:cNvPr id="68" name="矩形 67">
              <a:extLst>
                <a:ext uri="{FF2B5EF4-FFF2-40B4-BE49-F238E27FC236}">
                  <a16:creationId xmlns:a16="http://schemas.microsoft.com/office/drawing/2014/main" id="{14BBA7A5-A84F-3183-7E30-C33CE31023FD}"/>
                </a:ext>
              </a:extLst>
            </p:cNvPr>
            <p:cNvSpPr/>
            <p:nvPr/>
          </p:nvSpPr>
          <p:spPr>
            <a:xfrm>
              <a:off x="2003425"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82</a:t>
              </a:r>
              <a:endParaRPr kumimoji="1" lang="zh-CN" altLang="en-US" dirty="0">
                <a:solidFill>
                  <a:schemeClr val="tx1"/>
                </a:solidFill>
              </a:endParaRPr>
            </a:p>
          </p:txBody>
        </p:sp>
        <p:sp>
          <p:nvSpPr>
            <p:cNvPr id="69" name="矩形 68">
              <a:extLst>
                <a:ext uri="{FF2B5EF4-FFF2-40B4-BE49-F238E27FC236}">
                  <a16:creationId xmlns:a16="http://schemas.microsoft.com/office/drawing/2014/main" id="{490CBB16-E0E1-D722-3D9E-678344D01670}"/>
                </a:ext>
              </a:extLst>
            </p:cNvPr>
            <p:cNvSpPr/>
            <p:nvPr/>
          </p:nvSpPr>
          <p:spPr>
            <a:xfrm>
              <a:off x="908566" y="3687513"/>
              <a:ext cx="1095752" cy="1080000"/>
            </a:xfrm>
            <a:prstGeom prst="rect">
              <a:avLst/>
            </a:prstGeom>
            <a:noFill/>
            <a:ln w="539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文本框 74">
              <a:extLst>
                <a:ext uri="{FF2B5EF4-FFF2-40B4-BE49-F238E27FC236}">
                  <a16:creationId xmlns:a16="http://schemas.microsoft.com/office/drawing/2014/main" id="{C6B01D3F-4029-A0A7-F124-3541D98B9327}"/>
                </a:ext>
              </a:extLst>
            </p:cNvPr>
            <p:cNvSpPr txBox="1"/>
            <p:nvPr/>
          </p:nvSpPr>
          <p:spPr>
            <a:xfrm>
              <a:off x="423888" y="3299431"/>
              <a:ext cx="522900" cy="369332"/>
            </a:xfrm>
            <a:prstGeom prst="rect">
              <a:avLst/>
            </a:prstGeom>
            <a:noFill/>
          </p:spPr>
          <p:txBody>
            <a:bodyPr wrap="none" rtlCol="0">
              <a:spAutoFit/>
            </a:bodyPr>
            <a:lstStyle/>
            <a:p>
              <a:r>
                <a:rPr kumimoji="1" lang="en-US" altLang="zh-CN" dirty="0"/>
                <a:t>S=1</a:t>
              </a:r>
              <a:endParaRPr kumimoji="1" lang="zh-CN" altLang="en-US" dirty="0"/>
            </a:p>
          </p:txBody>
        </p:sp>
        <p:cxnSp>
          <p:nvCxnSpPr>
            <p:cNvPr id="76" name="直线连接符 75">
              <a:extLst>
                <a:ext uri="{FF2B5EF4-FFF2-40B4-BE49-F238E27FC236}">
                  <a16:creationId xmlns:a16="http://schemas.microsoft.com/office/drawing/2014/main" id="{21E7B162-CDCB-23B9-1135-23A7BE8065FD}"/>
                </a:ext>
              </a:extLst>
            </p:cNvPr>
            <p:cNvCxnSpPr/>
            <p:nvPr/>
          </p:nvCxnSpPr>
          <p:spPr>
            <a:xfrm flipV="1">
              <a:off x="3119104" y="3265626"/>
              <a:ext cx="0" cy="4218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线连接符 76">
              <a:extLst>
                <a:ext uri="{FF2B5EF4-FFF2-40B4-BE49-F238E27FC236}">
                  <a16:creationId xmlns:a16="http://schemas.microsoft.com/office/drawing/2014/main" id="{1CC7478E-0E07-D026-0056-E3361F08EF10}"/>
                </a:ext>
              </a:extLst>
            </p:cNvPr>
            <p:cNvCxnSpPr>
              <a:cxnSpLocks/>
            </p:cNvCxnSpPr>
            <p:nvPr/>
          </p:nvCxnSpPr>
          <p:spPr>
            <a:xfrm flipV="1">
              <a:off x="4220862" y="3284882"/>
              <a:ext cx="0" cy="4218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5AA860EA-7698-84C9-A4AE-D308CB3DFF9E}"/>
                </a:ext>
              </a:extLst>
            </p:cNvPr>
            <p:cNvGrpSpPr/>
            <p:nvPr/>
          </p:nvGrpSpPr>
          <p:grpSpPr>
            <a:xfrm>
              <a:off x="3119239" y="3687513"/>
              <a:ext cx="1635752" cy="1620000"/>
              <a:chOff x="962844" y="3252651"/>
              <a:chExt cx="1635752" cy="1620000"/>
            </a:xfrm>
          </p:grpSpPr>
          <p:sp>
            <p:nvSpPr>
              <p:cNvPr id="79" name="矩形 78">
                <a:extLst>
                  <a:ext uri="{FF2B5EF4-FFF2-40B4-BE49-F238E27FC236}">
                    <a16:creationId xmlns:a16="http://schemas.microsoft.com/office/drawing/2014/main" id="{FE72B798-069A-C712-D9D4-EDE0B7ED455F}"/>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0" name="文本框 79">
                <a:extLst>
                  <a:ext uri="{FF2B5EF4-FFF2-40B4-BE49-F238E27FC236}">
                    <a16:creationId xmlns:a16="http://schemas.microsoft.com/office/drawing/2014/main" id="{A819F2DA-5857-22F0-86BD-8F33FE7008C0}"/>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81" name="矩形 80">
                <a:extLst>
                  <a:ext uri="{FF2B5EF4-FFF2-40B4-BE49-F238E27FC236}">
                    <a16:creationId xmlns:a16="http://schemas.microsoft.com/office/drawing/2014/main" id="{2FCD7126-DC3B-D797-1AEE-C4B588EA1804}"/>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2" name="文本框 81">
                <a:extLst>
                  <a:ext uri="{FF2B5EF4-FFF2-40B4-BE49-F238E27FC236}">
                    <a16:creationId xmlns:a16="http://schemas.microsoft.com/office/drawing/2014/main" id="{F64A9852-DDB5-284A-D2B2-35C43010F47C}"/>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83" name="矩形 82">
                <a:extLst>
                  <a:ext uri="{FF2B5EF4-FFF2-40B4-BE49-F238E27FC236}">
                    <a16:creationId xmlns:a16="http://schemas.microsoft.com/office/drawing/2014/main" id="{23D6490F-1AA9-7583-8416-28DADE4BD656}"/>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4" name="文本框 83">
                <a:extLst>
                  <a:ext uri="{FF2B5EF4-FFF2-40B4-BE49-F238E27FC236}">
                    <a16:creationId xmlns:a16="http://schemas.microsoft.com/office/drawing/2014/main" id="{12C705D5-A5B5-F749-1FF5-FAB710A235F8}"/>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85" name="矩形 84">
                <a:extLst>
                  <a:ext uri="{FF2B5EF4-FFF2-40B4-BE49-F238E27FC236}">
                    <a16:creationId xmlns:a16="http://schemas.microsoft.com/office/drawing/2014/main" id="{674B7F9B-3454-7832-53D0-9489CB74FAB4}"/>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文本框 85">
                <a:extLst>
                  <a:ext uri="{FF2B5EF4-FFF2-40B4-BE49-F238E27FC236}">
                    <a16:creationId xmlns:a16="http://schemas.microsoft.com/office/drawing/2014/main" id="{F68C4C41-87A1-059D-225C-EDF7F079D6EB}"/>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87" name="矩形 86">
                <a:extLst>
                  <a:ext uri="{FF2B5EF4-FFF2-40B4-BE49-F238E27FC236}">
                    <a16:creationId xmlns:a16="http://schemas.microsoft.com/office/drawing/2014/main" id="{232985EC-54CA-3490-0755-512665679D9D}"/>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8" name="文本框 87">
                <a:extLst>
                  <a:ext uri="{FF2B5EF4-FFF2-40B4-BE49-F238E27FC236}">
                    <a16:creationId xmlns:a16="http://schemas.microsoft.com/office/drawing/2014/main" id="{9CC87576-1F58-A1B5-DD70-2965E97C5E91}"/>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89" name="矩形 88">
                <a:extLst>
                  <a:ext uri="{FF2B5EF4-FFF2-40B4-BE49-F238E27FC236}">
                    <a16:creationId xmlns:a16="http://schemas.microsoft.com/office/drawing/2014/main" id="{A5C25F7D-C634-083E-F144-DFFF27633874}"/>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90" name="矩形 89">
                <a:extLst>
                  <a:ext uri="{FF2B5EF4-FFF2-40B4-BE49-F238E27FC236}">
                    <a16:creationId xmlns:a16="http://schemas.microsoft.com/office/drawing/2014/main" id="{BB488E7C-9FCF-8E19-2EC1-7C7D920E925A}"/>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1" name="文本框 90">
                <a:extLst>
                  <a:ext uri="{FF2B5EF4-FFF2-40B4-BE49-F238E27FC236}">
                    <a16:creationId xmlns:a16="http://schemas.microsoft.com/office/drawing/2014/main" id="{6F496C05-754C-C6A5-58D4-FB70D3E333CB}"/>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92" name="矩形 91">
                <a:extLst>
                  <a:ext uri="{FF2B5EF4-FFF2-40B4-BE49-F238E27FC236}">
                    <a16:creationId xmlns:a16="http://schemas.microsoft.com/office/drawing/2014/main" id="{FC29A3BF-5341-664A-784B-E0509DF40903}"/>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3" name="文本框 92">
                <a:extLst>
                  <a:ext uri="{FF2B5EF4-FFF2-40B4-BE49-F238E27FC236}">
                    <a16:creationId xmlns:a16="http://schemas.microsoft.com/office/drawing/2014/main" id="{FE1DC872-D404-2E14-4FDC-9913D36EE01A}"/>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94" name="矩形 93">
                <a:extLst>
                  <a:ext uri="{FF2B5EF4-FFF2-40B4-BE49-F238E27FC236}">
                    <a16:creationId xmlns:a16="http://schemas.microsoft.com/office/drawing/2014/main" id="{74B04D60-3FE9-CE96-4F27-3D74F8D60F73}"/>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5" name="文本框 94">
                <a:extLst>
                  <a:ext uri="{FF2B5EF4-FFF2-40B4-BE49-F238E27FC236}">
                    <a16:creationId xmlns:a16="http://schemas.microsoft.com/office/drawing/2014/main" id="{00C3C5E1-D8DC-2981-59E6-BC069A62D9A5}"/>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96" name="矩形 95">
              <a:extLst>
                <a:ext uri="{FF2B5EF4-FFF2-40B4-BE49-F238E27FC236}">
                  <a16:creationId xmlns:a16="http://schemas.microsoft.com/office/drawing/2014/main" id="{C61710FD-262F-C4BE-E854-A440EB2904D2}"/>
                </a:ext>
              </a:extLst>
            </p:cNvPr>
            <p:cNvSpPr/>
            <p:nvPr/>
          </p:nvSpPr>
          <p:spPr>
            <a:xfrm>
              <a:off x="3125214" y="3687513"/>
              <a:ext cx="1095752" cy="10800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7" name="矩形 96">
              <a:extLst>
                <a:ext uri="{FF2B5EF4-FFF2-40B4-BE49-F238E27FC236}">
                  <a16:creationId xmlns:a16="http://schemas.microsoft.com/office/drawing/2014/main" id="{2A10E1BB-460C-6916-9584-9107405BAA00}"/>
                </a:ext>
              </a:extLst>
            </p:cNvPr>
            <p:cNvSpPr/>
            <p:nvPr/>
          </p:nvSpPr>
          <p:spPr>
            <a:xfrm>
              <a:off x="4735431" y="368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120</a:t>
              </a:r>
              <a:endParaRPr kumimoji="1" lang="zh-CN" altLang="en-US" dirty="0">
                <a:solidFill>
                  <a:schemeClr val="tx1"/>
                </a:solidFill>
              </a:endParaRPr>
            </a:p>
          </p:txBody>
        </p:sp>
        <p:sp>
          <p:nvSpPr>
            <p:cNvPr id="98" name="矩形 97">
              <a:extLst>
                <a:ext uri="{FF2B5EF4-FFF2-40B4-BE49-F238E27FC236}">
                  <a16:creationId xmlns:a16="http://schemas.microsoft.com/office/drawing/2014/main" id="{DEF82656-3F15-68A0-7EDE-A9937E4D1E09}"/>
                </a:ext>
              </a:extLst>
            </p:cNvPr>
            <p:cNvSpPr/>
            <p:nvPr/>
          </p:nvSpPr>
          <p:spPr>
            <a:xfrm>
              <a:off x="4736970" y="422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101</a:t>
              </a:r>
              <a:endParaRPr kumimoji="1" lang="zh-CN" altLang="en-US" dirty="0">
                <a:solidFill>
                  <a:schemeClr val="tx1"/>
                </a:solidFill>
              </a:endParaRPr>
            </a:p>
          </p:txBody>
        </p:sp>
        <p:sp>
          <p:nvSpPr>
            <p:cNvPr id="99" name="矩形 98">
              <a:extLst>
                <a:ext uri="{FF2B5EF4-FFF2-40B4-BE49-F238E27FC236}">
                  <a16:creationId xmlns:a16="http://schemas.microsoft.com/office/drawing/2014/main" id="{AF69EEAD-478B-70D4-5055-B18852AA3B3B}"/>
                </a:ext>
              </a:extLst>
            </p:cNvPr>
            <p:cNvSpPr/>
            <p:nvPr/>
          </p:nvSpPr>
          <p:spPr>
            <a:xfrm>
              <a:off x="4734432" y="476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80</a:t>
              </a:r>
              <a:endParaRPr kumimoji="1" lang="zh-CN" altLang="en-US" dirty="0">
                <a:solidFill>
                  <a:schemeClr val="tx1"/>
                </a:solidFill>
              </a:endParaRPr>
            </a:p>
          </p:txBody>
        </p:sp>
        <p:sp>
          <p:nvSpPr>
            <p:cNvPr id="100" name="矩形 99">
              <a:extLst>
                <a:ext uri="{FF2B5EF4-FFF2-40B4-BE49-F238E27FC236}">
                  <a16:creationId xmlns:a16="http://schemas.microsoft.com/office/drawing/2014/main" id="{3A2CB1BC-CD29-30B3-CA79-A75047303FE9}"/>
                </a:ext>
              </a:extLst>
            </p:cNvPr>
            <p:cNvSpPr/>
            <p:nvPr/>
          </p:nvSpPr>
          <p:spPr>
            <a:xfrm>
              <a:off x="3119104"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20</a:t>
              </a:r>
              <a:endParaRPr kumimoji="1" lang="zh-CN" altLang="en-US" dirty="0">
                <a:solidFill>
                  <a:schemeClr val="tx1"/>
                </a:solidFill>
              </a:endParaRPr>
            </a:p>
          </p:txBody>
        </p:sp>
        <p:sp>
          <p:nvSpPr>
            <p:cNvPr id="101" name="矩形 100">
              <a:extLst>
                <a:ext uri="{FF2B5EF4-FFF2-40B4-BE49-F238E27FC236}">
                  <a16:creationId xmlns:a16="http://schemas.microsoft.com/office/drawing/2014/main" id="{71C09B84-74C6-4B1A-FFD3-F45FCCAABEED}"/>
                </a:ext>
              </a:extLst>
            </p:cNvPr>
            <p:cNvSpPr/>
            <p:nvPr/>
          </p:nvSpPr>
          <p:spPr>
            <a:xfrm>
              <a:off x="3662047"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46</a:t>
              </a:r>
              <a:endParaRPr kumimoji="1" lang="zh-CN" altLang="en-US" dirty="0">
                <a:solidFill>
                  <a:schemeClr val="tx1"/>
                </a:solidFill>
              </a:endParaRPr>
            </a:p>
          </p:txBody>
        </p:sp>
        <p:sp>
          <p:nvSpPr>
            <p:cNvPr id="102" name="矩形 101">
              <a:extLst>
                <a:ext uri="{FF2B5EF4-FFF2-40B4-BE49-F238E27FC236}">
                  <a16:creationId xmlns:a16="http://schemas.microsoft.com/office/drawing/2014/main" id="{70E71BEE-E7B3-09C4-103A-CAFFABC29117}"/>
                </a:ext>
              </a:extLst>
            </p:cNvPr>
            <p:cNvSpPr/>
            <p:nvPr/>
          </p:nvSpPr>
          <p:spPr>
            <a:xfrm>
              <a:off x="4201776"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82</a:t>
              </a:r>
              <a:endParaRPr kumimoji="1" lang="zh-CN" altLang="en-US" dirty="0">
                <a:solidFill>
                  <a:schemeClr val="tx1"/>
                </a:solidFill>
              </a:endParaRPr>
            </a:p>
          </p:txBody>
        </p:sp>
        <p:sp>
          <p:nvSpPr>
            <p:cNvPr id="103" name="矩形 102">
              <a:extLst>
                <a:ext uri="{FF2B5EF4-FFF2-40B4-BE49-F238E27FC236}">
                  <a16:creationId xmlns:a16="http://schemas.microsoft.com/office/drawing/2014/main" id="{7EA6A66F-1DB7-565D-3E50-DCED4297CF33}"/>
                </a:ext>
              </a:extLst>
            </p:cNvPr>
            <p:cNvSpPr/>
            <p:nvPr/>
          </p:nvSpPr>
          <p:spPr>
            <a:xfrm>
              <a:off x="4732999" y="53075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82</a:t>
              </a:r>
              <a:endParaRPr kumimoji="1" lang="zh-CN" altLang="en-US" dirty="0">
                <a:solidFill>
                  <a:schemeClr val="tx1"/>
                </a:solidFill>
              </a:endParaRPr>
            </a:p>
          </p:txBody>
        </p:sp>
        <p:sp>
          <p:nvSpPr>
            <p:cNvPr id="104" name="矩形 103">
              <a:extLst>
                <a:ext uri="{FF2B5EF4-FFF2-40B4-BE49-F238E27FC236}">
                  <a16:creationId xmlns:a16="http://schemas.microsoft.com/office/drawing/2014/main" id="{F73D92EC-D945-6758-8F58-A6F73341B59F}"/>
                </a:ext>
              </a:extLst>
            </p:cNvPr>
            <p:cNvSpPr/>
            <p:nvPr/>
          </p:nvSpPr>
          <p:spPr>
            <a:xfrm>
              <a:off x="4208120" y="3687513"/>
              <a:ext cx="1095752" cy="1080000"/>
            </a:xfrm>
            <a:prstGeom prst="rect">
              <a:avLst/>
            </a:prstGeom>
            <a:noFill/>
            <a:ln w="539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5" name="文本框 104">
              <a:extLst>
                <a:ext uri="{FF2B5EF4-FFF2-40B4-BE49-F238E27FC236}">
                  <a16:creationId xmlns:a16="http://schemas.microsoft.com/office/drawing/2014/main" id="{9414FCB0-0F96-E24C-E9D4-7F00E87B95E1}"/>
                </a:ext>
              </a:extLst>
            </p:cNvPr>
            <p:cNvSpPr txBox="1"/>
            <p:nvPr/>
          </p:nvSpPr>
          <p:spPr>
            <a:xfrm>
              <a:off x="3437230" y="3265581"/>
              <a:ext cx="522900" cy="369332"/>
            </a:xfrm>
            <a:prstGeom prst="rect">
              <a:avLst/>
            </a:prstGeom>
            <a:noFill/>
          </p:spPr>
          <p:txBody>
            <a:bodyPr wrap="none" rtlCol="0">
              <a:spAutoFit/>
            </a:bodyPr>
            <a:lstStyle/>
            <a:p>
              <a:r>
                <a:rPr kumimoji="1" lang="en-US" altLang="zh-CN" dirty="0"/>
                <a:t>S=2</a:t>
              </a:r>
              <a:endParaRPr kumimoji="1" lang="zh-CN" altLang="en-US" dirty="0"/>
            </a:p>
          </p:txBody>
        </p:sp>
      </p:grpSp>
      <p:sp>
        <p:nvSpPr>
          <p:cNvPr id="108" name="矩形 107">
            <a:extLst>
              <a:ext uri="{FF2B5EF4-FFF2-40B4-BE49-F238E27FC236}">
                <a16:creationId xmlns:a16="http://schemas.microsoft.com/office/drawing/2014/main" id="{13FD941A-CF52-6C1F-977B-13FCE10341E3}"/>
              </a:ext>
            </a:extLst>
          </p:cNvPr>
          <p:cNvSpPr/>
          <p:nvPr/>
        </p:nvSpPr>
        <p:spPr bwMode="auto">
          <a:xfrm>
            <a:off x="7113207" y="3185131"/>
            <a:ext cx="4340333" cy="282220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步长的设定必须满足整数滑动的几何约束，即</a:t>
            </a:r>
            <a:r>
              <a:rPr lang="en-US" altLang="zh-CN" sz="2400" dirty="0"/>
              <a:t>(W-F)/S+1 </a:t>
            </a:r>
            <a:r>
              <a:rPr lang="zh-CN" altLang="en-US" sz="2400" dirty="0"/>
              <a:t>的结果必须为正数，否则神经元不能整齐对称的滑过输入数据体。（比如</a:t>
            </a:r>
            <a:r>
              <a:rPr lang="en-US" altLang="zh-CN" sz="2400" dirty="0"/>
              <a:t> W=3</a:t>
            </a:r>
            <a:r>
              <a:rPr lang="zh-CN" altLang="en-US" sz="2400" dirty="0"/>
              <a:t>，</a:t>
            </a:r>
            <a:r>
              <a:rPr lang="en-US" altLang="zh-CN" sz="2400" dirty="0"/>
              <a:t>F=2</a:t>
            </a:r>
            <a:r>
              <a:rPr lang="zh-CN" altLang="en-US" sz="2400" dirty="0"/>
              <a:t>，</a:t>
            </a:r>
            <a:r>
              <a:rPr lang="en-US" altLang="zh-CN" sz="2400" dirty="0"/>
              <a:t>S=2 </a:t>
            </a:r>
            <a:r>
              <a:rPr lang="zh-CN" altLang="en-US" sz="2400" dirty="0"/>
              <a:t>时）</a:t>
            </a:r>
            <a:endParaRPr lang="en-US" altLang="zh-CN" sz="2400" dirty="0"/>
          </a:p>
        </p:txBody>
      </p:sp>
    </p:spTree>
    <p:extLst>
      <p:ext uri="{BB962C8B-B14F-4D97-AF65-F5344CB8AC3E}">
        <p14:creationId xmlns:p14="http://schemas.microsoft.com/office/powerpoint/2010/main" val="948437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48793-1BC8-6F6B-5046-95F05CF6E0EA}"/>
            </a:ext>
          </a:extLst>
        </p:cNvPr>
        <p:cNvGrpSpPr/>
        <p:nvPr/>
      </p:nvGrpSpPr>
      <p:grpSpPr>
        <a:xfrm>
          <a:off x="0" y="0"/>
          <a:ext cx="0" cy="0"/>
          <a:chOff x="0" y="0"/>
          <a:chExt cx="0" cy="0"/>
        </a:xfrm>
      </p:grpSpPr>
      <p:sp>
        <p:nvSpPr>
          <p:cNvPr id="146" name="矩形 145">
            <a:extLst>
              <a:ext uri="{FF2B5EF4-FFF2-40B4-BE49-F238E27FC236}">
                <a16:creationId xmlns:a16="http://schemas.microsoft.com/office/drawing/2014/main" id="{7E298D0C-A553-5D5D-4C18-471E256C6417}"/>
              </a:ext>
            </a:extLst>
          </p:cNvPr>
          <p:cNvSpPr/>
          <p:nvPr/>
        </p:nvSpPr>
        <p:spPr>
          <a:xfrm>
            <a:off x="360641" y="308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50" name="矩形 149">
            <a:extLst>
              <a:ext uri="{FF2B5EF4-FFF2-40B4-BE49-F238E27FC236}">
                <a16:creationId xmlns:a16="http://schemas.microsoft.com/office/drawing/2014/main" id="{F024398E-68BD-037D-53B0-98F1093F5DB7}"/>
              </a:ext>
            </a:extLst>
          </p:cNvPr>
          <p:cNvSpPr/>
          <p:nvPr/>
        </p:nvSpPr>
        <p:spPr>
          <a:xfrm>
            <a:off x="2514513" y="3082776"/>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7" name="矩形 146">
            <a:extLst>
              <a:ext uri="{FF2B5EF4-FFF2-40B4-BE49-F238E27FC236}">
                <a16:creationId xmlns:a16="http://schemas.microsoft.com/office/drawing/2014/main" id="{8C9F0786-671E-9CE2-D7F0-6C916C566D62}"/>
              </a:ext>
            </a:extLst>
          </p:cNvPr>
          <p:cNvSpPr/>
          <p:nvPr/>
        </p:nvSpPr>
        <p:spPr>
          <a:xfrm>
            <a:off x="900641" y="308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8" name="矩形 147">
            <a:extLst>
              <a:ext uri="{FF2B5EF4-FFF2-40B4-BE49-F238E27FC236}">
                <a16:creationId xmlns:a16="http://schemas.microsoft.com/office/drawing/2014/main" id="{3F185A6D-5F55-79C4-FFAF-868969B96258}"/>
              </a:ext>
            </a:extLst>
          </p:cNvPr>
          <p:cNvSpPr/>
          <p:nvPr/>
        </p:nvSpPr>
        <p:spPr>
          <a:xfrm>
            <a:off x="1439898" y="308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9" name="矩形 148">
            <a:extLst>
              <a:ext uri="{FF2B5EF4-FFF2-40B4-BE49-F238E27FC236}">
                <a16:creationId xmlns:a16="http://schemas.microsoft.com/office/drawing/2014/main" id="{5639AFE3-1214-0AD1-591D-17BC314E01C0}"/>
              </a:ext>
            </a:extLst>
          </p:cNvPr>
          <p:cNvSpPr/>
          <p:nvPr/>
        </p:nvSpPr>
        <p:spPr>
          <a:xfrm>
            <a:off x="1979898" y="3084053"/>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2" name="矩形 141">
            <a:extLst>
              <a:ext uri="{FF2B5EF4-FFF2-40B4-BE49-F238E27FC236}">
                <a16:creationId xmlns:a16="http://schemas.microsoft.com/office/drawing/2014/main" id="{3528E602-ED6A-9252-6102-C3B209118DD0}"/>
              </a:ext>
            </a:extLst>
          </p:cNvPr>
          <p:cNvSpPr/>
          <p:nvPr/>
        </p:nvSpPr>
        <p:spPr>
          <a:xfrm>
            <a:off x="358103" y="524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3" name="矩形 142">
            <a:extLst>
              <a:ext uri="{FF2B5EF4-FFF2-40B4-BE49-F238E27FC236}">
                <a16:creationId xmlns:a16="http://schemas.microsoft.com/office/drawing/2014/main" id="{8EB9DE4E-1610-D7AD-BB58-2B381F52443F}"/>
              </a:ext>
            </a:extLst>
          </p:cNvPr>
          <p:cNvSpPr/>
          <p:nvPr/>
        </p:nvSpPr>
        <p:spPr>
          <a:xfrm>
            <a:off x="356762" y="470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4" name="矩形 143">
            <a:extLst>
              <a:ext uri="{FF2B5EF4-FFF2-40B4-BE49-F238E27FC236}">
                <a16:creationId xmlns:a16="http://schemas.microsoft.com/office/drawing/2014/main" id="{5DD485EB-27E3-C6ED-866D-BE0D086E5389}"/>
              </a:ext>
            </a:extLst>
          </p:cNvPr>
          <p:cNvSpPr/>
          <p:nvPr/>
        </p:nvSpPr>
        <p:spPr>
          <a:xfrm>
            <a:off x="355575" y="416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5" name="矩形 144">
            <a:extLst>
              <a:ext uri="{FF2B5EF4-FFF2-40B4-BE49-F238E27FC236}">
                <a16:creationId xmlns:a16="http://schemas.microsoft.com/office/drawing/2014/main" id="{B7F7AB75-969C-39E0-7B50-72968D9BF68C}"/>
              </a:ext>
            </a:extLst>
          </p:cNvPr>
          <p:cNvSpPr/>
          <p:nvPr/>
        </p:nvSpPr>
        <p:spPr>
          <a:xfrm>
            <a:off x="356762" y="362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54" name="矩形 153">
            <a:extLst>
              <a:ext uri="{FF2B5EF4-FFF2-40B4-BE49-F238E27FC236}">
                <a16:creationId xmlns:a16="http://schemas.microsoft.com/office/drawing/2014/main" id="{AC8672DE-E0B9-D01A-0622-BC3C8FC45A9B}"/>
              </a:ext>
            </a:extLst>
          </p:cNvPr>
          <p:cNvSpPr/>
          <p:nvPr/>
        </p:nvSpPr>
        <p:spPr>
          <a:xfrm>
            <a:off x="2514513" y="5241333"/>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39" name="矩形 138">
            <a:extLst>
              <a:ext uri="{FF2B5EF4-FFF2-40B4-BE49-F238E27FC236}">
                <a16:creationId xmlns:a16="http://schemas.microsoft.com/office/drawing/2014/main" id="{B1980751-FB9D-4371-FCE1-B483A671BF01}"/>
              </a:ext>
            </a:extLst>
          </p:cNvPr>
          <p:cNvSpPr/>
          <p:nvPr/>
        </p:nvSpPr>
        <p:spPr>
          <a:xfrm>
            <a:off x="893027" y="524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0" name="矩形 139">
            <a:extLst>
              <a:ext uri="{FF2B5EF4-FFF2-40B4-BE49-F238E27FC236}">
                <a16:creationId xmlns:a16="http://schemas.microsoft.com/office/drawing/2014/main" id="{4AEC9D52-0869-64E7-B074-5496C0B3829C}"/>
              </a:ext>
            </a:extLst>
          </p:cNvPr>
          <p:cNvSpPr/>
          <p:nvPr/>
        </p:nvSpPr>
        <p:spPr>
          <a:xfrm>
            <a:off x="1435565" y="524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41" name="矩形 140">
            <a:extLst>
              <a:ext uri="{FF2B5EF4-FFF2-40B4-BE49-F238E27FC236}">
                <a16:creationId xmlns:a16="http://schemas.microsoft.com/office/drawing/2014/main" id="{29407ED9-7268-8553-3595-565E8AEBCAA3}"/>
              </a:ext>
            </a:extLst>
          </p:cNvPr>
          <p:cNvSpPr/>
          <p:nvPr/>
        </p:nvSpPr>
        <p:spPr>
          <a:xfrm>
            <a:off x="1978102" y="524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51" name="矩形 150">
            <a:extLst>
              <a:ext uri="{FF2B5EF4-FFF2-40B4-BE49-F238E27FC236}">
                <a16:creationId xmlns:a16="http://schemas.microsoft.com/office/drawing/2014/main" id="{9CC8F4B5-2272-3715-9FF6-BA8F1179C712}"/>
              </a:ext>
            </a:extLst>
          </p:cNvPr>
          <p:cNvSpPr/>
          <p:nvPr/>
        </p:nvSpPr>
        <p:spPr>
          <a:xfrm>
            <a:off x="2517359" y="362805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52" name="矩形 151">
            <a:extLst>
              <a:ext uri="{FF2B5EF4-FFF2-40B4-BE49-F238E27FC236}">
                <a16:creationId xmlns:a16="http://schemas.microsoft.com/office/drawing/2014/main" id="{B72935C0-F241-7E8D-2153-CF00808B9DF9}"/>
              </a:ext>
            </a:extLst>
          </p:cNvPr>
          <p:cNvSpPr/>
          <p:nvPr/>
        </p:nvSpPr>
        <p:spPr>
          <a:xfrm>
            <a:off x="2518084" y="4169327"/>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53" name="矩形 152">
            <a:extLst>
              <a:ext uri="{FF2B5EF4-FFF2-40B4-BE49-F238E27FC236}">
                <a16:creationId xmlns:a16="http://schemas.microsoft.com/office/drawing/2014/main" id="{6B0B133C-7D46-9E07-583F-954EE7F83A52}"/>
              </a:ext>
            </a:extLst>
          </p:cNvPr>
          <p:cNvSpPr/>
          <p:nvPr/>
        </p:nvSpPr>
        <p:spPr>
          <a:xfrm>
            <a:off x="2517359" y="4705330"/>
            <a:ext cx="540000" cy="540000"/>
          </a:xfrm>
          <a:prstGeom prst="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35" name="矩形 34">
            <a:extLst>
              <a:ext uri="{FF2B5EF4-FFF2-40B4-BE49-F238E27FC236}">
                <a16:creationId xmlns:a16="http://schemas.microsoft.com/office/drawing/2014/main" id="{6391A03A-B317-2F5D-5E68-CE59E33758D7}"/>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A058FBE-02CC-684A-66C3-D208720B2BF3}"/>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89CF0F86-7CAA-ABE1-BF56-3F0485A0E15D}"/>
              </a:ext>
            </a:extLst>
          </p:cNvPr>
          <p:cNvSpPr/>
          <p:nvPr/>
        </p:nvSpPr>
        <p:spPr bwMode="auto">
          <a:xfrm>
            <a:off x="355575" y="1429139"/>
            <a:ext cx="11480850" cy="1219199"/>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在卷积过程中，图像边缘的像素参与计算的次数远少于中心像素，且每次卷积都会导致输出尺寸缩小。为了解决这个问题，我们在输入图像的四周补上一圈额外的像素（通常补</a:t>
            </a:r>
            <a:r>
              <a:rPr lang="en-US" altLang="zh-CN" sz="2400" dirty="0"/>
              <a:t>0</a:t>
            </a:r>
            <a:r>
              <a:rPr lang="zh-CN" altLang="en-US" sz="2400" dirty="0"/>
              <a:t>，称为</a:t>
            </a:r>
            <a:r>
              <a:rPr lang="en" altLang="zh-CN" sz="2400" dirty="0"/>
              <a:t>Zero-padding</a:t>
            </a:r>
            <a:r>
              <a:rPr lang="zh-CN" altLang="en" sz="2400" dirty="0"/>
              <a:t>）。</a:t>
            </a:r>
            <a:endParaRPr lang="en-US" altLang="zh-CN" sz="2400" dirty="0"/>
          </a:p>
        </p:txBody>
      </p:sp>
      <p:sp>
        <p:nvSpPr>
          <p:cNvPr id="114" name="object 5">
            <a:extLst>
              <a:ext uri="{FF2B5EF4-FFF2-40B4-BE49-F238E27FC236}">
                <a16:creationId xmlns:a16="http://schemas.microsoft.com/office/drawing/2014/main" id="{3FBC702D-D18A-3203-FC23-5EAFA2FD2F54}"/>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a:t>
            </a:r>
            <a:r>
              <a:rPr lang="en-US" altLang="zh-CN" sz="3600" spc="-10" dirty="0">
                <a:solidFill>
                  <a:schemeClr val="bg1"/>
                </a:solidFill>
                <a:latin typeface="Calibri" panose="020F0502020204030204" pitchFamily="34" charset="0"/>
                <a:cs typeface="Calibri" panose="020F0502020204030204" pitchFamily="34" charset="0"/>
              </a:rPr>
              <a:t>-</a:t>
            </a:r>
            <a:r>
              <a:rPr lang="zh-CN" altLang="en-US" sz="3600" spc="-10" dirty="0">
                <a:solidFill>
                  <a:schemeClr val="bg1"/>
                </a:solidFill>
                <a:latin typeface="Calibri" panose="020F0502020204030204" pitchFamily="34" charset="0"/>
                <a:cs typeface="Calibri" panose="020F0502020204030204" pitchFamily="34" charset="0"/>
              </a:rPr>
              <a:t>填充</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5" name="组合 4">
            <a:extLst>
              <a:ext uri="{FF2B5EF4-FFF2-40B4-BE49-F238E27FC236}">
                <a16:creationId xmlns:a16="http://schemas.microsoft.com/office/drawing/2014/main" id="{EA6CF494-1CC4-7458-98AF-97FA1D1EEE1F}"/>
              </a:ext>
            </a:extLst>
          </p:cNvPr>
          <p:cNvGrpSpPr/>
          <p:nvPr/>
        </p:nvGrpSpPr>
        <p:grpSpPr>
          <a:xfrm>
            <a:off x="894297" y="3625330"/>
            <a:ext cx="1635752" cy="1620000"/>
            <a:chOff x="962844" y="3252651"/>
            <a:chExt cx="1635752" cy="1620000"/>
          </a:xfrm>
        </p:grpSpPr>
        <p:sp>
          <p:nvSpPr>
            <p:cNvPr id="30" name="矩形 29">
              <a:extLst>
                <a:ext uri="{FF2B5EF4-FFF2-40B4-BE49-F238E27FC236}">
                  <a16:creationId xmlns:a16="http://schemas.microsoft.com/office/drawing/2014/main" id="{45626D13-A4DF-4C2E-B5F8-BEC0E5855B4C}"/>
                </a:ext>
              </a:extLst>
            </p:cNvPr>
            <p:cNvSpPr/>
            <p:nvPr/>
          </p:nvSpPr>
          <p:spPr>
            <a:xfrm>
              <a:off x="96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a:extLst>
                <a:ext uri="{FF2B5EF4-FFF2-40B4-BE49-F238E27FC236}">
                  <a16:creationId xmlns:a16="http://schemas.microsoft.com/office/drawing/2014/main" id="{FDC093D1-1EAF-E6CE-4A86-34CFCEF71D23}"/>
                </a:ext>
              </a:extLst>
            </p:cNvPr>
            <p:cNvSpPr txBox="1"/>
            <p:nvPr/>
          </p:nvSpPr>
          <p:spPr>
            <a:xfrm>
              <a:off x="1022489" y="3341982"/>
              <a:ext cx="428322" cy="369332"/>
            </a:xfrm>
            <a:prstGeom prst="rect">
              <a:avLst/>
            </a:prstGeom>
            <a:noFill/>
          </p:spPr>
          <p:txBody>
            <a:bodyPr wrap="none" rtlCol="0">
              <a:spAutoFit/>
            </a:bodyPr>
            <a:lstStyle/>
            <a:p>
              <a:r>
                <a:rPr kumimoji="1" lang="en-US" altLang="zh-CN" dirty="0"/>
                <a:t>26</a:t>
              </a:r>
              <a:endParaRPr kumimoji="1" lang="zh-CN" altLang="en-US" dirty="0"/>
            </a:p>
          </p:txBody>
        </p:sp>
        <p:sp>
          <p:nvSpPr>
            <p:cNvPr id="32" name="矩形 31">
              <a:extLst>
                <a:ext uri="{FF2B5EF4-FFF2-40B4-BE49-F238E27FC236}">
                  <a16:creationId xmlns:a16="http://schemas.microsoft.com/office/drawing/2014/main" id="{F70D464C-91F0-E7E1-2E09-E61CFC66FC09}"/>
                </a:ext>
              </a:extLst>
            </p:cNvPr>
            <p:cNvSpPr/>
            <p:nvPr/>
          </p:nvSpPr>
          <p:spPr>
            <a:xfrm>
              <a:off x="150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035C19F2-37C2-350A-7B72-CFCC74DCC030}"/>
                </a:ext>
              </a:extLst>
            </p:cNvPr>
            <p:cNvSpPr txBox="1"/>
            <p:nvPr/>
          </p:nvSpPr>
          <p:spPr>
            <a:xfrm>
              <a:off x="1501574" y="3341982"/>
              <a:ext cx="550151" cy="369332"/>
            </a:xfrm>
            <a:prstGeom prst="rect">
              <a:avLst/>
            </a:prstGeom>
            <a:noFill/>
          </p:spPr>
          <p:txBody>
            <a:bodyPr wrap="none" rtlCol="0">
              <a:spAutoFit/>
            </a:bodyPr>
            <a:lstStyle/>
            <a:p>
              <a:r>
                <a:rPr kumimoji="1" lang="en-US" altLang="zh-CN" dirty="0"/>
                <a:t>120</a:t>
              </a:r>
              <a:endParaRPr kumimoji="1" lang="zh-CN" altLang="en-US" dirty="0"/>
            </a:p>
          </p:txBody>
        </p:sp>
        <p:sp>
          <p:nvSpPr>
            <p:cNvPr id="34" name="矩形 33">
              <a:extLst>
                <a:ext uri="{FF2B5EF4-FFF2-40B4-BE49-F238E27FC236}">
                  <a16:creationId xmlns:a16="http://schemas.microsoft.com/office/drawing/2014/main" id="{BDDB0EB6-EC1B-8933-481D-6404065BA665}"/>
                </a:ext>
              </a:extLst>
            </p:cNvPr>
            <p:cNvSpPr/>
            <p:nvPr/>
          </p:nvSpPr>
          <p:spPr>
            <a:xfrm>
              <a:off x="2046650" y="325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文本框 36">
              <a:extLst>
                <a:ext uri="{FF2B5EF4-FFF2-40B4-BE49-F238E27FC236}">
                  <a16:creationId xmlns:a16="http://schemas.microsoft.com/office/drawing/2014/main" id="{1B315AE2-69B4-C026-B9C1-BAEADA25573A}"/>
                </a:ext>
              </a:extLst>
            </p:cNvPr>
            <p:cNvSpPr txBox="1"/>
            <p:nvPr/>
          </p:nvSpPr>
          <p:spPr>
            <a:xfrm>
              <a:off x="2041574" y="3341982"/>
              <a:ext cx="550151" cy="369332"/>
            </a:xfrm>
            <a:prstGeom prst="rect">
              <a:avLst/>
            </a:prstGeom>
            <a:noFill/>
          </p:spPr>
          <p:txBody>
            <a:bodyPr wrap="none" rtlCol="0">
              <a:spAutoFit/>
            </a:bodyPr>
            <a:lstStyle/>
            <a:p>
              <a:r>
                <a:rPr kumimoji="1" lang="en-US" altLang="zh-CN" dirty="0"/>
                <a:t>126</a:t>
              </a:r>
              <a:endParaRPr kumimoji="1" lang="zh-CN" altLang="en-US" dirty="0"/>
            </a:p>
          </p:txBody>
        </p:sp>
        <p:sp>
          <p:nvSpPr>
            <p:cNvPr id="38" name="矩形 37">
              <a:extLst>
                <a:ext uri="{FF2B5EF4-FFF2-40B4-BE49-F238E27FC236}">
                  <a16:creationId xmlns:a16="http://schemas.microsoft.com/office/drawing/2014/main" id="{A87E03FD-BDF8-7EF0-C62D-88389B80BBDA}"/>
                </a:ext>
              </a:extLst>
            </p:cNvPr>
            <p:cNvSpPr/>
            <p:nvPr/>
          </p:nvSpPr>
          <p:spPr>
            <a:xfrm>
              <a:off x="96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200312B8-E2F2-557A-CD19-8B8AA68A8D6F}"/>
                </a:ext>
              </a:extLst>
            </p:cNvPr>
            <p:cNvSpPr txBox="1"/>
            <p:nvPr/>
          </p:nvSpPr>
          <p:spPr>
            <a:xfrm>
              <a:off x="1019951" y="3881982"/>
              <a:ext cx="428322" cy="369332"/>
            </a:xfrm>
            <a:prstGeom prst="rect">
              <a:avLst/>
            </a:prstGeom>
            <a:noFill/>
          </p:spPr>
          <p:txBody>
            <a:bodyPr wrap="none" rtlCol="0">
              <a:spAutoFit/>
            </a:bodyPr>
            <a:lstStyle/>
            <a:p>
              <a:r>
                <a:rPr kumimoji="1" lang="en-US" altLang="zh-CN" dirty="0"/>
                <a:t>56</a:t>
              </a:r>
              <a:endParaRPr kumimoji="1" lang="zh-CN" altLang="en-US" dirty="0"/>
            </a:p>
          </p:txBody>
        </p:sp>
        <p:sp>
          <p:nvSpPr>
            <p:cNvPr id="40" name="矩形 39">
              <a:extLst>
                <a:ext uri="{FF2B5EF4-FFF2-40B4-BE49-F238E27FC236}">
                  <a16:creationId xmlns:a16="http://schemas.microsoft.com/office/drawing/2014/main" id="{8CF1C212-BA54-39FB-662F-7A7FBC9E3F05}"/>
                </a:ext>
              </a:extLst>
            </p:cNvPr>
            <p:cNvSpPr/>
            <p:nvPr/>
          </p:nvSpPr>
          <p:spPr>
            <a:xfrm>
              <a:off x="1504112"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文本框 40">
              <a:extLst>
                <a:ext uri="{FF2B5EF4-FFF2-40B4-BE49-F238E27FC236}">
                  <a16:creationId xmlns:a16="http://schemas.microsoft.com/office/drawing/2014/main" id="{D3AA8DA0-7C10-DE9C-05C4-6DF41CC024F6}"/>
                </a:ext>
              </a:extLst>
            </p:cNvPr>
            <p:cNvSpPr txBox="1"/>
            <p:nvPr/>
          </p:nvSpPr>
          <p:spPr>
            <a:xfrm>
              <a:off x="1567564" y="3881982"/>
              <a:ext cx="428322" cy="369332"/>
            </a:xfrm>
            <a:prstGeom prst="rect">
              <a:avLst/>
            </a:prstGeom>
            <a:noFill/>
          </p:spPr>
          <p:txBody>
            <a:bodyPr wrap="none" rtlCol="0">
              <a:spAutoFit/>
            </a:bodyPr>
            <a:lstStyle/>
            <a:p>
              <a:r>
                <a:rPr kumimoji="1" lang="en-US" altLang="zh-CN" dirty="0"/>
                <a:t>76</a:t>
              </a:r>
              <a:endParaRPr kumimoji="1" lang="zh-CN" altLang="en-US" dirty="0"/>
            </a:p>
          </p:txBody>
        </p:sp>
        <p:sp>
          <p:nvSpPr>
            <p:cNvPr id="42" name="矩形 41">
              <a:extLst>
                <a:ext uri="{FF2B5EF4-FFF2-40B4-BE49-F238E27FC236}">
                  <a16:creationId xmlns:a16="http://schemas.microsoft.com/office/drawing/2014/main" id="{CA6E6C46-E870-8434-294B-AD547EADA174}"/>
                </a:ext>
              </a:extLst>
            </p:cNvPr>
            <p:cNvSpPr/>
            <p:nvPr/>
          </p:nvSpPr>
          <p:spPr>
            <a:xfrm>
              <a:off x="2046649" y="379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43" name="矩形 42">
              <a:extLst>
                <a:ext uri="{FF2B5EF4-FFF2-40B4-BE49-F238E27FC236}">
                  <a16:creationId xmlns:a16="http://schemas.microsoft.com/office/drawing/2014/main" id="{A39B4CC6-B0DE-0B47-48BB-8E8C044008B4}"/>
                </a:ext>
              </a:extLst>
            </p:cNvPr>
            <p:cNvSpPr/>
            <p:nvPr/>
          </p:nvSpPr>
          <p:spPr>
            <a:xfrm>
              <a:off x="962844"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文本框 43">
              <a:extLst>
                <a:ext uri="{FF2B5EF4-FFF2-40B4-BE49-F238E27FC236}">
                  <a16:creationId xmlns:a16="http://schemas.microsoft.com/office/drawing/2014/main" id="{AB185BD6-B57B-0A40-E218-C4EBE3CFB237}"/>
                </a:ext>
              </a:extLst>
            </p:cNvPr>
            <p:cNvSpPr txBox="1"/>
            <p:nvPr/>
          </p:nvSpPr>
          <p:spPr>
            <a:xfrm>
              <a:off x="1018683" y="4421982"/>
              <a:ext cx="428322" cy="369332"/>
            </a:xfrm>
            <a:prstGeom prst="rect">
              <a:avLst/>
            </a:prstGeom>
            <a:noFill/>
          </p:spPr>
          <p:txBody>
            <a:bodyPr wrap="none" rtlCol="0">
              <a:spAutoFit/>
            </a:bodyPr>
            <a:lstStyle/>
            <a:p>
              <a:r>
                <a:rPr kumimoji="1" lang="en-US" altLang="zh-CN" dirty="0"/>
                <a:t>46</a:t>
              </a:r>
              <a:endParaRPr kumimoji="1" lang="zh-CN" altLang="en-US" dirty="0"/>
            </a:p>
          </p:txBody>
        </p:sp>
        <p:sp>
          <p:nvSpPr>
            <p:cNvPr id="70" name="矩形 69">
              <a:extLst>
                <a:ext uri="{FF2B5EF4-FFF2-40B4-BE49-F238E27FC236}">
                  <a16:creationId xmlns:a16="http://schemas.microsoft.com/office/drawing/2014/main" id="{090F7087-B418-B48B-4A73-241FC974B0D4}"/>
                </a:ext>
              </a:extLst>
            </p:cNvPr>
            <p:cNvSpPr/>
            <p:nvPr/>
          </p:nvSpPr>
          <p:spPr>
            <a:xfrm>
              <a:off x="1504113"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文本框 72">
              <a:extLst>
                <a:ext uri="{FF2B5EF4-FFF2-40B4-BE49-F238E27FC236}">
                  <a16:creationId xmlns:a16="http://schemas.microsoft.com/office/drawing/2014/main" id="{A3B2DF9A-41E1-B369-0D9D-A910ED044BAA}"/>
                </a:ext>
              </a:extLst>
            </p:cNvPr>
            <p:cNvSpPr txBox="1"/>
            <p:nvPr/>
          </p:nvSpPr>
          <p:spPr>
            <a:xfrm>
              <a:off x="1508445" y="4421982"/>
              <a:ext cx="550151" cy="369332"/>
            </a:xfrm>
            <a:prstGeom prst="rect">
              <a:avLst/>
            </a:prstGeom>
            <a:noFill/>
          </p:spPr>
          <p:txBody>
            <a:bodyPr wrap="none" rtlCol="0">
              <a:spAutoFit/>
            </a:bodyPr>
            <a:lstStyle/>
            <a:p>
              <a:r>
                <a:rPr kumimoji="1" lang="en-US" altLang="zh-CN" dirty="0"/>
                <a:t>106</a:t>
              </a:r>
              <a:endParaRPr kumimoji="1" lang="zh-CN" altLang="en-US" dirty="0"/>
            </a:p>
          </p:txBody>
        </p:sp>
        <p:sp>
          <p:nvSpPr>
            <p:cNvPr id="74" name="矩形 73">
              <a:extLst>
                <a:ext uri="{FF2B5EF4-FFF2-40B4-BE49-F238E27FC236}">
                  <a16:creationId xmlns:a16="http://schemas.microsoft.com/office/drawing/2014/main" id="{DA180ABE-CF59-B636-B90F-431BA56AF5D6}"/>
                </a:ext>
              </a:extLst>
            </p:cNvPr>
            <p:cNvSpPr/>
            <p:nvPr/>
          </p:nvSpPr>
          <p:spPr>
            <a:xfrm>
              <a:off x="2046650" y="433265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6" name="文本框 105">
              <a:extLst>
                <a:ext uri="{FF2B5EF4-FFF2-40B4-BE49-F238E27FC236}">
                  <a16:creationId xmlns:a16="http://schemas.microsoft.com/office/drawing/2014/main" id="{8413EB8C-185A-FDE7-D6F0-B9D181767CAE}"/>
                </a:ext>
              </a:extLst>
            </p:cNvPr>
            <p:cNvSpPr txBox="1"/>
            <p:nvPr/>
          </p:nvSpPr>
          <p:spPr>
            <a:xfrm>
              <a:off x="2048445" y="4421982"/>
              <a:ext cx="550151" cy="369332"/>
            </a:xfrm>
            <a:prstGeom prst="rect">
              <a:avLst/>
            </a:prstGeom>
            <a:noFill/>
          </p:spPr>
          <p:txBody>
            <a:bodyPr wrap="none" rtlCol="0">
              <a:spAutoFit/>
            </a:bodyPr>
            <a:lstStyle/>
            <a:p>
              <a:r>
                <a:rPr kumimoji="1" lang="en-US" altLang="zh-CN" dirty="0"/>
                <a:t>101</a:t>
              </a:r>
              <a:endParaRPr kumimoji="1" lang="zh-CN" altLang="en-US" dirty="0"/>
            </a:p>
          </p:txBody>
        </p:sp>
      </p:grpSp>
      <p:sp>
        <p:nvSpPr>
          <p:cNvPr id="7" name="文本框 6">
            <a:extLst>
              <a:ext uri="{FF2B5EF4-FFF2-40B4-BE49-F238E27FC236}">
                <a16:creationId xmlns:a16="http://schemas.microsoft.com/office/drawing/2014/main" id="{D3F5C1C9-49A5-2D91-F7C5-4BD304E26894}"/>
              </a:ext>
            </a:extLst>
          </p:cNvPr>
          <p:cNvSpPr txBox="1"/>
          <p:nvPr/>
        </p:nvSpPr>
        <p:spPr>
          <a:xfrm>
            <a:off x="3113684" y="4078655"/>
            <a:ext cx="327334" cy="369332"/>
          </a:xfrm>
          <a:prstGeom prst="rect">
            <a:avLst/>
          </a:prstGeom>
          <a:noFill/>
        </p:spPr>
        <p:txBody>
          <a:bodyPr wrap="none" rtlCol="0">
            <a:spAutoFit/>
          </a:bodyPr>
          <a:lstStyle/>
          <a:p>
            <a:r>
              <a:rPr kumimoji="1" lang="en-US" altLang="zh-CN" b="1" dirty="0"/>
              <a:t>X</a:t>
            </a:r>
            <a:endParaRPr kumimoji="1" lang="zh-CN" altLang="en-US" b="1" dirty="0"/>
          </a:p>
        </p:txBody>
      </p:sp>
      <p:grpSp>
        <p:nvGrpSpPr>
          <p:cNvPr id="9" name="组合 8">
            <a:extLst>
              <a:ext uri="{FF2B5EF4-FFF2-40B4-BE49-F238E27FC236}">
                <a16:creationId xmlns:a16="http://schemas.microsoft.com/office/drawing/2014/main" id="{F6D91344-256E-8F08-9F0B-ADD47C0A90B0}"/>
              </a:ext>
            </a:extLst>
          </p:cNvPr>
          <p:cNvGrpSpPr/>
          <p:nvPr/>
        </p:nvGrpSpPr>
        <p:grpSpPr>
          <a:xfrm>
            <a:off x="3487142" y="3686419"/>
            <a:ext cx="1500406" cy="1080000"/>
            <a:chOff x="3494450" y="3843157"/>
            <a:chExt cx="1500406" cy="1080000"/>
          </a:xfrm>
        </p:grpSpPr>
        <p:sp>
          <p:nvSpPr>
            <p:cNvPr id="21" name="矩形 20">
              <a:extLst>
                <a:ext uri="{FF2B5EF4-FFF2-40B4-BE49-F238E27FC236}">
                  <a16:creationId xmlns:a16="http://schemas.microsoft.com/office/drawing/2014/main" id="{6826FCF7-6C99-A0E6-52F9-12629377B463}"/>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485A016F-AC00-388B-34C9-119D652C005A}"/>
                </a:ext>
              </a:extLst>
            </p:cNvPr>
            <p:cNvSpPr txBox="1"/>
            <p:nvPr/>
          </p:nvSpPr>
          <p:spPr>
            <a:xfrm>
              <a:off x="3600408" y="3929618"/>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23" name="矩形 22">
              <a:extLst>
                <a:ext uri="{FF2B5EF4-FFF2-40B4-BE49-F238E27FC236}">
                  <a16:creationId xmlns:a16="http://schemas.microsoft.com/office/drawing/2014/main" id="{91486A22-A4A9-FDAA-9B22-39DB02B57E07}"/>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6D58C8C3-93A7-9114-52DA-36B28F3E5FBF}"/>
                </a:ext>
              </a:extLst>
            </p:cNvPr>
            <p:cNvSpPr txBox="1"/>
            <p:nvPr/>
          </p:nvSpPr>
          <p:spPr>
            <a:xfrm>
              <a:off x="4140408" y="3929618"/>
              <a:ext cx="306494" cy="369332"/>
            </a:xfrm>
            <a:prstGeom prst="rect">
              <a:avLst/>
            </a:prstGeom>
            <a:noFill/>
          </p:spPr>
          <p:txBody>
            <a:bodyPr wrap="none" rtlCol="0">
              <a:spAutoFit/>
            </a:bodyPr>
            <a:lstStyle/>
            <a:p>
              <a:r>
                <a:rPr kumimoji="1" lang="en-US" altLang="zh-CN" dirty="0"/>
                <a:t>0</a:t>
              </a:r>
              <a:endParaRPr kumimoji="1" lang="zh-CN" altLang="en-US" dirty="0"/>
            </a:p>
          </p:txBody>
        </p:sp>
        <p:sp>
          <p:nvSpPr>
            <p:cNvPr id="25" name="矩形 24">
              <a:extLst>
                <a:ext uri="{FF2B5EF4-FFF2-40B4-BE49-F238E27FC236}">
                  <a16:creationId xmlns:a16="http://schemas.microsoft.com/office/drawing/2014/main" id="{CC386951-D60E-C545-E1B5-CEFEE64F95C1}"/>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26" name="文本框 25">
              <a:extLst>
                <a:ext uri="{FF2B5EF4-FFF2-40B4-BE49-F238E27FC236}">
                  <a16:creationId xmlns:a16="http://schemas.microsoft.com/office/drawing/2014/main" id="{578B2A66-8486-2EDA-904E-EA9F9EAD515E}"/>
                </a:ext>
              </a:extLst>
            </p:cNvPr>
            <p:cNvSpPr txBox="1"/>
            <p:nvPr/>
          </p:nvSpPr>
          <p:spPr>
            <a:xfrm>
              <a:off x="3547770" y="4472488"/>
              <a:ext cx="184731" cy="369332"/>
            </a:xfrm>
            <a:prstGeom prst="rect">
              <a:avLst/>
            </a:prstGeom>
            <a:noFill/>
          </p:spPr>
          <p:txBody>
            <a:bodyPr wrap="none" rtlCol="0">
              <a:spAutoFit/>
            </a:bodyPr>
            <a:lstStyle/>
            <a:p>
              <a:endParaRPr kumimoji="1" lang="zh-CN" altLang="en-US" dirty="0"/>
            </a:p>
          </p:txBody>
        </p:sp>
        <p:sp>
          <p:nvSpPr>
            <p:cNvPr id="27" name="矩形 26">
              <a:extLst>
                <a:ext uri="{FF2B5EF4-FFF2-40B4-BE49-F238E27FC236}">
                  <a16:creationId xmlns:a16="http://schemas.microsoft.com/office/drawing/2014/main" id="{5AD603FA-0C00-D00A-635C-0DAC82B8FD52}"/>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E1B32385-4EE7-64F4-94E6-10126DF7A1C4}"/>
                </a:ext>
              </a:extLst>
            </p:cNvPr>
            <p:cNvSpPr txBox="1"/>
            <p:nvPr/>
          </p:nvSpPr>
          <p:spPr>
            <a:xfrm>
              <a:off x="4151221" y="4495864"/>
              <a:ext cx="306494" cy="369332"/>
            </a:xfrm>
            <a:prstGeom prst="rect">
              <a:avLst/>
            </a:prstGeom>
            <a:noFill/>
          </p:spPr>
          <p:txBody>
            <a:bodyPr wrap="none" rtlCol="0">
              <a:spAutoFit/>
            </a:bodyPr>
            <a:lstStyle/>
            <a:p>
              <a:r>
                <a:rPr kumimoji="1" lang="en-US" altLang="zh-CN" dirty="0"/>
                <a:t>1</a:t>
              </a:r>
              <a:endParaRPr kumimoji="1" lang="zh-CN" altLang="en-US" dirty="0"/>
            </a:p>
          </p:txBody>
        </p:sp>
        <p:sp>
          <p:nvSpPr>
            <p:cNvPr id="29" name="文本框 28">
              <a:extLst>
                <a:ext uri="{FF2B5EF4-FFF2-40B4-BE49-F238E27FC236}">
                  <a16:creationId xmlns:a16="http://schemas.microsoft.com/office/drawing/2014/main" id="{4E242416-215C-088C-57C3-58D9442A0BC5}"/>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
        <p:nvSpPr>
          <p:cNvPr id="10" name="文本框 9">
            <a:extLst>
              <a:ext uri="{FF2B5EF4-FFF2-40B4-BE49-F238E27FC236}">
                <a16:creationId xmlns:a16="http://schemas.microsoft.com/office/drawing/2014/main" id="{945EF56F-9E34-771F-04B1-1DEB162936CC}"/>
              </a:ext>
            </a:extLst>
          </p:cNvPr>
          <p:cNvSpPr txBox="1"/>
          <p:nvPr/>
        </p:nvSpPr>
        <p:spPr>
          <a:xfrm>
            <a:off x="4673099" y="4062366"/>
            <a:ext cx="344966" cy="369332"/>
          </a:xfrm>
          <a:prstGeom prst="rect">
            <a:avLst/>
          </a:prstGeom>
          <a:noFill/>
        </p:spPr>
        <p:txBody>
          <a:bodyPr wrap="none" rtlCol="0">
            <a:spAutoFit/>
          </a:bodyPr>
          <a:lstStyle/>
          <a:p>
            <a:r>
              <a:rPr kumimoji="1" lang="en-US" altLang="zh-CN" b="1" dirty="0"/>
              <a:t>=</a:t>
            </a:r>
            <a:endParaRPr kumimoji="1" lang="zh-CN" altLang="en-US" b="1" dirty="0"/>
          </a:p>
        </p:txBody>
      </p:sp>
      <p:grpSp>
        <p:nvGrpSpPr>
          <p:cNvPr id="11" name="组合 10">
            <a:extLst>
              <a:ext uri="{FF2B5EF4-FFF2-40B4-BE49-F238E27FC236}">
                <a16:creationId xmlns:a16="http://schemas.microsoft.com/office/drawing/2014/main" id="{68A3D33B-2270-671A-288C-737164DFA68A}"/>
              </a:ext>
            </a:extLst>
          </p:cNvPr>
          <p:cNvGrpSpPr/>
          <p:nvPr/>
        </p:nvGrpSpPr>
        <p:grpSpPr>
          <a:xfrm>
            <a:off x="5553140" y="3714661"/>
            <a:ext cx="1500424" cy="1080000"/>
            <a:chOff x="3494432" y="3843157"/>
            <a:chExt cx="1500424" cy="1080000"/>
          </a:xfrm>
        </p:grpSpPr>
        <p:sp>
          <p:nvSpPr>
            <p:cNvPr id="12" name="矩形 11">
              <a:extLst>
                <a:ext uri="{FF2B5EF4-FFF2-40B4-BE49-F238E27FC236}">
                  <a16:creationId xmlns:a16="http://schemas.microsoft.com/office/drawing/2014/main" id="{861EE1EC-35A9-529F-4409-E52705645AB2}"/>
                </a:ext>
              </a:extLst>
            </p:cNvPr>
            <p:cNvSpPr/>
            <p:nvPr/>
          </p:nvSpPr>
          <p:spPr>
            <a:xfrm>
              <a:off x="349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57816CB5-143B-03AC-1FFB-EC0193C4791F}"/>
                </a:ext>
              </a:extLst>
            </p:cNvPr>
            <p:cNvSpPr txBox="1"/>
            <p:nvPr/>
          </p:nvSpPr>
          <p:spPr>
            <a:xfrm>
              <a:off x="3496989" y="3929618"/>
              <a:ext cx="550151" cy="369332"/>
            </a:xfrm>
            <a:prstGeom prst="rect">
              <a:avLst/>
            </a:prstGeom>
            <a:noFill/>
          </p:spPr>
          <p:txBody>
            <a:bodyPr wrap="none" rtlCol="0">
              <a:spAutoFit/>
            </a:bodyPr>
            <a:lstStyle/>
            <a:p>
              <a:r>
                <a:rPr kumimoji="1" lang="en-US" altLang="zh-CN" dirty="0"/>
                <a:t>102</a:t>
              </a:r>
              <a:endParaRPr kumimoji="1" lang="zh-CN" altLang="en-US" dirty="0"/>
            </a:p>
          </p:txBody>
        </p:sp>
        <p:sp>
          <p:nvSpPr>
            <p:cNvPr id="14" name="矩形 13">
              <a:extLst>
                <a:ext uri="{FF2B5EF4-FFF2-40B4-BE49-F238E27FC236}">
                  <a16:creationId xmlns:a16="http://schemas.microsoft.com/office/drawing/2014/main" id="{A0FBC5B8-AA26-F29D-339A-04381542911A}"/>
                </a:ext>
              </a:extLst>
            </p:cNvPr>
            <p:cNvSpPr/>
            <p:nvPr/>
          </p:nvSpPr>
          <p:spPr>
            <a:xfrm>
              <a:off x="4034469" y="384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F2DBA436-5C5E-D2AB-52C4-2B07F3433C27}"/>
                </a:ext>
              </a:extLst>
            </p:cNvPr>
            <p:cNvSpPr txBox="1"/>
            <p:nvPr/>
          </p:nvSpPr>
          <p:spPr>
            <a:xfrm>
              <a:off x="4034450" y="3936597"/>
              <a:ext cx="550151" cy="369332"/>
            </a:xfrm>
            <a:prstGeom prst="rect">
              <a:avLst/>
            </a:prstGeom>
            <a:noFill/>
          </p:spPr>
          <p:txBody>
            <a:bodyPr wrap="none" rtlCol="0">
              <a:spAutoFit/>
            </a:bodyPr>
            <a:lstStyle/>
            <a:p>
              <a:r>
                <a:rPr kumimoji="1" lang="en-US" altLang="zh-CN" dirty="0"/>
                <a:t>219</a:t>
              </a:r>
              <a:endParaRPr kumimoji="1" lang="zh-CN" altLang="en-US" dirty="0"/>
            </a:p>
          </p:txBody>
        </p:sp>
        <p:sp>
          <p:nvSpPr>
            <p:cNvPr id="16" name="矩形 15">
              <a:extLst>
                <a:ext uri="{FF2B5EF4-FFF2-40B4-BE49-F238E27FC236}">
                  <a16:creationId xmlns:a16="http://schemas.microsoft.com/office/drawing/2014/main" id="{D26E1FFE-5126-EBB0-6A06-8691520C000E}"/>
                </a:ext>
              </a:extLst>
            </p:cNvPr>
            <p:cNvSpPr/>
            <p:nvPr/>
          </p:nvSpPr>
          <p:spPr>
            <a:xfrm>
              <a:off x="3494450"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17" name="文本框 16">
              <a:extLst>
                <a:ext uri="{FF2B5EF4-FFF2-40B4-BE49-F238E27FC236}">
                  <a16:creationId xmlns:a16="http://schemas.microsoft.com/office/drawing/2014/main" id="{0B69B71A-801A-80B0-409D-645722DB9CA1}"/>
                </a:ext>
              </a:extLst>
            </p:cNvPr>
            <p:cNvSpPr txBox="1"/>
            <p:nvPr/>
          </p:nvSpPr>
          <p:spPr>
            <a:xfrm>
              <a:off x="3494432" y="4487418"/>
              <a:ext cx="550151" cy="369332"/>
            </a:xfrm>
            <a:prstGeom prst="rect">
              <a:avLst/>
            </a:prstGeom>
            <a:noFill/>
          </p:spPr>
          <p:txBody>
            <a:bodyPr wrap="none" rtlCol="0">
              <a:spAutoFit/>
            </a:bodyPr>
            <a:lstStyle/>
            <a:p>
              <a:r>
                <a:rPr kumimoji="1" lang="en-US" altLang="zh-CN" dirty="0"/>
                <a:t>162</a:t>
              </a:r>
              <a:endParaRPr kumimoji="1" lang="zh-CN" altLang="en-US" dirty="0"/>
            </a:p>
          </p:txBody>
        </p:sp>
        <p:sp>
          <p:nvSpPr>
            <p:cNvPr id="18" name="矩形 17">
              <a:extLst>
                <a:ext uri="{FF2B5EF4-FFF2-40B4-BE49-F238E27FC236}">
                  <a16:creationId xmlns:a16="http://schemas.microsoft.com/office/drawing/2014/main" id="{2BC22324-2BF1-0B91-E422-203B7627E2B6}"/>
                </a:ext>
              </a:extLst>
            </p:cNvPr>
            <p:cNvSpPr/>
            <p:nvPr/>
          </p:nvSpPr>
          <p:spPr>
            <a:xfrm>
              <a:off x="4034468" y="4383157"/>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A16EE9E7-6E23-40C3-10F1-77FDE6E64BF8}"/>
                </a:ext>
              </a:extLst>
            </p:cNvPr>
            <p:cNvSpPr txBox="1"/>
            <p:nvPr/>
          </p:nvSpPr>
          <p:spPr>
            <a:xfrm>
              <a:off x="4034450" y="4494397"/>
              <a:ext cx="550151" cy="369332"/>
            </a:xfrm>
            <a:prstGeom prst="rect">
              <a:avLst/>
            </a:prstGeom>
            <a:noFill/>
          </p:spPr>
          <p:txBody>
            <a:bodyPr wrap="none" rtlCol="0">
              <a:spAutoFit/>
            </a:bodyPr>
            <a:lstStyle/>
            <a:p>
              <a:r>
                <a:rPr kumimoji="1" lang="en-US" altLang="zh-CN" dirty="0"/>
                <a:t>177</a:t>
              </a:r>
              <a:endParaRPr kumimoji="1" lang="zh-CN" altLang="en-US" dirty="0"/>
            </a:p>
          </p:txBody>
        </p:sp>
        <p:sp>
          <p:nvSpPr>
            <p:cNvPr id="20" name="文本框 19">
              <a:extLst>
                <a:ext uri="{FF2B5EF4-FFF2-40B4-BE49-F238E27FC236}">
                  <a16:creationId xmlns:a16="http://schemas.microsoft.com/office/drawing/2014/main" id="{3C0E4037-5A51-0E4A-4B1D-5A91168C5951}"/>
                </a:ext>
              </a:extLst>
            </p:cNvPr>
            <p:cNvSpPr txBox="1"/>
            <p:nvPr/>
          </p:nvSpPr>
          <p:spPr>
            <a:xfrm>
              <a:off x="4810125" y="4298950"/>
              <a:ext cx="184731" cy="369332"/>
            </a:xfrm>
            <a:prstGeom prst="rect">
              <a:avLst/>
            </a:prstGeom>
            <a:noFill/>
          </p:spPr>
          <p:txBody>
            <a:bodyPr wrap="none" rtlCol="0">
              <a:spAutoFit/>
            </a:bodyPr>
            <a:lstStyle/>
            <a:p>
              <a:endParaRPr kumimoji="1" lang="zh-CN" altLang="en-US" dirty="0"/>
            </a:p>
          </p:txBody>
        </p:sp>
      </p:grpSp>
      <p:sp>
        <p:nvSpPr>
          <p:cNvPr id="155" name="矩形 154">
            <a:extLst>
              <a:ext uri="{FF2B5EF4-FFF2-40B4-BE49-F238E27FC236}">
                <a16:creationId xmlns:a16="http://schemas.microsoft.com/office/drawing/2014/main" id="{2BC30BD1-2E99-D260-8696-0D42A3723EB7}"/>
              </a:ext>
            </a:extLst>
          </p:cNvPr>
          <p:cNvSpPr/>
          <p:nvPr/>
        </p:nvSpPr>
        <p:spPr>
          <a:xfrm>
            <a:off x="5014407" y="3175509"/>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26</a:t>
            </a:r>
            <a:endParaRPr kumimoji="1" lang="zh-CN" altLang="en-US" dirty="0">
              <a:solidFill>
                <a:schemeClr val="tx1"/>
              </a:solidFill>
            </a:endParaRPr>
          </a:p>
        </p:txBody>
      </p:sp>
      <p:sp>
        <p:nvSpPr>
          <p:cNvPr id="156" name="矩形 155">
            <a:extLst>
              <a:ext uri="{FF2B5EF4-FFF2-40B4-BE49-F238E27FC236}">
                <a16:creationId xmlns:a16="http://schemas.microsoft.com/office/drawing/2014/main" id="{C8F769A3-8BA5-DA34-E28F-EDCA68FC2244}"/>
              </a:ext>
            </a:extLst>
          </p:cNvPr>
          <p:cNvSpPr/>
          <p:nvPr/>
        </p:nvSpPr>
        <p:spPr>
          <a:xfrm>
            <a:off x="5554426" y="3176356"/>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120</a:t>
            </a:r>
            <a:endParaRPr kumimoji="1" lang="zh-CN" altLang="en-US" dirty="0">
              <a:solidFill>
                <a:schemeClr val="tx1"/>
              </a:solidFill>
            </a:endParaRPr>
          </a:p>
        </p:txBody>
      </p:sp>
      <p:sp>
        <p:nvSpPr>
          <p:cNvPr id="157" name="矩形 156">
            <a:extLst>
              <a:ext uri="{FF2B5EF4-FFF2-40B4-BE49-F238E27FC236}">
                <a16:creationId xmlns:a16="http://schemas.microsoft.com/office/drawing/2014/main" id="{BC40A14E-C746-1120-33E1-FDD5B52BB0AB}"/>
              </a:ext>
            </a:extLst>
          </p:cNvPr>
          <p:cNvSpPr/>
          <p:nvPr/>
        </p:nvSpPr>
        <p:spPr>
          <a:xfrm>
            <a:off x="6094427" y="3175756"/>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126</a:t>
            </a:r>
            <a:endParaRPr kumimoji="1" lang="zh-CN" altLang="en-US" dirty="0">
              <a:solidFill>
                <a:schemeClr val="tx1"/>
              </a:solidFill>
            </a:endParaRPr>
          </a:p>
        </p:txBody>
      </p:sp>
      <p:sp>
        <p:nvSpPr>
          <p:cNvPr id="158" name="矩形 157">
            <a:extLst>
              <a:ext uri="{FF2B5EF4-FFF2-40B4-BE49-F238E27FC236}">
                <a16:creationId xmlns:a16="http://schemas.microsoft.com/office/drawing/2014/main" id="{BDE7150D-225D-7A3E-EAB3-3FAC319AB065}"/>
              </a:ext>
            </a:extLst>
          </p:cNvPr>
          <p:cNvSpPr/>
          <p:nvPr/>
        </p:nvSpPr>
        <p:spPr>
          <a:xfrm>
            <a:off x="6635676" y="3175756"/>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59" name="矩形 158">
            <a:extLst>
              <a:ext uri="{FF2B5EF4-FFF2-40B4-BE49-F238E27FC236}">
                <a16:creationId xmlns:a16="http://schemas.microsoft.com/office/drawing/2014/main" id="{D736BC9B-A395-E475-F2CE-1768F860DCA8}"/>
              </a:ext>
            </a:extLst>
          </p:cNvPr>
          <p:cNvSpPr/>
          <p:nvPr/>
        </p:nvSpPr>
        <p:spPr>
          <a:xfrm>
            <a:off x="5013158" y="371466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56</a:t>
            </a:r>
            <a:endParaRPr kumimoji="1" lang="zh-CN" altLang="en-US" dirty="0">
              <a:solidFill>
                <a:schemeClr val="tx1"/>
              </a:solidFill>
            </a:endParaRPr>
          </a:p>
        </p:txBody>
      </p:sp>
      <p:sp>
        <p:nvSpPr>
          <p:cNvPr id="160" name="矩形 159">
            <a:extLst>
              <a:ext uri="{FF2B5EF4-FFF2-40B4-BE49-F238E27FC236}">
                <a16:creationId xmlns:a16="http://schemas.microsoft.com/office/drawing/2014/main" id="{CD0B8964-A34B-BB94-F44C-5B733927406A}"/>
              </a:ext>
            </a:extLst>
          </p:cNvPr>
          <p:cNvSpPr/>
          <p:nvPr/>
        </p:nvSpPr>
        <p:spPr>
          <a:xfrm>
            <a:off x="6638416" y="371466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126</a:t>
            </a:r>
            <a:endParaRPr kumimoji="1" lang="zh-CN" altLang="en-US" dirty="0">
              <a:solidFill>
                <a:schemeClr val="tx1"/>
              </a:solidFill>
            </a:endParaRPr>
          </a:p>
        </p:txBody>
      </p:sp>
      <p:sp>
        <p:nvSpPr>
          <p:cNvPr id="161" name="矩形 160">
            <a:extLst>
              <a:ext uri="{FF2B5EF4-FFF2-40B4-BE49-F238E27FC236}">
                <a16:creationId xmlns:a16="http://schemas.microsoft.com/office/drawing/2014/main" id="{FC555C5B-DAED-0652-E7F3-177996E7D3F6}"/>
              </a:ext>
            </a:extLst>
          </p:cNvPr>
          <p:cNvSpPr/>
          <p:nvPr/>
        </p:nvSpPr>
        <p:spPr>
          <a:xfrm>
            <a:off x="5012552" y="4255913"/>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46</a:t>
            </a:r>
            <a:endParaRPr kumimoji="1" lang="zh-CN" altLang="en-US" dirty="0">
              <a:solidFill>
                <a:schemeClr val="tx1"/>
              </a:solidFill>
            </a:endParaRPr>
          </a:p>
        </p:txBody>
      </p:sp>
      <p:sp>
        <p:nvSpPr>
          <p:cNvPr id="162" name="矩形 161">
            <a:extLst>
              <a:ext uri="{FF2B5EF4-FFF2-40B4-BE49-F238E27FC236}">
                <a16:creationId xmlns:a16="http://schemas.microsoft.com/office/drawing/2014/main" id="{C6546083-9FC9-9A32-0BCA-982EA7BD187E}"/>
              </a:ext>
            </a:extLst>
          </p:cNvPr>
          <p:cNvSpPr/>
          <p:nvPr/>
        </p:nvSpPr>
        <p:spPr>
          <a:xfrm>
            <a:off x="6638416" y="4261640"/>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99</a:t>
            </a:r>
            <a:endParaRPr kumimoji="1" lang="zh-CN" altLang="en-US" dirty="0">
              <a:solidFill>
                <a:schemeClr val="tx1"/>
              </a:solidFill>
            </a:endParaRPr>
          </a:p>
        </p:txBody>
      </p:sp>
      <p:sp>
        <p:nvSpPr>
          <p:cNvPr id="163" name="矩形 162">
            <a:extLst>
              <a:ext uri="{FF2B5EF4-FFF2-40B4-BE49-F238E27FC236}">
                <a16:creationId xmlns:a16="http://schemas.microsoft.com/office/drawing/2014/main" id="{6AC5DA0D-3C98-77CA-FC46-C2A0A5E61AC1}"/>
              </a:ext>
            </a:extLst>
          </p:cNvPr>
          <p:cNvSpPr/>
          <p:nvPr/>
        </p:nvSpPr>
        <p:spPr>
          <a:xfrm>
            <a:off x="5012551" y="479466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0</a:t>
            </a:r>
            <a:endParaRPr kumimoji="1" lang="zh-CN" altLang="en-US" dirty="0">
              <a:solidFill>
                <a:schemeClr val="tx1"/>
              </a:solidFill>
            </a:endParaRPr>
          </a:p>
        </p:txBody>
      </p:sp>
      <p:sp>
        <p:nvSpPr>
          <p:cNvPr id="164" name="矩形 163">
            <a:extLst>
              <a:ext uri="{FF2B5EF4-FFF2-40B4-BE49-F238E27FC236}">
                <a16:creationId xmlns:a16="http://schemas.microsoft.com/office/drawing/2014/main" id="{74D95512-E6EA-1EBA-B7B9-1AA0EB44F8B3}"/>
              </a:ext>
            </a:extLst>
          </p:cNvPr>
          <p:cNvSpPr/>
          <p:nvPr/>
        </p:nvSpPr>
        <p:spPr>
          <a:xfrm>
            <a:off x="5555697" y="4794661"/>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46</a:t>
            </a:r>
            <a:endParaRPr kumimoji="1" lang="zh-CN" altLang="en-US" dirty="0">
              <a:solidFill>
                <a:schemeClr val="tx1"/>
              </a:solidFill>
            </a:endParaRPr>
          </a:p>
        </p:txBody>
      </p:sp>
      <p:sp>
        <p:nvSpPr>
          <p:cNvPr id="165" name="矩形 164">
            <a:extLst>
              <a:ext uri="{FF2B5EF4-FFF2-40B4-BE49-F238E27FC236}">
                <a16:creationId xmlns:a16="http://schemas.microsoft.com/office/drawing/2014/main" id="{BEA89A21-2DB6-BAE3-E15F-2E2304AE93E9}"/>
              </a:ext>
            </a:extLst>
          </p:cNvPr>
          <p:cNvSpPr/>
          <p:nvPr/>
        </p:nvSpPr>
        <p:spPr>
          <a:xfrm>
            <a:off x="6093158" y="4793986"/>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106</a:t>
            </a:r>
            <a:endParaRPr kumimoji="1" lang="zh-CN" altLang="en-US" dirty="0">
              <a:solidFill>
                <a:schemeClr val="tx1"/>
              </a:solidFill>
            </a:endParaRPr>
          </a:p>
        </p:txBody>
      </p:sp>
      <p:sp>
        <p:nvSpPr>
          <p:cNvPr id="166" name="矩形 165">
            <a:extLst>
              <a:ext uri="{FF2B5EF4-FFF2-40B4-BE49-F238E27FC236}">
                <a16:creationId xmlns:a16="http://schemas.microsoft.com/office/drawing/2014/main" id="{04CA321D-549B-0326-7EBD-B685410FD83E}"/>
              </a:ext>
            </a:extLst>
          </p:cNvPr>
          <p:cNvSpPr/>
          <p:nvPr/>
        </p:nvSpPr>
        <p:spPr>
          <a:xfrm>
            <a:off x="6640833" y="4793986"/>
            <a:ext cx="540000" cy="54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101</a:t>
            </a:r>
            <a:endParaRPr kumimoji="1" lang="zh-CN" altLang="en-US" dirty="0">
              <a:solidFill>
                <a:schemeClr val="tx1"/>
              </a:solidFill>
            </a:endParaRPr>
          </a:p>
        </p:txBody>
      </p:sp>
      <p:sp>
        <p:nvSpPr>
          <p:cNvPr id="167" name="矩形 166">
            <a:extLst>
              <a:ext uri="{FF2B5EF4-FFF2-40B4-BE49-F238E27FC236}">
                <a16:creationId xmlns:a16="http://schemas.microsoft.com/office/drawing/2014/main" id="{42258094-3C08-B036-77B1-65BA3883E216}"/>
              </a:ext>
            </a:extLst>
          </p:cNvPr>
          <p:cNvSpPr/>
          <p:nvPr/>
        </p:nvSpPr>
        <p:spPr bwMode="auto">
          <a:xfrm>
            <a:off x="7601669" y="3622776"/>
            <a:ext cx="4293470" cy="142117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342900" indent="-342900">
              <a:buFont typeface="Wingdings" pitchFamily="2" charset="2"/>
              <a:buChar char="Ø"/>
            </a:pPr>
            <a:r>
              <a:rPr lang="zh-CN" altLang="en-US" sz="2400" dirty="0"/>
              <a:t>确保边缘特征能被充分提取</a:t>
            </a:r>
            <a:endParaRPr lang="en-US" altLang="zh-CN" sz="2400" dirty="0"/>
          </a:p>
          <a:p>
            <a:pPr marL="342900" indent="-342900">
              <a:buFont typeface="Wingdings" pitchFamily="2" charset="2"/>
              <a:buChar char="Ø"/>
            </a:pPr>
            <a:r>
              <a:rPr lang="zh-CN" altLang="en-US" sz="2400" dirty="0"/>
              <a:t>控制输出特征图的尺寸</a:t>
            </a:r>
            <a:endParaRPr lang="en-US" altLang="zh-CN" sz="2400" dirty="0"/>
          </a:p>
        </p:txBody>
      </p:sp>
      <p:sp>
        <p:nvSpPr>
          <p:cNvPr id="168" name="文本框 167">
            <a:extLst>
              <a:ext uri="{FF2B5EF4-FFF2-40B4-BE49-F238E27FC236}">
                <a16:creationId xmlns:a16="http://schemas.microsoft.com/office/drawing/2014/main" id="{38E7555C-3242-23DA-BBAE-586E0C336C3C}"/>
              </a:ext>
            </a:extLst>
          </p:cNvPr>
          <p:cNvSpPr txBox="1"/>
          <p:nvPr/>
        </p:nvSpPr>
        <p:spPr>
          <a:xfrm>
            <a:off x="1391615" y="5874661"/>
            <a:ext cx="535724" cy="369332"/>
          </a:xfrm>
          <a:prstGeom prst="rect">
            <a:avLst/>
          </a:prstGeom>
          <a:noFill/>
        </p:spPr>
        <p:txBody>
          <a:bodyPr wrap="none" rtlCol="0">
            <a:spAutoFit/>
          </a:bodyPr>
          <a:lstStyle/>
          <a:p>
            <a:r>
              <a:rPr kumimoji="1" lang="en-US" altLang="zh-CN" dirty="0"/>
              <a:t>P=1</a:t>
            </a:r>
            <a:endParaRPr kumimoji="1" lang="zh-CN" altLang="en-US" dirty="0"/>
          </a:p>
        </p:txBody>
      </p:sp>
    </p:spTree>
    <p:extLst>
      <p:ext uri="{BB962C8B-B14F-4D97-AF65-F5344CB8AC3E}">
        <p14:creationId xmlns:p14="http://schemas.microsoft.com/office/powerpoint/2010/main" val="2903488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0E38A-1F08-A2B7-803A-89A6925D44E3}"/>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54E2A4CE-E527-5B66-D048-C1FF4A589F55}"/>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8A22B02-C413-0F06-1FE2-7A5D02A6296F}"/>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311D669-190C-5ED5-F46B-8E92D8380B94}"/>
              </a:ext>
            </a:extLst>
          </p:cNvPr>
          <p:cNvSpPr/>
          <p:nvPr/>
        </p:nvSpPr>
        <p:spPr bwMode="auto">
          <a:xfrm>
            <a:off x="355575" y="1275526"/>
            <a:ext cx="11480850" cy="1219199"/>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与全连接网络的隐藏层类似，卷积层中的每一个卷积核都配有一个可学习的偏置参数 </a:t>
            </a:r>
            <a:r>
              <a:rPr lang="en-US" altLang="zh-CN" sz="2400" dirty="0"/>
              <a:t>b</a:t>
            </a:r>
            <a:r>
              <a:rPr lang="zh-CN" altLang="en" sz="2400" dirty="0"/>
              <a:t>。</a:t>
            </a:r>
            <a:r>
              <a:rPr lang="zh-CN" altLang="en-US" sz="2400" dirty="0"/>
              <a:t>在完成加权求和后，系统会给输出特征图的每一个元素统一加上这个偏置值。</a:t>
            </a:r>
            <a:endParaRPr lang="en-US" altLang="zh-CN" sz="2400" dirty="0"/>
          </a:p>
        </p:txBody>
      </p:sp>
      <p:sp>
        <p:nvSpPr>
          <p:cNvPr id="114" name="object 5">
            <a:extLst>
              <a:ext uri="{FF2B5EF4-FFF2-40B4-BE49-F238E27FC236}">
                <a16:creationId xmlns:a16="http://schemas.microsoft.com/office/drawing/2014/main" id="{86788564-FB16-5E5A-35F6-43DF70FA13DB}"/>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a:t>
            </a:r>
            <a:r>
              <a:rPr lang="en-US" altLang="zh-CN" sz="3600" spc="-10" dirty="0">
                <a:solidFill>
                  <a:schemeClr val="bg1"/>
                </a:solidFill>
                <a:latin typeface="Calibri" panose="020F0502020204030204" pitchFamily="34" charset="0"/>
                <a:cs typeface="Calibri" panose="020F0502020204030204" pitchFamily="34" charset="0"/>
              </a:rPr>
              <a:t>-</a:t>
            </a:r>
            <a:r>
              <a:rPr lang="zh-CN" altLang="en-US" sz="3600" spc="-10" dirty="0">
                <a:solidFill>
                  <a:schemeClr val="bg1"/>
                </a:solidFill>
                <a:latin typeface="Calibri" panose="020F0502020204030204" pitchFamily="34" charset="0"/>
                <a:cs typeface="Calibri" panose="020F0502020204030204" pitchFamily="34" charset="0"/>
              </a:rPr>
              <a:t>偏置</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B0B45BD5-818D-9DC3-115E-648FB119ABE8}"/>
              </a:ext>
            </a:extLst>
          </p:cNvPr>
          <p:cNvPicPr>
            <a:picLocks noChangeAspect="1"/>
          </p:cNvPicPr>
          <p:nvPr/>
        </p:nvPicPr>
        <p:blipFill>
          <a:blip r:embed="rId3"/>
          <a:stretch>
            <a:fillRect/>
          </a:stretch>
        </p:blipFill>
        <p:spPr>
          <a:xfrm>
            <a:off x="2209800" y="2723263"/>
            <a:ext cx="7772400" cy="3910641"/>
          </a:xfrm>
          <a:prstGeom prst="rect">
            <a:avLst/>
          </a:prstGeom>
        </p:spPr>
      </p:pic>
    </p:spTree>
    <p:extLst>
      <p:ext uri="{BB962C8B-B14F-4D97-AF65-F5344CB8AC3E}">
        <p14:creationId xmlns:p14="http://schemas.microsoft.com/office/powerpoint/2010/main" val="1523679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441EF-9B5B-451E-60F5-2943433A07BA}"/>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6D3D45D9-399C-A61D-BCA5-222130D8A04A}"/>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F64D1903-28C1-E943-9510-E1CACF8D8AE8}"/>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95BED33-08BA-8EAC-82D9-8D292CAF721E}"/>
              </a:ext>
            </a:extLst>
          </p:cNvPr>
          <p:cNvSpPr/>
          <p:nvPr/>
        </p:nvSpPr>
        <p:spPr bwMode="auto">
          <a:xfrm>
            <a:off x="355575" y="1432689"/>
            <a:ext cx="11480850" cy="82473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对于单个卷积核，感知野等同于其尺寸</a:t>
            </a:r>
            <a:r>
              <a:rPr lang="en-US" altLang="zh-CN" sz="2400" dirty="0"/>
              <a:t> K</a:t>
            </a:r>
            <a:r>
              <a:rPr lang="zh-CN" altLang="en-US" sz="2400" dirty="0"/>
              <a:t>。</a:t>
            </a:r>
            <a:endParaRPr lang="en-US" altLang="zh-CN" sz="2400" dirty="0"/>
          </a:p>
        </p:txBody>
      </p:sp>
      <p:sp>
        <p:nvSpPr>
          <p:cNvPr id="114" name="object 5">
            <a:extLst>
              <a:ext uri="{FF2B5EF4-FFF2-40B4-BE49-F238E27FC236}">
                <a16:creationId xmlns:a16="http://schemas.microsoft.com/office/drawing/2014/main" id="{1134E8E7-D43B-6685-6295-2D2330128958}"/>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卷积的感知野</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4" name="图片 3">
            <a:extLst>
              <a:ext uri="{FF2B5EF4-FFF2-40B4-BE49-F238E27FC236}">
                <a16:creationId xmlns:a16="http://schemas.microsoft.com/office/drawing/2014/main" id="{691BAC43-BF29-7492-E3FC-AF514F2EB449}"/>
              </a:ext>
            </a:extLst>
          </p:cNvPr>
          <p:cNvPicPr>
            <a:picLocks noChangeAspect="1"/>
          </p:cNvPicPr>
          <p:nvPr/>
        </p:nvPicPr>
        <p:blipFill>
          <a:blip r:embed="rId3"/>
          <a:stretch>
            <a:fillRect/>
          </a:stretch>
        </p:blipFill>
        <p:spPr>
          <a:xfrm>
            <a:off x="2908300" y="2678936"/>
            <a:ext cx="5149850" cy="2411527"/>
          </a:xfrm>
          <a:prstGeom prst="rect">
            <a:avLst/>
          </a:prstGeom>
        </p:spPr>
      </p:pic>
      <p:sp>
        <p:nvSpPr>
          <p:cNvPr id="5" name="文本框 4">
            <a:extLst>
              <a:ext uri="{FF2B5EF4-FFF2-40B4-BE49-F238E27FC236}">
                <a16:creationId xmlns:a16="http://schemas.microsoft.com/office/drawing/2014/main" id="{1EBAEC89-EE97-6441-7546-432E9CB05B80}"/>
              </a:ext>
            </a:extLst>
          </p:cNvPr>
          <p:cNvSpPr txBox="1"/>
          <p:nvPr/>
        </p:nvSpPr>
        <p:spPr>
          <a:xfrm>
            <a:off x="3886200" y="5240645"/>
            <a:ext cx="646331" cy="369332"/>
          </a:xfrm>
          <a:prstGeom prst="rect">
            <a:avLst/>
          </a:prstGeom>
          <a:noFill/>
        </p:spPr>
        <p:txBody>
          <a:bodyPr wrap="none" rtlCol="0">
            <a:spAutoFit/>
          </a:bodyPr>
          <a:lstStyle/>
          <a:p>
            <a:r>
              <a:rPr kumimoji="1" lang="zh-CN" altLang="en-US" dirty="0"/>
              <a:t>输入</a:t>
            </a:r>
          </a:p>
        </p:txBody>
      </p:sp>
      <p:sp>
        <p:nvSpPr>
          <p:cNvPr id="6" name="文本框 5">
            <a:extLst>
              <a:ext uri="{FF2B5EF4-FFF2-40B4-BE49-F238E27FC236}">
                <a16:creationId xmlns:a16="http://schemas.microsoft.com/office/drawing/2014/main" id="{D79A93CD-8E22-82B1-D8CF-C4DD8E7F6E2D}"/>
              </a:ext>
            </a:extLst>
          </p:cNvPr>
          <p:cNvSpPr txBox="1"/>
          <p:nvPr/>
        </p:nvSpPr>
        <p:spPr>
          <a:xfrm>
            <a:off x="6602720" y="5240645"/>
            <a:ext cx="646331" cy="369332"/>
          </a:xfrm>
          <a:prstGeom prst="rect">
            <a:avLst/>
          </a:prstGeom>
          <a:noFill/>
        </p:spPr>
        <p:txBody>
          <a:bodyPr wrap="none" rtlCol="0">
            <a:spAutoFit/>
          </a:bodyPr>
          <a:lstStyle/>
          <a:p>
            <a:r>
              <a:rPr kumimoji="1" lang="zh-CN" altLang="en-US" dirty="0"/>
              <a:t>输出</a:t>
            </a:r>
          </a:p>
        </p:txBody>
      </p:sp>
    </p:spTree>
    <p:extLst>
      <p:ext uri="{BB962C8B-B14F-4D97-AF65-F5344CB8AC3E}">
        <p14:creationId xmlns:p14="http://schemas.microsoft.com/office/powerpoint/2010/main" val="266809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11029-863E-C6D0-1CD7-072AE03B7C3A}"/>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095B2109-07B8-D8DA-660C-0EC6278237B6}"/>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4963ACAA-C750-7421-32E8-CEFDC6BC7533}"/>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436E2D3-F84E-3C61-F5D1-E4338AB965DA}"/>
              </a:ext>
            </a:extLst>
          </p:cNvPr>
          <p:cNvSpPr/>
          <p:nvPr/>
        </p:nvSpPr>
        <p:spPr bwMode="auto">
          <a:xfrm>
            <a:off x="355575" y="1518414"/>
            <a:ext cx="11480850" cy="82473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对于</a:t>
            </a:r>
            <a:r>
              <a:rPr lang="en-US" altLang="zh-CN" sz="2400" dirty="0"/>
              <a:t>L</a:t>
            </a:r>
            <a:r>
              <a:rPr lang="zh-CN" altLang="en-US" sz="2400" dirty="0"/>
              <a:t>层尺寸为</a:t>
            </a:r>
            <a:r>
              <a:rPr lang="en-US" altLang="zh-CN" sz="2400" dirty="0"/>
              <a:t>K </a:t>
            </a:r>
            <a:r>
              <a:rPr lang="zh-CN" altLang="en-US" sz="2400" dirty="0"/>
              <a:t>的卷积核，感知野等于 </a:t>
            </a:r>
            <a:r>
              <a:rPr lang="en-US" altLang="zh-CN" sz="2400" dirty="0"/>
              <a:t>1+L*(K-1)</a:t>
            </a:r>
            <a:r>
              <a:rPr lang="zh-CN" altLang="en-US" sz="2400" dirty="0"/>
              <a:t>。</a:t>
            </a:r>
            <a:endParaRPr lang="en-US" altLang="zh-CN" sz="2400" dirty="0"/>
          </a:p>
        </p:txBody>
      </p:sp>
      <p:sp>
        <p:nvSpPr>
          <p:cNvPr id="114" name="object 5">
            <a:extLst>
              <a:ext uri="{FF2B5EF4-FFF2-40B4-BE49-F238E27FC236}">
                <a16:creationId xmlns:a16="http://schemas.microsoft.com/office/drawing/2014/main" id="{D378091C-2FC0-D843-F1C8-F184CBE8FB6C}"/>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卷积的感知野</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AF383FDF-CB3F-BBA0-9453-412E225DB39E}"/>
              </a:ext>
            </a:extLst>
          </p:cNvPr>
          <p:cNvPicPr>
            <a:picLocks noChangeAspect="1"/>
          </p:cNvPicPr>
          <p:nvPr/>
        </p:nvPicPr>
        <p:blipFill>
          <a:blip r:embed="rId3"/>
          <a:stretch>
            <a:fillRect/>
          </a:stretch>
        </p:blipFill>
        <p:spPr>
          <a:xfrm>
            <a:off x="1722438" y="3083997"/>
            <a:ext cx="8051778" cy="1960563"/>
          </a:xfrm>
          <a:prstGeom prst="rect">
            <a:avLst/>
          </a:prstGeom>
        </p:spPr>
      </p:pic>
      <p:sp>
        <p:nvSpPr>
          <p:cNvPr id="4" name="文本框 3">
            <a:extLst>
              <a:ext uri="{FF2B5EF4-FFF2-40B4-BE49-F238E27FC236}">
                <a16:creationId xmlns:a16="http://schemas.microsoft.com/office/drawing/2014/main" id="{B7D137A5-2057-8DC7-1903-46FED7D9D859}"/>
              </a:ext>
            </a:extLst>
          </p:cNvPr>
          <p:cNvSpPr txBox="1"/>
          <p:nvPr/>
        </p:nvSpPr>
        <p:spPr>
          <a:xfrm>
            <a:off x="2314576" y="5141704"/>
            <a:ext cx="646331" cy="369332"/>
          </a:xfrm>
          <a:prstGeom prst="rect">
            <a:avLst/>
          </a:prstGeom>
          <a:noFill/>
        </p:spPr>
        <p:txBody>
          <a:bodyPr wrap="none" rtlCol="0">
            <a:spAutoFit/>
          </a:bodyPr>
          <a:lstStyle/>
          <a:p>
            <a:r>
              <a:rPr kumimoji="1" lang="zh-CN" altLang="en-US" dirty="0"/>
              <a:t>输入</a:t>
            </a:r>
          </a:p>
        </p:txBody>
      </p:sp>
      <p:sp>
        <p:nvSpPr>
          <p:cNvPr id="5" name="文本框 4">
            <a:extLst>
              <a:ext uri="{FF2B5EF4-FFF2-40B4-BE49-F238E27FC236}">
                <a16:creationId xmlns:a16="http://schemas.microsoft.com/office/drawing/2014/main" id="{718A1276-CB91-1E94-D724-2258E1949EB5}"/>
              </a:ext>
            </a:extLst>
          </p:cNvPr>
          <p:cNvSpPr txBox="1"/>
          <p:nvPr/>
        </p:nvSpPr>
        <p:spPr>
          <a:xfrm>
            <a:off x="8601076" y="5141704"/>
            <a:ext cx="646331" cy="369332"/>
          </a:xfrm>
          <a:prstGeom prst="rect">
            <a:avLst/>
          </a:prstGeom>
          <a:noFill/>
        </p:spPr>
        <p:txBody>
          <a:bodyPr wrap="none" rtlCol="0">
            <a:spAutoFit/>
          </a:bodyPr>
          <a:lstStyle/>
          <a:p>
            <a:r>
              <a:rPr kumimoji="1" lang="zh-CN" altLang="en-US" dirty="0"/>
              <a:t>输出</a:t>
            </a:r>
          </a:p>
        </p:txBody>
      </p:sp>
    </p:spTree>
    <p:extLst>
      <p:ext uri="{BB962C8B-B14F-4D97-AF65-F5344CB8AC3E}">
        <p14:creationId xmlns:p14="http://schemas.microsoft.com/office/powerpoint/2010/main" val="765097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9C809-0006-215D-0167-3DCB6A9ACC90}"/>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4506357A-9B7F-F09D-1C8B-D3CF32CEAF96}"/>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C86F2763-664D-3E9C-F724-95EA03A6EBDE}"/>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86DF298-A4CC-0051-CE1A-585D7A32A3C4}"/>
              </a:ext>
            </a:extLst>
          </p:cNvPr>
          <p:cNvSpPr/>
          <p:nvPr/>
        </p:nvSpPr>
        <p:spPr bwMode="auto">
          <a:xfrm>
            <a:off x="355575" y="1518414"/>
            <a:ext cx="11480850" cy="128193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假设：如果一个特征在计算某个空间位置</a:t>
            </a:r>
            <a:r>
              <a:rPr lang="en-US" altLang="zh-CN" sz="2400" dirty="0"/>
              <a:t>(</a:t>
            </a:r>
            <a:r>
              <a:rPr lang="en" altLang="zh-CN" sz="2400" dirty="0" err="1"/>
              <a:t>x,y</a:t>
            </a:r>
            <a:r>
              <a:rPr lang="en" altLang="zh-CN" sz="2400" dirty="0"/>
              <a:t>)</a:t>
            </a:r>
            <a:r>
              <a:rPr lang="zh-CN" altLang="en-US" sz="2400" dirty="0"/>
              <a:t>的时候有用，那么它在计算另一个不同位置</a:t>
            </a:r>
            <a:r>
              <a:rPr lang="en-US" altLang="zh-CN" sz="2400" dirty="0"/>
              <a:t>(</a:t>
            </a:r>
            <a:r>
              <a:rPr lang="en" altLang="zh-CN" sz="2400" dirty="0"/>
              <a:t>x2,y2)</a:t>
            </a:r>
            <a:r>
              <a:rPr lang="zh-CN" altLang="en-US" sz="2400" dirty="0"/>
              <a:t>的时候也有用。基于这个假设，可以显著地减少参数数量：在同一卷积层中，一个卷积核负责扫描整张图像，其权重参数在所有滑动位置保持不变。</a:t>
            </a:r>
            <a:endParaRPr lang="en-US" altLang="zh-CN" sz="2400" dirty="0"/>
          </a:p>
        </p:txBody>
      </p:sp>
      <p:sp>
        <p:nvSpPr>
          <p:cNvPr id="114" name="object 5">
            <a:extLst>
              <a:ext uri="{FF2B5EF4-FFF2-40B4-BE49-F238E27FC236}">
                <a16:creationId xmlns:a16="http://schemas.microsoft.com/office/drawing/2014/main" id="{68EF7570-10C2-DA5F-BB6A-4F4366AF01B5}"/>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卷积层的权值共享</a:t>
            </a:r>
            <a:endParaRPr lang="en-US" sz="3600" spc="-10" dirty="0">
              <a:solidFill>
                <a:schemeClr val="bg1"/>
              </a:solidFill>
              <a:latin typeface="Calibri" panose="020F0502020204030204" pitchFamily="34" charset="0"/>
              <a:cs typeface="Calibri" panose="020F0502020204030204" pitchFamily="34" charset="0"/>
            </a:endParaRPr>
          </a:p>
        </p:txBody>
      </p:sp>
      <p:sp>
        <p:nvSpPr>
          <p:cNvPr id="3" name="立方体 2">
            <a:extLst>
              <a:ext uri="{FF2B5EF4-FFF2-40B4-BE49-F238E27FC236}">
                <a16:creationId xmlns:a16="http://schemas.microsoft.com/office/drawing/2014/main" id="{ACCE2E49-70F0-B79D-9DE3-E6C633A2617A}"/>
              </a:ext>
            </a:extLst>
          </p:cNvPr>
          <p:cNvSpPr/>
          <p:nvPr/>
        </p:nvSpPr>
        <p:spPr>
          <a:xfrm>
            <a:off x="1261962" y="3136000"/>
            <a:ext cx="569844" cy="2229678"/>
          </a:xfrm>
          <a:prstGeom prst="cube">
            <a:avLst>
              <a:gd name="adj" fmla="val 77004"/>
            </a:avLst>
          </a:prstGeom>
          <a:solidFill>
            <a:srgbClr val="FF7E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立方体 5">
            <a:extLst>
              <a:ext uri="{FF2B5EF4-FFF2-40B4-BE49-F238E27FC236}">
                <a16:creationId xmlns:a16="http://schemas.microsoft.com/office/drawing/2014/main" id="{2C5D0C6D-30BA-C58E-E9EC-1C1627F6A707}"/>
              </a:ext>
            </a:extLst>
          </p:cNvPr>
          <p:cNvSpPr/>
          <p:nvPr/>
        </p:nvSpPr>
        <p:spPr>
          <a:xfrm>
            <a:off x="1546884" y="3136000"/>
            <a:ext cx="569844" cy="2229678"/>
          </a:xfrm>
          <a:prstGeom prst="cube">
            <a:avLst>
              <a:gd name="adj" fmla="val 77004"/>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立方体 6">
            <a:extLst>
              <a:ext uri="{FF2B5EF4-FFF2-40B4-BE49-F238E27FC236}">
                <a16:creationId xmlns:a16="http://schemas.microsoft.com/office/drawing/2014/main" id="{C3E7CD5A-65F0-C46E-9F48-3285238949DB}"/>
              </a:ext>
            </a:extLst>
          </p:cNvPr>
          <p:cNvSpPr/>
          <p:nvPr/>
        </p:nvSpPr>
        <p:spPr>
          <a:xfrm>
            <a:off x="1830567" y="3136000"/>
            <a:ext cx="569844" cy="2229678"/>
          </a:xfrm>
          <a:prstGeom prst="cube">
            <a:avLst>
              <a:gd name="adj" fmla="val 7700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60A676F2-ECBE-79C2-5F5F-DB489B75AC8E}"/>
              </a:ext>
            </a:extLst>
          </p:cNvPr>
          <p:cNvSpPr txBox="1"/>
          <p:nvPr/>
        </p:nvSpPr>
        <p:spPr>
          <a:xfrm>
            <a:off x="234072" y="5464478"/>
            <a:ext cx="3192990" cy="369332"/>
          </a:xfrm>
          <a:prstGeom prst="rect">
            <a:avLst/>
          </a:prstGeom>
          <a:noFill/>
        </p:spPr>
        <p:txBody>
          <a:bodyPr wrap="none" rtlCol="0">
            <a:spAutoFit/>
          </a:bodyPr>
          <a:lstStyle/>
          <a:p>
            <a:r>
              <a:rPr kumimoji="1" lang="en-US" altLang="zh-CN" dirty="0"/>
              <a:t>RGB </a:t>
            </a:r>
            <a:r>
              <a:rPr kumimoji="1" lang="zh-CN" altLang="en-US" dirty="0"/>
              <a:t>图像输入  尺寸 </a:t>
            </a:r>
            <a:r>
              <a:rPr kumimoji="1" lang="en-US" altLang="zh-CN" dirty="0"/>
              <a:t>224x224x3</a:t>
            </a:r>
            <a:endParaRPr kumimoji="1" lang="zh-CN" altLang="en-US" dirty="0"/>
          </a:p>
        </p:txBody>
      </p:sp>
      <p:sp>
        <p:nvSpPr>
          <p:cNvPr id="10" name="左大括号 9">
            <a:extLst>
              <a:ext uri="{FF2B5EF4-FFF2-40B4-BE49-F238E27FC236}">
                <a16:creationId xmlns:a16="http://schemas.microsoft.com/office/drawing/2014/main" id="{C4433143-4AF3-C7D6-B583-65C5485C6E29}"/>
              </a:ext>
            </a:extLst>
          </p:cNvPr>
          <p:cNvSpPr/>
          <p:nvPr/>
        </p:nvSpPr>
        <p:spPr>
          <a:xfrm>
            <a:off x="3186113" y="3429000"/>
            <a:ext cx="1214437" cy="2643188"/>
          </a:xfrm>
          <a:prstGeom prst="lef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32" name="组合 31">
            <a:extLst>
              <a:ext uri="{FF2B5EF4-FFF2-40B4-BE49-F238E27FC236}">
                <a16:creationId xmlns:a16="http://schemas.microsoft.com/office/drawing/2014/main" id="{5AE1C4BC-4918-2340-61FF-A57553DFB45A}"/>
              </a:ext>
            </a:extLst>
          </p:cNvPr>
          <p:cNvGrpSpPr/>
          <p:nvPr/>
        </p:nvGrpSpPr>
        <p:grpSpPr>
          <a:xfrm>
            <a:off x="4848759" y="2950916"/>
            <a:ext cx="1214437" cy="1281937"/>
            <a:chOff x="5186252" y="3231379"/>
            <a:chExt cx="2347387" cy="2804984"/>
          </a:xfrm>
        </p:grpSpPr>
        <p:sp>
          <p:nvSpPr>
            <p:cNvPr id="11" name="矩形 10">
              <a:extLst>
                <a:ext uri="{FF2B5EF4-FFF2-40B4-BE49-F238E27FC236}">
                  <a16:creationId xmlns:a16="http://schemas.microsoft.com/office/drawing/2014/main" id="{F4352357-E522-658C-2EC0-8E93257829BF}"/>
                </a:ext>
              </a:extLst>
            </p:cNvPr>
            <p:cNvSpPr/>
            <p:nvPr/>
          </p:nvSpPr>
          <p:spPr>
            <a:xfrm>
              <a:off x="5186252" y="3577368"/>
              <a:ext cx="720000" cy="212536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a:extLst>
                <a:ext uri="{FF2B5EF4-FFF2-40B4-BE49-F238E27FC236}">
                  <a16:creationId xmlns:a16="http://schemas.microsoft.com/office/drawing/2014/main" id="{6D80C199-5551-06C4-1E3C-86BB43EF9CC7}"/>
                </a:ext>
              </a:extLst>
            </p:cNvPr>
            <p:cNvSpPr/>
            <p:nvPr/>
          </p:nvSpPr>
          <p:spPr>
            <a:xfrm>
              <a:off x="5297463" y="3711047"/>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E0E93BC4-DDA3-03E9-FA3A-541354AB8D8D}"/>
                </a:ext>
              </a:extLst>
            </p:cNvPr>
            <p:cNvSpPr/>
            <p:nvPr/>
          </p:nvSpPr>
          <p:spPr>
            <a:xfrm>
              <a:off x="5297463" y="438673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a:extLst>
                <a:ext uri="{FF2B5EF4-FFF2-40B4-BE49-F238E27FC236}">
                  <a16:creationId xmlns:a16="http://schemas.microsoft.com/office/drawing/2014/main" id="{8BFDFDD8-36DB-3DCF-0FE3-7F4AC5E3E3A1}"/>
                </a:ext>
              </a:extLst>
            </p:cNvPr>
            <p:cNvSpPr/>
            <p:nvPr/>
          </p:nvSpPr>
          <p:spPr>
            <a:xfrm>
              <a:off x="5297463" y="505203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557381D1-CE38-41EB-F663-B747E70F21F2}"/>
                </a:ext>
              </a:extLst>
            </p:cNvPr>
            <p:cNvSpPr/>
            <p:nvPr/>
          </p:nvSpPr>
          <p:spPr>
            <a:xfrm>
              <a:off x="6813639" y="3231379"/>
              <a:ext cx="720000" cy="280498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椭圆 15">
              <a:extLst>
                <a:ext uri="{FF2B5EF4-FFF2-40B4-BE49-F238E27FC236}">
                  <a16:creationId xmlns:a16="http://schemas.microsoft.com/office/drawing/2014/main" id="{77F125B6-2522-66AD-E672-6209E17D5A32}"/>
                </a:ext>
              </a:extLst>
            </p:cNvPr>
            <p:cNvSpPr/>
            <p:nvPr/>
          </p:nvSpPr>
          <p:spPr>
            <a:xfrm>
              <a:off x="6926504" y="339201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a:extLst>
                <a:ext uri="{FF2B5EF4-FFF2-40B4-BE49-F238E27FC236}">
                  <a16:creationId xmlns:a16="http://schemas.microsoft.com/office/drawing/2014/main" id="{92A75C3C-9C65-DE81-337B-3D3060BD4A4A}"/>
                </a:ext>
              </a:extLst>
            </p:cNvPr>
            <p:cNvSpPr/>
            <p:nvPr/>
          </p:nvSpPr>
          <p:spPr>
            <a:xfrm>
              <a:off x="6926504" y="405284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99966FF0-08A4-12EC-5BC5-0C2AA2DCF4AB}"/>
                </a:ext>
              </a:extLst>
            </p:cNvPr>
            <p:cNvSpPr/>
            <p:nvPr/>
          </p:nvSpPr>
          <p:spPr>
            <a:xfrm>
              <a:off x="6926504" y="4775459"/>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a:extLst>
                <a:ext uri="{FF2B5EF4-FFF2-40B4-BE49-F238E27FC236}">
                  <a16:creationId xmlns:a16="http://schemas.microsoft.com/office/drawing/2014/main" id="{D521E323-C215-89CA-6EF9-15A1BA9F3BFD}"/>
                </a:ext>
              </a:extLst>
            </p:cNvPr>
            <p:cNvSpPr/>
            <p:nvPr/>
          </p:nvSpPr>
          <p:spPr>
            <a:xfrm>
              <a:off x="6926504" y="5410359"/>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0" name="直线箭头连接符 19">
              <a:extLst>
                <a:ext uri="{FF2B5EF4-FFF2-40B4-BE49-F238E27FC236}">
                  <a16:creationId xmlns:a16="http://schemas.microsoft.com/office/drawing/2014/main" id="{CF44DF9D-FA1C-ABF4-F0D6-003B34266304}"/>
                </a:ext>
              </a:extLst>
            </p:cNvPr>
            <p:cNvCxnSpPr>
              <a:stCxn id="12" idx="6"/>
              <a:endCxn id="16" idx="2"/>
            </p:cNvCxnSpPr>
            <p:nvPr/>
          </p:nvCxnSpPr>
          <p:spPr>
            <a:xfrm flipV="1">
              <a:off x="5791733" y="3639151"/>
              <a:ext cx="1134771" cy="319031"/>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1" name="直线箭头连接符 20">
              <a:extLst>
                <a:ext uri="{FF2B5EF4-FFF2-40B4-BE49-F238E27FC236}">
                  <a16:creationId xmlns:a16="http://schemas.microsoft.com/office/drawing/2014/main" id="{68DC175D-9E67-A41D-DDC0-1FF50978FF77}"/>
                </a:ext>
              </a:extLst>
            </p:cNvPr>
            <p:cNvCxnSpPr>
              <a:cxnSpLocks/>
              <a:stCxn id="12" idx="6"/>
              <a:endCxn id="17" idx="2"/>
            </p:cNvCxnSpPr>
            <p:nvPr/>
          </p:nvCxnSpPr>
          <p:spPr>
            <a:xfrm>
              <a:off x="5791733" y="3958182"/>
              <a:ext cx="1134771" cy="34179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2" name="直线箭头连接符 21">
              <a:extLst>
                <a:ext uri="{FF2B5EF4-FFF2-40B4-BE49-F238E27FC236}">
                  <a16:creationId xmlns:a16="http://schemas.microsoft.com/office/drawing/2014/main" id="{61070D53-52E7-E915-535E-C2110EB3609D}"/>
                </a:ext>
              </a:extLst>
            </p:cNvPr>
            <p:cNvCxnSpPr>
              <a:cxnSpLocks/>
              <a:stCxn id="12" idx="6"/>
              <a:endCxn id="18" idx="2"/>
            </p:cNvCxnSpPr>
            <p:nvPr/>
          </p:nvCxnSpPr>
          <p:spPr>
            <a:xfrm>
              <a:off x="5791733" y="3958182"/>
              <a:ext cx="1134771" cy="10644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3" name="直线箭头连接符 22">
              <a:extLst>
                <a:ext uri="{FF2B5EF4-FFF2-40B4-BE49-F238E27FC236}">
                  <a16:creationId xmlns:a16="http://schemas.microsoft.com/office/drawing/2014/main" id="{4A2628E6-BABC-A75E-7F04-A6E516A12A8F}"/>
                </a:ext>
              </a:extLst>
            </p:cNvPr>
            <p:cNvCxnSpPr>
              <a:cxnSpLocks/>
              <a:stCxn id="12" idx="6"/>
              <a:endCxn id="19" idx="2"/>
            </p:cNvCxnSpPr>
            <p:nvPr/>
          </p:nvCxnSpPr>
          <p:spPr>
            <a:xfrm>
              <a:off x="5791733" y="3958182"/>
              <a:ext cx="1134771" cy="16993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4" name="直线箭头连接符 23">
              <a:extLst>
                <a:ext uri="{FF2B5EF4-FFF2-40B4-BE49-F238E27FC236}">
                  <a16:creationId xmlns:a16="http://schemas.microsoft.com/office/drawing/2014/main" id="{FDFE4263-A26F-E03D-6C12-6DDB04F168EF}"/>
                </a:ext>
              </a:extLst>
            </p:cNvPr>
            <p:cNvCxnSpPr>
              <a:cxnSpLocks/>
              <a:stCxn id="13" idx="6"/>
              <a:endCxn id="16" idx="2"/>
            </p:cNvCxnSpPr>
            <p:nvPr/>
          </p:nvCxnSpPr>
          <p:spPr>
            <a:xfrm flipV="1">
              <a:off x="5791733" y="3639151"/>
              <a:ext cx="1134771" cy="99472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5" name="直线箭头连接符 24">
              <a:extLst>
                <a:ext uri="{FF2B5EF4-FFF2-40B4-BE49-F238E27FC236}">
                  <a16:creationId xmlns:a16="http://schemas.microsoft.com/office/drawing/2014/main" id="{A3F8A5C1-47D8-EAC0-9F97-9E4D8332A89C}"/>
                </a:ext>
              </a:extLst>
            </p:cNvPr>
            <p:cNvCxnSpPr>
              <a:cxnSpLocks/>
              <a:stCxn id="13" idx="6"/>
              <a:endCxn id="17" idx="2"/>
            </p:cNvCxnSpPr>
            <p:nvPr/>
          </p:nvCxnSpPr>
          <p:spPr>
            <a:xfrm flipV="1">
              <a:off x="5791733" y="4299981"/>
              <a:ext cx="1134771" cy="33389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6" name="直线箭头连接符 25">
              <a:extLst>
                <a:ext uri="{FF2B5EF4-FFF2-40B4-BE49-F238E27FC236}">
                  <a16:creationId xmlns:a16="http://schemas.microsoft.com/office/drawing/2014/main" id="{2E97E30E-9E38-FE79-DE8E-D6DF8F5E71DE}"/>
                </a:ext>
              </a:extLst>
            </p:cNvPr>
            <p:cNvCxnSpPr>
              <a:cxnSpLocks/>
              <a:stCxn id="13" idx="6"/>
              <a:endCxn id="18" idx="2"/>
            </p:cNvCxnSpPr>
            <p:nvPr/>
          </p:nvCxnSpPr>
          <p:spPr>
            <a:xfrm>
              <a:off x="5791733" y="4633871"/>
              <a:ext cx="1134771" cy="3887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7" name="直线箭头连接符 26">
              <a:extLst>
                <a:ext uri="{FF2B5EF4-FFF2-40B4-BE49-F238E27FC236}">
                  <a16:creationId xmlns:a16="http://schemas.microsoft.com/office/drawing/2014/main" id="{D44FC6F3-83B0-E548-4C20-78C9640481E6}"/>
                </a:ext>
              </a:extLst>
            </p:cNvPr>
            <p:cNvCxnSpPr>
              <a:cxnSpLocks/>
              <a:stCxn id="13" idx="6"/>
              <a:endCxn id="19" idx="2"/>
            </p:cNvCxnSpPr>
            <p:nvPr/>
          </p:nvCxnSpPr>
          <p:spPr>
            <a:xfrm>
              <a:off x="5791733" y="4633871"/>
              <a:ext cx="1134771" cy="10236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8" name="直线箭头连接符 27">
              <a:extLst>
                <a:ext uri="{FF2B5EF4-FFF2-40B4-BE49-F238E27FC236}">
                  <a16:creationId xmlns:a16="http://schemas.microsoft.com/office/drawing/2014/main" id="{7B6B2C60-20B7-A80B-B25A-76E62B2A934C}"/>
                </a:ext>
              </a:extLst>
            </p:cNvPr>
            <p:cNvCxnSpPr>
              <a:cxnSpLocks/>
              <a:stCxn id="14" idx="6"/>
              <a:endCxn id="16" idx="2"/>
            </p:cNvCxnSpPr>
            <p:nvPr/>
          </p:nvCxnSpPr>
          <p:spPr>
            <a:xfrm flipV="1">
              <a:off x="5791733" y="3639151"/>
              <a:ext cx="1134771" cy="166001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29" name="直线箭头连接符 28">
              <a:extLst>
                <a:ext uri="{FF2B5EF4-FFF2-40B4-BE49-F238E27FC236}">
                  <a16:creationId xmlns:a16="http://schemas.microsoft.com/office/drawing/2014/main" id="{32CFE22A-9884-9AC5-F4A3-CFB0005A471B}"/>
                </a:ext>
              </a:extLst>
            </p:cNvPr>
            <p:cNvCxnSpPr>
              <a:cxnSpLocks/>
              <a:stCxn id="14" idx="6"/>
              <a:endCxn id="17" idx="2"/>
            </p:cNvCxnSpPr>
            <p:nvPr/>
          </p:nvCxnSpPr>
          <p:spPr>
            <a:xfrm flipV="1">
              <a:off x="5791733" y="4299981"/>
              <a:ext cx="1134771" cy="99918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30" name="直线箭头连接符 29">
              <a:extLst>
                <a:ext uri="{FF2B5EF4-FFF2-40B4-BE49-F238E27FC236}">
                  <a16:creationId xmlns:a16="http://schemas.microsoft.com/office/drawing/2014/main" id="{FE5503F1-FC3F-DBFB-8C03-557C9832DB3F}"/>
                </a:ext>
              </a:extLst>
            </p:cNvPr>
            <p:cNvCxnSpPr>
              <a:cxnSpLocks/>
              <a:stCxn id="14" idx="6"/>
              <a:endCxn id="18" idx="2"/>
            </p:cNvCxnSpPr>
            <p:nvPr/>
          </p:nvCxnSpPr>
          <p:spPr>
            <a:xfrm flipV="1">
              <a:off x="5791733" y="5022594"/>
              <a:ext cx="1134771" cy="27657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31" name="直线箭头连接符 30">
              <a:extLst>
                <a:ext uri="{FF2B5EF4-FFF2-40B4-BE49-F238E27FC236}">
                  <a16:creationId xmlns:a16="http://schemas.microsoft.com/office/drawing/2014/main" id="{9F7552D6-E51E-62E4-AECB-8C5883D1D258}"/>
                </a:ext>
              </a:extLst>
            </p:cNvPr>
            <p:cNvCxnSpPr>
              <a:cxnSpLocks/>
              <a:stCxn id="14" idx="6"/>
              <a:endCxn id="19" idx="2"/>
            </p:cNvCxnSpPr>
            <p:nvPr/>
          </p:nvCxnSpPr>
          <p:spPr>
            <a:xfrm>
              <a:off x="5791733" y="5299170"/>
              <a:ext cx="1134771" cy="358324"/>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grpSp>
      <p:grpSp>
        <p:nvGrpSpPr>
          <p:cNvPr id="112" name="组合 111">
            <a:extLst>
              <a:ext uri="{FF2B5EF4-FFF2-40B4-BE49-F238E27FC236}">
                <a16:creationId xmlns:a16="http://schemas.microsoft.com/office/drawing/2014/main" id="{2FA1F645-1368-CD17-73B2-C7F57E6AEDCA}"/>
              </a:ext>
            </a:extLst>
          </p:cNvPr>
          <p:cNvGrpSpPr/>
          <p:nvPr/>
        </p:nvGrpSpPr>
        <p:grpSpPr>
          <a:xfrm>
            <a:off x="4551759" y="5134794"/>
            <a:ext cx="2277880" cy="1028700"/>
            <a:chOff x="5735078" y="4790251"/>
            <a:chExt cx="2921905" cy="1281937"/>
          </a:xfrm>
        </p:grpSpPr>
        <p:grpSp>
          <p:nvGrpSpPr>
            <p:cNvPr id="105" name="组合 104">
              <a:extLst>
                <a:ext uri="{FF2B5EF4-FFF2-40B4-BE49-F238E27FC236}">
                  <a16:creationId xmlns:a16="http://schemas.microsoft.com/office/drawing/2014/main" id="{677B5C83-B6AA-9912-8B9C-96764846BD48}"/>
                </a:ext>
              </a:extLst>
            </p:cNvPr>
            <p:cNvGrpSpPr/>
            <p:nvPr/>
          </p:nvGrpSpPr>
          <p:grpSpPr>
            <a:xfrm>
              <a:off x="5830537" y="4853419"/>
              <a:ext cx="980347" cy="1095623"/>
              <a:chOff x="9306653" y="3731236"/>
              <a:chExt cx="980347" cy="1095623"/>
            </a:xfrm>
          </p:grpSpPr>
          <p:sp>
            <p:nvSpPr>
              <p:cNvPr id="107" name="立方体 106">
                <a:extLst>
                  <a:ext uri="{FF2B5EF4-FFF2-40B4-BE49-F238E27FC236}">
                    <a16:creationId xmlns:a16="http://schemas.microsoft.com/office/drawing/2014/main" id="{DB287C99-59B2-46D3-39B5-F483677F8185}"/>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8" name="立方体 107">
                <a:extLst>
                  <a:ext uri="{FF2B5EF4-FFF2-40B4-BE49-F238E27FC236}">
                    <a16:creationId xmlns:a16="http://schemas.microsoft.com/office/drawing/2014/main" id="{7EECE312-37C3-4A69-0DEE-EF92343DD11B}"/>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109" name="立方体 108">
                <a:extLst>
                  <a:ext uri="{FF2B5EF4-FFF2-40B4-BE49-F238E27FC236}">
                    <a16:creationId xmlns:a16="http://schemas.microsoft.com/office/drawing/2014/main" id="{1D815F96-05A4-9461-1C4A-C7FBC96DAC3B}"/>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0" name="立方体 109">
                <a:extLst>
                  <a:ext uri="{FF2B5EF4-FFF2-40B4-BE49-F238E27FC236}">
                    <a16:creationId xmlns:a16="http://schemas.microsoft.com/office/drawing/2014/main" id="{3341C3DA-A80F-3624-9A62-F7DB59A4A8E6}"/>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81" name="组合 80">
              <a:extLst>
                <a:ext uri="{FF2B5EF4-FFF2-40B4-BE49-F238E27FC236}">
                  <a16:creationId xmlns:a16="http://schemas.microsoft.com/office/drawing/2014/main" id="{DC7A33FA-4913-6A36-A2BB-ADB5E7474641}"/>
                </a:ext>
              </a:extLst>
            </p:cNvPr>
            <p:cNvGrpSpPr/>
            <p:nvPr/>
          </p:nvGrpSpPr>
          <p:grpSpPr>
            <a:xfrm>
              <a:off x="7559313" y="4853419"/>
              <a:ext cx="980347" cy="1095623"/>
              <a:chOff x="9306653" y="3731236"/>
              <a:chExt cx="980347" cy="1095623"/>
            </a:xfrm>
          </p:grpSpPr>
          <p:sp>
            <p:nvSpPr>
              <p:cNvPr id="83" name="立方体 82">
                <a:extLst>
                  <a:ext uri="{FF2B5EF4-FFF2-40B4-BE49-F238E27FC236}">
                    <a16:creationId xmlns:a16="http://schemas.microsoft.com/office/drawing/2014/main" id="{071535E2-F728-1AD4-41F4-8C065178D1EE}"/>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4" name="立方体 83">
                <a:extLst>
                  <a:ext uri="{FF2B5EF4-FFF2-40B4-BE49-F238E27FC236}">
                    <a16:creationId xmlns:a16="http://schemas.microsoft.com/office/drawing/2014/main" id="{B9D10365-273A-AEA5-977A-813BA0798BB4}"/>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85" name="立方体 84">
                <a:extLst>
                  <a:ext uri="{FF2B5EF4-FFF2-40B4-BE49-F238E27FC236}">
                    <a16:creationId xmlns:a16="http://schemas.microsoft.com/office/drawing/2014/main" id="{6F88FA4D-8610-535E-F457-7FCCA10ADE8B}"/>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6" name="立方体 85">
                <a:extLst>
                  <a:ext uri="{FF2B5EF4-FFF2-40B4-BE49-F238E27FC236}">
                    <a16:creationId xmlns:a16="http://schemas.microsoft.com/office/drawing/2014/main" id="{4123A9DC-8383-C441-94C9-C29A384B62CD}"/>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80" name="立方体 79">
              <a:extLst>
                <a:ext uri="{FF2B5EF4-FFF2-40B4-BE49-F238E27FC236}">
                  <a16:creationId xmlns:a16="http://schemas.microsoft.com/office/drawing/2014/main" id="{1288F9B6-D897-CEC5-DB22-915F13195F3F}"/>
                </a:ext>
              </a:extLst>
            </p:cNvPr>
            <p:cNvSpPr/>
            <p:nvPr/>
          </p:nvSpPr>
          <p:spPr>
            <a:xfrm>
              <a:off x="5735078" y="4790251"/>
              <a:ext cx="2921905" cy="1281937"/>
            </a:xfrm>
            <a:prstGeom prst="cube">
              <a:avLst/>
            </a:prstGeom>
            <a:solidFill>
              <a:schemeClr val="accent5">
                <a:lumMod val="40000"/>
                <a:lumOff val="60000"/>
                <a:alpha val="3253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60D04194-64C9-3F68-438E-B4A2F0C22C64}"/>
                    </a:ext>
                  </a:extLst>
                </p:cNvPr>
                <p:cNvSpPr txBox="1"/>
                <p:nvPr/>
              </p:nvSpPr>
              <p:spPr>
                <a:xfrm>
                  <a:off x="6844193" y="5130066"/>
                  <a:ext cx="415266" cy="7287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zh-CN" altLang="en-US" sz="3200" i="1" smtClean="0">
                            <a:latin typeface="Cambria Math" panose="02040503050406030204" pitchFamily="18" charset="0"/>
                          </a:rPr>
                          <m:t>⋯</m:t>
                        </m:r>
                      </m:oMath>
                    </m:oMathPara>
                  </a14:m>
                  <a:endParaRPr kumimoji="1" lang="zh-CN" altLang="en-US" sz="3200" dirty="0"/>
                </a:p>
              </p:txBody>
            </p:sp>
          </mc:Choice>
          <mc:Fallback xmlns="">
            <p:sp>
              <p:nvSpPr>
                <p:cNvPr id="111" name="文本框 110">
                  <a:extLst>
                    <a:ext uri="{FF2B5EF4-FFF2-40B4-BE49-F238E27FC236}">
                      <a16:creationId xmlns:a16="http://schemas.microsoft.com/office/drawing/2014/main" id="{60D04194-64C9-3F68-438E-B4A2F0C22C64}"/>
                    </a:ext>
                  </a:extLst>
                </p:cNvPr>
                <p:cNvSpPr txBox="1">
                  <a:spLocks noRot="1" noChangeAspect="1" noMove="1" noResize="1" noEditPoints="1" noAdjustHandles="1" noChangeArrowheads="1" noChangeShapeType="1" noTextEdit="1"/>
                </p:cNvSpPr>
                <p:nvPr/>
              </p:nvSpPr>
              <p:spPr>
                <a:xfrm>
                  <a:off x="6844193" y="5130066"/>
                  <a:ext cx="415266" cy="728730"/>
                </a:xfrm>
                <a:prstGeom prst="rect">
                  <a:avLst/>
                </a:prstGeom>
                <a:blipFill>
                  <a:blip r:embed="rId3"/>
                  <a:stretch>
                    <a:fillRect r="-55556"/>
                  </a:stretch>
                </a:blipFill>
              </p:spPr>
              <p:txBody>
                <a:bodyPr/>
                <a:lstStyle/>
                <a:p>
                  <a:r>
                    <a:rPr lang="zh-CN" altLang="en-US">
                      <a:noFill/>
                    </a:rPr>
                    <a:t> </a:t>
                  </a:r>
                </a:p>
              </p:txBody>
            </p:sp>
          </mc:Fallback>
        </mc:AlternateContent>
      </p:grpSp>
      <p:sp>
        <p:nvSpPr>
          <p:cNvPr id="113" name="文本框 112">
            <a:extLst>
              <a:ext uri="{FF2B5EF4-FFF2-40B4-BE49-F238E27FC236}">
                <a16:creationId xmlns:a16="http://schemas.microsoft.com/office/drawing/2014/main" id="{8B9FEAB7-9354-B5E0-A2EA-9BDB051E1B8C}"/>
              </a:ext>
            </a:extLst>
          </p:cNvPr>
          <p:cNvSpPr txBox="1"/>
          <p:nvPr/>
        </p:nvSpPr>
        <p:spPr>
          <a:xfrm>
            <a:off x="4347253" y="4370138"/>
            <a:ext cx="2321469" cy="369332"/>
          </a:xfrm>
          <a:prstGeom prst="rect">
            <a:avLst/>
          </a:prstGeom>
          <a:noFill/>
        </p:spPr>
        <p:txBody>
          <a:bodyPr wrap="none" rtlCol="0">
            <a:spAutoFit/>
          </a:bodyPr>
          <a:lstStyle/>
          <a:p>
            <a:r>
              <a:rPr kumimoji="1" lang="en-US" altLang="zh-CN" dirty="0"/>
              <a:t>1000 </a:t>
            </a:r>
            <a:r>
              <a:rPr kumimoji="1" lang="zh-CN" altLang="en-US" dirty="0"/>
              <a:t>神经元全连接层</a:t>
            </a:r>
          </a:p>
        </p:txBody>
      </p:sp>
      <p:sp>
        <p:nvSpPr>
          <p:cNvPr id="115" name="文本框 114">
            <a:extLst>
              <a:ext uri="{FF2B5EF4-FFF2-40B4-BE49-F238E27FC236}">
                <a16:creationId xmlns:a16="http://schemas.microsoft.com/office/drawing/2014/main" id="{CE1338A5-37FC-E2D2-62B6-4EA281872CEE}"/>
              </a:ext>
            </a:extLst>
          </p:cNvPr>
          <p:cNvSpPr txBox="1"/>
          <p:nvPr/>
        </p:nvSpPr>
        <p:spPr>
          <a:xfrm>
            <a:off x="3705843" y="6316997"/>
            <a:ext cx="4112023" cy="369332"/>
          </a:xfrm>
          <a:prstGeom prst="rect">
            <a:avLst/>
          </a:prstGeom>
          <a:noFill/>
        </p:spPr>
        <p:txBody>
          <a:bodyPr wrap="none" rtlCol="0">
            <a:spAutoFit/>
          </a:bodyPr>
          <a:lstStyle/>
          <a:p>
            <a:r>
              <a:rPr kumimoji="1" lang="en-US" altLang="zh-CN" dirty="0"/>
              <a:t>1000 </a:t>
            </a:r>
            <a:r>
              <a:rPr kumimoji="1" lang="zh-CN" altLang="en-US" dirty="0"/>
              <a:t>神经元卷积层 （</a:t>
            </a:r>
            <a:r>
              <a:rPr kumimoji="1" lang="en-US" altLang="zh-CN" dirty="0"/>
              <a:t>3 x</a:t>
            </a:r>
            <a:r>
              <a:rPr kumimoji="1" lang="zh-CN" altLang="en-US" dirty="0"/>
              <a:t> </a:t>
            </a:r>
            <a:r>
              <a:rPr kumimoji="1" lang="en-US" altLang="zh-CN" dirty="0"/>
              <a:t>3</a:t>
            </a:r>
            <a:r>
              <a:rPr kumimoji="1" lang="zh-CN" altLang="en-US" dirty="0"/>
              <a:t> </a:t>
            </a:r>
            <a:r>
              <a:rPr kumimoji="1" lang="en-US" altLang="zh-CN" dirty="0"/>
              <a:t>x</a:t>
            </a:r>
            <a:r>
              <a:rPr kumimoji="1" lang="zh-CN" altLang="en-US" dirty="0"/>
              <a:t> </a:t>
            </a:r>
            <a:r>
              <a:rPr kumimoji="1" lang="en-US" altLang="zh-CN" dirty="0"/>
              <a:t>3 </a:t>
            </a:r>
            <a:r>
              <a:rPr kumimoji="1" lang="zh-CN" altLang="en-US" dirty="0"/>
              <a:t>卷积核）</a:t>
            </a:r>
          </a:p>
        </p:txBody>
      </p:sp>
      <p:sp>
        <p:nvSpPr>
          <p:cNvPr id="116" name="文本框 115">
            <a:extLst>
              <a:ext uri="{FF2B5EF4-FFF2-40B4-BE49-F238E27FC236}">
                <a16:creationId xmlns:a16="http://schemas.microsoft.com/office/drawing/2014/main" id="{B87FF0BC-D262-D62A-9AD7-112B6754188B}"/>
              </a:ext>
            </a:extLst>
          </p:cNvPr>
          <p:cNvSpPr txBox="1"/>
          <p:nvPr/>
        </p:nvSpPr>
        <p:spPr>
          <a:xfrm>
            <a:off x="7101387" y="3552236"/>
            <a:ext cx="3977371" cy="369332"/>
          </a:xfrm>
          <a:prstGeom prst="rect">
            <a:avLst/>
          </a:prstGeom>
          <a:noFill/>
        </p:spPr>
        <p:txBody>
          <a:bodyPr wrap="none" rtlCol="0">
            <a:spAutoFit/>
          </a:bodyPr>
          <a:lstStyle/>
          <a:p>
            <a:r>
              <a:rPr kumimoji="1" lang="zh-CN" altLang="en-US" dirty="0"/>
              <a:t>参数量：</a:t>
            </a:r>
            <a:r>
              <a:rPr kumimoji="1" lang="en-US" altLang="zh-CN" dirty="0"/>
              <a:t>224x224x3x1000=150,528,000</a:t>
            </a:r>
            <a:endParaRPr kumimoji="1" lang="zh-CN" altLang="en-US" dirty="0"/>
          </a:p>
        </p:txBody>
      </p:sp>
      <p:sp>
        <p:nvSpPr>
          <p:cNvPr id="117" name="文本框 116">
            <a:extLst>
              <a:ext uri="{FF2B5EF4-FFF2-40B4-BE49-F238E27FC236}">
                <a16:creationId xmlns:a16="http://schemas.microsoft.com/office/drawing/2014/main" id="{FA19B543-950F-5882-91B4-1EC03DC43242}"/>
              </a:ext>
            </a:extLst>
          </p:cNvPr>
          <p:cNvSpPr txBox="1"/>
          <p:nvPr/>
        </p:nvSpPr>
        <p:spPr>
          <a:xfrm>
            <a:off x="7101387" y="5499095"/>
            <a:ext cx="2920992" cy="369332"/>
          </a:xfrm>
          <a:prstGeom prst="rect">
            <a:avLst/>
          </a:prstGeom>
          <a:noFill/>
        </p:spPr>
        <p:txBody>
          <a:bodyPr wrap="none" rtlCol="0">
            <a:spAutoFit/>
          </a:bodyPr>
          <a:lstStyle/>
          <a:p>
            <a:r>
              <a:rPr kumimoji="1" lang="zh-CN" altLang="en-US" dirty="0"/>
              <a:t>参数量</a:t>
            </a:r>
            <a:r>
              <a:rPr kumimoji="1" lang="en-US" altLang="zh-CN" dirty="0"/>
              <a:t>: 3x3x3x1000=27,000 </a:t>
            </a:r>
            <a:endParaRPr kumimoji="1" lang="zh-CN" altLang="en-US" dirty="0"/>
          </a:p>
        </p:txBody>
      </p:sp>
    </p:spTree>
    <p:extLst>
      <p:ext uri="{BB962C8B-B14F-4D97-AF65-F5344CB8AC3E}">
        <p14:creationId xmlns:p14="http://schemas.microsoft.com/office/powerpoint/2010/main" val="4186545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5270-8E4A-D2A6-9A4B-C2A98BD84AB1}"/>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98DB0ED9-6219-EAB2-E1BF-26D873EBDAE7}"/>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112640CB-52E6-24BB-3DCA-1A98DBA0D1C0}"/>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803C2855-8F98-117B-65A2-544FB3093024}"/>
              </a:ext>
            </a:extLst>
          </p:cNvPr>
          <p:cNvSpPr/>
          <p:nvPr/>
        </p:nvSpPr>
        <p:spPr bwMode="auto">
          <a:xfrm>
            <a:off x="434097" y="1518414"/>
            <a:ext cx="5488013" cy="505383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US" altLang="zh-CN" sz="2400" dirty="0"/>
          </a:p>
          <a:p>
            <a:r>
              <a:rPr lang="zh-CN" altLang="en-US" sz="2400" dirty="0"/>
              <a:t>输入尺度：</a:t>
            </a:r>
            <a:r>
              <a:rPr lang="en-US" altLang="zh-CN" sz="2400" dirty="0"/>
              <a:t>C</a:t>
            </a:r>
            <a:r>
              <a:rPr lang="en-US" altLang="zh-CN" sz="2400" baseline="-25000" dirty="0"/>
              <a:t>in</a:t>
            </a:r>
            <a:r>
              <a:rPr lang="zh-CN" altLang="en-US" sz="2400" baseline="-25000" dirty="0"/>
              <a:t> </a:t>
            </a:r>
            <a:r>
              <a:rPr lang="en-US" altLang="zh-CN" sz="2400" dirty="0"/>
              <a:t>x</a:t>
            </a:r>
            <a:r>
              <a:rPr lang="zh-CN" altLang="en-US" sz="2400" dirty="0"/>
              <a:t> </a:t>
            </a:r>
            <a:r>
              <a:rPr lang="en-US" altLang="zh-CN" sz="2400" dirty="0"/>
              <a:t>H</a:t>
            </a:r>
            <a:r>
              <a:rPr lang="zh-CN" altLang="en-US" sz="2400" dirty="0"/>
              <a:t> </a:t>
            </a:r>
            <a:r>
              <a:rPr lang="en-US" altLang="zh-CN" sz="2400" dirty="0"/>
              <a:t>x</a:t>
            </a:r>
            <a:r>
              <a:rPr lang="zh-CN" altLang="en-US" sz="2400" dirty="0"/>
              <a:t> </a:t>
            </a:r>
            <a:r>
              <a:rPr lang="en-US" altLang="zh-CN" sz="2400" dirty="0"/>
              <a:t>W</a:t>
            </a:r>
          </a:p>
          <a:p>
            <a:r>
              <a:rPr lang="zh-CN" altLang="en-US" sz="2400" dirty="0"/>
              <a:t>超参数：</a:t>
            </a:r>
            <a:r>
              <a:rPr lang="en-US" altLang="zh-CN" sz="2400" dirty="0"/>
              <a:t>	</a:t>
            </a:r>
          </a:p>
          <a:p>
            <a:pPr marL="800100" lvl="1" indent="-342900">
              <a:buFont typeface="Arial" panose="020B0604020202020204" pitchFamily="34" charset="0"/>
              <a:buChar char="•"/>
            </a:pPr>
            <a:r>
              <a:rPr lang="zh-CN" altLang="en-US" sz="2400" dirty="0"/>
              <a:t>卷积核尺度：</a:t>
            </a:r>
            <a:r>
              <a:rPr lang="en-US" altLang="zh-CN" sz="2400" dirty="0"/>
              <a:t>K</a:t>
            </a:r>
            <a:r>
              <a:rPr lang="en-US" altLang="zh-CN" sz="2400" baseline="-25000" dirty="0"/>
              <a:t>H</a:t>
            </a:r>
            <a:r>
              <a:rPr lang="zh-CN" altLang="en-US" sz="2400" baseline="-25000" dirty="0"/>
              <a:t> </a:t>
            </a:r>
            <a:r>
              <a:rPr lang="en-US" altLang="zh-CN" sz="2400" dirty="0"/>
              <a:t>x K</a:t>
            </a:r>
            <a:r>
              <a:rPr lang="en-US" altLang="zh-CN" sz="2400" baseline="-25000" dirty="0"/>
              <a:t>w</a:t>
            </a:r>
          </a:p>
          <a:p>
            <a:pPr marL="800100" lvl="1" indent="-342900">
              <a:buFont typeface="Arial" panose="020B0604020202020204" pitchFamily="34" charset="0"/>
              <a:buChar char="•"/>
            </a:pPr>
            <a:r>
              <a:rPr lang="zh-CN" altLang="en-US" sz="2400" dirty="0"/>
              <a:t>深度：</a:t>
            </a:r>
            <a:r>
              <a:rPr lang="en-US" altLang="zh-CN" sz="2400" dirty="0"/>
              <a:t>C</a:t>
            </a:r>
            <a:r>
              <a:rPr lang="en-US" altLang="zh-CN" sz="2400" baseline="-25000" dirty="0"/>
              <a:t>out</a:t>
            </a:r>
          </a:p>
          <a:p>
            <a:pPr marL="800100" lvl="1" indent="-342900">
              <a:buFont typeface="Arial" panose="020B0604020202020204" pitchFamily="34" charset="0"/>
              <a:buChar char="•"/>
            </a:pPr>
            <a:r>
              <a:rPr lang="zh-CN" altLang="en-US" sz="2400" dirty="0"/>
              <a:t>填充：</a:t>
            </a:r>
            <a:r>
              <a:rPr lang="en-US" altLang="zh-CN" sz="2400" dirty="0"/>
              <a:t>P</a:t>
            </a:r>
          </a:p>
          <a:p>
            <a:pPr marL="800100" lvl="1" indent="-342900">
              <a:buFont typeface="Arial" panose="020B0604020202020204" pitchFamily="34" charset="0"/>
              <a:buChar char="•"/>
            </a:pPr>
            <a:r>
              <a:rPr lang="zh-CN" altLang="en-US" sz="2400" dirty="0"/>
              <a:t>步长：</a:t>
            </a:r>
            <a:r>
              <a:rPr lang="en-US" altLang="zh-CN" sz="2400" dirty="0"/>
              <a:t>S</a:t>
            </a:r>
          </a:p>
          <a:p>
            <a:endParaRPr lang="en-US" altLang="zh-CN" sz="2400" dirty="0"/>
          </a:p>
          <a:p>
            <a:r>
              <a:rPr lang="zh-CN" altLang="en-US" sz="2400" dirty="0"/>
              <a:t>权重矩阵（参数量）：</a:t>
            </a:r>
            <a:r>
              <a:rPr lang="en-US" altLang="zh-CN" sz="2400" dirty="0"/>
              <a:t> C</a:t>
            </a:r>
            <a:r>
              <a:rPr lang="en-US" altLang="zh-CN" sz="2400" baseline="-25000" dirty="0"/>
              <a:t>out</a:t>
            </a:r>
            <a:r>
              <a:rPr lang="zh-CN" altLang="en-US" sz="2400" dirty="0"/>
              <a:t> </a:t>
            </a:r>
            <a:r>
              <a:rPr lang="en-US" altLang="zh-CN" sz="2400" dirty="0"/>
              <a:t>x C</a:t>
            </a:r>
            <a:r>
              <a:rPr lang="en-US" altLang="zh-CN" sz="2400" baseline="-25000" dirty="0"/>
              <a:t>in </a:t>
            </a:r>
            <a:r>
              <a:rPr lang="en-US" altLang="zh-CN" sz="2400" dirty="0"/>
              <a:t>x K</a:t>
            </a:r>
            <a:r>
              <a:rPr lang="en-US" altLang="zh-CN" sz="2400" baseline="-25000" dirty="0"/>
              <a:t>H</a:t>
            </a:r>
            <a:r>
              <a:rPr lang="zh-CN" altLang="en-US" sz="2400" baseline="-25000" dirty="0"/>
              <a:t> </a:t>
            </a:r>
            <a:r>
              <a:rPr lang="en-US" altLang="zh-CN" sz="2400" dirty="0"/>
              <a:t>x K</a:t>
            </a:r>
            <a:r>
              <a:rPr lang="en-US" altLang="zh-CN" sz="2400" baseline="-25000" dirty="0"/>
              <a:t>w</a:t>
            </a:r>
          </a:p>
          <a:p>
            <a:r>
              <a:rPr lang="zh-CN" altLang="en-US" sz="2400" dirty="0"/>
              <a:t>偏置向量 </a:t>
            </a:r>
            <a:r>
              <a:rPr lang="en-US" altLang="zh-CN" sz="2400" dirty="0"/>
              <a:t>b</a:t>
            </a:r>
            <a:r>
              <a:rPr lang="zh-CN" altLang="en-US" sz="2400" dirty="0"/>
              <a:t>：</a:t>
            </a:r>
            <a:r>
              <a:rPr lang="en-US" altLang="zh-CN" sz="2400" dirty="0"/>
              <a:t> C</a:t>
            </a:r>
            <a:r>
              <a:rPr lang="en-US" altLang="zh-CN" sz="2400" baseline="-25000" dirty="0"/>
              <a:t>out</a:t>
            </a:r>
          </a:p>
          <a:p>
            <a:r>
              <a:rPr lang="zh-CN" altLang="en-US" sz="2400" dirty="0"/>
              <a:t>输出尺度：</a:t>
            </a:r>
            <a:r>
              <a:rPr lang="en-US" altLang="zh-CN" sz="2400" dirty="0"/>
              <a:t> C</a:t>
            </a:r>
            <a:r>
              <a:rPr lang="en-US" altLang="zh-CN" sz="2400" baseline="-25000" dirty="0"/>
              <a:t>out</a:t>
            </a:r>
            <a:r>
              <a:rPr lang="zh-CN" altLang="en-US" sz="2400" baseline="-25000" dirty="0"/>
              <a:t> </a:t>
            </a:r>
            <a:r>
              <a:rPr lang="en-US" altLang="zh-CN" sz="2400" dirty="0"/>
              <a:t>x</a:t>
            </a:r>
            <a:r>
              <a:rPr lang="zh-CN" altLang="en-US" sz="2400" dirty="0"/>
              <a:t> </a:t>
            </a:r>
            <a:r>
              <a:rPr lang="en-US" altLang="zh-CN" sz="2400" dirty="0"/>
              <a:t>H’ x W’</a:t>
            </a:r>
          </a:p>
          <a:p>
            <a:pPr marL="800100" lvl="1" indent="-342900">
              <a:buFont typeface="Arial" panose="020B0604020202020204" pitchFamily="34" charset="0"/>
              <a:buChar char="•"/>
            </a:pPr>
            <a:r>
              <a:rPr lang="en-US" altLang="zh-CN" sz="2400" dirty="0"/>
              <a:t>H’=(H-K+2P)/S+1</a:t>
            </a:r>
          </a:p>
          <a:p>
            <a:pPr marL="800100" lvl="1" indent="-342900">
              <a:buFont typeface="Arial" panose="020B0604020202020204" pitchFamily="34" charset="0"/>
              <a:buChar char="•"/>
            </a:pPr>
            <a:r>
              <a:rPr lang="en-US" altLang="zh-CN" sz="2400" dirty="0"/>
              <a:t>W’=(W-K+2P)/S+1</a:t>
            </a:r>
          </a:p>
          <a:p>
            <a:pPr marL="342900" indent="-342900">
              <a:buFont typeface="Arial" panose="020B0604020202020204" pitchFamily="34" charset="0"/>
              <a:buChar char="•"/>
            </a:pPr>
            <a:endParaRPr lang="en-US" altLang="zh-CN" sz="2400" dirty="0"/>
          </a:p>
          <a:p>
            <a:r>
              <a:rPr lang="en-US" altLang="zh-CN" sz="2400" dirty="0"/>
              <a:t>	</a:t>
            </a:r>
          </a:p>
        </p:txBody>
      </p:sp>
      <p:sp>
        <p:nvSpPr>
          <p:cNvPr id="114" name="object 5">
            <a:extLst>
              <a:ext uri="{FF2B5EF4-FFF2-40B4-BE49-F238E27FC236}">
                <a16:creationId xmlns:a16="http://schemas.microsoft.com/office/drawing/2014/main" id="{EBBB554C-33D4-E244-E4D2-FE4D00384137}"/>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卷积层总结</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70" name="图片 69">
            <a:extLst>
              <a:ext uri="{FF2B5EF4-FFF2-40B4-BE49-F238E27FC236}">
                <a16:creationId xmlns:a16="http://schemas.microsoft.com/office/drawing/2014/main" id="{A44A03E7-F5D7-AD8E-5982-EE58B5FD9901}"/>
              </a:ext>
            </a:extLst>
          </p:cNvPr>
          <p:cNvPicPr>
            <a:picLocks noChangeAspect="1"/>
          </p:cNvPicPr>
          <p:nvPr/>
        </p:nvPicPr>
        <p:blipFill>
          <a:blip r:embed="rId3"/>
          <a:stretch>
            <a:fillRect/>
          </a:stretch>
        </p:blipFill>
        <p:spPr>
          <a:xfrm>
            <a:off x="6221438" y="2467407"/>
            <a:ext cx="5653087" cy="2844320"/>
          </a:xfrm>
          <a:prstGeom prst="rect">
            <a:avLst/>
          </a:prstGeom>
        </p:spPr>
      </p:pic>
    </p:spTree>
    <p:extLst>
      <p:ext uri="{BB962C8B-B14F-4D97-AF65-F5344CB8AC3E}">
        <p14:creationId xmlns:p14="http://schemas.microsoft.com/office/powerpoint/2010/main" val="3220801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BF922-D7A1-3CC0-C1ED-1DA120A693A5}"/>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E6A854A3-D5E2-54CB-36A5-0116EF59CA58}"/>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D08454E8-0EC4-B6C6-696F-EA3DD5B372B3}"/>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4B25A72-7840-6536-3058-1D35347ACCDB}"/>
              </a:ext>
            </a:extLst>
          </p:cNvPr>
          <p:cNvSpPr/>
          <p:nvPr/>
        </p:nvSpPr>
        <p:spPr bwMode="auto">
          <a:xfrm>
            <a:off x="234072" y="1392553"/>
            <a:ext cx="11381666" cy="11261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在</a:t>
            </a:r>
            <a:r>
              <a:rPr lang="en" altLang="zh-CN" sz="2400" dirty="0" err="1"/>
              <a:t>PyTorch</a:t>
            </a:r>
            <a:r>
              <a:rPr lang="zh-CN" altLang="en-US" sz="2400" dirty="0"/>
              <a:t>中，</a:t>
            </a:r>
            <a:r>
              <a:rPr lang="en" altLang="zh-CN" sz="2400" dirty="0"/>
              <a:t>nn.Conv2d</a:t>
            </a:r>
            <a:r>
              <a:rPr lang="zh-CN" altLang="en-US" sz="2400" dirty="0"/>
              <a:t>是构建卷积层最核心且最常用的官方接口，它通过高度工程化的参数封装实现了卷积运算、权重初始化以及计算图的自动构建。</a:t>
            </a:r>
            <a:endParaRPr lang="en-US" altLang="zh-CN" sz="2400" dirty="0"/>
          </a:p>
        </p:txBody>
      </p:sp>
      <p:sp>
        <p:nvSpPr>
          <p:cNvPr id="114" name="object 5">
            <a:extLst>
              <a:ext uri="{FF2B5EF4-FFF2-40B4-BE49-F238E27FC236}">
                <a16:creationId xmlns:a16="http://schemas.microsoft.com/office/drawing/2014/main" id="{EF76810E-A273-E62E-A657-6B98AE14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err="1">
                <a:solidFill>
                  <a:schemeClr val="bg1"/>
                </a:solidFill>
                <a:latin typeface="Calibri" panose="020F0502020204030204" pitchFamily="34" charset="0"/>
                <a:cs typeface="Calibri" panose="020F0502020204030204" pitchFamily="34" charset="0"/>
              </a:rPr>
              <a:t>Pytorch</a:t>
            </a:r>
            <a:r>
              <a:rPr lang="en-US" altLang="zh-CN" sz="3600" spc="-10" dirty="0">
                <a:solidFill>
                  <a:schemeClr val="bg1"/>
                </a:solidFill>
                <a:latin typeface="Calibri" panose="020F0502020204030204" pitchFamily="34" charset="0"/>
                <a:cs typeface="Calibri" panose="020F0502020204030204" pitchFamily="34" charset="0"/>
              </a:rPr>
              <a:t> </a:t>
            </a:r>
            <a:r>
              <a:rPr lang="zh-CN" altLang="en-US" sz="3600" spc="-10" dirty="0">
                <a:solidFill>
                  <a:schemeClr val="bg1"/>
                </a:solidFill>
                <a:latin typeface="Calibri" panose="020F0502020204030204" pitchFamily="34" charset="0"/>
                <a:cs typeface="Calibri" panose="020F0502020204030204" pitchFamily="34" charset="0"/>
              </a:rPr>
              <a:t>实现</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EFF6E68B-3578-6AEF-2A6E-501096911925}"/>
              </a:ext>
            </a:extLst>
          </p:cNvPr>
          <p:cNvPicPr>
            <a:picLocks noChangeAspect="1"/>
          </p:cNvPicPr>
          <p:nvPr/>
        </p:nvPicPr>
        <p:blipFill>
          <a:blip r:embed="rId3"/>
          <a:stretch>
            <a:fillRect/>
          </a:stretch>
        </p:blipFill>
        <p:spPr>
          <a:xfrm>
            <a:off x="1312948" y="2700339"/>
            <a:ext cx="9041777" cy="3460178"/>
          </a:xfrm>
          <a:prstGeom prst="rect">
            <a:avLst/>
          </a:prstGeom>
        </p:spPr>
      </p:pic>
    </p:spTree>
    <p:extLst>
      <p:ext uri="{BB962C8B-B14F-4D97-AF65-F5344CB8AC3E}">
        <p14:creationId xmlns:p14="http://schemas.microsoft.com/office/powerpoint/2010/main" val="145242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6029-5D04-F2AE-9E45-8B7D63FF4FC2}"/>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EBAC4642-6482-D2E7-11CC-4E33ADF4C703}"/>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6E04F423-FC68-441C-9FF6-28A90828B8A6}"/>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78BA3FD4-1FB3-ED0B-5215-AF412709362D}"/>
              </a:ext>
            </a:extLst>
          </p:cNvPr>
          <p:cNvSpPr/>
          <p:nvPr/>
        </p:nvSpPr>
        <p:spPr bwMode="auto">
          <a:xfrm>
            <a:off x="234072" y="1392553"/>
            <a:ext cx="11381666" cy="11261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sz="2400" dirty="0"/>
              <a:t>1x1 </a:t>
            </a:r>
            <a:r>
              <a:rPr lang="zh-CN" altLang="en-US" sz="2400" dirty="0"/>
              <a:t>卷积层最早在论文</a:t>
            </a:r>
            <a:r>
              <a:rPr lang="en" altLang="zh-CN" sz="2400" dirty="0"/>
              <a:t>Network in Network </a:t>
            </a:r>
            <a:r>
              <a:rPr lang="en-US" altLang="zh-CN" sz="2400" dirty="0"/>
              <a:t>(2013) </a:t>
            </a:r>
            <a:r>
              <a:rPr lang="zh-CN" altLang="en" sz="2400" dirty="0"/>
              <a:t>中</a:t>
            </a:r>
            <a:r>
              <a:rPr lang="zh-CN" altLang="en-US" sz="2400" dirty="0"/>
              <a:t>提出。其虽然在空间维度上不改变特征图尺寸，但它在通道维度上对输入像素进行加权求和，本质上是跨通道的线性特征提取。其核心价值在于能够灵活调整特征图的通道数</a:t>
            </a:r>
            <a:endParaRPr lang="en-US" altLang="zh-CN" sz="2400" dirty="0"/>
          </a:p>
        </p:txBody>
      </p:sp>
      <p:sp>
        <p:nvSpPr>
          <p:cNvPr id="114" name="object 5">
            <a:extLst>
              <a:ext uri="{FF2B5EF4-FFF2-40B4-BE49-F238E27FC236}">
                <a16:creationId xmlns:a16="http://schemas.microsoft.com/office/drawing/2014/main" id="{91E52E5F-CED9-63A6-C913-CA2E49C52724}"/>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卷积层变体</a:t>
            </a:r>
            <a:r>
              <a:rPr lang="en-US" altLang="zh-CN" sz="3600" spc="-10" dirty="0">
                <a:solidFill>
                  <a:schemeClr val="bg1"/>
                </a:solidFill>
                <a:latin typeface="Calibri" panose="020F0502020204030204" pitchFamily="34" charset="0"/>
                <a:cs typeface="Calibri" panose="020F0502020204030204" pitchFamily="34" charset="0"/>
              </a:rPr>
              <a:t>-1X1 </a:t>
            </a:r>
            <a:r>
              <a:rPr lang="zh-CN" altLang="en-US" sz="3600" spc="-10" dirty="0">
                <a:solidFill>
                  <a:schemeClr val="bg1"/>
                </a:solidFill>
                <a:latin typeface="Calibri" panose="020F0502020204030204" pitchFamily="34" charset="0"/>
                <a:cs typeface="Calibri" panose="020F0502020204030204" pitchFamily="34" charset="0"/>
              </a:rPr>
              <a:t>卷积</a:t>
            </a:r>
            <a:endParaRPr lang="en-US" sz="3600" spc="-10" dirty="0">
              <a:solidFill>
                <a:schemeClr val="bg1"/>
              </a:solidFill>
              <a:latin typeface="Calibri" panose="020F0502020204030204" pitchFamily="34" charset="0"/>
              <a:cs typeface="Calibri" panose="020F0502020204030204" pitchFamily="34" charset="0"/>
            </a:endParaRPr>
          </a:p>
        </p:txBody>
      </p:sp>
      <p:sp>
        <p:nvSpPr>
          <p:cNvPr id="4" name="矩形 3">
            <a:extLst>
              <a:ext uri="{FF2B5EF4-FFF2-40B4-BE49-F238E27FC236}">
                <a16:creationId xmlns:a16="http://schemas.microsoft.com/office/drawing/2014/main" id="{CE971FB9-1F7E-74C8-E918-937B78B6F913}"/>
              </a:ext>
            </a:extLst>
          </p:cNvPr>
          <p:cNvSpPr/>
          <p:nvPr/>
        </p:nvSpPr>
        <p:spPr bwMode="auto">
          <a:xfrm>
            <a:off x="7129147" y="3384235"/>
            <a:ext cx="3814054" cy="1910169"/>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这种结构被广泛应用于</a:t>
            </a:r>
            <a:r>
              <a:rPr lang="en" altLang="zh-CN" sz="2400" dirty="0" err="1"/>
              <a:t>GoogLeNet</a:t>
            </a:r>
            <a:r>
              <a:rPr lang="zh-CN" altLang="en-US" sz="2400" dirty="0"/>
              <a:t>和</a:t>
            </a:r>
            <a:r>
              <a:rPr lang="en" altLang="zh-CN" sz="2400" dirty="0" err="1"/>
              <a:t>ResNet</a:t>
            </a:r>
            <a:r>
              <a:rPr lang="zh-CN" altLang="en-US" sz="2400" dirty="0"/>
              <a:t>的</a:t>
            </a:r>
            <a:r>
              <a:rPr lang="en" altLang="zh-CN" sz="2400" dirty="0"/>
              <a:t>Bottleneck</a:t>
            </a:r>
            <a:r>
              <a:rPr lang="zh-CN" altLang="en-US" sz="2400" dirty="0"/>
              <a:t>模块中，是提升网络效率的关键手段。</a:t>
            </a:r>
            <a:endParaRPr lang="en-US" altLang="zh-CN" sz="2400" dirty="0"/>
          </a:p>
        </p:txBody>
      </p:sp>
      <p:grpSp>
        <p:nvGrpSpPr>
          <p:cNvPr id="13" name="组合 12">
            <a:extLst>
              <a:ext uri="{FF2B5EF4-FFF2-40B4-BE49-F238E27FC236}">
                <a16:creationId xmlns:a16="http://schemas.microsoft.com/office/drawing/2014/main" id="{C688E93A-4FF9-C991-0BC4-C56752DAB39D}"/>
              </a:ext>
            </a:extLst>
          </p:cNvPr>
          <p:cNvGrpSpPr/>
          <p:nvPr/>
        </p:nvGrpSpPr>
        <p:grpSpPr>
          <a:xfrm>
            <a:off x="1248799" y="3429000"/>
            <a:ext cx="1612224" cy="1559225"/>
            <a:chOff x="428625" y="3429000"/>
            <a:chExt cx="1612224" cy="1559225"/>
          </a:xfrm>
        </p:grpSpPr>
        <p:sp>
          <p:nvSpPr>
            <p:cNvPr id="5" name="立方体 4">
              <a:extLst>
                <a:ext uri="{FF2B5EF4-FFF2-40B4-BE49-F238E27FC236}">
                  <a16:creationId xmlns:a16="http://schemas.microsoft.com/office/drawing/2014/main" id="{EA917587-0137-7586-42A8-C03E3A6C0732}"/>
                </a:ext>
              </a:extLst>
            </p:cNvPr>
            <p:cNvSpPr/>
            <p:nvPr/>
          </p:nvSpPr>
          <p:spPr>
            <a:xfrm>
              <a:off x="428625" y="3429001"/>
              <a:ext cx="537427" cy="1559224"/>
            </a:xfrm>
            <a:prstGeom prst="cube">
              <a:avLst>
                <a:gd name="adj" fmla="val 7700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立方体 5">
              <a:extLst>
                <a:ext uri="{FF2B5EF4-FFF2-40B4-BE49-F238E27FC236}">
                  <a16:creationId xmlns:a16="http://schemas.microsoft.com/office/drawing/2014/main" id="{53E4B274-B04C-4CA4-C036-A5A62B65918F}"/>
                </a:ext>
              </a:extLst>
            </p:cNvPr>
            <p:cNvSpPr/>
            <p:nvPr/>
          </p:nvSpPr>
          <p:spPr>
            <a:xfrm>
              <a:off x="690703" y="3429000"/>
              <a:ext cx="537427" cy="1559224"/>
            </a:xfrm>
            <a:prstGeom prst="cube">
              <a:avLst>
                <a:gd name="adj" fmla="val 7700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7" name="立方体 6">
              <a:extLst>
                <a:ext uri="{FF2B5EF4-FFF2-40B4-BE49-F238E27FC236}">
                  <a16:creationId xmlns:a16="http://schemas.microsoft.com/office/drawing/2014/main" id="{CB860EBA-4C17-FB87-B82E-232242BF12CC}"/>
                </a:ext>
              </a:extLst>
            </p:cNvPr>
            <p:cNvSpPr/>
            <p:nvPr/>
          </p:nvSpPr>
          <p:spPr>
            <a:xfrm>
              <a:off x="1503422" y="3429000"/>
              <a:ext cx="537427" cy="1559224"/>
            </a:xfrm>
            <a:prstGeom prst="cube">
              <a:avLst>
                <a:gd name="adj" fmla="val 7700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ADB7460-CF74-DF5F-8254-22F5A0A6503E}"/>
                    </a:ext>
                  </a:extLst>
                </p:cNvPr>
                <p:cNvSpPr txBox="1"/>
                <p:nvPr/>
              </p:nvSpPr>
              <p:spPr>
                <a:xfrm>
                  <a:off x="777311" y="3826063"/>
                  <a:ext cx="928066" cy="7694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zh-CN" altLang="en-US" sz="4400" i="1" smtClean="0">
                            <a:latin typeface="Cambria Math" panose="02040503050406030204" pitchFamily="18" charset="0"/>
                          </a:rPr>
                          <m:t>⋯</m:t>
                        </m:r>
                      </m:oMath>
                    </m:oMathPara>
                  </a14:m>
                  <a:endParaRPr kumimoji="1" lang="zh-CN" altLang="en-US" sz="4400" dirty="0"/>
                </a:p>
              </p:txBody>
            </p:sp>
          </mc:Choice>
          <mc:Fallback xmlns="">
            <p:sp>
              <p:nvSpPr>
                <p:cNvPr id="12" name="文本框 11">
                  <a:extLst>
                    <a:ext uri="{FF2B5EF4-FFF2-40B4-BE49-F238E27FC236}">
                      <a16:creationId xmlns:a16="http://schemas.microsoft.com/office/drawing/2014/main" id="{2ADB7460-CF74-DF5F-8254-22F5A0A6503E}"/>
                    </a:ext>
                  </a:extLst>
                </p:cNvPr>
                <p:cNvSpPr txBox="1">
                  <a:spLocks noRot="1" noChangeAspect="1" noMove="1" noResize="1" noEditPoints="1" noAdjustHandles="1" noChangeArrowheads="1" noChangeShapeType="1" noTextEdit="1"/>
                </p:cNvSpPr>
                <p:nvPr/>
              </p:nvSpPr>
              <p:spPr>
                <a:xfrm>
                  <a:off x="777311" y="3826063"/>
                  <a:ext cx="928066" cy="769441"/>
                </a:xfrm>
                <a:prstGeom prst="rect">
                  <a:avLst/>
                </a:prstGeom>
                <a:blipFill>
                  <a:blip r:embed="rId3"/>
                  <a:stretch>
                    <a:fillRect/>
                  </a:stretch>
                </a:blipFill>
              </p:spPr>
              <p:txBody>
                <a:bodyPr/>
                <a:lstStyle/>
                <a:p>
                  <a:r>
                    <a:rPr lang="zh-CN" altLang="en-US">
                      <a:noFill/>
                    </a:rPr>
                    <a:t> </a:t>
                  </a:r>
                </a:p>
              </p:txBody>
            </p:sp>
          </mc:Fallback>
        </mc:AlternateContent>
      </p:grpSp>
      <p:sp>
        <p:nvSpPr>
          <p:cNvPr id="14" name="文本框 13">
            <a:extLst>
              <a:ext uri="{FF2B5EF4-FFF2-40B4-BE49-F238E27FC236}">
                <a16:creationId xmlns:a16="http://schemas.microsoft.com/office/drawing/2014/main" id="{BECDDBA9-7BCE-A9A8-B853-D604E591EE8F}"/>
              </a:ext>
            </a:extLst>
          </p:cNvPr>
          <p:cNvSpPr txBox="1"/>
          <p:nvPr/>
        </p:nvSpPr>
        <p:spPr>
          <a:xfrm>
            <a:off x="1272717" y="5200620"/>
            <a:ext cx="1319592" cy="369332"/>
          </a:xfrm>
          <a:prstGeom prst="rect">
            <a:avLst/>
          </a:prstGeom>
          <a:noFill/>
        </p:spPr>
        <p:txBody>
          <a:bodyPr wrap="none" rtlCol="0">
            <a:spAutoFit/>
          </a:bodyPr>
          <a:lstStyle/>
          <a:p>
            <a:r>
              <a:rPr kumimoji="1" lang="en-US" altLang="zh-CN" dirty="0"/>
              <a:t>224x224x64</a:t>
            </a:r>
            <a:endParaRPr kumimoji="1" lang="zh-CN" altLang="en-US" dirty="0"/>
          </a:p>
        </p:txBody>
      </p:sp>
      <p:sp>
        <p:nvSpPr>
          <p:cNvPr id="15" name="虚尾箭头 14">
            <a:extLst>
              <a:ext uri="{FF2B5EF4-FFF2-40B4-BE49-F238E27FC236}">
                <a16:creationId xmlns:a16="http://schemas.microsoft.com/office/drawing/2014/main" id="{C2C98DFF-AC40-C88C-C4B7-563388C16B8C}"/>
              </a:ext>
            </a:extLst>
          </p:cNvPr>
          <p:cNvSpPr/>
          <p:nvPr/>
        </p:nvSpPr>
        <p:spPr>
          <a:xfrm>
            <a:off x="3286455" y="4048320"/>
            <a:ext cx="1385888" cy="320583"/>
          </a:xfrm>
          <a:prstGeom prst="stripedRight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98F59344-0964-42FC-B4FC-63F220F79A84}"/>
              </a:ext>
            </a:extLst>
          </p:cNvPr>
          <p:cNvSpPr txBox="1"/>
          <p:nvPr/>
        </p:nvSpPr>
        <p:spPr>
          <a:xfrm>
            <a:off x="3347655" y="3641397"/>
            <a:ext cx="1263487" cy="369332"/>
          </a:xfrm>
          <a:prstGeom prst="rect">
            <a:avLst/>
          </a:prstGeom>
          <a:noFill/>
        </p:spPr>
        <p:txBody>
          <a:bodyPr wrap="none" rtlCol="0">
            <a:spAutoFit/>
          </a:bodyPr>
          <a:lstStyle/>
          <a:p>
            <a:r>
              <a:rPr kumimoji="1" lang="en-US" altLang="zh-CN" dirty="0"/>
              <a:t>1x1</a:t>
            </a:r>
            <a:r>
              <a:rPr kumimoji="1" lang="zh-CN" altLang="en-US" dirty="0"/>
              <a:t> 卷积核</a:t>
            </a:r>
          </a:p>
        </p:txBody>
      </p:sp>
      <p:sp>
        <p:nvSpPr>
          <p:cNvPr id="18" name="立方体 17">
            <a:extLst>
              <a:ext uri="{FF2B5EF4-FFF2-40B4-BE49-F238E27FC236}">
                <a16:creationId xmlns:a16="http://schemas.microsoft.com/office/drawing/2014/main" id="{2283C0EC-7682-3D0E-F692-B2518719B9A0}"/>
              </a:ext>
            </a:extLst>
          </p:cNvPr>
          <p:cNvSpPr/>
          <p:nvPr/>
        </p:nvSpPr>
        <p:spPr>
          <a:xfrm>
            <a:off x="5208692" y="3429000"/>
            <a:ext cx="537427" cy="1559224"/>
          </a:xfrm>
          <a:prstGeom prst="cube">
            <a:avLst>
              <a:gd name="adj" fmla="val 7700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EC4A62EF-8868-F038-CDF3-8C5F3F59D80A}"/>
              </a:ext>
            </a:extLst>
          </p:cNvPr>
          <p:cNvSpPr txBox="1"/>
          <p:nvPr/>
        </p:nvSpPr>
        <p:spPr>
          <a:xfrm>
            <a:off x="4821412" y="5200620"/>
            <a:ext cx="1202573" cy="369332"/>
          </a:xfrm>
          <a:prstGeom prst="rect">
            <a:avLst/>
          </a:prstGeom>
          <a:noFill/>
        </p:spPr>
        <p:txBody>
          <a:bodyPr wrap="none" rtlCol="0">
            <a:spAutoFit/>
          </a:bodyPr>
          <a:lstStyle/>
          <a:p>
            <a:r>
              <a:rPr kumimoji="1" lang="en-US" altLang="zh-CN" dirty="0"/>
              <a:t>224x224x1</a:t>
            </a:r>
            <a:endParaRPr kumimoji="1" lang="zh-CN" altLang="en-US" dirty="0"/>
          </a:p>
        </p:txBody>
      </p:sp>
    </p:spTree>
    <p:extLst>
      <p:ext uri="{BB962C8B-B14F-4D97-AF65-F5344CB8AC3E}">
        <p14:creationId xmlns:p14="http://schemas.microsoft.com/office/powerpoint/2010/main" val="3476202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C314F-39B3-E7F6-17CF-EDC3D1C3B397}"/>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BCDC51E2-136E-BB9A-863D-6EE331EBDAA2}"/>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1D200E18-7307-3943-323B-A75B3DC3FEE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506B59F9-545D-88A7-428A-E271DB03E77C}"/>
              </a:ext>
            </a:extLst>
          </p:cNvPr>
          <p:cNvSpPr/>
          <p:nvPr/>
        </p:nvSpPr>
        <p:spPr bwMode="auto">
          <a:xfrm>
            <a:off x="234072" y="1392553"/>
            <a:ext cx="11381666" cy="129349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扩张卷积也被称为空洞卷积或者膨胀卷积，是在标准的卷积核中注入空洞，以此来增加模型的感受野。相比原来的正常卷积操作，扩张卷积多了一个参数： </a:t>
            </a:r>
            <a:r>
              <a:rPr lang="en-US" altLang="zh-CN" sz="2400" dirty="0"/>
              <a:t>dilation rate</a:t>
            </a:r>
            <a:r>
              <a:rPr lang="zh-CN" altLang="en-US" sz="2400" dirty="0"/>
              <a:t>，指的是卷积核的点的间隔数量，比如常规的卷积操作</a:t>
            </a:r>
            <a:r>
              <a:rPr lang="en-US" altLang="zh-CN" sz="2400" dirty="0"/>
              <a:t>dilatation rate</a:t>
            </a:r>
            <a:r>
              <a:rPr lang="zh-CN" altLang="en-US" sz="2400" dirty="0"/>
              <a:t>为</a:t>
            </a:r>
            <a:r>
              <a:rPr lang="en-US" altLang="zh-CN" sz="2400" dirty="0"/>
              <a:t>1</a:t>
            </a:r>
            <a:r>
              <a:rPr lang="zh-CN" altLang="en-US" sz="2400" dirty="0"/>
              <a:t>。</a:t>
            </a:r>
            <a:endParaRPr lang="en-US" altLang="zh-CN" sz="2400" dirty="0"/>
          </a:p>
        </p:txBody>
      </p:sp>
      <p:sp>
        <p:nvSpPr>
          <p:cNvPr id="114" name="object 5">
            <a:extLst>
              <a:ext uri="{FF2B5EF4-FFF2-40B4-BE49-F238E27FC236}">
                <a16:creationId xmlns:a16="http://schemas.microsoft.com/office/drawing/2014/main" id="{D50337AB-9302-C8FF-5B1E-F66D83F7BA57}"/>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卷积层变体</a:t>
            </a:r>
            <a:r>
              <a:rPr lang="en-US" altLang="zh-CN" sz="3600" spc="-10" dirty="0">
                <a:solidFill>
                  <a:schemeClr val="bg1"/>
                </a:solidFill>
                <a:latin typeface="Calibri" panose="020F0502020204030204" pitchFamily="34" charset="0"/>
                <a:cs typeface="Calibri" panose="020F0502020204030204" pitchFamily="34" charset="0"/>
              </a:rPr>
              <a:t>-</a:t>
            </a:r>
            <a:r>
              <a:rPr lang="zh-CN" altLang="en-US" sz="3600" spc="-10" dirty="0">
                <a:solidFill>
                  <a:schemeClr val="bg1"/>
                </a:solidFill>
                <a:latin typeface="Calibri" panose="020F0502020204030204" pitchFamily="34" charset="0"/>
                <a:cs typeface="Calibri" panose="020F0502020204030204" pitchFamily="34" charset="0"/>
              </a:rPr>
              <a:t>扩张卷积</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23" name="组合 22">
            <a:extLst>
              <a:ext uri="{FF2B5EF4-FFF2-40B4-BE49-F238E27FC236}">
                <a16:creationId xmlns:a16="http://schemas.microsoft.com/office/drawing/2014/main" id="{53AF59D5-A7B4-79AD-584E-4149B9FDAC95}"/>
              </a:ext>
            </a:extLst>
          </p:cNvPr>
          <p:cNvGrpSpPr/>
          <p:nvPr/>
        </p:nvGrpSpPr>
        <p:grpSpPr>
          <a:xfrm>
            <a:off x="1838325" y="2846050"/>
            <a:ext cx="7543800" cy="3286646"/>
            <a:chOff x="1652588" y="3195875"/>
            <a:chExt cx="7543800" cy="3286646"/>
          </a:xfrm>
        </p:grpSpPr>
        <p:pic>
          <p:nvPicPr>
            <p:cNvPr id="3" name="图片 2">
              <a:extLst>
                <a:ext uri="{FF2B5EF4-FFF2-40B4-BE49-F238E27FC236}">
                  <a16:creationId xmlns:a16="http://schemas.microsoft.com/office/drawing/2014/main" id="{E1A4CBCA-EE10-21DB-E13B-F79BB1D7B308}"/>
                </a:ext>
              </a:extLst>
            </p:cNvPr>
            <p:cNvPicPr>
              <a:picLocks noChangeAspect="1"/>
            </p:cNvPicPr>
            <p:nvPr/>
          </p:nvPicPr>
          <p:blipFill>
            <a:blip r:embed="rId3"/>
            <a:stretch>
              <a:fillRect/>
            </a:stretch>
          </p:blipFill>
          <p:spPr>
            <a:xfrm>
              <a:off x="1652588" y="3195875"/>
              <a:ext cx="7543800" cy="2489200"/>
            </a:xfrm>
            <a:prstGeom prst="rect">
              <a:avLst/>
            </a:prstGeom>
          </p:spPr>
        </p:pic>
        <p:sp>
          <p:nvSpPr>
            <p:cNvPr id="9" name="文本框 8">
              <a:extLst>
                <a:ext uri="{FF2B5EF4-FFF2-40B4-BE49-F238E27FC236}">
                  <a16:creationId xmlns:a16="http://schemas.microsoft.com/office/drawing/2014/main" id="{E5205805-5DCE-EC01-AB98-B5E256970D8E}"/>
                </a:ext>
              </a:extLst>
            </p:cNvPr>
            <p:cNvSpPr txBox="1"/>
            <p:nvPr/>
          </p:nvSpPr>
          <p:spPr>
            <a:xfrm>
              <a:off x="1969855" y="5710197"/>
              <a:ext cx="1735988" cy="369332"/>
            </a:xfrm>
            <a:prstGeom prst="rect">
              <a:avLst/>
            </a:prstGeom>
            <a:noFill/>
          </p:spPr>
          <p:txBody>
            <a:bodyPr wrap="none" rtlCol="0">
              <a:spAutoFit/>
            </a:bodyPr>
            <a:lstStyle/>
            <a:p>
              <a:r>
                <a:rPr kumimoji="1" lang="en-US" altLang="zh-CN" dirty="0"/>
                <a:t>dilatation</a:t>
              </a:r>
              <a:r>
                <a:rPr kumimoji="1" lang="zh-CN" altLang="en-US" dirty="0"/>
                <a:t> </a:t>
              </a:r>
              <a:r>
                <a:rPr kumimoji="1" lang="en-US" altLang="zh-CN" dirty="0"/>
                <a:t>rate=1</a:t>
              </a:r>
              <a:endParaRPr kumimoji="1" lang="zh-CN" altLang="en-US" dirty="0"/>
            </a:p>
          </p:txBody>
        </p:sp>
        <p:sp>
          <p:nvSpPr>
            <p:cNvPr id="11" name="文本框 10">
              <a:extLst>
                <a:ext uri="{FF2B5EF4-FFF2-40B4-BE49-F238E27FC236}">
                  <a16:creationId xmlns:a16="http://schemas.microsoft.com/office/drawing/2014/main" id="{D640B472-3477-19C4-1772-D8059E230339}"/>
                </a:ext>
              </a:extLst>
            </p:cNvPr>
            <p:cNvSpPr txBox="1"/>
            <p:nvPr/>
          </p:nvSpPr>
          <p:spPr>
            <a:xfrm>
              <a:off x="4556494" y="5732897"/>
              <a:ext cx="1735988" cy="369332"/>
            </a:xfrm>
            <a:prstGeom prst="rect">
              <a:avLst/>
            </a:prstGeom>
            <a:noFill/>
          </p:spPr>
          <p:txBody>
            <a:bodyPr wrap="none" rtlCol="0">
              <a:spAutoFit/>
            </a:bodyPr>
            <a:lstStyle/>
            <a:p>
              <a:r>
                <a:rPr kumimoji="1" lang="en-US" altLang="zh-CN" dirty="0"/>
                <a:t>dilatation</a:t>
              </a:r>
              <a:r>
                <a:rPr kumimoji="1" lang="zh-CN" altLang="en-US" dirty="0"/>
                <a:t> </a:t>
              </a:r>
              <a:r>
                <a:rPr kumimoji="1" lang="en-US" altLang="zh-CN" dirty="0"/>
                <a:t>rate=2</a:t>
              </a:r>
              <a:endParaRPr kumimoji="1" lang="zh-CN" altLang="en-US" dirty="0"/>
            </a:p>
          </p:txBody>
        </p:sp>
        <p:sp>
          <p:nvSpPr>
            <p:cNvPr id="17" name="文本框 16">
              <a:extLst>
                <a:ext uri="{FF2B5EF4-FFF2-40B4-BE49-F238E27FC236}">
                  <a16:creationId xmlns:a16="http://schemas.microsoft.com/office/drawing/2014/main" id="{7F1B7D8C-D9CA-E211-B483-8E81D681226E}"/>
                </a:ext>
              </a:extLst>
            </p:cNvPr>
            <p:cNvSpPr txBox="1"/>
            <p:nvPr/>
          </p:nvSpPr>
          <p:spPr>
            <a:xfrm>
              <a:off x="6951430" y="5710197"/>
              <a:ext cx="1735988" cy="369332"/>
            </a:xfrm>
            <a:prstGeom prst="rect">
              <a:avLst/>
            </a:prstGeom>
            <a:noFill/>
          </p:spPr>
          <p:txBody>
            <a:bodyPr wrap="none" rtlCol="0">
              <a:spAutoFit/>
            </a:bodyPr>
            <a:lstStyle/>
            <a:p>
              <a:r>
                <a:rPr kumimoji="1" lang="en-US" altLang="zh-CN" dirty="0"/>
                <a:t>dilatation</a:t>
              </a:r>
              <a:r>
                <a:rPr kumimoji="1" lang="zh-CN" altLang="en-US" dirty="0"/>
                <a:t> </a:t>
              </a:r>
              <a:r>
                <a:rPr kumimoji="1" lang="en-US" altLang="zh-CN" dirty="0"/>
                <a:t>rate=3</a:t>
              </a:r>
              <a:endParaRPr kumimoji="1" lang="zh-CN" altLang="en-US" dirty="0"/>
            </a:p>
          </p:txBody>
        </p:sp>
        <p:sp>
          <p:nvSpPr>
            <p:cNvPr id="19" name="文本框 18">
              <a:extLst>
                <a:ext uri="{FF2B5EF4-FFF2-40B4-BE49-F238E27FC236}">
                  <a16:creationId xmlns:a16="http://schemas.microsoft.com/office/drawing/2014/main" id="{C7425590-FDD0-5197-EF35-5D26BF72031A}"/>
                </a:ext>
              </a:extLst>
            </p:cNvPr>
            <p:cNvSpPr txBox="1"/>
            <p:nvPr/>
          </p:nvSpPr>
          <p:spPr>
            <a:xfrm>
              <a:off x="2174847" y="6102229"/>
              <a:ext cx="1326004" cy="369332"/>
            </a:xfrm>
            <a:prstGeom prst="rect">
              <a:avLst/>
            </a:prstGeom>
            <a:noFill/>
          </p:spPr>
          <p:txBody>
            <a:bodyPr wrap="none" rtlCol="0">
              <a:spAutoFit/>
            </a:bodyPr>
            <a:lstStyle/>
            <a:p>
              <a:r>
                <a:rPr kumimoji="1" lang="zh-CN" altLang="en-US" dirty="0"/>
                <a:t>感知野</a:t>
              </a:r>
              <a:r>
                <a:rPr kumimoji="1" lang="en-US" altLang="zh-CN" dirty="0"/>
                <a:t>=3x3</a:t>
              </a:r>
              <a:endParaRPr kumimoji="1" lang="zh-CN" altLang="en-US" dirty="0"/>
            </a:p>
          </p:txBody>
        </p:sp>
        <p:sp>
          <p:nvSpPr>
            <p:cNvPr id="20" name="文本框 19">
              <a:extLst>
                <a:ext uri="{FF2B5EF4-FFF2-40B4-BE49-F238E27FC236}">
                  <a16:creationId xmlns:a16="http://schemas.microsoft.com/office/drawing/2014/main" id="{E5BEBF52-4120-B115-C716-A6ABF2B6BBDD}"/>
                </a:ext>
              </a:extLst>
            </p:cNvPr>
            <p:cNvSpPr txBox="1"/>
            <p:nvPr/>
          </p:nvSpPr>
          <p:spPr>
            <a:xfrm>
              <a:off x="4769996" y="6102229"/>
              <a:ext cx="1326004" cy="369332"/>
            </a:xfrm>
            <a:prstGeom prst="rect">
              <a:avLst/>
            </a:prstGeom>
            <a:noFill/>
          </p:spPr>
          <p:txBody>
            <a:bodyPr wrap="none" rtlCol="0">
              <a:spAutoFit/>
            </a:bodyPr>
            <a:lstStyle/>
            <a:p>
              <a:r>
                <a:rPr kumimoji="1" lang="zh-CN" altLang="en-US" dirty="0"/>
                <a:t>感知野</a:t>
              </a:r>
              <a:r>
                <a:rPr kumimoji="1" lang="en-US" altLang="zh-CN" dirty="0"/>
                <a:t>=7x7</a:t>
              </a:r>
              <a:endParaRPr kumimoji="1" lang="zh-CN" altLang="en-US" dirty="0"/>
            </a:p>
          </p:txBody>
        </p:sp>
        <p:sp>
          <p:nvSpPr>
            <p:cNvPr id="21" name="文本框 20">
              <a:extLst>
                <a:ext uri="{FF2B5EF4-FFF2-40B4-BE49-F238E27FC236}">
                  <a16:creationId xmlns:a16="http://schemas.microsoft.com/office/drawing/2014/main" id="{97F28742-FF40-B28F-998D-44BAAE381778}"/>
                </a:ext>
              </a:extLst>
            </p:cNvPr>
            <p:cNvSpPr txBox="1"/>
            <p:nvPr/>
          </p:nvSpPr>
          <p:spPr>
            <a:xfrm>
              <a:off x="7039403" y="6113189"/>
              <a:ext cx="1560042" cy="369332"/>
            </a:xfrm>
            <a:prstGeom prst="rect">
              <a:avLst/>
            </a:prstGeom>
            <a:noFill/>
          </p:spPr>
          <p:txBody>
            <a:bodyPr wrap="none" rtlCol="0">
              <a:spAutoFit/>
            </a:bodyPr>
            <a:lstStyle/>
            <a:p>
              <a:r>
                <a:rPr kumimoji="1" lang="zh-CN" altLang="en-US" dirty="0"/>
                <a:t>感知野</a:t>
              </a:r>
              <a:r>
                <a:rPr kumimoji="1" lang="en-US" altLang="zh-CN" dirty="0"/>
                <a:t>=15x15</a:t>
              </a:r>
              <a:endParaRPr kumimoji="1" lang="zh-CN" altLang="en-US" dirty="0"/>
            </a:p>
          </p:txBody>
        </p:sp>
      </p:grpSp>
      <p:sp>
        <p:nvSpPr>
          <p:cNvPr id="24" name="文本框 23">
            <a:extLst>
              <a:ext uri="{FF2B5EF4-FFF2-40B4-BE49-F238E27FC236}">
                <a16:creationId xmlns:a16="http://schemas.microsoft.com/office/drawing/2014/main" id="{08B4115E-B281-9ADB-D1E7-9A1D315D81D8}"/>
              </a:ext>
            </a:extLst>
          </p:cNvPr>
          <p:cNvSpPr txBox="1"/>
          <p:nvPr/>
        </p:nvSpPr>
        <p:spPr>
          <a:xfrm>
            <a:off x="69270" y="6384672"/>
            <a:ext cx="8715912" cy="369332"/>
          </a:xfrm>
          <a:prstGeom prst="rect">
            <a:avLst/>
          </a:prstGeom>
          <a:noFill/>
        </p:spPr>
        <p:txBody>
          <a:bodyPr wrap="none" rtlCol="0">
            <a:spAutoFit/>
          </a:bodyPr>
          <a:lstStyle/>
          <a:p>
            <a:r>
              <a:rPr lang="zh-CN" altLang="en-US" i="1" dirty="0">
                <a:solidFill>
                  <a:schemeClr val="bg2">
                    <a:lumMod val="75000"/>
                  </a:schemeClr>
                </a:solidFill>
              </a:rPr>
              <a:t>论文参考</a:t>
            </a:r>
            <a:r>
              <a:rPr lang="en-US" altLang="zh-CN" i="1" dirty="0">
                <a:solidFill>
                  <a:schemeClr val="bg2">
                    <a:lumMod val="75000"/>
                  </a:schemeClr>
                </a:solidFill>
              </a:rPr>
              <a:t>-</a:t>
            </a:r>
            <a:r>
              <a:rPr lang="en" altLang="zh-CN" i="1" dirty="0">
                <a:solidFill>
                  <a:schemeClr val="bg2">
                    <a:lumMod val="75000"/>
                  </a:schemeClr>
                </a:solidFill>
              </a:rPr>
              <a:t>MULTI-SCALE CONTEXT AGGREGATION BY DILATED CONVOLUTIONS</a:t>
            </a:r>
            <a:r>
              <a:rPr lang="zh-CN" altLang="en-US" i="1" dirty="0">
                <a:solidFill>
                  <a:schemeClr val="bg2">
                    <a:lumMod val="75000"/>
                  </a:schemeClr>
                </a:solidFill>
              </a:rPr>
              <a:t> （</a:t>
            </a:r>
            <a:r>
              <a:rPr lang="en-US" altLang="zh-CN" i="1" dirty="0">
                <a:solidFill>
                  <a:schemeClr val="bg2">
                    <a:lumMod val="75000"/>
                  </a:schemeClr>
                </a:solidFill>
              </a:rPr>
              <a:t>2016</a:t>
            </a:r>
            <a:r>
              <a:rPr lang="zh-CN" altLang="en-US" i="1" dirty="0">
                <a:solidFill>
                  <a:schemeClr val="bg2">
                    <a:lumMod val="75000"/>
                  </a:schemeClr>
                </a:solidFill>
              </a:rPr>
              <a:t>）</a:t>
            </a:r>
            <a:endParaRPr kumimoji="1" lang="zh-CN" altLang="en-US" i="1" dirty="0">
              <a:solidFill>
                <a:schemeClr val="bg2">
                  <a:lumMod val="75000"/>
                </a:schemeClr>
              </a:solidFill>
            </a:endParaRPr>
          </a:p>
        </p:txBody>
      </p:sp>
    </p:spTree>
    <p:extLst>
      <p:ext uri="{BB962C8B-B14F-4D97-AF65-F5344CB8AC3E}">
        <p14:creationId xmlns:p14="http://schemas.microsoft.com/office/powerpoint/2010/main" val="3775342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8B24-F8F3-E1C8-5EB8-619403927745}"/>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2B728285-0CBD-CFE3-9504-F2458BE90E41}"/>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8872D04B-DAA6-9C0D-7C7F-134A359DB95D}"/>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EE0C4089-B9A3-B755-DC11-D744522AD081}"/>
              </a:ext>
            </a:extLst>
          </p:cNvPr>
          <p:cNvSpPr/>
          <p:nvPr/>
        </p:nvSpPr>
        <p:spPr bwMode="auto">
          <a:xfrm>
            <a:off x="234072" y="1392552"/>
            <a:ext cx="11381666" cy="1822135"/>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卷积神经网络通常是由四种层构成：卷积层、激活函数层（比如</a:t>
            </a:r>
            <a:r>
              <a:rPr lang="en-US" altLang="zh-CN" sz="2400" dirty="0"/>
              <a:t>RELU</a:t>
            </a:r>
            <a:r>
              <a:rPr lang="zh-CN" altLang="en-US" sz="2400" dirty="0"/>
              <a:t>）、池化层、全连接层。最常见的形式就是将一些卷积层和</a:t>
            </a:r>
            <a:r>
              <a:rPr lang="zh-CN" altLang="en" sz="2400" dirty="0"/>
              <a:t>激活</a:t>
            </a:r>
            <a:r>
              <a:rPr lang="zh-CN" altLang="en-US" sz="2400" dirty="0"/>
              <a:t>层放在一起，其后紧跟池化层，然后重复如此直到图像在空间上被缩小到一个足够小的尺寸，在某个地方过渡成成全连接层，如下图所示：</a:t>
            </a:r>
            <a:endParaRPr lang="en-US" altLang="zh-CN" sz="2400" dirty="0"/>
          </a:p>
        </p:txBody>
      </p:sp>
      <p:sp>
        <p:nvSpPr>
          <p:cNvPr id="114" name="object 5">
            <a:extLst>
              <a:ext uri="{FF2B5EF4-FFF2-40B4-BE49-F238E27FC236}">
                <a16:creationId xmlns:a16="http://schemas.microsoft.com/office/drawing/2014/main" id="{3EF3943B-1991-0DBF-FF15-2FF82E2EE4C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卷积神经网络</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7" name="组合 6">
            <a:extLst>
              <a:ext uri="{FF2B5EF4-FFF2-40B4-BE49-F238E27FC236}">
                <a16:creationId xmlns:a16="http://schemas.microsoft.com/office/drawing/2014/main" id="{1215C541-EB12-FA18-EE97-000F0F0CBD0A}"/>
              </a:ext>
            </a:extLst>
          </p:cNvPr>
          <p:cNvGrpSpPr/>
          <p:nvPr/>
        </p:nvGrpSpPr>
        <p:grpSpPr>
          <a:xfrm>
            <a:off x="453584" y="3643314"/>
            <a:ext cx="1139688" cy="2720847"/>
            <a:chOff x="453584" y="3643314"/>
            <a:chExt cx="1139688" cy="2720847"/>
          </a:xfrm>
        </p:grpSpPr>
        <p:sp>
          <p:nvSpPr>
            <p:cNvPr id="2" name="立方体 1">
              <a:extLst>
                <a:ext uri="{FF2B5EF4-FFF2-40B4-BE49-F238E27FC236}">
                  <a16:creationId xmlns:a16="http://schemas.microsoft.com/office/drawing/2014/main" id="{54FB0774-5841-F799-36CD-CFBB32AF5F3A}"/>
                </a:ext>
              </a:extLst>
            </p:cNvPr>
            <p:cNvSpPr/>
            <p:nvPr/>
          </p:nvSpPr>
          <p:spPr>
            <a:xfrm>
              <a:off x="453584" y="3643314"/>
              <a:ext cx="569844" cy="2229678"/>
            </a:xfrm>
            <a:prstGeom prst="cube">
              <a:avLst>
                <a:gd name="adj" fmla="val 77004"/>
              </a:avLst>
            </a:prstGeom>
            <a:solidFill>
              <a:srgbClr val="FF7E7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立方体 3">
              <a:extLst>
                <a:ext uri="{FF2B5EF4-FFF2-40B4-BE49-F238E27FC236}">
                  <a16:creationId xmlns:a16="http://schemas.microsoft.com/office/drawing/2014/main" id="{75664321-C407-EF28-A582-7D64ACA8256D}"/>
                </a:ext>
              </a:extLst>
            </p:cNvPr>
            <p:cNvSpPr/>
            <p:nvPr/>
          </p:nvSpPr>
          <p:spPr>
            <a:xfrm>
              <a:off x="738506" y="3643314"/>
              <a:ext cx="569844" cy="2229678"/>
            </a:xfrm>
            <a:prstGeom prst="cube">
              <a:avLst>
                <a:gd name="adj" fmla="val 77004"/>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立方体 4">
              <a:extLst>
                <a:ext uri="{FF2B5EF4-FFF2-40B4-BE49-F238E27FC236}">
                  <a16:creationId xmlns:a16="http://schemas.microsoft.com/office/drawing/2014/main" id="{DD6C8B49-EA4D-1F82-F9CB-E4E8D9C8A6F8}"/>
                </a:ext>
              </a:extLst>
            </p:cNvPr>
            <p:cNvSpPr/>
            <p:nvPr/>
          </p:nvSpPr>
          <p:spPr>
            <a:xfrm>
              <a:off x="1023428" y="3643314"/>
              <a:ext cx="569844" cy="2229678"/>
            </a:xfrm>
            <a:prstGeom prst="cube">
              <a:avLst>
                <a:gd name="adj" fmla="val 7700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1C67386B-FEAF-909F-7B84-DF6DA9722466}"/>
                </a:ext>
              </a:extLst>
            </p:cNvPr>
            <p:cNvSpPr txBox="1"/>
            <p:nvPr/>
          </p:nvSpPr>
          <p:spPr>
            <a:xfrm>
              <a:off x="662019" y="5994829"/>
              <a:ext cx="646331" cy="369332"/>
            </a:xfrm>
            <a:prstGeom prst="rect">
              <a:avLst/>
            </a:prstGeom>
            <a:noFill/>
          </p:spPr>
          <p:txBody>
            <a:bodyPr wrap="none" rtlCol="0">
              <a:spAutoFit/>
            </a:bodyPr>
            <a:lstStyle/>
            <a:p>
              <a:r>
                <a:rPr kumimoji="1" lang="zh-CN" altLang="en-US" dirty="0"/>
                <a:t>输入</a:t>
              </a:r>
            </a:p>
          </p:txBody>
        </p:sp>
      </p:grpSp>
      <p:sp>
        <p:nvSpPr>
          <p:cNvPr id="10" name="虚尾箭头 9">
            <a:extLst>
              <a:ext uri="{FF2B5EF4-FFF2-40B4-BE49-F238E27FC236}">
                <a16:creationId xmlns:a16="http://schemas.microsoft.com/office/drawing/2014/main" id="{ED325627-AB37-409D-DB06-00B828E2066C}"/>
              </a:ext>
            </a:extLst>
          </p:cNvPr>
          <p:cNvSpPr/>
          <p:nvPr/>
        </p:nvSpPr>
        <p:spPr>
          <a:xfrm>
            <a:off x="1664144" y="4653820"/>
            <a:ext cx="569844" cy="275006"/>
          </a:xfrm>
          <a:prstGeom prst="stripedRight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8" name="组合 37">
            <a:extLst>
              <a:ext uri="{FF2B5EF4-FFF2-40B4-BE49-F238E27FC236}">
                <a16:creationId xmlns:a16="http://schemas.microsoft.com/office/drawing/2014/main" id="{274C10B7-99B4-C83C-84C2-29DD8C040DA0}"/>
              </a:ext>
            </a:extLst>
          </p:cNvPr>
          <p:cNvGrpSpPr/>
          <p:nvPr/>
        </p:nvGrpSpPr>
        <p:grpSpPr>
          <a:xfrm>
            <a:off x="2436038" y="3772212"/>
            <a:ext cx="3753126" cy="2058229"/>
            <a:chOff x="2540983" y="3814763"/>
            <a:chExt cx="3753126" cy="2058229"/>
          </a:xfrm>
        </p:grpSpPr>
        <p:grpSp>
          <p:nvGrpSpPr>
            <p:cNvPr id="12" name="组合 11">
              <a:extLst>
                <a:ext uri="{FF2B5EF4-FFF2-40B4-BE49-F238E27FC236}">
                  <a16:creationId xmlns:a16="http://schemas.microsoft.com/office/drawing/2014/main" id="{0B177126-F615-C3D4-49D3-21E0C0C6CC08}"/>
                </a:ext>
              </a:extLst>
            </p:cNvPr>
            <p:cNvGrpSpPr/>
            <p:nvPr/>
          </p:nvGrpSpPr>
          <p:grpSpPr>
            <a:xfrm>
              <a:off x="2684312" y="4325513"/>
              <a:ext cx="1743075" cy="910856"/>
              <a:chOff x="5735078" y="4790251"/>
              <a:chExt cx="2921905" cy="1281937"/>
            </a:xfrm>
          </p:grpSpPr>
          <p:grpSp>
            <p:nvGrpSpPr>
              <p:cNvPr id="13" name="组合 12">
                <a:extLst>
                  <a:ext uri="{FF2B5EF4-FFF2-40B4-BE49-F238E27FC236}">
                    <a16:creationId xmlns:a16="http://schemas.microsoft.com/office/drawing/2014/main" id="{4A517D16-28B6-3E8C-D1D0-158B26566A81}"/>
                  </a:ext>
                </a:extLst>
              </p:cNvPr>
              <p:cNvGrpSpPr/>
              <p:nvPr/>
            </p:nvGrpSpPr>
            <p:grpSpPr>
              <a:xfrm>
                <a:off x="5830537" y="4853419"/>
                <a:ext cx="980347" cy="1095623"/>
                <a:chOff x="9306653" y="3731236"/>
                <a:chExt cx="980347" cy="1095623"/>
              </a:xfrm>
            </p:grpSpPr>
            <p:sp>
              <p:nvSpPr>
                <p:cNvPr id="27" name="立方体 26">
                  <a:extLst>
                    <a:ext uri="{FF2B5EF4-FFF2-40B4-BE49-F238E27FC236}">
                      <a16:creationId xmlns:a16="http://schemas.microsoft.com/office/drawing/2014/main" id="{0628F6F3-248E-621A-CFC3-125F9065F78E}"/>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立方体 27">
                  <a:extLst>
                    <a:ext uri="{FF2B5EF4-FFF2-40B4-BE49-F238E27FC236}">
                      <a16:creationId xmlns:a16="http://schemas.microsoft.com/office/drawing/2014/main" id="{8F476723-500F-C4A6-08B6-ECAACCB100CF}"/>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29" name="立方体 28">
                  <a:extLst>
                    <a:ext uri="{FF2B5EF4-FFF2-40B4-BE49-F238E27FC236}">
                      <a16:creationId xmlns:a16="http://schemas.microsoft.com/office/drawing/2014/main" id="{60859ADC-AA80-A3E5-66CF-10C14B171EBB}"/>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立方体 29">
                  <a:extLst>
                    <a:ext uri="{FF2B5EF4-FFF2-40B4-BE49-F238E27FC236}">
                      <a16:creationId xmlns:a16="http://schemas.microsoft.com/office/drawing/2014/main" id="{5F992450-41FE-597A-E25A-66DEF0A07AB3}"/>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 name="组合 13">
                <a:extLst>
                  <a:ext uri="{FF2B5EF4-FFF2-40B4-BE49-F238E27FC236}">
                    <a16:creationId xmlns:a16="http://schemas.microsoft.com/office/drawing/2014/main" id="{7EA157E4-2FFA-3155-2972-7EFC3C839FBB}"/>
                  </a:ext>
                </a:extLst>
              </p:cNvPr>
              <p:cNvGrpSpPr/>
              <p:nvPr/>
            </p:nvGrpSpPr>
            <p:grpSpPr>
              <a:xfrm>
                <a:off x="7559313" y="4853419"/>
                <a:ext cx="980347" cy="1095623"/>
                <a:chOff x="9306653" y="3731236"/>
                <a:chExt cx="980347" cy="1095623"/>
              </a:xfrm>
            </p:grpSpPr>
            <p:sp>
              <p:nvSpPr>
                <p:cNvPr id="18" name="立方体 17">
                  <a:extLst>
                    <a:ext uri="{FF2B5EF4-FFF2-40B4-BE49-F238E27FC236}">
                      <a16:creationId xmlns:a16="http://schemas.microsoft.com/office/drawing/2014/main" id="{66BED3E5-BC3D-3AAA-968C-CF7A7882D2CB}"/>
                    </a:ext>
                  </a:extLst>
                </p:cNvPr>
                <p:cNvSpPr/>
                <p:nvPr/>
              </p:nvSpPr>
              <p:spPr>
                <a:xfrm>
                  <a:off x="9388722" y="3760585"/>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立方体 21">
                  <a:extLst>
                    <a:ext uri="{FF2B5EF4-FFF2-40B4-BE49-F238E27FC236}">
                      <a16:creationId xmlns:a16="http://schemas.microsoft.com/office/drawing/2014/main" id="{279D194F-1A6D-DADA-A1FD-5EF4E64B113E}"/>
                    </a:ext>
                  </a:extLst>
                </p:cNvPr>
                <p:cNvSpPr/>
                <p:nvPr/>
              </p:nvSpPr>
              <p:spPr>
                <a:xfrm>
                  <a:off x="9563012" y="3760584"/>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p>
              </p:txBody>
            </p:sp>
            <p:sp>
              <p:nvSpPr>
                <p:cNvPr id="25" name="立方体 24">
                  <a:extLst>
                    <a:ext uri="{FF2B5EF4-FFF2-40B4-BE49-F238E27FC236}">
                      <a16:creationId xmlns:a16="http://schemas.microsoft.com/office/drawing/2014/main" id="{7E697631-3163-DA5B-F551-4F155B3D4EA2}"/>
                    </a:ext>
                  </a:extLst>
                </p:cNvPr>
                <p:cNvSpPr/>
                <p:nvPr/>
              </p:nvSpPr>
              <p:spPr>
                <a:xfrm>
                  <a:off x="9737302" y="3760583"/>
                  <a:ext cx="460609" cy="1036931"/>
                </a:xfrm>
                <a:prstGeom prst="cube">
                  <a:avLst>
                    <a:gd name="adj" fmla="val 77004"/>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6" name="立方体 25">
                  <a:extLst>
                    <a:ext uri="{FF2B5EF4-FFF2-40B4-BE49-F238E27FC236}">
                      <a16:creationId xmlns:a16="http://schemas.microsoft.com/office/drawing/2014/main" id="{82FE0330-2A9A-7F99-B064-0BB4B01F924B}"/>
                    </a:ext>
                  </a:extLst>
                </p:cNvPr>
                <p:cNvSpPr/>
                <p:nvPr/>
              </p:nvSpPr>
              <p:spPr>
                <a:xfrm>
                  <a:off x="9306653" y="3731236"/>
                  <a:ext cx="980347" cy="1095623"/>
                </a:xfrm>
                <a:prstGeom prst="cube">
                  <a:avLst>
                    <a:gd name="adj" fmla="val 36148"/>
                  </a:avLst>
                </a:prstGeom>
                <a:solidFill>
                  <a:schemeClr val="accent5">
                    <a:lumMod val="60000"/>
                    <a:lumOff val="40000"/>
                    <a:alpha val="2475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5" name="立方体 14">
                <a:extLst>
                  <a:ext uri="{FF2B5EF4-FFF2-40B4-BE49-F238E27FC236}">
                    <a16:creationId xmlns:a16="http://schemas.microsoft.com/office/drawing/2014/main" id="{CA15CDA7-8D07-644E-5A0F-04BD42C2C979}"/>
                  </a:ext>
                </a:extLst>
              </p:cNvPr>
              <p:cNvSpPr/>
              <p:nvPr/>
            </p:nvSpPr>
            <p:spPr>
              <a:xfrm>
                <a:off x="5735078" y="4790251"/>
                <a:ext cx="2921905" cy="1281937"/>
              </a:xfrm>
              <a:prstGeom prst="cube">
                <a:avLst/>
              </a:prstGeom>
              <a:solidFill>
                <a:schemeClr val="accent5">
                  <a:lumMod val="40000"/>
                  <a:lumOff val="60000"/>
                  <a:alpha val="3253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B2295B0-10AB-0255-AEE2-FADBF7C104EB}"/>
                      </a:ext>
                    </a:extLst>
                  </p:cNvPr>
                  <p:cNvSpPr txBox="1"/>
                  <p:nvPr/>
                </p:nvSpPr>
                <p:spPr>
                  <a:xfrm>
                    <a:off x="6685318" y="5040667"/>
                    <a:ext cx="415266" cy="7287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zh-CN" altLang="en-US" sz="3200" i="1" smtClean="0">
                              <a:latin typeface="Cambria Math" panose="02040503050406030204" pitchFamily="18" charset="0"/>
                            </a:rPr>
                            <m:t>⋯</m:t>
                          </m:r>
                        </m:oMath>
                      </m:oMathPara>
                    </a14:m>
                    <a:endParaRPr kumimoji="1" lang="zh-CN" altLang="en-US" sz="3200" dirty="0"/>
                  </a:p>
                </p:txBody>
              </p:sp>
            </mc:Choice>
            <mc:Fallback xmlns="">
              <p:sp>
                <p:nvSpPr>
                  <p:cNvPr id="16" name="文本框 15">
                    <a:extLst>
                      <a:ext uri="{FF2B5EF4-FFF2-40B4-BE49-F238E27FC236}">
                        <a16:creationId xmlns:a16="http://schemas.microsoft.com/office/drawing/2014/main" id="{9B2295B0-10AB-0255-AEE2-FADBF7C104EB}"/>
                      </a:ext>
                    </a:extLst>
                  </p:cNvPr>
                  <p:cNvSpPr txBox="1">
                    <a:spLocks noRot="1" noChangeAspect="1" noMove="1" noResize="1" noEditPoints="1" noAdjustHandles="1" noChangeArrowheads="1" noChangeShapeType="1" noTextEdit="1"/>
                  </p:cNvSpPr>
                  <p:nvPr/>
                </p:nvSpPr>
                <p:spPr>
                  <a:xfrm>
                    <a:off x="6685318" y="5040667"/>
                    <a:ext cx="415266" cy="728730"/>
                  </a:xfrm>
                  <a:prstGeom prst="rect">
                    <a:avLst/>
                  </a:prstGeom>
                  <a:blipFill>
                    <a:blip r:embed="rId3"/>
                    <a:stretch>
                      <a:fillRect r="-95238"/>
                    </a:stretch>
                  </a:blipFill>
                </p:spPr>
                <p:txBody>
                  <a:bodyPr/>
                  <a:lstStyle/>
                  <a:p>
                    <a:r>
                      <a:rPr lang="zh-CN" altLang="en-US">
                        <a:noFill/>
                      </a:rPr>
                      <a:t> </a:t>
                    </a:r>
                  </a:p>
                </p:txBody>
              </p:sp>
            </mc:Fallback>
          </mc:AlternateContent>
        </p:grpSp>
        <p:sp>
          <p:nvSpPr>
            <p:cNvPr id="31" name="文本框 30">
              <a:extLst>
                <a:ext uri="{FF2B5EF4-FFF2-40B4-BE49-F238E27FC236}">
                  <a16:creationId xmlns:a16="http://schemas.microsoft.com/office/drawing/2014/main" id="{E5B093AA-0B27-0C10-1032-3600B4E57162}"/>
                </a:ext>
              </a:extLst>
            </p:cNvPr>
            <p:cNvSpPr txBox="1"/>
            <p:nvPr/>
          </p:nvSpPr>
          <p:spPr>
            <a:xfrm>
              <a:off x="3031579" y="5414297"/>
              <a:ext cx="877163" cy="369332"/>
            </a:xfrm>
            <a:prstGeom prst="rect">
              <a:avLst/>
            </a:prstGeom>
            <a:noFill/>
          </p:spPr>
          <p:txBody>
            <a:bodyPr wrap="none" rtlCol="0">
              <a:spAutoFit/>
            </a:bodyPr>
            <a:lstStyle/>
            <a:p>
              <a:r>
                <a:rPr kumimoji="1" lang="zh-CN" altLang="en-US" dirty="0"/>
                <a:t>卷积层</a:t>
              </a:r>
            </a:p>
          </p:txBody>
        </p:sp>
        <p:pic>
          <p:nvPicPr>
            <p:cNvPr id="33" name="图片 32">
              <a:extLst>
                <a:ext uri="{FF2B5EF4-FFF2-40B4-BE49-F238E27FC236}">
                  <a16:creationId xmlns:a16="http://schemas.microsoft.com/office/drawing/2014/main" id="{918B417A-54B5-FA26-116E-2C4BD267067E}"/>
                </a:ext>
              </a:extLst>
            </p:cNvPr>
            <p:cNvPicPr>
              <a:picLocks noChangeAspect="1"/>
            </p:cNvPicPr>
            <p:nvPr/>
          </p:nvPicPr>
          <p:blipFill>
            <a:blip r:embed="rId4"/>
            <a:stretch>
              <a:fillRect/>
            </a:stretch>
          </p:blipFill>
          <p:spPr>
            <a:xfrm>
              <a:off x="4757375" y="4167119"/>
              <a:ext cx="1504392" cy="1227641"/>
            </a:xfrm>
            <a:prstGeom prst="rect">
              <a:avLst/>
            </a:prstGeom>
          </p:spPr>
        </p:pic>
        <p:sp>
          <p:nvSpPr>
            <p:cNvPr id="34" name="文本框 33">
              <a:extLst>
                <a:ext uri="{FF2B5EF4-FFF2-40B4-BE49-F238E27FC236}">
                  <a16:creationId xmlns:a16="http://schemas.microsoft.com/office/drawing/2014/main" id="{90501CCC-F7C0-6209-B3A6-F65798FF707E}"/>
                </a:ext>
              </a:extLst>
            </p:cNvPr>
            <p:cNvSpPr txBox="1"/>
            <p:nvPr/>
          </p:nvSpPr>
          <p:spPr>
            <a:xfrm>
              <a:off x="4955573" y="5390740"/>
              <a:ext cx="1107996" cy="369332"/>
            </a:xfrm>
            <a:prstGeom prst="rect">
              <a:avLst/>
            </a:prstGeom>
            <a:noFill/>
          </p:spPr>
          <p:txBody>
            <a:bodyPr wrap="none" rtlCol="0">
              <a:spAutoFit/>
            </a:bodyPr>
            <a:lstStyle/>
            <a:p>
              <a:r>
                <a:rPr kumimoji="1" lang="zh-CN" altLang="en-US" dirty="0"/>
                <a:t>激活函数</a:t>
              </a:r>
            </a:p>
          </p:txBody>
        </p:sp>
        <p:sp>
          <p:nvSpPr>
            <p:cNvPr id="37" name="矩形 36">
              <a:extLst>
                <a:ext uri="{FF2B5EF4-FFF2-40B4-BE49-F238E27FC236}">
                  <a16:creationId xmlns:a16="http://schemas.microsoft.com/office/drawing/2014/main" id="{50467D7F-51A6-B7C0-9450-2B20C3273D61}"/>
                </a:ext>
              </a:extLst>
            </p:cNvPr>
            <p:cNvSpPr/>
            <p:nvPr/>
          </p:nvSpPr>
          <p:spPr>
            <a:xfrm>
              <a:off x="2540983" y="3814763"/>
              <a:ext cx="3753126" cy="2058229"/>
            </a:xfrm>
            <a:prstGeom prst="rect">
              <a:avLst/>
            </a:prstGeom>
            <a:noFill/>
            <a:ln w="2857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加号 31">
              <a:extLst>
                <a:ext uri="{FF2B5EF4-FFF2-40B4-BE49-F238E27FC236}">
                  <a16:creationId xmlns:a16="http://schemas.microsoft.com/office/drawing/2014/main" id="{18DA2A99-1A40-C809-E395-C70D3F088E63}"/>
                </a:ext>
              </a:extLst>
            </p:cNvPr>
            <p:cNvSpPr/>
            <p:nvPr/>
          </p:nvSpPr>
          <p:spPr>
            <a:xfrm>
              <a:off x="4484333" y="4532431"/>
              <a:ext cx="528638" cy="517785"/>
            </a:xfrm>
            <a:prstGeom prst="mathPlus">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39" name="虚尾箭头 38">
            <a:extLst>
              <a:ext uri="{FF2B5EF4-FFF2-40B4-BE49-F238E27FC236}">
                <a16:creationId xmlns:a16="http://schemas.microsoft.com/office/drawing/2014/main" id="{FF49DF79-1271-7305-0630-E214C3480C8D}"/>
              </a:ext>
            </a:extLst>
          </p:cNvPr>
          <p:cNvSpPr/>
          <p:nvPr/>
        </p:nvSpPr>
        <p:spPr>
          <a:xfrm>
            <a:off x="6237372" y="4679641"/>
            <a:ext cx="569844" cy="275006"/>
          </a:xfrm>
          <a:prstGeom prst="stripedRight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68" name="组合 67">
            <a:extLst>
              <a:ext uri="{FF2B5EF4-FFF2-40B4-BE49-F238E27FC236}">
                <a16:creationId xmlns:a16="http://schemas.microsoft.com/office/drawing/2014/main" id="{99DF7856-E98C-13C6-E264-22D1B6CA7293}"/>
              </a:ext>
            </a:extLst>
          </p:cNvPr>
          <p:cNvGrpSpPr/>
          <p:nvPr/>
        </p:nvGrpSpPr>
        <p:grpSpPr>
          <a:xfrm>
            <a:off x="6832713" y="3729037"/>
            <a:ext cx="3167875" cy="2058229"/>
            <a:chOff x="6930977" y="3729037"/>
            <a:chExt cx="3167875" cy="2058229"/>
          </a:xfrm>
        </p:grpSpPr>
        <p:grpSp>
          <p:nvGrpSpPr>
            <p:cNvPr id="40" name="组合 39">
              <a:extLst>
                <a:ext uri="{FF2B5EF4-FFF2-40B4-BE49-F238E27FC236}">
                  <a16:creationId xmlns:a16="http://schemas.microsoft.com/office/drawing/2014/main" id="{4D5663AE-4590-783A-4808-8C2A2AE95B49}"/>
                </a:ext>
              </a:extLst>
            </p:cNvPr>
            <p:cNvGrpSpPr/>
            <p:nvPr/>
          </p:nvGrpSpPr>
          <p:grpSpPr>
            <a:xfrm>
              <a:off x="7078467" y="4054247"/>
              <a:ext cx="1214437" cy="1281937"/>
              <a:chOff x="5186252" y="3231379"/>
              <a:chExt cx="2347387" cy="2804984"/>
            </a:xfrm>
          </p:grpSpPr>
          <p:sp>
            <p:nvSpPr>
              <p:cNvPr id="41" name="矩形 40">
                <a:extLst>
                  <a:ext uri="{FF2B5EF4-FFF2-40B4-BE49-F238E27FC236}">
                    <a16:creationId xmlns:a16="http://schemas.microsoft.com/office/drawing/2014/main" id="{C4121CC3-7E56-0BDB-3267-78B361AE514E}"/>
                  </a:ext>
                </a:extLst>
              </p:cNvPr>
              <p:cNvSpPr/>
              <p:nvPr/>
            </p:nvSpPr>
            <p:spPr>
              <a:xfrm>
                <a:off x="5186252" y="3577368"/>
                <a:ext cx="720000" cy="212536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F41145BA-989A-C0F7-B018-56951AA4AF84}"/>
                  </a:ext>
                </a:extLst>
              </p:cNvPr>
              <p:cNvSpPr/>
              <p:nvPr/>
            </p:nvSpPr>
            <p:spPr>
              <a:xfrm>
                <a:off x="5297463" y="3711047"/>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0FC63F85-A9FF-329F-077A-EBB1396765DC}"/>
                  </a:ext>
                </a:extLst>
              </p:cNvPr>
              <p:cNvSpPr/>
              <p:nvPr/>
            </p:nvSpPr>
            <p:spPr>
              <a:xfrm>
                <a:off x="5297463" y="438673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6A79E6E-29AA-7D3E-83FC-13BD69438DDF}"/>
                  </a:ext>
                </a:extLst>
              </p:cNvPr>
              <p:cNvSpPr/>
              <p:nvPr/>
            </p:nvSpPr>
            <p:spPr>
              <a:xfrm>
                <a:off x="5297463" y="505203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a:extLst>
                  <a:ext uri="{FF2B5EF4-FFF2-40B4-BE49-F238E27FC236}">
                    <a16:creationId xmlns:a16="http://schemas.microsoft.com/office/drawing/2014/main" id="{4B5CD070-C210-3988-13A4-4F2EEF22C24A}"/>
                  </a:ext>
                </a:extLst>
              </p:cNvPr>
              <p:cNvSpPr/>
              <p:nvPr/>
            </p:nvSpPr>
            <p:spPr>
              <a:xfrm>
                <a:off x="6813639" y="3231379"/>
                <a:ext cx="720000" cy="280498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6" name="椭圆 45">
                <a:extLst>
                  <a:ext uri="{FF2B5EF4-FFF2-40B4-BE49-F238E27FC236}">
                    <a16:creationId xmlns:a16="http://schemas.microsoft.com/office/drawing/2014/main" id="{2333341D-CAD6-6E11-1A8E-B0377A243605}"/>
                  </a:ext>
                </a:extLst>
              </p:cNvPr>
              <p:cNvSpPr/>
              <p:nvPr/>
            </p:nvSpPr>
            <p:spPr>
              <a:xfrm>
                <a:off x="6926504" y="339201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a:extLst>
                  <a:ext uri="{FF2B5EF4-FFF2-40B4-BE49-F238E27FC236}">
                    <a16:creationId xmlns:a16="http://schemas.microsoft.com/office/drawing/2014/main" id="{D920A513-82B8-D3CA-F490-5C56B0DABDAD}"/>
                  </a:ext>
                </a:extLst>
              </p:cNvPr>
              <p:cNvSpPr/>
              <p:nvPr/>
            </p:nvSpPr>
            <p:spPr>
              <a:xfrm>
                <a:off x="6926504" y="405284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a:extLst>
                  <a:ext uri="{FF2B5EF4-FFF2-40B4-BE49-F238E27FC236}">
                    <a16:creationId xmlns:a16="http://schemas.microsoft.com/office/drawing/2014/main" id="{284721C7-CC60-9080-E0CE-D287D46AD710}"/>
                  </a:ext>
                </a:extLst>
              </p:cNvPr>
              <p:cNvSpPr/>
              <p:nvPr/>
            </p:nvSpPr>
            <p:spPr>
              <a:xfrm>
                <a:off x="6926504" y="4775459"/>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3BA81866-98A4-3E02-3D24-A01D364C0A3A}"/>
                  </a:ext>
                </a:extLst>
              </p:cNvPr>
              <p:cNvSpPr/>
              <p:nvPr/>
            </p:nvSpPr>
            <p:spPr>
              <a:xfrm>
                <a:off x="6926504" y="5410359"/>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0" name="直线箭头连接符 49">
                <a:extLst>
                  <a:ext uri="{FF2B5EF4-FFF2-40B4-BE49-F238E27FC236}">
                    <a16:creationId xmlns:a16="http://schemas.microsoft.com/office/drawing/2014/main" id="{96149890-404C-77E9-0199-8119E4DEB6E1}"/>
                  </a:ext>
                </a:extLst>
              </p:cNvPr>
              <p:cNvCxnSpPr>
                <a:stCxn id="42" idx="6"/>
                <a:endCxn id="46" idx="2"/>
              </p:cNvCxnSpPr>
              <p:nvPr/>
            </p:nvCxnSpPr>
            <p:spPr>
              <a:xfrm flipV="1">
                <a:off x="5791733" y="3639151"/>
                <a:ext cx="1134771" cy="319031"/>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1" name="直线箭头连接符 50">
                <a:extLst>
                  <a:ext uri="{FF2B5EF4-FFF2-40B4-BE49-F238E27FC236}">
                    <a16:creationId xmlns:a16="http://schemas.microsoft.com/office/drawing/2014/main" id="{C8814FF8-814E-BAF4-488A-92C844E85AA4}"/>
                  </a:ext>
                </a:extLst>
              </p:cNvPr>
              <p:cNvCxnSpPr>
                <a:cxnSpLocks/>
                <a:stCxn id="42" idx="6"/>
                <a:endCxn id="47" idx="2"/>
              </p:cNvCxnSpPr>
              <p:nvPr/>
            </p:nvCxnSpPr>
            <p:spPr>
              <a:xfrm>
                <a:off x="5791733" y="3958182"/>
                <a:ext cx="1134771" cy="34179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2" name="直线箭头连接符 51">
                <a:extLst>
                  <a:ext uri="{FF2B5EF4-FFF2-40B4-BE49-F238E27FC236}">
                    <a16:creationId xmlns:a16="http://schemas.microsoft.com/office/drawing/2014/main" id="{05D44F0D-0DA8-68C5-5977-F03A57A76E8F}"/>
                  </a:ext>
                </a:extLst>
              </p:cNvPr>
              <p:cNvCxnSpPr>
                <a:cxnSpLocks/>
                <a:stCxn id="42" idx="6"/>
                <a:endCxn id="48" idx="2"/>
              </p:cNvCxnSpPr>
              <p:nvPr/>
            </p:nvCxnSpPr>
            <p:spPr>
              <a:xfrm>
                <a:off x="5791733" y="3958182"/>
                <a:ext cx="1134771" cy="10644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3" name="直线箭头连接符 52">
                <a:extLst>
                  <a:ext uri="{FF2B5EF4-FFF2-40B4-BE49-F238E27FC236}">
                    <a16:creationId xmlns:a16="http://schemas.microsoft.com/office/drawing/2014/main" id="{3954FD19-8C65-546B-C9D4-61ABD66F1CA9}"/>
                  </a:ext>
                </a:extLst>
              </p:cNvPr>
              <p:cNvCxnSpPr>
                <a:cxnSpLocks/>
                <a:stCxn id="42" idx="6"/>
                <a:endCxn id="49" idx="2"/>
              </p:cNvCxnSpPr>
              <p:nvPr/>
            </p:nvCxnSpPr>
            <p:spPr>
              <a:xfrm>
                <a:off x="5791733" y="3958182"/>
                <a:ext cx="1134771" cy="16993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4" name="直线箭头连接符 53">
                <a:extLst>
                  <a:ext uri="{FF2B5EF4-FFF2-40B4-BE49-F238E27FC236}">
                    <a16:creationId xmlns:a16="http://schemas.microsoft.com/office/drawing/2014/main" id="{708174A6-D19C-D052-9714-D41AB96C3481}"/>
                  </a:ext>
                </a:extLst>
              </p:cNvPr>
              <p:cNvCxnSpPr>
                <a:cxnSpLocks/>
                <a:stCxn id="43" idx="6"/>
                <a:endCxn id="46" idx="2"/>
              </p:cNvCxnSpPr>
              <p:nvPr/>
            </p:nvCxnSpPr>
            <p:spPr>
              <a:xfrm flipV="1">
                <a:off x="5791733" y="3639151"/>
                <a:ext cx="1134771" cy="99472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5" name="直线箭头连接符 54">
                <a:extLst>
                  <a:ext uri="{FF2B5EF4-FFF2-40B4-BE49-F238E27FC236}">
                    <a16:creationId xmlns:a16="http://schemas.microsoft.com/office/drawing/2014/main" id="{E0986828-A8FB-C2B5-3EB1-6D554A9D0D33}"/>
                  </a:ext>
                </a:extLst>
              </p:cNvPr>
              <p:cNvCxnSpPr>
                <a:cxnSpLocks/>
                <a:stCxn id="43" idx="6"/>
                <a:endCxn id="47" idx="2"/>
              </p:cNvCxnSpPr>
              <p:nvPr/>
            </p:nvCxnSpPr>
            <p:spPr>
              <a:xfrm flipV="1">
                <a:off x="5791733" y="4299981"/>
                <a:ext cx="1134771" cy="33389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6" name="直线箭头连接符 55">
                <a:extLst>
                  <a:ext uri="{FF2B5EF4-FFF2-40B4-BE49-F238E27FC236}">
                    <a16:creationId xmlns:a16="http://schemas.microsoft.com/office/drawing/2014/main" id="{EC981873-9294-447E-375F-7D81E2A15FC3}"/>
                  </a:ext>
                </a:extLst>
              </p:cNvPr>
              <p:cNvCxnSpPr>
                <a:cxnSpLocks/>
                <a:stCxn id="43" idx="6"/>
                <a:endCxn id="48" idx="2"/>
              </p:cNvCxnSpPr>
              <p:nvPr/>
            </p:nvCxnSpPr>
            <p:spPr>
              <a:xfrm>
                <a:off x="5791733" y="4633871"/>
                <a:ext cx="1134771" cy="3887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7" name="直线箭头连接符 56">
                <a:extLst>
                  <a:ext uri="{FF2B5EF4-FFF2-40B4-BE49-F238E27FC236}">
                    <a16:creationId xmlns:a16="http://schemas.microsoft.com/office/drawing/2014/main" id="{80EAC1E3-B542-A092-3632-9744D09860E1}"/>
                  </a:ext>
                </a:extLst>
              </p:cNvPr>
              <p:cNvCxnSpPr>
                <a:cxnSpLocks/>
                <a:stCxn id="43" idx="6"/>
                <a:endCxn id="49" idx="2"/>
              </p:cNvCxnSpPr>
              <p:nvPr/>
            </p:nvCxnSpPr>
            <p:spPr>
              <a:xfrm>
                <a:off x="5791733" y="4633871"/>
                <a:ext cx="1134771" cy="10236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8" name="直线箭头连接符 57">
                <a:extLst>
                  <a:ext uri="{FF2B5EF4-FFF2-40B4-BE49-F238E27FC236}">
                    <a16:creationId xmlns:a16="http://schemas.microsoft.com/office/drawing/2014/main" id="{3AAF8B44-BF28-578F-8767-74DA576E04FB}"/>
                  </a:ext>
                </a:extLst>
              </p:cNvPr>
              <p:cNvCxnSpPr>
                <a:cxnSpLocks/>
                <a:stCxn id="44" idx="6"/>
                <a:endCxn id="46" idx="2"/>
              </p:cNvCxnSpPr>
              <p:nvPr/>
            </p:nvCxnSpPr>
            <p:spPr>
              <a:xfrm flipV="1">
                <a:off x="5791733" y="3639151"/>
                <a:ext cx="1134771" cy="166001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59" name="直线箭头连接符 58">
                <a:extLst>
                  <a:ext uri="{FF2B5EF4-FFF2-40B4-BE49-F238E27FC236}">
                    <a16:creationId xmlns:a16="http://schemas.microsoft.com/office/drawing/2014/main" id="{55277ECF-4535-94DB-F3E1-479B697E7178}"/>
                  </a:ext>
                </a:extLst>
              </p:cNvPr>
              <p:cNvCxnSpPr>
                <a:cxnSpLocks/>
                <a:stCxn id="44" idx="6"/>
                <a:endCxn id="47" idx="2"/>
              </p:cNvCxnSpPr>
              <p:nvPr/>
            </p:nvCxnSpPr>
            <p:spPr>
              <a:xfrm flipV="1">
                <a:off x="5791733" y="4299981"/>
                <a:ext cx="1134771" cy="99918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60" name="直线箭头连接符 59">
                <a:extLst>
                  <a:ext uri="{FF2B5EF4-FFF2-40B4-BE49-F238E27FC236}">
                    <a16:creationId xmlns:a16="http://schemas.microsoft.com/office/drawing/2014/main" id="{4062DC5A-AAAA-9B07-9834-40B9325936BA}"/>
                  </a:ext>
                </a:extLst>
              </p:cNvPr>
              <p:cNvCxnSpPr>
                <a:cxnSpLocks/>
                <a:stCxn id="44" idx="6"/>
                <a:endCxn id="48" idx="2"/>
              </p:cNvCxnSpPr>
              <p:nvPr/>
            </p:nvCxnSpPr>
            <p:spPr>
              <a:xfrm flipV="1">
                <a:off x="5791733" y="5022594"/>
                <a:ext cx="1134771" cy="27657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61" name="直线箭头连接符 60">
                <a:extLst>
                  <a:ext uri="{FF2B5EF4-FFF2-40B4-BE49-F238E27FC236}">
                    <a16:creationId xmlns:a16="http://schemas.microsoft.com/office/drawing/2014/main" id="{A8FFA210-1329-97E0-C6C3-FE4FECFD0941}"/>
                  </a:ext>
                </a:extLst>
              </p:cNvPr>
              <p:cNvCxnSpPr>
                <a:cxnSpLocks/>
                <a:stCxn id="44" idx="6"/>
                <a:endCxn id="49" idx="2"/>
              </p:cNvCxnSpPr>
              <p:nvPr/>
            </p:nvCxnSpPr>
            <p:spPr>
              <a:xfrm>
                <a:off x="5791733" y="5299170"/>
                <a:ext cx="1134771" cy="358324"/>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grpSp>
        <p:sp>
          <p:nvSpPr>
            <p:cNvPr id="62" name="文本框 61">
              <a:extLst>
                <a:ext uri="{FF2B5EF4-FFF2-40B4-BE49-F238E27FC236}">
                  <a16:creationId xmlns:a16="http://schemas.microsoft.com/office/drawing/2014/main" id="{7199F30B-2F51-95D2-44C3-A7929BD3FDF5}"/>
                </a:ext>
              </a:extLst>
            </p:cNvPr>
            <p:cNvSpPr txBox="1"/>
            <p:nvPr/>
          </p:nvSpPr>
          <p:spPr>
            <a:xfrm>
              <a:off x="7184908" y="5386999"/>
              <a:ext cx="1107996" cy="369332"/>
            </a:xfrm>
            <a:prstGeom prst="rect">
              <a:avLst/>
            </a:prstGeom>
            <a:noFill/>
          </p:spPr>
          <p:txBody>
            <a:bodyPr wrap="none" rtlCol="0">
              <a:spAutoFit/>
            </a:bodyPr>
            <a:lstStyle/>
            <a:p>
              <a:r>
                <a:rPr kumimoji="1" lang="zh-CN" altLang="en-US" dirty="0"/>
                <a:t>全连接层</a:t>
              </a:r>
            </a:p>
          </p:txBody>
        </p:sp>
        <p:pic>
          <p:nvPicPr>
            <p:cNvPr id="63" name="图片 62">
              <a:extLst>
                <a:ext uri="{FF2B5EF4-FFF2-40B4-BE49-F238E27FC236}">
                  <a16:creationId xmlns:a16="http://schemas.microsoft.com/office/drawing/2014/main" id="{401D279C-232D-117E-B2DF-A57E9F7BEFB3}"/>
                </a:ext>
              </a:extLst>
            </p:cNvPr>
            <p:cNvPicPr>
              <a:picLocks noChangeAspect="1"/>
            </p:cNvPicPr>
            <p:nvPr/>
          </p:nvPicPr>
          <p:blipFill>
            <a:blip r:embed="rId4"/>
            <a:stretch>
              <a:fillRect/>
            </a:stretch>
          </p:blipFill>
          <p:spPr>
            <a:xfrm>
              <a:off x="8594460" y="4060087"/>
              <a:ext cx="1504392" cy="1227641"/>
            </a:xfrm>
            <a:prstGeom prst="rect">
              <a:avLst/>
            </a:prstGeom>
          </p:spPr>
        </p:pic>
        <p:sp>
          <p:nvSpPr>
            <p:cNvPr id="65" name="加号 64">
              <a:extLst>
                <a:ext uri="{FF2B5EF4-FFF2-40B4-BE49-F238E27FC236}">
                  <a16:creationId xmlns:a16="http://schemas.microsoft.com/office/drawing/2014/main" id="{77C3AAB1-A21E-1DD6-2DD5-D627ECF2006E}"/>
                </a:ext>
              </a:extLst>
            </p:cNvPr>
            <p:cNvSpPr/>
            <p:nvPr/>
          </p:nvSpPr>
          <p:spPr>
            <a:xfrm>
              <a:off x="8320616" y="4468797"/>
              <a:ext cx="528638" cy="517785"/>
            </a:xfrm>
            <a:prstGeom prst="mathPlus">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6" name="文本框 65">
              <a:extLst>
                <a:ext uri="{FF2B5EF4-FFF2-40B4-BE49-F238E27FC236}">
                  <a16:creationId xmlns:a16="http://schemas.microsoft.com/office/drawing/2014/main" id="{40537CD3-4165-C25D-7259-C22BED7D8109}"/>
                </a:ext>
              </a:extLst>
            </p:cNvPr>
            <p:cNvSpPr txBox="1"/>
            <p:nvPr/>
          </p:nvSpPr>
          <p:spPr>
            <a:xfrm>
              <a:off x="8849254" y="5349134"/>
              <a:ext cx="1107996" cy="369332"/>
            </a:xfrm>
            <a:prstGeom prst="rect">
              <a:avLst/>
            </a:prstGeom>
            <a:noFill/>
          </p:spPr>
          <p:txBody>
            <a:bodyPr wrap="none" rtlCol="0">
              <a:spAutoFit/>
            </a:bodyPr>
            <a:lstStyle/>
            <a:p>
              <a:r>
                <a:rPr kumimoji="1" lang="zh-CN" altLang="en-US" dirty="0"/>
                <a:t>激活函数</a:t>
              </a:r>
            </a:p>
          </p:txBody>
        </p:sp>
        <p:sp>
          <p:nvSpPr>
            <p:cNvPr id="67" name="矩形 66">
              <a:extLst>
                <a:ext uri="{FF2B5EF4-FFF2-40B4-BE49-F238E27FC236}">
                  <a16:creationId xmlns:a16="http://schemas.microsoft.com/office/drawing/2014/main" id="{9FB14565-3BFC-90AC-F8AE-4C915EF430CB}"/>
                </a:ext>
              </a:extLst>
            </p:cNvPr>
            <p:cNvSpPr/>
            <p:nvPr/>
          </p:nvSpPr>
          <p:spPr>
            <a:xfrm>
              <a:off x="6930977" y="3729037"/>
              <a:ext cx="3167875" cy="2058229"/>
            </a:xfrm>
            <a:prstGeom prst="rect">
              <a:avLst/>
            </a:prstGeom>
            <a:noFill/>
            <a:ln w="2857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69" name="虚尾箭头 68">
            <a:extLst>
              <a:ext uri="{FF2B5EF4-FFF2-40B4-BE49-F238E27FC236}">
                <a16:creationId xmlns:a16="http://schemas.microsoft.com/office/drawing/2014/main" id="{3C891367-4C2E-BC64-7F60-AD12FEB59A06}"/>
              </a:ext>
            </a:extLst>
          </p:cNvPr>
          <p:cNvSpPr/>
          <p:nvPr/>
        </p:nvSpPr>
        <p:spPr>
          <a:xfrm>
            <a:off x="10129263" y="4663823"/>
            <a:ext cx="569844" cy="275006"/>
          </a:xfrm>
          <a:prstGeom prst="stripedRight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70" name="组合 69">
            <a:extLst>
              <a:ext uri="{FF2B5EF4-FFF2-40B4-BE49-F238E27FC236}">
                <a16:creationId xmlns:a16="http://schemas.microsoft.com/office/drawing/2014/main" id="{5AF21BA9-BA10-6B8C-EE18-00C4483B1177}"/>
              </a:ext>
            </a:extLst>
          </p:cNvPr>
          <p:cNvGrpSpPr/>
          <p:nvPr/>
        </p:nvGrpSpPr>
        <p:grpSpPr>
          <a:xfrm>
            <a:off x="10789044" y="4032938"/>
            <a:ext cx="1214437" cy="1281937"/>
            <a:chOff x="5186252" y="3231379"/>
            <a:chExt cx="2347387" cy="2804984"/>
          </a:xfrm>
        </p:grpSpPr>
        <p:sp>
          <p:nvSpPr>
            <p:cNvPr id="71" name="矩形 70">
              <a:extLst>
                <a:ext uri="{FF2B5EF4-FFF2-40B4-BE49-F238E27FC236}">
                  <a16:creationId xmlns:a16="http://schemas.microsoft.com/office/drawing/2014/main" id="{08C1C5D1-69B3-4C0E-D5A7-9D745AD6D4C1}"/>
                </a:ext>
              </a:extLst>
            </p:cNvPr>
            <p:cNvSpPr/>
            <p:nvPr/>
          </p:nvSpPr>
          <p:spPr>
            <a:xfrm>
              <a:off x="5186252" y="3577368"/>
              <a:ext cx="720000" cy="212536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椭圆 71">
              <a:extLst>
                <a:ext uri="{FF2B5EF4-FFF2-40B4-BE49-F238E27FC236}">
                  <a16:creationId xmlns:a16="http://schemas.microsoft.com/office/drawing/2014/main" id="{A73037A9-2C22-5324-9160-1F5D215ABB65}"/>
                </a:ext>
              </a:extLst>
            </p:cNvPr>
            <p:cNvSpPr/>
            <p:nvPr/>
          </p:nvSpPr>
          <p:spPr>
            <a:xfrm>
              <a:off x="5297463" y="3711047"/>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椭圆 72">
              <a:extLst>
                <a:ext uri="{FF2B5EF4-FFF2-40B4-BE49-F238E27FC236}">
                  <a16:creationId xmlns:a16="http://schemas.microsoft.com/office/drawing/2014/main" id="{3A622157-5138-921D-FE70-F74CF21F056F}"/>
                </a:ext>
              </a:extLst>
            </p:cNvPr>
            <p:cNvSpPr/>
            <p:nvPr/>
          </p:nvSpPr>
          <p:spPr>
            <a:xfrm>
              <a:off x="5297463" y="438673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椭圆 73">
              <a:extLst>
                <a:ext uri="{FF2B5EF4-FFF2-40B4-BE49-F238E27FC236}">
                  <a16:creationId xmlns:a16="http://schemas.microsoft.com/office/drawing/2014/main" id="{82B4B533-C697-4441-4FE4-0116E7C7F566}"/>
                </a:ext>
              </a:extLst>
            </p:cNvPr>
            <p:cNvSpPr/>
            <p:nvPr/>
          </p:nvSpPr>
          <p:spPr>
            <a:xfrm>
              <a:off x="5297463" y="5052035"/>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矩形 74">
              <a:extLst>
                <a:ext uri="{FF2B5EF4-FFF2-40B4-BE49-F238E27FC236}">
                  <a16:creationId xmlns:a16="http://schemas.microsoft.com/office/drawing/2014/main" id="{058C5616-C73C-D55E-9A25-924BDE366248}"/>
                </a:ext>
              </a:extLst>
            </p:cNvPr>
            <p:cNvSpPr/>
            <p:nvPr/>
          </p:nvSpPr>
          <p:spPr>
            <a:xfrm>
              <a:off x="6813639" y="3231379"/>
              <a:ext cx="720000" cy="280498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6" name="椭圆 75">
              <a:extLst>
                <a:ext uri="{FF2B5EF4-FFF2-40B4-BE49-F238E27FC236}">
                  <a16:creationId xmlns:a16="http://schemas.microsoft.com/office/drawing/2014/main" id="{00090CA5-1985-6014-6676-96C6B57D41C2}"/>
                </a:ext>
              </a:extLst>
            </p:cNvPr>
            <p:cNvSpPr/>
            <p:nvPr/>
          </p:nvSpPr>
          <p:spPr>
            <a:xfrm>
              <a:off x="6926504" y="339201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7" name="椭圆 76">
              <a:extLst>
                <a:ext uri="{FF2B5EF4-FFF2-40B4-BE49-F238E27FC236}">
                  <a16:creationId xmlns:a16="http://schemas.microsoft.com/office/drawing/2014/main" id="{FE60D5B7-7D38-85F6-F3A1-445AB0890E12}"/>
                </a:ext>
              </a:extLst>
            </p:cNvPr>
            <p:cNvSpPr/>
            <p:nvPr/>
          </p:nvSpPr>
          <p:spPr>
            <a:xfrm>
              <a:off x="6926504" y="4052846"/>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 name="椭圆 77">
              <a:extLst>
                <a:ext uri="{FF2B5EF4-FFF2-40B4-BE49-F238E27FC236}">
                  <a16:creationId xmlns:a16="http://schemas.microsoft.com/office/drawing/2014/main" id="{1BD74184-7389-924D-867D-D2F57B360561}"/>
                </a:ext>
              </a:extLst>
            </p:cNvPr>
            <p:cNvSpPr/>
            <p:nvPr/>
          </p:nvSpPr>
          <p:spPr>
            <a:xfrm>
              <a:off x="6926504" y="4775459"/>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椭圆 78">
              <a:extLst>
                <a:ext uri="{FF2B5EF4-FFF2-40B4-BE49-F238E27FC236}">
                  <a16:creationId xmlns:a16="http://schemas.microsoft.com/office/drawing/2014/main" id="{27DA639C-2765-0189-7008-E6EE891F9DFB}"/>
                </a:ext>
              </a:extLst>
            </p:cNvPr>
            <p:cNvSpPr/>
            <p:nvPr/>
          </p:nvSpPr>
          <p:spPr>
            <a:xfrm>
              <a:off x="6926504" y="5410359"/>
              <a:ext cx="494270" cy="494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80" name="直线箭头连接符 79">
              <a:extLst>
                <a:ext uri="{FF2B5EF4-FFF2-40B4-BE49-F238E27FC236}">
                  <a16:creationId xmlns:a16="http://schemas.microsoft.com/office/drawing/2014/main" id="{EE7E2AE3-CCDE-AF26-1CED-AEDC98E299E8}"/>
                </a:ext>
              </a:extLst>
            </p:cNvPr>
            <p:cNvCxnSpPr>
              <a:stCxn id="72" idx="6"/>
              <a:endCxn id="76" idx="2"/>
            </p:cNvCxnSpPr>
            <p:nvPr/>
          </p:nvCxnSpPr>
          <p:spPr>
            <a:xfrm flipV="1">
              <a:off x="5791733" y="3639151"/>
              <a:ext cx="1134771" cy="319031"/>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1" name="直线箭头连接符 80">
              <a:extLst>
                <a:ext uri="{FF2B5EF4-FFF2-40B4-BE49-F238E27FC236}">
                  <a16:creationId xmlns:a16="http://schemas.microsoft.com/office/drawing/2014/main" id="{6F0B2189-7F67-947C-EDE7-0CAF4BCFF0CE}"/>
                </a:ext>
              </a:extLst>
            </p:cNvPr>
            <p:cNvCxnSpPr>
              <a:cxnSpLocks/>
              <a:stCxn id="72" idx="6"/>
              <a:endCxn id="77" idx="2"/>
            </p:cNvCxnSpPr>
            <p:nvPr/>
          </p:nvCxnSpPr>
          <p:spPr>
            <a:xfrm>
              <a:off x="5791733" y="3958182"/>
              <a:ext cx="1134771" cy="34179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2" name="直线箭头连接符 81">
              <a:extLst>
                <a:ext uri="{FF2B5EF4-FFF2-40B4-BE49-F238E27FC236}">
                  <a16:creationId xmlns:a16="http://schemas.microsoft.com/office/drawing/2014/main" id="{B6BD78F8-C285-4F19-6F8A-3B45CEF9EE76}"/>
                </a:ext>
              </a:extLst>
            </p:cNvPr>
            <p:cNvCxnSpPr>
              <a:cxnSpLocks/>
              <a:stCxn id="72" idx="6"/>
              <a:endCxn id="78" idx="2"/>
            </p:cNvCxnSpPr>
            <p:nvPr/>
          </p:nvCxnSpPr>
          <p:spPr>
            <a:xfrm>
              <a:off x="5791733" y="3958182"/>
              <a:ext cx="1134771" cy="10644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3" name="直线箭头连接符 82">
              <a:extLst>
                <a:ext uri="{FF2B5EF4-FFF2-40B4-BE49-F238E27FC236}">
                  <a16:creationId xmlns:a16="http://schemas.microsoft.com/office/drawing/2014/main" id="{79E4B83A-F798-6DD0-C2C4-AD91D57B0BA9}"/>
                </a:ext>
              </a:extLst>
            </p:cNvPr>
            <p:cNvCxnSpPr>
              <a:cxnSpLocks/>
              <a:stCxn id="72" idx="6"/>
              <a:endCxn id="79" idx="2"/>
            </p:cNvCxnSpPr>
            <p:nvPr/>
          </p:nvCxnSpPr>
          <p:spPr>
            <a:xfrm>
              <a:off x="5791733" y="3958182"/>
              <a:ext cx="1134771" cy="1699312"/>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4" name="直线箭头连接符 83">
              <a:extLst>
                <a:ext uri="{FF2B5EF4-FFF2-40B4-BE49-F238E27FC236}">
                  <a16:creationId xmlns:a16="http://schemas.microsoft.com/office/drawing/2014/main" id="{8260B456-13C6-B623-4271-09502A8349EB}"/>
                </a:ext>
              </a:extLst>
            </p:cNvPr>
            <p:cNvCxnSpPr>
              <a:cxnSpLocks/>
              <a:stCxn id="73" idx="6"/>
              <a:endCxn id="76" idx="2"/>
            </p:cNvCxnSpPr>
            <p:nvPr/>
          </p:nvCxnSpPr>
          <p:spPr>
            <a:xfrm flipV="1">
              <a:off x="5791733" y="3639151"/>
              <a:ext cx="1134771" cy="99472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5" name="直线箭头连接符 84">
              <a:extLst>
                <a:ext uri="{FF2B5EF4-FFF2-40B4-BE49-F238E27FC236}">
                  <a16:creationId xmlns:a16="http://schemas.microsoft.com/office/drawing/2014/main" id="{A2247AE9-532B-3BCC-91D7-F94623FA7DEC}"/>
                </a:ext>
              </a:extLst>
            </p:cNvPr>
            <p:cNvCxnSpPr>
              <a:cxnSpLocks/>
              <a:stCxn id="73" idx="6"/>
              <a:endCxn id="77" idx="2"/>
            </p:cNvCxnSpPr>
            <p:nvPr/>
          </p:nvCxnSpPr>
          <p:spPr>
            <a:xfrm flipV="1">
              <a:off x="5791733" y="4299981"/>
              <a:ext cx="1134771" cy="333890"/>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6" name="直线箭头连接符 85">
              <a:extLst>
                <a:ext uri="{FF2B5EF4-FFF2-40B4-BE49-F238E27FC236}">
                  <a16:creationId xmlns:a16="http://schemas.microsoft.com/office/drawing/2014/main" id="{D6B7F46F-2723-5793-492A-2021B089A104}"/>
                </a:ext>
              </a:extLst>
            </p:cNvPr>
            <p:cNvCxnSpPr>
              <a:cxnSpLocks/>
              <a:stCxn id="73" idx="6"/>
              <a:endCxn id="78" idx="2"/>
            </p:cNvCxnSpPr>
            <p:nvPr/>
          </p:nvCxnSpPr>
          <p:spPr>
            <a:xfrm>
              <a:off x="5791733" y="4633871"/>
              <a:ext cx="1134771" cy="3887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7" name="直线箭头连接符 86">
              <a:extLst>
                <a:ext uri="{FF2B5EF4-FFF2-40B4-BE49-F238E27FC236}">
                  <a16:creationId xmlns:a16="http://schemas.microsoft.com/office/drawing/2014/main" id="{AC34F488-3572-0CF6-7E52-0487B43CE5D1}"/>
                </a:ext>
              </a:extLst>
            </p:cNvPr>
            <p:cNvCxnSpPr>
              <a:cxnSpLocks/>
              <a:stCxn id="73" idx="6"/>
              <a:endCxn id="79" idx="2"/>
            </p:cNvCxnSpPr>
            <p:nvPr/>
          </p:nvCxnSpPr>
          <p:spPr>
            <a:xfrm>
              <a:off x="5791733" y="4633871"/>
              <a:ext cx="1134771" cy="1023623"/>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8" name="直线箭头连接符 87">
              <a:extLst>
                <a:ext uri="{FF2B5EF4-FFF2-40B4-BE49-F238E27FC236}">
                  <a16:creationId xmlns:a16="http://schemas.microsoft.com/office/drawing/2014/main" id="{56C40909-1AC1-1B88-816B-40B946431C15}"/>
                </a:ext>
              </a:extLst>
            </p:cNvPr>
            <p:cNvCxnSpPr>
              <a:cxnSpLocks/>
              <a:stCxn id="74" idx="6"/>
              <a:endCxn id="76" idx="2"/>
            </p:cNvCxnSpPr>
            <p:nvPr/>
          </p:nvCxnSpPr>
          <p:spPr>
            <a:xfrm flipV="1">
              <a:off x="5791733" y="3639151"/>
              <a:ext cx="1134771" cy="166001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89" name="直线箭头连接符 88">
              <a:extLst>
                <a:ext uri="{FF2B5EF4-FFF2-40B4-BE49-F238E27FC236}">
                  <a16:creationId xmlns:a16="http://schemas.microsoft.com/office/drawing/2014/main" id="{2AE26778-4D2C-CA41-EE31-79B2C8F6C7F8}"/>
                </a:ext>
              </a:extLst>
            </p:cNvPr>
            <p:cNvCxnSpPr>
              <a:cxnSpLocks/>
              <a:stCxn id="74" idx="6"/>
              <a:endCxn id="77" idx="2"/>
            </p:cNvCxnSpPr>
            <p:nvPr/>
          </p:nvCxnSpPr>
          <p:spPr>
            <a:xfrm flipV="1">
              <a:off x="5791733" y="4299981"/>
              <a:ext cx="1134771" cy="999189"/>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0" name="直线箭头连接符 89">
              <a:extLst>
                <a:ext uri="{FF2B5EF4-FFF2-40B4-BE49-F238E27FC236}">
                  <a16:creationId xmlns:a16="http://schemas.microsoft.com/office/drawing/2014/main" id="{400129E6-D492-64DC-996C-77674C65718A}"/>
                </a:ext>
              </a:extLst>
            </p:cNvPr>
            <p:cNvCxnSpPr>
              <a:cxnSpLocks/>
              <a:stCxn id="74" idx="6"/>
              <a:endCxn id="78" idx="2"/>
            </p:cNvCxnSpPr>
            <p:nvPr/>
          </p:nvCxnSpPr>
          <p:spPr>
            <a:xfrm flipV="1">
              <a:off x="5791733" y="5022594"/>
              <a:ext cx="1134771" cy="276576"/>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cxnSp>
          <p:nvCxnSpPr>
            <p:cNvPr id="91" name="直线箭头连接符 90">
              <a:extLst>
                <a:ext uri="{FF2B5EF4-FFF2-40B4-BE49-F238E27FC236}">
                  <a16:creationId xmlns:a16="http://schemas.microsoft.com/office/drawing/2014/main" id="{4E077907-7E7F-1A0B-CCB4-60C414CC3DDF}"/>
                </a:ext>
              </a:extLst>
            </p:cNvPr>
            <p:cNvCxnSpPr>
              <a:cxnSpLocks/>
              <a:stCxn id="74" idx="6"/>
              <a:endCxn id="79" idx="2"/>
            </p:cNvCxnSpPr>
            <p:nvPr/>
          </p:nvCxnSpPr>
          <p:spPr>
            <a:xfrm>
              <a:off x="5791733" y="5299170"/>
              <a:ext cx="1134771" cy="358324"/>
            </a:xfrm>
            <a:prstGeom prst="straightConnector1">
              <a:avLst/>
            </a:prstGeom>
            <a:ln w="19050">
              <a:tailEnd type="stealth"/>
            </a:ln>
          </p:spPr>
          <p:style>
            <a:lnRef idx="1">
              <a:schemeClr val="dk1"/>
            </a:lnRef>
            <a:fillRef idx="0">
              <a:schemeClr val="dk1"/>
            </a:fillRef>
            <a:effectRef idx="0">
              <a:schemeClr val="dk1"/>
            </a:effectRef>
            <a:fontRef idx="minor">
              <a:schemeClr val="tx1"/>
            </a:fontRef>
          </p:style>
        </p:cxnSp>
      </p:grpSp>
      <p:sp>
        <p:nvSpPr>
          <p:cNvPr id="92" name="文本框 91">
            <a:extLst>
              <a:ext uri="{FF2B5EF4-FFF2-40B4-BE49-F238E27FC236}">
                <a16:creationId xmlns:a16="http://schemas.microsoft.com/office/drawing/2014/main" id="{725D0CDA-E6FB-E280-2F94-005E4044B05A}"/>
              </a:ext>
            </a:extLst>
          </p:cNvPr>
          <p:cNvSpPr txBox="1"/>
          <p:nvPr/>
        </p:nvSpPr>
        <p:spPr>
          <a:xfrm>
            <a:off x="10797540" y="5460325"/>
            <a:ext cx="1107996" cy="369332"/>
          </a:xfrm>
          <a:prstGeom prst="rect">
            <a:avLst/>
          </a:prstGeom>
          <a:noFill/>
        </p:spPr>
        <p:txBody>
          <a:bodyPr wrap="none" rtlCol="0">
            <a:spAutoFit/>
          </a:bodyPr>
          <a:lstStyle/>
          <a:p>
            <a:r>
              <a:rPr kumimoji="1" lang="zh-CN" altLang="en-US" dirty="0"/>
              <a:t>全连接层</a:t>
            </a:r>
          </a:p>
        </p:txBody>
      </p:sp>
      <p:sp>
        <p:nvSpPr>
          <p:cNvPr id="94" name="乘 93">
            <a:extLst>
              <a:ext uri="{FF2B5EF4-FFF2-40B4-BE49-F238E27FC236}">
                <a16:creationId xmlns:a16="http://schemas.microsoft.com/office/drawing/2014/main" id="{FC618E96-C0F8-5005-C79E-F027D60535F0}"/>
              </a:ext>
            </a:extLst>
          </p:cNvPr>
          <p:cNvSpPr/>
          <p:nvPr/>
        </p:nvSpPr>
        <p:spPr>
          <a:xfrm>
            <a:off x="3418172" y="5919839"/>
            <a:ext cx="410213" cy="369332"/>
          </a:xfrm>
          <a:prstGeom prst="mathMultiply">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5" name="文本框 94">
            <a:extLst>
              <a:ext uri="{FF2B5EF4-FFF2-40B4-BE49-F238E27FC236}">
                <a16:creationId xmlns:a16="http://schemas.microsoft.com/office/drawing/2014/main" id="{A9D58C2D-C668-8BF4-D875-09D4AFEBBEAA}"/>
              </a:ext>
            </a:extLst>
          </p:cNvPr>
          <p:cNvSpPr txBox="1"/>
          <p:nvPr/>
        </p:nvSpPr>
        <p:spPr>
          <a:xfrm>
            <a:off x="3801239" y="5793794"/>
            <a:ext cx="548548" cy="584775"/>
          </a:xfrm>
          <a:prstGeom prst="rect">
            <a:avLst/>
          </a:prstGeom>
          <a:noFill/>
        </p:spPr>
        <p:txBody>
          <a:bodyPr wrap="none" rtlCol="0">
            <a:spAutoFit/>
          </a:bodyPr>
          <a:lstStyle/>
          <a:p>
            <a:r>
              <a:rPr kumimoji="1" lang="zh-CN" altLang="en-US" sz="3200" b="1" dirty="0"/>
              <a:t> </a:t>
            </a:r>
            <a:r>
              <a:rPr kumimoji="1" lang="en-US" altLang="zh-CN" sz="3200" b="1" dirty="0"/>
              <a:t>N</a:t>
            </a:r>
            <a:endParaRPr kumimoji="1" lang="zh-CN" altLang="en-US" sz="3200" b="1" dirty="0"/>
          </a:p>
        </p:txBody>
      </p:sp>
      <p:sp>
        <p:nvSpPr>
          <p:cNvPr id="96" name="乘 95">
            <a:extLst>
              <a:ext uri="{FF2B5EF4-FFF2-40B4-BE49-F238E27FC236}">
                <a16:creationId xmlns:a16="http://schemas.microsoft.com/office/drawing/2014/main" id="{9DCEC55F-949A-3E16-8568-DCABADD6250B}"/>
              </a:ext>
            </a:extLst>
          </p:cNvPr>
          <p:cNvSpPr/>
          <p:nvPr/>
        </p:nvSpPr>
        <p:spPr>
          <a:xfrm>
            <a:off x="7931141" y="5872992"/>
            <a:ext cx="410213" cy="369332"/>
          </a:xfrm>
          <a:prstGeom prst="mathMultiply">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7" name="文本框 96">
            <a:extLst>
              <a:ext uri="{FF2B5EF4-FFF2-40B4-BE49-F238E27FC236}">
                <a16:creationId xmlns:a16="http://schemas.microsoft.com/office/drawing/2014/main" id="{C409BECE-F978-2FDF-E940-A62672D8215A}"/>
              </a:ext>
            </a:extLst>
          </p:cNvPr>
          <p:cNvSpPr txBox="1"/>
          <p:nvPr/>
        </p:nvSpPr>
        <p:spPr>
          <a:xfrm>
            <a:off x="8212397" y="5733379"/>
            <a:ext cx="502061" cy="584775"/>
          </a:xfrm>
          <a:prstGeom prst="rect">
            <a:avLst/>
          </a:prstGeom>
          <a:noFill/>
        </p:spPr>
        <p:txBody>
          <a:bodyPr wrap="none" rtlCol="0">
            <a:spAutoFit/>
          </a:bodyPr>
          <a:lstStyle/>
          <a:p>
            <a:r>
              <a:rPr kumimoji="1" lang="zh-CN" altLang="en-US" sz="3200" b="1" dirty="0"/>
              <a:t> </a:t>
            </a:r>
            <a:r>
              <a:rPr kumimoji="1" lang="en-US" altLang="zh-CN" sz="3200" b="1" dirty="0"/>
              <a:t>K</a:t>
            </a:r>
            <a:endParaRPr kumimoji="1" lang="zh-CN" altLang="en-US" sz="3200" b="1" dirty="0"/>
          </a:p>
        </p:txBody>
      </p:sp>
    </p:spTree>
    <p:extLst>
      <p:ext uri="{BB962C8B-B14F-4D97-AF65-F5344CB8AC3E}">
        <p14:creationId xmlns:p14="http://schemas.microsoft.com/office/powerpoint/2010/main" val="4073590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E94C7-54B0-62F1-0D17-193AC2A914B6}"/>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AA458040-63C1-B621-A6D3-158D1E1F9DDD}"/>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5E7410D-8932-DBF0-4820-639B4CB08BC9}"/>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F89593FA-50A9-4AF4-A6E5-388CDAA6F551}"/>
              </a:ext>
            </a:extLst>
          </p:cNvPr>
          <p:cNvSpPr/>
          <p:nvPr/>
        </p:nvSpPr>
        <p:spPr bwMode="auto">
          <a:xfrm>
            <a:off x="405167" y="1392551"/>
            <a:ext cx="11381666" cy="1822135"/>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已知对于</a:t>
            </a:r>
            <a:r>
              <a:rPr lang="en-US" altLang="zh-CN" sz="2400" dirty="0"/>
              <a:t>L</a:t>
            </a:r>
            <a:r>
              <a:rPr lang="zh-CN" altLang="en-US" sz="2400" dirty="0"/>
              <a:t>层尺寸为</a:t>
            </a:r>
            <a:r>
              <a:rPr lang="en-US" altLang="zh-CN" sz="2400" dirty="0"/>
              <a:t>K </a:t>
            </a:r>
            <a:r>
              <a:rPr lang="zh-CN" altLang="en-US" sz="2400" dirty="0"/>
              <a:t>的卷积核，感知野等于 </a:t>
            </a:r>
            <a:r>
              <a:rPr lang="en-US" altLang="zh-CN" sz="2400" dirty="0"/>
              <a:t>1+L*(K-1)</a:t>
            </a:r>
            <a:r>
              <a:rPr lang="zh-CN" altLang="en-US" sz="2400" dirty="0"/>
              <a:t>。</a:t>
            </a:r>
            <a:endParaRPr lang="en-US" altLang="zh-CN" sz="2400" dirty="0"/>
          </a:p>
          <a:p>
            <a:r>
              <a:rPr lang="zh-CN" altLang="en-US" sz="2400" dirty="0"/>
              <a:t>如果输入图像为 </a:t>
            </a:r>
            <a:r>
              <a:rPr lang="en-US" altLang="zh-CN" sz="2400" dirty="0"/>
              <a:t>3x224x224</a:t>
            </a:r>
            <a:r>
              <a:rPr lang="zh-CN" altLang="en-US" sz="2400" dirty="0"/>
              <a:t>，卷积核尺寸为 </a:t>
            </a:r>
            <a:r>
              <a:rPr lang="en-US" altLang="zh-CN" sz="2400" dirty="0"/>
              <a:t>3</a:t>
            </a:r>
            <a:r>
              <a:rPr lang="zh-CN" altLang="en-US" sz="2400" dirty="0"/>
              <a:t>*</a:t>
            </a:r>
            <a:r>
              <a:rPr lang="en-US" altLang="zh-CN" sz="2400" dirty="0"/>
              <a:t>3</a:t>
            </a:r>
            <a:r>
              <a:rPr lang="zh-CN" altLang="en-US" sz="2400" dirty="0"/>
              <a:t>*</a:t>
            </a:r>
            <a:r>
              <a:rPr lang="en-US" altLang="zh-CN" sz="2400" dirty="0"/>
              <a:t>3</a:t>
            </a:r>
            <a:r>
              <a:rPr lang="zh-CN" altLang="en-US" sz="2400" dirty="0"/>
              <a:t>，那么需要多少层神经网络才能获得完整的感知野？</a:t>
            </a:r>
            <a:r>
              <a:rPr lang="en-US" altLang="zh-CN" sz="2400" dirty="0"/>
              <a:t>--</a:t>
            </a:r>
            <a:r>
              <a:rPr lang="zh-CN" altLang="en-US" sz="2400" dirty="0"/>
              <a:t>至少 </a:t>
            </a:r>
            <a:r>
              <a:rPr lang="en-US" altLang="zh-CN" sz="2400" dirty="0"/>
              <a:t>112 </a:t>
            </a:r>
            <a:r>
              <a:rPr lang="zh-CN" altLang="en-US" sz="2400" dirty="0"/>
              <a:t>层，这带来巨大的参数量</a:t>
            </a:r>
            <a:endParaRPr lang="en-US" altLang="zh-CN" sz="2400" dirty="0"/>
          </a:p>
        </p:txBody>
      </p:sp>
      <p:sp>
        <p:nvSpPr>
          <p:cNvPr id="114" name="object 5">
            <a:extLst>
              <a:ext uri="{FF2B5EF4-FFF2-40B4-BE49-F238E27FC236}">
                <a16:creationId xmlns:a16="http://schemas.microsoft.com/office/drawing/2014/main" id="{88AED8A6-A710-E4D0-5726-DCB6EFAF4E46}"/>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回顾感知野的计算</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21" name="组合 20">
            <a:extLst>
              <a:ext uri="{FF2B5EF4-FFF2-40B4-BE49-F238E27FC236}">
                <a16:creationId xmlns:a16="http://schemas.microsoft.com/office/drawing/2014/main" id="{12D28479-7628-B3A1-B7D7-064B9727F15B}"/>
              </a:ext>
            </a:extLst>
          </p:cNvPr>
          <p:cNvGrpSpPr/>
          <p:nvPr/>
        </p:nvGrpSpPr>
        <p:grpSpPr>
          <a:xfrm>
            <a:off x="234072" y="3643314"/>
            <a:ext cx="8051778" cy="2427039"/>
            <a:chOff x="336550" y="3870816"/>
            <a:chExt cx="8051778" cy="2427039"/>
          </a:xfrm>
        </p:grpSpPr>
        <p:pic>
          <p:nvPicPr>
            <p:cNvPr id="3" name="图片 2">
              <a:extLst>
                <a:ext uri="{FF2B5EF4-FFF2-40B4-BE49-F238E27FC236}">
                  <a16:creationId xmlns:a16="http://schemas.microsoft.com/office/drawing/2014/main" id="{928776B4-5C55-62C2-ABF4-DB32348B5179}"/>
                </a:ext>
              </a:extLst>
            </p:cNvPr>
            <p:cNvPicPr>
              <a:picLocks noChangeAspect="1"/>
            </p:cNvPicPr>
            <p:nvPr/>
          </p:nvPicPr>
          <p:blipFill>
            <a:blip r:embed="rId3"/>
            <a:stretch>
              <a:fillRect/>
            </a:stretch>
          </p:blipFill>
          <p:spPr>
            <a:xfrm>
              <a:off x="336550" y="3870816"/>
              <a:ext cx="8051778" cy="1960563"/>
            </a:xfrm>
            <a:prstGeom prst="rect">
              <a:avLst/>
            </a:prstGeom>
          </p:spPr>
        </p:pic>
        <p:sp>
          <p:nvSpPr>
            <p:cNvPr id="9" name="文本框 8">
              <a:extLst>
                <a:ext uri="{FF2B5EF4-FFF2-40B4-BE49-F238E27FC236}">
                  <a16:creationId xmlns:a16="http://schemas.microsoft.com/office/drawing/2014/main" id="{049F554F-C994-C420-B45F-BDC43EAEA24A}"/>
                </a:ext>
              </a:extLst>
            </p:cNvPr>
            <p:cNvSpPr txBox="1"/>
            <p:nvPr/>
          </p:nvSpPr>
          <p:spPr>
            <a:xfrm>
              <a:off x="928688" y="5928523"/>
              <a:ext cx="646331" cy="369332"/>
            </a:xfrm>
            <a:prstGeom prst="rect">
              <a:avLst/>
            </a:prstGeom>
            <a:noFill/>
          </p:spPr>
          <p:txBody>
            <a:bodyPr wrap="none" rtlCol="0">
              <a:spAutoFit/>
            </a:bodyPr>
            <a:lstStyle/>
            <a:p>
              <a:r>
                <a:rPr kumimoji="1" lang="zh-CN" altLang="en-US" dirty="0"/>
                <a:t>输入</a:t>
              </a:r>
            </a:p>
          </p:txBody>
        </p:sp>
        <p:sp>
          <p:nvSpPr>
            <p:cNvPr id="11" name="文本框 10">
              <a:extLst>
                <a:ext uri="{FF2B5EF4-FFF2-40B4-BE49-F238E27FC236}">
                  <a16:creationId xmlns:a16="http://schemas.microsoft.com/office/drawing/2014/main" id="{0B853202-8C1C-91B4-A5CC-6012F8089A85}"/>
                </a:ext>
              </a:extLst>
            </p:cNvPr>
            <p:cNvSpPr txBox="1"/>
            <p:nvPr/>
          </p:nvSpPr>
          <p:spPr>
            <a:xfrm>
              <a:off x="7215188" y="5928523"/>
              <a:ext cx="646331" cy="369332"/>
            </a:xfrm>
            <a:prstGeom prst="rect">
              <a:avLst/>
            </a:prstGeom>
            <a:noFill/>
          </p:spPr>
          <p:txBody>
            <a:bodyPr wrap="none" rtlCol="0">
              <a:spAutoFit/>
            </a:bodyPr>
            <a:lstStyle/>
            <a:p>
              <a:r>
                <a:rPr kumimoji="1" lang="zh-CN" altLang="en-US" dirty="0"/>
                <a:t>输出</a:t>
              </a:r>
            </a:p>
          </p:txBody>
        </p:sp>
      </p:grpSp>
      <p:sp>
        <p:nvSpPr>
          <p:cNvPr id="24" name="矩形 23">
            <a:extLst>
              <a:ext uri="{FF2B5EF4-FFF2-40B4-BE49-F238E27FC236}">
                <a16:creationId xmlns:a16="http://schemas.microsoft.com/office/drawing/2014/main" id="{ADC309C8-1E40-BF20-BAB1-EA3B27F64879}"/>
              </a:ext>
            </a:extLst>
          </p:cNvPr>
          <p:cNvSpPr/>
          <p:nvPr/>
        </p:nvSpPr>
        <p:spPr bwMode="auto">
          <a:xfrm>
            <a:off x="8428726" y="3801664"/>
            <a:ext cx="3201300" cy="1822135"/>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如果能够降低数据体的尺寸，能够显著的解决该问题</a:t>
            </a:r>
            <a:endParaRPr lang="en-US" altLang="zh-CN" sz="2400" dirty="0"/>
          </a:p>
        </p:txBody>
      </p:sp>
    </p:spTree>
    <p:extLst>
      <p:ext uri="{BB962C8B-B14F-4D97-AF65-F5344CB8AC3E}">
        <p14:creationId xmlns:p14="http://schemas.microsoft.com/office/powerpoint/2010/main" val="3344450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E5E66-59C4-0D1D-5209-8B0A87B427F5}"/>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1206C1E9-366F-A515-D15F-2D8D8DE436B8}"/>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517F7AF1-29DA-0165-5FF3-CB2FF960D909}"/>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C9E2446F-6466-13E2-6826-51E26DA60F87}"/>
              </a:ext>
            </a:extLst>
          </p:cNvPr>
          <p:cNvSpPr/>
          <p:nvPr/>
        </p:nvSpPr>
        <p:spPr bwMode="auto">
          <a:xfrm>
            <a:off x="405167" y="1392552"/>
            <a:ext cx="11381666" cy="156496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为了降低数据体的尺寸，卷积神经网络一般会在连续的卷积层之间周期性的插入池化层。最常见的池化操作是取</a:t>
            </a:r>
            <a:r>
              <a:rPr lang="en-US" altLang="zh-CN" sz="2400" dirty="0"/>
              <a:t> MAX </a:t>
            </a:r>
            <a:r>
              <a:rPr lang="zh-CN" altLang="en-US" sz="2400" dirty="0"/>
              <a:t>值（</a:t>
            </a:r>
            <a:r>
              <a:rPr lang="en-US" altLang="zh-CN" sz="2400" dirty="0"/>
              <a:t>Max</a:t>
            </a:r>
            <a:r>
              <a:rPr lang="zh-CN" altLang="en-US" sz="2400" dirty="0"/>
              <a:t> </a:t>
            </a:r>
            <a:r>
              <a:rPr lang="en-US" altLang="zh-CN" sz="2400" dirty="0"/>
              <a:t>pooling</a:t>
            </a:r>
            <a:r>
              <a:rPr lang="zh-CN" altLang="en-US" sz="2400" dirty="0"/>
              <a:t>）。</a:t>
            </a:r>
            <a:endParaRPr lang="en-US" altLang="zh-CN" sz="2400" dirty="0"/>
          </a:p>
        </p:txBody>
      </p:sp>
      <p:sp>
        <p:nvSpPr>
          <p:cNvPr id="114" name="object 5">
            <a:extLst>
              <a:ext uri="{FF2B5EF4-FFF2-40B4-BE49-F238E27FC236}">
                <a16:creationId xmlns:a16="http://schemas.microsoft.com/office/drawing/2014/main" id="{41E8905B-7D77-EBAE-D976-4062A0E382D8}"/>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池化层</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9F6E34E3-C315-E99D-E937-E67A8EB8A429}"/>
              </a:ext>
            </a:extLst>
          </p:cNvPr>
          <p:cNvPicPr>
            <a:picLocks noChangeAspect="1"/>
          </p:cNvPicPr>
          <p:nvPr/>
        </p:nvPicPr>
        <p:blipFill>
          <a:blip r:embed="rId3"/>
          <a:stretch>
            <a:fillRect/>
          </a:stretch>
        </p:blipFill>
        <p:spPr>
          <a:xfrm>
            <a:off x="1794417" y="3167302"/>
            <a:ext cx="7772400" cy="3466764"/>
          </a:xfrm>
          <a:prstGeom prst="rect">
            <a:avLst/>
          </a:prstGeom>
        </p:spPr>
      </p:pic>
    </p:spTree>
    <p:extLst>
      <p:ext uri="{BB962C8B-B14F-4D97-AF65-F5344CB8AC3E}">
        <p14:creationId xmlns:p14="http://schemas.microsoft.com/office/powerpoint/2010/main" val="3765938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08DDE-6D42-1C72-124F-244568EB3457}"/>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D4A4D0CE-0BE4-58B8-34F0-D28A5AEE15AE}"/>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CCA824E1-37B6-D6F1-E547-E99FAC1BF37F}"/>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43BC8F41-FBB2-50D0-1B61-A74AA28B0E1A}"/>
              </a:ext>
            </a:extLst>
          </p:cNvPr>
          <p:cNvSpPr/>
          <p:nvPr/>
        </p:nvSpPr>
        <p:spPr bwMode="auto">
          <a:xfrm>
            <a:off x="392810" y="1689113"/>
            <a:ext cx="5303655" cy="4236723"/>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池化层数据体尺寸与超参数的关系：</a:t>
            </a:r>
            <a:endParaRPr lang="en-US" altLang="zh-CN" sz="2400" dirty="0"/>
          </a:p>
          <a:p>
            <a:r>
              <a:rPr lang="zh-CN" altLang="en-US" sz="2400" dirty="0"/>
              <a:t>输入尺度：</a:t>
            </a:r>
            <a:r>
              <a:rPr lang="en-US" altLang="zh-CN" sz="2400" dirty="0"/>
              <a:t>C</a:t>
            </a:r>
            <a:r>
              <a:rPr lang="zh-CN" altLang="en-US" sz="2400" dirty="0"/>
              <a:t> </a:t>
            </a:r>
            <a:r>
              <a:rPr lang="en-US" altLang="zh-CN" sz="2400" dirty="0"/>
              <a:t>x</a:t>
            </a:r>
            <a:r>
              <a:rPr lang="zh-CN" altLang="en-US" sz="2400" dirty="0"/>
              <a:t> </a:t>
            </a:r>
            <a:r>
              <a:rPr lang="en-US" altLang="zh-CN" sz="2400" dirty="0"/>
              <a:t>H</a:t>
            </a:r>
            <a:r>
              <a:rPr lang="zh-CN" altLang="en-US" sz="2400" dirty="0"/>
              <a:t> </a:t>
            </a:r>
            <a:r>
              <a:rPr lang="en-US" altLang="zh-CN" sz="2400" dirty="0"/>
              <a:t>x</a:t>
            </a:r>
            <a:r>
              <a:rPr lang="zh-CN" altLang="en-US" sz="2400" dirty="0"/>
              <a:t> </a:t>
            </a:r>
            <a:r>
              <a:rPr lang="en-US" altLang="zh-CN" sz="2400" dirty="0"/>
              <a:t>W</a:t>
            </a:r>
          </a:p>
          <a:p>
            <a:r>
              <a:rPr lang="zh-CN" altLang="en-US" sz="2400" dirty="0"/>
              <a:t>超参数：</a:t>
            </a:r>
            <a:endParaRPr lang="en-US" altLang="zh-CN" sz="2400" dirty="0"/>
          </a:p>
          <a:p>
            <a:pPr marL="800100" lvl="1" indent="-342900">
              <a:buFont typeface="Arial" panose="020B0604020202020204" pitchFamily="34" charset="0"/>
              <a:buChar char="•"/>
            </a:pPr>
            <a:r>
              <a:rPr lang="zh-CN" altLang="en-US" sz="2400" dirty="0"/>
              <a:t>核尺寸：</a:t>
            </a:r>
            <a:r>
              <a:rPr lang="en-US" altLang="zh-CN" sz="2400" dirty="0"/>
              <a:t>K</a:t>
            </a:r>
          </a:p>
          <a:p>
            <a:pPr marL="800100" lvl="1" indent="-342900">
              <a:buFont typeface="Arial" panose="020B0604020202020204" pitchFamily="34" charset="0"/>
              <a:buChar char="•"/>
            </a:pPr>
            <a:r>
              <a:rPr lang="zh-CN" altLang="en-US" sz="2400" dirty="0"/>
              <a:t>步长：</a:t>
            </a:r>
            <a:r>
              <a:rPr lang="en-US" altLang="zh-CN" sz="2400" dirty="0"/>
              <a:t>S</a:t>
            </a:r>
          </a:p>
          <a:p>
            <a:pPr marL="800100" lvl="1" indent="-342900">
              <a:buFont typeface="Arial" panose="020B0604020202020204" pitchFamily="34" charset="0"/>
              <a:buChar char="•"/>
            </a:pPr>
            <a:r>
              <a:rPr lang="zh-CN" altLang="en-US" sz="2400" dirty="0"/>
              <a:t>池化操作：</a:t>
            </a:r>
            <a:r>
              <a:rPr lang="en-US" altLang="zh-CN" sz="2400" dirty="0"/>
              <a:t>max</a:t>
            </a:r>
            <a:r>
              <a:rPr lang="zh-CN" altLang="en-US" sz="2400" dirty="0"/>
              <a:t>，</a:t>
            </a:r>
            <a:r>
              <a:rPr lang="en-US" altLang="zh-CN" sz="2400" dirty="0"/>
              <a:t>avg</a:t>
            </a:r>
          </a:p>
          <a:p>
            <a:r>
              <a:rPr lang="zh-CN" altLang="en-US" sz="2400" dirty="0"/>
              <a:t>输出尺寸：</a:t>
            </a:r>
            <a:r>
              <a:rPr lang="en-US" altLang="zh-CN" sz="2400" dirty="0"/>
              <a:t>C</a:t>
            </a:r>
            <a:r>
              <a:rPr lang="zh-CN" altLang="en-US" sz="2400" dirty="0"/>
              <a:t> </a:t>
            </a:r>
            <a:r>
              <a:rPr lang="en-US" altLang="zh-CN" sz="2400" dirty="0"/>
              <a:t>x</a:t>
            </a:r>
            <a:r>
              <a:rPr lang="zh-CN" altLang="en-US" sz="2400" dirty="0"/>
              <a:t> </a:t>
            </a:r>
            <a:r>
              <a:rPr lang="en-US" altLang="zh-CN" sz="2400" dirty="0"/>
              <a:t>H’ x W’</a:t>
            </a:r>
          </a:p>
          <a:p>
            <a:pPr marL="800100" lvl="1" indent="-342900">
              <a:buFont typeface="Arial" panose="020B0604020202020204" pitchFamily="34" charset="0"/>
              <a:buChar char="•"/>
            </a:pPr>
            <a:r>
              <a:rPr lang="en-US" altLang="zh-CN" sz="2400" dirty="0"/>
              <a:t>H’=(H-K)/S+1</a:t>
            </a:r>
          </a:p>
          <a:p>
            <a:pPr marL="800100" lvl="1" indent="-342900">
              <a:buFont typeface="Arial" panose="020B0604020202020204" pitchFamily="34" charset="0"/>
              <a:buChar char="•"/>
            </a:pPr>
            <a:r>
              <a:rPr lang="en-US" altLang="zh-CN" sz="2400" dirty="0"/>
              <a:t>W’=(W-K)/S+1</a:t>
            </a:r>
          </a:p>
          <a:p>
            <a:r>
              <a:rPr lang="zh-CN" altLang="en-US" sz="2400" dirty="0"/>
              <a:t>没有可学习的参数</a:t>
            </a:r>
            <a:endParaRPr lang="en-US" altLang="zh-CN" sz="2400" dirty="0"/>
          </a:p>
          <a:p>
            <a:r>
              <a:rPr lang="zh-CN" altLang="en-US" sz="2400" dirty="0"/>
              <a:t> </a:t>
            </a:r>
            <a:endParaRPr lang="en-US" altLang="zh-CN" sz="2400" dirty="0"/>
          </a:p>
        </p:txBody>
      </p:sp>
      <p:sp>
        <p:nvSpPr>
          <p:cNvPr id="114" name="object 5">
            <a:extLst>
              <a:ext uri="{FF2B5EF4-FFF2-40B4-BE49-F238E27FC236}">
                <a16:creationId xmlns:a16="http://schemas.microsoft.com/office/drawing/2014/main" id="{831D35D8-2091-7A80-3375-B4CB5353CAA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池化层</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0429CFD6-AC1B-B257-5E21-447D5A6D0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368309"/>
            <a:ext cx="5259473" cy="287832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F279BE65-0D14-4135-16A5-F5B61065451D}"/>
              </a:ext>
            </a:extLst>
          </p:cNvPr>
          <p:cNvSpPr/>
          <p:nvPr/>
        </p:nvSpPr>
        <p:spPr>
          <a:xfrm>
            <a:off x="8909222" y="3113903"/>
            <a:ext cx="1050324" cy="10873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右箭头 4">
            <a:extLst>
              <a:ext uri="{FF2B5EF4-FFF2-40B4-BE49-F238E27FC236}">
                <a16:creationId xmlns:a16="http://schemas.microsoft.com/office/drawing/2014/main" id="{0AC5D011-C41F-044C-1495-A15215530E3B}"/>
              </a:ext>
            </a:extLst>
          </p:cNvPr>
          <p:cNvSpPr/>
          <p:nvPr/>
        </p:nvSpPr>
        <p:spPr>
          <a:xfrm>
            <a:off x="9032789" y="3657600"/>
            <a:ext cx="926757" cy="345989"/>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25645BB8-C905-4EA5-E463-89BCA60AC1EA}"/>
              </a:ext>
            </a:extLst>
          </p:cNvPr>
          <p:cNvSpPr txBox="1"/>
          <p:nvPr/>
        </p:nvSpPr>
        <p:spPr>
          <a:xfrm>
            <a:off x="9032789" y="3288268"/>
            <a:ext cx="886781" cy="369332"/>
          </a:xfrm>
          <a:prstGeom prst="rect">
            <a:avLst/>
          </a:prstGeom>
          <a:noFill/>
        </p:spPr>
        <p:txBody>
          <a:bodyPr wrap="none" rtlCol="0">
            <a:spAutoFit/>
          </a:bodyPr>
          <a:lstStyle/>
          <a:p>
            <a:r>
              <a:rPr kumimoji="1" lang="en-US" altLang="zh-CN" dirty="0"/>
              <a:t>pooling</a:t>
            </a:r>
            <a:endParaRPr kumimoji="1" lang="zh-CN" altLang="en-US" dirty="0"/>
          </a:p>
        </p:txBody>
      </p:sp>
    </p:spTree>
    <p:extLst>
      <p:ext uri="{BB962C8B-B14F-4D97-AF65-F5344CB8AC3E}">
        <p14:creationId xmlns:p14="http://schemas.microsoft.com/office/powerpoint/2010/main" val="4029312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A7884-C895-9F1F-AF22-503B71213BFA}"/>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D01D05CE-A2FE-C75B-84C6-23137A6D329B}"/>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E6639D38-8E9B-CC20-648B-142BF1235B82}"/>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9FA63527-1E60-2496-B902-AFEF90F3CAD0}"/>
              </a:ext>
            </a:extLst>
          </p:cNvPr>
          <p:cNvSpPr/>
          <p:nvPr/>
        </p:nvSpPr>
        <p:spPr bwMode="auto">
          <a:xfrm>
            <a:off x="405167" y="1392552"/>
            <a:ext cx="11381666" cy="979174"/>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池化层的</a:t>
            </a:r>
            <a:r>
              <a:rPr lang="en-US" altLang="zh-CN" sz="2400" dirty="0"/>
              <a:t> </a:t>
            </a:r>
            <a:r>
              <a:rPr lang="en-US" altLang="zh-CN" sz="2400" dirty="0" err="1"/>
              <a:t>pytorch</a:t>
            </a:r>
            <a:r>
              <a:rPr lang="en-US" altLang="zh-CN" sz="2400" dirty="0"/>
              <a:t> </a:t>
            </a:r>
            <a:r>
              <a:rPr lang="zh-CN" altLang="en-US" sz="2400" dirty="0"/>
              <a:t>接口：</a:t>
            </a:r>
            <a:endParaRPr lang="en-US" altLang="zh-CN" sz="2400" dirty="0"/>
          </a:p>
        </p:txBody>
      </p:sp>
      <p:sp>
        <p:nvSpPr>
          <p:cNvPr id="114" name="object 5">
            <a:extLst>
              <a:ext uri="{FF2B5EF4-FFF2-40B4-BE49-F238E27FC236}">
                <a16:creationId xmlns:a16="http://schemas.microsoft.com/office/drawing/2014/main" id="{21C49F62-5476-4FB0-311C-6BE98482A8CF}"/>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池化层</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0A38D147-B344-E786-0360-A1056CE78CC5}"/>
              </a:ext>
            </a:extLst>
          </p:cNvPr>
          <p:cNvPicPr>
            <a:picLocks noChangeAspect="1"/>
          </p:cNvPicPr>
          <p:nvPr/>
        </p:nvPicPr>
        <p:blipFill>
          <a:blip r:embed="rId3"/>
          <a:stretch>
            <a:fillRect/>
          </a:stretch>
        </p:blipFill>
        <p:spPr>
          <a:xfrm>
            <a:off x="1938337" y="2581514"/>
            <a:ext cx="7772400" cy="3939073"/>
          </a:xfrm>
          <a:prstGeom prst="rect">
            <a:avLst/>
          </a:prstGeom>
        </p:spPr>
      </p:pic>
    </p:spTree>
    <p:extLst>
      <p:ext uri="{BB962C8B-B14F-4D97-AF65-F5344CB8AC3E}">
        <p14:creationId xmlns:p14="http://schemas.microsoft.com/office/powerpoint/2010/main" val="2308948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39726-43AF-166C-4398-8C76B2C573F6}"/>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25260E26-1496-93F2-5BB2-25BFE29A8E96}"/>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11FACBA8-9077-46B6-1C60-6C4D4C782C78}"/>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0FF8E354-973E-025D-0A22-E99436BDE8E8}"/>
              </a:ext>
            </a:extLst>
          </p:cNvPr>
          <p:cNvSpPr/>
          <p:nvPr/>
        </p:nvSpPr>
        <p:spPr bwMode="auto">
          <a:xfrm>
            <a:off x="147574" y="1246562"/>
            <a:ext cx="11596333" cy="965297"/>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普通池化</a:t>
            </a:r>
            <a:r>
              <a:rPr lang="en-US" altLang="zh-CN" sz="2400" dirty="0"/>
              <a:t>(General Pooling)</a:t>
            </a:r>
            <a:r>
              <a:rPr lang="zh-CN" altLang="en-US" sz="2400" dirty="0"/>
              <a:t>：除了最大汇聚，汇聚单元还可以使用其他的函数，比如平均汇聚（</a:t>
            </a:r>
            <a:r>
              <a:rPr lang="en" altLang="zh-CN" sz="2400" dirty="0"/>
              <a:t>average pooling</a:t>
            </a:r>
            <a:r>
              <a:rPr lang="zh-CN" altLang="en" sz="2400" dirty="0"/>
              <a:t>）</a:t>
            </a:r>
            <a:r>
              <a:rPr lang="zh-CN" altLang="en-US" sz="2400" dirty="0"/>
              <a:t>或</a:t>
            </a:r>
            <a:r>
              <a:rPr lang="en" altLang="zh-CN" sz="2400" dirty="0"/>
              <a:t>L-2</a:t>
            </a:r>
            <a:r>
              <a:rPr lang="zh-CN" altLang="en-US" sz="2400" dirty="0"/>
              <a:t>范式汇聚（</a:t>
            </a:r>
            <a:r>
              <a:rPr lang="en" altLang="zh-CN" sz="2400" dirty="0"/>
              <a:t>L2-norm pooling</a:t>
            </a:r>
            <a:r>
              <a:rPr lang="zh-CN" altLang="en" sz="2400" dirty="0"/>
              <a:t>）</a:t>
            </a:r>
            <a:r>
              <a:rPr lang="zh-CN" altLang="en-US" sz="2400" dirty="0"/>
              <a:t>，随机池化等等</a:t>
            </a:r>
            <a:r>
              <a:rPr lang="zh-CN" altLang="en" sz="2400" dirty="0"/>
              <a:t>。</a:t>
            </a:r>
            <a:endParaRPr lang="en-US" altLang="zh-CN" sz="2400" dirty="0"/>
          </a:p>
        </p:txBody>
      </p:sp>
      <p:sp>
        <p:nvSpPr>
          <p:cNvPr id="114" name="object 5">
            <a:extLst>
              <a:ext uri="{FF2B5EF4-FFF2-40B4-BE49-F238E27FC236}">
                <a16:creationId xmlns:a16="http://schemas.microsoft.com/office/drawing/2014/main" id="{F5FF20EA-9D7F-F87E-762B-C41305FC8651}"/>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其他形式</a:t>
            </a:r>
            <a:endParaRPr lang="en-US" sz="3600" spc="-10" dirty="0">
              <a:solidFill>
                <a:schemeClr val="bg1"/>
              </a:solidFill>
              <a:latin typeface="Calibri" panose="020F0502020204030204" pitchFamily="34" charset="0"/>
              <a:cs typeface="Calibri" panose="020F0502020204030204" pitchFamily="34" charset="0"/>
            </a:endParaRPr>
          </a:p>
        </p:txBody>
      </p:sp>
      <p:sp useBgFill="1">
        <p:nvSpPr>
          <p:cNvPr id="3" name="矩形 2">
            <a:extLst>
              <a:ext uri="{FF2B5EF4-FFF2-40B4-BE49-F238E27FC236}">
                <a16:creationId xmlns:a16="http://schemas.microsoft.com/office/drawing/2014/main" id="{EAFC03AD-5CC2-7246-6C03-F258F0AD95DB}"/>
              </a:ext>
            </a:extLst>
          </p:cNvPr>
          <p:cNvSpPr/>
          <p:nvPr/>
        </p:nvSpPr>
        <p:spPr bwMode="auto">
          <a:xfrm>
            <a:off x="147574" y="2418122"/>
            <a:ext cx="11596333" cy="1173075"/>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不使用池化：回忆卷积层的维度变化</a:t>
            </a:r>
            <a:r>
              <a:rPr lang="en-US" altLang="zh-CN" sz="2400" dirty="0"/>
              <a:t>—</a:t>
            </a:r>
            <a:r>
              <a:rPr lang="zh-CN" altLang="en-US" sz="2400" dirty="0"/>
              <a:t>其本身具有下采样效果。在</a:t>
            </a:r>
            <a:r>
              <a:rPr lang="en" altLang="zh-CN" sz="2400" dirty="0"/>
              <a:t>Striving for Simplicity: The All Convolutional Net</a:t>
            </a:r>
            <a:r>
              <a:rPr lang="zh-CN" altLang="en-US" sz="2400" dirty="0"/>
              <a:t>（</a:t>
            </a:r>
            <a:r>
              <a:rPr lang="en-US" altLang="zh-CN" sz="2400" dirty="0"/>
              <a:t>2015</a:t>
            </a:r>
            <a:r>
              <a:rPr lang="zh-CN" altLang="en-US" sz="2400" dirty="0"/>
              <a:t>）中，提出使用一种只有重复的卷积层组成的结构，抛弃汇聚层。通过在卷积层中使用更大的步长来降低数据体的尺寸。</a:t>
            </a:r>
            <a:endParaRPr lang="en-US" altLang="zh-CN" sz="2400" dirty="0"/>
          </a:p>
        </p:txBody>
      </p:sp>
      <p:pic>
        <p:nvPicPr>
          <p:cNvPr id="2" name="图片 1">
            <a:extLst>
              <a:ext uri="{FF2B5EF4-FFF2-40B4-BE49-F238E27FC236}">
                <a16:creationId xmlns:a16="http://schemas.microsoft.com/office/drawing/2014/main" id="{373E3E46-13B8-AA9B-72E9-12570F74172C}"/>
              </a:ext>
            </a:extLst>
          </p:cNvPr>
          <p:cNvPicPr>
            <a:picLocks noChangeAspect="1"/>
          </p:cNvPicPr>
          <p:nvPr/>
        </p:nvPicPr>
        <p:blipFill>
          <a:blip r:embed="rId3"/>
          <a:stretch>
            <a:fillRect/>
          </a:stretch>
        </p:blipFill>
        <p:spPr>
          <a:xfrm>
            <a:off x="2941657" y="3929449"/>
            <a:ext cx="6308685" cy="2570205"/>
          </a:xfrm>
          <a:prstGeom prst="rect">
            <a:avLst/>
          </a:prstGeom>
        </p:spPr>
      </p:pic>
    </p:spTree>
    <p:extLst>
      <p:ext uri="{BB962C8B-B14F-4D97-AF65-F5344CB8AC3E}">
        <p14:creationId xmlns:p14="http://schemas.microsoft.com/office/powerpoint/2010/main" val="3293368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C81F9-AFBA-0434-1D0D-06E95F74653D}"/>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D65DE3AB-064B-CC72-C0DE-913A0FF0B087}"/>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814CF8DD-8AE5-9E75-2108-FF9E2D1E7B04}"/>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6C5C4E72-0BB6-A3E8-5561-F4F9BC6568F3}"/>
              </a:ext>
            </a:extLst>
          </p:cNvPr>
          <p:cNvSpPr/>
          <p:nvPr/>
        </p:nvSpPr>
        <p:spPr bwMode="auto">
          <a:xfrm>
            <a:off x="297833" y="1592576"/>
            <a:ext cx="11596333" cy="1568263"/>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如下图所示，池化和卷积操作同样具有转移不变性。因此，图像的特征并不取决于它们在图像中的位置。</a:t>
            </a:r>
            <a:endParaRPr lang="en-US" altLang="zh-CN" sz="2400" dirty="0"/>
          </a:p>
        </p:txBody>
      </p:sp>
      <p:sp>
        <p:nvSpPr>
          <p:cNvPr id="114" name="object 5">
            <a:extLst>
              <a:ext uri="{FF2B5EF4-FFF2-40B4-BE49-F238E27FC236}">
                <a16:creationId xmlns:a16="http://schemas.microsoft.com/office/drawing/2014/main" id="{29670B01-5DBE-DB8B-9182-9FAAA57CEC4C}"/>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卷积与池化的转移不变性</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BB7F1BA9-DF8A-9364-2949-A48AE55A984D}"/>
              </a:ext>
            </a:extLst>
          </p:cNvPr>
          <p:cNvPicPr>
            <a:picLocks noChangeAspect="1"/>
          </p:cNvPicPr>
          <p:nvPr/>
        </p:nvPicPr>
        <p:blipFill>
          <a:blip r:embed="rId3"/>
          <a:stretch>
            <a:fillRect/>
          </a:stretch>
        </p:blipFill>
        <p:spPr>
          <a:xfrm>
            <a:off x="2660650" y="3570651"/>
            <a:ext cx="6870700" cy="2667000"/>
          </a:xfrm>
          <a:prstGeom prst="rect">
            <a:avLst/>
          </a:prstGeom>
        </p:spPr>
      </p:pic>
    </p:spTree>
    <p:extLst>
      <p:ext uri="{BB962C8B-B14F-4D97-AF65-F5344CB8AC3E}">
        <p14:creationId xmlns:p14="http://schemas.microsoft.com/office/powerpoint/2010/main" val="575526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6EA98-90A4-FEE7-FB7A-3D0EA7385126}"/>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F0CD82C0-5E85-FD92-F734-0BE88A429246}"/>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3E522B8-5655-B9FF-EBA3-B06E022110D2}"/>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A627D432-CED4-CF58-285C-E149A77F9E66}"/>
              </a:ext>
            </a:extLst>
          </p:cNvPr>
          <p:cNvSpPr/>
          <p:nvPr/>
        </p:nvSpPr>
        <p:spPr bwMode="auto">
          <a:xfrm>
            <a:off x="297833" y="1592576"/>
            <a:ext cx="11596333" cy="1568263"/>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solidFill>
                  <a:srgbClr val="191B1F"/>
                </a:solidFill>
                <a:latin typeface="-apple-system"/>
              </a:rPr>
              <a:t>第一个成功的卷积神经网络应用，是</a:t>
            </a:r>
            <a:r>
              <a:rPr lang="en" altLang="zh-CN" sz="2400" dirty="0">
                <a:solidFill>
                  <a:srgbClr val="191B1F"/>
                </a:solidFill>
                <a:latin typeface="-apple-system"/>
              </a:rPr>
              <a:t>Yann LeCun</a:t>
            </a:r>
            <a:r>
              <a:rPr lang="zh-CN" altLang="en-US" sz="2400" dirty="0">
                <a:solidFill>
                  <a:srgbClr val="191B1F"/>
                </a:solidFill>
                <a:latin typeface="-apple-system"/>
              </a:rPr>
              <a:t>在上世纪</a:t>
            </a:r>
            <a:r>
              <a:rPr lang="en-US" altLang="zh-CN" sz="2400" dirty="0">
                <a:solidFill>
                  <a:srgbClr val="191B1F"/>
                </a:solidFill>
                <a:latin typeface="-apple-system"/>
              </a:rPr>
              <a:t>90</a:t>
            </a:r>
            <a:r>
              <a:rPr lang="zh-CN" altLang="en-US" sz="2400" dirty="0">
                <a:solidFill>
                  <a:srgbClr val="191B1F"/>
                </a:solidFill>
                <a:latin typeface="-apple-system"/>
              </a:rPr>
              <a:t>年代实现的。它由两个卷积层组成和三个全连接层组成，组合使用卷积层、非线性激活函数和汇聚层。</a:t>
            </a:r>
            <a:endParaRPr lang="zh-CN" altLang="en-US" sz="2400" dirty="0"/>
          </a:p>
        </p:txBody>
      </p:sp>
      <p:sp>
        <p:nvSpPr>
          <p:cNvPr id="114" name="object 5">
            <a:extLst>
              <a:ext uri="{FF2B5EF4-FFF2-40B4-BE49-F238E27FC236}">
                <a16:creationId xmlns:a16="http://schemas.microsoft.com/office/drawing/2014/main" id="{B07BA67B-1CFB-E1ED-CAEF-E6AB70DBA2C0}"/>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经典模型 </a:t>
            </a:r>
            <a:r>
              <a:rPr lang="en-US" altLang="zh-CN" sz="3600" spc="-10" dirty="0">
                <a:solidFill>
                  <a:schemeClr val="bg1"/>
                </a:solidFill>
                <a:latin typeface="Calibri" panose="020F0502020204030204" pitchFamily="34" charset="0"/>
                <a:cs typeface="Calibri" panose="020F0502020204030204" pitchFamily="34" charset="0"/>
              </a:rPr>
              <a:t>LeNet-5</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3076" name="Picture 4">
            <a:extLst>
              <a:ext uri="{FF2B5EF4-FFF2-40B4-BE49-F238E27FC236}">
                <a16:creationId xmlns:a16="http://schemas.microsoft.com/office/drawing/2014/main" id="{948F7F2C-C170-C2DB-324B-4E8362EBC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956" y="3429000"/>
            <a:ext cx="10606087" cy="3058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582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CB39-0988-43E7-A9B3-B230AEF8139E}"/>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3D98C4B3-8CB2-D9EA-A9D1-BB6533809AE3}"/>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6D4D692-56D9-D348-A7DE-E7CB987FB94F}"/>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FDB13245-5037-18A0-6C1C-3AFD56083B18}"/>
              </a:ext>
            </a:extLst>
          </p:cNvPr>
          <p:cNvSpPr/>
          <p:nvPr/>
        </p:nvSpPr>
        <p:spPr bwMode="auto">
          <a:xfrm>
            <a:off x="234072" y="1400699"/>
            <a:ext cx="11838866" cy="1568263"/>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 altLang="zh-CN" sz="2400" dirty="0"/>
              <a:t>ImageNet </a:t>
            </a:r>
            <a:r>
              <a:rPr lang="zh-CN" altLang="en-US" sz="2400" dirty="0"/>
              <a:t>是由斯坦福大学李飞飞教授团队创建的全球最大的标注图像数据库，包含超过 </a:t>
            </a:r>
            <a:r>
              <a:rPr lang="en-US" altLang="zh-CN" sz="2400" dirty="0"/>
              <a:t>1400 </a:t>
            </a:r>
            <a:r>
              <a:rPr lang="zh-CN" altLang="en-US" sz="2400" dirty="0"/>
              <a:t>万张图像，涵盖 </a:t>
            </a:r>
            <a:r>
              <a:rPr lang="en-US" altLang="zh-CN" sz="2400" dirty="0"/>
              <a:t>2 </a:t>
            </a:r>
            <a:r>
              <a:rPr lang="zh-CN" altLang="en-US" sz="2400" dirty="0"/>
              <a:t>万多个类别。它通过海量、高多样性的数据，彻底解决了深度模型由于样本不足而导致的过拟合问题，为卷积神经网络的崛起提供了必备的训练基石。</a:t>
            </a:r>
          </a:p>
        </p:txBody>
      </p:sp>
      <p:sp>
        <p:nvSpPr>
          <p:cNvPr id="114" name="object 5">
            <a:extLst>
              <a:ext uri="{FF2B5EF4-FFF2-40B4-BE49-F238E27FC236}">
                <a16:creationId xmlns:a16="http://schemas.microsoft.com/office/drawing/2014/main" id="{3386E96C-E384-34C2-A301-B19AFD025770}"/>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数据集</a:t>
            </a:r>
            <a:r>
              <a:rPr lang="en-US" altLang="zh-CN" sz="3600" spc="-10" dirty="0">
                <a:solidFill>
                  <a:schemeClr val="bg1"/>
                </a:solidFill>
                <a:latin typeface="Calibri" panose="020F0502020204030204" pitchFamily="34" charset="0"/>
                <a:cs typeface="Calibri" panose="020F0502020204030204" pitchFamily="34" charset="0"/>
              </a:rPr>
              <a:t> ImageNet</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5124" name="Picture 4">
            <a:extLst>
              <a:ext uri="{FF2B5EF4-FFF2-40B4-BE49-F238E27FC236}">
                <a16:creationId xmlns:a16="http://schemas.microsoft.com/office/drawing/2014/main" id="{290141C8-F3A8-4739-FFAA-34AEA1DF9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072" y="3429000"/>
            <a:ext cx="6200775" cy="2657475"/>
          </a:xfrm>
          <a:prstGeom prst="rect">
            <a:avLst/>
          </a:prstGeom>
          <a:noFill/>
          <a:extLst>
            <a:ext uri="{909E8E84-426E-40DD-AFC4-6F175D3DCCD1}">
              <a14:hiddenFill xmlns:a14="http://schemas.microsoft.com/office/drawing/2010/main">
                <a:solidFill>
                  <a:srgbClr val="FFFFFF"/>
                </a:solidFill>
              </a14:hiddenFill>
            </a:ext>
          </a:extLst>
        </p:spPr>
      </p:pic>
      <p:sp useBgFill="1">
        <p:nvSpPr>
          <p:cNvPr id="2" name="矩形 1">
            <a:extLst>
              <a:ext uri="{FF2B5EF4-FFF2-40B4-BE49-F238E27FC236}">
                <a16:creationId xmlns:a16="http://schemas.microsoft.com/office/drawing/2014/main" id="{4ACCFB7A-B347-4B65-A0F2-8AC9C04D417F}"/>
              </a:ext>
            </a:extLst>
          </p:cNvPr>
          <p:cNvSpPr/>
          <p:nvPr/>
        </p:nvSpPr>
        <p:spPr bwMode="auto">
          <a:xfrm>
            <a:off x="6692021" y="3429000"/>
            <a:ext cx="4952291" cy="2657475"/>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基于</a:t>
            </a:r>
            <a:r>
              <a:rPr lang="en-US" altLang="zh-CN" sz="2400" dirty="0"/>
              <a:t> ImageNet </a:t>
            </a:r>
            <a:r>
              <a:rPr lang="zh-CN" altLang="en-US" sz="2400" dirty="0"/>
              <a:t>数据集子集设立的</a:t>
            </a:r>
            <a:r>
              <a:rPr lang="en-US" altLang="zh-CN" sz="2400" dirty="0"/>
              <a:t> ILSVRC </a:t>
            </a:r>
            <a:r>
              <a:rPr lang="zh-CN" altLang="en-US" sz="2400" dirty="0"/>
              <a:t>比赛成为了全球计算机视觉领域最具影响力的赛事，直接催生许多具有里程碑意义的技术创新。</a:t>
            </a:r>
          </a:p>
        </p:txBody>
      </p:sp>
    </p:spTree>
    <p:extLst>
      <p:ext uri="{BB962C8B-B14F-4D97-AF65-F5344CB8AC3E}">
        <p14:creationId xmlns:p14="http://schemas.microsoft.com/office/powerpoint/2010/main" val="9049506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E174-E28A-EC1D-7496-8F5AB1DAB283}"/>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F925E1C5-DB77-6FF3-D09F-C94AF5717284}"/>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988188DC-B6FD-F52F-EBAC-3398CADDA2AB}"/>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BB553F37-A401-5882-83E3-F8F9C6C447E3}"/>
              </a:ext>
            </a:extLst>
          </p:cNvPr>
          <p:cNvSpPr/>
          <p:nvPr/>
        </p:nvSpPr>
        <p:spPr bwMode="auto">
          <a:xfrm>
            <a:off x="526611" y="1289223"/>
            <a:ext cx="11138778" cy="1568263"/>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ltLang="zh-CN" sz="2400" dirty="0"/>
              <a:t>ILSVRC </a:t>
            </a:r>
            <a:r>
              <a:rPr lang="zh-CN" altLang="en-US" sz="2400" dirty="0"/>
              <a:t>比赛历年的冠军如下。可以看出卷积神经网络的深度逐渐增加，每次深度的突破都带来性能的显著进步。</a:t>
            </a:r>
          </a:p>
        </p:txBody>
      </p:sp>
      <p:sp>
        <p:nvSpPr>
          <p:cNvPr id="114" name="object 5">
            <a:extLst>
              <a:ext uri="{FF2B5EF4-FFF2-40B4-BE49-F238E27FC236}">
                <a16:creationId xmlns:a16="http://schemas.microsoft.com/office/drawing/2014/main" id="{A5AD117A-0369-B3A0-CD09-8B84EACDB560}"/>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a:solidFill>
                  <a:schemeClr val="bg1"/>
                </a:solidFill>
                <a:latin typeface="Calibri" panose="020F0502020204030204" pitchFamily="34" charset="0"/>
                <a:cs typeface="Calibri" panose="020F0502020204030204" pitchFamily="34" charset="0"/>
              </a:rPr>
              <a:t>ILSVRC </a:t>
            </a:r>
            <a:r>
              <a:rPr lang="zh-CN" altLang="en-US" sz="3600" spc="-10" dirty="0">
                <a:solidFill>
                  <a:schemeClr val="bg1"/>
                </a:solidFill>
                <a:latin typeface="Calibri" panose="020F0502020204030204" pitchFamily="34" charset="0"/>
                <a:cs typeface="Calibri" panose="020F0502020204030204" pitchFamily="34" charset="0"/>
              </a:rPr>
              <a:t>比赛</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A03FED7F-6379-4FE8-4101-528EF456DE09}"/>
              </a:ext>
            </a:extLst>
          </p:cNvPr>
          <p:cNvPicPr>
            <a:picLocks noChangeAspect="1"/>
          </p:cNvPicPr>
          <p:nvPr/>
        </p:nvPicPr>
        <p:blipFill>
          <a:blip r:embed="rId3"/>
          <a:stretch>
            <a:fillRect/>
          </a:stretch>
        </p:blipFill>
        <p:spPr>
          <a:xfrm>
            <a:off x="1783499" y="2968962"/>
            <a:ext cx="7772400" cy="3374413"/>
          </a:xfrm>
          <a:prstGeom prst="rect">
            <a:avLst/>
          </a:prstGeom>
        </p:spPr>
      </p:pic>
    </p:spTree>
    <p:extLst>
      <p:ext uri="{BB962C8B-B14F-4D97-AF65-F5344CB8AC3E}">
        <p14:creationId xmlns:p14="http://schemas.microsoft.com/office/powerpoint/2010/main" val="19423596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FB6AF-C4FB-4281-3912-0B603D40D88F}"/>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A3B7F138-BD8F-9FBC-DF4C-8065076500B8}"/>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D1FD7512-C2FE-4F26-1E2E-B638B0D8B7A9}"/>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F52A87FB-2693-D0D8-5BFE-74AF90C37795}"/>
              </a:ext>
            </a:extLst>
          </p:cNvPr>
          <p:cNvSpPr/>
          <p:nvPr/>
        </p:nvSpPr>
        <p:spPr bwMode="auto">
          <a:xfrm>
            <a:off x="769499" y="1389235"/>
            <a:ext cx="10589064" cy="1568263"/>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t>第一个在大规模视觉竞赛中击败传统计算机视觉模型的大型神经网络，对深度学习发展具有里程碑式的意义。包含五层（卷积</a:t>
            </a:r>
            <a:r>
              <a:rPr lang="en-US" altLang="zh-CN" sz="2400" dirty="0"/>
              <a:t>+</a:t>
            </a:r>
            <a:r>
              <a:rPr lang="zh-CN" altLang="en-US" sz="2400" dirty="0"/>
              <a:t>池化层）以及 </a:t>
            </a:r>
            <a:r>
              <a:rPr lang="en-US" altLang="zh-CN" sz="2400" dirty="0"/>
              <a:t>3 </a:t>
            </a:r>
            <a:r>
              <a:rPr lang="zh-CN" altLang="en-US" sz="2400" dirty="0"/>
              <a:t>层全连接层，输入尺度为 </a:t>
            </a:r>
            <a:r>
              <a:rPr lang="en-US" altLang="zh-CN" sz="2400" dirty="0"/>
              <a:t>3</a:t>
            </a:r>
            <a:r>
              <a:rPr lang="zh-CN" altLang="en-US" sz="2400" dirty="0"/>
              <a:t> </a:t>
            </a:r>
            <a:r>
              <a:rPr lang="en-US" altLang="zh-CN" sz="2400" dirty="0"/>
              <a:t>x</a:t>
            </a:r>
            <a:r>
              <a:rPr lang="zh-CN" altLang="en-US" sz="2400" dirty="0"/>
              <a:t> </a:t>
            </a:r>
            <a:r>
              <a:rPr lang="en-US" altLang="zh-CN" sz="2400" dirty="0"/>
              <a:t>224</a:t>
            </a:r>
            <a:r>
              <a:rPr lang="zh-CN" altLang="en-US" sz="2400" dirty="0"/>
              <a:t> </a:t>
            </a:r>
            <a:r>
              <a:rPr lang="en-US" altLang="zh-CN" sz="2400" dirty="0"/>
              <a:t>x</a:t>
            </a:r>
            <a:r>
              <a:rPr lang="zh-CN" altLang="en-US" sz="2400" dirty="0"/>
              <a:t> </a:t>
            </a:r>
            <a:r>
              <a:rPr lang="en-US" altLang="zh-CN" sz="2400" dirty="0"/>
              <a:t>224</a:t>
            </a:r>
            <a:r>
              <a:rPr lang="zh-CN" altLang="en-US" sz="2400" dirty="0"/>
              <a:t>。</a:t>
            </a:r>
            <a:endParaRPr kumimoji="1" lang="zh-CN" altLang="en-US" sz="2400" dirty="0"/>
          </a:p>
        </p:txBody>
      </p:sp>
      <p:sp>
        <p:nvSpPr>
          <p:cNvPr id="114" name="object 5">
            <a:extLst>
              <a:ext uri="{FF2B5EF4-FFF2-40B4-BE49-F238E27FC236}">
                <a16:creationId xmlns:a16="http://schemas.microsoft.com/office/drawing/2014/main" id="{55885D0B-EA1E-E41F-5AE4-546CE9475A8B}"/>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经典模型</a:t>
            </a:r>
            <a:r>
              <a:rPr lang="zh-CN" altLang="en-US" sz="3600" spc="-10" dirty="0">
                <a:solidFill>
                  <a:schemeClr val="bg1"/>
                </a:solidFill>
                <a:latin typeface="+mn-ea"/>
                <a:ea typeface="+mn-ea"/>
                <a:cs typeface="Calibri" panose="020F0502020204030204" pitchFamily="34" charset="0"/>
              </a:rPr>
              <a:t>  </a:t>
            </a:r>
            <a:r>
              <a:rPr lang="en-US" altLang="zh-CN" sz="3600" spc="-10" dirty="0" err="1">
                <a:solidFill>
                  <a:schemeClr val="bg1"/>
                </a:solidFill>
                <a:latin typeface="Calibri" panose="020F0502020204030204" pitchFamily="34" charset="0"/>
                <a:cs typeface="Calibri" panose="020F0502020204030204" pitchFamily="34" charset="0"/>
              </a:rPr>
              <a:t>AlexNet</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4" name="组合 3">
            <a:extLst>
              <a:ext uri="{FF2B5EF4-FFF2-40B4-BE49-F238E27FC236}">
                <a16:creationId xmlns:a16="http://schemas.microsoft.com/office/drawing/2014/main" id="{9194DA13-D42E-2027-91DB-0FFAC54838B8}"/>
              </a:ext>
            </a:extLst>
          </p:cNvPr>
          <p:cNvGrpSpPr/>
          <p:nvPr/>
        </p:nvGrpSpPr>
        <p:grpSpPr>
          <a:xfrm>
            <a:off x="2571750" y="3388246"/>
            <a:ext cx="6686550" cy="3218031"/>
            <a:chOff x="1706136" y="2817977"/>
            <a:chExt cx="7237839" cy="3483062"/>
          </a:xfrm>
        </p:grpSpPr>
        <p:pic>
          <p:nvPicPr>
            <p:cNvPr id="5" name="Picture 2">
              <a:extLst>
                <a:ext uri="{FF2B5EF4-FFF2-40B4-BE49-F238E27FC236}">
                  <a16:creationId xmlns:a16="http://schemas.microsoft.com/office/drawing/2014/main" id="{5381337D-35D7-FD36-35B5-2B5C9DC99B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6136" y="2817977"/>
              <a:ext cx="6996151" cy="3483062"/>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DBFA04DF-29BB-0A86-1621-6EF45CA74937}"/>
                </a:ext>
              </a:extLst>
            </p:cNvPr>
            <p:cNvSpPr/>
            <p:nvPr/>
          </p:nvSpPr>
          <p:spPr>
            <a:xfrm>
              <a:off x="6843713" y="5843588"/>
              <a:ext cx="2100262" cy="4574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334215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9B8F3-DD3F-2965-4CD1-9B3057DDB3E7}"/>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4A6DCB97-0DCE-DFE0-7185-0F8EBD54111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45F14FF6-58EB-94FD-436B-1933D3FEBB4A}"/>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3F5640F5-099F-B208-E716-80AEEF725CA5}"/>
              </a:ext>
            </a:extLst>
          </p:cNvPr>
          <p:cNvSpPr/>
          <p:nvPr/>
        </p:nvSpPr>
        <p:spPr bwMode="auto">
          <a:xfrm>
            <a:off x="382419" y="1284695"/>
            <a:ext cx="11643604" cy="194310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en-US" altLang="zh-CN" sz="2400" dirty="0"/>
              <a:t>1.</a:t>
            </a:r>
            <a:r>
              <a:rPr kumimoji="1" lang="zh-CN" altLang="en-US" sz="2400" dirty="0"/>
              <a:t>更深的神经网络结构</a:t>
            </a:r>
          </a:p>
          <a:p>
            <a:r>
              <a:rPr kumimoji="1" lang="en" altLang="zh-CN" sz="2400" dirty="0" err="1"/>
              <a:t>AlexNet</a:t>
            </a:r>
            <a:r>
              <a:rPr kumimoji="1" lang="en" altLang="zh-CN" sz="2400" dirty="0"/>
              <a:t> </a:t>
            </a:r>
            <a:r>
              <a:rPr kumimoji="1" lang="zh-CN" altLang="en-US" sz="2400" dirty="0"/>
              <a:t>是首个真正意义上的深度卷积神经网络，它的深度达到了当时先前神经网络的数倍。通过增加网络深度，</a:t>
            </a:r>
            <a:r>
              <a:rPr kumimoji="1" lang="en" altLang="zh-CN" sz="2400" dirty="0" err="1"/>
              <a:t>AlexNet</a:t>
            </a:r>
            <a:r>
              <a:rPr kumimoji="1" lang="en" altLang="zh-CN" sz="2400" dirty="0"/>
              <a:t> </a:t>
            </a:r>
            <a:r>
              <a:rPr kumimoji="1" lang="zh-CN" altLang="en-US" sz="2400" dirty="0"/>
              <a:t>能够更好地学习数据集的特征，从而提高了图像分类的精度。</a:t>
            </a:r>
          </a:p>
        </p:txBody>
      </p:sp>
      <p:sp>
        <p:nvSpPr>
          <p:cNvPr id="114" name="object 5">
            <a:extLst>
              <a:ext uri="{FF2B5EF4-FFF2-40B4-BE49-F238E27FC236}">
                <a16:creationId xmlns:a16="http://schemas.microsoft.com/office/drawing/2014/main" id="{6D3E4DA0-029F-F100-6DEE-2EE9ADDBEF18}"/>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 </a:t>
            </a:r>
            <a:r>
              <a:rPr lang="en-US" altLang="zh-CN" sz="3600" spc="-10" dirty="0" err="1">
                <a:solidFill>
                  <a:schemeClr val="bg1"/>
                </a:solidFill>
                <a:latin typeface="Calibri" panose="020F0502020204030204" pitchFamily="34" charset="0"/>
                <a:cs typeface="Calibri" panose="020F0502020204030204" pitchFamily="34" charset="0"/>
              </a:rPr>
              <a:t>AlexNet</a:t>
            </a:r>
            <a:r>
              <a:rPr lang="en-US" altLang="zh-CN" sz="3600" spc="-10" dirty="0">
                <a:solidFill>
                  <a:schemeClr val="bg1"/>
                </a:solidFill>
                <a:latin typeface="Calibri" panose="020F0502020204030204" pitchFamily="34" charset="0"/>
                <a:cs typeface="Calibri" panose="020F0502020204030204" pitchFamily="34" charset="0"/>
              </a:rPr>
              <a:t> </a:t>
            </a:r>
            <a:r>
              <a:rPr lang="zh-CN" altLang="en-US" sz="3600" spc="-10" dirty="0">
                <a:solidFill>
                  <a:schemeClr val="bg1"/>
                </a:solidFill>
                <a:latin typeface="Calibri" panose="020F0502020204030204" pitchFamily="34" charset="0"/>
                <a:cs typeface="Calibri" panose="020F0502020204030204" pitchFamily="34" charset="0"/>
              </a:rPr>
              <a:t>的技术创新</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7170" name="Picture 2" descr="卷积神经网络模型之——AlexNet网络结构与代码实现_alexnet原文-CSDN博客">
            <a:extLst>
              <a:ext uri="{FF2B5EF4-FFF2-40B4-BE49-F238E27FC236}">
                <a16:creationId xmlns:a16="http://schemas.microsoft.com/office/drawing/2014/main" id="{B6D01464-96A3-3A87-5CE4-34D3AFF38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034" y="3429000"/>
            <a:ext cx="10254373" cy="3354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41859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9F93F-FD52-7ED2-E033-85FD9ABAB7A2}"/>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31A3D78E-7642-E419-D938-BE8402A36657}"/>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5C812A25-5A70-4033-FCBC-650AFA042CAD}"/>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FF97B1B2-AA65-B38D-3DA1-E3238A02557D}"/>
              </a:ext>
            </a:extLst>
          </p:cNvPr>
          <p:cNvSpPr/>
          <p:nvPr/>
        </p:nvSpPr>
        <p:spPr bwMode="auto">
          <a:xfrm>
            <a:off x="382419" y="1284695"/>
            <a:ext cx="11643604" cy="5079466"/>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en-US" altLang="zh-CN" sz="2400" dirty="0"/>
              <a:t>2.</a:t>
            </a:r>
            <a:r>
              <a:rPr kumimoji="1" lang="en" altLang="zh-CN" sz="2400" dirty="0"/>
              <a:t> </a:t>
            </a:r>
            <a:r>
              <a:rPr kumimoji="1" lang="en" altLang="zh-CN" sz="2400" dirty="0" err="1"/>
              <a:t>ReLU</a:t>
            </a:r>
            <a:r>
              <a:rPr kumimoji="1" lang="zh-CN" altLang="en-US" sz="2400" dirty="0"/>
              <a:t>激活函数的使用</a:t>
            </a:r>
          </a:p>
          <a:p>
            <a:r>
              <a:rPr kumimoji="1" lang="en" altLang="zh-CN" sz="2400" dirty="0" err="1"/>
              <a:t>AlexNet</a:t>
            </a:r>
            <a:r>
              <a:rPr kumimoji="1" lang="en" altLang="zh-CN" sz="2400" dirty="0"/>
              <a:t> </a:t>
            </a:r>
            <a:r>
              <a:rPr kumimoji="1" lang="zh-CN" altLang="en-US" sz="2400" dirty="0"/>
              <a:t>首次使用了修正线性单元（</a:t>
            </a:r>
            <a:r>
              <a:rPr kumimoji="1" lang="en" altLang="zh-CN" sz="2400" dirty="0" err="1"/>
              <a:t>ReLU</a:t>
            </a:r>
            <a:r>
              <a:rPr kumimoji="1" lang="zh-CN" altLang="en" sz="2400" dirty="0"/>
              <a:t>）</a:t>
            </a:r>
            <a:r>
              <a:rPr kumimoji="1" lang="zh-CN" altLang="en-US" sz="2400" dirty="0"/>
              <a:t>这一非线性激活函数。相比于传统的 </a:t>
            </a:r>
            <a:r>
              <a:rPr kumimoji="1" lang="en" altLang="zh-CN" sz="2400" dirty="0"/>
              <a:t>sigmoid </a:t>
            </a:r>
            <a:r>
              <a:rPr kumimoji="1" lang="zh-CN" altLang="en-US" sz="2400" dirty="0"/>
              <a:t>和 </a:t>
            </a:r>
            <a:r>
              <a:rPr kumimoji="1" lang="en" altLang="zh-CN" sz="2400" dirty="0"/>
              <a:t>tanh </a:t>
            </a:r>
            <a:r>
              <a:rPr kumimoji="1" lang="zh-CN" altLang="en-US" sz="2400" dirty="0"/>
              <a:t>函数，</a:t>
            </a:r>
            <a:r>
              <a:rPr kumimoji="1" lang="en" altLang="zh-CN" sz="2400" dirty="0" err="1"/>
              <a:t>ReLU</a:t>
            </a:r>
            <a:r>
              <a:rPr kumimoji="1" lang="en" altLang="zh-CN" sz="2400" dirty="0"/>
              <a:t> </a:t>
            </a:r>
            <a:r>
              <a:rPr kumimoji="1" lang="zh-CN" altLang="en-US" sz="2400" dirty="0"/>
              <a:t>能够在保持计算速度的同时，有效地解决了梯度消失问题，从而使得训练更加高效。</a:t>
            </a:r>
            <a:endParaRPr kumimoji="1" lang="en-US" altLang="zh-CN" sz="2400" dirty="0"/>
          </a:p>
          <a:p>
            <a:endParaRPr kumimoji="1" lang="en-US" altLang="zh-CN" sz="2400" dirty="0"/>
          </a:p>
          <a:p>
            <a:r>
              <a:rPr kumimoji="1" lang="en-US" altLang="zh-CN" sz="2400" dirty="0"/>
              <a:t>3.</a:t>
            </a:r>
            <a:r>
              <a:rPr kumimoji="1" lang="zh-CN" altLang="en-US" sz="2400" dirty="0"/>
              <a:t>局部响应归一化（</a:t>
            </a:r>
            <a:r>
              <a:rPr kumimoji="1" lang="en-US" altLang="zh-CN" sz="2400" dirty="0"/>
              <a:t>LRN</a:t>
            </a:r>
            <a:r>
              <a:rPr kumimoji="1" lang="zh-CN" altLang="en-US" sz="2400" dirty="0"/>
              <a:t>）的使用</a:t>
            </a:r>
          </a:p>
          <a:p>
            <a:r>
              <a:rPr kumimoji="1" lang="zh-CN" altLang="en-US" sz="2400" dirty="0"/>
              <a:t>在卷积层中，每个卷积核都对应一个特征图</a:t>
            </a:r>
            <a:r>
              <a:rPr kumimoji="1" lang="zh-CN" altLang="en" sz="2400" dirty="0"/>
              <a:t>，</a:t>
            </a:r>
            <a:r>
              <a:rPr kumimoji="1" lang="en" altLang="zh-CN" sz="2400" dirty="0"/>
              <a:t>LRN</a:t>
            </a:r>
            <a:r>
              <a:rPr kumimoji="1" lang="zh-CN" altLang="en-US" sz="2400" dirty="0"/>
              <a:t>就是对这些特征图进行归一化。在一定程度避免了过拟合，提高泛化能力。</a:t>
            </a:r>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zh-CN" altLang="en-US" sz="2400" dirty="0"/>
          </a:p>
        </p:txBody>
      </p:sp>
      <p:sp>
        <p:nvSpPr>
          <p:cNvPr id="114" name="object 5">
            <a:extLst>
              <a:ext uri="{FF2B5EF4-FFF2-40B4-BE49-F238E27FC236}">
                <a16:creationId xmlns:a16="http://schemas.microsoft.com/office/drawing/2014/main" id="{CADC208B-9BEE-B790-CD6C-4DFEA170DF6E}"/>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 </a:t>
            </a:r>
            <a:r>
              <a:rPr lang="en-US" altLang="zh-CN" sz="3600" spc="-10" dirty="0" err="1">
                <a:solidFill>
                  <a:schemeClr val="bg1"/>
                </a:solidFill>
                <a:latin typeface="Calibri" panose="020F0502020204030204" pitchFamily="34" charset="0"/>
                <a:cs typeface="Calibri" panose="020F0502020204030204" pitchFamily="34" charset="0"/>
              </a:rPr>
              <a:t>AlexNet</a:t>
            </a:r>
            <a:r>
              <a:rPr lang="en-US" altLang="zh-CN" sz="3600" spc="-10" dirty="0">
                <a:solidFill>
                  <a:schemeClr val="bg1"/>
                </a:solidFill>
                <a:latin typeface="Calibri" panose="020F0502020204030204" pitchFamily="34" charset="0"/>
                <a:cs typeface="Calibri" panose="020F0502020204030204" pitchFamily="34" charset="0"/>
              </a:rPr>
              <a:t> </a:t>
            </a:r>
            <a:r>
              <a:rPr lang="zh-CN" altLang="en-US" sz="3600" spc="-10" dirty="0">
                <a:solidFill>
                  <a:schemeClr val="bg1"/>
                </a:solidFill>
                <a:latin typeface="Calibri" panose="020F0502020204030204" pitchFamily="34" charset="0"/>
                <a:cs typeface="Calibri" panose="020F0502020204030204" pitchFamily="34" charset="0"/>
              </a:rPr>
              <a:t>的技术创新</a:t>
            </a:r>
            <a:endParaRPr lang="en-US" sz="3600" spc="-10" dirty="0">
              <a:solidFill>
                <a:schemeClr val="bg1"/>
              </a:solidFill>
              <a:latin typeface="Calibri" panose="020F0502020204030204" pitchFamily="34" charset="0"/>
              <a:cs typeface="Calibri" panose="020F0502020204030204" pitchFamily="34" charset="0"/>
            </a:endParaRPr>
          </a:p>
        </p:txBody>
      </p:sp>
      <p:grpSp>
        <p:nvGrpSpPr>
          <p:cNvPr id="4" name="组合 3">
            <a:extLst>
              <a:ext uri="{FF2B5EF4-FFF2-40B4-BE49-F238E27FC236}">
                <a16:creationId xmlns:a16="http://schemas.microsoft.com/office/drawing/2014/main" id="{435396E2-CAF6-14AA-F23D-9F51FE641157}"/>
              </a:ext>
            </a:extLst>
          </p:cNvPr>
          <p:cNvGrpSpPr/>
          <p:nvPr/>
        </p:nvGrpSpPr>
        <p:grpSpPr>
          <a:xfrm>
            <a:off x="3981721" y="4575450"/>
            <a:ext cx="4445000" cy="1355043"/>
            <a:chOff x="2630487" y="5090705"/>
            <a:chExt cx="4445000" cy="1355043"/>
          </a:xfrm>
        </p:grpSpPr>
        <p:pic>
          <p:nvPicPr>
            <p:cNvPr id="2" name="图片 1">
              <a:extLst>
                <a:ext uri="{FF2B5EF4-FFF2-40B4-BE49-F238E27FC236}">
                  <a16:creationId xmlns:a16="http://schemas.microsoft.com/office/drawing/2014/main" id="{16CAB4BC-57EE-7C8F-B66F-25E6A2CC1746}"/>
                </a:ext>
              </a:extLst>
            </p:cNvPr>
            <p:cNvPicPr>
              <a:picLocks noChangeAspect="1"/>
            </p:cNvPicPr>
            <p:nvPr/>
          </p:nvPicPr>
          <p:blipFill>
            <a:blip r:embed="rId3"/>
            <a:stretch>
              <a:fillRect/>
            </a:stretch>
          </p:blipFill>
          <p:spPr>
            <a:xfrm>
              <a:off x="2630487" y="5090705"/>
              <a:ext cx="4445000" cy="965200"/>
            </a:xfrm>
            <a:prstGeom prst="rect">
              <a:avLst/>
            </a:prstGeom>
          </p:spPr>
        </p:pic>
        <p:sp>
          <p:nvSpPr>
            <p:cNvPr id="3" name="文本框 2">
              <a:extLst>
                <a:ext uri="{FF2B5EF4-FFF2-40B4-BE49-F238E27FC236}">
                  <a16:creationId xmlns:a16="http://schemas.microsoft.com/office/drawing/2014/main" id="{827127CC-78A8-3D26-218A-9B4101646CE5}"/>
                </a:ext>
              </a:extLst>
            </p:cNvPr>
            <p:cNvSpPr txBox="1"/>
            <p:nvPr/>
          </p:nvSpPr>
          <p:spPr>
            <a:xfrm>
              <a:off x="4214813" y="6076416"/>
              <a:ext cx="1763624" cy="369332"/>
            </a:xfrm>
            <a:prstGeom prst="rect">
              <a:avLst/>
            </a:prstGeom>
            <a:noFill/>
          </p:spPr>
          <p:txBody>
            <a:bodyPr wrap="none" rtlCol="0">
              <a:spAutoFit/>
            </a:bodyPr>
            <a:lstStyle/>
            <a:p>
              <a:r>
                <a:rPr kumimoji="1" lang="en-US" altLang="zh-CN" dirty="0"/>
                <a:t>LRN </a:t>
              </a:r>
              <a:r>
                <a:rPr kumimoji="1" lang="zh-CN" altLang="en-US" dirty="0"/>
                <a:t>的公式表示</a:t>
              </a:r>
            </a:p>
          </p:txBody>
        </p:sp>
      </p:grpSp>
    </p:spTree>
    <p:extLst>
      <p:ext uri="{BB962C8B-B14F-4D97-AF65-F5344CB8AC3E}">
        <p14:creationId xmlns:p14="http://schemas.microsoft.com/office/powerpoint/2010/main" val="3736972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5E84-F34C-4AC0-B52F-0862B9294581}"/>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4356817C-40C4-1348-ADAE-D439163D7FCC}"/>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536C28B-57EB-996A-D7B0-775D25F8FB9A}"/>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44C497F0-6F7C-A5B9-09FA-48C139066FC4}"/>
              </a:ext>
            </a:extLst>
          </p:cNvPr>
          <p:cNvSpPr/>
          <p:nvPr/>
        </p:nvSpPr>
        <p:spPr bwMode="auto">
          <a:xfrm>
            <a:off x="234072" y="1284695"/>
            <a:ext cx="11643604" cy="1545002"/>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en-US" altLang="zh-CN" sz="2400" dirty="0"/>
          </a:p>
          <a:p>
            <a:endParaRPr kumimoji="1" lang="en-US" altLang="zh-CN" sz="2400" dirty="0"/>
          </a:p>
          <a:p>
            <a:endParaRPr kumimoji="1" lang="en-US" altLang="zh-CN" sz="2400" dirty="0"/>
          </a:p>
          <a:p>
            <a:r>
              <a:rPr kumimoji="1" lang="en-US" altLang="zh-CN" sz="2400" dirty="0"/>
              <a:t>4.</a:t>
            </a:r>
            <a:r>
              <a:rPr kumimoji="1" lang="en" altLang="zh-CN" sz="2400" dirty="0"/>
              <a:t> </a:t>
            </a:r>
            <a:r>
              <a:rPr kumimoji="1" lang="zh-CN" altLang="en-US" sz="2400" dirty="0"/>
              <a:t>引入数据增强和</a:t>
            </a:r>
            <a:r>
              <a:rPr kumimoji="1" lang="en-US" altLang="zh-CN" sz="2400" dirty="0"/>
              <a:t> dropout</a:t>
            </a:r>
            <a:endParaRPr kumimoji="1" lang="zh-CN" altLang="en-US" sz="2400" dirty="0"/>
          </a:p>
          <a:p>
            <a:r>
              <a:rPr kumimoji="1" lang="zh-CN" altLang="en-US" sz="2400" dirty="0"/>
              <a:t>为了防止过拟合，</a:t>
            </a:r>
            <a:r>
              <a:rPr kumimoji="1" lang="en" altLang="zh-CN" sz="2400" dirty="0" err="1"/>
              <a:t>AlexNet</a:t>
            </a:r>
            <a:r>
              <a:rPr kumimoji="1" lang="en" altLang="zh-CN" sz="2400" dirty="0"/>
              <a:t> </a:t>
            </a:r>
            <a:r>
              <a:rPr kumimoji="1" lang="zh-CN" altLang="en-US" sz="2400" dirty="0"/>
              <a:t>引入了数据增强和 </a:t>
            </a:r>
            <a:r>
              <a:rPr kumimoji="1" lang="en" altLang="zh-CN" sz="2400" dirty="0"/>
              <a:t>Dropout </a:t>
            </a:r>
            <a:r>
              <a:rPr kumimoji="1" lang="zh-CN" altLang="en-US" sz="2400" dirty="0"/>
              <a:t>技术。数据增强可以通过对图像进行旋转、翻转、裁剪等变换，增加训练数据的多样性，提高模型的泛化能力。</a:t>
            </a:r>
            <a:endParaRPr kumimoji="1" lang="en-US" altLang="zh-CN" sz="2400" dirty="0"/>
          </a:p>
          <a:p>
            <a:endParaRPr kumimoji="1" lang="en-US" altLang="zh-CN" sz="2400" dirty="0"/>
          </a:p>
          <a:p>
            <a:endParaRPr kumimoji="1" lang="en-US" altLang="zh-CN" sz="2400" dirty="0"/>
          </a:p>
          <a:p>
            <a:endParaRPr kumimoji="1" lang="zh-CN" altLang="en-US" sz="2400" dirty="0"/>
          </a:p>
        </p:txBody>
      </p:sp>
      <p:sp>
        <p:nvSpPr>
          <p:cNvPr id="114" name="object 5">
            <a:extLst>
              <a:ext uri="{FF2B5EF4-FFF2-40B4-BE49-F238E27FC236}">
                <a16:creationId xmlns:a16="http://schemas.microsoft.com/office/drawing/2014/main" id="{71AFDEA3-4FE1-6C03-5684-DA6ED5210100}"/>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 </a:t>
            </a:r>
            <a:r>
              <a:rPr lang="en-US" altLang="zh-CN" sz="3600" spc="-10" dirty="0" err="1">
                <a:solidFill>
                  <a:schemeClr val="bg1"/>
                </a:solidFill>
                <a:latin typeface="Calibri" panose="020F0502020204030204" pitchFamily="34" charset="0"/>
                <a:cs typeface="Calibri" panose="020F0502020204030204" pitchFamily="34" charset="0"/>
              </a:rPr>
              <a:t>AlexNet</a:t>
            </a:r>
            <a:r>
              <a:rPr lang="en-US" altLang="zh-CN" sz="3600" spc="-10" dirty="0">
                <a:solidFill>
                  <a:schemeClr val="bg1"/>
                </a:solidFill>
                <a:latin typeface="Calibri" panose="020F0502020204030204" pitchFamily="34" charset="0"/>
                <a:cs typeface="Calibri" panose="020F0502020204030204" pitchFamily="34" charset="0"/>
              </a:rPr>
              <a:t> </a:t>
            </a:r>
            <a:r>
              <a:rPr lang="zh-CN" altLang="en-US" sz="3600" spc="-10" dirty="0">
                <a:solidFill>
                  <a:schemeClr val="bg1"/>
                </a:solidFill>
                <a:latin typeface="Calibri" panose="020F0502020204030204" pitchFamily="34" charset="0"/>
                <a:cs typeface="Calibri" panose="020F0502020204030204" pitchFamily="34" charset="0"/>
              </a:rPr>
              <a:t>的技术创新</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2" name="图片 1">
            <a:extLst>
              <a:ext uri="{FF2B5EF4-FFF2-40B4-BE49-F238E27FC236}">
                <a16:creationId xmlns:a16="http://schemas.microsoft.com/office/drawing/2014/main" id="{32665EA1-6475-9A19-4A1A-825DB9EC6038}"/>
              </a:ext>
            </a:extLst>
          </p:cNvPr>
          <p:cNvPicPr>
            <a:picLocks noChangeAspect="1"/>
          </p:cNvPicPr>
          <p:nvPr/>
        </p:nvPicPr>
        <p:blipFill>
          <a:blip r:embed="rId3"/>
          <a:stretch>
            <a:fillRect/>
          </a:stretch>
        </p:blipFill>
        <p:spPr>
          <a:xfrm>
            <a:off x="694381" y="3318059"/>
            <a:ext cx="5143843" cy="2715805"/>
          </a:xfrm>
          <a:prstGeom prst="rect">
            <a:avLst/>
          </a:prstGeom>
        </p:spPr>
      </p:pic>
      <p:pic>
        <p:nvPicPr>
          <p:cNvPr id="3" name="图片 2">
            <a:extLst>
              <a:ext uri="{FF2B5EF4-FFF2-40B4-BE49-F238E27FC236}">
                <a16:creationId xmlns:a16="http://schemas.microsoft.com/office/drawing/2014/main" id="{55993CA2-B492-32CC-67A5-7F0F3246454F}"/>
              </a:ext>
            </a:extLst>
          </p:cNvPr>
          <p:cNvPicPr>
            <a:picLocks noChangeAspect="1"/>
          </p:cNvPicPr>
          <p:nvPr/>
        </p:nvPicPr>
        <p:blipFill>
          <a:blip r:embed="rId4"/>
          <a:stretch>
            <a:fillRect/>
          </a:stretch>
        </p:blipFill>
        <p:spPr>
          <a:xfrm>
            <a:off x="7824402" y="3323166"/>
            <a:ext cx="2523695" cy="2731300"/>
          </a:xfrm>
          <a:prstGeom prst="rect">
            <a:avLst/>
          </a:prstGeom>
        </p:spPr>
      </p:pic>
      <p:sp>
        <p:nvSpPr>
          <p:cNvPr id="4" name="文本框 3">
            <a:extLst>
              <a:ext uri="{FF2B5EF4-FFF2-40B4-BE49-F238E27FC236}">
                <a16:creationId xmlns:a16="http://schemas.microsoft.com/office/drawing/2014/main" id="{71D9D07A-75D6-5FBF-86DC-233B7C0F19B9}"/>
              </a:ext>
            </a:extLst>
          </p:cNvPr>
          <p:cNvSpPr txBox="1"/>
          <p:nvPr/>
        </p:nvSpPr>
        <p:spPr>
          <a:xfrm>
            <a:off x="2712304" y="6214605"/>
            <a:ext cx="1107996" cy="369332"/>
          </a:xfrm>
          <a:prstGeom prst="rect">
            <a:avLst/>
          </a:prstGeom>
          <a:noFill/>
        </p:spPr>
        <p:txBody>
          <a:bodyPr wrap="none" rtlCol="0">
            <a:spAutoFit/>
          </a:bodyPr>
          <a:lstStyle/>
          <a:p>
            <a:r>
              <a:rPr kumimoji="1" lang="zh-CN" altLang="en-US" dirty="0"/>
              <a:t>数据增强</a:t>
            </a:r>
          </a:p>
        </p:txBody>
      </p:sp>
      <p:sp>
        <p:nvSpPr>
          <p:cNvPr id="5" name="文本框 4">
            <a:extLst>
              <a:ext uri="{FF2B5EF4-FFF2-40B4-BE49-F238E27FC236}">
                <a16:creationId xmlns:a16="http://schemas.microsoft.com/office/drawing/2014/main" id="{3648C79F-0106-ABE8-EB3C-11C39045A5E0}"/>
              </a:ext>
            </a:extLst>
          </p:cNvPr>
          <p:cNvSpPr txBox="1"/>
          <p:nvPr/>
        </p:nvSpPr>
        <p:spPr>
          <a:xfrm>
            <a:off x="8612658" y="6214605"/>
            <a:ext cx="947182" cy="369332"/>
          </a:xfrm>
          <a:prstGeom prst="rect">
            <a:avLst/>
          </a:prstGeom>
          <a:noFill/>
        </p:spPr>
        <p:txBody>
          <a:bodyPr wrap="none" rtlCol="0">
            <a:spAutoFit/>
          </a:bodyPr>
          <a:lstStyle/>
          <a:p>
            <a:r>
              <a:rPr kumimoji="1" lang="en-US" altLang="zh-CN" dirty="0"/>
              <a:t>dropout</a:t>
            </a:r>
            <a:endParaRPr kumimoji="1" lang="zh-CN" altLang="en-US" dirty="0"/>
          </a:p>
        </p:txBody>
      </p:sp>
    </p:spTree>
    <p:extLst>
      <p:ext uri="{BB962C8B-B14F-4D97-AF65-F5344CB8AC3E}">
        <p14:creationId xmlns:p14="http://schemas.microsoft.com/office/powerpoint/2010/main" val="625855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3DCC1-76EF-4736-4A98-9FAE2FF546EC}"/>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BB999E08-C19A-67DB-58B3-45A7684D7719}"/>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978737C7-42B4-E6CA-E8AF-52A72F09DB35}"/>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8" name="矩形 7">
            <a:extLst>
              <a:ext uri="{FF2B5EF4-FFF2-40B4-BE49-F238E27FC236}">
                <a16:creationId xmlns:a16="http://schemas.microsoft.com/office/drawing/2014/main" id="{CDFEEB0F-C380-570F-459B-B12597E5BDBB}"/>
              </a:ext>
            </a:extLst>
          </p:cNvPr>
          <p:cNvSpPr/>
          <p:nvPr/>
        </p:nvSpPr>
        <p:spPr bwMode="auto">
          <a:xfrm>
            <a:off x="234072" y="1495167"/>
            <a:ext cx="7340479" cy="265711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kumimoji="1" lang="en-US" altLang="zh-CN" sz="2400" dirty="0"/>
              <a:t>5.</a:t>
            </a:r>
            <a:r>
              <a:rPr kumimoji="1" lang="zh-CN" altLang="en-US" sz="2400" dirty="0"/>
              <a:t>分布式训练</a:t>
            </a:r>
          </a:p>
          <a:p>
            <a:r>
              <a:rPr kumimoji="1" lang="en" altLang="zh-CN" sz="2400" dirty="0" err="1"/>
              <a:t>AlexNet</a:t>
            </a:r>
            <a:r>
              <a:rPr kumimoji="1" lang="zh-CN" altLang="en-US" sz="2400" dirty="0"/>
              <a:t>在使用</a:t>
            </a:r>
            <a:r>
              <a:rPr kumimoji="1" lang="en" altLang="zh-CN" sz="2400" dirty="0"/>
              <a:t>GPU</a:t>
            </a:r>
            <a:r>
              <a:rPr kumimoji="1" lang="zh-CN" altLang="en-US" sz="2400" dirty="0"/>
              <a:t>进行训练时，可将卷积层和全连接层分别放到不同的</a:t>
            </a:r>
            <a:r>
              <a:rPr kumimoji="1" lang="en" altLang="zh-CN" sz="2400" dirty="0"/>
              <a:t>GPU</a:t>
            </a:r>
            <a:r>
              <a:rPr kumimoji="1" lang="zh-CN" altLang="en-US" sz="2400" dirty="0"/>
              <a:t>上进行并行计算，从而大大加快了训练速度。像这种大规模 </a:t>
            </a:r>
            <a:r>
              <a:rPr kumimoji="1" lang="en" altLang="zh-CN" sz="2400" dirty="0"/>
              <a:t>GPU </a:t>
            </a:r>
            <a:r>
              <a:rPr kumimoji="1" lang="zh-CN" altLang="en-US" sz="2400" dirty="0"/>
              <a:t>集群进行分布式训练的方法在后来的深度学习中也得到了广泛的应用。</a:t>
            </a:r>
            <a:endParaRPr kumimoji="1" lang="en-US" altLang="zh-CN" sz="2400" dirty="0"/>
          </a:p>
        </p:txBody>
      </p:sp>
      <p:sp>
        <p:nvSpPr>
          <p:cNvPr id="114" name="object 5">
            <a:extLst>
              <a:ext uri="{FF2B5EF4-FFF2-40B4-BE49-F238E27FC236}">
                <a16:creationId xmlns:a16="http://schemas.microsoft.com/office/drawing/2014/main" id="{D3935F01-31A8-8079-CF7B-88AF923859A7}"/>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 </a:t>
            </a:r>
            <a:r>
              <a:rPr lang="en-US" altLang="zh-CN" sz="3600" spc="-10" dirty="0" err="1">
                <a:solidFill>
                  <a:schemeClr val="bg1"/>
                </a:solidFill>
                <a:latin typeface="Calibri" panose="020F0502020204030204" pitchFamily="34" charset="0"/>
                <a:cs typeface="Calibri" panose="020F0502020204030204" pitchFamily="34" charset="0"/>
              </a:rPr>
              <a:t>AlexNet</a:t>
            </a:r>
            <a:r>
              <a:rPr lang="en-US" altLang="zh-CN" sz="3600" spc="-10" dirty="0">
                <a:solidFill>
                  <a:schemeClr val="bg1"/>
                </a:solidFill>
                <a:latin typeface="Calibri" panose="020F0502020204030204" pitchFamily="34" charset="0"/>
                <a:cs typeface="Calibri" panose="020F0502020204030204" pitchFamily="34" charset="0"/>
              </a:rPr>
              <a:t> </a:t>
            </a:r>
            <a:r>
              <a:rPr lang="zh-CN" altLang="en-US" sz="3600" spc="-10" dirty="0">
                <a:solidFill>
                  <a:schemeClr val="bg1"/>
                </a:solidFill>
                <a:latin typeface="Calibri" panose="020F0502020204030204" pitchFamily="34" charset="0"/>
                <a:cs typeface="Calibri" panose="020F0502020204030204" pitchFamily="34" charset="0"/>
              </a:rPr>
              <a:t>的技术创新</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0E996EC2-DD74-99D6-84FE-24050D162B0E}"/>
              </a:ext>
            </a:extLst>
          </p:cNvPr>
          <p:cNvPicPr>
            <a:picLocks noChangeAspect="1"/>
          </p:cNvPicPr>
          <p:nvPr/>
        </p:nvPicPr>
        <p:blipFill>
          <a:blip r:embed="rId3"/>
          <a:stretch>
            <a:fillRect/>
          </a:stretch>
        </p:blipFill>
        <p:spPr>
          <a:xfrm>
            <a:off x="7883470" y="1180256"/>
            <a:ext cx="3379654" cy="4868993"/>
          </a:xfrm>
          <a:prstGeom prst="rect">
            <a:avLst/>
          </a:prstGeom>
        </p:spPr>
      </p:pic>
    </p:spTree>
    <p:extLst>
      <p:ext uri="{BB962C8B-B14F-4D97-AF65-F5344CB8AC3E}">
        <p14:creationId xmlns:p14="http://schemas.microsoft.com/office/powerpoint/2010/main" val="800535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060D-ED76-6CC2-5F57-1AEB6E7A6B8B}"/>
            </a:ext>
          </a:extLst>
        </p:cNvPr>
        <p:cNvGrpSpPr/>
        <p:nvPr/>
      </p:nvGrpSpPr>
      <p:grpSpPr>
        <a:xfrm>
          <a:off x="0" y="0"/>
          <a:ext cx="0" cy="0"/>
          <a:chOff x="0" y="0"/>
          <a:chExt cx="0" cy="0"/>
        </a:xfrm>
      </p:grpSpPr>
      <p:sp>
        <p:nvSpPr>
          <p:cNvPr id="35" name="矩形 34">
            <a:extLst>
              <a:ext uri="{FF2B5EF4-FFF2-40B4-BE49-F238E27FC236}">
                <a16:creationId xmlns:a16="http://schemas.microsoft.com/office/drawing/2014/main" id="{7AA43117-C80C-2503-C285-FECE92361C47}"/>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FBB74741-7EF7-EAD7-8284-19A56BF4DAA8}"/>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 name="object 5">
            <a:extLst>
              <a:ext uri="{FF2B5EF4-FFF2-40B4-BE49-F238E27FC236}">
                <a16:creationId xmlns:a16="http://schemas.microsoft.com/office/drawing/2014/main" id="{D11D1DE5-8934-A52F-467D-9F381681BACC}"/>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 </a:t>
            </a:r>
            <a:r>
              <a:rPr lang="en-US" altLang="zh-CN" sz="3600" spc="-10" dirty="0" err="1">
                <a:solidFill>
                  <a:schemeClr val="bg1"/>
                </a:solidFill>
                <a:latin typeface="Calibri" panose="020F0502020204030204" pitchFamily="34" charset="0"/>
                <a:cs typeface="Calibri" panose="020F0502020204030204" pitchFamily="34" charset="0"/>
              </a:rPr>
              <a:t>AlexNet</a:t>
            </a:r>
            <a:r>
              <a:rPr lang="en-US" altLang="zh-CN" sz="3600" spc="-10" dirty="0">
                <a:solidFill>
                  <a:schemeClr val="bg1"/>
                </a:solidFill>
                <a:latin typeface="Calibri" panose="020F0502020204030204" pitchFamily="34" charset="0"/>
                <a:cs typeface="Calibri" panose="020F0502020204030204" pitchFamily="34" charset="0"/>
              </a:rPr>
              <a:t> </a:t>
            </a:r>
            <a:r>
              <a:rPr lang="zh-CN" altLang="en-US" sz="3600" spc="-10" dirty="0">
                <a:solidFill>
                  <a:schemeClr val="bg1"/>
                </a:solidFill>
                <a:latin typeface="Calibri" panose="020F0502020204030204" pitchFamily="34" charset="0"/>
                <a:cs typeface="Calibri" panose="020F0502020204030204" pitchFamily="34" charset="0"/>
              </a:rPr>
              <a:t>的代码实现</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EFC8DC95-1AF0-84BE-A4D2-CAF3F27B42BB}"/>
              </a:ext>
            </a:extLst>
          </p:cNvPr>
          <p:cNvPicPr>
            <a:picLocks noChangeAspect="1"/>
          </p:cNvPicPr>
          <p:nvPr/>
        </p:nvPicPr>
        <p:blipFill>
          <a:blip r:embed="rId3"/>
          <a:stretch>
            <a:fillRect/>
          </a:stretch>
        </p:blipFill>
        <p:spPr>
          <a:xfrm>
            <a:off x="454024" y="1643063"/>
            <a:ext cx="5210629" cy="4497387"/>
          </a:xfrm>
          <a:prstGeom prst="rect">
            <a:avLst/>
          </a:prstGeom>
        </p:spPr>
      </p:pic>
      <p:pic>
        <p:nvPicPr>
          <p:cNvPr id="4" name="图片 3">
            <a:extLst>
              <a:ext uri="{FF2B5EF4-FFF2-40B4-BE49-F238E27FC236}">
                <a16:creationId xmlns:a16="http://schemas.microsoft.com/office/drawing/2014/main" id="{47F2F7B6-75DF-C9C6-AC95-50D1518DE754}"/>
              </a:ext>
            </a:extLst>
          </p:cNvPr>
          <p:cNvPicPr>
            <a:picLocks noChangeAspect="1"/>
          </p:cNvPicPr>
          <p:nvPr/>
        </p:nvPicPr>
        <p:blipFill>
          <a:blip r:embed="rId4"/>
          <a:stretch>
            <a:fillRect/>
          </a:stretch>
        </p:blipFill>
        <p:spPr>
          <a:xfrm>
            <a:off x="6016170" y="1643063"/>
            <a:ext cx="5721806" cy="4497387"/>
          </a:xfrm>
          <a:prstGeom prst="rect">
            <a:avLst/>
          </a:prstGeom>
        </p:spPr>
      </p:pic>
    </p:spTree>
    <p:extLst>
      <p:ext uri="{BB962C8B-B14F-4D97-AF65-F5344CB8AC3E}">
        <p14:creationId xmlns:p14="http://schemas.microsoft.com/office/powerpoint/2010/main" val="667348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 name="矩形 2">
            <a:extLst>
              <a:ext uri="{FF2B5EF4-FFF2-40B4-BE49-F238E27FC236}">
                <a16:creationId xmlns:a16="http://schemas.microsoft.com/office/drawing/2014/main" id="{2D8CCDFE-65B3-F35B-6EB7-EC61AA8DB33F}"/>
              </a:ext>
            </a:extLst>
          </p:cNvPr>
          <p:cNvSpPr/>
          <p:nvPr/>
        </p:nvSpPr>
        <p:spPr bwMode="auto">
          <a:xfrm>
            <a:off x="765810" y="1692875"/>
            <a:ext cx="4757660"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10" name="文本框 9"/>
          <p:cNvSpPr txBox="1"/>
          <p:nvPr/>
        </p:nvSpPr>
        <p:spPr>
          <a:xfrm>
            <a:off x="1022350" y="1998345"/>
            <a:ext cx="5657215" cy="3784600"/>
          </a:xfrm>
          <a:prstGeom prst="rect">
            <a:avLst/>
          </a:prstGeom>
          <a:noFill/>
        </p:spPr>
        <p:txBody>
          <a:bodyPr wrap="square" rtlCol="0">
            <a:spAutoFit/>
          </a:bodyPr>
          <a:lstStyle/>
          <a:p>
            <a:r>
              <a:rPr lang="en-US" altLang="zh-CN" sz="2400" b="1"/>
              <a:t>VGG</a:t>
            </a:r>
            <a:r>
              <a:rPr lang="zh-CN" altLang="en-US" sz="2400" b="1"/>
              <a:t>设计动机：</a:t>
            </a:r>
          </a:p>
          <a:p>
            <a:endParaRPr lang="zh-CN" altLang="en-US" sz="2400"/>
          </a:p>
          <a:p>
            <a:r>
              <a:rPr lang="zh-CN" altLang="en-US" sz="2400"/>
              <a:t>用更小的卷积核，堆更深的网络</a:t>
            </a:r>
          </a:p>
          <a:p>
            <a:endParaRPr lang="zh-CN" altLang="en-US" sz="2400"/>
          </a:p>
          <a:p>
            <a:r>
              <a:rPr lang="en-US" altLang="zh-CN" sz="2400" b="1"/>
              <a:t>VGG</a:t>
            </a:r>
            <a:r>
              <a:rPr lang="zh-CN" altLang="en-US" sz="2400" b="1"/>
              <a:t>架构特点：</a:t>
            </a:r>
          </a:p>
          <a:p>
            <a:endParaRPr lang="zh-CN" altLang="en-US" sz="2400"/>
          </a:p>
          <a:p>
            <a:pPr marL="342900" indent="-342900">
              <a:buFont typeface="Arial" panose="020B0604020202020204" pitchFamily="34" charset="0"/>
              <a:buChar char="•"/>
            </a:pPr>
            <a:r>
              <a:rPr lang="zh-CN" altLang="en-US" sz="2400"/>
              <a:t>统一使用</a:t>
            </a:r>
            <a:r>
              <a:rPr lang="en-US" altLang="zh-CN" sz="2400"/>
              <a:t> 3</a:t>
            </a:r>
            <a:r>
              <a:rPr lang="en-US" altLang="en-US" sz="2400"/>
              <a:t>×</a:t>
            </a:r>
            <a:r>
              <a:rPr lang="en-US" altLang="zh-CN" sz="2400"/>
              <a:t>3 </a:t>
            </a:r>
            <a:r>
              <a:rPr lang="zh-CN" altLang="en-US" sz="2400"/>
              <a:t>卷积</a:t>
            </a:r>
          </a:p>
          <a:p>
            <a:pPr marL="342900" indent="-342900">
              <a:buFont typeface="Arial" panose="020B0604020202020204" pitchFamily="34" charset="0"/>
              <a:buChar char="•"/>
            </a:pPr>
            <a:r>
              <a:rPr lang="zh-CN" altLang="en-US" sz="2400"/>
              <a:t>卷积步长</a:t>
            </a:r>
            <a:r>
              <a:rPr lang="en-US" altLang="zh-CN" sz="2400"/>
              <a:t> = 1</a:t>
            </a:r>
          </a:p>
          <a:p>
            <a:pPr marL="342900" indent="-342900">
              <a:buFont typeface="Arial" panose="020B0604020202020204" pitchFamily="34" charset="0"/>
              <a:buChar char="•"/>
            </a:pPr>
            <a:r>
              <a:rPr lang="zh-CN" altLang="en-US" sz="2400"/>
              <a:t>池化：</a:t>
            </a:r>
            <a:r>
              <a:rPr lang="en-US" altLang="zh-CN" sz="2400"/>
              <a:t>2</a:t>
            </a:r>
            <a:r>
              <a:rPr lang="en-US" altLang="en-US" sz="2400"/>
              <a:t>×</a:t>
            </a:r>
            <a:r>
              <a:rPr lang="en-US" altLang="zh-CN" sz="2400"/>
              <a:t>2</a:t>
            </a:r>
            <a:r>
              <a:rPr lang="zh-CN" altLang="en-US" sz="2400"/>
              <a:t>，</a:t>
            </a:r>
            <a:r>
              <a:rPr lang="en-US" altLang="zh-CN" sz="2400"/>
              <a:t>stride=2</a:t>
            </a:r>
          </a:p>
          <a:p>
            <a:pPr marL="342900" indent="-342900">
              <a:buFont typeface="Arial" panose="020B0604020202020204" pitchFamily="34" charset="0"/>
              <a:buChar char="•"/>
            </a:pPr>
            <a:r>
              <a:rPr lang="zh-CN" altLang="en-US" sz="2400"/>
              <a:t>多个卷积</a:t>
            </a:r>
            <a:r>
              <a:rPr lang="en-US" altLang="zh-CN" sz="2400"/>
              <a:t> </a:t>
            </a:r>
            <a:r>
              <a:rPr lang="en-US" altLang="en-US" sz="2400"/>
              <a:t>→</a:t>
            </a:r>
            <a:r>
              <a:rPr lang="en-US" altLang="zh-CN" sz="2400"/>
              <a:t> </a:t>
            </a:r>
            <a:r>
              <a:rPr lang="zh-CN" altLang="en-US" sz="2400"/>
              <a:t>一个池化</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784"/>
            <a:ext cx="458380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四、经典模型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rPr>
              <a:t>-VGG</a:t>
            </a:r>
          </a:p>
        </p:txBody>
      </p:sp>
      <p:pic>
        <p:nvPicPr>
          <p:cNvPr id="8" name="图片 7"/>
          <p:cNvPicPr>
            <a:picLocks noChangeAspect="1"/>
          </p:cNvPicPr>
          <p:nvPr/>
        </p:nvPicPr>
        <p:blipFill>
          <a:blip r:embed="rId3"/>
          <a:stretch>
            <a:fillRect/>
          </a:stretch>
        </p:blipFill>
        <p:spPr>
          <a:xfrm>
            <a:off x="6181725" y="1183005"/>
            <a:ext cx="5244465" cy="55372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矩形 3">
            <a:extLst>
              <a:ext uri="{FF2B5EF4-FFF2-40B4-BE49-F238E27FC236}">
                <a16:creationId xmlns:a16="http://schemas.microsoft.com/office/drawing/2014/main" id="{0F6BED7C-B0EF-BE89-601D-415CABD02370}"/>
              </a:ext>
            </a:extLst>
          </p:cNvPr>
          <p:cNvSpPr/>
          <p:nvPr/>
        </p:nvSpPr>
        <p:spPr bwMode="auto">
          <a:xfrm>
            <a:off x="719455" y="1692875"/>
            <a:ext cx="9737433" cy="1764065"/>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10" name="文本框 9"/>
          <p:cNvSpPr txBox="1"/>
          <p:nvPr/>
        </p:nvSpPr>
        <p:spPr>
          <a:xfrm>
            <a:off x="1294765" y="1741170"/>
            <a:ext cx="8744585" cy="1715770"/>
          </a:xfrm>
          <a:prstGeom prst="rect">
            <a:avLst/>
          </a:prstGeom>
          <a:noFill/>
        </p:spPr>
        <p:txBody>
          <a:bodyPr wrap="square" rtlCol="0">
            <a:spAutoFit/>
          </a:bodyPr>
          <a:lstStyle/>
          <a:p>
            <a:r>
              <a:rPr lang="zh-CN" altLang="en-US" sz="2400" b="1"/>
              <a:t>为什么</a:t>
            </a:r>
            <a:r>
              <a:rPr lang="en-US" altLang="zh-CN" sz="2400" b="1"/>
              <a:t> 3</a:t>
            </a:r>
            <a:r>
              <a:rPr lang="en-US" altLang="en-US" sz="2400" b="1"/>
              <a:t>×</a:t>
            </a:r>
            <a:r>
              <a:rPr lang="en-US" altLang="zh-CN" sz="2400" b="1"/>
              <a:t>3 </a:t>
            </a:r>
            <a:r>
              <a:rPr lang="zh-CN" altLang="en-US" sz="2400" b="1"/>
              <a:t>卷积是好选择？</a:t>
            </a:r>
          </a:p>
          <a:p>
            <a:endParaRPr lang="en-US" altLang="zh-CN" sz="2400"/>
          </a:p>
          <a:p>
            <a:pPr>
              <a:lnSpc>
                <a:spcPct val="120000"/>
              </a:lnSpc>
              <a:spcBef>
                <a:spcPts val="0"/>
              </a:spcBef>
              <a:spcAft>
                <a:spcPts val="0"/>
              </a:spcAft>
            </a:pPr>
            <a:r>
              <a:rPr lang="en-US" altLang="zh-CN" sz="2400">
                <a:solidFill>
                  <a:srgbClr val="0000FF"/>
                </a:solidFill>
                <a:sym typeface="+mn-ea"/>
              </a:rPr>
              <a:t>3 </a:t>
            </a:r>
            <a:r>
              <a:rPr lang="zh-CN" altLang="en-US" sz="2400">
                <a:solidFill>
                  <a:srgbClr val="0000FF"/>
                </a:solidFill>
                <a:sym typeface="+mn-ea"/>
              </a:rPr>
              <a:t>个</a:t>
            </a:r>
            <a:r>
              <a:rPr lang="en-US" altLang="zh-CN" sz="2400">
                <a:solidFill>
                  <a:srgbClr val="0000FF"/>
                </a:solidFill>
                <a:sym typeface="+mn-ea"/>
              </a:rPr>
              <a:t> 3</a:t>
            </a:r>
            <a:r>
              <a:rPr lang="en-US" altLang="en-US" sz="2400">
                <a:solidFill>
                  <a:srgbClr val="0000FF"/>
                </a:solidFill>
                <a:sym typeface="+mn-ea"/>
              </a:rPr>
              <a:t>×</a:t>
            </a:r>
            <a:r>
              <a:rPr lang="en-US" altLang="zh-CN" sz="2400">
                <a:solidFill>
                  <a:srgbClr val="0000FF"/>
                </a:solidFill>
                <a:sym typeface="+mn-ea"/>
              </a:rPr>
              <a:t>3</a:t>
            </a:r>
            <a:r>
              <a:rPr lang="en-US" altLang="en-US" sz="2400">
                <a:solidFill>
                  <a:srgbClr val="0000FF"/>
                </a:solidFill>
                <a:sym typeface="+mn-ea"/>
              </a:rPr>
              <a:t>卷积</a:t>
            </a:r>
            <a:r>
              <a:rPr lang="zh-CN" altLang="en-US" sz="2400">
                <a:sym typeface="+mn-ea"/>
              </a:rPr>
              <a:t>和</a:t>
            </a:r>
            <a:r>
              <a:rPr lang="en-US" altLang="zh-CN" sz="2400">
                <a:solidFill>
                  <a:srgbClr val="0000FF"/>
                </a:solidFill>
                <a:sym typeface="+mn-ea"/>
              </a:rPr>
              <a:t>1 个 7×7</a:t>
            </a:r>
            <a:r>
              <a:rPr lang="en-US" altLang="en-US" sz="2400">
                <a:solidFill>
                  <a:srgbClr val="0000FF"/>
                </a:solidFill>
                <a:sym typeface="+mn-ea"/>
              </a:rPr>
              <a:t>卷积</a:t>
            </a:r>
            <a:r>
              <a:rPr lang="zh-CN" altLang="en-US" sz="2400"/>
              <a:t>感受野相同，但</a:t>
            </a:r>
            <a:r>
              <a:rPr lang="en-US" altLang="zh-CN" sz="2400">
                <a:solidFill>
                  <a:srgbClr val="0000FF"/>
                </a:solidFill>
                <a:sym typeface="+mn-ea"/>
              </a:rPr>
              <a:t>3 </a:t>
            </a:r>
            <a:r>
              <a:rPr lang="zh-CN" altLang="en-US" sz="2400">
                <a:solidFill>
                  <a:srgbClr val="0000FF"/>
                </a:solidFill>
                <a:sym typeface="+mn-ea"/>
              </a:rPr>
              <a:t>个</a:t>
            </a:r>
            <a:r>
              <a:rPr lang="en-US" altLang="zh-CN" sz="2400">
                <a:solidFill>
                  <a:srgbClr val="0000FF"/>
                </a:solidFill>
                <a:sym typeface="+mn-ea"/>
              </a:rPr>
              <a:t> 3</a:t>
            </a:r>
            <a:r>
              <a:rPr lang="en-US" altLang="en-US" sz="2400">
                <a:solidFill>
                  <a:srgbClr val="0000FF"/>
                </a:solidFill>
                <a:sym typeface="+mn-ea"/>
              </a:rPr>
              <a:t>×</a:t>
            </a:r>
            <a:r>
              <a:rPr lang="en-US" altLang="zh-CN" sz="2400">
                <a:solidFill>
                  <a:srgbClr val="0000FF"/>
                </a:solidFill>
                <a:sym typeface="+mn-ea"/>
              </a:rPr>
              <a:t>3</a:t>
            </a:r>
            <a:r>
              <a:rPr lang="en-US" altLang="en-US" sz="2400">
                <a:solidFill>
                  <a:srgbClr val="0000FF"/>
                </a:solidFill>
                <a:sym typeface="+mn-ea"/>
              </a:rPr>
              <a:t>卷积</a:t>
            </a:r>
            <a:r>
              <a:rPr lang="zh-CN" altLang="en-US" sz="2400">
                <a:sym typeface="+mn-ea"/>
              </a:rPr>
              <a:t>参数更少，层数更多，</a:t>
            </a:r>
            <a:r>
              <a:rPr lang="zh-CN" altLang="en-US" sz="2400"/>
              <a:t>非线性更多。</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784"/>
            <a:ext cx="458380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rPr>
              <a:t>-VGG</a:t>
            </a:r>
          </a:p>
        </p:txBody>
      </p:sp>
      <p:pic>
        <p:nvPicPr>
          <p:cNvPr id="2" name="图片 1"/>
          <p:cNvPicPr>
            <a:picLocks noChangeAspect="1"/>
          </p:cNvPicPr>
          <p:nvPr/>
        </p:nvPicPr>
        <p:blipFill>
          <a:blip r:embed="rId2"/>
          <a:stretch>
            <a:fillRect/>
          </a:stretch>
        </p:blipFill>
        <p:spPr>
          <a:xfrm>
            <a:off x="719455" y="3900170"/>
            <a:ext cx="5306060" cy="2257425"/>
          </a:xfrm>
          <a:prstGeom prst="rect">
            <a:avLst/>
          </a:prstGeom>
        </p:spPr>
      </p:pic>
      <p:pic>
        <p:nvPicPr>
          <p:cNvPr id="3" name="图片 2"/>
          <p:cNvPicPr>
            <a:picLocks noChangeAspect="1"/>
          </p:cNvPicPr>
          <p:nvPr/>
        </p:nvPicPr>
        <p:blipFill>
          <a:blip r:embed="rId3"/>
          <a:stretch>
            <a:fillRect/>
          </a:stretch>
        </p:blipFill>
        <p:spPr>
          <a:xfrm>
            <a:off x="6627495" y="3900170"/>
            <a:ext cx="5376545" cy="238442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 name="矩形 2">
            <a:extLst>
              <a:ext uri="{FF2B5EF4-FFF2-40B4-BE49-F238E27FC236}">
                <a16:creationId xmlns:a16="http://schemas.microsoft.com/office/drawing/2014/main" id="{D83147D5-9394-1D32-80D0-F18BFC5AAE32}"/>
              </a:ext>
            </a:extLst>
          </p:cNvPr>
          <p:cNvSpPr/>
          <p:nvPr/>
        </p:nvSpPr>
        <p:spPr bwMode="auto">
          <a:xfrm>
            <a:off x="765810" y="2357239"/>
            <a:ext cx="4366629" cy="3376295"/>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2" name="文本框 1"/>
          <p:cNvSpPr txBox="1"/>
          <p:nvPr/>
        </p:nvSpPr>
        <p:spPr>
          <a:xfrm>
            <a:off x="843280" y="2554605"/>
            <a:ext cx="5080000" cy="3376295"/>
          </a:xfrm>
          <a:prstGeom prst="rect">
            <a:avLst/>
          </a:prstGeom>
        </p:spPr>
        <p:txBody>
          <a:bodyPr>
            <a:noAutofit/>
          </a:bodyPr>
          <a:lstStyle/>
          <a:p>
            <a:pPr algn="l">
              <a:buClrTx/>
              <a:buSzTx/>
              <a:buFontTx/>
            </a:pPr>
            <a:r>
              <a:rPr lang="zh-CN" altLang="en-US" sz="2400" b="1"/>
              <a:t>参数量对比示例</a:t>
            </a:r>
          </a:p>
          <a:p>
            <a:pPr algn="l">
              <a:buClrTx/>
              <a:buSzTx/>
              <a:buFontTx/>
            </a:pPr>
            <a:endParaRPr lang="zh-CN" altLang="en-US" sz="2400" b="1"/>
          </a:p>
          <a:p>
            <a:pPr indent="0">
              <a:buFont typeface="Arial" panose="020B0604020202020204"/>
              <a:buNone/>
            </a:pPr>
            <a:r>
              <a:rPr lang="zh-CN" altLang="en-US" sz="2400"/>
              <a:t>三层 </a:t>
            </a:r>
            <a:r>
              <a:rPr lang="en-US" altLang="zh-CN" sz="2400"/>
              <a:t>3×3 </a:t>
            </a:r>
            <a:r>
              <a:rPr lang="zh-CN" altLang="en-US" sz="2400"/>
              <a:t>卷积</a:t>
            </a:r>
            <a:r>
              <a:rPr lang="en-US" altLang="zh-CN" sz="2400">
                <a:sym typeface="+mn-ea"/>
              </a:rPr>
              <a:t> vs 7×7 </a:t>
            </a:r>
            <a:r>
              <a:rPr lang="zh-CN" altLang="en-US" sz="2400">
                <a:sym typeface="+mn-ea"/>
              </a:rPr>
              <a:t>卷积</a:t>
            </a:r>
          </a:p>
          <a:p>
            <a:pPr indent="0">
              <a:buFont typeface="Arial" panose="020B0604020202020204"/>
              <a:buNone/>
            </a:pPr>
            <a:endParaRPr lang="zh-CN" altLang="en-US" sz="2400"/>
          </a:p>
          <a:p>
            <a:pPr indent="0">
              <a:buFont typeface="Arial" panose="020B0604020202020204"/>
              <a:buNone/>
            </a:pPr>
            <a:r>
              <a:rPr lang="zh-CN" altLang="en-US">
                <a:solidFill>
                  <a:schemeClr val="tx1">
                    <a:lumMod val="65000"/>
                    <a:lumOff val="35000"/>
                  </a:schemeClr>
                </a:solidFill>
              </a:rPr>
              <a:t>假设：</a:t>
            </a:r>
            <a:endParaRPr lang="en-US" altLang="zh-CN">
              <a:solidFill>
                <a:schemeClr val="tx1">
                  <a:lumMod val="65000"/>
                  <a:lumOff val="35000"/>
                </a:schemeClr>
              </a:solidFill>
            </a:endParaRPr>
          </a:p>
          <a:p>
            <a:pPr marL="285750" lvl="0" indent="-285750">
              <a:buFont typeface="Arial" panose="020B0604020202020204" pitchFamily="34" charset="0"/>
              <a:buChar char="•"/>
            </a:pPr>
            <a:r>
              <a:rPr lang="zh-CN" altLang="en-US">
                <a:solidFill>
                  <a:schemeClr val="tx1">
                    <a:lumMod val="65000"/>
                    <a:lumOff val="35000"/>
                  </a:schemeClr>
                </a:solidFill>
              </a:rPr>
              <a:t>输入通道数：</a:t>
            </a:r>
            <a:r>
              <a:rPr lang="en-US" altLang="zh-CN">
                <a:solidFill>
                  <a:schemeClr val="tx1">
                    <a:lumMod val="65000"/>
                    <a:lumOff val="35000"/>
                  </a:schemeClr>
                </a:solidFill>
              </a:rPr>
              <a:t>C</a:t>
            </a:r>
          </a:p>
          <a:p>
            <a:pPr marL="285750" lvl="0" indent="-285750">
              <a:buFont typeface="Arial" panose="020B0604020202020204" pitchFamily="34" charset="0"/>
              <a:buChar char="•"/>
            </a:pPr>
            <a:r>
              <a:rPr lang="zh-CN" altLang="en-US">
                <a:solidFill>
                  <a:schemeClr val="tx1">
                    <a:lumMod val="65000"/>
                    <a:lumOff val="35000"/>
                  </a:schemeClr>
                </a:solidFill>
              </a:rPr>
              <a:t>输出通道数：</a:t>
            </a:r>
            <a:r>
              <a:rPr lang="en-US" altLang="zh-CN">
                <a:solidFill>
                  <a:schemeClr val="tx1">
                    <a:lumMod val="65000"/>
                    <a:lumOff val="35000"/>
                  </a:schemeClr>
                </a:solidFill>
              </a:rPr>
              <a:t>C</a:t>
            </a:r>
          </a:p>
          <a:p>
            <a:pPr marL="285750" lvl="0" indent="-285750">
              <a:buFont typeface="Arial" panose="020B0604020202020204" pitchFamily="34" charset="0"/>
              <a:buChar char="•"/>
            </a:pPr>
            <a:r>
              <a:rPr lang="zh-CN" altLang="en-US">
                <a:solidFill>
                  <a:schemeClr val="tx1">
                    <a:lumMod val="65000"/>
                    <a:lumOff val="35000"/>
                  </a:schemeClr>
                </a:solidFill>
              </a:rPr>
              <a:t>不考虑偏置（</a:t>
            </a:r>
            <a:r>
              <a:rPr lang="en-US" altLang="zh-CN">
                <a:solidFill>
                  <a:schemeClr val="tx1">
                    <a:lumMod val="65000"/>
                    <a:lumOff val="35000"/>
                  </a:schemeClr>
                </a:solidFill>
              </a:rPr>
              <a:t>Bias</a:t>
            </a:r>
            <a:r>
              <a:rPr lang="zh-CN" altLang="en-US">
                <a:solidFill>
                  <a:schemeClr val="tx1">
                    <a:lumMod val="65000"/>
                    <a:lumOff val="35000"/>
                  </a:schemeClr>
                </a:solidFill>
              </a:rPr>
              <a:t>）</a:t>
            </a:r>
            <a:endParaRPr lang="en-US" altLang="zh-CN">
              <a:solidFill>
                <a:schemeClr val="tx1">
                  <a:lumMod val="65000"/>
                  <a:lumOff val="35000"/>
                </a:schemeClr>
              </a:solidFill>
            </a:endParaRPr>
          </a:p>
          <a:p>
            <a:pPr marL="285750" lvl="0" indent="-285750">
              <a:buFont typeface="Arial" panose="020B0604020202020204" pitchFamily="34" charset="0"/>
              <a:buChar char="•"/>
            </a:pPr>
            <a:r>
              <a:rPr lang="zh-CN" altLang="en-US">
                <a:solidFill>
                  <a:schemeClr val="tx1">
                    <a:lumMod val="65000"/>
                    <a:lumOff val="35000"/>
                  </a:schemeClr>
                </a:solidFill>
              </a:rPr>
              <a:t>卷积</a:t>
            </a:r>
            <a:r>
              <a:rPr lang="en-US" altLang="zh-CN">
                <a:solidFill>
                  <a:schemeClr val="tx1">
                    <a:lumMod val="65000"/>
                    <a:lumOff val="35000"/>
                  </a:schemeClr>
                </a:solidFill>
              </a:rPr>
              <a:t> stride=1</a:t>
            </a:r>
            <a:r>
              <a:rPr lang="zh-CN" altLang="en-US">
                <a:solidFill>
                  <a:schemeClr val="tx1">
                    <a:lumMod val="65000"/>
                    <a:lumOff val="35000"/>
                  </a:schemeClr>
                </a:solidFill>
              </a:rPr>
              <a:t>，</a:t>
            </a:r>
            <a:r>
              <a:rPr lang="en-US" altLang="zh-CN">
                <a:solidFill>
                  <a:schemeClr val="tx1">
                    <a:lumMod val="65000"/>
                    <a:lumOff val="35000"/>
                  </a:schemeClr>
                </a:solidFill>
              </a:rPr>
              <a:t>padding </a:t>
            </a:r>
            <a:r>
              <a:rPr lang="zh-CN" altLang="en-US">
                <a:solidFill>
                  <a:schemeClr val="tx1">
                    <a:lumMod val="65000"/>
                    <a:lumOff val="35000"/>
                  </a:schemeClr>
                </a:solidFill>
              </a:rPr>
              <a:t>保持尺寸不变</a:t>
            </a:r>
          </a:p>
          <a:p>
            <a:pPr indent="0">
              <a:buFont typeface="Arial" panose="020B0604020202020204"/>
              <a:buNone/>
            </a:pPr>
            <a:endParaRPr lang="zh-CN" altLang="en-US">
              <a:solidFill>
                <a:schemeClr val="tx1">
                  <a:lumMod val="65000"/>
                  <a:lumOff val="35000"/>
                </a:schemeClr>
              </a:solidFill>
            </a:endParaRP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784"/>
            <a:ext cx="458380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rPr>
              <a:t>-VGG</a:t>
            </a:r>
          </a:p>
        </p:txBody>
      </p:sp>
      <p:sp>
        <p:nvSpPr>
          <p:cNvPr id="4" name="文本框 3"/>
          <p:cNvSpPr txBox="1"/>
          <p:nvPr/>
        </p:nvSpPr>
        <p:spPr>
          <a:xfrm>
            <a:off x="6464300" y="2093913"/>
            <a:ext cx="5080000" cy="3784600"/>
          </a:xfrm>
          <a:prstGeom prst="rect">
            <a:avLst/>
          </a:prstGeom>
        </p:spPr>
        <p:txBody>
          <a:bodyPr>
            <a:spAutoFit/>
          </a:bodyPr>
          <a:lstStyle/>
          <a:p>
            <a:r>
              <a:rPr lang="zh-CN" altLang="en-US" sz="2400" b="1">
                <a:latin typeface="等线" panose="02010600030101010101" charset="-122"/>
                <a:ea typeface="等线" panose="02010600030101010101" charset="-122"/>
                <a:cs typeface="等线" panose="02010600030101010101" charset="-122"/>
              </a:rPr>
              <a:t>三层 </a:t>
            </a:r>
            <a:r>
              <a:rPr lang="en-US" altLang="zh-CN" sz="2400" b="1">
                <a:latin typeface="等线" panose="02010600030101010101" charset="-122"/>
                <a:ea typeface="等线" panose="02010600030101010101" charset="-122"/>
                <a:cs typeface="等线" panose="02010600030101010101" charset="-122"/>
              </a:rPr>
              <a:t>3×3 </a:t>
            </a:r>
            <a:r>
              <a:rPr lang="zh-CN" altLang="en-US" sz="2400" b="1">
                <a:latin typeface="等线" panose="02010600030101010101" charset="-122"/>
                <a:ea typeface="等线" panose="02010600030101010101" charset="-122"/>
                <a:cs typeface="等线" panose="02010600030101010101" charset="-122"/>
              </a:rPr>
              <a:t>卷积：</a:t>
            </a:r>
          </a:p>
          <a:p>
            <a:endParaRPr lang="zh-CN" altLang="en-US" sz="2400">
              <a:latin typeface="等线" panose="02010600030101010101" charset="-122"/>
              <a:ea typeface="等线" panose="02010600030101010101" charset="-122"/>
              <a:cs typeface="等线" panose="02010600030101010101" charset="-122"/>
            </a:endParaRPr>
          </a:p>
          <a:p>
            <a:r>
              <a:rPr lang="zh-CN" altLang="en-US" sz="2400">
                <a:latin typeface="等线" panose="02010600030101010101" charset="-122"/>
                <a:ea typeface="等线" panose="02010600030101010101" charset="-122"/>
                <a:cs typeface="等线" panose="02010600030101010101" charset="-122"/>
              </a:rPr>
              <a:t>每层参数量</a:t>
            </a:r>
            <a:r>
              <a:rPr lang="en-US" altLang="zh-CN" sz="2400">
                <a:latin typeface="等线" panose="02010600030101010101" charset="-122"/>
                <a:ea typeface="等线" panose="02010600030101010101" charset="-122"/>
                <a:cs typeface="等线" panose="02010600030101010101" charset="-122"/>
              </a:rPr>
              <a:t>=3</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3</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C</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C=9C</a:t>
            </a:r>
            <a:r>
              <a:rPr lang="en-US" altLang="zh-CN" sz="2400" baseline="30000">
                <a:latin typeface="等线" panose="02010600030101010101" charset="-122"/>
                <a:ea typeface="等线" panose="02010600030101010101" charset="-122"/>
                <a:cs typeface="等线" panose="02010600030101010101" charset="-122"/>
              </a:rPr>
              <a:t>2</a:t>
            </a:r>
          </a:p>
          <a:p>
            <a:r>
              <a:rPr lang="zh-CN" altLang="en-US" sz="2400">
                <a:latin typeface="等线" panose="02010600030101010101" charset="-122"/>
                <a:ea typeface="等线" panose="02010600030101010101" charset="-122"/>
                <a:cs typeface="等线" panose="02010600030101010101" charset="-122"/>
              </a:rPr>
              <a:t>总参数量</a:t>
            </a:r>
            <a:r>
              <a:rPr lang="en-US" altLang="zh-CN" sz="2400">
                <a:latin typeface="等线" panose="02010600030101010101" charset="-122"/>
                <a:ea typeface="等线" panose="02010600030101010101" charset="-122"/>
                <a:cs typeface="等线" panose="02010600030101010101" charset="-122"/>
              </a:rPr>
              <a:t>=3</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9C</a:t>
            </a:r>
            <a:r>
              <a:rPr lang="en-US" altLang="zh-CN" sz="2400" baseline="30000">
                <a:latin typeface="等线" panose="02010600030101010101" charset="-122"/>
                <a:ea typeface="等线" panose="02010600030101010101" charset="-122"/>
                <a:cs typeface="等线" panose="02010600030101010101" charset="-122"/>
              </a:rPr>
              <a:t>2</a:t>
            </a:r>
            <a:r>
              <a:rPr lang="en-US" altLang="zh-CN" sz="2400">
                <a:latin typeface="等线" panose="02010600030101010101" charset="-122"/>
                <a:ea typeface="等线" panose="02010600030101010101" charset="-122"/>
                <a:cs typeface="等线" panose="02010600030101010101" charset="-122"/>
              </a:rPr>
              <a:t>=</a:t>
            </a:r>
            <a:r>
              <a:rPr lang="en-US" altLang="zh-CN" sz="2400" b="1">
                <a:solidFill>
                  <a:srgbClr val="FF0000"/>
                </a:solidFill>
                <a:latin typeface="等线" panose="02010600030101010101" charset="-122"/>
                <a:ea typeface="等线" panose="02010600030101010101" charset="-122"/>
                <a:cs typeface="等线" panose="02010600030101010101" charset="-122"/>
              </a:rPr>
              <a:t>27C</a:t>
            </a:r>
            <a:r>
              <a:rPr lang="en-US" altLang="zh-CN" sz="2400" b="1" baseline="30000">
                <a:solidFill>
                  <a:srgbClr val="FF0000"/>
                </a:solidFill>
                <a:latin typeface="等线" panose="02010600030101010101" charset="-122"/>
                <a:ea typeface="等线" panose="02010600030101010101" charset="-122"/>
                <a:cs typeface="等线" panose="02010600030101010101" charset="-122"/>
              </a:rPr>
              <a:t>2</a:t>
            </a:r>
          </a:p>
          <a:p>
            <a:endParaRPr lang="en-US" altLang="zh-CN" sz="2400">
              <a:latin typeface="等线" panose="02010600030101010101" charset="-122"/>
              <a:ea typeface="等线" panose="02010600030101010101" charset="-122"/>
              <a:cs typeface="等线" panose="02010600030101010101" charset="-122"/>
            </a:endParaRPr>
          </a:p>
          <a:p>
            <a:r>
              <a:rPr lang="zh-CN" altLang="en-US" sz="2400" b="1">
                <a:latin typeface="等线" panose="02010600030101010101" charset="-122"/>
                <a:ea typeface="等线" panose="02010600030101010101" charset="-122"/>
                <a:cs typeface="等线" panose="02010600030101010101" charset="-122"/>
              </a:rPr>
              <a:t>单层</a:t>
            </a:r>
            <a:r>
              <a:rPr lang="en-US" altLang="zh-CN" sz="2400" b="1">
                <a:latin typeface="等线" panose="02010600030101010101" charset="-122"/>
                <a:ea typeface="等线" panose="02010600030101010101" charset="-122"/>
                <a:cs typeface="等线" panose="02010600030101010101" charset="-122"/>
              </a:rPr>
              <a:t> 7</a:t>
            </a:r>
            <a:r>
              <a:rPr lang="en-US" altLang="en-US" sz="2400" b="1">
                <a:latin typeface="等线" panose="02010600030101010101" charset="-122"/>
                <a:ea typeface="等线" panose="02010600030101010101" charset="-122"/>
                <a:cs typeface="等线" panose="02010600030101010101" charset="-122"/>
              </a:rPr>
              <a:t>×</a:t>
            </a:r>
            <a:r>
              <a:rPr lang="en-US" altLang="zh-CN" sz="2400" b="1">
                <a:latin typeface="等线" panose="02010600030101010101" charset="-122"/>
                <a:ea typeface="等线" panose="02010600030101010101" charset="-122"/>
                <a:cs typeface="等线" panose="02010600030101010101" charset="-122"/>
              </a:rPr>
              <a:t>7 </a:t>
            </a:r>
            <a:r>
              <a:rPr lang="zh-CN" altLang="en-US" sz="2400" b="1">
                <a:latin typeface="等线" panose="02010600030101010101" charset="-122"/>
                <a:ea typeface="等线" panose="02010600030101010101" charset="-122"/>
                <a:cs typeface="等线" panose="02010600030101010101" charset="-122"/>
              </a:rPr>
              <a:t>卷积：</a:t>
            </a:r>
          </a:p>
          <a:p>
            <a:endParaRPr lang="zh-CN" altLang="en-US" sz="2400">
              <a:latin typeface="等线" panose="02010600030101010101" charset="-122"/>
              <a:ea typeface="等线" panose="02010600030101010101" charset="-122"/>
              <a:cs typeface="等线" panose="02010600030101010101" charset="-122"/>
            </a:endParaRPr>
          </a:p>
          <a:p>
            <a:pPr algn="l">
              <a:buClrTx/>
              <a:buSzTx/>
              <a:buFontTx/>
            </a:pPr>
            <a:r>
              <a:rPr lang="zh-CN" altLang="en-US" sz="2400">
                <a:latin typeface="等线" panose="02010600030101010101" charset="-122"/>
                <a:ea typeface="等线" panose="02010600030101010101" charset="-122"/>
                <a:cs typeface="等线" panose="02010600030101010101" charset="-122"/>
              </a:rPr>
              <a:t>总参数量</a:t>
            </a:r>
            <a:r>
              <a:rPr lang="en-US" altLang="zh-CN" sz="2400">
                <a:latin typeface="等线" panose="02010600030101010101" charset="-122"/>
                <a:ea typeface="等线" panose="02010600030101010101" charset="-122"/>
                <a:cs typeface="等线" panose="02010600030101010101" charset="-122"/>
              </a:rPr>
              <a:t>=7</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7</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C</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C=</a:t>
            </a:r>
            <a:r>
              <a:rPr lang="en-US" altLang="zh-CN" sz="2400" b="1">
                <a:solidFill>
                  <a:srgbClr val="FF0000"/>
                </a:solidFill>
                <a:latin typeface="等线" panose="02010600030101010101" charset="-122"/>
                <a:ea typeface="等线" panose="02010600030101010101" charset="-122"/>
                <a:cs typeface="等线" panose="02010600030101010101" charset="-122"/>
              </a:rPr>
              <a:t>49C</a:t>
            </a:r>
            <a:r>
              <a:rPr lang="en-US" altLang="zh-CN" sz="2400" b="1" baseline="30000">
                <a:solidFill>
                  <a:srgbClr val="FF0000"/>
                </a:solidFill>
                <a:latin typeface="等线" panose="02010600030101010101" charset="-122"/>
                <a:ea typeface="等线" panose="02010600030101010101" charset="-122"/>
                <a:cs typeface="等线" panose="02010600030101010101" charset="-122"/>
              </a:rPr>
              <a:t>2</a:t>
            </a:r>
            <a:endParaRPr lang="en-US" altLang="zh-CN" sz="2400" b="1">
              <a:solidFill>
                <a:srgbClr val="FF0000"/>
              </a:solidFill>
              <a:latin typeface="等线" panose="02010600030101010101" charset="-122"/>
              <a:ea typeface="等线" panose="02010600030101010101" charset="-122"/>
              <a:cs typeface="等线" panose="02010600030101010101" charset="-122"/>
            </a:endParaRPr>
          </a:p>
          <a:p>
            <a:pPr algn="l">
              <a:buClrTx/>
              <a:buSzTx/>
              <a:buFontTx/>
            </a:pPr>
            <a:endParaRPr lang="zh-CN" altLang="en-US" sz="2400">
              <a:latin typeface="等线" panose="02010600030101010101" charset="-122"/>
              <a:ea typeface="等线" panose="02010600030101010101" charset="-122"/>
              <a:cs typeface="等线" panose="02010600030101010101" charset="-122"/>
            </a:endParaRPr>
          </a:p>
          <a:p>
            <a:r>
              <a:rPr lang="en-US" altLang="zh-CN" sz="2400" b="1">
                <a:solidFill>
                  <a:srgbClr val="FF0000"/>
                </a:solidFill>
                <a:latin typeface="等线" panose="02010600030101010101" charset="-122"/>
                <a:ea typeface="等线" panose="02010600030101010101" charset="-122"/>
                <a:cs typeface="等线" panose="02010600030101010101" charset="-122"/>
                <a:sym typeface="+mn-ea"/>
              </a:rPr>
              <a:t>27C</a:t>
            </a:r>
            <a:r>
              <a:rPr lang="en-US" altLang="zh-CN" sz="2400" b="1" baseline="30000">
                <a:solidFill>
                  <a:srgbClr val="FF0000"/>
                </a:solidFill>
                <a:latin typeface="等线" panose="02010600030101010101" charset="-122"/>
                <a:ea typeface="等线" panose="02010600030101010101" charset="-122"/>
                <a:cs typeface="等线" panose="02010600030101010101" charset="-122"/>
                <a:sym typeface="+mn-ea"/>
              </a:rPr>
              <a:t>2</a:t>
            </a:r>
            <a:r>
              <a:rPr lang="en-US" altLang="zh-CN" sz="2400" b="1" baseline="30000">
                <a:latin typeface="等线" panose="02010600030101010101" charset="-122"/>
                <a:ea typeface="等线" panose="02010600030101010101" charset="-122"/>
                <a:cs typeface="等线" panose="02010600030101010101" charset="-122"/>
                <a:sym typeface="+mn-ea"/>
              </a:rPr>
              <a:t> </a:t>
            </a:r>
            <a:r>
              <a:rPr lang="en-US" altLang="zh-CN" sz="2400" b="1">
                <a:solidFill>
                  <a:srgbClr val="FF0000"/>
                </a:solidFill>
                <a:latin typeface="等线" panose="02010600030101010101" charset="-122"/>
                <a:ea typeface="等线" panose="02010600030101010101" charset="-122"/>
                <a:cs typeface="等线" panose="02010600030101010101" charset="-122"/>
                <a:sym typeface="+mn-ea"/>
              </a:rPr>
              <a:t>&lt;</a:t>
            </a:r>
            <a:r>
              <a:rPr lang="en-US" altLang="zh-CN" sz="2400" b="1">
                <a:latin typeface="等线" panose="02010600030101010101" charset="-122"/>
                <a:ea typeface="等线" panose="02010600030101010101" charset="-122"/>
                <a:cs typeface="等线" panose="02010600030101010101" charset="-122"/>
                <a:sym typeface="+mn-ea"/>
              </a:rPr>
              <a:t> </a:t>
            </a:r>
            <a:r>
              <a:rPr lang="en-US" altLang="zh-CN" sz="2400" b="1">
                <a:solidFill>
                  <a:srgbClr val="FF0000"/>
                </a:solidFill>
                <a:latin typeface="等线" panose="02010600030101010101" charset="-122"/>
                <a:ea typeface="等线" panose="02010600030101010101" charset="-122"/>
                <a:cs typeface="等线" panose="02010600030101010101" charset="-122"/>
                <a:sym typeface="+mn-ea"/>
              </a:rPr>
              <a:t>49C</a:t>
            </a:r>
            <a:r>
              <a:rPr lang="en-US" altLang="zh-CN" sz="2400" b="1" baseline="30000">
                <a:solidFill>
                  <a:srgbClr val="FF0000"/>
                </a:solidFill>
                <a:latin typeface="等线" panose="02010600030101010101" charset="-122"/>
                <a:ea typeface="等线" panose="02010600030101010101" charset="-122"/>
                <a:cs typeface="等线" panose="02010600030101010101" charset="-122"/>
                <a:sym typeface="+mn-ea"/>
              </a:rPr>
              <a:t>2</a:t>
            </a:r>
            <a:endParaRPr lang="zh-CN" altLang="en-US" sz="2400" b="1">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矩形 3">
            <a:extLst>
              <a:ext uri="{FF2B5EF4-FFF2-40B4-BE49-F238E27FC236}">
                <a16:creationId xmlns:a16="http://schemas.microsoft.com/office/drawing/2014/main" id="{7A19B26E-ACBD-E63D-83A2-E8C6F740911B}"/>
              </a:ext>
            </a:extLst>
          </p:cNvPr>
          <p:cNvSpPr/>
          <p:nvPr/>
        </p:nvSpPr>
        <p:spPr bwMode="auto">
          <a:xfrm>
            <a:off x="1346886" y="3237470"/>
            <a:ext cx="3249828" cy="96382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2" name="文本框 1"/>
          <p:cNvSpPr txBox="1"/>
          <p:nvPr/>
        </p:nvSpPr>
        <p:spPr>
          <a:xfrm>
            <a:off x="1651000" y="3489325"/>
            <a:ext cx="5080000" cy="460375"/>
          </a:xfrm>
          <a:prstGeom prst="rect">
            <a:avLst/>
          </a:prstGeom>
        </p:spPr>
        <p:txBody>
          <a:bodyPr>
            <a:spAutoFit/>
          </a:bodyPr>
          <a:lstStyle/>
          <a:p>
            <a:pPr>
              <a:spcAft>
                <a:spcPct val="60000"/>
              </a:spcAft>
            </a:pPr>
            <a:r>
              <a:rPr lang="en-US" altLang="zh-CN" sz="2400" b="1"/>
              <a:t>VGG </a:t>
            </a:r>
            <a:r>
              <a:rPr lang="zh-CN" altLang="en-US" sz="2400" b="1"/>
              <a:t>网络整体结构</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784"/>
            <a:ext cx="458380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rPr>
              <a:t>-VGG</a:t>
            </a:r>
          </a:p>
        </p:txBody>
      </p:sp>
      <p:pic>
        <p:nvPicPr>
          <p:cNvPr id="3" name="图片 2" descr="vgg-ispravljeno-"/>
          <p:cNvPicPr>
            <a:picLocks noChangeAspect="1"/>
          </p:cNvPicPr>
          <p:nvPr/>
        </p:nvPicPr>
        <p:blipFill>
          <a:blip r:embed="rId2"/>
          <a:stretch>
            <a:fillRect/>
          </a:stretch>
        </p:blipFill>
        <p:spPr>
          <a:xfrm>
            <a:off x="5911215" y="1308735"/>
            <a:ext cx="3911600" cy="557593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B5C25CDA-EFE4-D3DD-94EB-6214090A218D}"/>
              </a:ext>
            </a:extLst>
          </p:cNvPr>
          <p:cNvSpPr/>
          <p:nvPr/>
        </p:nvSpPr>
        <p:spPr bwMode="auto">
          <a:xfrm>
            <a:off x="765810" y="3262184"/>
            <a:ext cx="3262493" cy="87733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pic>
        <p:nvPicPr>
          <p:cNvPr id="5" name="图片 4"/>
          <p:cNvPicPr/>
          <p:nvPr/>
        </p:nvPicPr>
        <p:blipFill>
          <a:blip r:embed="rId2"/>
          <a:stretch>
            <a:fillRect/>
          </a:stretch>
        </p:blipFill>
        <p:spPr>
          <a:xfrm>
            <a:off x="4359275" y="1752600"/>
            <a:ext cx="7376160" cy="4082415"/>
          </a:xfrm>
          <a:prstGeom prst="rect">
            <a:avLst/>
          </a:prstGeom>
        </p:spPr>
      </p:pic>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784"/>
            <a:ext cx="458380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rPr>
              <a:t>-VGG</a:t>
            </a:r>
          </a:p>
        </p:txBody>
      </p:sp>
      <p:sp>
        <p:nvSpPr>
          <p:cNvPr id="3" name="文本框 2"/>
          <p:cNvSpPr txBox="1"/>
          <p:nvPr/>
        </p:nvSpPr>
        <p:spPr>
          <a:xfrm>
            <a:off x="1050925" y="3489325"/>
            <a:ext cx="5080000" cy="460375"/>
          </a:xfrm>
          <a:prstGeom prst="rect">
            <a:avLst/>
          </a:prstGeom>
        </p:spPr>
        <p:txBody>
          <a:bodyPr>
            <a:spAutoFit/>
          </a:bodyPr>
          <a:lstStyle/>
          <a:p>
            <a:pPr>
              <a:spcAft>
                <a:spcPct val="60000"/>
              </a:spcAft>
            </a:pPr>
            <a:r>
              <a:rPr lang="en-US" altLang="zh-CN" sz="2400" b="1"/>
              <a:t>VGG </a:t>
            </a:r>
            <a:r>
              <a:rPr lang="zh-CN" altLang="en-US" sz="2400" b="1"/>
              <a:t>网络数据流图</a:t>
            </a:r>
            <a:endParaRPr lang="en-US" altLang="zh-CN" sz="2400"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 name="矩形 2">
            <a:extLst>
              <a:ext uri="{FF2B5EF4-FFF2-40B4-BE49-F238E27FC236}">
                <a16:creationId xmlns:a16="http://schemas.microsoft.com/office/drawing/2014/main" id="{865E555D-395A-B4D3-BFBA-DB4374892FFD}"/>
              </a:ext>
            </a:extLst>
          </p:cNvPr>
          <p:cNvSpPr/>
          <p:nvPr/>
        </p:nvSpPr>
        <p:spPr bwMode="auto">
          <a:xfrm>
            <a:off x="3200090" y="1729036"/>
            <a:ext cx="5364789"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2" name="文本框 1"/>
          <p:cNvSpPr txBox="1"/>
          <p:nvPr/>
        </p:nvSpPr>
        <p:spPr>
          <a:xfrm>
            <a:off x="3484880" y="1937385"/>
            <a:ext cx="5080000" cy="3784600"/>
          </a:xfrm>
          <a:prstGeom prst="rect">
            <a:avLst/>
          </a:prstGeom>
        </p:spPr>
        <p:txBody>
          <a:bodyPr>
            <a:spAutoFit/>
          </a:bodyPr>
          <a:lstStyle/>
          <a:p>
            <a:pPr algn="l">
              <a:buClrTx/>
              <a:buSzTx/>
              <a:buFontTx/>
            </a:pPr>
            <a:r>
              <a:rPr lang="zh-CN" altLang="en-US" sz="2400" b="1"/>
              <a:t>VGG 优点总结</a:t>
            </a:r>
          </a:p>
          <a:p>
            <a:pPr marL="342900" indent="-342900" algn="l">
              <a:buClrTx/>
              <a:buSzTx/>
              <a:buFont typeface="Arial" panose="020B0604020202020204" pitchFamily="34" charset="0"/>
              <a:buChar char="•"/>
            </a:pPr>
            <a:endParaRPr lang="en-US" altLang="zh-CN" sz="2400"/>
          </a:p>
          <a:p>
            <a:pPr marL="342900" indent="-342900" algn="l">
              <a:buClrTx/>
              <a:buSzTx/>
              <a:buFont typeface="Arial" panose="020B0604020202020204" pitchFamily="34" charset="0"/>
              <a:buChar char="•"/>
            </a:pPr>
            <a:r>
              <a:rPr lang="zh-CN" altLang="en-US" sz="2400"/>
              <a:t>结构简单、规则</a:t>
            </a:r>
            <a:endParaRPr lang="en-US" altLang="zh-CN" sz="2400"/>
          </a:p>
          <a:p>
            <a:pPr marL="342900" indent="-342900" algn="l">
              <a:buClrTx/>
              <a:buSzTx/>
              <a:buFont typeface="Arial" panose="020B0604020202020204" pitchFamily="34" charset="0"/>
              <a:buChar char="•"/>
            </a:pPr>
            <a:r>
              <a:rPr lang="zh-CN" altLang="en-US" sz="2400"/>
              <a:t>易于复现和迁移</a:t>
            </a:r>
            <a:endParaRPr lang="en-US" altLang="zh-CN" sz="2400"/>
          </a:p>
          <a:p>
            <a:pPr marL="342900" indent="-342900" algn="l">
              <a:buClrTx/>
              <a:buSzTx/>
              <a:buFont typeface="Arial" panose="020B0604020202020204" pitchFamily="34" charset="0"/>
              <a:buChar char="•"/>
            </a:pPr>
            <a:r>
              <a:rPr lang="zh-CN" altLang="en-US" sz="2400"/>
              <a:t>成为</a:t>
            </a:r>
            <a:r>
              <a:rPr lang="en-US" altLang="zh-CN" sz="2400"/>
              <a:t>“</a:t>
            </a:r>
            <a:r>
              <a:rPr lang="zh-CN" altLang="en-US" sz="2400"/>
              <a:t>特征提取器</a:t>
            </a:r>
            <a:r>
              <a:rPr lang="en-US" altLang="zh-CN" sz="2400"/>
              <a:t>”</a:t>
            </a:r>
            <a:r>
              <a:rPr lang="zh-CN" altLang="en-US" sz="2400"/>
              <a:t>的标准骨架</a:t>
            </a:r>
          </a:p>
          <a:p>
            <a:pPr algn="l">
              <a:buClrTx/>
              <a:buSzTx/>
              <a:buFontTx/>
            </a:pPr>
            <a:endParaRPr lang="zh-CN" altLang="en-US" sz="2400"/>
          </a:p>
          <a:p>
            <a:pPr algn="l">
              <a:buClrTx/>
              <a:buSzTx/>
              <a:buFontTx/>
            </a:pPr>
            <a:endParaRPr lang="zh-CN" altLang="en-US" sz="2400" b="1"/>
          </a:p>
          <a:p>
            <a:pPr algn="l">
              <a:buClrTx/>
              <a:buSzTx/>
              <a:buFontTx/>
            </a:pPr>
            <a:r>
              <a:rPr lang="zh-CN" altLang="en-US" sz="2400" b="1"/>
              <a:t>接下来要解决什么？</a:t>
            </a:r>
          </a:p>
          <a:p>
            <a:pPr algn="l">
              <a:buClrTx/>
              <a:buSzTx/>
              <a:buFontTx/>
            </a:pPr>
            <a:endParaRPr lang="en-US" altLang="zh-CN" sz="2400"/>
          </a:p>
          <a:p>
            <a:pPr algn="l">
              <a:buClrTx/>
              <a:buSzTx/>
              <a:buFontTx/>
            </a:pPr>
            <a:r>
              <a:rPr lang="zh-CN" altLang="en-US" sz="2400"/>
              <a:t>除了更深，是否可以让网络</a:t>
            </a:r>
            <a:r>
              <a:rPr lang="en-US" altLang="zh-CN" sz="2400"/>
              <a:t>“</a:t>
            </a:r>
            <a:r>
              <a:rPr lang="zh-CN" altLang="en-US" sz="2400"/>
              <a:t>更宽</a:t>
            </a:r>
            <a:r>
              <a:rPr lang="en-US" altLang="zh-CN" sz="2400"/>
              <a:t>”</a:t>
            </a:r>
            <a:r>
              <a:rPr lang="zh-CN" altLang="en-US" sz="2400"/>
              <a:t>？</a:t>
            </a:r>
            <a:r>
              <a:rPr lang="en-US" altLang="zh-CN" sz="2400"/>
              <a:t> </a:t>
            </a:r>
            <a:endParaRPr lang="en-US" altLang="zh-CN" sz="2400">
              <a:sym typeface="+mn-ea"/>
            </a:endParaRP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39" y="552784"/>
            <a:ext cx="458380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rPr>
              <a:t>-VGG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0FBB29E7-3703-2A98-1606-9D4E17C5AA06}"/>
              </a:ext>
            </a:extLst>
          </p:cNvPr>
          <p:cNvSpPr/>
          <p:nvPr/>
        </p:nvSpPr>
        <p:spPr bwMode="auto">
          <a:xfrm>
            <a:off x="2273333" y="2335427"/>
            <a:ext cx="6722385" cy="3101546"/>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2410460" y="2543810"/>
            <a:ext cx="7140575" cy="2676525"/>
          </a:xfrm>
          <a:prstGeom prst="rect">
            <a:avLst/>
          </a:prstGeom>
        </p:spPr>
        <p:txBody>
          <a:bodyPr wrap="square">
            <a:spAutoFit/>
          </a:bodyPr>
          <a:lstStyle/>
          <a:p>
            <a:pPr algn="l">
              <a:buClrTx/>
              <a:buSzTx/>
              <a:buFontTx/>
            </a:pPr>
            <a:r>
              <a:rPr lang="zh-CN" altLang="en-US" sz="2400" b="1"/>
              <a:t>GoogLeNet 简介</a:t>
            </a:r>
          </a:p>
          <a:p>
            <a:pPr algn="l">
              <a:buClrTx/>
              <a:buSzTx/>
              <a:buFontTx/>
            </a:pPr>
            <a:endParaRPr lang="zh-CN" altLang="en-US" sz="2400" b="1"/>
          </a:p>
          <a:p>
            <a:pPr algn="l">
              <a:buClrTx/>
              <a:buSzTx/>
              <a:buFontTx/>
            </a:pPr>
            <a:r>
              <a:rPr lang="zh-CN" altLang="en-US" sz="2400"/>
              <a:t>提出时间：</a:t>
            </a:r>
            <a:r>
              <a:rPr lang="en-US" altLang="zh-CN" sz="2400"/>
              <a:t>2014</a:t>
            </a:r>
          </a:p>
          <a:p>
            <a:pPr algn="l">
              <a:buClrTx/>
              <a:buSzTx/>
              <a:buFontTx/>
            </a:pPr>
            <a:r>
              <a:rPr lang="zh-CN" altLang="en-US" sz="2400"/>
              <a:t>提出机构：</a:t>
            </a:r>
            <a:r>
              <a:rPr lang="en-US" altLang="zh-CN" sz="2400"/>
              <a:t>Google</a:t>
            </a:r>
          </a:p>
          <a:p>
            <a:pPr algn="l">
              <a:buClrTx/>
              <a:buSzTx/>
              <a:buFontTx/>
            </a:pPr>
            <a:r>
              <a:rPr lang="zh-CN" altLang="en-US" sz="2400"/>
              <a:t>论文名称：《</a:t>
            </a:r>
            <a:r>
              <a:rPr lang="en-US" altLang="zh-CN" sz="2400"/>
              <a:t>Going Deeper with Convolutions</a:t>
            </a:r>
            <a:r>
              <a:rPr lang="zh-CN" altLang="en-US" sz="2400"/>
              <a:t>》</a:t>
            </a:r>
          </a:p>
          <a:p>
            <a:pPr algn="l">
              <a:buClrTx/>
              <a:buSzTx/>
              <a:buFontTx/>
            </a:pPr>
            <a:r>
              <a:rPr lang="zh-CN" altLang="en-US" sz="2400"/>
              <a:t>竞赛成绩：</a:t>
            </a:r>
            <a:r>
              <a:rPr lang="en-US" altLang="zh-CN" sz="2400" b="1">
                <a:solidFill>
                  <a:srgbClr val="0000FF"/>
                </a:solidFill>
              </a:rPr>
              <a:t>2014</a:t>
            </a:r>
            <a:r>
              <a:rPr lang="zh-CN" altLang="en-US" sz="2400" b="1">
                <a:solidFill>
                  <a:srgbClr val="0000FF"/>
                </a:solidFill>
              </a:rPr>
              <a:t>年</a:t>
            </a:r>
            <a:r>
              <a:rPr lang="en-US" altLang="zh-CN" sz="2400" b="1">
                <a:solidFill>
                  <a:srgbClr val="0000FF"/>
                </a:solidFill>
              </a:rPr>
              <a:t> ImageNet </a:t>
            </a:r>
            <a:r>
              <a:rPr lang="zh-CN" altLang="en-US" sz="2400" b="1">
                <a:solidFill>
                  <a:srgbClr val="0000FF"/>
                </a:solidFill>
              </a:rPr>
              <a:t>图像识别竞赛冠军</a:t>
            </a:r>
            <a:endParaRPr lang="en-US" altLang="zh-CN" sz="2400" b="1">
              <a:solidFill>
                <a:srgbClr val="0000FF"/>
              </a:solidFill>
            </a:endParaRPr>
          </a:p>
          <a:p>
            <a:pPr algn="l">
              <a:buClrTx/>
              <a:buSzTx/>
              <a:buFontTx/>
            </a:pPr>
            <a:r>
              <a:rPr lang="zh-CN" altLang="en-US" sz="2400"/>
              <a:t>别名：</a:t>
            </a:r>
            <a:r>
              <a:rPr lang="en-US" altLang="zh-CN" sz="2400"/>
              <a:t>Inception v1</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F46CF1DC-9A8D-44DC-F881-146E42DFF5AB}"/>
              </a:ext>
            </a:extLst>
          </p:cNvPr>
          <p:cNvSpPr/>
          <p:nvPr/>
        </p:nvSpPr>
        <p:spPr bwMode="auto">
          <a:xfrm>
            <a:off x="1546157" y="1754658"/>
            <a:ext cx="4757660"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1682115" y="2315845"/>
            <a:ext cx="4856480" cy="3415030"/>
          </a:xfrm>
          <a:prstGeom prst="rect">
            <a:avLst/>
          </a:prstGeom>
        </p:spPr>
        <p:txBody>
          <a:bodyPr wrap="square">
            <a:spAutoFit/>
          </a:bodyPr>
          <a:lstStyle/>
          <a:p>
            <a:pPr algn="l">
              <a:buClrTx/>
              <a:buSzTx/>
              <a:buFontTx/>
            </a:pPr>
            <a:r>
              <a:rPr lang="zh-CN" altLang="en-US" sz="2400" b="1">
                <a:latin typeface="等线" panose="02010600030101010101" charset="-122"/>
                <a:ea typeface="等线" panose="02010600030101010101" charset="-122"/>
                <a:cs typeface="等线" panose="02010600030101010101" charset="-122"/>
              </a:rPr>
              <a:t>GoogLeNet 的核心思想</a:t>
            </a:r>
          </a:p>
          <a:p>
            <a:pPr algn="l">
              <a:buClrTx/>
              <a:buSzTx/>
              <a:buFontTx/>
            </a:pPr>
            <a:endParaRPr lang="en-US" altLang="zh-CN" sz="2400" b="1">
              <a:latin typeface="等线" panose="02010600030101010101" charset="-122"/>
              <a:ea typeface="等线" panose="02010600030101010101" charset="-122"/>
              <a:cs typeface="等线" panose="02010600030101010101" charset="-122"/>
            </a:endParaRPr>
          </a:p>
          <a:p>
            <a:pPr algn="l">
              <a:buClrTx/>
              <a:buSzTx/>
              <a:buFontTx/>
            </a:pPr>
            <a:r>
              <a:rPr lang="zh-CN" altLang="en-US" sz="2400">
                <a:latin typeface="等线" panose="02010600030101010101" charset="-122"/>
                <a:ea typeface="等线" panose="02010600030101010101" charset="-122"/>
                <a:cs typeface="等线" panose="02010600030101010101" charset="-122"/>
              </a:rPr>
              <a:t>在同一层中，我们常常面临选择：</a:t>
            </a:r>
          </a:p>
          <a:p>
            <a:pPr algn="l">
              <a:buClrTx/>
              <a:buSzTx/>
              <a:buFontTx/>
            </a:pPr>
            <a:endParaRPr lang="en-US" altLang="zh-CN" sz="2400">
              <a:latin typeface="等线" panose="02010600030101010101" charset="-122"/>
              <a:ea typeface="等线" panose="02010600030101010101" charset="-122"/>
              <a:cs typeface="等线" panose="02010600030101010101" charset="-122"/>
            </a:endParaRPr>
          </a:p>
          <a:p>
            <a:pPr algn="l">
              <a:buClrTx/>
              <a:buSzTx/>
              <a:buFontTx/>
            </a:pPr>
            <a:r>
              <a:rPr lang="zh-CN" altLang="en-US" sz="2400">
                <a:latin typeface="等线" panose="02010600030101010101" charset="-122"/>
                <a:ea typeface="等线" panose="02010600030101010101" charset="-122"/>
                <a:cs typeface="等线" panose="02010600030101010101" charset="-122"/>
              </a:rPr>
              <a:t>用</a:t>
            </a:r>
            <a:r>
              <a:rPr lang="en-US" altLang="zh-CN" sz="2400">
                <a:latin typeface="等线" panose="02010600030101010101" charset="-122"/>
                <a:ea typeface="等线" panose="02010600030101010101" charset="-122"/>
                <a:cs typeface="等线" panose="02010600030101010101" charset="-122"/>
              </a:rPr>
              <a:t> </a:t>
            </a:r>
            <a:r>
              <a:rPr lang="zh-CN" altLang="en-US" sz="2400">
                <a:latin typeface="等线" panose="02010600030101010101" charset="-122"/>
                <a:ea typeface="等线" panose="02010600030101010101" charset="-122"/>
                <a:cs typeface="等线" panose="02010600030101010101" charset="-122"/>
              </a:rPr>
              <a:t>大卷积核？（如</a:t>
            </a:r>
            <a:r>
              <a:rPr lang="en-US" altLang="zh-CN" sz="2400">
                <a:latin typeface="等线" panose="02010600030101010101" charset="-122"/>
                <a:ea typeface="等线" panose="02010600030101010101" charset="-122"/>
                <a:cs typeface="等线" panose="02010600030101010101" charset="-122"/>
              </a:rPr>
              <a:t> 5</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5</a:t>
            </a:r>
            <a:r>
              <a:rPr lang="zh-CN" altLang="en-US" sz="2400">
                <a:latin typeface="等线" panose="02010600030101010101" charset="-122"/>
                <a:ea typeface="等线" panose="02010600030101010101" charset="-122"/>
                <a:cs typeface="等线" panose="02010600030101010101" charset="-122"/>
              </a:rPr>
              <a:t>）</a:t>
            </a:r>
            <a:endParaRPr lang="en-US" altLang="zh-CN" sz="2400">
              <a:latin typeface="等线" panose="02010600030101010101" charset="-122"/>
              <a:ea typeface="等线" panose="02010600030101010101" charset="-122"/>
              <a:cs typeface="等线" panose="02010600030101010101" charset="-122"/>
            </a:endParaRPr>
          </a:p>
          <a:p>
            <a:pPr algn="l">
              <a:buClrTx/>
              <a:buSzTx/>
              <a:buFontTx/>
            </a:pPr>
            <a:r>
              <a:rPr lang="zh-CN" altLang="en-US" sz="2400">
                <a:latin typeface="等线" panose="02010600030101010101" charset="-122"/>
                <a:ea typeface="等线" panose="02010600030101010101" charset="-122"/>
                <a:cs typeface="等线" panose="02010600030101010101" charset="-122"/>
              </a:rPr>
              <a:t>用</a:t>
            </a:r>
            <a:r>
              <a:rPr lang="en-US" altLang="zh-CN" sz="2400">
                <a:latin typeface="等线" panose="02010600030101010101" charset="-122"/>
                <a:ea typeface="等线" panose="02010600030101010101" charset="-122"/>
                <a:cs typeface="等线" panose="02010600030101010101" charset="-122"/>
              </a:rPr>
              <a:t> </a:t>
            </a:r>
            <a:r>
              <a:rPr lang="zh-CN" altLang="en-US" sz="2400">
                <a:latin typeface="等线" panose="02010600030101010101" charset="-122"/>
                <a:ea typeface="等线" panose="02010600030101010101" charset="-122"/>
                <a:cs typeface="等线" panose="02010600030101010101" charset="-122"/>
              </a:rPr>
              <a:t>小卷积核？（如</a:t>
            </a:r>
            <a:r>
              <a:rPr lang="en-US" altLang="zh-CN" sz="2400">
                <a:latin typeface="等线" panose="02010600030101010101" charset="-122"/>
                <a:ea typeface="等线" panose="02010600030101010101" charset="-122"/>
                <a:cs typeface="等线" panose="02010600030101010101" charset="-122"/>
              </a:rPr>
              <a:t> 1</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1</a:t>
            </a:r>
            <a:r>
              <a:rPr lang="zh-CN"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3</a:t>
            </a:r>
            <a:r>
              <a:rPr lang="en-US" altLang="en-US" sz="2400">
                <a:latin typeface="等线" panose="02010600030101010101" charset="-122"/>
                <a:ea typeface="等线" panose="02010600030101010101" charset="-122"/>
                <a:cs typeface="等线" panose="02010600030101010101" charset="-122"/>
              </a:rPr>
              <a:t>×</a:t>
            </a:r>
            <a:r>
              <a:rPr lang="en-US" altLang="zh-CN" sz="2400">
                <a:latin typeface="等线" panose="02010600030101010101" charset="-122"/>
                <a:ea typeface="等线" panose="02010600030101010101" charset="-122"/>
                <a:cs typeface="等线" panose="02010600030101010101" charset="-122"/>
              </a:rPr>
              <a:t>3</a:t>
            </a:r>
            <a:r>
              <a:rPr lang="zh-CN" altLang="en-US" sz="2400">
                <a:latin typeface="等线" panose="02010600030101010101" charset="-122"/>
                <a:ea typeface="等线" panose="02010600030101010101" charset="-122"/>
                <a:cs typeface="等线" panose="02010600030101010101" charset="-122"/>
              </a:rPr>
              <a:t>）</a:t>
            </a:r>
            <a:endParaRPr lang="en-US" altLang="zh-CN" sz="2400">
              <a:latin typeface="等线" panose="02010600030101010101" charset="-122"/>
              <a:ea typeface="等线" panose="02010600030101010101" charset="-122"/>
              <a:cs typeface="等线" panose="02010600030101010101" charset="-122"/>
            </a:endParaRPr>
          </a:p>
          <a:p>
            <a:pPr algn="l">
              <a:buClrTx/>
              <a:buSzTx/>
              <a:buFontTx/>
            </a:pPr>
            <a:r>
              <a:rPr lang="zh-CN" altLang="en-US" sz="2400">
                <a:latin typeface="等线" panose="02010600030101010101" charset="-122"/>
                <a:ea typeface="等线" panose="02010600030101010101" charset="-122"/>
                <a:cs typeface="等线" panose="02010600030101010101" charset="-122"/>
              </a:rPr>
              <a:t>用</a:t>
            </a:r>
            <a:r>
              <a:rPr lang="en-US" altLang="zh-CN" sz="2400">
                <a:latin typeface="等线" panose="02010600030101010101" charset="-122"/>
                <a:ea typeface="等线" panose="02010600030101010101" charset="-122"/>
                <a:cs typeface="等线" panose="02010600030101010101" charset="-122"/>
              </a:rPr>
              <a:t> </a:t>
            </a:r>
            <a:r>
              <a:rPr lang="zh-CN" altLang="en-US" sz="2400">
                <a:latin typeface="等线" panose="02010600030101010101" charset="-122"/>
                <a:ea typeface="等线" panose="02010600030101010101" charset="-122"/>
                <a:cs typeface="等线" panose="02010600030101010101" charset="-122"/>
              </a:rPr>
              <a:t>池化？</a:t>
            </a:r>
          </a:p>
          <a:p>
            <a:pPr algn="l">
              <a:buClrTx/>
              <a:buSzTx/>
              <a:buFontTx/>
            </a:pPr>
            <a:endParaRPr lang="zh-CN" altLang="en-US" sz="2400">
              <a:latin typeface="等线" panose="02010600030101010101" charset="-122"/>
              <a:ea typeface="等线" panose="02010600030101010101" charset="-122"/>
              <a:cs typeface="等线" panose="02010600030101010101" charset="-122"/>
            </a:endParaRPr>
          </a:p>
          <a:p>
            <a:pPr algn="l">
              <a:buClrTx/>
              <a:buSzTx/>
              <a:buFontTx/>
            </a:pPr>
            <a:r>
              <a:rPr lang="zh-CN" altLang="en-US" sz="2400" b="1">
                <a:latin typeface="等线" panose="02010600030101010101" charset="-122"/>
                <a:ea typeface="等线" panose="02010600030101010101" charset="-122"/>
                <a:cs typeface="等线" panose="02010600030101010101" charset="-122"/>
              </a:rPr>
              <a:t>不确定？</a:t>
            </a:r>
            <a:r>
              <a:rPr lang="en-US" altLang="zh-CN" sz="2400" b="1">
                <a:latin typeface="等线" panose="02010600030101010101" charset="-122"/>
                <a:ea typeface="等线" panose="02010600030101010101" charset="-122"/>
                <a:cs typeface="等线" panose="02010600030101010101" charset="-122"/>
              </a:rPr>
              <a:t>——</a:t>
            </a:r>
            <a:r>
              <a:rPr lang="zh-CN" altLang="en-US" sz="2400" b="1">
                <a:latin typeface="等线" panose="02010600030101010101" charset="-122"/>
                <a:ea typeface="等线" panose="02010600030101010101" charset="-122"/>
                <a:cs typeface="等线" panose="02010600030101010101" charset="-122"/>
              </a:rPr>
              <a:t>那就</a:t>
            </a:r>
            <a:r>
              <a:rPr lang="en-US" altLang="zh-CN" sz="2400" b="1">
                <a:latin typeface="等线" panose="02010600030101010101" charset="-122"/>
                <a:ea typeface="等线" panose="02010600030101010101" charset="-122"/>
                <a:cs typeface="等线" panose="02010600030101010101" charset="-122"/>
              </a:rPr>
              <a:t>“</a:t>
            </a:r>
            <a:r>
              <a:rPr lang="zh-CN" altLang="en-US" sz="2400" b="1">
                <a:latin typeface="等线" panose="02010600030101010101" charset="-122"/>
                <a:ea typeface="等线" panose="02010600030101010101" charset="-122"/>
                <a:cs typeface="等线" panose="02010600030101010101" charset="-122"/>
              </a:rPr>
              <a:t>全都要</a:t>
            </a:r>
            <a:r>
              <a:rPr lang="en-US" altLang="zh-CN" sz="2400" b="1">
                <a:latin typeface="等线" panose="02010600030101010101" charset="-122"/>
                <a:ea typeface="等线" panose="02010600030101010101" charset="-122"/>
                <a:cs typeface="等线" panose="02010600030101010101" charset="-122"/>
              </a:rPr>
              <a:t>”</a:t>
            </a:r>
            <a:r>
              <a:rPr lang="zh-CN" altLang="en-US" sz="2400" b="1">
                <a:latin typeface="等线" panose="02010600030101010101" charset="-122"/>
                <a:ea typeface="等线" panose="02010600030101010101" charset="-122"/>
                <a:cs typeface="等线" panose="02010600030101010101" charset="-122"/>
              </a:rPr>
              <a:t>！</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pic>
        <p:nvPicPr>
          <p:cNvPr id="3" name="图片 2"/>
          <p:cNvPicPr/>
          <p:nvPr/>
        </p:nvPicPr>
        <p:blipFill>
          <a:blip r:embed="rId2">
            <a:extLst>
              <a:ext uri="{96DAC541-7B7A-43D3-8B79-37D633B846F1}">
                <asvg:svgBlip xmlns:asvg="http://schemas.microsoft.com/office/drawing/2016/SVG/main" r:embed="rId3"/>
              </a:ext>
            </a:extLst>
          </a:blip>
          <a:stretch>
            <a:fillRect/>
          </a:stretch>
        </p:blipFill>
        <p:spPr>
          <a:xfrm rot="16200000">
            <a:off x="6209665" y="3178810"/>
            <a:ext cx="4959350" cy="168846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65752ED8-854A-B068-D006-7B9602BEA8C2}"/>
              </a:ext>
            </a:extLst>
          </p:cNvPr>
          <p:cNvSpPr/>
          <p:nvPr/>
        </p:nvSpPr>
        <p:spPr bwMode="auto">
          <a:xfrm>
            <a:off x="2508113" y="1505016"/>
            <a:ext cx="6964817" cy="1841434"/>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2719070" y="1747520"/>
            <a:ext cx="7147560" cy="1198880"/>
          </a:xfrm>
          <a:prstGeom prst="rect">
            <a:avLst/>
          </a:prstGeom>
        </p:spPr>
        <p:txBody>
          <a:bodyPr wrap="square">
            <a:spAutoFit/>
          </a:bodyPr>
          <a:lstStyle/>
          <a:p>
            <a:pPr algn="l">
              <a:buClrTx/>
              <a:buSzTx/>
              <a:buFontTx/>
            </a:pPr>
            <a:r>
              <a:rPr lang="en-US" altLang="zh-CN" sz="2400" b="1"/>
              <a:t>Inception</a:t>
            </a:r>
            <a:r>
              <a:rPr lang="zh-CN" altLang="en-US" sz="2400" b="1"/>
              <a:t>模块结构</a:t>
            </a:r>
          </a:p>
          <a:p>
            <a:pPr algn="l">
              <a:buClrTx/>
              <a:buSzTx/>
              <a:buFontTx/>
            </a:pPr>
            <a:endParaRPr lang="en-US" altLang="zh-CN" sz="2400" b="1"/>
          </a:p>
          <a:p>
            <a:pPr algn="l">
              <a:buClrTx/>
              <a:buSzTx/>
              <a:buFontTx/>
            </a:pPr>
            <a:r>
              <a:rPr lang="zh-CN" altLang="en-US" sz="2400"/>
              <a:t>不同尺度特征同时提取，网络自己决定</a:t>
            </a:r>
            <a:r>
              <a:rPr lang="en-US" altLang="zh-CN" sz="2400"/>
              <a:t>“</a:t>
            </a:r>
            <a:r>
              <a:rPr lang="zh-CN" altLang="en-US" sz="2400"/>
              <a:t>用哪个</a:t>
            </a:r>
            <a:r>
              <a:rPr lang="en-US" altLang="zh-CN" sz="2400"/>
              <a:t>”</a:t>
            </a:r>
          </a:p>
        </p:txBody>
      </p:sp>
      <p:pic>
        <p:nvPicPr>
          <p:cNvPr id="6" name="图片 5"/>
          <p:cNvPicPr/>
          <p:nvPr/>
        </p:nvPicPr>
        <p:blipFill>
          <a:blip r:embed="rId2"/>
          <a:stretch>
            <a:fillRect/>
          </a:stretch>
        </p:blipFill>
        <p:spPr>
          <a:xfrm>
            <a:off x="1028700" y="3511550"/>
            <a:ext cx="9756775" cy="2983865"/>
          </a:xfrm>
          <a:prstGeom prst="rect">
            <a:avLst/>
          </a:prstGeom>
        </p:spPr>
      </p:pic>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矩形 3">
            <a:extLst>
              <a:ext uri="{FF2B5EF4-FFF2-40B4-BE49-F238E27FC236}">
                <a16:creationId xmlns:a16="http://schemas.microsoft.com/office/drawing/2014/main" id="{E53E44EF-F38C-0572-4083-45BF275FE8B4}"/>
              </a:ext>
            </a:extLst>
          </p:cNvPr>
          <p:cNvSpPr/>
          <p:nvPr/>
        </p:nvSpPr>
        <p:spPr bwMode="auto">
          <a:xfrm>
            <a:off x="1338340" y="1826122"/>
            <a:ext cx="9280130"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
        <p:nvSpPr>
          <p:cNvPr id="3" name="文本框 2"/>
          <p:cNvSpPr txBox="1"/>
          <p:nvPr/>
        </p:nvSpPr>
        <p:spPr>
          <a:xfrm>
            <a:off x="1573530" y="2625090"/>
            <a:ext cx="2622550" cy="2724785"/>
          </a:xfrm>
          <a:prstGeom prst="rect">
            <a:avLst/>
          </a:prstGeom>
          <a:noFill/>
        </p:spPr>
        <p:txBody>
          <a:bodyPr wrap="square" rtlCol="0" anchor="t">
            <a:noAutofit/>
          </a:bodyPr>
          <a:lstStyle/>
          <a:p>
            <a:r>
              <a:rPr lang="en-US" altLang="zh-CN" sz="2400" b="1" dirty="0">
                <a:latin typeface="等线" panose="02010600030101010101" charset="-122"/>
                <a:ea typeface="等线" panose="02010600030101010101" charset="-122"/>
                <a:cs typeface="等线" panose="02010600030101010101" charset="-122"/>
                <a:sym typeface="+mn-ea"/>
              </a:rPr>
              <a:t>1</a:t>
            </a:r>
            <a:r>
              <a:rPr lang="en-US" altLang="zh-CN" sz="2400" b="1">
                <a:latin typeface="等线" panose="02010600030101010101" charset="-122"/>
                <a:ea typeface="等线" panose="02010600030101010101" charset="-122"/>
                <a:cs typeface="等线" panose="02010600030101010101" charset="-122"/>
                <a:sym typeface="+mn-ea"/>
              </a:rPr>
              <a:t>×</a:t>
            </a:r>
            <a:r>
              <a:rPr lang="en-US" altLang="zh-CN" sz="2400" b="1" dirty="0">
                <a:latin typeface="等线" panose="02010600030101010101" charset="-122"/>
                <a:ea typeface="等线" panose="02010600030101010101" charset="-122"/>
                <a:cs typeface="等线" panose="02010600030101010101" charset="-122"/>
                <a:sym typeface="+mn-ea"/>
              </a:rPr>
              <a:t>1 </a:t>
            </a:r>
            <a:r>
              <a:rPr lang="zh-CN" altLang="en-US" sz="2400" b="1" dirty="0">
                <a:latin typeface="等线" panose="02010600030101010101" charset="-122"/>
                <a:ea typeface="等线" panose="02010600030101010101" charset="-122"/>
                <a:cs typeface="等线" panose="02010600030101010101" charset="-122"/>
                <a:sym typeface="+mn-ea"/>
              </a:rPr>
              <a:t>卷积</a:t>
            </a:r>
          </a:p>
          <a:p>
            <a:endParaRPr lang="zh-CN" altLang="en-US" sz="2400" b="1" dirty="0">
              <a:latin typeface="等线" panose="02010600030101010101" charset="-122"/>
              <a:ea typeface="等线" panose="02010600030101010101" charset="-122"/>
              <a:cs typeface="等线" panose="02010600030101010101" charset="-122"/>
              <a:sym typeface="+mn-ea"/>
            </a:endParaRPr>
          </a:p>
          <a:p>
            <a:pPr>
              <a:lnSpc>
                <a:spcPct val="120000"/>
              </a:lnSpc>
              <a:spcBef>
                <a:spcPts val="0"/>
              </a:spcBef>
              <a:spcAft>
                <a:spcPts val="0"/>
              </a:spcAft>
            </a:pPr>
            <a:r>
              <a:rPr lang="en-US" altLang="zh-CN" sz="2000" dirty="0">
                <a:sym typeface="+mn-ea"/>
              </a:rPr>
              <a:t>1</a:t>
            </a:r>
            <a:r>
              <a:rPr lang="en-US" altLang="en-US" sz="2000" dirty="0">
                <a:sym typeface="+mn-ea"/>
              </a:rPr>
              <a:t>×</a:t>
            </a:r>
            <a:r>
              <a:rPr lang="en-US" altLang="zh-CN" sz="2000" dirty="0">
                <a:sym typeface="+mn-ea"/>
              </a:rPr>
              <a:t>1</a:t>
            </a:r>
            <a:r>
              <a:rPr lang="zh-CN" altLang="en-US" sz="2000" dirty="0">
                <a:sym typeface="+mn-ea"/>
              </a:rPr>
              <a:t>卷积层主要用于降维，有助于减少可训练参数的数量，同时实现更深层、更高效的架构。</a:t>
            </a:r>
          </a:p>
          <a:p>
            <a:endParaRPr lang="zh-CN" altLang="en-US" sz="2000" dirty="0">
              <a:sym typeface="+mn-ea"/>
            </a:endParaRPr>
          </a:p>
        </p:txBody>
      </p:sp>
      <p:pic>
        <p:nvPicPr>
          <p:cNvPr id="2" name="图片 1"/>
          <p:cNvPicPr>
            <a:picLocks noChangeAspect="1"/>
          </p:cNvPicPr>
          <p:nvPr/>
        </p:nvPicPr>
        <p:blipFill>
          <a:blip r:embed="rId2"/>
          <a:stretch>
            <a:fillRect/>
          </a:stretch>
        </p:blipFill>
        <p:spPr>
          <a:xfrm>
            <a:off x="4304665" y="1978660"/>
            <a:ext cx="6409055" cy="404876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 name="矩形 2">
            <a:extLst>
              <a:ext uri="{FF2B5EF4-FFF2-40B4-BE49-F238E27FC236}">
                <a16:creationId xmlns:a16="http://schemas.microsoft.com/office/drawing/2014/main" id="{AFDEF02E-3203-2097-A7AF-5E8A3DF184D1}"/>
              </a:ext>
            </a:extLst>
          </p:cNvPr>
          <p:cNvSpPr/>
          <p:nvPr/>
        </p:nvSpPr>
        <p:spPr bwMode="auto">
          <a:xfrm>
            <a:off x="1581354" y="2360141"/>
            <a:ext cx="8849155" cy="2990335"/>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1769745" y="2691130"/>
            <a:ext cx="8536940" cy="2468245"/>
          </a:xfrm>
          <a:prstGeom prst="rect">
            <a:avLst/>
          </a:prstGeom>
          <a:noFill/>
        </p:spPr>
        <p:txBody>
          <a:bodyPr wrap="square" rtlCol="0" anchor="t">
            <a:noAutofit/>
          </a:bodyPr>
          <a:lstStyle/>
          <a:p>
            <a:r>
              <a:rPr lang="zh-CN" sz="2400" b="1" dirty="0">
                <a:latin typeface="等线" panose="02010600030101010101" charset="-122"/>
                <a:ea typeface="等线" panose="02010600030101010101" charset="-122"/>
                <a:cs typeface="等线" panose="02010600030101010101" charset="-122"/>
                <a:sym typeface="+mn-ea"/>
              </a:rPr>
              <a:t>全局平均池化</a:t>
            </a:r>
          </a:p>
          <a:p>
            <a:r>
              <a:rPr lang="en-US" altLang="zh-CN" sz="1400" dirty="0">
                <a:solidFill>
                  <a:schemeClr val="tx1">
                    <a:lumMod val="65000"/>
                    <a:lumOff val="35000"/>
                  </a:schemeClr>
                </a:solidFill>
                <a:latin typeface="等线" panose="02010600030101010101" charset="-122"/>
                <a:ea typeface="等线" panose="02010600030101010101" charset="-122"/>
                <a:cs typeface="等线" panose="02010600030101010101" charset="-122"/>
                <a:sym typeface="+mn-ea"/>
              </a:rPr>
              <a:t>Global Average Pooling</a:t>
            </a:r>
          </a:p>
          <a:p>
            <a:endParaRPr lang="zh-CN" altLang="en-US" sz="2000" dirty="0">
              <a:latin typeface="等线" panose="02010600030101010101" charset="-122"/>
              <a:ea typeface="等线" panose="02010600030101010101" charset="-122"/>
              <a:cs typeface="等线" panose="02010600030101010101" charset="-122"/>
              <a:sym typeface="+mn-ea"/>
            </a:endParaRPr>
          </a:p>
          <a:p>
            <a:pPr>
              <a:lnSpc>
                <a:spcPct val="120000"/>
              </a:lnSpc>
              <a:spcBef>
                <a:spcPts val="0"/>
              </a:spcBef>
              <a:spcAft>
                <a:spcPts val="0"/>
              </a:spcAft>
            </a:pPr>
            <a:r>
              <a:rPr lang="zh-CN" altLang="en-US" sz="2000" dirty="0">
                <a:sym typeface="+mn-ea"/>
              </a:rPr>
              <a:t>在传统的架构（例如</a:t>
            </a:r>
            <a:r>
              <a:rPr lang="en-US" altLang="zh-CN" sz="2000" dirty="0">
                <a:sym typeface="+mn-ea"/>
              </a:rPr>
              <a:t> AlexNet</a:t>
            </a:r>
            <a:r>
              <a:rPr lang="zh-CN" altLang="en-US" sz="2000" dirty="0">
                <a:sym typeface="+mn-ea"/>
              </a:rPr>
              <a:t>）中，末端的全连接层会引入大量参数。</a:t>
            </a:r>
            <a:r>
              <a:rPr lang="en-US" altLang="zh-CN" sz="2000" dirty="0">
                <a:sym typeface="+mn-ea"/>
              </a:rPr>
              <a:t>GoogLeNet </a:t>
            </a:r>
            <a:r>
              <a:rPr lang="zh-CN" altLang="en-US" sz="2000" dirty="0">
                <a:sym typeface="+mn-ea"/>
              </a:rPr>
              <a:t>用全局平均池化层取代了这些全连接层，该层计算每个特征图的平均值（例如，将</a:t>
            </a:r>
            <a:r>
              <a:rPr lang="en-US" altLang="zh-CN" sz="2000" dirty="0">
                <a:sym typeface="+mn-ea"/>
              </a:rPr>
              <a:t> 7</a:t>
            </a:r>
            <a:r>
              <a:rPr lang="en-US" altLang="en-US" sz="2000" dirty="0">
                <a:sym typeface="+mn-ea"/>
              </a:rPr>
              <a:t>×</a:t>
            </a:r>
            <a:r>
              <a:rPr lang="en-US" altLang="zh-CN" sz="2000" dirty="0">
                <a:sym typeface="+mn-ea"/>
              </a:rPr>
              <a:t>7 </a:t>
            </a:r>
            <a:r>
              <a:rPr lang="zh-CN" altLang="en-US" sz="2000" dirty="0">
                <a:sym typeface="+mn-ea"/>
              </a:rPr>
              <a:t>的特征图转换为</a:t>
            </a:r>
            <a:r>
              <a:rPr lang="en-US" altLang="zh-CN" sz="2000" dirty="0">
                <a:sym typeface="+mn-ea"/>
              </a:rPr>
              <a:t> 1</a:t>
            </a:r>
            <a:r>
              <a:rPr lang="en-US" altLang="en-US" sz="2000" dirty="0">
                <a:sym typeface="+mn-ea"/>
              </a:rPr>
              <a:t>×</a:t>
            </a:r>
            <a:r>
              <a:rPr lang="en-US" altLang="zh-CN" sz="2000" dirty="0">
                <a:sym typeface="+mn-ea"/>
              </a:rPr>
              <a:t>1 </a:t>
            </a:r>
            <a:r>
              <a:rPr lang="zh-CN" altLang="en-US" sz="2000" dirty="0">
                <a:sym typeface="+mn-ea"/>
              </a:rPr>
              <a:t>的特征图），这显著减少了模型的参数数量并减轻了过拟合问题。</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D9FBAE2D-148B-9466-2B05-7A7CB26FECC6}"/>
              </a:ext>
            </a:extLst>
          </p:cNvPr>
          <p:cNvSpPr/>
          <p:nvPr/>
        </p:nvSpPr>
        <p:spPr bwMode="auto">
          <a:xfrm>
            <a:off x="1376122" y="1717589"/>
            <a:ext cx="9213137"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1602740" y="2718435"/>
            <a:ext cx="4206240" cy="2607310"/>
          </a:xfrm>
          <a:prstGeom prst="rect">
            <a:avLst/>
          </a:prstGeom>
          <a:noFill/>
        </p:spPr>
        <p:txBody>
          <a:bodyPr wrap="square" rtlCol="0" anchor="t">
            <a:noAutofit/>
          </a:bodyPr>
          <a:lstStyle/>
          <a:p>
            <a:r>
              <a:rPr lang="zh-CN" altLang="en-US" sz="2400" b="1" dirty="0">
                <a:sym typeface="+mn-ea"/>
              </a:rPr>
              <a:t>辅助分类器</a:t>
            </a:r>
          </a:p>
          <a:p>
            <a:endParaRPr lang="zh-CN" altLang="en-US" sz="2000" dirty="0">
              <a:sym typeface="+mn-ea"/>
            </a:endParaRPr>
          </a:p>
          <a:p>
            <a:pPr>
              <a:lnSpc>
                <a:spcPct val="120000"/>
              </a:lnSpc>
              <a:spcBef>
                <a:spcPts val="0"/>
              </a:spcBef>
              <a:spcAft>
                <a:spcPts val="0"/>
              </a:spcAft>
            </a:pPr>
            <a:r>
              <a:rPr lang="zh-CN" altLang="en-US" sz="2000" dirty="0">
                <a:sym typeface="+mn-ea"/>
              </a:rPr>
              <a:t>为了解决训练过程中出现的梯度消失问题，</a:t>
            </a:r>
            <a:r>
              <a:rPr lang="en-US" altLang="zh-CN" sz="2000" dirty="0">
                <a:sym typeface="+mn-ea"/>
              </a:rPr>
              <a:t>GoogLeNet</a:t>
            </a:r>
            <a:r>
              <a:rPr lang="zh-CN" altLang="en-US" sz="2000" dirty="0">
                <a:sym typeface="+mn-ea"/>
              </a:rPr>
              <a:t>引入了辅助分类器（充当小型分类器的中间分支）。这些辅助分类器仅在训练期间激活，用于帮助规范网络。</a:t>
            </a:r>
          </a:p>
          <a:p>
            <a:pPr>
              <a:lnSpc>
                <a:spcPct val="120000"/>
              </a:lnSpc>
              <a:spcBef>
                <a:spcPts val="0"/>
              </a:spcBef>
              <a:spcAft>
                <a:spcPts val="0"/>
              </a:spcAft>
            </a:pPr>
            <a:endParaRPr lang="zh-CN" altLang="en-US" sz="2000" dirty="0">
              <a:sym typeface="+mn-ea"/>
            </a:endParaRP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
        <p:nvSpPr>
          <p:cNvPr id="5" name="文本框 4"/>
          <p:cNvSpPr txBox="1"/>
          <p:nvPr/>
        </p:nvSpPr>
        <p:spPr>
          <a:xfrm>
            <a:off x="6290310" y="2649220"/>
            <a:ext cx="4338955" cy="2676525"/>
          </a:xfrm>
          <a:prstGeom prst="rect">
            <a:avLst/>
          </a:prstGeom>
          <a:noFill/>
        </p:spPr>
        <p:txBody>
          <a:bodyPr wrap="square" rtlCol="0" anchor="t">
            <a:spAutoFit/>
          </a:bodyPr>
          <a:lstStyle/>
          <a:p>
            <a:pPr>
              <a:lnSpc>
                <a:spcPct val="120000"/>
              </a:lnSpc>
              <a:spcBef>
                <a:spcPts val="0"/>
              </a:spcBef>
              <a:spcAft>
                <a:spcPts val="0"/>
              </a:spcAft>
            </a:pPr>
            <a:r>
              <a:rPr lang="zh-CN" altLang="en-US" sz="2000" dirty="0">
                <a:sym typeface="+mn-ea"/>
              </a:rPr>
              <a:t>结构：</a:t>
            </a:r>
          </a:p>
          <a:p>
            <a:pPr>
              <a:lnSpc>
                <a:spcPct val="120000"/>
              </a:lnSpc>
              <a:spcBef>
                <a:spcPts val="0"/>
              </a:spcBef>
              <a:spcAft>
                <a:spcPts val="0"/>
              </a:spcAft>
            </a:pPr>
            <a:endParaRPr lang="en-US" altLang="zh-CN" sz="2000" dirty="0">
              <a:sym typeface="+mn-ea"/>
            </a:endParaRPr>
          </a:p>
          <a:p>
            <a:pPr marL="342900" indent="-342900">
              <a:lnSpc>
                <a:spcPct val="120000"/>
              </a:lnSpc>
              <a:spcBef>
                <a:spcPts val="0"/>
              </a:spcBef>
              <a:spcAft>
                <a:spcPts val="0"/>
              </a:spcAft>
              <a:buFont typeface="Arial" panose="020B0604020202020204" pitchFamily="34" charset="0"/>
              <a:buChar char="•"/>
            </a:pPr>
            <a:r>
              <a:rPr lang="zh-CN" altLang="en-US" sz="2000" dirty="0">
                <a:sym typeface="+mn-ea"/>
              </a:rPr>
              <a:t>平均池化层（</a:t>
            </a:r>
            <a:r>
              <a:rPr lang="en-US" altLang="zh-CN" sz="2000" dirty="0">
                <a:sym typeface="+mn-ea"/>
              </a:rPr>
              <a:t>5</a:t>
            </a:r>
            <a:r>
              <a:rPr lang="en-US" altLang="en-US" sz="2000" dirty="0">
                <a:sym typeface="+mn-ea"/>
              </a:rPr>
              <a:t>×</a:t>
            </a:r>
            <a:r>
              <a:rPr lang="en-US" altLang="zh-CN" sz="2000" dirty="0">
                <a:sym typeface="+mn-ea"/>
              </a:rPr>
              <a:t>5</a:t>
            </a:r>
            <a:r>
              <a:rPr lang="zh-CN" altLang="en-US" sz="2000" dirty="0">
                <a:sym typeface="+mn-ea"/>
              </a:rPr>
              <a:t>，步长</a:t>
            </a:r>
            <a:r>
              <a:rPr lang="en-US" altLang="zh-CN" sz="2000" dirty="0">
                <a:sym typeface="+mn-ea"/>
              </a:rPr>
              <a:t> 3</a:t>
            </a:r>
            <a:r>
              <a:rPr lang="zh-CN" altLang="en-US" sz="2000" dirty="0">
                <a:sym typeface="+mn-ea"/>
              </a:rPr>
              <a:t>）</a:t>
            </a:r>
          </a:p>
          <a:p>
            <a:pPr marL="342900" indent="-342900">
              <a:lnSpc>
                <a:spcPct val="120000"/>
              </a:lnSpc>
              <a:spcBef>
                <a:spcPts val="0"/>
              </a:spcBef>
              <a:spcAft>
                <a:spcPts val="0"/>
              </a:spcAft>
              <a:buFont typeface="Arial" panose="020B0604020202020204" pitchFamily="34" charset="0"/>
              <a:buChar char="•"/>
            </a:pPr>
            <a:r>
              <a:rPr lang="en-US" altLang="zh-CN" sz="2000" dirty="0">
                <a:sym typeface="+mn-ea"/>
              </a:rPr>
              <a:t>1</a:t>
            </a:r>
            <a:r>
              <a:rPr lang="en-US" altLang="en-US" sz="2000" dirty="0">
                <a:sym typeface="+mn-ea"/>
              </a:rPr>
              <a:t>×</a:t>
            </a:r>
            <a:r>
              <a:rPr lang="en-US" altLang="zh-CN" sz="2000" dirty="0">
                <a:sym typeface="+mn-ea"/>
              </a:rPr>
              <a:t>1 </a:t>
            </a:r>
            <a:r>
              <a:rPr lang="zh-CN" altLang="en-US" sz="2000" dirty="0">
                <a:sym typeface="+mn-ea"/>
              </a:rPr>
              <a:t>卷积（</a:t>
            </a:r>
            <a:r>
              <a:rPr lang="en-US" altLang="zh-CN" sz="2000" dirty="0">
                <a:sym typeface="+mn-ea"/>
              </a:rPr>
              <a:t>128 </a:t>
            </a:r>
            <a:r>
              <a:rPr lang="zh-CN" altLang="en-US" sz="2000" dirty="0">
                <a:sym typeface="+mn-ea"/>
              </a:rPr>
              <a:t>个滤波器，</a:t>
            </a:r>
            <a:r>
              <a:rPr lang="en-US" altLang="zh-CN" sz="2000" dirty="0">
                <a:sym typeface="+mn-ea"/>
              </a:rPr>
              <a:t>ReLU</a:t>
            </a:r>
            <a:r>
              <a:rPr lang="zh-CN" altLang="en-US" sz="2000" dirty="0">
                <a:sym typeface="+mn-ea"/>
              </a:rPr>
              <a:t>）</a:t>
            </a:r>
          </a:p>
          <a:p>
            <a:pPr marL="342900" indent="-342900">
              <a:lnSpc>
                <a:spcPct val="120000"/>
              </a:lnSpc>
              <a:spcBef>
                <a:spcPts val="0"/>
              </a:spcBef>
              <a:spcAft>
                <a:spcPts val="0"/>
              </a:spcAft>
              <a:buFont typeface="Arial" panose="020B0604020202020204" pitchFamily="34" charset="0"/>
              <a:buChar char="•"/>
            </a:pPr>
            <a:r>
              <a:rPr lang="zh-CN" altLang="en-US" sz="2000" dirty="0">
                <a:sym typeface="+mn-ea"/>
              </a:rPr>
              <a:t>全连接层（</a:t>
            </a:r>
            <a:r>
              <a:rPr lang="en-US" altLang="zh-CN" sz="2000" dirty="0">
                <a:sym typeface="+mn-ea"/>
              </a:rPr>
              <a:t>1024 </a:t>
            </a:r>
            <a:r>
              <a:rPr lang="zh-CN" altLang="en-US" sz="2000" dirty="0">
                <a:sym typeface="+mn-ea"/>
              </a:rPr>
              <a:t>个单元，</a:t>
            </a:r>
            <a:r>
              <a:rPr lang="en-US" altLang="zh-CN" sz="2000" dirty="0">
                <a:sym typeface="+mn-ea"/>
              </a:rPr>
              <a:t>ReLU</a:t>
            </a:r>
            <a:r>
              <a:rPr lang="zh-CN" altLang="en-US" sz="2000" dirty="0">
                <a:sym typeface="+mn-ea"/>
              </a:rPr>
              <a:t>）</a:t>
            </a:r>
          </a:p>
          <a:p>
            <a:pPr marL="342900" indent="-342900">
              <a:lnSpc>
                <a:spcPct val="120000"/>
              </a:lnSpc>
              <a:spcBef>
                <a:spcPts val="0"/>
              </a:spcBef>
              <a:spcAft>
                <a:spcPts val="0"/>
              </a:spcAft>
              <a:buFont typeface="Arial" panose="020B0604020202020204" pitchFamily="34" charset="0"/>
              <a:buChar char="•"/>
            </a:pPr>
            <a:r>
              <a:rPr lang="en-US" altLang="zh-CN" sz="2000" dirty="0">
                <a:sym typeface="+mn-ea"/>
              </a:rPr>
              <a:t>Dropout</a:t>
            </a:r>
            <a:r>
              <a:rPr lang="zh-CN" altLang="en-US" sz="2000" dirty="0">
                <a:sym typeface="+mn-ea"/>
              </a:rPr>
              <a:t>层（</a:t>
            </a:r>
            <a:r>
              <a:rPr lang="en-US" altLang="zh-CN" sz="2000" dirty="0">
                <a:sym typeface="+mn-ea"/>
              </a:rPr>
              <a:t>dropout</a:t>
            </a:r>
            <a:r>
              <a:rPr lang="zh-CN" altLang="en-US" sz="2000" dirty="0">
                <a:sym typeface="+mn-ea"/>
              </a:rPr>
              <a:t>率</a:t>
            </a:r>
            <a:r>
              <a:rPr lang="en-US" altLang="zh-CN" sz="2000" dirty="0">
                <a:sym typeface="+mn-ea"/>
              </a:rPr>
              <a:t>=0.7</a:t>
            </a:r>
            <a:r>
              <a:rPr lang="zh-CN" altLang="en-US" sz="2000" dirty="0">
                <a:sym typeface="+mn-ea"/>
              </a:rPr>
              <a:t>）</a:t>
            </a:r>
          </a:p>
          <a:p>
            <a:pPr marL="342900" indent="-342900">
              <a:lnSpc>
                <a:spcPct val="120000"/>
              </a:lnSpc>
              <a:spcBef>
                <a:spcPts val="0"/>
              </a:spcBef>
              <a:spcAft>
                <a:spcPts val="0"/>
              </a:spcAft>
              <a:buFont typeface="Arial" panose="020B0604020202020204" pitchFamily="34" charset="0"/>
              <a:buChar char="•"/>
            </a:pPr>
            <a:r>
              <a:rPr lang="zh-CN" altLang="en-US" sz="2000" dirty="0">
                <a:sym typeface="+mn-ea"/>
              </a:rPr>
              <a:t>全连接</a:t>
            </a:r>
            <a:r>
              <a:rPr lang="en-US" altLang="zh-CN" sz="2000" dirty="0">
                <a:sym typeface="+mn-ea"/>
              </a:rPr>
              <a:t>softmax</a:t>
            </a:r>
            <a:r>
              <a:rPr lang="zh-CN" altLang="en-US" sz="2000" dirty="0">
                <a:sym typeface="+mn-ea"/>
              </a:rPr>
              <a:t>层（</a:t>
            </a:r>
            <a:r>
              <a:rPr lang="en-US" altLang="zh-CN" sz="2000" dirty="0">
                <a:sym typeface="+mn-ea"/>
              </a:rPr>
              <a:t>1000</a:t>
            </a:r>
            <a:r>
              <a:rPr lang="zh-CN" altLang="en-US" sz="2000" dirty="0">
                <a:sym typeface="+mn-ea"/>
              </a:rPr>
              <a:t>个类别）</a:t>
            </a:r>
          </a:p>
        </p:txBody>
      </p:sp>
      <p:cxnSp>
        <p:nvCxnSpPr>
          <p:cNvPr id="6" name="直接连接符 5"/>
          <p:cNvCxnSpPr/>
          <p:nvPr/>
        </p:nvCxnSpPr>
        <p:spPr>
          <a:xfrm>
            <a:off x="5977255" y="2250440"/>
            <a:ext cx="0" cy="3518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7732F478-E69C-06F8-0108-BD224E8E69E3}"/>
              </a:ext>
            </a:extLst>
          </p:cNvPr>
          <p:cNvSpPr/>
          <p:nvPr/>
        </p:nvSpPr>
        <p:spPr bwMode="auto">
          <a:xfrm>
            <a:off x="3789285" y="1375830"/>
            <a:ext cx="3982240" cy="784654"/>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4072255" y="1539240"/>
            <a:ext cx="3416300" cy="457835"/>
          </a:xfrm>
          <a:prstGeom prst="rect">
            <a:avLst/>
          </a:prstGeom>
        </p:spPr>
        <p:txBody>
          <a:bodyPr wrap="square">
            <a:noAutofit/>
          </a:bodyPr>
          <a:lstStyle/>
          <a:p>
            <a:pPr algn="l">
              <a:buClrTx/>
              <a:buSzTx/>
              <a:buFontTx/>
            </a:pPr>
            <a:r>
              <a:rPr lang="zh-CN" altLang="en-US" sz="2400" b="1">
                <a:latin typeface="等线" panose="02010600030101010101" charset="-122"/>
                <a:ea typeface="等线" panose="02010600030101010101" charset="-122"/>
                <a:cs typeface="等线" panose="02010600030101010101" charset="-122"/>
              </a:rPr>
              <a:t>GoogLeNet 的整体架构</a:t>
            </a:r>
          </a:p>
          <a:p>
            <a:pPr algn="l">
              <a:buClrTx/>
              <a:buSzTx/>
              <a:buFontTx/>
            </a:pPr>
            <a:endParaRPr lang="en-US" altLang="zh-CN" sz="2400" b="1">
              <a:latin typeface="等线" panose="02010600030101010101" charset="-122"/>
              <a:ea typeface="等线" panose="02010600030101010101" charset="-122"/>
              <a:cs typeface="等线" panose="02010600030101010101" charset="-122"/>
            </a:endParaRPr>
          </a:p>
          <a:p>
            <a:pPr algn="l">
              <a:buClrTx/>
              <a:buSzTx/>
              <a:buFontTx/>
            </a:pPr>
            <a:endParaRPr lang="zh-CN" altLang="en-US" sz="2400" b="1">
              <a:latin typeface="等线" panose="02010600030101010101" charset="-122"/>
              <a:ea typeface="等线" panose="02010600030101010101" charset="-122"/>
              <a:cs typeface="等线" panose="02010600030101010101" charset="-122"/>
            </a:endParaRPr>
          </a:p>
        </p:txBody>
      </p:sp>
      <p:pic>
        <p:nvPicPr>
          <p:cNvPr id="10" name="图片 9" descr="0_q5eMDjUHKqEyo7qY"/>
          <p:cNvPicPr>
            <a:picLocks noChangeAspect="1"/>
          </p:cNvPicPr>
          <p:nvPr/>
        </p:nvPicPr>
        <p:blipFill>
          <a:blip r:embed="rId3"/>
          <a:stretch>
            <a:fillRect/>
          </a:stretch>
        </p:blipFill>
        <p:spPr>
          <a:xfrm>
            <a:off x="548640" y="2291080"/>
            <a:ext cx="10752455" cy="4444365"/>
          </a:xfrm>
          <a:prstGeom prst="rect">
            <a:avLst/>
          </a:prstGeom>
        </p:spPr>
      </p:pic>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
        <p:nvSpPr>
          <p:cNvPr id="16" name="文本框 15"/>
          <p:cNvSpPr txBox="1"/>
          <p:nvPr/>
        </p:nvSpPr>
        <p:spPr>
          <a:xfrm>
            <a:off x="3716020" y="6418580"/>
            <a:ext cx="7930515" cy="337185"/>
          </a:xfrm>
          <a:prstGeom prst="rect">
            <a:avLst/>
          </a:prstGeom>
        </p:spPr>
        <p:txBody>
          <a:bodyPr wrap="square">
            <a:spAutoFit/>
          </a:bodyPr>
          <a:lstStyle/>
          <a:p>
            <a:pPr marL="0" indent="0" algn="r"/>
            <a:r>
              <a:rPr lang="zh-CN" altLang="en-US" sz="1600" b="0" i="0">
                <a:solidFill>
                  <a:schemeClr val="tx1">
                    <a:lumMod val="75000"/>
                    <a:lumOff val="25000"/>
                  </a:schemeClr>
                </a:solidFill>
                <a:latin typeface="等线 Light" panose="02010600030101010101" charset="-122"/>
                <a:ea typeface="等线 Light" panose="02010600030101010101" charset="-122"/>
                <a:cs typeface="等线 Light" panose="02010600030101010101" charset="-122"/>
              </a:rPr>
              <a:t>该架构包含两个辅助分类器，分别连接到 </a:t>
            </a:r>
            <a:r>
              <a:rPr lang="en-US" altLang="zh-CN" sz="1600" b="0" i="0">
                <a:solidFill>
                  <a:schemeClr val="tx1">
                    <a:lumMod val="75000"/>
                    <a:lumOff val="25000"/>
                  </a:schemeClr>
                </a:solidFill>
                <a:latin typeface="等线 Light" panose="02010600030101010101" charset="-122"/>
                <a:ea typeface="等线 Light" panose="02010600030101010101" charset="-122"/>
                <a:cs typeface="等线 Light" panose="02010600030101010101" charset="-122"/>
              </a:rPr>
              <a:t>Inception (4a) </a:t>
            </a:r>
            <a:r>
              <a:rPr lang="zh-CN" altLang="en-US" sz="1600" b="0" i="0">
                <a:solidFill>
                  <a:schemeClr val="tx1">
                    <a:lumMod val="75000"/>
                    <a:lumOff val="25000"/>
                  </a:schemeClr>
                </a:solidFill>
                <a:latin typeface="等线 Light" panose="02010600030101010101" charset="-122"/>
                <a:ea typeface="等线 Light" panose="02010600030101010101" charset="-122"/>
                <a:cs typeface="等线 Light" panose="02010600030101010101" charset="-122"/>
              </a:rPr>
              <a:t>层和 </a:t>
            </a:r>
            <a:r>
              <a:rPr lang="en-US" altLang="zh-CN" sz="1600" b="0" i="0">
                <a:solidFill>
                  <a:schemeClr val="tx1">
                    <a:lumMod val="75000"/>
                    <a:lumOff val="25000"/>
                  </a:schemeClr>
                </a:solidFill>
                <a:latin typeface="等线 Light" panose="02010600030101010101" charset="-122"/>
                <a:ea typeface="等线 Light" panose="02010600030101010101" charset="-122"/>
                <a:cs typeface="等线 Light" panose="02010600030101010101" charset="-122"/>
              </a:rPr>
              <a:t>Inception (4d) </a:t>
            </a:r>
            <a:r>
              <a:rPr lang="zh-CN" altLang="en-US" sz="1600" b="0" i="0">
                <a:solidFill>
                  <a:schemeClr val="tx1">
                    <a:lumMod val="75000"/>
                    <a:lumOff val="25000"/>
                  </a:schemeClr>
                </a:solidFill>
                <a:latin typeface="等线 Light" panose="02010600030101010101" charset="-122"/>
                <a:ea typeface="等线 Light" panose="02010600030101010101" charset="-122"/>
                <a:cs typeface="等线 Light" panose="02010600030101010101" charset="-122"/>
              </a:rPr>
              <a:t>层的输出。</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C2C62DCA-FC65-E010-CBB7-7C59521B2EDB}"/>
              </a:ext>
            </a:extLst>
          </p:cNvPr>
          <p:cNvSpPr/>
          <p:nvPr/>
        </p:nvSpPr>
        <p:spPr bwMode="auto">
          <a:xfrm>
            <a:off x="3988495" y="1402080"/>
            <a:ext cx="3583820" cy="797011"/>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4072255" y="1559560"/>
            <a:ext cx="3416300" cy="457835"/>
          </a:xfrm>
          <a:prstGeom prst="rect">
            <a:avLst/>
          </a:prstGeom>
        </p:spPr>
        <p:txBody>
          <a:bodyPr wrap="square">
            <a:noAutofit/>
          </a:bodyPr>
          <a:lstStyle/>
          <a:p>
            <a:pPr algn="l">
              <a:buClrTx/>
              <a:buSzTx/>
              <a:buFontTx/>
            </a:pPr>
            <a:r>
              <a:rPr lang="zh-CN" altLang="en-US" sz="2400" b="1">
                <a:latin typeface="等线" panose="02010600030101010101" charset="-122"/>
                <a:ea typeface="等线" panose="02010600030101010101" charset="-122"/>
                <a:cs typeface="等线" panose="02010600030101010101" charset="-122"/>
              </a:rPr>
              <a:t>GoogLeNet 的具体参数</a:t>
            </a:r>
          </a:p>
          <a:p>
            <a:pPr algn="l">
              <a:buClrTx/>
              <a:buSzTx/>
              <a:buFontTx/>
            </a:pPr>
            <a:endParaRPr lang="en-US" altLang="zh-CN" sz="2400" b="1">
              <a:latin typeface="等线" panose="02010600030101010101" charset="-122"/>
              <a:ea typeface="等线" panose="02010600030101010101" charset="-122"/>
              <a:cs typeface="等线" panose="02010600030101010101" charset="-122"/>
            </a:endParaRPr>
          </a:p>
          <a:p>
            <a:pPr algn="l">
              <a:buClrTx/>
              <a:buSzTx/>
              <a:buFontTx/>
            </a:pPr>
            <a:endParaRPr lang="zh-CN" altLang="en-US" sz="2400" b="1">
              <a:latin typeface="等线" panose="02010600030101010101" charset="-122"/>
              <a:ea typeface="等线" panose="02010600030101010101" charset="-122"/>
              <a:cs typeface="等线" panose="02010600030101010101" charset="-122"/>
            </a:endParaRP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pic>
        <p:nvPicPr>
          <p:cNvPr id="6" name="图片 5" descr="unnamed"/>
          <p:cNvPicPr>
            <a:picLocks noChangeAspect="1"/>
          </p:cNvPicPr>
          <p:nvPr/>
        </p:nvPicPr>
        <p:blipFill>
          <a:blip r:embed="rId3"/>
          <a:stretch>
            <a:fillRect/>
          </a:stretch>
        </p:blipFill>
        <p:spPr>
          <a:xfrm>
            <a:off x="1539240" y="2299970"/>
            <a:ext cx="8214360" cy="433959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4FA6EB60-9F02-D615-3524-1DDFEC9C9797}"/>
              </a:ext>
            </a:extLst>
          </p:cNvPr>
          <p:cNvSpPr/>
          <p:nvPr/>
        </p:nvSpPr>
        <p:spPr bwMode="auto">
          <a:xfrm>
            <a:off x="1698625" y="1816441"/>
            <a:ext cx="8928186" cy="4488473"/>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1871980" y="2854960"/>
            <a:ext cx="8411210" cy="460375"/>
          </a:xfrm>
          <a:prstGeom prst="rect">
            <a:avLst/>
          </a:prstGeom>
        </p:spPr>
        <p:txBody>
          <a:bodyPr wrap="square">
            <a:spAutoFit/>
          </a:bodyPr>
          <a:lstStyle/>
          <a:p>
            <a:pPr algn="l">
              <a:buClrTx/>
              <a:buSzTx/>
              <a:buFontTx/>
            </a:pPr>
            <a:r>
              <a:rPr lang="zh-CN" sz="2400" b="1" dirty="0"/>
              <a:t>测试结果</a:t>
            </a:r>
            <a:r>
              <a:rPr lang="zh-CN" sz="2400" dirty="0"/>
              <a:t>（</a:t>
            </a:r>
            <a:r>
              <a:rPr lang="en-US" altLang="zh-CN" sz="2400" dirty="0"/>
              <a:t>ILSVRC 2014</a:t>
            </a:r>
            <a:r>
              <a:rPr lang="zh-CN" altLang="en-US" sz="2400" dirty="0"/>
              <a:t>）</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pic>
        <p:nvPicPr>
          <p:cNvPr id="3" name="图片 2"/>
          <p:cNvPicPr>
            <a:picLocks noChangeAspect="1"/>
          </p:cNvPicPr>
          <p:nvPr/>
        </p:nvPicPr>
        <p:blipFill>
          <a:blip r:embed="rId2"/>
          <a:stretch>
            <a:fillRect/>
          </a:stretch>
        </p:blipFill>
        <p:spPr>
          <a:xfrm>
            <a:off x="5894705" y="1932940"/>
            <a:ext cx="4598670" cy="2374900"/>
          </a:xfrm>
          <a:prstGeom prst="rect">
            <a:avLst/>
          </a:prstGeom>
        </p:spPr>
      </p:pic>
      <p:pic>
        <p:nvPicPr>
          <p:cNvPr id="6" name="图片 5"/>
          <p:cNvPicPr>
            <a:picLocks noChangeAspect="1"/>
          </p:cNvPicPr>
          <p:nvPr/>
        </p:nvPicPr>
        <p:blipFill>
          <a:blip r:embed="rId3"/>
          <a:srcRect b="4876"/>
          <a:stretch>
            <a:fillRect/>
          </a:stretch>
        </p:blipFill>
        <p:spPr>
          <a:xfrm>
            <a:off x="2468880" y="4319270"/>
            <a:ext cx="6824980" cy="180848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4C4C5BFA-E4F3-C751-D53C-3BEF072354DA}"/>
              </a:ext>
            </a:extLst>
          </p:cNvPr>
          <p:cNvSpPr/>
          <p:nvPr/>
        </p:nvSpPr>
        <p:spPr bwMode="auto">
          <a:xfrm>
            <a:off x="1494858" y="1926838"/>
            <a:ext cx="8131055"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4" name="文本框 3"/>
          <p:cNvSpPr txBox="1"/>
          <p:nvPr/>
        </p:nvSpPr>
        <p:spPr>
          <a:xfrm>
            <a:off x="1889760" y="2504440"/>
            <a:ext cx="8411210" cy="3046095"/>
          </a:xfrm>
          <a:prstGeom prst="rect">
            <a:avLst/>
          </a:prstGeom>
        </p:spPr>
        <p:txBody>
          <a:bodyPr wrap="square">
            <a:spAutoFit/>
          </a:bodyPr>
          <a:lstStyle/>
          <a:p>
            <a:r>
              <a:rPr lang="en-US" sz="2400" b="1" dirty="0"/>
              <a:t>GoogLeNet</a:t>
            </a:r>
            <a:r>
              <a:rPr lang="zh-CN" altLang="en-US" sz="2400" b="1" dirty="0"/>
              <a:t>的优势</a:t>
            </a:r>
          </a:p>
          <a:p>
            <a:pPr algn="l">
              <a:buClrTx/>
              <a:buSzTx/>
              <a:buFontTx/>
            </a:pPr>
            <a:endParaRPr lang="en-US" altLang="zh-CN" sz="2400" b="1" dirty="0"/>
          </a:p>
          <a:p>
            <a:pPr marL="342900" indent="-342900">
              <a:lnSpc>
                <a:spcPct val="150000"/>
              </a:lnSpc>
              <a:buFont typeface="Arial" panose="020B0604020202020204" pitchFamily="34" charset="0"/>
              <a:buChar char="•"/>
            </a:pPr>
            <a:r>
              <a:rPr lang="zh-CN" altLang="en-US" sz="2400" dirty="0"/>
              <a:t>引入了</a:t>
            </a:r>
            <a:r>
              <a:rPr lang="en-US" altLang="zh-CN" sz="2400" dirty="0"/>
              <a:t>Inception</a:t>
            </a:r>
            <a:r>
              <a:rPr lang="zh-CN" altLang="en-US" sz="2400" dirty="0"/>
              <a:t>结构，融合不同尺度的特征信息</a:t>
            </a:r>
          </a:p>
          <a:p>
            <a:pPr marL="342900" indent="-342900">
              <a:lnSpc>
                <a:spcPct val="150000"/>
              </a:lnSpc>
              <a:buFont typeface="Arial" panose="020B0604020202020204" pitchFamily="34" charset="0"/>
              <a:buChar char="•"/>
            </a:pPr>
            <a:r>
              <a:rPr lang="zh-CN" altLang="en-US" sz="2400" dirty="0"/>
              <a:t>使用</a:t>
            </a:r>
            <a:r>
              <a:rPr lang="en-US" altLang="zh-CN" sz="2400" dirty="0"/>
              <a:t>1x1</a:t>
            </a:r>
            <a:r>
              <a:rPr lang="zh-CN" altLang="en-US" sz="2400" dirty="0"/>
              <a:t>的卷积核进行降维以及映射处理</a:t>
            </a:r>
          </a:p>
          <a:p>
            <a:pPr marL="342900" indent="-342900">
              <a:lnSpc>
                <a:spcPct val="150000"/>
              </a:lnSpc>
              <a:buFont typeface="Arial" panose="020B0604020202020204" pitchFamily="34" charset="0"/>
              <a:buChar char="•"/>
            </a:pPr>
            <a:r>
              <a:rPr lang="zh-CN" altLang="en-US" sz="2400" dirty="0"/>
              <a:t>添加两个辅助分类器帮助训练</a:t>
            </a:r>
          </a:p>
          <a:p>
            <a:pPr marL="342900" indent="-342900">
              <a:lnSpc>
                <a:spcPct val="150000"/>
              </a:lnSpc>
              <a:buFont typeface="Arial" panose="020B0604020202020204" pitchFamily="34" charset="0"/>
              <a:buChar char="•"/>
            </a:pPr>
            <a:r>
              <a:rPr lang="zh-CN" altLang="en-US" sz="2400" dirty="0"/>
              <a:t>丢弃全连接层，使用平均池化层，大大减少模型参数</a:t>
            </a:r>
          </a:p>
        </p:txBody>
      </p:sp>
      <p:sp>
        <p:nvSpPr>
          <p:cNvPr id="35" name="矩形 34"/>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矩形 5">
            <a:extLst>
              <a:ext uri="{FF2B5EF4-FFF2-40B4-BE49-F238E27FC236}">
                <a16:creationId xmlns:a16="http://schemas.microsoft.com/office/drawing/2014/main" id="{C639B267-6EE9-E5BA-2814-5048132F586F}"/>
              </a:ext>
            </a:extLst>
          </p:cNvPr>
          <p:cNvSpPr/>
          <p:nvPr/>
        </p:nvSpPr>
        <p:spPr bwMode="auto">
          <a:xfrm>
            <a:off x="3323658" y="2335427"/>
            <a:ext cx="5312341" cy="2891481"/>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3" name="文本框 2"/>
          <p:cNvSpPr txBox="1"/>
          <p:nvPr/>
        </p:nvSpPr>
        <p:spPr>
          <a:xfrm>
            <a:off x="3556000" y="2834640"/>
            <a:ext cx="5080000" cy="2021205"/>
          </a:xfrm>
          <a:prstGeom prst="rect">
            <a:avLst/>
          </a:prstGeom>
        </p:spPr>
        <p:txBody>
          <a:bodyPr>
            <a:spAutoFit/>
          </a:bodyPr>
          <a:lstStyle/>
          <a:p>
            <a:pPr lvl="0" algn="l">
              <a:spcAft>
                <a:spcPct val="60000"/>
              </a:spcAft>
              <a:buClrTx/>
              <a:buSzTx/>
              <a:buFontTx/>
            </a:pPr>
            <a:r>
              <a:rPr lang="en-US" altLang="zh-CN" sz="2400" b="1">
                <a:sym typeface="+mn-ea"/>
              </a:rPr>
              <a:t>小结：VGG vs GoogLeNet</a:t>
            </a:r>
          </a:p>
          <a:p>
            <a:pPr lvl="0" algn="l">
              <a:spcAft>
                <a:spcPct val="60000"/>
              </a:spcAft>
              <a:buClrTx/>
              <a:buSzTx/>
              <a:buFontTx/>
            </a:pPr>
            <a:endParaRPr lang="en-US" altLang="zh-CN" sz="2000" b="1">
              <a:sym typeface="+mn-ea"/>
            </a:endParaRPr>
          </a:p>
          <a:p>
            <a:pPr lvl="0" algn="l">
              <a:spcAft>
                <a:spcPct val="60000"/>
              </a:spcAft>
              <a:buClrTx/>
              <a:buSzTx/>
              <a:buFontTx/>
            </a:pPr>
            <a:r>
              <a:rPr lang="en-US" altLang="zh-CN" sz="2000">
                <a:sym typeface="+mn-ea"/>
              </a:rPr>
              <a:t>VGG：简单、规则、重</a:t>
            </a:r>
            <a:r>
              <a:rPr lang="zh-CN" altLang="en-US" sz="2000">
                <a:sym typeface="+mn-ea"/>
              </a:rPr>
              <a:t>（参数量大）</a:t>
            </a:r>
            <a:endParaRPr lang="en-US" altLang="zh-CN" sz="2000">
              <a:sym typeface="+mn-ea"/>
            </a:endParaRPr>
          </a:p>
          <a:p>
            <a:pPr lvl="0" algn="l">
              <a:spcAft>
                <a:spcPct val="60000"/>
              </a:spcAft>
              <a:buClrTx/>
              <a:buSzTx/>
              <a:buFontTx/>
            </a:pPr>
            <a:r>
              <a:rPr lang="en-US" altLang="zh-CN" sz="2000">
                <a:sym typeface="+mn-ea"/>
              </a:rPr>
              <a:t>GoogLeNet：复杂、高效、轻</a:t>
            </a:r>
            <a:r>
              <a:rPr lang="zh-CN" altLang="en-US" sz="2000">
                <a:sym typeface="+mn-ea"/>
              </a:rPr>
              <a:t>（参数量小）</a:t>
            </a:r>
            <a:endParaRPr lang="en-US" altLang="zh-CN" sz="2000">
              <a:sym typeface="+mn-ea"/>
            </a:endParaRPr>
          </a:p>
        </p:txBody>
      </p:sp>
      <p:sp>
        <p:nvSpPr>
          <p:cNvPr id="2" name="矩形 1"/>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zh-CN" altLang="en-US" sz="3600" spc="-10" dirty="0">
                <a:solidFill>
                  <a:schemeClr val="bg1"/>
                </a:solidFill>
                <a:latin typeface="等线" panose="02010600030101010101" charset="-122"/>
                <a:ea typeface="等线" panose="02010600030101010101" charset="-122"/>
                <a:cs typeface="等线" panose="02010600030101010101" charset="-122"/>
                <a:sym typeface="+mn-ea"/>
              </a:rPr>
              <a:t>GoogLeNet</a:t>
            </a:r>
            <a:endParaRPr lang="zh-CN" altLang="en-US" sz="3600" spc="-10" dirty="0">
              <a:solidFill>
                <a:schemeClr val="bg1"/>
              </a:solidFill>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405380" y="1990725"/>
            <a:ext cx="6952615" cy="4050030"/>
          </a:xfrm>
          <a:prstGeom prst="rect">
            <a:avLst/>
          </a:prstGeom>
        </p:spPr>
        <p:txBody>
          <a:bodyPr wrap="square">
            <a:spAutoFit/>
          </a:bodyPr>
          <a:lstStyle/>
          <a:p>
            <a:pPr>
              <a:spcAft>
                <a:spcPct val="60000"/>
              </a:spcAft>
            </a:pPr>
            <a:r>
              <a:rPr lang="zh-CN" altLang="en-US" sz="2400" b="1">
                <a:latin typeface="等线" panose="02010600030101010101" charset="-122"/>
                <a:ea typeface="等线" panose="02010600030101010101" charset="-122"/>
                <a:cs typeface="等线" panose="02010600030101010101" charset="-122"/>
              </a:rPr>
              <a:t>还能继续加深吗？</a:t>
            </a:r>
          </a:p>
          <a:p>
            <a:pPr>
              <a:spcAft>
                <a:spcPct val="60000"/>
              </a:spcAft>
            </a:pPr>
            <a:r>
              <a:rPr lang="zh-CN" altLang="en-US" sz="2000">
                <a:latin typeface="等线" panose="02010600030101010101" charset="-122"/>
                <a:ea typeface="等线" panose="02010600030101010101" charset="-122"/>
                <a:cs typeface="等线" panose="02010600030101010101" charset="-122"/>
              </a:rPr>
              <a:t>如果我们继续在普通卷积网络上堆叠更深的层：</a:t>
            </a:r>
          </a:p>
          <a:p>
            <a:pPr>
              <a:spcAft>
                <a:spcPct val="60000"/>
              </a:spcAft>
            </a:pPr>
            <a:endParaRPr lang="en-US" altLang="zh-CN" sz="2000">
              <a:latin typeface="等线" panose="02010600030101010101" charset="-122"/>
              <a:ea typeface="等线" panose="02010600030101010101" charset="-122"/>
              <a:cs typeface="等线" panose="02010600030101010101" charset="-122"/>
            </a:endParaRPr>
          </a:p>
          <a:p>
            <a:pPr>
              <a:spcAft>
                <a:spcPct val="60000"/>
              </a:spcAft>
            </a:pPr>
            <a:endParaRPr lang="en-US" altLang="zh-CN" sz="2000">
              <a:latin typeface="等线" panose="02010600030101010101" charset="-122"/>
              <a:ea typeface="等线" panose="02010600030101010101" charset="-122"/>
              <a:cs typeface="等线" panose="02010600030101010101" charset="-122"/>
            </a:endParaRPr>
          </a:p>
          <a:p>
            <a:pPr>
              <a:spcAft>
                <a:spcPct val="60000"/>
              </a:spcAft>
            </a:pPr>
            <a:endParaRPr lang="en-US" altLang="zh-CN" sz="2000">
              <a:latin typeface="等线" panose="02010600030101010101" charset="-122"/>
              <a:ea typeface="等线" panose="02010600030101010101" charset="-122"/>
              <a:cs typeface="等线" panose="02010600030101010101" charset="-122"/>
            </a:endParaRPr>
          </a:p>
          <a:p>
            <a:pPr>
              <a:spcAft>
                <a:spcPct val="60000"/>
              </a:spcAft>
            </a:pPr>
            <a:endParaRPr lang="en-US" altLang="zh-CN" sz="2000">
              <a:latin typeface="等线" panose="02010600030101010101" charset="-122"/>
              <a:ea typeface="等线" panose="02010600030101010101" charset="-122"/>
              <a:cs typeface="等线" panose="02010600030101010101" charset="-122"/>
            </a:endParaRPr>
          </a:p>
          <a:p>
            <a:pPr>
              <a:spcAft>
                <a:spcPct val="60000"/>
              </a:spcAft>
            </a:pPr>
            <a:endParaRPr lang="en-US" altLang="zh-CN" sz="2000">
              <a:latin typeface="等线" panose="02010600030101010101" charset="-122"/>
              <a:ea typeface="等线" panose="02010600030101010101" charset="-122"/>
              <a:cs typeface="等线" panose="02010600030101010101" charset="-122"/>
            </a:endParaRPr>
          </a:p>
          <a:p>
            <a:pPr>
              <a:spcAft>
                <a:spcPct val="60000"/>
              </a:spcAft>
            </a:pPr>
            <a:r>
              <a:rPr lang="zh-CN" sz="2000">
                <a:latin typeface="等线" panose="02010600030101010101" charset="-122"/>
                <a:ea typeface="等线" panose="02010600030101010101" charset="-122"/>
                <a:cs typeface="等线" panose="02010600030101010101" charset="-122"/>
              </a:rPr>
              <a:t>深层的模型反而表现更差！而且并不是由过拟合导致的。</a:t>
            </a:r>
          </a:p>
        </p:txBody>
      </p:sp>
      <p:sp>
        <p:nvSpPr>
          <p:cNvPr id="3" name="矩形 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pic>
        <p:nvPicPr>
          <p:cNvPr id="10" name="图片 9" descr="image-1-1024x542"/>
          <p:cNvPicPr>
            <a:picLocks noChangeAspect="1"/>
          </p:cNvPicPr>
          <p:nvPr/>
        </p:nvPicPr>
        <p:blipFill>
          <a:blip r:embed="rId3"/>
          <a:srcRect b="33768"/>
          <a:stretch>
            <a:fillRect/>
          </a:stretch>
        </p:blipFill>
        <p:spPr>
          <a:xfrm>
            <a:off x="2803525" y="3124200"/>
            <a:ext cx="6554470" cy="2297430"/>
          </a:xfrm>
          <a:prstGeom prst="rect">
            <a:avLst/>
          </a:prstGeom>
        </p:spPr>
      </p:pic>
      <p:sp>
        <p:nvSpPr>
          <p:cNvPr id="6" name="矩形 5">
            <a:extLst>
              <a:ext uri="{FF2B5EF4-FFF2-40B4-BE49-F238E27FC236}">
                <a16:creationId xmlns:a16="http://schemas.microsoft.com/office/drawing/2014/main" id="{C42D3264-8A1A-5BC0-25A6-AADF7B14BB0D}"/>
              </a:ext>
            </a:extLst>
          </p:cNvPr>
          <p:cNvSpPr/>
          <p:nvPr/>
        </p:nvSpPr>
        <p:spPr bwMode="auto">
          <a:xfrm>
            <a:off x="2310402" y="1839457"/>
            <a:ext cx="6784169" cy="4201298"/>
          </a:xfrm>
          <a:prstGeom prst="rect">
            <a:avLst/>
          </a:prstGeom>
          <a:no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矩形 9">
            <a:extLst>
              <a:ext uri="{FF2B5EF4-FFF2-40B4-BE49-F238E27FC236}">
                <a16:creationId xmlns:a16="http://schemas.microsoft.com/office/drawing/2014/main" id="{FD711330-0EEC-8470-9F4D-F2F4A610F4EE}"/>
              </a:ext>
            </a:extLst>
          </p:cNvPr>
          <p:cNvSpPr/>
          <p:nvPr/>
        </p:nvSpPr>
        <p:spPr bwMode="auto">
          <a:xfrm>
            <a:off x="765810" y="1692875"/>
            <a:ext cx="6153974"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3" name="文本框 2"/>
          <p:cNvSpPr txBox="1"/>
          <p:nvPr/>
        </p:nvSpPr>
        <p:spPr>
          <a:xfrm>
            <a:off x="1069340" y="2298700"/>
            <a:ext cx="5735955" cy="3415030"/>
          </a:xfrm>
          <a:prstGeom prst="rect">
            <a:avLst/>
          </a:prstGeom>
        </p:spPr>
        <p:txBody>
          <a:bodyPr wrap="square">
            <a:spAutoFit/>
          </a:bodyPr>
          <a:lstStyle/>
          <a:p>
            <a:pPr>
              <a:lnSpc>
                <a:spcPct val="120000"/>
              </a:lnSpc>
              <a:spcBef>
                <a:spcPct val="0"/>
              </a:spcBef>
              <a:spcAft>
                <a:spcPct val="0"/>
              </a:spcAft>
            </a:pPr>
            <a:r>
              <a:rPr lang="zh-CN" sz="2000" b="1"/>
              <a:t>事实：</a:t>
            </a:r>
            <a:r>
              <a:rPr lang="zh-CN" altLang="en-US" sz="2000"/>
              <a:t>深模型</a:t>
            </a:r>
            <a:r>
              <a:rPr lang="zh-CN" altLang="en-US" sz="2000">
                <a:sym typeface="+mn-ea"/>
              </a:rPr>
              <a:t>比浅模型</a:t>
            </a:r>
            <a:r>
              <a:rPr lang="zh-CN" altLang="en-US" sz="2000"/>
              <a:t>有更强的表示能力（更多的参数），但实际表现反而不如浅模型。</a:t>
            </a:r>
            <a:endParaRPr lang="zh-CN" sz="2000"/>
          </a:p>
          <a:p>
            <a:pPr>
              <a:lnSpc>
                <a:spcPct val="120000"/>
              </a:lnSpc>
              <a:spcBef>
                <a:spcPct val="0"/>
              </a:spcBef>
              <a:spcAft>
                <a:spcPct val="0"/>
              </a:spcAft>
            </a:pPr>
            <a:r>
              <a:rPr lang="zh-CN" sz="2000" b="1"/>
              <a:t>推断：</a:t>
            </a:r>
            <a:r>
              <a:rPr lang="zh-CN" altLang="en-US" sz="2000" b="1"/>
              <a:t>深模型更难优化</a:t>
            </a:r>
            <a:r>
              <a:rPr lang="zh-CN" altLang="en-US" sz="2000"/>
              <a:t>（梯度消失</a:t>
            </a:r>
            <a:r>
              <a:rPr lang="en-US" altLang="zh-CN" sz="2000"/>
              <a:t>/</a:t>
            </a:r>
            <a:r>
              <a:rPr lang="zh-CN" altLang="en-US" sz="2000"/>
              <a:t>梯度爆炸）。</a:t>
            </a:r>
          </a:p>
          <a:p>
            <a:pPr>
              <a:lnSpc>
                <a:spcPct val="120000"/>
              </a:lnSpc>
              <a:spcBef>
                <a:spcPct val="0"/>
              </a:spcBef>
              <a:spcAft>
                <a:spcPct val="0"/>
              </a:spcAft>
            </a:pPr>
            <a:endParaRPr lang="zh-CN" altLang="en-US" sz="2000"/>
          </a:p>
          <a:p>
            <a:pPr>
              <a:lnSpc>
                <a:spcPct val="120000"/>
              </a:lnSpc>
              <a:spcBef>
                <a:spcPct val="0"/>
              </a:spcBef>
              <a:spcAft>
                <a:spcPct val="0"/>
              </a:spcAft>
            </a:pPr>
            <a:r>
              <a:rPr lang="zh-CN" altLang="en-US" sz="2000"/>
              <a:t>直觉上，深网络至少能学得跟浅网络一样好。</a:t>
            </a:r>
          </a:p>
          <a:p>
            <a:pPr>
              <a:lnSpc>
                <a:spcPct val="120000"/>
              </a:lnSpc>
              <a:spcBef>
                <a:spcPct val="0"/>
              </a:spcBef>
              <a:spcAft>
                <a:spcPct val="0"/>
              </a:spcAft>
            </a:pPr>
            <a:endParaRPr lang="zh-CN" altLang="en-US" sz="2000"/>
          </a:p>
          <a:p>
            <a:pPr>
              <a:lnSpc>
                <a:spcPct val="120000"/>
              </a:lnSpc>
              <a:spcBef>
                <a:spcPct val="0"/>
              </a:spcBef>
              <a:spcAft>
                <a:spcPct val="0"/>
              </a:spcAft>
            </a:pPr>
            <a:r>
              <a:rPr lang="zh-CN" altLang="en-US" sz="2000"/>
              <a:t>如何实现这一点？一种简单的思路是：在构造深模型时，先复制浅模型的层，然后将新增的额外层初始化为恒等映射。</a:t>
            </a:r>
          </a:p>
        </p:txBody>
      </p:sp>
      <p:sp>
        <p:nvSpPr>
          <p:cNvPr id="4" name="矩形 3"/>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grpSp>
        <p:nvGrpSpPr>
          <p:cNvPr id="8" name="组合 7"/>
          <p:cNvGrpSpPr/>
          <p:nvPr/>
        </p:nvGrpSpPr>
        <p:grpSpPr>
          <a:xfrm>
            <a:off x="7772006" y="2788285"/>
            <a:ext cx="3107690" cy="2435860"/>
            <a:chOff x="11276" y="4390"/>
            <a:chExt cx="4894" cy="3836"/>
          </a:xfrm>
        </p:grpSpPr>
        <p:pic>
          <p:nvPicPr>
            <p:cNvPr id="2" name="图片 1"/>
            <p:cNvPicPr>
              <a:picLocks noChangeAspect="1"/>
            </p:cNvPicPr>
            <p:nvPr/>
          </p:nvPicPr>
          <p:blipFill>
            <a:blip r:embed="rId3"/>
            <a:srcRect t="7201" r="51425" b="9426"/>
            <a:stretch>
              <a:fillRect/>
            </a:stretch>
          </p:blipFill>
          <p:spPr>
            <a:xfrm>
              <a:off x="11276" y="4390"/>
              <a:ext cx="2745" cy="3837"/>
            </a:xfrm>
            <a:prstGeom prst="rect">
              <a:avLst/>
            </a:prstGeom>
          </p:spPr>
        </p:pic>
        <p:pic>
          <p:nvPicPr>
            <p:cNvPr id="7" name="图片 6"/>
            <p:cNvPicPr>
              <a:picLocks noChangeAspect="1"/>
            </p:cNvPicPr>
            <p:nvPr/>
          </p:nvPicPr>
          <p:blipFill>
            <a:blip r:embed="rId3"/>
            <a:srcRect l="52769" t="7201" b="9426"/>
            <a:stretch>
              <a:fillRect/>
            </a:stretch>
          </p:blipFill>
          <p:spPr>
            <a:xfrm>
              <a:off x="13502" y="4390"/>
              <a:ext cx="2669" cy="3837"/>
            </a:xfrm>
            <a:prstGeom prst="rect">
              <a:avLst/>
            </a:prstGeom>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grpSp>
        <p:nvGrpSpPr>
          <p:cNvPr id="7" name="组合 6">
            <a:extLst>
              <a:ext uri="{FF2B5EF4-FFF2-40B4-BE49-F238E27FC236}">
                <a16:creationId xmlns:a16="http://schemas.microsoft.com/office/drawing/2014/main" id="{0CE70244-2145-25C7-87AB-A038FF361590}"/>
              </a:ext>
            </a:extLst>
          </p:cNvPr>
          <p:cNvGrpSpPr/>
          <p:nvPr/>
        </p:nvGrpSpPr>
        <p:grpSpPr>
          <a:xfrm>
            <a:off x="1986013" y="1408665"/>
            <a:ext cx="8219973" cy="5165129"/>
            <a:chOff x="1643139" y="2383462"/>
            <a:chExt cx="8944633" cy="5165129"/>
          </a:xfrm>
        </p:grpSpPr>
        <p:sp useBgFill="1">
          <p:nvSpPr>
            <p:cNvPr id="2" name="矩形 1">
              <a:extLst>
                <a:ext uri="{FF2B5EF4-FFF2-40B4-BE49-F238E27FC236}">
                  <a16:creationId xmlns:a16="http://schemas.microsoft.com/office/drawing/2014/main" id="{3252606C-05DE-6523-E144-33151BD87B8E}"/>
                </a:ext>
              </a:extLst>
            </p:cNvPr>
            <p:cNvSpPr/>
            <p:nvPr/>
          </p:nvSpPr>
          <p:spPr bwMode="auto">
            <a:xfrm>
              <a:off x="1643139" y="2383462"/>
              <a:ext cx="8944633" cy="5165129"/>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3" name="文本框 2"/>
            <p:cNvSpPr txBox="1"/>
            <p:nvPr/>
          </p:nvSpPr>
          <p:spPr>
            <a:xfrm>
              <a:off x="1771015" y="2686050"/>
              <a:ext cx="8693108" cy="3046095"/>
            </a:xfrm>
            <a:prstGeom prst="rect">
              <a:avLst/>
            </a:prstGeom>
          </p:spPr>
          <p:txBody>
            <a:bodyPr wrap="square">
              <a:spAutoFit/>
            </a:bodyPr>
            <a:lstStyle/>
            <a:p>
              <a:pPr algn="l">
                <a:buClrTx/>
                <a:buSzTx/>
                <a:buFontTx/>
              </a:pPr>
              <a:r>
                <a:rPr lang="en-US" altLang="zh-CN" sz="2400" b="1" dirty="0"/>
                <a:t>Res</a:t>
              </a:r>
              <a:r>
                <a:rPr lang="zh-CN" altLang="en-US" sz="2400" b="1" dirty="0"/>
                <a:t>Net 简介</a:t>
              </a:r>
            </a:p>
            <a:p>
              <a:pPr algn="l">
                <a:buClrTx/>
                <a:buSzTx/>
                <a:buFontTx/>
              </a:pPr>
              <a:endParaRPr lang="zh-CN" altLang="en-US" sz="2400" b="1" dirty="0"/>
            </a:p>
            <a:p>
              <a:pPr algn="l">
                <a:buClrTx/>
                <a:buSzTx/>
                <a:buFontTx/>
              </a:pPr>
              <a:r>
                <a:rPr lang="zh-CN" altLang="en-US" sz="2400" dirty="0">
                  <a:sym typeface="+mn-ea"/>
                </a:rPr>
                <a:t>全称：</a:t>
              </a:r>
              <a:r>
                <a:rPr lang="en-US" altLang="zh-CN" sz="2400" dirty="0">
                  <a:sym typeface="+mn-ea"/>
                </a:rPr>
                <a:t>Residual Network</a:t>
              </a:r>
              <a:r>
                <a:rPr lang="zh-CN" altLang="en-US" sz="2400" dirty="0">
                  <a:sym typeface="+mn-ea"/>
                </a:rPr>
                <a:t>（残差网络）</a:t>
              </a:r>
              <a:endParaRPr lang="zh-CN" altLang="en-US" sz="2400" b="1" dirty="0"/>
            </a:p>
            <a:p>
              <a:pPr algn="l">
                <a:buClrTx/>
                <a:buSzTx/>
                <a:buFontTx/>
              </a:pPr>
              <a:r>
                <a:rPr lang="zh-CN" altLang="en-US" sz="2400" dirty="0"/>
                <a:t>提出时间：</a:t>
              </a:r>
              <a:r>
                <a:rPr lang="en-US" altLang="zh-CN" sz="2400" dirty="0"/>
                <a:t>2015</a:t>
              </a:r>
            </a:p>
            <a:p>
              <a:pPr algn="l">
                <a:buClrTx/>
                <a:buSzTx/>
                <a:buFontTx/>
              </a:pPr>
              <a:r>
                <a:rPr lang="zh-CN" altLang="en-US" sz="2400" dirty="0"/>
                <a:t>提出机构：</a:t>
              </a:r>
              <a:r>
                <a:rPr lang="en-US" altLang="zh-CN" sz="2400" dirty="0"/>
                <a:t>Microsoft Research</a:t>
              </a:r>
            </a:p>
            <a:p>
              <a:pPr algn="l">
                <a:buClrTx/>
                <a:buSzTx/>
                <a:buFontTx/>
              </a:pPr>
              <a:r>
                <a:rPr lang="zh-CN" altLang="en-US" sz="2400" dirty="0"/>
                <a:t>论文名称：《</a:t>
              </a:r>
              <a:r>
                <a:rPr lang="en-US" altLang="zh-CN" sz="2400" dirty="0"/>
                <a:t>Deep Residual Learning for Image Recognition</a:t>
              </a:r>
              <a:r>
                <a:rPr lang="zh-CN" altLang="en-US" sz="2400" dirty="0"/>
                <a:t>》</a:t>
              </a:r>
            </a:p>
            <a:p>
              <a:pPr algn="l">
                <a:buClrTx/>
                <a:buSzTx/>
                <a:buFontTx/>
              </a:pPr>
              <a:r>
                <a:rPr lang="zh-CN" altLang="en-US" sz="2400" dirty="0"/>
                <a:t>竞赛成绩：</a:t>
              </a:r>
              <a:r>
                <a:rPr lang="en-US" altLang="zh-CN" sz="2400" b="1" dirty="0">
                  <a:solidFill>
                    <a:srgbClr val="0000FF"/>
                  </a:solidFill>
                </a:rPr>
                <a:t>2015</a:t>
              </a:r>
              <a:r>
                <a:rPr lang="zh-CN" altLang="en-US" sz="2400" b="1" dirty="0">
                  <a:solidFill>
                    <a:srgbClr val="0000FF"/>
                  </a:solidFill>
                </a:rPr>
                <a:t>年</a:t>
              </a:r>
              <a:r>
                <a:rPr lang="en-US" altLang="zh-CN" sz="2400" b="1" dirty="0">
                  <a:solidFill>
                    <a:srgbClr val="0000FF"/>
                  </a:solidFill>
                </a:rPr>
                <a:t> ImageNet </a:t>
              </a:r>
              <a:r>
                <a:rPr lang="zh-CN" altLang="en-US" sz="2400" b="1" dirty="0">
                  <a:solidFill>
                    <a:srgbClr val="0000FF"/>
                  </a:solidFill>
                </a:rPr>
                <a:t>图像识别竞赛冠军</a:t>
              </a:r>
            </a:p>
            <a:p>
              <a:pPr algn="l">
                <a:buClrTx/>
                <a:buSzTx/>
                <a:buFontTx/>
              </a:pPr>
              <a:endParaRPr lang="zh-CN" altLang="en-US" sz="2400" dirty="0"/>
            </a:p>
          </p:txBody>
        </p:sp>
      </p:grpSp>
      <p:pic>
        <p:nvPicPr>
          <p:cNvPr id="8" name="图片 7">
            <a:extLst>
              <a:ext uri="{FF2B5EF4-FFF2-40B4-BE49-F238E27FC236}">
                <a16:creationId xmlns:a16="http://schemas.microsoft.com/office/drawing/2014/main" id="{201D1860-992F-4090-1CDA-E9A2CF0566E0}"/>
              </a:ext>
            </a:extLst>
          </p:cNvPr>
          <p:cNvPicPr>
            <a:picLocks noChangeAspect="1"/>
          </p:cNvPicPr>
          <p:nvPr/>
        </p:nvPicPr>
        <p:blipFill>
          <a:blip r:embed="rId3"/>
          <a:stretch>
            <a:fillRect/>
          </a:stretch>
        </p:blipFill>
        <p:spPr>
          <a:xfrm>
            <a:off x="3214300" y="4533972"/>
            <a:ext cx="5763398" cy="1830726"/>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D21A0E31-6D82-AA3B-32DE-5F5569BC761C}"/>
              </a:ext>
            </a:extLst>
          </p:cNvPr>
          <p:cNvSpPr/>
          <p:nvPr/>
        </p:nvSpPr>
        <p:spPr bwMode="auto">
          <a:xfrm>
            <a:off x="2223907" y="1581665"/>
            <a:ext cx="7398247" cy="4782496"/>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3" name="文本框 2"/>
          <p:cNvSpPr txBox="1"/>
          <p:nvPr/>
        </p:nvSpPr>
        <p:spPr>
          <a:xfrm>
            <a:off x="2651125" y="1813560"/>
            <a:ext cx="6971030" cy="4523105"/>
          </a:xfrm>
          <a:prstGeom prst="rect">
            <a:avLst/>
          </a:prstGeom>
        </p:spPr>
        <p:txBody>
          <a:bodyPr wrap="square">
            <a:spAutoFit/>
          </a:bodyPr>
          <a:lstStyle/>
          <a:p>
            <a:pPr>
              <a:lnSpc>
                <a:spcPct val="120000"/>
              </a:lnSpc>
              <a:spcBef>
                <a:spcPct val="0"/>
              </a:spcBef>
              <a:spcAft>
                <a:spcPct val="0"/>
              </a:spcAft>
            </a:pPr>
            <a:r>
              <a:rPr lang="en-US" altLang="zh-CN" sz="2000" b="1"/>
              <a:t>ResNet</a:t>
            </a:r>
            <a:r>
              <a:rPr lang="zh-CN" altLang="en-US" sz="2000" b="1"/>
              <a:t>的解决方案：</a:t>
            </a:r>
            <a:r>
              <a:rPr lang="zh-CN" altLang="en-US" sz="2000"/>
              <a:t>使用网络层来拟合残差映射，而不是直接尝试拟合期望的底层映射。</a:t>
            </a:r>
          </a:p>
          <a:p>
            <a:pPr>
              <a:lnSpc>
                <a:spcPct val="120000"/>
              </a:lnSpc>
              <a:spcBef>
                <a:spcPct val="0"/>
              </a:spcBef>
              <a:spcAft>
                <a:spcPct val="0"/>
              </a:spcAft>
            </a:pPr>
            <a:endParaRPr lang="en-US" altLang="zh-CN" sz="2000"/>
          </a:p>
          <a:p>
            <a:pPr>
              <a:lnSpc>
                <a:spcPct val="120000"/>
              </a:lnSpc>
              <a:spcBef>
                <a:spcPct val="0"/>
              </a:spcBef>
              <a:spcAft>
                <a:spcPct val="0"/>
              </a:spcAft>
            </a:pPr>
            <a:endParaRPr lang="en-US" altLang="zh-CN" sz="2000"/>
          </a:p>
          <a:p>
            <a:pPr>
              <a:lnSpc>
                <a:spcPct val="120000"/>
              </a:lnSpc>
              <a:spcBef>
                <a:spcPct val="0"/>
              </a:spcBef>
              <a:spcAft>
                <a:spcPct val="0"/>
              </a:spcAft>
            </a:pPr>
            <a:endParaRPr lang="en-US" altLang="zh-CN" sz="2000"/>
          </a:p>
          <a:p>
            <a:pPr>
              <a:lnSpc>
                <a:spcPct val="120000"/>
              </a:lnSpc>
              <a:spcBef>
                <a:spcPct val="0"/>
              </a:spcBef>
              <a:spcAft>
                <a:spcPct val="0"/>
              </a:spcAft>
            </a:pPr>
            <a:endParaRPr lang="en-US" altLang="zh-CN" sz="2000"/>
          </a:p>
          <a:p>
            <a:pPr>
              <a:lnSpc>
                <a:spcPct val="120000"/>
              </a:lnSpc>
              <a:spcBef>
                <a:spcPct val="0"/>
              </a:spcBef>
              <a:spcAft>
                <a:spcPct val="0"/>
              </a:spcAft>
            </a:pPr>
            <a:endParaRPr lang="en-US" altLang="zh-CN" sz="2000"/>
          </a:p>
          <a:p>
            <a:pPr>
              <a:lnSpc>
                <a:spcPct val="120000"/>
              </a:lnSpc>
              <a:spcBef>
                <a:spcPct val="0"/>
              </a:spcBef>
              <a:spcAft>
                <a:spcPct val="0"/>
              </a:spcAft>
            </a:pPr>
            <a:endParaRPr lang="en-US" altLang="zh-CN" sz="2000"/>
          </a:p>
          <a:p>
            <a:pPr>
              <a:lnSpc>
                <a:spcPct val="120000"/>
              </a:lnSpc>
              <a:spcBef>
                <a:spcPct val="0"/>
              </a:spcBef>
              <a:spcAft>
                <a:spcPct val="0"/>
              </a:spcAft>
            </a:pPr>
            <a:endParaRPr lang="en-US" altLang="zh-CN" sz="2000"/>
          </a:p>
          <a:p>
            <a:pPr>
              <a:lnSpc>
                <a:spcPct val="120000"/>
              </a:lnSpc>
              <a:spcBef>
                <a:spcPct val="0"/>
              </a:spcBef>
              <a:spcAft>
                <a:spcPct val="0"/>
              </a:spcAft>
            </a:pPr>
            <a:endParaRPr lang="en-US" altLang="zh-CN" sz="2000"/>
          </a:p>
          <a:p>
            <a:pPr>
              <a:lnSpc>
                <a:spcPct val="120000"/>
              </a:lnSpc>
              <a:spcBef>
                <a:spcPct val="0"/>
              </a:spcBef>
              <a:spcAft>
                <a:spcPct val="0"/>
              </a:spcAft>
            </a:pPr>
            <a:endParaRPr lang="zh-CN" altLang="en-US" sz="2000"/>
          </a:p>
          <a:p>
            <a:pPr>
              <a:lnSpc>
                <a:spcPct val="120000"/>
              </a:lnSpc>
              <a:spcBef>
                <a:spcPct val="0"/>
              </a:spcBef>
              <a:spcAft>
                <a:spcPct val="0"/>
              </a:spcAft>
            </a:pPr>
            <a:r>
              <a:rPr lang="zh-CN" altLang="en-US" sz="2000">
                <a:ea typeface="+mn-lt"/>
                <a:cs typeface="+mn-lt"/>
              </a:rPr>
              <a:t>使用网络拟合残差</a:t>
            </a:r>
            <a:r>
              <a:rPr lang="en-US" altLang="zh-CN" sz="2000">
                <a:ea typeface="+mn-lt"/>
                <a:cs typeface="+mn-lt"/>
              </a:rPr>
              <a:t> </a:t>
            </a:r>
            <a:r>
              <a:rPr lang="en-US" altLang="zh-CN" sz="2000" b="1">
                <a:solidFill>
                  <a:srgbClr val="0000FF"/>
                </a:solidFill>
                <a:ea typeface="+mn-lt"/>
                <a:cs typeface="+mn-lt"/>
              </a:rPr>
              <a:t>F(x) = H(x) - x</a:t>
            </a:r>
            <a:r>
              <a:rPr lang="zh-CN" altLang="en-US" sz="2000">
                <a:ea typeface="+mn-lt"/>
                <a:cs typeface="+mn-lt"/>
              </a:rPr>
              <a:t>，而不是直接拟合</a:t>
            </a:r>
            <a:r>
              <a:rPr lang="en-US" altLang="zh-CN" sz="2000">
                <a:ea typeface="+mn-lt"/>
                <a:cs typeface="+mn-lt"/>
              </a:rPr>
              <a:t> H(x)</a:t>
            </a:r>
            <a:r>
              <a:rPr lang="zh-CN" altLang="en-US" sz="2000">
                <a:ea typeface="+mn-lt"/>
                <a:cs typeface="+mn-lt"/>
              </a:rPr>
              <a:t>。</a:t>
            </a:r>
          </a:p>
        </p:txBody>
      </p:sp>
      <p:sp>
        <p:nvSpPr>
          <p:cNvPr id="4" name="矩形 3"/>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pic>
        <p:nvPicPr>
          <p:cNvPr id="7" name="图片 6"/>
          <p:cNvPicPr>
            <a:picLocks noChangeAspect="1"/>
          </p:cNvPicPr>
          <p:nvPr/>
        </p:nvPicPr>
        <p:blipFill>
          <a:blip r:embed="rId3"/>
          <a:stretch>
            <a:fillRect/>
          </a:stretch>
        </p:blipFill>
        <p:spPr>
          <a:xfrm>
            <a:off x="2943860" y="2804160"/>
            <a:ext cx="6385560" cy="287274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2B86BAB1-BE84-E812-E427-1910AAB4125B}"/>
              </a:ext>
            </a:extLst>
          </p:cNvPr>
          <p:cNvSpPr/>
          <p:nvPr/>
        </p:nvSpPr>
        <p:spPr bwMode="auto">
          <a:xfrm>
            <a:off x="963517" y="1853513"/>
            <a:ext cx="10182277" cy="451064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8" name="矩形 7"/>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sp>
        <p:nvSpPr>
          <p:cNvPr id="3" name="文本框 2"/>
          <p:cNvSpPr txBox="1"/>
          <p:nvPr/>
        </p:nvSpPr>
        <p:spPr>
          <a:xfrm>
            <a:off x="1353820" y="2510790"/>
            <a:ext cx="6096000" cy="3353435"/>
          </a:xfrm>
          <a:prstGeom prst="rect">
            <a:avLst/>
          </a:prstGeom>
          <a:noFill/>
        </p:spPr>
        <p:txBody>
          <a:bodyPr wrap="square" rtlCol="0" anchor="t">
            <a:spAutoFit/>
          </a:bodyPr>
          <a:lstStyle/>
          <a:p>
            <a:pPr algn="l"/>
            <a:r>
              <a:rPr lang="en-US" altLang="zh-CN" sz="2400" b="1">
                <a:latin typeface="等线" panose="02010600030101010101" charset="-122"/>
                <a:ea typeface="等线" panose="02010600030101010101" charset="-122"/>
                <a:cs typeface="等线" panose="02010600030101010101" charset="-122"/>
                <a:sym typeface="+mn-ea"/>
              </a:rPr>
              <a:t>ResNet </a:t>
            </a:r>
            <a:r>
              <a:rPr lang="zh-CN" altLang="en-US" sz="2400" b="1">
                <a:latin typeface="等线" panose="02010600030101010101" charset="-122"/>
                <a:ea typeface="等线" panose="02010600030101010101" charset="-122"/>
                <a:cs typeface="等线" panose="02010600030101010101" charset="-122"/>
                <a:sym typeface="+mn-ea"/>
              </a:rPr>
              <a:t>的整体架构</a:t>
            </a:r>
          </a:p>
          <a:p>
            <a:pPr algn="l"/>
            <a:endParaRPr lang="zh-CN" altLang="en-US" sz="2000">
              <a:latin typeface="等线" panose="02010600030101010101" charset="-122"/>
              <a:ea typeface="等线" panose="02010600030101010101" charset="-122"/>
              <a:cs typeface="等线" panose="02010600030101010101" charset="-122"/>
            </a:endParaRPr>
          </a:p>
          <a:p>
            <a:pPr algn="l">
              <a:lnSpc>
                <a:spcPct val="120000"/>
              </a:lnSpc>
              <a:spcBef>
                <a:spcPts val="0"/>
              </a:spcBef>
              <a:spcAft>
                <a:spcPts val="0"/>
              </a:spcAft>
            </a:pPr>
            <a:r>
              <a:rPr lang="zh-CN" altLang="en-US" sz="2000">
                <a:latin typeface="等线" panose="02010600030101010101" charset="-122"/>
                <a:ea typeface="等线" panose="02010600030101010101" charset="-122"/>
                <a:cs typeface="等线" panose="02010600030101010101" charset="-122"/>
                <a:sym typeface="+mn-ea"/>
              </a:rPr>
              <a:t>特点：</a:t>
            </a:r>
            <a:endParaRPr lang="zh-CN" altLang="en-US" sz="2000">
              <a:latin typeface="等线" panose="02010600030101010101" charset="-122"/>
              <a:ea typeface="等线" panose="02010600030101010101" charset="-122"/>
              <a:cs typeface="等线" panose="02010600030101010101" charset="-122"/>
            </a:endParaRPr>
          </a:p>
          <a:p>
            <a:pPr marL="342900" indent="-342900" algn="l">
              <a:lnSpc>
                <a:spcPct val="120000"/>
              </a:lnSpc>
              <a:spcBef>
                <a:spcPts val="0"/>
              </a:spcBef>
              <a:spcAft>
                <a:spcPts val="0"/>
              </a:spcAft>
              <a:buFont typeface="Arial" panose="020B0604020202020204" pitchFamily="34" charset="0"/>
              <a:buChar char="•"/>
            </a:pPr>
            <a:r>
              <a:rPr lang="zh-CN" altLang="en-US" sz="2000">
                <a:latin typeface="等线" panose="02010600030101010101" charset="-122"/>
                <a:ea typeface="等线" panose="02010600030101010101" charset="-122"/>
                <a:cs typeface="等线" panose="02010600030101010101" charset="-122"/>
                <a:sym typeface="+mn-ea"/>
              </a:rPr>
              <a:t>堆叠残差模块</a:t>
            </a:r>
            <a:endParaRPr lang="zh-CN" altLang="en-US" sz="2000">
              <a:latin typeface="等线" panose="02010600030101010101" charset="-122"/>
              <a:ea typeface="等线" panose="02010600030101010101" charset="-122"/>
              <a:cs typeface="等线" panose="02010600030101010101" charset="-122"/>
            </a:endParaRPr>
          </a:p>
          <a:p>
            <a:pPr marL="342900" indent="-342900" algn="l">
              <a:lnSpc>
                <a:spcPct val="120000"/>
              </a:lnSpc>
              <a:spcBef>
                <a:spcPts val="0"/>
              </a:spcBef>
              <a:spcAft>
                <a:spcPts val="0"/>
              </a:spcAft>
              <a:buFont typeface="Arial" panose="020B0604020202020204" pitchFamily="34" charset="0"/>
              <a:buChar char="•"/>
            </a:pPr>
            <a:r>
              <a:rPr lang="zh-CN" altLang="en-US" sz="2000">
                <a:latin typeface="等线" panose="02010600030101010101" charset="-122"/>
                <a:ea typeface="等线" panose="02010600030101010101" charset="-122"/>
                <a:cs typeface="等线" panose="02010600030101010101" charset="-122"/>
                <a:sym typeface="+mn-ea"/>
              </a:rPr>
              <a:t>每一个残差块都是两层</a:t>
            </a:r>
            <a:r>
              <a:rPr lang="en-US" altLang="zh-CN" sz="2000">
                <a:latin typeface="等线" panose="02010600030101010101" charset="-122"/>
                <a:ea typeface="等线" panose="02010600030101010101" charset="-122"/>
                <a:cs typeface="等线" panose="02010600030101010101" charset="-122"/>
                <a:sym typeface="+mn-ea"/>
              </a:rPr>
              <a:t> 3</a:t>
            </a:r>
            <a:r>
              <a:rPr lang="en-US" altLang="en-US" sz="2000">
                <a:latin typeface="等线" panose="02010600030101010101" charset="-122"/>
                <a:ea typeface="等线" panose="02010600030101010101" charset="-122"/>
                <a:cs typeface="等线" panose="02010600030101010101" charset="-122"/>
                <a:sym typeface="+mn-ea"/>
              </a:rPr>
              <a:t>×</a:t>
            </a:r>
            <a:r>
              <a:rPr lang="en-US" altLang="zh-CN" sz="2000">
                <a:latin typeface="等线" panose="02010600030101010101" charset="-122"/>
                <a:ea typeface="等线" panose="02010600030101010101" charset="-122"/>
                <a:cs typeface="等线" panose="02010600030101010101" charset="-122"/>
                <a:sym typeface="+mn-ea"/>
              </a:rPr>
              <a:t>3 </a:t>
            </a:r>
            <a:r>
              <a:rPr lang="zh-CN" altLang="en-US" sz="2000">
                <a:latin typeface="等线" panose="02010600030101010101" charset="-122"/>
                <a:ea typeface="等线" panose="02010600030101010101" charset="-122"/>
                <a:cs typeface="等线" panose="02010600030101010101" charset="-122"/>
                <a:sym typeface="+mn-ea"/>
              </a:rPr>
              <a:t>的卷积</a:t>
            </a:r>
            <a:endParaRPr lang="zh-CN" altLang="en-US" sz="2000">
              <a:latin typeface="等线" panose="02010600030101010101" charset="-122"/>
              <a:ea typeface="等线" panose="02010600030101010101" charset="-122"/>
              <a:cs typeface="等线" panose="02010600030101010101" charset="-122"/>
            </a:endParaRPr>
          </a:p>
          <a:p>
            <a:pPr marL="342900" indent="-342900" algn="l">
              <a:lnSpc>
                <a:spcPct val="120000"/>
              </a:lnSpc>
              <a:spcBef>
                <a:spcPts val="0"/>
              </a:spcBef>
              <a:spcAft>
                <a:spcPts val="0"/>
              </a:spcAft>
              <a:buFont typeface="Arial" panose="020B0604020202020204" pitchFamily="34" charset="0"/>
              <a:buChar char="•"/>
            </a:pPr>
            <a:r>
              <a:rPr lang="zh-CN" altLang="en-US" sz="2000">
                <a:latin typeface="等线" panose="02010600030101010101" charset="-122"/>
                <a:ea typeface="等线" panose="02010600030101010101" charset="-122"/>
                <a:cs typeface="等线" panose="02010600030101010101" charset="-122"/>
                <a:sym typeface="+mn-ea"/>
              </a:rPr>
              <a:t>使用步长为</a:t>
            </a:r>
            <a:r>
              <a:rPr lang="en-US" altLang="zh-CN" sz="2000">
                <a:latin typeface="等线" panose="02010600030101010101" charset="-122"/>
                <a:ea typeface="等线" panose="02010600030101010101" charset="-122"/>
                <a:cs typeface="等线" panose="02010600030101010101" charset="-122"/>
                <a:sym typeface="+mn-ea"/>
              </a:rPr>
              <a:t> 2 </a:t>
            </a:r>
            <a:r>
              <a:rPr lang="zh-CN" altLang="en-US" sz="2000">
                <a:latin typeface="等线" panose="02010600030101010101" charset="-122"/>
                <a:ea typeface="等线" panose="02010600030101010101" charset="-122"/>
                <a:cs typeface="等线" panose="02010600030101010101" charset="-122"/>
                <a:sym typeface="+mn-ea"/>
              </a:rPr>
              <a:t>的卷积层代替池化层</a:t>
            </a:r>
            <a:endParaRPr lang="zh-CN" altLang="en-US" sz="2000">
              <a:latin typeface="等线" panose="02010600030101010101" charset="-122"/>
              <a:ea typeface="等线" panose="02010600030101010101" charset="-122"/>
              <a:cs typeface="等线" panose="02010600030101010101" charset="-122"/>
            </a:endParaRPr>
          </a:p>
          <a:p>
            <a:pPr marL="342900" indent="-342900" algn="l">
              <a:lnSpc>
                <a:spcPct val="120000"/>
              </a:lnSpc>
              <a:spcBef>
                <a:spcPts val="0"/>
              </a:spcBef>
              <a:spcAft>
                <a:spcPts val="0"/>
              </a:spcAft>
              <a:buFont typeface="Arial" panose="020B0604020202020204" pitchFamily="34" charset="0"/>
              <a:buChar char="•"/>
            </a:pPr>
            <a:r>
              <a:rPr lang="zh-CN" altLang="en-US" sz="2000">
                <a:latin typeface="等线" panose="02010600030101010101" charset="-122"/>
                <a:ea typeface="等线" panose="02010600030101010101" charset="-122"/>
                <a:cs typeface="等线" panose="02010600030101010101" charset="-122"/>
                <a:sym typeface="+mn-ea"/>
              </a:rPr>
              <a:t>在网络开始的时候进行卷积</a:t>
            </a:r>
            <a:endParaRPr lang="zh-CN" altLang="en-US" sz="2000">
              <a:latin typeface="等线" panose="02010600030101010101" charset="-122"/>
              <a:ea typeface="等线" panose="02010600030101010101" charset="-122"/>
              <a:cs typeface="等线" panose="02010600030101010101" charset="-122"/>
            </a:endParaRPr>
          </a:p>
          <a:p>
            <a:pPr marL="342900" indent="-342900" algn="l">
              <a:lnSpc>
                <a:spcPct val="120000"/>
              </a:lnSpc>
              <a:spcBef>
                <a:spcPts val="0"/>
              </a:spcBef>
              <a:spcAft>
                <a:spcPts val="0"/>
              </a:spcAft>
              <a:buFont typeface="Arial" panose="020B0604020202020204" pitchFamily="34" charset="0"/>
              <a:buChar char="•"/>
            </a:pPr>
            <a:r>
              <a:rPr lang="zh-CN" altLang="en-US" sz="2000">
                <a:latin typeface="等线" panose="02010600030101010101" charset="-122"/>
                <a:ea typeface="等线" panose="02010600030101010101" charset="-122"/>
                <a:cs typeface="等线" panose="02010600030101010101" charset="-122"/>
                <a:sym typeface="+mn-ea"/>
              </a:rPr>
              <a:t>网络的最后用</a:t>
            </a:r>
            <a:r>
              <a:rPr lang="en-US" altLang="zh-CN" sz="2000">
                <a:latin typeface="等线" panose="02010600030101010101" charset="-122"/>
                <a:ea typeface="等线" panose="02010600030101010101" charset="-122"/>
                <a:cs typeface="等线" panose="02010600030101010101" charset="-122"/>
                <a:sym typeface="+mn-ea"/>
              </a:rPr>
              <a:t> GAP </a:t>
            </a:r>
            <a:r>
              <a:rPr lang="zh-CN" altLang="en-US" sz="2000">
                <a:latin typeface="等线" panose="02010600030101010101" charset="-122"/>
                <a:ea typeface="等线" panose="02010600030101010101" charset="-122"/>
                <a:cs typeface="等线" panose="02010600030101010101" charset="-122"/>
                <a:sym typeface="+mn-ea"/>
              </a:rPr>
              <a:t>减少参数量</a:t>
            </a:r>
            <a:endParaRPr lang="zh-CN" altLang="en-US" sz="2000">
              <a:latin typeface="等线" panose="02010600030101010101" charset="-122"/>
              <a:ea typeface="等线" panose="02010600030101010101" charset="-122"/>
              <a:cs typeface="等线" panose="02010600030101010101" charset="-122"/>
            </a:endParaRPr>
          </a:p>
          <a:p>
            <a:pPr marL="342900" indent="-342900" algn="l">
              <a:lnSpc>
                <a:spcPct val="120000"/>
              </a:lnSpc>
              <a:spcBef>
                <a:spcPts val="0"/>
              </a:spcBef>
              <a:spcAft>
                <a:spcPts val="0"/>
              </a:spcAft>
              <a:buFont typeface="Arial" panose="020B0604020202020204" pitchFamily="34" charset="0"/>
              <a:buChar char="•"/>
            </a:pPr>
            <a:r>
              <a:rPr lang="zh-CN" altLang="en-US" sz="2000">
                <a:latin typeface="等线" panose="02010600030101010101" charset="-122"/>
                <a:ea typeface="等线" panose="02010600030101010101" charset="-122"/>
                <a:cs typeface="等线" panose="02010600030101010101" charset="-122"/>
                <a:sym typeface="+mn-ea"/>
              </a:rPr>
              <a:t>只有最后一层才有全连接层</a:t>
            </a:r>
          </a:p>
        </p:txBody>
      </p:sp>
      <p:pic>
        <p:nvPicPr>
          <p:cNvPr id="5" name="图片 4"/>
          <p:cNvPicPr>
            <a:picLocks noChangeAspect="1"/>
          </p:cNvPicPr>
          <p:nvPr/>
        </p:nvPicPr>
        <p:blipFill>
          <a:blip r:embed="rId3"/>
          <a:stretch>
            <a:fillRect/>
          </a:stretch>
        </p:blipFill>
        <p:spPr>
          <a:xfrm>
            <a:off x="6315075" y="1945005"/>
            <a:ext cx="4561205" cy="436308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矩形 3">
            <a:extLst>
              <a:ext uri="{FF2B5EF4-FFF2-40B4-BE49-F238E27FC236}">
                <a16:creationId xmlns:a16="http://schemas.microsoft.com/office/drawing/2014/main" id="{047384E9-3AC4-4023-1397-E977FD999F03}"/>
              </a:ext>
            </a:extLst>
          </p:cNvPr>
          <p:cNvSpPr/>
          <p:nvPr/>
        </p:nvSpPr>
        <p:spPr bwMode="auto">
          <a:xfrm>
            <a:off x="548639" y="1328350"/>
            <a:ext cx="11227349" cy="4837671"/>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8" name="矩形 7"/>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sp>
        <p:nvSpPr>
          <p:cNvPr id="3" name="文本框 2"/>
          <p:cNvSpPr txBox="1"/>
          <p:nvPr/>
        </p:nvSpPr>
        <p:spPr>
          <a:xfrm>
            <a:off x="656590" y="1631315"/>
            <a:ext cx="10774680" cy="460375"/>
          </a:xfrm>
          <a:prstGeom prst="rect">
            <a:avLst/>
          </a:prstGeom>
          <a:noFill/>
        </p:spPr>
        <p:txBody>
          <a:bodyPr wrap="square" rtlCol="0" anchor="t">
            <a:spAutoFit/>
          </a:bodyPr>
          <a:lstStyle/>
          <a:p>
            <a:pPr algn="l"/>
            <a:r>
              <a:rPr lang="en-US" altLang="zh-CN" sz="2400" b="1">
                <a:latin typeface="等线" panose="02010600030101010101" charset="-122"/>
                <a:ea typeface="等线" panose="02010600030101010101" charset="-122"/>
                <a:cs typeface="等线" panose="02010600030101010101" charset="-122"/>
                <a:sym typeface="+mn-ea"/>
              </a:rPr>
              <a:t>ResNet </a:t>
            </a:r>
            <a:r>
              <a:rPr lang="zh-CN" altLang="en-US" sz="2400" b="1">
                <a:latin typeface="等线" panose="02010600030101010101" charset="-122"/>
                <a:ea typeface="等线" panose="02010600030101010101" charset="-122"/>
                <a:cs typeface="等线" panose="02010600030101010101" charset="-122"/>
                <a:sym typeface="+mn-ea"/>
              </a:rPr>
              <a:t>的整体架构</a:t>
            </a:r>
            <a:endParaRPr lang="zh-CN" altLang="en-US" sz="2000">
              <a:latin typeface="等线" panose="02010600030101010101" charset="-122"/>
              <a:ea typeface="等线" panose="02010600030101010101" charset="-122"/>
              <a:cs typeface="等线" panose="02010600030101010101" charset="-122"/>
              <a:sym typeface="+mn-ea"/>
            </a:endParaRPr>
          </a:p>
        </p:txBody>
      </p:sp>
      <p:pic>
        <p:nvPicPr>
          <p:cNvPr id="2" name="图片 1"/>
          <p:cNvPicPr/>
          <p:nvPr/>
        </p:nvPicPr>
        <p:blipFill>
          <a:blip r:embed="rId3"/>
          <a:stretch>
            <a:fillRect/>
          </a:stretch>
        </p:blipFill>
        <p:spPr>
          <a:xfrm>
            <a:off x="656590" y="2603500"/>
            <a:ext cx="10723880" cy="335661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 name="矩形 2">
            <a:extLst>
              <a:ext uri="{FF2B5EF4-FFF2-40B4-BE49-F238E27FC236}">
                <a16:creationId xmlns:a16="http://schemas.microsoft.com/office/drawing/2014/main" id="{66F0ACB3-CCB4-D7BF-BEDD-1912C4170097}"/>
              </a:ext>
            </a:extLst>
          </p:cNvPr>
          <p:cNvSpPr/>
          <p:nvPr/>
        </p:nvSpPr>
        <p:spPr bwMode="auto">
          <a:xfrm>
            <a:off x="2791460" y="1328351"/>
            <a:ext cx="6130118" cy="94646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8" name="矩形 7"/>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pic>
        <p:nvPicPr>
          <p:cNvPr id="4" name="图片 3"/>
          <p:cNvPicPr/>
          <p:nvPr/>
        </p:nvPicPr>
        <p:blipFill>
          <a:blip r:embed="rId3"/>
          <a:stretch>
            <a:fillRect/>
          </a:stretch>
        </p:blipFill>
        <p:spPr>
          <a:xfrm>
            <a:off x="876300" y="2338070"/>
            <a:ext cx="10045065" cy="4356100"/>
          </a:xfrm>
          <a:prstGeom prst="rect">
            <a:avLst/>
          </a:prstGeom>
        </p:spPr>
      </p:pic>
      <p:sp>
        <p:nvSpPr>
          <p:cNvPr id="2" name="文本框 1"/>
          <p:cNvSpPr txBox="1"/>
          <p:nvPr/>
        </p:nvSpPr>
        <p:spPr>
          <a:xfrm>
            <a:off x="2372360" y="1565275"/>
            <a:ext cx="7028180" cy="460375"/>
          </a:xfrm>
          <a:prstGeom prst="rect">
            <a:avLst/>
          </a:prstGeom>
          <a:noFill/>
        </p:spPr>
        <p:txBody>
          <a:bodyPr wrap="square" rtlCol="0" anchor="t">
            <a:spAutoFit/>
          </a:bodyPr>
          <a:lstStyle/>
          <a:p>
            <a:pPr algn="ctr"/>
            <a:r>
              <a:rPr lang="zh-CN" sz="2400" b="1">
                <a:latin typeface="等线" panose="02010600030101010101" charset="-122"/>
                <a:ea typeface="等线" panose="02010600030101010101" charset="-122"/>
                <a:cs typeface="等线" panose="02010600030101010101" charset="-122"/>
                <a:sym typeface="+mn-ea"/>
              </a:rPr>
              <a:t>架构对比：</a:t>
            </a:r>
            <a:r>
              <a:rPr lang="en-US" altLang="zh-CN" sz="2400" b="1">
                <a:latin typeface="等线" panose="02010600030101010101" charset="-122"/>
                <a:ea typeface="等线" panose="02010600030101010101" charset="-122"/>
                <a:cs typeface="等线" panose="02010600030101010101" charset="-122"/>
                <a:sym typeface="+mn-ea"/>
              </a:rPr>
              <a:t>VGG </a:t>
            </a:r>
            <a:r>
              <a:rPr lang="en-US" altLang="zh-CN" sz="2400">
                <a:latin typeface="等线" panose="02010600030101010101" charset="-122"/>
                <a:ea typeface="等线" panose="02010600030101010101" charset="-122"/>
                <a:cs typeface="等线" panose="02010600030101010101" charset="-122"/>
                <a:sym typeface="+mn-ea"/>
              </a:rPr>
              <a:t>vs</a:t>
            </a:r>
            <a:r>
              <a:rPr lang="en-US" altLang="zh-CN" sz="2400" b="1">
                <a:latin typeface="等线" panose="02010600030101010101" charset="-122"/>
                <a:ea typeface="等线" panose="02010600030101010101" charset="-122"/>
                <a:cs typeface="等线" panose="02010600030101010101" charset="-122"/>
                <a:sym typeface="+mn-ea"/>
              </a:rPr>
              <a:t> plain-CNN </a:t>
            </a:r>
            <a:r>
              <a:rPr lang="en-US" altLang="zh-CN" sz="2400">
                <a:latin typeface="等线" panose="02010600030101010101" charset="-122"/>
                <a:ea typeface="等线" panose="02010600030101010101" charset="-122"/>
                <a:cs typeface="等线" panose="02010600030101010101" charset="-122"/>
                <a:sym typeface="+mn-ea"/>
              </a:rPr>
              <a:t>vs</a:t>
            </a:r>
            <a:r>
              <a:rPr lang="en-US" altLang="zh-CN" sz="2400" b="1">
                <a:latin typeface="等线" panose="02010600030101010101" charset="-122"/>
                <a:ea typeface="等线" panose="02010600030101010101" charset="-122"/>
                <a:cs typeface="等线" panose="02010600030101010101" charset="-122"/>
                <a:sym typeface="+mn-ea"/>
              </a:rPr>
              <a:t> ResNet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a:extLst>
              <a:ext uri="{FF2B5EF4-FFF2-40B4-BE49-F238E27FC236}">
                <a16:creationId xmlns:a16="http://schemas.microsoft.com/office/drawing/2014/main" id="{D646E149-23D0-9E83-89CA-5503A091D2DA}"/>
              </a:ext>
            </a:extLst>
          </p:cNvPr>
          <p:cNvSpPr/>
          <p:nvPr/>
        </p:nvSpPr>
        <p:spPr bwMode="auto">
          <a:xfrm>
            <a:off x="461646" y="1422587"/>
            <a:ext cx="11014074" cy="503581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3" name="文本框 2"/>
          <p:cNvSpPr txBox="1"/>
          <p:nvPr/>
        </p:nvSpPr>
        <p:spPr>
          <a:xfrm>
            <a:off x="461645" y="1555750"/>
            <a:ext cx="11014075" cy="4769485"/>
          </a:xfrm>
          <a:prstGeom prst="rect">
            <a:avLst/>
          </a:prstGeom>
        </p:spPr>
        <p:txBody>
          <a:bodyPr wrap="square">
            <a:spAutoFit/>
          </a:bodyPr>
          <a:lstStyle/>
          <a:p>
            <a:pPr indent="0" fontAlgn="auto">
              <a:spcAft>
                <a:spcPts val="0"/>
              </a:spcAft>
            </a:pPr>
            <a:r>
              <a:rPr lang="zh-CN" altLang="en-US" sz="2400" b="1"/>
              <a:t>当维度不匹配怎么办？</a:t>
            </a:r>
          </a:p>
          <a:p>
            <a:pPr indent="0" fontAlgn="auto">
              <a:spcAft>
                <a:spcPts val="0"/>
              </a:spcAft>
            </a:pPr>
            <a:endParaRPr lang="zh-CN" altLang="en-US" sz="2000"/>
          </a:p>
          <a:p>
            <a:pPr indent="0" fontAlgn="auto">
              <a:spcAft>
                <a:spcPts val="0"/>
              </a:spcAft>
            </a:pPr>
            <a:r>
              <a:rPr lang="zh-CN" altLang="en-US" sz="2000"/>
              <a:t>在</a:t>
            </a:r>
            <a:r>
              <a:rPr lang="en-US" altLang="zh-CN" sz="2000"/>
              <a:t>ResNet</a:t>
            </a:r>
            <a:r>
              <a:rPr lang="zh-CN" altLang="en-US" sz="2000"/>
              <a:t>中，跳跃连接需要将输入</a:t>
            </a:r>
            <a:r>
              <a:rPr lang="en-US" altLang="zh-CN" sz="2000"/>
              <a:t>x</a:t>
            </a:r>
            <a:r>
              <a:rPr lang="zh-CN" altLang="en-US" sz="2000"/>
              <a:t>直接加到输出</a:t>
            </a:r>
            <a:r>
              <a:rPr lang="en-US" altLang="zh-CN" sz="2000"/>
              <a:t>F(x)</a:t>
            </a:r>
            <a:r>
              <a:rPr lang="zh-CN" altLang="en-US" sz="2000"/>
              <a:t>上。如果这两个相加的张量形状</a:t>
            </a:r>
            <a:r>
              <a:rPr lang="zh-CN" altLang="en-US" sz="2000">
                <a:sym typeface="+mn-ea"/>
              </a:rPr>
              <a:t>（</a:t>
            </a:r>
            <a:r>
              <a:rPr lang="en-US" altLang="zh-CN" sz="2000">
                <a:sym typeface="+mn-ea"/>
              </a:rPr>
              <a:t>H, W, C</a:t>
            </a:r>
            <a:r>
              <a:rPr lang="zh-CN" altLang="en-US" sz="2000">
                <a:sym typeface="+mn-ea"/>
              </a:rPr>
              <a:t>）</a:t>
            </a:r>
            <a:r>
              <a:rPr lang="zh-CN" altLang="en-US" sz="2000"/>
              <a:t>不一致，就无法直接相加。</a:t>
            </a:r>
          </a:p>
          <a:p>
            <a:pPr indent="0" fontAlgn="auto">
              <a:spcAft>
                <a:spcPts val="0"/>
              </a:spcAft>
            </a:pPr>
            <a:endParaRPr lang="zh-CN" altLang="en-US" sz="2000"/>
          </a:p>
          <a:p>
            <a:pPr indent="0" fontAlgn="auto">
              <a:spcAft>
                <a:spcPts val="0"/>
              </a:spcAft>
            </a:pPr>
            <a:r>
              <a:rPr lang="en-US" altLang="zh-CN" sz="2000"/>
              <a:t>ResNet</a:t>
            </a:r>
            <a:r>
              <a:rPr lang="zh-CN" altLang="en-US" sz="2000"/>
              <a:t>中的解决方案：</a:t>
            </a:r>
          </a:p>
          <a:p>
            <a:pPr indent="0" fontAlgn="auto">
              <a:spcAft>
                <a:spcPts val="0"/>
              </a:spcAft>
            </a:pPr>
            <a:endParaRPr lang="zh-CN" altLang="en-US" sz="2000"/>
          </a:p>
          <a:p>
            <a:pPr marL="342900" indent="-342900" fontAlgn="auto">
              <a:spcAft>
                <a:spcPts val="0"/>
              </a:spcAft>
              <a:buFont typeface="Arial" panose="020B0604020202020204" pitchFamily="34" charset="0"/>
              <a:buChar char="•"/>
            </a:pPr>
            <a:r>
              <a:rPr lang="en-US" altLang="zh-CN" sz="2000" b="1"/>
              <a:t>Projection Shortcut</a:t>
            </a:r>
            <a:r>
              <a:rPr lang="zh-CN" altLang="en-US" sz="2000"/>
              <a:t>（常用）</a:t>
            </a:r>
            <a:endParaRPr lang="en-US" altLang="zh-CN" sz="2000"/>
          </a:p>
          <a:p>
            <a:pPr indent="457200" fontAlgn="auto">
              <a:spcAft>
                <a:spcPts val="0"/>
              </a:spcAft>
            </a:pPr>
            <a:r>
              <a:rPr lang="en-US" altLang="zh-CN" sz="2000"/>
              <a:t>y = F(x) + </a:t>
            </a:r>
            <a:r>
              <a:rPr lang="en-US" altLang="zh-CN" sz="2000">
                <a:solidFill>
                  <a:srgbClr val="0000FF"/>
                </a:solidFill>
              </a:rPr>
              <a:t>W</a:t>
            </a:r>
            <a:r>
              <a:rPr lang="en-US" altLang="zh-CN" sz="2000" baseline="-25000">
                <a:solidFill>
                  <a:srgbClr val="0000FF"/>
                </a:solidFill>
              </a:rPr>
              <a:t>s</a:t>
            </a:r>
            <a:r>
              <a:rPr lang="en-US" altLang="zh-CN" sz="2000">
                <a:solidFill>
                  <a:srgbClr val="0000FF"/>
                </a:solidFill>
              </a:rPr>
              <a:t>​</a:t>
            </a:r>
            <a:r>
              <a:rPr lang="en-US" altLang="zh-CN" sz="2000"/>
              <a:t>x</a:t>
            </a:r>
          </a:p>
          <a:p>
            <a:pPr indent="457200" fontAlgn="auto">
              <a:spcAft>
                <a:spcPts val="0"/>
              </a:spcAft>
            </a:pPr>
            <a:r>
              <a:rPr lang="zh-CN" altLang="en-US" sz="2000">
                <a:sym typeface="+mn-ea"/>
              </a:rPr>
              <a:t>对齐通道数（</a:t>
            </a:r>
            <a:r>
              <a:rPr lang="en-US" altLang="zh-CN" sz="2000">
                <a:sym typeface="+mn-ea"/>
              </a:rPr>
              <a:t>C</a:t>
            </a:r>
            <a:r>
              <a:rPr lang="zh-CN" altLang="en-US" sz="2000">
                <a:sym typeface="+mn-ea"/>
              </a:rPr>
              <a:t>）：在跳跃连接上增加一个</a:t>
            </a:r>
            <a:r>
              <a:rPr lang="en-US" altLang="zh-CN" sz="2000"/>
              <a:t> 1x1 </a:t>
            </a:r>
            <a:r>
              <a:rPr lang="zh-CN" altLang="en-US" sz="2000"/>
              <a:t>卷积，对输入进行</a:t>
            </a:r>
            <a:r>
              <a:rPr lang="en-US" altLang="zh-CN" sz="2000"/>
              <a:t>“</a:t>
            </a:r>
            <a:r>
              <a:rPr lang="zh-CN" altLang="en-US" sz="2000"/>
              <a:t>投影</a:t>
            </a:r>
            <a:r>
              <a:rPr lang="en-US" altLang="zh-CN" sz="2000"/>
              <a:t>”</a:t>
            </a:r>
            <a:r>
              <a:rPr lang="zh-CN" altLang="en-US" sz="2000"/>
              <a:t>。</a:t>
            </a:r>
          </a:p>
          <a:p>
            <a:pPr indent="457200" fontAlgn="auto">
              <a:spcAft>
                <a:spcPts val="0"/>
              </a:spcAft>
            </a:pPr>
            <a:r>
              <a:rPr lang="zh-CN" altLang="en-US" sz="2000"/>
              <a:t>对齐空间尺寸（</a:t>
            </a:r>
            <a:r>
              <a:rPr lang="en-US" altLang="zh-CN" sz="2000"/>
              <a:t>H, W</a:t>
            </a:r>
            <a:r>
              <a:rPr lang="zh-CN" altLang="en-US" sz="2000"/>
              <a:t>）：</a:t>
            </a:r>
            <a:r>
              <a:rPr lang="en-US" altLang="zh-CN" sz="2000"/>
              <a:t> </a:t>
            </a:r>
            <a:r>
              <a:rPr lang="zh-CN" altLang="en-US" sz="2000"/>
              <a:t>通过设定卷积步长（</a:t>
            </a:r>
            <a:r>
              <a:rPr lang="en-US" altLang="zh-CN" sz="2000"/>
              <a:t>stride=2</a:t>
            </a:r>
            <a:r>
              <a:rPr lang="zh-CN" altLang="en-US" sz="2000"/>
              <a:t>），将高度和宽度从</a:t>
            </a:r>
            <a:r>
              <a:rPr lang="en-US" altLang="zh-CN" sz="2000"/>
              <a:t> H </a:t>
            </a:r>
            <a:r>
              <a:rPr lang="zh-CN" altLang="en-US" sz="2000"/>
              <a:t>减半为</a:t>
            </a:r>
            <a:r>
              <a:rPr lang="en-US" altLang="zh-CN" sz="2000"/>
              <a:t> H/2</a:t>
            </a:r>
            <a:r>
              <a:rPr lang="zh-CN" altLang="en-US" sz="2000"/>
              <a:t>。</a:t>
            </a:r>
          </a:p>
          <a:p>
            <a:pPr indent="457200" fontAlgn="auto">
              <a:spcAft>
                <a:spcPts val="0"/>
              </a:spcAft>
            </a:pPr>
            <a:endParaRPr lang="en-US" altLang="zh-CN" sz="2000"/>
          </a:p>
          <a:p>
            <a:pPr marL="342900" indent="-342900" fontAlgn="auto">
              <a:spcAft>
                <a:spcPts val="0"/>
              </a:spcAft>
              <a:buFont typeface="Arial" panose="020B0604020202020204" pitchFamily="34" charset="0"/>
              <a:buChar char="•"/>
            </a:pPr>
            <a:r>
              <a:rPr lang="en-US" altLang="zh-CN" sz="2000" b="1"/>
              <a:t>Zero Padding</a:t>
            </a:r>
          </a:p>
          <a:p>
            <a:pPr indent="457200" fontAlgn="auto">
              <a:spcAft>
                <a:spcPts val="0"/>
              </a:spcAft>
            </a:pPr>
            <a:r>
              <a:rPr lang="zh-CN" altLang="en-US" sz="2000">
                <a:sym typeface="+mn-ea"/>
              </a:rPr>
              <a:t>对齐通道数（</a:t>
            </a:r>
            <a:r>
              <a:rPr lang="en-US" altLang="zh-CN" sz="2000">
                <a:sym typeface="+mn-ea"/>
              </a:rPr>
              <a:t>C</a:t>
            </a:r>
            <a:r>
              <a:rPr lang="zh-CN" altLang="en-US" sz="2000">
                <a:sym typeface="+mn-ea"/>
              </a:rPr>
              <a:t>）：</a:t>
            </a:r>
            <a:r>
              <a:rPr lang="zh-CN" altLang="en-US" sz="2000"/>
              <a:t>对输入进行零填充。</a:t>
            </a:r>
            <a:endParaRPr lang="en-US" altLang="zh-CN" sz="2000"/>
          </a:p>
          <a:p>
            <a:pPr indent="457200" fontAlgn="auto">
              <a:spcAft>
                <a:spcPts val="0"/>
              </a:spcAft>
            </a:pPr>
            <a:r>
              <a:rPr lang="zh-CN" altLang="en-US" sz="2000">
                <a:sym typeface="+mn-ea"/>
              </a:rPr>
              <a:t>对齐空间尺寸（</a:t>
            </a:r>
            <a:r>
              <a:rPr lang="en-US" altLang="zh-CN" sz="2000">
                <a:sym typeface="+mn-ea"/>
              </a:rPr>
              <a:t>H, W</a:t>
            </a:r>
            <a:r>
              <a:rPr lang="zh-CN" altLang="en-US" sz="2000">
                <a:sym typeface="+mn-ea"/>
              </a:rPr>
              <a:t>）：对输入进行</a:t>
            </a:r>
            <a:r>
              <a:rPr lang="zh-CN" altLang="en-US" sz="2000"/>
              <a:t>下采样。</a:t>
            </a:r>
          </a:p>
        </p:txBody>
      </p:sp>
      <p:sp>
        <p:nvSpPr>
          <p:cNvPr id="8" name="矩形 7"/>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 name="矩形 2">
            <a:extLst>
              <a:ext uri="{FF2B5EF4-FFF2-40B4-BE49-F238E27FC236}">
                <a16:creationId xmlns:a16="http://schemas.microsoft.com/office/drawing/2014/main" id="{B488F727-FD17-C8B9-9E33-B5ADE2066618}"/>
              </a:ext>
            </a:extLst>
          </p:cNvPr>
          <p:cNvSpPr/>
          <p:nvPr/>
        </p:nvSpPr>
        <p:spPr bwMode="auto">
          <a:xfrm>
            <a:off x="765809" y="1692875"/>
            <a:ext cx="10355271" cy="4671286"/>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2" name="文本框 1"/>
          <p:cNvSpPr txBox="1"/>
          <p:nvPr/>
        </p:nvSpPr>
        <p:spPr>
          <a:xfrm>
            <a:off x="1176655" y="1858645"/>
            <a:ext cx="5080000" cy="1006475"/>
          </a:xfrm>
          <a:prstGeom prst="rect">
            <a:avLst/>
          </a:prstGeom>
        </p:spPr>
        <p:txBody>
          <a:bodyPr>
            <a:spAutoFit/>
          </a:bodyPr>
          <a:lstStyle/>
          <a:p>
            <a:pPr>
              <a:spcAft>
                <a:spcPct val="60000"/>
              </a:spcAft>
            </a:pPr>
            <a:r>
              <a:rPr lang="en-US" altLang="zh-CN" sz="2400" b="1"/>
              <a:t>ResNet </a:t>
            </a:r>
            <a:r>
              <a:rPr lang="zh-CN" altLang="en-US" sz="2400" b="1"/>
              <a:t>的训练效果</a:t>
            </a:r>
          </a:p>
          <a:p>
            <a:pPr indent="0">
              <a:buFont typeface="Arial" panose="020B0604020202020204"/>
              <a:buNone/>
            </a:pPr>
            <a:r>
              <a:rPr lang="zh-CN" altLang="en-US" sz="2000"/>
              <a:t>层数越深，效果越好</a:t>
            </a:r>
            <a:endParaRPr lang="en-US" altLang="zh-CN" sz="2000"/>
          </a:p>
        </p:txBody>
      </p:sp>
      <p:sp>
        <p:nvSpPr>
          <p:cNvPr id="8" name="矩形 7"/>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pic>
        <p:nvPicPr>
          <p:cNvPr id="5" name="图片 4"/>
          <p:cNvPicPr>
            <a:picLocks noChangeAspect="1"/>
          </p:cNvPicPr>
          <p:nvPr/>
        </p:nvPicPr>
        <p:blipFill>
          <a:blip r:embed="rId3"/>
          <a:stretch>
            <a:fillRect/>
          </a:stretch>
        </p:blipFill>
        <p:spPr>
          <a:xfrm>
            <a:off x="1240790" y="3118485"/>
            <a:ext cx="9605010" cy="311785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矩形 3">
            <a:extLst>
              <a:ext uri="{FF2B5EF4-FFF2-40B4-BE49-F238E27FC236}">
                <a16:creationId xmlns:a16="http://schemas.microsoft.com/office/drawing/2014/main" id="{9A5894DE-705E-D500-7290-A8E1304757A1}"/>
              </a:ext>
            </a:extLst>
          </p:cNvPr>
          <p:cNvSpPr/>
          <p:nvPr/>
        </p:nvSpPr>
        <p:spPr bwMode="auto">
          <a:xfrm>
            <a:off x="723000" y="1826483"/>
            <a:ext cx="5656528" cy="420129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kumimoji="1" lang="zh-CN" altLang="en-US" sz="2400" dirty="0"/>
          </a:p>
        </p:txBody>
      </p:sp>
      <p:sp>
        <p:nvSpPr>
          <p:cNvPr id="2" name="文本框 1"/>
          <p:cNvSpPr txBox="1"/>
          <p:nvPr/>
        </p:nvSpPr>
        <p:spPr>
          <a:xfrm>
            <a:off x="1176655" y="2402205"/>
            <a:ext cx="5038725" cy="3230245"/>
          </a:xfrm>
          <a:prstGeom prst="rect">
            <a:avLst/>
          </a:prstGeom>
        </p:spPr>
        <p:txBody>
          <a:bodyPr wrap="square">
            <a:spAutoFit/>
          </a:bodyPr>
          <a:lstStyle/>
          <a:p>
            <a:pPr fontAlgn="auto">
              <a:spcAft>
                <a:spcPts val="0"/>
              </a:spcAft>
            </a:pPr>
            <a:r>
              <a:rPr lang="en-US" altLang="zh-CN" sz="2400" b="1"/>
              <a:t>ResNet </a:t>
            </a:r>
            <a:r>
              <a:rPr lang="zh-CN" altLang="en-US" sz="2400" b="1"/>
              <a:t>的实验结果</a:t>
            </a:r>
          </a:p>
          <a:p>
            <a:pPr fontAlgn="auto">
              <a:spcAft>
                <a:spcPts val="0"/>
              </a:spcAft>
            </a:pPr>
            <a:endParaRPr lang="zh-CN" altLang="en-US" sz="2000"/>
          </a:p>
          <a:p>
            <a:pPr marL="342900" indent="-342900" fontAlgn="auto">
              <a:spcAft>
                <a:spcPts val="0"/>
              </a:spcAft>
              <a:buFont typeface="Arial" panose="020B0604020202020204" pitchFamily="34" charset="0"/>
              <a:buChar char="•"/>
            </a:pPr>
            <a:r>
              <a:rPr lang="en-US" altLang="zh-CN" sz="2000"/>
              <a:t>ResNet-152 </a:t>
            </a:r>
            <a:r>
              <a:rPr lang="zh-CN" altLang="en-US" sz="2000"/>
              <a:t>在</a:t>
            </a:r>
            <a:r>
              <a:rPr lang="en-US" altLang="zh-CN" sz="2000"/>
              <a:t> ImageNet </a:t>
            </a:r>
            <a:r>
              <a:rPr lang="zh-CN" altLang="en-US" sz="2000"/>
              <a:t>分类任务中取得约</a:t>
            </a:r>
            <a:r>
              <a:rPr lang="en-US" altLang="zh-CN" sz="2000"/>
              <a:t> 3.57% </a:t>
            </a:r>
            <a:r>
              <a:rPr lang="zh-CN" altLang="en-US" sz="2000"/>
              <a:t>的</a:t>
            </a:r>
            <a:r>
              <a:rPr lang="en-US" altLang="zh-CN" sz="2000"/>
              <a:t> Top-5 </a:t>
            </a:r>
            <a:r>
              <a:rPr lang="zh-CN" altLang="en-US" sz="2000"/>
              <a:t>错误率，显著优于当时的</a:t>
            </a:r>
            <a:r>
              <a:rPr lang="en-US" altLang="zh-CN" sz="2000"/>
              <a:t> VGG</a:t>
            </a:r>
            <a:r>
              <a:rPr lang="zh-CN" altLang="en-US" sz="2000"/>
              <a:t>、</a:t>
            </a:r>
            <a:r>
              <a:rPr lang="en-US" altLang="zh-CN" sz="2000"/>
              <a:t>GoogLeNet </a:t>
            </a:r>
            <a:r>
              <a:rPr lang="zh-CN" altLang="en-US" sz="2000"/>
              <a:t>等模型。</a:t>
            </a:r>
          </a:p>
          <a:p>
            <a:pPr marL="342900" indent="-342900" fontAlgn="auto">
              <a:spcAft>
                <a:spcPts val="0"/>
              </a:spcAft>
              <a:buFont typeface="Arial" panose="020B0604020202020204" pitchFamily="34" charset="0"/>
              <a:buChar char="•"/>
            </a:pPr>
            <a:endParaRPr lang="en-US" altLang="zh-CN" sz="2000"/>
          </a:p>
          <a:p>
            <a:pPr marL="342900" indent="-342900" fontAlgn="auto">
              <a:spcAft>
                <a:spcPts val="0"/>
              </a:spcAft>
              <a:buFont typeface="Arial" panose="020B0604020202020204" pitchFamily="34" charset="0"/>
              <a:buChar char="•"/>
            </a:pPr>
            <a:r>
              <a:rPr lang="zh-CN" altLang="en-US" sz="2000"/>
              <a:t>首次成功训练超过</a:t>
            </a:r>
            <a:r>
              <a:rPr lang="en-US" altLang="zh-CN" sz="2000"/>
              <a:t>100</a:t>
            </a:r>
            <a:r>
              <a:rPr lang="zh-CN" altLang="en-US" sz="2000"/>
              <a:t>层的深层网络，且深度增加性能持续提升。</a:t>
            </a:r>
          </a:p>
          <a:p>
            <a:pPr marL="342900" indent="-342900" fontAlgn="auto">
              <a:spcAft>
                <a:spcPts val="0"/>
              </a:spcAft>
              <a:buFont typeface="Arial" panose="020B0604020202020204" pitchFamily="34" charset="0"/>
              <a:buChar char="•"/>
            </a:pPr>
            <a:endParaRPr lang="zh-CN" altLang="en-US" sz="2000"/>
          </a:p>
          <a:p>
            <a:pPr marL="342900" indent="-342900" fontAlgn="auto">
              <a:spcAft>
                <a:spcPts val="0"/>
              </a:spcAft>
              <a:buFont typeface="Arial" panose="020B0604020202020204" pitchFamily="34" charset="0"/>
              <a:buChar char="•"/>
            </a:pPr>
            <a:r>
              <a:rPr lang="zh-CN" altLang="en-US" sz="2000"/>
              <a:t>成为计算机视觉的里程碑模型。</a:t>
            </a:r>
          </a:p>
        </p:txBody>
      </p:sp>
      <p:sp>
        <p:nvSpPr>
          <p:cNvPr id="8" name="矩形 7"/>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object 5"/>
          <p:cNvSpPr txBox="1"/>
          <p:nvPr/>
        </p:nvSpPr>
        <p:spPr>
          <a:xfrm>
            <a:off x="548640" y="553085"/>
            <a:ext cx="9881870" cy="566420"/>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等线" panose="02010600030101010101" charset="-122"/>
                <a:ea typeface="等线" panose="02010600030101010101" charset="-122"/>
                <a:cs typeface="等线" panose="02010600030101010101" charset="-122"/>
              </a:rPr>
              <a:t>经典模型-</a:t>
            </a:r>
            <a:r>
              <a:rPr lang="en-US" altLang="zh-CN" sz="3600" spc="-10" dirty="0">
                <a:solidFill>
                  <a:schemeClr val="bg1"/>
                </a:solidFill>
                <a:latin typeface="等线" panose="02010600030101010101" charset="-122"/>
                <a:ea typeface="等线" panose="02010600030101010101" charset="-122"/>
                <a:cs typeface="等线" panose="02010600030101010101" charset="-122"/>
                <a:sym typeface="+mn-ea"/>
              </a:rPr>
              <a:t>ResNet</a:t>
            </a:r>
          </a:p>
        </p:txBody>
      </p:sp>
      <p:pic>
        <p:nvPicPr>
          <p:cNvPr id="3" name="图片 2"/>
          <p:cNvPicPr>
            <a:picLocks noChangeAspect="1"/>
          </p:cNvPicPr>
          <p:nvPr/>
        </p:nvPicPr>
        <p:blipFill>
          <a:blip r:embed="rId3"/>
          <a:stretch>
            <a:fillRect/>
          </a:stretch>
        </p:blipFill>
        <p:spPr>
          <a:xfrm>
            <a:off x="6543675" y="1628775"/>
            <a:ext cx="4071620" cy="477710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00" y="2413000"/>
            <a:ext cx="5080000" cy="398780"/>
          </a:xfrm>
          <a:prstGeom prst="rect">
            <a:avLst/>
          </a:prstGeom>
        </p:spPr>
        <p:txBody>
          <a:bodyPr>
            <a:spAutoFit/>
          </a:bodyPr>
          <a:lstStyle/>
          <a:p>
            <a:pPr>
              <a:spcAft>
                <a:spcPct val="60000"/>
              </a:spcAft>
            </a:pPr>
            <a:r>
              <a:rPr lang="en-US" altLang="zh-CN" sz="2000" b="1"/>
              <a:t>ResNet </a:t>
            </a:r>
            <a:r>
              <a:rPr lang="zh-CN" altLang="en-US" sz="2000" b="1"/>
              <a:t>的意义</a:t>
            </a:r>
            <a:endParaRPr lang="en-US" altLang="zh-CN" sz="2000"/>
          </a:p>
        </p:txBody>
      </p:sp>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769499" y="1389236"/>
            <a:ext cx="10589064" cy="1782228"/>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 altLang="zh-CN" sz="2400" b="0" i="0" dirty="0" err="1">
                <a:solidFill>
                  <a:srgbClr val="1D1D1F"/>
                </a:solidFill>
                <a:effectLst/>
                <a:latin typeface="system-ui"/>
              </a:rPr>
              <a:t>SENet</a:t>
            </a:r>
            <a:r>
              <a:rPr lang="en" altLang="zh-CN" sz="2400" b="0" i="0" dirty="0">
                <a:solidFill>
                  <a:srgbClr val="1D1D1F"/>
                </a:solidFill>
                <a:effectLst/>
                <a:latin typeface="system-ui"/>
              </a:rPr>
              <a:t> </a:t>
            </a:r>
            <a:r>
              <a:rPr lang="en-US" altLang="zh-CN" sz="2400" dirty="0">
                <a:solidFill>
                  <a:srgbClr val="1D1D1F"/>
                </a:solidFill>
                <a:latin typeface="system-ui"/>
              </a:rPr>
              <a:t>(</a:t>
            </a:r>
            <a:r>
              <a:rPr lang="en" altLang="zh-CN" sz="2400" b="0" i="0" dirty="0">
                <a:solidFill>
                  <a:srgbClr val="1D1D1F"/>
                </a:solidFill>
                <a:effectLst/>
                <a:latin typeface="system-ui"/>
              </a:rPr>
              <a:t>Squeeze-and-Excitation Network</a:t>
            </a:r>
            <a:r>
              <a:rPr lang="en-US" altLang="zh-CN" sz="2400" dirty="0">
                <a:solidFill>
                  <a:srgbClr val="1D1D1F"/>
                </a:solidFill>
                <a:latin typeface="system-ui"/>
              </a:rPr>
              <a:t>)</a:t>
            </a:r>
            <a:r>
              <a:rPr lang="en" altLang="zh-CN" sz="2400" dirty="0">
                <a:solidFill>
                  <a:srgbClr val="1D1D1F"/>
                </a:solidFill>
                <a:latin typeface="system-ui"/>
              </a:rPr>
              <a:t> </a:t>
            </a:r>
            <a:r>
              <a:rPr lang="zh-CN" altLang="en-US" sz="2400" b="0" i="0" dirty="0">
                <a:solidFill>
                  <a:srgbClr val="1D1D1F"/>
                </a:solidFill>
                <a:effectLst/>
                <a:latin typeface="system-ui"/>
              </a:rPr>
              <a:t>是一种通过</a:t>
            </a:r>
            <a:r>
              <a:rPr lang="zh-CN" altLang="en-US" sz="2400" b="1" i="0" dirty="0">
                <a:solidFill>
                  <a:srgbClr val="1D1D1F"/>
                </a:solidFill>
                <a:effectLst/>
                <a:latin typeface="system-ui"/>
              </a:rPr>
              <a:t>显式建模通道间依赖关系</a:t>
            </a:r>
            <a:r>
              <a:rPr lang="zh-CN" altLang="en-US" sz="2400" b="0" i="0" dirty="0">
                <a:solidFill>
                  <a:srgbClr val="1D1D1F"/>
                </a:solidFill>
                <a:effectLst/>
                <a:latin typeface="system-ui"/>
              </a:rPr>
              <a:t>，自适应地重新校准特征通道权重的卷积神经网络架构，其核心创新是</a:t>
            </a:r>
            <a:r>
              <a:rPr lang="en" altLang="zh-CN" sz="2400" b="0" i="0" dirty="0">
                <a:solidFill>
                  <a:srgbClr val="1D1D1F"/>
                </a:solidFill>
                <a:effectLst/>
                <a:latin typeface="system-ui"/>
              </a:rPr>
              <a:t>SE Block——</a:t>
            </a:r>
            <a:r>
              <a:rPr lang="zh-CN" altLang="en-US" sz="2400" b="0" i="0" dirty="0">
                <a:solidFill>
                  <a:srgbClr val="1D1D1F"/>
                </a:solidFill>
                <a:effectLst/>
                <a:latin typeface="system-ui"/>
              </a:rPr>
              <a:t>先全局压缩（</a:t>
            </a:r>
            <a:r>
              <a:rPr lang="en" altLang="zh-CN" sz="2400" b="0" i="0" dirty="0">
                <a:solidFill>
                  <a:srgbClr val="1D1D1F"/>
                </a:solidFill>
                <a:effectLst/>
                <a:latin typeface="system-ui"/>
              </a:rPr>
              <a:t>Squeeze</a:t>
            </a:r>
            <a:r>
              <a:rPr lang="zh-CN" altLang="en" sz="2400" b="0" i="0" dirty="0">
                <a:solidFill>
                  <a:srgbClr val="1D1D1F"/>
                </a:solidFill>
                <a:effectLst/>
                <a:latin typeface="system-ui"/>
              </a:rPr>
              <a:t>）</a:t>
            </a:r>
            <a:r>
              <a:rPr lang="zh-CN" altLang="en-US" sz="2400" b="0" i="0" dirty="0">
                <a:solidFill>
                  <a:srgbClr val="1D1D1F"/>
                </a:solidFill>
                <a:effectLst/>
                <a:latin typeface="system-ui"/>
              </a:rPr>
              <a:t>获取通道统计信息，再通过门控机制（</a:t>
            </a:r>
            <a:r>
              <a:rPr lang="en" altLang="zh-CN" sz="2400" b="0" i="0" dirty="0">
                <a:solidFill>
                  <a:srgbClr val="1D1D1F"/>
                </a:solidFill>
                <a:effectLst/>
                <a:latin typeface="system-ui"/>
              </a:rPr>
              <a:t>Excitation</a:t>
            </a:r>
            <a:r>
              <a:rPr lang="zh-CN" altLang="en" sz="2400" b="0" i="0" dirty="0">
                <a:solidFill>
                  <a:srgbClr val="1D1D1F"/>
                </a:solidFill>
                <a:effectLst/>
                <a:latin typeface="system-ui"/>
              </a:rPr>
              <a:t>）</a:t>
            </a:r>
            <a:r>
              <a:rPr lang="zh-CN" altLang="en-US" sz="2400" b="0" i="0" dirty="0">
                <a:solidFill>
                  <a:srgbClr val="1D1D1F"/>
                </a:solidFill>
                <a:effectLst/>
                <a:latin typeface="system-ui"/>
              </a:rPr>
              <a:t>学习各通道的重要性并加权增强有用特征、抑制冗余特征。</a:t>
            </a: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err="1">
                <a:solidFill>
                  <a:schemeClr val="bg1"/>
                </a:solidFill>
                <a:latin typeface="Calibri" panose="020F0502020204030204" pitchFamily="34" charset="0"/>
                <a:cs typeface="Calibri" panose="020F0502020204030204" pitchFamily="34" charset="0"/>
              </a:rPr>
              <a:t>SENet</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11" name="图片 10">
            <a:extLst>
              <a:ext uri="{FF2B5EF4-FFF2-40B4-BE49-F238E27FC236}">
                <a16:creationId xmlns:a16="http://schemas.microsoft.com/office/drawing/2014/main" id="{112F377F-8493-6A3D-C2A9-DDB516DC2ECE}"/>
              </a:ext>
            </a:extLst>
          </p:cNvPr>
          <p:cNvPicPr>
            <a:picLocks noChangeAspect="1"/>
          </p:cNvPicPr>
          <p:nvPr/>
        </p:nvPicPr>
        <p:blipFill>
          <a:blip r:embed="rId3"/>
          <a:stretch>
            <a:fillRect/>
          </a:stretch>
        </p:blipFill>
        <p:spPr>
          <a:xfrm>
            <a:off x="1057100" y="3686537"/>
            <a:ext cx="10077800" cy="221655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00" y="2413000"/>
            <a:ext cx="5080000" cy="398780"/>
          </a:xfrm>
          <a:prstGeom prst="rect">
            <a:avLst/>
          </a:prstGeom>
        </p:spPr>
        <p:txBody>
          <a:bodyPr>
            <a:spAutoFit/>
          </a:bodyPr>
          <a:lstStyle/>
          <a:p>
            <a:pPr>
              <a:spcAft>
                <a:spcPct val="60000"/>
              </a:spcAft>
            </a:pPr>
            <a:r>
              <a:rPr lang="en-US" altLang="zh-CN" sz="2000" b="1"/>
              <a:t>ResNet </a:t>
            </a:r>
            <a:r>
              <a:rPr lang="zh-CN" altLang="en-US" sz="2000" b="1"/>
              <a:t>的意义</a:t>
            </a:r>
            <a:endParaRPr lang="en-US" altLang="zh-CN" sz="2000"/>
          </a:p>
        </p:txBody>
      </p:sp>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769499" y="1389236"/>
            <a:ext cx="10589064" cy="1559802"/>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 altLang="zh-CN" sz="2400" b="0" i="0" dirty="0" err="1">
                <a:solidFill>
                  <a:srgbClr val="1D1D1F"/>
                </a:solidFill>
                <a:effectLst/>
                <a:latin typeface="system-ui"/>
              </a:rPr>
              <a:t>DenseNet</a:t>
            </a:r>
            <a:r>
              <a:rPr lang="en" altLang="zh-CN" sz="2400" b="0" i="0" dirty="0">
                <a:solidFill>
                  <a:srgbClr val="1D1D1F"/>
                </a:solidFill>
                <a:effectLst/>
                <a:latin typeface="system-ui"/>
              </a:rPr>
              <a:t> </a:t>
            </a:r>
            <a:r>
              <a:rPr lang="en-US" altLang="zh-CN" sz="2400" b="0" i="0" dirty="0">
                <a:solidFill>
                  <a:srgbClr val="1D1D1F"/>
                </a:solidFill>
                <a:effectLst/>
                <a:latin typeface="system-ui"/>
              </a:rPr>
              <a:t>(</a:t>
            </a:r>
            <a:r>
              <a:rPr lang="en" altLang="zh-CN" sz="2400" b="0" i="0" dirty="0">
                <a:solidFill>
                  <a:srgbClr val="1D1D1F"/>
                </a:solidFill>
                <a:effectLst/>
                <a:latin typeface="system-ui"/>
              </a:rPr>
              <a:t>Densely Connected Convolutional Networks</a:t>
            </a:r>
            <a:r>
              <a:rPr lang="en-US" altLang="zh-CN" sz="2400" dirty="0">
                <a:solidFill>
                  <a:srgbClr val="1D1D1F"/>
                </a:solidFill>
                <a:latin typeface="system-ui"/>
              </a:rPr>
              <a:t>)</a:t>
            </a:r>
            <a:r>
              <a:rPr lang="en" altLang="zh-CN" sz="2400" dirty="0">
                <a:solidFill>
                  <a:srgbClr val="1D1D1F"/>
                </a:solidFill>
                <a:latin typeface="system-ui"/>
              </a:rPr>
              <a:t> </a:t>
            </a:r>
            <a:r>
              <a:rPr lang="zh-CN" altLang="en-US" sz="2400" b="0" i="0" dirty="0">
                <a:solidFill>
                  <a:srgbClr val="1D1D1F"/>
                </a:solidFill>
                <a:effectLst/>
                <a:latin typeface="system-ui"/>
              </a:rPr>
              <a:t>是一种通过</a:t>
            </a:r>
            <a:r>
              <a:rPr lang="zh-CN" altLang="en-US" sz="2400" b="1" i="0" dirty="0">
                <a:solidFill>
                  <a:srgbClr val="1D1D1F"/>
                </a:solidFill>
                <a:effectLst/>
                <a:latin typeface="system-ui"/>
              </a:rPr>
              <a:t>密集连接</a:t>
            </a:r>
            <a:r>
              <a:rPr lang="zh-CN" altLang="en-US" sz="2400" b="0" i="0" dirty="0">
                <a:solidFill>
                  <a:srgbClr val="1D1D1F"/>
                </a:solidFill>
                <a:effectLst/>
                <a:latin typeface="system-ui"/>
              </a:rPr>
              <a:t>（每一层都直接与前面所有层相连）实现特征重用和梯度高效传播的卷积神经网络架构</a:t>
            </a:r>
            <a:r>
              <a:rPr lang="zh-CN" altLang="en-US" sz="2400" dirty="0">
                <a:solidFill>
                  <a:srgbClr val="1D1D1F"/>
                </a:solidFill>
                <a:latin typeface="system-ui"/>
              </a:rPr>
              <a:t>。</a:t>
            </a:r>
            <a:r>
              <a:rPr lang="en-US" altLang="zh-CN" sz="2400" dirty="0" err="1">
                <a:solidFill>
                  <a:srgbClr val="1D1D1F"/>
                </a:solidFill>
                <a:latin typeface="system-ui"/>
              </a:rPr>
              <a:t>DenseNet</a:t>
            </a:r>
            <a:r>
              <a:rPr lang="zh-CN" altLang="en-US" sz="2400" b="0" i="0" dirty="0">
                <a:solidFill>
                  <a:srgbClr val="191B1F"/>
                </a:solidFill>
                <a:effectLst/>
                <a:latin typeface="-apple-system"/>
              </a:rPr>
              <a:t>在参数和计算成本更少的情形下实现比</a:t>
            </a:r>
            <a:r>
              <a:rPr lang="en" altLang="zh-CN" sz="2400" b="0" i="0" dirty="0" err="1">
                <a:solidFill>
                  <a:srgbClr val="191B1F"/>
                </a:solidFill>
                <a:effectLst/>
                <a:latin typeface="-apple-system"/>
              </a:rPr>
              <a:t>ResNet</a:t>
            </a:r>
            <a:r>
              <a:rPr lang="zh-CN" altLang="en-US" sz="2400" b="0" i="0" dirty="0">
                <a:solidFill>
                  <a:srgbClr val="191B1F"/>
                </a:solidFill>
                <a:effectLst/>
                <a:latin typeface="-apple-system"/>
              </a:rPr>
              <a:t>更优的性能，也因此斩获</a:t>
            </a:r>
            <a:r>
              <a:rPr lang="en" altLang="zh-CN" sz="2400" b="0" i="0" dirty="0">
                <a:solidFill>
                  <a:srgbClr val="191B1F"/>
                </a:solidFill>
                <a:effectLst/>
                <a:latin typeface="-apple-system"/>
              </a:rPr>
              <a:t>CVPR 2017</a:t>
            </a:r>
            <a:r>
              <a:rPr lang="zh-CN" altLang="en-US" sz="2400" b="0" i="0" dirty="0">
                <a:solidFill>
                  <a:srgbClr val="191B1F"/>
                </a:solidFill>
                <a:effectLst/>
                <a:latin typeface="-apple-system"/>
              </a:rPr>
              <a:t>的最佳论文奖。</a:t>
            </a:r>
            <a:endParaRPr lang="zh-CN" altLang="en-US" sz="2400" b="0" i="0" dirty="0">
              <a:solidFill>
                <a:srgbClr val="1D1D1F"/>
              </a:solidFill>
              <a:effectLst/>
              <a:latin typeface="system-ui"/>
            </a:endParaRP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err="1">
                <a:solidFill>
                  <a:schemeClr val="bg1"/>
                </a:solidFill>
                <a:latin typeface="Calibri" panose="020F0502020204030204" pitchFamily="34" charset="0"/>
                <a:cs typeface="Calibri" panose="020F0502020204030204" pitchFamily="34" charset="0"/>
              </a:rPr>
              <a:t>DenseNet</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7" name="图片 6">
            <a:extLst>
              <a:ext uri="{FF2B5EF4-FFF2-40B4-BE49-F238E27FC236}">
                <a16:creationId xmlns:a16="http://schemas.microsoft.com/office/drawing/2014/main" id="{1481DC27-63DF-1D8F-4259-41093DCDB9DF}"/>
              </a:ext>
            </a:extLst>
          </p:cNvPr>
          <p:cNvPicPr>
            <a:picLocks noChangeAspect="1"/>
          </p:cNvPicPr>
          <p:nvPr/>
        </p:nvPicPr>
        <p:blipFill>
          <a:blip r:embed="rId3"/>
          <a:stretch>
            <a:fillRect/>
          </a:stretch>
        </p:blipFill>
        <p:spPr>
          <a:xfrm>
            <a:off x="2177831" y="3044142"/>
            <a:ext cx="7772400" cy="3715474"/>
          </a:xfrm>
          <a:prstGeom prst="rect">
            <a:avLst/>
          </a:prstGeom>
        </p:spPr>
      </p:pic>
    </p:spTree>
    <p:extLst>
      <p:ext uri="{BB962C8B-B14F-4D97-AF65-F5344CB8AC3E}">
        <p14:creationId xmlns:p14="http://schemas.microsoft.com/office/powerpoint/2010/main" val="9721356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00" y="2413000"/>
            <a:ext cx="5080000" cy="398780"/>
          </a:xfrm>
          <a:prstGeom prst="rect">
            <a:avLst/>
          </a:prstGeom>
        </p:spPr>
        <p:txBody>
          <a:bodyPr>
            <a:spAutoFit/>
          </a:bodyPr>
          <a:lstStyle/>
          <a:p>
            <a:pPr>
              <a:spcAft>
                <a:spcPct val="60000"/>
              </a:spcAft>
            </a:pPr>
            <a:r>
              <a:rPr lang="en-US" altLang="zh-CN" sz="2000" b="1"/>
              <a:t>ResNet </a:t>
            </a:r>
            <a:r>
              <a:rPr lang="zh-CN" altLang="en-US" sz="2000" b="1"/>
              <a:t>的意义</a:t>
            </a:r>
            <a:endParaRPr lang="en-US" altLang="zh-CN" sz="2000"/>
          </a:p>
        </p:txBody>
      </p:sp>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769499" y="1389236"/>
            <a:ext cx="10589064" cy="1422544"/>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 altLang="zh-CN" sz="2400" b="0" i="0" dirty="0">
                <a:solidFill>
                  <a:srgbClr val="1D1D1F"/>
                </a:solidFill>
                <a:effectLst/>
                <a:latin typeface="system-ui"/>
              </a:rPr>
              <a:t>MobileNet_V1 </a:t>
            </a:r>
            <a:r>
              <a:rPr lang="zh-CN" altLang="en-US" sz="2400" b="0" i="0" dirty="0">
                <a:solidFill>
                  <a:srgbClr val="1D1D1F"/>
                </a:solidFill>
                <a:effectLst/>
                <a:latin typeface="system-ui"/>
              </a:rPr>
              <a:t>是一种移动端和嵌入式设备的</a:t>
            </a:r>
            <a:r>
              <a:rPr lang="zh-CN" altLang="en-US" sz="2400" i="0" dirty="0">
                <a:solidFill>
                  <a:srgbClr val="1D1D1F"/>
                </a:solidFill>
                <a:effectLst/>
                <a:latin typeface="system-ui"/>
              </a:rPr>
              <a:t>轻量级卷积神经网络</a:t>
            </a:r>
            <a:r>
              <a:rPr lang="zh-CN" altLang="en-US" sz="2400" b="0" i="0" dirty="0">
                <a:solidFill>
                  <a:srgbClr val="1D1D1F"/>
                </a:solidFill>
                <a:effectLst/>
                <a:latin typeface="system-ui"/>
              </a:rPr>
              <a:t>，其核心创新是</a:t>
            </a:r>
            <a:r>
              <a:rPr lang="zh-CN" altLang="en-US" sz="2400" b="1" i="0" dirty="0">
                <a:solidFill>
                  <a:srgbClr val="1D1D1F"/>
                </a:solidFill>
                <a:effectLst/>
                <a:latin typeface="system-ui"/>
              </a:rPr>
              <a:t>深度可分离卷积</a:t>
            </a:r>
            <a:r>
              <a:rPr lang="zh-CN" altLang="en-US" sz="2400" b="0" i="0" dirty="0">
                <a:solidFill>
                  <a:srgbClr val="1D1D1F"/>
                </a:solidFill>
                <a:effectLst/>
                <a:latin typeface="system-ui"/>
              </a:rPr>
              <a:t>（将标准卷积分解为深度卷积和逐点卷积两步），在显著降低计算量和参数量的同时保持较好的识别精度，适用于资源受限场景。</a:t>
            </a: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a:solidFill>
                  <a:schemeClr val="bg1"/>
                </a:solidFill>
                <a:latin typeface="Calibri" panose="020F0502020204030204" pitchFamily="34" charset="0"/>
                <a:cs typeface="Calibri" panose="020F0502020204030204" pitchFamily="34" charset="0"/>
              </a:rPr>
              <a:t>MobileNet_V1</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8" name="图片 7">
            <a:extLst>
              <a:ext uri="{FF2B5EF4-FFF2-40B4-BE49-F238E27FC236}">
                <a16:creationId xmlns:a16="http://schemas.microsoft.com/office/drawing/2014/main" id="{E232ABCD-752B-96E0-BBDC-A07FA7136FFD}"/>
              </a:ext>
            </a:extLst>
          </p:cNvPr>
          <p:cNvPicPr>
            <a:picLocks noChangeAspect="1"/>
          </p:cNvPicPr>
          <p:nvPr/>
        </p:nvPicPr>
        <p:blipFill>
          <a:blip r:embed="rId3"/>
          <a:stretch>
            <a:fillRect/>
          </a:stretch>
        </p:blipFill>
        <p:spPr>
          <a:xfrm>
            <a:off x="2801074" y="2876310"/>
            <a:ext cx="5950674" cy="3421546"/>
          </a:xfrm>
          <a:prstGeom prst="rect">
            <a:avLst/>
          </a:prstGeom>
        </p:spPr>
      </p:pic>
      <p:sp>
        <p:nvSpPr>
          <p:cNvPr id="9" name="文本框 8">
            <a:extLst>
              <a:ext uri="{FF2B5EF4-FFF2-40B4-BE49-F238E27FC236}">
                <a16:creationId xmlns:a16="http://schemas.microsoft.com/office/drawing/2014/main" id="{35100FCD-7C2A-90A6-CC15-2A911695F62A}"/>
              </a:ext>
            </a:extLst>
          </p:cNvPr>
          <p:cNvSpPr txBox="1"/>
          <p:nvPr/>
        </p:nvSpPr>
        <p:spPr>
          <a:xfrm>
            <a:off x="2685326" y="6387311"/>
            <a:ext cx="6724891" cy="369332"/>
          </a:xfrm>
          <a:prstGeom prst="rect">
            <a:avLst/>
          </a:prstGeom>
          <a:noFill/>
        </p:spPr>
        <p:txBody>
          <a:bodyPr wrap="square" rtlCol="0">
            <a:spAutoFit/>
          </a:bodyPr>
          <a:lstStyle/>
          <a:p>
            <a:r>
              <a:rPr lang="en" altLang="zh-CN" b="0" i="0" dirty="0">
                <a:effectLst/>
              </a:rPr>
              <a:t>(</a:t>
            </a:r>
            <a:r>
              <a:rPr lang="zh-CN" altLang="en" b="0" i="0" dirty="0">
                <a:effectLst/>
              </a:rPr>
              <a:t>图左</a:t>
            </a:r>
            <a:r>
              <a:rPr lang="en" altLang="zh-CN" b="0" i="0" dirty="0">
                <a:effectLst/>
              </a:rPr>
              <a:t>)</a:t>
            </a:r>
            <a:r>
              <a:rPr lang="zh-CN" altLang="en-US" b="0" i="0" dirty="0">
                <a:effectLst/>
              </a:rPr>
              <a:t>带</a:t>
            </a:r>
            <a:r>
              <a:rPr lang="en" altLang="zh-CN" b="0" i="0" dirty="0">
                <a:effectLst/>
              </a:rPr>
              <a:t>RELU</a:t>
            </a:r>
            <a:r>
              <a:rPr lang="zh-CN" altLang="en-US" b="0" i="0" dirty="0">
                <a:effectLst/>
              </a:rPr>
              <a:t>的标准卷积 </a:t>
            </a:r>
            <a:r>
              <a:rPr lang="en-US" altLang="zh-CN" b="0" i="0" dirty="0">
                <a:effectLst/>
              </a:rPr>
              <a:t>(</a:t>
            </a:r>
            <a:r>
              <a:rPr lang="zh-CN" altLang="en" dirty="0"/>
              <a:t>图</a:t>
            </a:r>
            <a:r>
              <a:rPr lang="zh-CN" altLang="en-US" dirty="0"/>
              <a:t>右</a:t>
            </a:r>
            <a:r>
              <a:rPr lang="en" altLang="zh-CN" b="0" i="0" dirty="0">
                <a:effectLst/>
              </a:rPr>
              <a:t>)</a:t>
            </a:r>
            <a:r>
              <a:rPr lang="zh-CN" altLang="en-US" b="0" i="0" dirty="0">
                <a:effectLst/>
              </a:rPr>
              <a:t>带</a:t>
            </a:r>
            <a:r>
              <a:rPr lang="en" altLang="zh-CN" b="0" i="0" dirty="0">
                <a:effectLst/>
              </a:rPr>
              <a:t>BN</a:t>
            </a:r>
            <a:r>
              <a:rPr lang="zh-CN" altLang="en-US" b="0" i="0" dirty="0">
                <a:effectLst/>
              </a:rPr>
              <a:t>和</a:t>
            </a:r>
            <a:r>
              <a:rPr lang="en" altLang="zh-CN" b="0" i="0" dirty="0">
                <a:effectLst/>
              </a:rPr>
              <a:t>RELU</a:t>
            </a:r>
            <a:r>
              <a:rPr lang="zh-CN" altLang="en-US" b="0" i="0" dirty="0">
                <a:effectLst/>
              </a:rPr>
              <a:t>的深度可分离卷积</a:t>
            </a:r>
            <a:endParaRPr kumimoji="1" lang="zh-CN" altLang="en-US" dirty="0"/>
          </a:p>
        </p:txBody>
      </p:sp>
    </p:spTree>
    <p:extLst>
      <p:ext uri="{BB962C8B-B14F-4D97-AF65-F5344CB8AC3E}">
        <p14:creationId xmlns:p14="http://schemas.microsoft.com/office/powerpoint/2010/main" val="1770389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00" y="2413000"/>
            <a:ext cx="5080000" cy="398780"/>
          </a:xfrm>
          <a:prstGeom prst="rect">
            <a:avLst/>
          </a:prstGeom>
        </p:spPr>
        <p:txBody>
          <a:bodyPr>
            <a:spAutoFit/>
          </a:bodyPr>
          <a:lstStyle/>
          <a:p>
            <a:pPr>
              <a:spcAft>
                <a:spcPct val="60000"/>
              </a:spcAft>
            </a:pPr>
            <a:r>
              <a:rPr lang="en-US" altLang="zh-CN" sz="2000" b="1"/>
              <a:t>ResNet </a:t>
            </a:r>
            <a:r>
              <a:rPr lang="zh-CN" altLang="en-US" sz="2000" b="1"/>
              <a:t>的意义</a:t>
            </a:r>
            <a:endParaRPr lang="en-US" altLang="zh-CN" sz="2000"/>
          </a:p>
        </p:txBody>
      </p:sp>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769499" y="1389236"/>
            <a:ext cx="10589064" cy="166648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 altLang="zh-CN" sz="2400" b="0" i="0" dirty="0" err="1">
                <a:solidFill>
                  <a:srgbClr val="1D1D1F"/>
                </a:solidFill>
                <a:effectLst/>
                <a:latin typeface="system-ui"/>
              </a:rPr>
              <a:t>MobileNet_V</a:t>
            </a:r>
            <a:r>
              <a:rPr lang="en-US" altLang="zh-CN" sz="2400" b="0" i="0" dirty="0">
                <a:solidFill>
                  <a:srgbClr val="1D1D1F"/>
                </a:solidFill>
                <a:effectLst/>
                <a:latin typeface="system-ui"/>
              </a:rPr>
              <a:t>2</a:t>
            </a:r>
            <a:r>
              <a:rPr lang="zh-CN" altLang="en" sz="2400" dirty="0">
                <a:solidFill>
                  <a:srgbClr val="1D1D1F"/>
                </a:solidFill>
                <a:latin typeface="system-ui"/>
              </a:rPr>
              <a:t>在</a:t>
            </a:r>
            <a:r>
              <a:rPr lang="en" altLang="zh-CN" sz="2400" b="0" i="0" dirty="0">
                <a:solidFill>
                  <a:srgbClr val="191B1F"/>
                </a:solidFill>
                <a:effectLst/>
                <a:latin typeface="-apple-system"/>
              </a:rPr>
              <a:t>V1</a:t>
            </a:r>
            <a:r>
              <a:rPr lang="zh-CN" altLang="en-US" sz="2400" b="0" i="0" dirty="0">
                <a:solidFill>
                  <a:srgbClr val="191B1F"/>
                </a:solidFill>
                <a:effectLst/>
                <a:latin typeface="-apple-system"/>
              </a:rPr>
              <a:t>的基础上引入了</a:t>
            </a:r>
            <a:r>
              <a:rPr lang="zh-CN" altLang="en-US" sz="2400" b="1" dirty="0">
                <a:solidFill>
                  <a:srgbClr val="1D1D1F"/>
                </a:solidFill>
                <a:latin typeface="system-ui"/>
              </a:rPr>
              <a:t>倒</a:t>
            </a:r>
            <a:r>
              <a:rPr lang="zh-CN" altLang="en-US" sz="2400" b="1" i="0" dirty="0">
                <a:solidFill>
                  <a:srgbClr val="1D1D1F"/>
                </a:solidFill>
                <a:effectLst/>
                <a:latin typeface="system-ui"/>
              </a:rPr>
              <a:t>残差连接</a:t>
            </a:r>
            <a:r>
              <a:rPr lang="zh-CN" altLang="en-US" sz="2400" b="0" i="0" dirty="0">
                <a:solidFill>
                  <a:srgbClr val="1D1D1F"/>
                </a:solidFill>
                <a:effectLst/>
                <a:latin typeface="system-ui"/>
              </a:rPr>
              <a:t>（</a:t>
            </a:r>
            <a:r>
              <a:rPr lang="en" altLang="zh-CN" sz="2400" b="0" i="0" dirty="0">
                <a:solidFill>
                  <a:srgbClr val="1D1D1F"/>
                </a:solidFill>
                <a:effectLst/>
                <a:latin typeface="system-ui"/>
              </a:rPr>
              <a:t>Inverted Residual</a:t>
            </a:r>
            <a:r>
              <a:rPr lang="zh-CN" altLang="en" sz="2400" b="0" i="0" dirty="0">
                <a:solidFill>
                  <a:srgbClr val="1D1D1F"/>
                </a:solidFill>
                <a:effectLst/>
                <a:latin typeface="system-ui"/>
              </a:rPr>
              <a:t>）</a:t>
            </a:r>
            <a:r>
              <a:rPr lang="zh-CN" altLang="en-US" sz="2400" b="0" i="0" dirty="0">
                <a:solidFill>
                  <a:srgbClr val="1D1D1F"/>
                </a:solidFill>
                <a:effectLst/>
                <a:latin typeface="system-ui"/>
              </a:rPr>
              <a:t>与</a:t>
            </a:r>
            <a:r>
              <a:rPr lang="zh-CN" altLang="en-US" sz="2400" b="1" i="0" dirty="0">
                <a:solidFill>
                  <a:srgbClr val="1D1D1F"/>
                </a:solidFill>
                <a:effectLst/>
                <a:latin typeface="system-ui"/>
              </a:rPr>
              <a:t>线性瓶颈层</a:t>
            </a:r>
            <a:r>
              <a:rPr lang="zh-CN" altLang="en-US" sz="2400" b="0" i="0" dirty="0">
                <a:solidFill>
                  <a:srgbClr val="1D1D1F"/>
                </a:solidFill>
                <a:effectLst/>
                <a:latin typeface="system-ui"/>
              </a:rPr>
              <a:t>（</a:t>
            </a:r>
            <a:r>
              <a:rPr lang="en" altLang="zh-CN" sz="2400" b="0" i="0" dirty="0">
                <a:solidFill>
                  <a:srgbClr val="1D1D1F"/>
                </a:solidFill>
                <a:effectLst/>
                <a:latin typeface="system-ui"/>
              </a:rPr>
              <a:t>Linear Bottleneck</a:t>
            </a:r>
            <a:r>
              <a:rPr lang="zh-CN" altLang="en" sz="2400" b="0" i="0" dirty="0">
                <a:solidFill>
                  <a:srgbClr val="1D1D1F"/>
                </a:solidFill>
                <a:effectLst/>
                <a:latin typeface="system-ui"/>
              </a:rPr>
              <a:t>）：</a:t>
            </a:r>
            <a:r>
              <a:rPr lang="zh-CN" altLang="en-US" sz="2400" b="0" i="0" dirty="0">
                <a:solidFill>
                  <a:srgbClr val="1D1D1F"/>
                </a:solidFill>
                <a:effectLst/>
                <a:latin typeface="system-ui"/>
              </a:rPr>
              <a:t>先通过 </a:t>
            </a:r>
            <a:r>
              <a:rPr lang="en-US" altLang="zh-CN" sz="2400" b="0" i="0" dirty="0">
                <a:solidFill>
                  <a:srgbClr val="1D1D1F"/>
                </a:solidFill>
                <a:effectLst/>
                <a:latin typeface="system-ui"/>
              </a:rPr>
              <a:t>1×1 </a:t>
            </a:r>
            <a:r>
              <a:rPr lang="zh-CN" altLang="en-US" sz="2400" b="0" i="0" dirty="0">
                <a:solidFill>
                  <a:srgbClr val="1D1D1F"/>
                </a:solidFill>
                <a:effectLst/>
                <a:latin typeface="system-ui"/>
              </a:rPr>
              <a:t>卷积升维扩展特征通道，再经深度卷积提取空间信息，最后用无 </a:t>
            </a:r>
            <a:r>
              <a:rPr lang="en" altLang="zh-CN" sz="2400" b="0" i="0" dirty="0" err="1">
                <a:solidFill>
                  <a:srgbClr val="1D1D1F"/>
                </a:solidFill>
                <a:effectLst/>
                <a:latin typeface="system-ui"/>
              </a:rPr>
              <a:t>ReLU</a:t>
            </a:r>
            <a:r>
              <a:rPr lang="en" altLang="zh-CN" sz="2400" b="0" i="0" dirty="0">
                <a:solidFill>
                  <a:srgbClr val="1D1D1F"/>
                </a:solidFill>
                <a:effectLst/>
                <a:latin typeface="system-ui"/>
              </a:rPr>
              <a:t> </a:t>
            </a:r>
            <a:r>
              <a:rPr lang="zh-CN" altLang="en-US" sz="2400" b="0" i="0" dirty="0">
                <a:solidFill>
                  <a:srgbClr val="1D1D1F"/>
                </a:solidFill>
                <a:effectLst/>
                <a:latin typeface="system-ui"/>
              </a:rPr>
              <a:t>激活的 </a:t>
            </a:r>
            <a:r>
              <a:rPr lang="en-US" altLang="zh-CN" sz="2400" b="0" i="0" dirty="0">
                <a:solidFill>
                  <a:srgbClr val="1D1D1F"/>
                </a:solidFill>
                <a:effectLst/>
                <a:latin typeface="system-ui"/>
              </a:rPr>
              <a:t>1×1 </a:t>
            </a:r>
            <a:r>
              <a:rPr lang="zh-CN" altLang="en-US" sz="2400" b="0" i="0" dirty="0">
                <a:solidFill>
                  <a:srgbClr val="1D1D1F"/>
                </a:solidFill>
                <a:effectLst/>
                <a:latin typeface="system-ui"/>
              </a:rPr>
              <a:t>卷积降维，有效缓解低维特征经 </a:t>
            </a:r>
            <a:r>
              <a:rPr lang="en" altLang="zh-CN" sz="2400" b="0" i="0" dirty="0" err="1">
                <a:solidFill>
                  <a:srgbClr val="1D1D1F"/>
                </a:solidFill>
                <a:effectLst/>
                <a:latin typeface="system-ui"/>
              </a:rPr>
              <a:t>ReLU</a:t>
            </a:r>
            <a:r>
              <a:rPr lang="en" altLang="zh-CN" sz="2400" b="0" i="0" dirty="0">
                <a:solidFill>
                  <a:srgbClr val="1D1D1F"/>
                </a:solidFill>
                <a:effectLst/>
                <a:latin typeface="system-ui"/>
              </a:rPr>
              <a:t> </a:t>
            </a:r>
            <a:r>
              <a:rPr lang="zh-CN" altLang="en-US" sz="2400" b="0" i="0" dirty="0">
                <a:solidFill>
                  <a:srgbClr val="1D1D1F"/>
                </a:solidFill>
                <a:effectLst/>
                <a:latin typeface="system-ui"/>
              </a:rPr>
              <a:t>造成的表达能力损失，在保持低计算量的同时提升精度。。</a:t>
            </a: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a:solidFill>
                  <a:schemeClr val="bg1"/>
                </a:solidFill>
                <a:latin typeface="Calibri" panose="020F0502020204030204" pitchFamily="34" charset="0"/>
                <a:cs typeface="Calibri" panose="020F0502020204030204" pitchFamily="34" charset="0"/>
              </a:rPr>
              <a:t>MobileNet_V2</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7" name="图片 6">
            <a:extLst>
              <a:ext uri="{FF2B5EF4-FFF2-40B4-BE49-F238E27FC236}">
                <a16:creationId xmlns:a16="http://schemas.microsoft.com/office/drawing/2014/main" id="{7145CF4D-5A5E-97D9-54D7-E786371264F2}"/>
              </a:ext>
            </a:extLst>
          </p:cNvPr>
          <p:cNvPicPr>
            <a:picLocks noChangeAspect="1"/>
          </p:cNvPicPr>
          <p:nvPr/>
        </p:nvPicPr>
        <p:blipFill>
          <a:blip r:embed="rId3"/>
          <a:stretch>
            <a:fillRect/>
          </a:stretch>
        </p:blipFill>
        <p:spPr>
          <a:xfrm>
            <a:off x="1246772" y="3429000"/>
            <a:ext cx="9698456" cy="2305235"/>
          </a:xfrm>
          <a:prstGeom prst="rect">
            <a:avLst/>
          </a:prstGeom>
        </p:spPr>
      </p:pic>
      <p:sp>
        <p:nvSpPr>
          <p:cNvPr id="10" name="文本框 9">
            <a:extLst>
              <a:ext uri="{FF2B5EF4-FFF2-40B4-BE49-F238E27FC236}">
                <a16:creationId xmlns:a16="http://schemas.microsoft.com/office/drawing/2014/main" id="{44CB066B-DB12-2DD7-8315-B1D5F29B678F}"/>
              </a:ext>
            </a:extLst>
          </p:cNvPr>
          <p:cNvSpPr txBox="1"/>
          <p:nvPr/>
        </p:nvSpPr>
        <p:spPr>
          <a:xfrm>
            <a:off x="3738616" y="5947474"/>
            <a:ext cx="6724891" cy="369332"/>
          </a:xfrm>
          <a:prstGeom prst="rect">
            <a:avLst/>
          </a:prstGeom>
          <a:noFill/>
        </p:spPr>
        <p:txBody>
          <a:bodyPr wrap="square" rtlCol="0">
            <a:spAutoFit/>
          </a:bodyPr>
          <a:lstStyle/>
          <a:p>
            <a:r>
              <a:rPr lang="en" altLang="zh-CN" b="0" i="0" dirty="0">
                <a:effectLst/>
              </a:rPr>
              <a:t>(</a:t>
            </a:r>
            <a:r>
              <a:rPr lang="zh-CN" altLang="en" b="0" i="0" dirty="0">
                <a:effectLst/>
              </a:rPr>
              <a:t>图左</a:t>
            </a:r>
            <a:r>
              <a:rPr lang="en" altLang="zh-CN" b="0" i="0" dirty="0">
                <a:effectLst/>
              </a:rPr>
              <a:t>)</a:t>
            </a:r>
            <a:r>
              <a:rPr lang="zh-CN" altLang="en-US" b="0" i="0" dirty="0">
                <a:effectLst/>
              </a:rPr>
              <a:t> 残差连接模块 </a:t>
            </a:r>
            <a:r>
              <a:rPr lang="en-US" altLang="zh-CN" b="0" i="0" dirty="0">
                <a:effectLst/>
              </a:rPr>
              <a:t>(</a:t>
            </a:r>
            <a:r>
              <a:rPr lang="zh-CN" altLang="en" dirty="0"/>
              <a:t>图</a:t>
            </a:r>
            <a:r>
              <a:rPr lang="zh-CN" altLang="en-US" dirty="0"/>
              <a:t>右</a:t>
            </a:r>
            <a:r>
              <a:rPr lang="en" altLang="zh-CN" b="0" i="0" dirty="0">
                <a:effectLst/>
              </a:rPr>
              <a:t>)</a:t>
            </a:r>
            <a:r>
              <a:rPr lang="zh-CN" altLang="en-US" b="0" i="0" dirty="0">
                <a:effectLst/>
              </a:rPr>
              <a:t> 倒残差连接模块</a:t>
            </a:r>
            <a:endParaRPr kumimoji="1" lang="zh-CN" altLang="en-US" dirty="0"/>
          </a:p>
        </p:txBody>
      </p:sp>
    </p:spTree>
    <p:extLst>
      <p:ext uri="{BB962C8B-B14F-4D97-AF65-F5344CB8AC3E}">
        <p14:creationId xmlns:p14="http://schemas.microsoft.com/office/powerpoint/2010/main" val="1197935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00" y="2413000"/>
            <a:ext cx="5080000" cy="398780"/>
          </a:xfrm>
          <a:prstGeom prst="rect">
            <a:avLst/>
          </a:prstGeom>
        </p:spPr>
        <p:txBody>
          <a:bodyPr>
            <a:spAutoFit/>
          </a:bodyPr>
          <a:lstStyle/>
          <a:p>
            <a:pPr>
              <a:spcAft>
                <a:spcPct val="60000"/>
              </a:spcAft>
            </a:pPr>
            <a:r>
              <a:rPr lang="en-US" altLang="zh-CN" sz="2000" b="1"/>
              <a:t>ResNet </a:t>
            </a:r>
            <a:r>
              <a:rPr lang="zh-CN" altLang="en-US" sz="2000" b="1"/>
              <a:t>的意义</a:t>
            </a:r>
            <a:endParaRPr lang="en-US" altLang="zh-CN" sz="2000"/>
          </a:p>
        </p:txBody>
      </p:sp>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769499" y="1389236"/>
            <a:ext cx="10589064" cy="166648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 altLang="zh-CN" sz="2400" b="0" i="0" dirty="0" err="1">
                <a:solidFill>
                  <a:srgbClr val="1D1D1F"/>
                </a:solidFill>
                <a:effectLst/>
                <a:latin typeface="system-ui"/>
              </a:rPr>
              <a:t>MobileNet_V</a:t>
            </a:r>
            <a:r>
              <a:rPr lang="en-US" altLang="zh-CN" sz="2400" dirty="0">
                <a:solidFill>
                  <a:srgbClr val="1D1D1F"/>
                </a:solidFill>
                <a:latin typeface="system-ui"/>
              </a:rPr>
              <a:t>3</a:t>
            </a:r>
            <a:r>
              <a:rPr lang="zh-CN" altLang="en-US" sz="2400" dirty="0">
                <a:solidFill>
                  <a:srgbClr val="1D1D1F"/>
                </a:solidFill>
                <a:latin typeface="system-ui"/>
              </a:rPr>
              <a:t>结合了</a:t>
            </a:r>
            <a:r>
              <a:rPr lang="en" altLang="zh-CN" sz="2400" b="0" i="0" dirty="0">
                <a:solidFill>
                  <a:srgbClr val="191B1F"/>
                </a:solidFill>
                <a:effectLst/>
                <a:latin typeface="-apple-system"/>
              </a:rPr>
              <a:t>V1</a:t>
            </a:r>
            <a:r>
              <a:rPr lang="zh-CN" altLang="en-US" sz="2400" b="0" i="0" dirty="0">
                <a:solidFill>
                  <a:srgbClr val="191B1F"/>
                </a:solidFill>
                <a:effectLst/>
                <a:latin typeface="-apple-system"/>
              </a:rPr>
              <a:t>的深度可分离卷积、</a:t>
            </a:r>
            <a:r>
              <a:rPr lang="en" altLang="zh-CN" sz="2400" b="0" i="0" dirty="0">
                <a:solidFill>
                  <a:srgbClr val="191B1F"/>
                </a:solidFill>
                <a:effectLst/>
                <a:latin typeface="-apple-system"/>
              </a:rPr>
              <a:t>V2</a:t>
            </a:r>
            <a:r>
              <a:rPr lang="zh-CN" altLang="en-US" sz="2400" b="0" i="0" dirty="0">
                <a:solidFill>
                  <a:srgbClr val="191B1F"/>
                </a:solidFill>
                <a:effectLst/>
                <a:latin typeface="-apple-system"/>
              </a:rPr>
              <a:t>的倒残差和线性瓶颈层，同时采用了</a:t>
            </a:r>
            <a:r>
              <a:rPr lang="en-US" altLang="zh-CN" sz="2400" b="0" i="0" dirty="0">
                <a:solidFill>
                  <a:srgbClr val="191B1F"/>
                </a:solidFill>
                <a:effectLst/>
                <a:latin typeface="-apple-system"/>
              </a:rPr>
              <a:t>SE </a:t>
            </a:r>
            <a:r>
              <a:rPr lang="en-US" altLang="zh-CN" sz="2400" dirty="0">
                <a:solidFill>
                  <a:srgbClr val="191B1F"/>
                </a:solidFill>
                <a:latin typeface="-apple-system"/>
              </a:rPr>
              <a:t>(</a:t>
            </a:r>
            <a:r>
              <a:rPr lang="en" altLang="zh-CN" sz="2400" b="0" i="0" dirty="0">
                <a:solidFill>
                  <a:srgbClr val="191B1F"/>
                </a:solidFill>
                <a:effectLst/>
                <a:latin typeface="-apple-system"/>
              </a:rPr>
              <a:t>Squeeze-and-Excitation, SE</a:t>
            </a:r>
            <a:r>
              <a:rPr lang="en-US" altLang="zh-CN" sz="2400" dirty="0">
                <a:solidFill>
                  <a:srgbClr val="191B1F"/>
                </a:solidFill>
                <a:latin typeface="-apple-system"/>
              </a:rPr>
              <a:t>) </a:t>
            </a:r>
            <a:r>
              <a:rPr lang="zh-CN" altLang="en-US" sz="2400" dirty="0">
                <a:solidFill>
                  <a:srgbClr val="191B1F"/>
                </a:solidFill>
                <a:latin typeface="-apple-system"/>
              </a:rPr>
              <a:t>注意力结构，</a:t>
            </a:r>
            <a:r>
              <a:rPr lang="zh-CN" altLang="en-US" sz="2400" b="0" i="0" dirty="0">
                <a:solidFill>
                  <a:srgbClr val="191B1F"/>
                </a:solidFill>
                <a:effectLst/>
                <a:latin typeface="-apple-system"/>
              </a:rPr>
              <a:t>通过学习来自动获取到每个特征通道的重要程度，然后依照这一结果去提升有用的特征并抑制对当前任务用处不大的特征。</a:t>
            </a:r>
            <a:endParaRPr lang="zh-CN" altLang="en-US" sz="2400" b="0" i="0" dirty="0">
              <a:solidFill>
                <a:srgbClr val="1D1D1F"/>
              </a:solidFill>
              <a:effectLst/>
              <a:latin typeface="system-ui"/>
            </a:endParaRP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a:solidFill>
                  <a:schemeClr val="bg1"/>
                </a:solidFill>
                <a:latin typeface="Calibri" panose="020F0502020204030204" pitchFamily="34" charset="0"/>
                <a:cs typeface="Calibri" panose="020F0502020204030204" pitchFamily="34" charset="0"/>
              </a:rPr>
              <a:t>MobileNet_V3</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8" name="图片 7">
            <a:extLst>
              <a:ext uri="{FF2B5EF4-FFF2-40B4-BE49-F238E27FC236}">
                <a16:creationId xmlns:a16="http://schemas.microsoft.com/office/drawing/2014/main" id="{AC1B0947-C75D-AE16-3810-B4D925E7778B}"/>
              </a:ext>
            </a:extLst>
          </p:cNvPr>
          <p:cNvPicPr>
            <a:picLocks noChangeAspect="1"/>
          </p:cNvPicPr>
          <p:nvPr/>
        </p:nvPicPr>
        <p:blipFill>
          <a:blip r:embed="rId3"/>
          <a:stretch>
            <a:fillRect/>
          </a:stretch>
        </p:blipFill>
        <p:spPr>
          <a:xfrm>
            <a:off x="2177831" y="3423955"/>
            <a:ext cx="7772400" cy="2873900"/>
          </a:xfrm>
          <a:prstGeom prst="rect">
            <a:avLst/>
          </a:prstGeom>
        </p:spPr>
      </p:pic>
    </p:spTree>
    <p:extLst>
      <p:ext uri="{BB962C8B-B14F-4D97-AF65-F5344CB8AC3E}">
        <p14:creationId xmlns:p14="http://schemas.microsoft.com/office/powerpoint/2010/main" val="9310567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err="1">
                <a:solidFill>
                  <a:schemeClr val="bg1"/>
                </a:solidFill>
                <a:latin typeface="Microsoft YaHei" panose="020B0503020204020204" pitchFamily="34" charset="-122"/>
                <a:ea typeface="Microsoft YaHei" panose="020B0503020204020204" pitchFamily="34" charset="-122"/>
                <a:cs typeface="Calibri" panose="020F0502020204030204" pitchFamily="34" charset="0"/>
              </a:rPr>
              <a:t>MobileNet</a:t>
            </a:r>
            <a:r>
              <a:rPr lang="zh-CN" altLang="en-US" sz="3600" spc="-10" dirty="0">
                <a:solidFill>
                  <a:schemeClr val="bg1"/>
                </a:solidFill>
                <a:latin typeface="Microsoft YaHei" panose="020B0503020204020204" pitchFamily="34" charset="-122"/>
                <a:ea typeface="Microsoft YaHei" panose="020B0503020204020204" pitchFamily="34" charset="-122"/>
                <a:cs typeface="Calibri" panose="020F0502020204030204" pitchFamily="34" charset="0"/>
              </a:rPr>
              <a:t>的计算效率</a:t>
            </a:r>
            <a:endParaRPr lang="en-US" sz="3600" spc="-10" dirty="0">
              <a:solidFill>
                <a:schemeClr val="bg1"/>
              </a:solidFill>
              <a:latin typeface="Microsoft YaHei" panose="020B0503020204020204" pitchFamily="34" charset="-122"/>
              <a:ea typeface="Microsoft YaHei" panose="020B0503020204020204" pitchFamily="34" charset="-122"/>
              <a:cs typeface="Calibri" panose="020F0502020204030204" pitchFamily="34" charset="0"/>
            </a:endParaRPr>
          </a:p>
        </p:txBody>
      </p:sp>
      <p:sp useBgFill="1">
        <p:nvSpPr>
          <p:cNvPr id="5" name="矩形 4">
            <a:extLst>
              <a:ext uri="{FF2B5EF4-FFF2-40B4-BE49-F238E27FC236}">
                <a16:creationId xmlns:a16="http://schemas.microsoft.com/office/drawing/2014/main" id="{6B5E5D14-CB5F-F143-B3CE-8955D0D31601}"/>
              </a:ext>
            </a:extLst>
          </p:cNvPr>
          <p:cNvSpPr/>
          <p:nvPr/>
        </p:nvSpPr>
        <p:spPr bwMode="auto">
          <a:xfrm>
            <a:off x="769499" y="1389236"/>
            <a:ext cx="10589064" cy="1701205"/>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zh-CN" altLang="en-US" sz="2400" b="0" i="0" dirty="0">
                <a:solidFill>
                  <a:srgbClr val="1D1D1F"/>
                </a:solidFill>
                <a:effectLst/>
                <a:latin typeface="system-ui"/>
              </a:rPr>
              <a:t>给出实验结果</a:t>
            </a:r>
          </a:p>
        </p:txBody>
      </p:sp>
    </p:spTree>
    <p:extLst>
      <p:ext uri="{BB962C8B-B14F-4D97-AF65-F5344CB8AC3E}">
        <p14:creationId xmlns:p14="http://schemas.microsoft.com/office/powerpoint/2010/main" val="15232652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00" y="2413000"/>
            <a:ext cx="5080000" cy="398780"/>
          </a:xfrm>
          <a:prstGeom prst="rect">
            <a:avLst/>
          </a:prstGeom>
        </p:spPr>
        <p:txBody>
          <a:bodyPr>
            <a:spAutoFit/>
          </a:bodyPr>
          <a:lstStyle/>
          <a:p>
            <a:pPr>
              <a:spcAft>
                <a:spcPct val="60000"/>
              </a:spcAft>
            </a:pPr>
            <a:r>
              <a:rPr lang="en-US" altLang="zh-CN" sz="2000" b="1"/>
              <a:t>ResNet </a:t>
            </a:r>
            <a:r>
              <a:rPr lang="zh-CN" altLang="en-US" sz="2000" b="1"/>
              <a:t>的意义</a:t>
            </a:r>
            <a:endParaRPr lang="en-US" altLang="zh-CN" sz="2000"/>
          </a:p>
        </p:txBody>
      </p:sp>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769499" y="1389236"/>
            <a:ext cx="10589064" cy="1701205"/>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 altLang="zh-CN" sz="2400" b="0" i="0" dirty="0" err="1">
                <a:solidFill>
                  <a:srgbClr val="1D1D1F"/>
                </a:solidFill>
                <a:effectLst/>
                <a:latin typeface="system-ui"/>
              </a:rPr>
              <a:t>EfficientNet</a:t>
            </a:r>
            <a:r>
              <a:rPr lang="en" altLang="zh-CN" sz="2400" b="0" i="0" dirty="0">
                <a:solidFill>
                  <a:srgbClr val="1D1D1F"/>
                </a:solidFill>
                <a:effectLst/>
                <a:latin typeface="system-ui"/>
              </a:rPr>
              <a:t> </a:t>
            </a:r>
            <a:r>
              <a:rPr lang="zh-CN" altLang="en-US" sz="2400" b="0" i="0" dirty="0">
                <a:solidFill>
                  <a:srgbClr val="1D1D1F"/>
                </a:solidFill>
                <a:effectLst/>
                <a:latin typeface="system-ui"/>
              </a:rPr>
              <a:t>是 </a:t>
            </a:r>
            <a:r>
              <a:rPr lang="en" altLang="zh-CN" sz="2400" b="0" i="0" dirty="0">
                <a:solidFill>
                  <a:srgbClr val="1D1D1F"/>
                </a:solidFill>
                <a:effectLst/>
                <a:latin typeface="system-ui"/>
              </a:rPr>
              <a:t>Google </a:t>
            </a:r>
            <a:r>
              <a:rPr lang="zh-CN" altLang="en-US" sz="2400" b="0" i="0" dirty="0">
                <a:solidFill>
                  <a:srgbClr val="1D1D1F"/>
                </a:solidFill>
                <a:effectLst/>
                <a:latin typeface="system-ui"/>
              </a:rPr>
              <a:t>于 </a:t>
            </a:r>
            <a:r>
              <a:rPr lang="en-US" altLang="zh-CN" sz="2400" b="0" i="0" dirty="0">
                <a:solidFill>
                  <a:srgbClr val="1D1D1F"/>
                </a:solidFill>
                <a:effectLst/>
                <a:latin typeface="system-ui"/>
              </a:rPr>
              <a:t>2019 </a:t>
            </a:r>
            <a:r>
              <a:rPr lang="zh-CN" altLang="en-US" sz="2400" b="0" i="0" dirty="0">
                <a:solidFill>
                  <a:srgbClr val="1D1D1F"/>
                </a:solidFill>
                <a:effectLst/>
                <a:latin typeface="system-ui"/>
              </a:rPr>
              <a:t>年提出的高效卷积神经网络系列，其核心创新是</a:t>
            </a:r>
            <a:r>
              <a:rPr lang="zh-CN" altLang="en-US" sz="2400" b="1" i="0" dirty="0">
                <a:solidFill>
                  <a:srgbClr val="1D1D1F"/>
                </a:solidFill>
                <a:effectLst/>
                <a:latin typeface="system-ui"/>
              </a:rPr>
              <a:t>复合缩放（</a:t>
            </a:r>
            <a:r>
              <a:rPr lang="en" altLang="zh-CN" sz="2400" b="1" i="0" dirty="0">
                <a:solidFill>
                  <a:srgbClr val="1D1D1F"/>
                </a:solidFill>
                <a:effectLst/>
                <a:latin typeface="system-ui"/>
              </a:rPr>
              <a:t>Compound Scaling</a:t>
            </a:r>
            <a:r>
              <a:rPr lang="zh-CN" altLang="en" sz="2400" b="1" i="0" dirty="0">
                <a:solidFill>
                  <a:srgbClr val="1D1D1F"/>
                </a:solidFill>
                <a:effectLst/>
                <a:latin typeface="system-ui"/>
              </a:rPr>
              <a:t>）</a:t>
            </a:r>
            <a:r>
              <a:rPr lang="en" altLang="zh-CN" sz="2400" b="0" i="0" dirty="0">
                <a:solidFill>
                  <a:srgbClr val="1D1D1F"/>
                </a:solidFill>
                <a:effectLst/>
                <a:latin typeface="system-ui"/>
              </a:rPr>
              <a:t> </a:t>
            </a:r>
            <a:r>
              <a:rPr lang="zh-CN" altLang="en-US" sz="2400" b="0" i="0" dirty="0">
                <a:solidFill>
                  <a:srgbClr val="1D1D1F"/>
                </a:solidFill>
                <a:effectLst/>
                <a:latin typeface="system-ui"/>
              </a:rPr>
              <a:t>策略</a:t>
            </a:r>
            <a:r>
              <a:rPr lang="en-US" altLang="zh-CN" sz="2400" b="0" i="0" dirty="0">
                <a:solidFill>
                  <a:srgbClr val="1D1D1F"/>
                </a:solidFill>
                <a:effectLst/>
                <a:latin typeface="system-ui"/>
              </a:rPr>
              <a:t>——</a:t>
            </a:r>
            <a:r>
              <a:rPr lang="zh-CN" altLang="en-US" sz="2400" b="0" i="0" dirty="0">
                <a:solidFill>
                  <a:srgbClr val="1D1D1F"/>
                </a:solidFill>
                <a:effectLst/>
                <a:latin typeface="system-ui"/>
              </a:rPr>
              <a:t>通过平衡且自动地同步缩放网络的</a:t>
            </a:r>
            <a:r>
              <a:rPr lang="zh-CN" altLang="en-US" sz="2400" b="1" i="0" dirty="0">
                <a:solidFill>
                  <a:srgbClr val="1D1D1F"/>
                </a:solidFill>
                <a:effectLst/>
                <a:latin typeface="system-ui"/>
              </a:rPr>
              <a:t>深度</a:t>
            </a:r>
            <a:r>
              <a:rPr lang="zh-CN" altLang="en-US" sz="2400" b="0" i="0" dirty="0">
                <a:solidFill>
                  <a:srgbClr val="1D1D1F"/>
                </a:solidFill>
                <a:effectLst/>
                <a:latin typeface="system-ui"/>
              </a:rPr>
              <a:t>（层数）、</a:t>
            </a:r>
            <a:r>
              <a:rPr lang="zh-CN" altLang="en-US" sz="2400" b="1" i="0" dirty="0">
                <a:solidFill>
                  <a:srgbClr val="1D1D1F"/>
                </a:solidFill>
                <a:effectLst/>
                <a:latin typeface="system-ui"/>
              </a:rPr>
              <a:t>宽度</a:t>
            </a:r>
            <a:r>
              <a:rPr lang="zh-CN" altLang="en-US" sz="2400" b="0" i="0" dirty="0">
                <a:solidFill>
                  <a:srgbClr val="1D1D1F"/>
                </a:solidFill>
                <a:effectLst/>
                <a:latin typeface="system-ui"/>
              </a:rPr>
              <a:t>（通道数）和</a:t>
            </a:r>
            <a:r>
              <a:rPr lang="zh-CN" altLang="en-US" sz="2400" b="1" i="0" dirty="0">
                <a:solidFill>
                  <a:srgbClr val="1D1D1F"/>
                </a:solidFill>
                <a:effectLst/>
                <a:latin typeface="system-ui"/>
              </a:rPr>
              <a:t>分辨率</a:t>
            </a:r>
            <a:r>
              <a:rPr lang="zh-CN" altLang="en-US" sz="2400" b="0" i="0" dirty="0">
                <a:solidFill>
                  <a:srgbClr val="1D1D1F"/>
                </a:solidFill>
                <a:effectLst/>
                <a:latin typeface="system-ui"/>
              </a:rPr>
              <a:t>（输入尺寸），在固定计算资源下实现精度与效率最优，以更少的参数和 </a:t>
            </a:r>
            <a:r>
              <a:rPr lang="en" altLang="zh-CN" sz="2400" b="0" i="0" dirty="0">
                <a:solidFill>
                  <a:srgbClr val="1D1D1F"/>
                </a:solidFill>
                <a:effectLst/>
                <a:latin typeface="system-ui"/>
              </a:rPr>
              <a:t>FLOPs </a:t>
            </a:r>
            <a:r>
              <a:rPr lang="zh-CN" altLang="en-US" sz="2400" b="0" i="0" dirty="0">
                <a:solidFill>
                  <a:srgbClr val="1D1D1F"/>
                </a:solidFill>
                <a:effectLst/>
                <a:latin typeface="system-ui"/>
              </a:rPr>
              <a:t>达到当时 </a:t>
            </a:r>
            <a:r>
              <a:rPr lang="en" altLang="zh-CN" sz="2400" b="0" i="0" dirty="0">
                <a:solidFill>
                  <a:srgbClr val="1D1D1F"/>
                </a:solidFill>
                <a:effectLst/>
                <a:latin typeface="system-ui"/>
              </a:rPr>
              <a:t>ImageNet </a:t>
            </a:r>
            <a:r>
              <a:rPr lang="zh-CN" altLang="en-US" sz="2400" b="0" i="0" dirty="0">
                <a:solidFill>
                  <a:srgbClr val="1D1D1F"/>
                </a:solidFill>
                <a:effectLst/>
                <a:latin typeface="system-ui"/>
              </a:rPr>
              <a:t>分类的 </a:t>
            </a:r>
            <a:r>
              <a:rPr lang="en" altLang="zh-CN" sz="2400" b="0" i="0" dirty="0">
                <a:solidFill>
                  <a:srgbClr val="1D1D1F"/>
                </a:solidFill>
                <a:effectLst/>
                <a:latin typeface="system-ui"/>
              </a:rPr>
              <a:t>SOTA </a:t>
            </a:r>
            <a:r>
              <a:rPr lang="zh-CN" altLang="en-US" sz="2400" b="0" i="0" dirty="0">
                <a:solidFill>
                  <a:srgbClr val="1D1D1F"/>
                </a:solidFill>
                <a:effectLst/>
                <a:latin typeface="system-ui"/>
              </a:rPr>
              <a:t>性能。</a:t>
            </a: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err="1">
                <a:solidFill>
                  <a:schemeClr val="bg1"/>
                </a:solidFill>
                <a:latin typeface="Calibri" panose="020F0502020204030204" pitchFamily="34" charset="0"/>
                <a:cs typeface="Calibri" panose="020F0502020204030204" pitchFamily="34" charset="0"/>
              </a:rPr>
              <a:t>EfficientNet</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7" name="图片 6">
            <a:extLst>
              <a:ext uri="{FF2B5EF4-FFF2-40B4-BE49-F238E27FC236}">
                <a16:creationId xmlns:a16="http://schemas.microsoft.com/office/drawing/2014/main" id="{406D318E-7AC7-2785-378E-DA13F69754FD}"/>
              </a:ext>
            </a:extLst>
          </p:cNvPr>
          <p:cNvPicPr>
            <a:picLocks noChangeAspect="1"/>
          </p:cNvPicPr>
          <p:nvPr/>
        </p:nvPicPr>
        <p:blipFill>
          <a:blip r:embed="rId3"/>
          <a:stretch>
            <a:fillRect/>
          </a:stretch>
        </p:blipFill>
        <p:spPr>
          <a:xfrm>
            <a:off x="2019301" y="3227463"/>
            <a:ext cx="8153398" cy="3469970"/>
          </a:xfrm>
          <a:prstGeom prst="rect">
            <a:avLst/>
          </a:prstGeom>
        </p:spPr>
      </p:pic>
    </p:spTree>
    <p:extLst>
      <p:ext uri="{BB962C8B-B14F-4D97-AF65-F5344CB8AC3E}">
        <p14:creationId xmlns:p14="http://schemas.microsoft.com/office/powerpoint/2010/main" val="37034240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56000" y="2413000"/>
            <a:ext cx="5080000" cy="398780"/>
          </a:xfrm>
          <a:prstGeom prst="rect">
            <a:avLst/>
          </a:prstGeom>
        </p:spPr>
        <p:txBody>
          <a:bodyPr>
            <a:spAutoFit/>
          </a:bodyPr>
          <a:lstStyle/>
          <a:p>
            <a:pPr>
              <a:spcAft>
                <a:spcPct val="60000"/>
              </a:spcAft>
            </a:pPr>
            <a:r>
              <a:rPr lang="en-US" altLang="zh-CN" sz="2000" b="1"/>
              <a:t>ResNet </a:t>
            </a:r>
            <a:r>
              <a:rPr lang="zh-CN" altLang="en-US" sz="2000" b="1"/>
              <a:t>的意义</a:t>
            </a:r>
            <a:endParaRPr lang="en-US" altLang="zh-CN" sz="2000"/>
          </a:p>
        </p:txBody>
      </p:sp>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769499" y="1389237"/>
            <a:ext cx="10589064" cy="155980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 altLang="zh-CN" sz="2400" b="0" i="0" dirty="0">
                <a:solidFill>
                  <a:srgbClr val="1D1D1F"/>
                </a:solidFill>
                <a:effectLst/>
                <a:latin typeface="system-ui"/>
              </a:rPr>
              <a:t>Vision Transformer</a:t>
            </a:r>
            <a:r>
              <a:rPr lang="zh-CN" altLang="en" sz="2400" b="0" i="0" dirty="0">
                <a:solidFill>
                  <a:srgbClr val="1D1D1F"/>
                </a:solidFill>
                <a:effectLst/>
                <a:latin typeface="system-ui"/>
              </a:rPr>
              <a:t>（</a:t>
            </a:r>
            <a:r>
              <a:rPr lang="en" altLang="zh-CN" sz="2400" b="0" i="0" dirty="0" err="1">
                <a:solidFill>
                  <a:srgbClr val="1D1D1F"/>
                </a:solidFill>
                <a:effectLst/>
                <a:latin typeface="system-ui"/>
              </a:rPr>
              <a:t>ViT</a:t>
            </a:r>
            <a:r>
              <a:rPr lang="zh-CN" altLang="en" sz="2400" b="0" i="0" dirty="0">
                <a:solidFill>
                  <a:srgbClr val="1D1D1F"/>
                </a:solidFill>
                <a:effectLst/>
                <a:latin typeface="system-ui"/>
              </a:rPr>
              <a:t>）</a:t>
            </a:r>
            <a:r>
              <a:rPr lang="zh-CN" altLang="en-US" sz="2400" b="0" i="0" dirty="0">
                <a:solidFill>
                  <a:srgbClr val="1D1D1F"/>
                </a:solidFill>
                <a:effectLst/>
                <a:latin typeface="system-ui"/>
              </a:rPr>
              <a:t>是 </a:t>
            </a:r>
            <a:r>
              <a:rPr lang="en" altLang="zh-CN" sz="2400" b="0" i="0" dirty="0">
                <a:solidFill>
                  <a:srgbClr val="1D1D1F"/>
                </a:solidFill>
                <a:effectLst/>
                <a:latin typeface="system-ui"/>
              </a:rPr>
              <a:t>Google </a:t>
            </a:r>
            <a:r>
              <a:rPr lang="zh-CN" altLang="en-US" sz="2400" b="0" i="0" dirty="0">
                <a:solidFill>
                  <a:srgbClr val="1D1D1F"/>
                </a:solidFill>
                <a:effectLst/>
                <a:latin typeface="system-ui"/>
              </a:rPr>
              <a:t>于 </a:t>
            </a:r>
            <a:r>
              <a:rPr lang="en-US" altLang="zh-CN" sz="2400" b="0" i="0" dirty="0">
                <a:solidFill>
                  <a:srgbClr val="1D1D1F"/>
                </a:solidFill>
                <a:effectLst/>
                <a:latin typeface="system-ui"/>
              </a:rPr>
              <a:t>2020 </a:t>
            </a:r>
            <a:r>
              <a:rPr lang="zh-CN" altLang="en-US" sz="2400" b="0" i="0" dirty="0">
                <a:solidFill>
                  <a:srgbClr val="1D1D1F"/>
                </a:solidFill>
                <a:effectLst/>
                <a:latin typeface="system-ui"/>
              </a:rPr>
              <a:t>年提出的开创性视觉模型，其核心思想是将输入图像</a:t>
            </a:r>
            <a:r>
              <a:rPr lang="zh-CN" altLang="en-US" sz="2400" b="1" i="0" dirty="0">
                <a:solidFill>
                  <a:srgbClr val="1D1D1F"/>
                </a:solidFill>
                <a:effectLst/>
                <a:latin typeface="system-ui"/>
              </a:rPr>
              <a:t>分割为固定大小的图像块（</a:t>
            </a:r>
            <a:r>
              <a:rPr lang="en" altLang="zh-CN" sz="2400" b="1" i="0" dirty="0">
                <a:solidFill>
                  <a:srgbClr val="1D1D1F"/>
                </a:solidFill>
                <a:effectLst/>
                <a:latin typeface="system-ui"/>
              </a:rPr>
              <a:t>patches</a:t>
            </a:r>
            <a:r>
              <a:rPr lang="zh-CN" altLang="en" sz="2400" b="1" i="0" dirty="0">
                <a:solidFill>
                  <a:srgbClr val="1D1D1F"/>
                </a:solidFill>
                <a:effectLst/>
                <a:latin typeface="system-ui"/>
              </a:rPr>
              <a:t>）</a:t>
            </a:r>
            <a:r>
              <a:rPr lang="zh-CN" altLang="en" sz="2400" b="0" i="0" dirty="0">
                <a:solidFill>
                  <a:srgbClr val="1D1D1F"/>
                </a:solidFill>
                <a:effectLst/>
                <a:latin typeface="system-ui"/>
              </a:rPr>
              <a:t>，</a:t>
            </a:r>
            <a:r>
              <a:rPr lang="zh-CN" altLang="en-US" sz="2400" b="0" i="0" dirty="0">
                <a:solidFill>
                  <a:srgbClr val="1D1D1F"/>
                </a:solidFill>
                <a:effectLst/>
                <a:latin typeface="system-ui"/>
              </a:rPr>
              <a:t>经线性嵌入和位置编码后，直接输入标准的 </a:t>
            </a:r>
            <a:r>
              <a:rPr lang="en" altLang="zh-CN" sz="2400" b="1" i="0" dirty="0">
                <a:solidFill>
                  <a:srgbClr val="1D1D1F"/>
                </a:solidFill>
                <a:effectLst/>
                <a:latin typeface="system-ui"/>
              </a:rPr>
              <a:t>Transformer </a:t>
            </a:r>
            <a:r>
              <a:rPr lang="zh-CN" altLang="en-US" sz="2400" b="1" i="0" dirty="0">
                <a:solidFill>
                  <a:srgbClr val="1D1D1F"/>
                </a:solidFill>
                <a:effectLst/>
                <a:latin typeface="system-ui"/>
              </a:rPr>
              <a:t>编码器</a:t>
            </a:r>
            <a:r>
              <a:rPr lang="zh-CN" altLang="en-US" sz="2400" b="0" i="0" dirty="0">
                <a:solidFill>
                  <a:srgbClr val="1D1D1F"/>
                </a:solidFill>
                <a:effectLst/>
                <a:latin typeface="system-ui"/>
              </a:rPr>
              <a:t>进行处理，首次证明了</a:t>
            </a:r>
            <a:r>
              <a:rPr lang="zh-CN" altLang="en-US" sz="2400" b="1" i="0" dirty="0">
                <a:solidFill>
                  <a:srgbClr val="1D1D1F"/>
                </a:solidFill>
                <a:effectLst/>
                <a:latin typeface="system-ui"/>
              </a:rPr>
              <a:t>纯注意力机制</a:t>
            </a:r>
            <a:r>
              <a:rPr lang="zh-CN" altLang="en-US" sz="2400" b="0" i="0" dirty="0">
                <a:solidFill>
                  <a:srgbClr val="1D1D1F"/>
                </a:solidFill>
                <a:effectLst/>
                <a:latin typeface="system-ui"/>
              </a:rPr>
              <a:t>在大规模视觉任务中可超越传统卷积神经网络。</a:t>
            </a: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altLang="zh-CN" sz="3600" spc="-10" dirty="0">
                <a:solidFill>
                  <a:schemeClr val="bg1"/>
                </a:solidFill>
                <a:latin typeface="Calibri" panose="020F0502020204030204" pitchFamily="34" charset="0"/>
                <a:cs typeface="Calibri" panose="020F0502020204030204" pitchFamily="34" charset="0"/>
              </a:rPr>
              <a:t>Vision</a:t>
            </a:r>
            <a:r>
              <a:rPr lang="zh-CN" altLang="en-US" sz="3600" spc="-10" dirty="0">
                <a:solidFill>
                  <a:schemeClr val="bg1"/>
                </a:solidFill>
                <a:latin typeface="Calibri" panose="020F0502020204030204" pitchFamily="34" charset="0"/>
                <a:cs typeface="Calibri" panose="020F0502020204030204" pitchFamily="34" charset="0"/>
              </a:rPr>
              <a:t> </a:t>
            </a:r>
            <a:r>
              <a:rPr lang="en-US" altLang="zh-CN" sz="3600" spc="-10" dirty="0">
                <a:solidFill>
                  <a:schemeClr val="bg1"/>
                </a:solidFill>
                <a:latin typeface="Calibri" panose="020F0502020204030204" pitchFamily="34" charset="0"/>
                <a:cs typeface="Calibri" panose="020F0502020204030204" pitchFamily="34" charset="0"/>
              </a:rPr>
              <a:t>Transformer</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8" name="图片 7">
            <a:extLst>
              <a:ext uri="{FF2B5EF4-FFF2-40B4-BE49-F238E27FC236}">
                <a16:creationId xmlns:a16="http://schemas.microsoft.com/office/drawing/2014/main" id="{9DA3806F-5D49-5773-2968-CF9949A7CCB6}"/>
              </a:ext>
            </a:extLst>
          </p:cNvPr>
          <p:cNvPicPr>
            <a:picLocks noChangeAspect="1"/>
          </p:cNvPicPr>
          <p:nvPr/>
        </p:nvPicPr>
        <p:blipFill>
          <a:blip r:embed="rId3"/>
          <a:stretch>
            <a:fillRect/>
          </a:stretch>
        </p:blipFill>
        <p:spPr>
          <a:xfrm>
            <a:off x="2209800" y="3132360"/>
            <a:ext cx="7772400" cy="3620419"/>
          </a:xfrm>
          <a:prstGeom prst="rect">
            <a:avLst/>
          </a:prstGeom>
        </p:spPr>
      </p:pic>
    </p:spTree>
    <p:extLst>
      <p:ext uri="{BB962C8B-B14F-4D97-AF65-F5344CB8AC3E}">
        <p14:creationId xmlns:p14="http://schemas.microsoft.com/office/powerpoint/2010/main" val="18704344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490330" y="1718089"/>
            <a:ext cx="11211339" cy="145912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sz="2400" dirty="0">
                <a:solidFill>
                  <a:srgbClr val="1D1D1F"/>
                </a:solidFill>
                <a:latin typeface="system-ui"/>
              </a:rPr>
              <a:t>找一张视觉模型的演进分支树</a:t>
            </a:r>
            <a:r>
              <a:rPr lang="en-US" altLang="zh-CN" sz="2400" dirty="0">
                <a:solidFill>
                  <a:srgbClr val="1D1D1F"/>
                </a:solidFill>
                <a:latin typeface="system-ui"/>
              </a:rPr>
              <a:t>/</a:t>
            </a:r>
            <a:r>
              <a:rPr lang="zh-CN" altLang="en-US" sz="2400" dirty="0">
                <a:solidFill>
                  <a:srgbClr val="1D1D1F"/>
                </a:solidFill>
                <a:latin typeface="system-ui"/>
              </a:rPr>
              <a:t>曲线，在演进的不同阶段画箭头：</a:t>
            </a:r>
            <a:endParaRPr lang="en-US" altLang="zh-CN" sz="2400" dirty="0">
              <a:solidFill>
                <a:srgbClr val="1D1D1F"/>
              </a:solidFill>
              <a:latin typeface="system-ui"/>
            </a:endParaRPr>
          </a:p>
          <a:p>
            <a:r>
              <a:rPr lang="zh-CN" altLang="en-US" sz="2400" b="0" i="0" dirty="0">
                <a:solidFill>
                  <a:srgbClr val="1D1D1F"/>
                </a:solidFill>
                <a:effectLst/>
                <a:latin typeface="system-ui"/>
              </a:rPr>
              <a:t>比如：</a:t>
            </a:r>
            <a:r>
              <a:rPr lang="en" altLang="zh-CN" sz="2400" b="0" i="0" dirty="0">
                <a:solidFill>
                  <a:srgbClr val="1D1D1F"/>
                </a:solidFill>
                <a:effectLst/>
                <a:latin typeface="system-ui"/>
              </a:rPr>
              <a:t> </a:t>
            </a:r>
            <a:r>
              <a:rPr lang="en" altLang="zh-CN" sz="2400" b="0" i="0" dirty="0" err="1">
                <a:solidFill>
                  <a:srgbClr val="1D1D1F"/>
                </a:solidFill>
                <a:effectLst/>
                <a:latin typeface="system-ui"/>
              </a:rPr>
              <a:t>LeNet</a:t>
            </a:r>
            <a:r>
              <a:rPr lang="en" altLang="zh-CN" sz="2400" b="0" i="0" dirty="0">
                <a:solidFill>
                  <a:srgbClr val="1D1D1F"/>
                </a:solidFill>
                <a:effectLst/>
                <a:latin typeface="system-ui"/>
              </a:rPr>
              <a:t>/</a:t>
            </a:r>
            <a:r>
              <a:rPr lang="en" altLang="zh-CN" sz="2400" b="0" i="0" dirty="0" err="1">
                <a:solidFill>
                  <a:srgbClr val="1D1D1F"/>
                </a:solidFill>
                <a:effectLst/>
                <a:latin typeface="system-ui"/>
              </a:rPr>
              <a:t>AlexNet</a:t>
            </a:r>
            <a:r>
              <a:rPr lang="en" altLang="zh-CN" sz="2400" b="0" i="0" dirty="0">
                <a:solidFill>
                  <a:srgbClr val="1D1D1F"/>
                </a:solidFill>
                <a:effectLst/>
                <a:latin typeface="system-ui"/>
              </a:rPr>
              <a:t> </a:t>
            </a:r>
            <a:r>
              <a:rPr lang="zh-CN" altLang="en-US" sz="2400" b="0" i="0" dirty="0">
                <a:solidFill>
                  <a:srgbClr val="1D1D1F"/>
                </a:solidFill>
                <a:effectLst/>
                <a:latin typeface="system-ui"/>
              </a:rPr>
              <a:t>解决“能不能学”，</a:t>
            </a:r>
            <a:r>
              <a:rPr lang="en" altLang="zh-CN" sz="2400" b="0" i="0" dirty="0">
                <a:solidFill>
                  <a:srgbClr val="1D1D1F"/>
                </a:solidFill>
                <a:effectLst/>
                <a:latin typeface="system-ui"/>
              </a:rPr>
              <a:t>VGG/</a:t>
            </a:r>
            <a:r>
              <a:rPr lang="en" altLang="zh-CN" sz="2400" b="0" i="0" dirty="0" err="1">
                <a:solidFill>
                  <a:srgbClr val="1D1D1F"/>
                </a:solidFill>
                <a:effectLst/>
                <a:latin typeface="system-ui"/>
              </a:rPr>
              <a:t>ResNet</a:t>
            </a:r>
            <a:r>
              <a:rPr lang="en" altLang="zh-CN" sz="2400" b="0" i="0" dirty="0">
                <a:solidFill>
                  <a:srgbClr val="1D1D1F"/>
                </a:solidFill>
                <a:effectLst/>
                <a:latin typeface="system-ui"/>
              </a:rPr>
              <a:t> </a:t>
            </a:r>
            <a:r>
              <a:rPr lang="zh-CN" altLang="en-US" sz="2400" b="0" i="0" dirty="0">
                <a:solidFill>
                  <a:srgbClr val="1D1D1F"/>
                </a:solidFill>
                <a:effectLst/>
                <a:latin typeface="system-ui"/>
              </a:rPr>
              <a:t>解决“能不能更深”。</a:t>
            </a:r>
          </a:p>
          <a:p>
            <a:r>
              <a:rPr lang="en" altLang="zh-CN" sz="2400" b="0" i="0" dirty="0" err="1">
                <a:solidFill>
                  <a:srgbClr val="1D1D1F"/>
                </a:solidFill>
                <a:effectLst/>
                <a:latin typeface="system-ui"/>
              </a:rPr>
              <a:t>ResNet</a:t>
            </a:r>
            <a:r>
              <a:rPr lang="en" altLang="zh-CN" sz="2400" b="0" i="0" dirty="0">
                <a:solidFill>
                  <a:srgbClr val="1D1D1F"/>
                </a:solidFill>
                <a:effectLst/>
                <a:latin typeface="system-ui"/>
              </a:rPr>
              <a:t> </a:t>
            </a:r>
            <a:r>
              <a:rPr lang="zh-CN" altLang="en-US" sz="2400" b="0" i="0" dirty="0">
                <a:solidFill>
                  <a:srgbClr val="1D1D1F"/>
                </a:solidFill>
                <a:effectLst/>
                <a:latin typeface="system-ui"/>
              </a:rPr>
              <a:t>的残差连接、</a:t>
            </a:r>
            <a:r>
              <a:rPr lang="en" altLang="zh-CN" sz="2400" b="0" i="0" dirty="0" err="1">
                <a:solidFill>
                  <a:srgbClr val="1D1D1F"/>
                </a:solidFill>
                <a:effectLst/>
                <a:latin typeface="system-ui"/>
              </a:rPr>
              <a:t>DenseNet</a:t>
            </a:r>
            <a:r>
              <a:rPr lang="en" altLang="zh-CN" sz="2400" b="0" i="0" dirty="0">
                <a:solidFill>
                  <a:srgbClr val="1D1D1F"/>
                </a:solidFill>
                <a:effectLst/>
                <a:latin typeface="system-ui"/>
              </a:rPr>
              <a:t> </a:t>
            </a:r>
            <a:r>
              <a:rPr lang="zh-CN" altLang="en-US" sz="2400" b="0" i="0" dirty="0">
                <a:solidFill>
                  <a:srgbClr val="1D1D1F"/>
                </a:solidFill>
                <a:effectLst/>
                <a:latin typeface="system-ui"/>
              </a:rPr>
              <a:t>的密集连接，本质都是在解决深层模型优化和特征复用问题。</a:t>
            </a:r>
          </a:p>
          <a:p>
            <a:r>
              <a:rPr lang="en" altLang="zh-CN" sz="2400" b="0" i="0" dirty="0">
                <a:solidFill>
                  <a:srgbClr val="1D1D1F"/>
                </a:solidFill>
                <a:effectLst/>
                <a:latin typeface="system-ui"/>
              </a:rPr>
              <a:t>VGG </a:t>
            </a:r>
            <a:r>
              <a:rPr lang="zh-CN" altLang="en-US" sz="2400" b="0" i="0" dirty="0">
                <a:solidFill>
                  <a:srgbClr val="1D1D1F"/>
                </a:solidFill>
                <a:effectLst/>
                <a:latin typeface="system-ui"/>
              </a:rPr>
              <a:t>参数大但规则，</a:t>
            </a:r>
            <a:r>
              <a:rPr lang="en" altLang="zh-CN" sz="2400" b="0" i="0" dirty="0" err="1">
                <a:solidFill>
                  <a:srgbClr val="1D1D1F"/>
                </a:solidFill>
                <a:effectLst/>
                <a:latin typeface="system-ui"/>
              </a:rPr>
              <a:t>GoogLeNet</a:t>
            </a:r>
            <a:r>
              <a:rPr lang="en" altLang="zh-CN" sz="2400" b="0" i="0" dirty="0">
                <a:solidFill>
                  <a:srgbClr val="1D1D1F"/>
                </a:solidFill>
                <a:effectLst/>
                <a:latin typeface="system-ui"/>
              </a:rPr>
              <a:t> </a:t>
            </a:r>
            <a:r>
              <a:rPr lang="zh-CN" altLang="en-US" sz="2400" b="0" i="0" dirty="0">
                <a:solidFill>
                  <a:srgbClr val="1D1D1F"/>
                </a:solidFill>
                <a:effectLst/>
                <a:latin typeface="system-ui"/>
              </a:rPr>
              <a:t>更高效，</a:t>
            </a:r>
            <a:r>
              <a:rPr lang="en" altLang="zh-CN" sz="2400" b="0" i="0" dirty="0" err="1">
                <a:solidFill>
                  <a:srgbClr val="1D1D1F"/>
                </a:solidFill>
                <a:effectLst/>
                <a:latin typeface="system-ui"/>
              </a:rPr>
              <a:t>MobileNet</a:t>
            </a:r>
            <a:r>
              <a:rPr lang="en" altLang="zh-CN" sz="2400" b="0" i="0" dirty="0">
                <a:solidFill>
                  <a:srgbClr val="1D1D1F"/>
                </a:solidFill>
                <a:effectLst/>
                <a:latin typeface="system-ui"/>
              </a:rPr>
              <a:t>/</a:t>
            </a:r>
            <a:r>
              <a:rPr lang="en" altLang="zh-CN" sz="2400" b="0" i="0" dirty="0" err="1">
                <a:solidFill>
                  <a:srgbClr val="1D1D1F"/>
                </a:solidFill>
                <a:effectLst/>
                <a:latin typeface="system-ui"/>
              </a:rPr>
              <a:t>EfficientNet</a:t>
            </a:r>
            <a:r>
              <a:rPr lang="en" altLang="zh-CN" sz="2400" b="0" i="0" dirty="0">
                <a:solidFill>
                  <a:srgbClr val="1D1D1F"/>
                </a:solidFill>
                <a:effectLst/>
                <a:latin typeface="system-ui"/>
              </a:rPr>
              <a:t> </a:t>
            </a:r>
            <a:r>
              <a:rPr lang="zh-CN" altLang="en-US" sz="2400" b="0" i="0" dirty="0">
                <a:solidFill>
                  <a:srgbClr val="1D1D1F"/>
                </a:solidFill>
                <a:effectLst/>
                <a:latin typeface="system-ui"/>
              </a:rPr>
              <a:t>面向轻量化部署。</a:t>
            </a:r>
          </a:p>
          <a:p>
            <a:r>
              <a:rPr lang="en" altLang="zh-CN" sz="2400" b="0" i="0" dirty="0">
                <a:solidFill>
                  <a:srgbClr val="1D1D1F"/>
                </a:solidFill>
                <a:effectLst/>
                <a:latin typeface="system-ui"/>
              </a:rPr>
              <a:t>CNN </a:t>
            </a:r>
            <a:r>
              <a:rPr lang="zh-CN" altLang="en-US" sz="2400" b="0" i="0" dirty="0">
                <a:solidFill>
                  <a:srgbClr val="1D1D1F"/>
                </a:solidFill>
                <a:effectLst/>
                <a:latin typeface="system-ui"/>
              </a:rPr>
              <a:t>天生关注局部，</a:t>
            </a:r>
            <a:r>
              <a:rPr lang="en" altLang="zh-CN" sz="2400" b="0" i="0" dirty="0" err="1">
                <a:solidFill>
                  <a:srgbClr val="1D1D1F"/>
                </a:solidFill>
                <a:effectLst/>
                <a:latin typeface="system-ui"/>
              </a:rPr>
              <a:t>ViT</a:t>
            </a:r>
            <a:r>
              <a:rPr lang="en" altLang="zh-CN" sz="2400" b="0" i="0" dirty="0">
                <a:solidFill>
                  <a:srgbClr val="1D1D1F"/>
                </a:solidFill>
                <a:effectLst/>
                <a:latin typeface="system-ui"/>
              </a:rPr>
              <a:t> </a:t>
            </a:r>
            <a:r>
              <a:rPr lang="zh-CN" altLang="en-US" sz="2400" b="0" i="0" dirty="0">
                <a:solidFill>
                  <a:srgbClr val="1D1D1F"/>
                </a:solidFill>
                <a:effectLst/>
                <a:latin typeface="system-ui"/>
              </a:rPr>
              <a:t>用自注意力建模长程依赖。</a:t>
            </a: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1" y="560145"/>
            <a:ext cx="10659215"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en-US" sz="3600" spc="-10" dirty="0" err="1">
                <a:solidFill>
                  <a:schemeClr val="bg1"/>
                </a:solidFill>
                <a:latin typeface="+mn-ea"/>
                <a:ea typeface="+mn-ea"/>
                <a:cs typeface="Calibri" panose="020F0502020204030204" pitchFamily="34" charset="0"/>
              </a:rPr>
              <a:t>视觉模型的演化主线</a:t>
            </a:r>
            <a:endParaRPr lang="en-US" sz="3600" spc="-10" dirty="0">
              <a:solidFill>
                <a:schemeClr val="bg1"/>
              </a:solidFill>
              <a:latin typeface="+mn-ea"/>
              <a:ea typeface="+mn-ea"/>
              <a:cs typeface="Calibri" panose="020F0502020204030204" pitchFamily="34" charset="0"/>
            </a:endParaRPr>
          </a:p>
        </p:txBody>
      </p:sp>
    </p:spTree>
    <p:extLst>
      <p:ext uri="{BB962C8B-B14F-4D97-AF65-F5344CB8AC3E}">
        <p14:creationId xmlns:p14="http://schemas.microsoft.com/office/powerpoint/2010/main" val="33513870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0817AE4-6353-BB4A-912E-75A393891030}"/>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A9C37C7-3583-FADD-651D-881338AE2321}"/>
              </a:ext>
            </a:extLst>
          </p:cNvPr>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5" name="矩形 4">
            <a:extLst>
              <a:ext uri="{FF2B5EF4-FFF2-40B4-BE49-F238E27FC236}">
                <a16:creationId xmlns:a16="http://schemas.microsoft.com/office/drawing/2014/main" id="{777E5D6C-5B46-2ED9-3D52-74B5DFFF7DE2}"/>
              </a:ext>
            </a:extLst>
          </p:cNvPr>
          <p:cNvSpPr/>
          <p:nvPr/>
        </p:nvSpPr>
        <p:spPr bwMode="auto">
          <a:xfrm>
            <a:off x="1504604" y="1323023"/>
            <a:ext cx="8886229" cy="1459120"/>
          </a:xfrm>
          <a:prstGeom prst="rect">
            <a:avLst/>
          </a:prstGeom>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 altLang="zh-CN" sz="2400" b="0" i="0" dirty="0">
                <a:solidFill>
                  <a:srgbClr val="24292E"/>
                </a:solidFill>
                <a:effectLst/>
                <a:latin typeface="-apple-system"/>
              </a:rPr>
              <a:t>CNN</a:t>
            </a:r>
            <a:r>
              <a:rPr lang="zh-CN" altLang="en-US" sz="2400" b="0" i="0" dirty="0">
                <a:solidFill>
                  <a:srgbClr val="24292E"/>
                </a:solidFill>
                <a:effectLst/>
                <a:latin typeface="-apple-system"/>
              </a:rPr>
              <a:t>的发展历程见证了从简单的网络结构到复杂的架构，从专注于性能到性能与效率并重的转变。</a:t>
            </a:r>
            <a:endParaRPr lang="zh-CN" altLang="en-US" sz="2400" b="0" i="0" dirty="0">
              <a:solidFill>
                <a:srgbClr val="1D1D1F"/>
              </a:solidFill>
              <a:effectLst/>
              <a:latin typeface="system-ui"/>
            </a:endParaRPr>
          </a:p>
        </p:txBody>
      </p:sp>
      <p:sp>
        <p:nvSpPr>
          <p:cNvPr id="6" name="object 5">
            <a:extLst>
              <a:ext uri="{FF2B5EF4-FFF2-40B4-BE49-F238E27FC236}">
                <a16:creationId xmlns:a16="http://schemas.microsoft.com/office/drawing/2014/main" id="{5E002E30-DA1E-6531-C4BF-C55813EA7EF9}"/>
              </a:ext>
            </a:extLst>
          </p:cNvPr>
          <p:cNvSpPr txBox="1">
            <a:spLocks/>
          </p:cNvSpPr>
          <p:nvPr/>
        </p:nvSpPr>
        <p:spPr>
          <a:xfrm>
            <a:off x="234072" y="560145"/>
            <a:ext cx="6943542"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l">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小结</a:t>
            </a:r>
            <a:endParaRPr lang="en-US" sz="3600" spc="-10" dirty="0">
              <a:solidFill>
                <a:schemeClr val="bg1"/>
              </a:solidFill>
              <a:latin typeface="Calibri" panose="020F0502020204030204" pitchFamily="34" charset="0"/>
              <a:cs typeface="Calibri" panose="020F0502020204030204" pitchFamily="34" charset="0"/>
            </a:endParaRPr>
          </a:p>
        </p:txBody>
      </p:sp>
      <p:pic>
        <p:nvPicPr>
          <p:cNvPr id="11" name="图片 10">
            <a:extLst>
              <a:ext uri="{FF2B5EF4-FFF2-40B4-BE49-F238E27FC236}">
                <a16:creationId xmlns:a16="http://schemas.microsoft.com/office/drawing/2014/main" id="{16BACF15-608D-C064-3EE3-AAC5548D259E}"/>
              </a:ext>
            </a:extLst>
          </p:cNvPr>
          <p:cNvPicPr>
            <a:picLocks noChangeAspect="1"/>
          </p:cNvPicPr>
          <p:nvPr/>
        </p:nvPicPr>
        <p:blipFill>
          <a:blip r:embed="rId3"/>
          <a:stretch>
            <a:fillRect/>
          </a:stretch>
        </p:blipFill>
        <p:spPr>
          <a:xfrm>
            <a:off x="2209800" y="2989748"/>
            <a:ext cx="7772400" cy="3374413"/>
          </a:xfrm>
          <a:prstGeom prst="rect">
            <a:avLst/>
          </a:prstGeom>
        </p:spPr>
      </p:pic>
    </p:spTree>
    <p:extLst>
      <p:ext uri="{BB962C8B-B14F-4D97-AF65-F5344CB8AC3E}">
        <p14:creationId xmlns:p14="http://schemas.microsoft.com/office/powerpoint/2010/main" val="25848372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600" dirty="0"/>
              <a:t>视觉分类中的特征表示</a:t>
            </a:r>
            <a:endParaRPr lang="zh-CN" altLang="en-US" sz="3600" dirty="0">
              <a:latin typeface="+mj-lt"/>
              <a:ea typeface="+mj-lt"/>
              <a:cs typeface="+mj-lt"/>
            </a:endParaRPr>
          </a:p>
        </p:txBody>
      </p:sp>
      <p:sp>
        <p:nvSpPr>
          <p:cNvPr id="3" name="矩形 2"/>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zh-CN" altLang="en-US" sz="2400" dirty="0">
                <a:latin typeface="Times New Roman" panose="02020603050405020304" pitchFamily="18" charset="0"/>
                <a:cs typeface="Times New Roman" panose="02020603050405020304" pitchFamily="18" charset="0"/>
                <a:sym typeface="+mn-ea"/>
              </a:rPr>
              <a:t>大概：视觉图片变成了一个</a:t>
            </a:r>
            <a:r>
              <a:rPr lang="en-US" altLang="zh-CN" sz="2400" dirty="0">
                <a:latin typeface="Times New Roman" panose="02020603050405020304" pitchFamily="18" charset="0"/>
                <a:cs typeface="Times New Roman" panose="02020603050405020304" pitchFamily="18" charset="0"/>
                <a:sym typeface="+mn-ea"/>
              </a:rPr>
              <a:t>tensor</a:t>
            </a:r>
            <a:r>
              <a:rPr lang="zh-CN" altLang="en-US" sz="2400" dirty="0">
                <a:latin typeface="Times New Roman" panose="02020603050405020304" pitchFamily="18" charset="0"/>
                <a:cs typeface="Times New Roman" panose="02020603050405020304" pitchFamily="18" charset="0"/>
                <a:sym typeface="+mn-ea"/>
              </a:rPr>
              <a:t>。最终要分类需要变成一维向量</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global</a:t>
            </a:r>
            <a:r>
              <a:rPr lang="zh-CN" altLang="en-US" sz="2400" dirty="0">
                <a:latin typeface="Times New Roman" panose="02020603050405020304" pitchFamily="18" charset="0"/>
                <a:cs typeface="Times New Roman" panose="02020603050405020304" pitchFamily="18" charset="0"/>
                <a:sym typeface="+mn-ea"/>
              </a:rPr>
              <a:t> </a:t>
            </a:r>
            <a:r>
              <a:rPr lang="en-US" altLang="zh-CN" sz="2400" dirty="0">
                <a:latin typeface="Times New Roman" panose="02020603050405020304" pitchFamily="18" charset="0"/>
                <a:cs typeface="Times New Roman" panose="02020603050405020304" pitchFamily="18" charset="0"/>
                <a:sym typeface="+mn-ea"/>
              </a:rPr>
              <a:t>average</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mean</a:t>
            </a:r>
            <a:r>
              <a:rPr lang="zh-CN" altLang="en-US" sz="2400" dirty="0">
                <a:latin typeface="Times New Roman" panose="02020603050405020304" pitchFamily="18" charset="0"/>
                <a:cs typeface="Times New Roman" panose="02020603050405020304" pitchFamily="18" charset="0"/>
                <a:sym typeface="+mn-ea"/>
              </a:rPr>
              <a:t> </a:t>
            </a:r>
            <a:r>
              <a:rPr lang="en-US" altLang="zh-CN" sz="2400" dirty="0">
                <a:latin typeface="Times New Roman" panose="02020603050405020304" pitchFamily="18" charset="0"/>
                <a:cs typeface="Times New Roman" panose="02020603050405020304" pitchFamily="18" charset="0"/>
                <a:sym typeface="+mn-ea"/>
              </a:rPr>
              <a:t>average</a:t>
            </a:r>
            <a:r>
              <a:rPr lang="zh-CN" altLang="en-US" sz="2400" dirty="0">
                <a:latin typeface="Times New Roman" panose="02020603050405020304" pitchFamily="18" charset="0"/>
                <a:cs typeface="Times New Roman" panose="02020603050405020304" pitchFamily="18" charset="0"/>
                <a:sym typeface="+mn-ea"/>
              </a:rPr>
              <a:t>的区别）。为什么变成表征？</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600" dirty="0"/>
              <a:t>从边缘、纹理到语义：特征的层次化演化</a:t>
            </a:r>
            <a:endParaRPr lang="zh-CN" altLang="en-US" sz="3600" dirty="0">
              <a:latin typeface="+mj-lt"/>
              <a:ea typeface="+mj-lt"/>
              <a:cs typeface="+mj-lt"/>
              <a:sym typeface="+mn-ea"/>
            </a:endParaRPr>
          </a:p>
        </p:txBody>
      </p:sp>
      <p:sp>
        <p:nvSpPr>
          <p:cNvPr id="15" name="矩形 14">
            <a:extLst>
              <a:ext uri="{FF2B5EF4-FFF2-40B4-BE49-F238E27FC236}">
                <a16:creationId xmlns:a16="http://schemas.microsoft.com/office/drawing/2014/main" id="{14C078A6-66BF-6144-AF64-FE7C41A52A20}"/>
              </a:ext>
            </a:extLst>
          </p:cNvPr>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zh-CN" altLang="en-US" sz="2400" dirty="0">
                <a:latin typeface="Times New Roman" panose="02020603050405020304" pitchFamily="18" charset="0"/>
                <a:cs typeface="Times New Roman" panose="02020603050405020304" pitchFamily="18" charset="0"/>
                <a:sym typeface="+mn-ea"/>
              </a:rPr>
              <a:t>大概：中间层的输出，从底层纹理到类别模版</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600" dirty="0">
                <a:latin typeface="+mn-ea"/>
                <a:cs typeface="+mj-lt"/>
                <a:sym typeface="+mn-ea"/>
              </a:rPr>
              <a:t>Class</a:t>
            </a:r>
            <a:r>
              <a:rPr lang="zh-CN" altLang="en-US" sz="3600" dirty="0">
                <a:latin typeface="+mn-ea"/>
                <a:cs typeface="+mj-lt"/>
                <a:sym typeface="+mn-ea"/>
              </a:rPr>
              <a:t> </a:t>
            </a:r>
            <a:r>
              <a:rPr lang="en-US" altLang="zh-CN" sz="3600" dirty="0">
                <a:latin typeface="+mn-ea"/>
                <a:cs typeface="+mj-lt"/>
                <a:sym typeface="+mn-ea"/>
              </a:rPr>
              <a:t>Activation</a:t>
            </a:r>
            <a:r>
              <a:rPr lang="zh-CN" altLang="en-US" sz="3600" dirty="0">
                <a:latin typeface="+mn-ea"/>
                <a:cs typeface="+mj-lt"/>
                <a:sym typeface="+mn-ea"/>
              </a:rPr>
              <a:t> </a:t>
            </a:r>
            <a:r>
              <a:rPr lang="en-US" altLang="zh-CN" sz="3600" dirty="0">
                <a:latin typeface="+mn-ea"/>
                <a:cs typeface="+mj-lt"/>
                <a:sym typeface="+mn-ea"/>
              </a:rPr>
              <a:t>Map</a:t>
            </a:r>
            <a:r>
              <a:rPr lang="zh-CN" altLang="en-US" sz="3600" dirty="0">
                <a:latin typeface="+mn-ea"/>
                <a:cs typeface="+mj-lt"/>
                <a:sym typeface="+mn-ea"/>
              </a:rPr>
              <a:t>技术</a:t>
            </a:r>
          </a:p>
        </p:txBody>
      </p:sp>
      <p:sp>
        <p:nvSpPr>
          <p:cNvPr id="15" name="矩形 14">
            <a:extLst>
              <a:ext uri="{FF2B5EF4-FFF2-40B4-BE49-F238E27FC236}">
                <a16:creationId xmlns:a16="http://schemas.microsoft.com/office/drawing/2014/main" id="{14C078A6-66BF-6144-AF64-FE7C41A52A20}"/>
              </a:ext>
            </a:extLst>
          </p:cNvPr>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en-US" altLang="zh-CN" sz="2400" dirty="0">
                <a:latin typeface="Times New Roman" panose="02020603050405020304" pitchFamily="18" charset="0"/>
                <a:cs typeface="Times New Roman" panose="02020603050405020304" pitchFamily="18" charset="0"/>
                <a:sym typeface="+mn-ea"/>
              </a:rPr>
              <a:t>CAM</a:t>
            </a:r>
            <a:r>
              <a:rPr lang="zh-CN" altLang="en-US" sz="2400" dirty="0">
                <a:latin typeface="Times New Roman" panose="02020603050405020304" pitchFamily="18" charset="0"/>
                <a:cs typeface="Times New Roman" panose="02020603050405020304" pitchFamily="18" charset="0"/>
                <a:sym typeface="+mn-ea"/>
              </a:rPr>
              <a:t>技术解释</a:t>
            </a:r>
          </a:p>
        </p:txBody>
      </p:sp>
    </p:spTree>
    <p:extLst>
      <p:ext uri="{BB962C8B-B14F-4D97-AF65-F5344CB8AC3E}">
        <p14:creationId xmlns:p14="http://schemas.microsoft.com/office/powerpoint/2010/main" val="28098002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600" dirty="0">
                <a:latin typeface="+mn-ea"/>
                <a:cs typeface="+mj-lt"/>
                <a:sym typeface="+mn-ea"/>
              </a:rPr>
              <a:t>Class</a:t>
            </a:r>
            <a:r>
              <a:rPr lang="zh-CN" altLang="en-US" sz="3600" dirty="0">
                <a:latin typeface="+mn-ea"/>
                <a:cs typeface="+mj-lt"/>
                <a:sym typeface="+mn-ea"/>
              </a:rPr>
              <a:t> </a:t>
            </a:r>
            <a:r>
              <a:rPr lang="en-US" altLang="zh-CN" sz="3600" dirty="0">
                <a:latin typeface="+mn-ea"/>
                <a:cs typeface="+mj-lt"/>
                <a:sym typeface="+mn-ea"/>
              </a:rPr>
              <a:t>Activation</a:t>
            </a:r>
            <a:r>
              <a:rPr lang="zh-CN" altLang="en-US" sz="3600" dirty="0">
                <a:latin typeface="+mn-ea"/>
                <a:cs typeface="+mj-lt"/>
                <a:sym typeface="+mn-ea"/>
              </a:rPr>
              <a:t> </a:t>
            </a:r>
            <a:r>
              <a:rPr lang="en-US" altLang="zh-CN" sz="3600" dirty="0">
                <a:latin typeface="+mn-ea"/>
                <a:cs typeface="+mj-lt"/>
                <a:sym typeface="+mn-ea"/>
              </a:rPr>
              <a:t>Map</a:t>
            </a:r>
            <a:r>
              <a:rPr lang="zh-CN" altLang="en-US" sz="3600" dirty="0">
                <a:latin typeface="+mn-ea"/>
                <a:cs typeface="+mj-lt"/>
                <a:sym typeface="+mn-ea"/>
              </a:rPr>
              <a:t>的例子</a:t>
            </a:r>
          </a:p>
        </p:txBody>
      </p:sp>
      <p:sp>
        <p:nvSpPr>
          <p:cNvPr id="15" name="矩形 14">
            <a:extLst>
              <a:ext uri="{FF2B5EF4-FFF2-40B4-BE49-F238E27FC236}">
                <a16:creationId xmlns:a16="http://schemas.microsoft.com/office/drawing/2014/main" id="{14C078A6-66BF-6144-AF64-FE7C41A52A20}"/>
              </a:ext>
            </a:extLst>
          </p:cNvPr>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en-US" altLang="zh-CN" sz="2400" dirty="0">
                <a:latin typeface="Times New Roman" panose="02020603050405020304" pitchFamily="18" charset="0"/>
                <a:cs typeface="Times New Roman" panose="02020603050405020304" pitchFamily="18" charset="0"/>
                <a:sym typeface="+mn-ea"/>
              </a:rPr>
              <a:t>CAM</a:t>
            </a:r>
            <a:r>
              <a:rPr lang="zh-CN" altLang="en-US" sz="2400" dirty="0">
                <a:latin typeface="Times New Roman" panose="02020603050405020304" pitchFamily="18" charset="0"/>
                <a:cs typeface="Times New Roman" panose="02020603050405020304" pitchFamily="18" charset="0"/>
                <a:sym typeface="+mn-ea"/>
              </a:rPr>
              <a:t>的一些例子</a:t>
            </a:r>
          </a:p>
        </p:txBody>
      </p:sp>
    </p:spTree>
    <p:extLst>
      <p:ext uri="{BB962C8B-B14F-4D97-AF65-F5344CB8AC3E}">
        <p14:creationId xmlns:p14="http://schemas.microsoft.com/office/powerpoint/2010/main" val="34271595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600" dirty="0">
                <a:latin typeface="+mn-ea"/>
                <a:cs typeface="+mj-lt"/>
                <a:sym typeface="+mn-ea"/>
              </a:rPr>
              <a:t>Class</a:t>
            </a:r>
            <a:r>
              <a:rPr lang="zh-CN" altLang="en-US" sz="3600" dirty="0">
                <a:latin typeface="+mn-ea"/>
                <a:cs typeface="+mj-lt"/>
                <a:sym typeface="+mn-ea"/>
              </a:rPr>
              <a:t> </a:t>
            </a:r>
            <a:r>
              <a:rPr lang="en-US" altLang="zh-CN" sz="3600" dirty="0">
                <a:latin typeface="+mn-ea"/>
                <a:cs typeface="+mj-lt"/>
                <a:sym typeface="+mn-ea"/>
              </a:rPr>
              <a:t>Activation</a:t>
            </a:r>
            <a:r>
              <a:rPr lang="zh-CN" altLang="en-US" sz="3600" dirty="0">
                <a:latin typeface="+mn-ea"/>
                <a:cs typeface="+mj-lt"/>
                <a:sym typeface="+mn-ea"/>
              </a:rPr>
              <a:t> </a:t>
            </a:r>
            <a:r>
              <a:rPr lang="en-US" altLang="zh-CN" sz="3600" dirty="0">
                <a:latin typeface="+mn-ea"/>
                <a:cs typeface="+mj-lt"/>
                <a:sym typeface="+mn-ea"/>
              </a:rPr>
              <a:t>Map</a:t>
            </a:r>
            <a:r>
              <a:rPr lang="zh-CN" altLang="en-US" sz="3600" dirty="0">
                <a:latin typeface="+mn-ea"/>
                <a:cs typeface="+mj-lt"/>
                <a:sym typeface="+mn-ea"/>
              </a:rPr>
              <a:t>的例子</a:t>
            </a:r>
          </a:p>
        </p:txBody>
      </p:sp>
      <p:sp>
        <p:nvSpPr>
          <p:cNvPr id="15" name="矩形 14">
            <a:extLst>
              <a:ext uri="{FF2B5EF4-FFF2-40B4-BE49-F238E27FC236}">
                <a16:creationId xmlns:a16="http://schemas.microsoft.com/office/drawing/2014/main" id="{14C078A6-66BF-6144-AF64-FE7C41A52A20}"/>
              </a:ext>
            </a:extLst>
          </p:cNvPr>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zh-CN" altLang="en-US" sz="2400" dirty="0"/>
              <a:t>再找一些例子：为什么有时模型会看错地方却猜对类别</a:t>
            </a:r>
            <a:endParaRPr lang="zh-CN" altLang="en-US" sz="2400" dirty="0">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2927195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600" dirty="0"/>
              <a:t>分类的本质：在高维特征空间中实现可分</a:t>
            </a:r>
            <a:endParaRPr lang="zh-CN" altLang="en-US" sz="3600" b="1" dirty="0">
              <a:latin typeface="+mj-lt"/>
              <a:ea typeface="+mj-lt"/>
              <a:cs typeface="+mj-lt"/>
              <a:sym typeface="+mn-ea"/>
            </a:endParaRPr>
          </a:p>
        </p:txBody>
      </p:sp>
      <p:sp>
        <p:nvSpPr>
          <p:cNvPr id="9" name="矩形 8">
            <a:extLst>
              <a:ext uri="{FF2B5EF4-FFF2-40B4-BE49-F238E27FC236}">
                <a16:creationId xmlns:a16="http://schemas.microsoft.com/office/drawing/2014/main" id="{41C84942-01E2-2242-B492-A4B72FE0DA27}"/>
              </a:ext>
            </a:extLst>
          </p:cNvPr>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zh-CN" altLang="en-US" sz="2400" dirty="0">
                <a:latin typeface="Times New Roman" panose="02020603050405020304" pitchFamily="18" charset="0"/>
                <a:cs typeface="Times New Roman" panose="02020603050405020304" pitchFamily="18" charset="0"/>
                <a:sym typeface="+mn-ea"/>
              </a:rPr>
              <a:t>看看是否能配一个图像在高维空间的特征图，比如</a:t>
            </a:r>
            <a:r>
              <a:rPr lang="en-US" altLang="zh-CN" sz="2400" dirty="0">
                <a:latin typeface="Times New Roman" panose="02020603050405020304" pitchFamily="18" charset="0"/>
                <a:cs typeface="Times New Roman" panose="02020603050405020304" pitchFamily="18" charset="0"/>
                <a:sym typeface="+mn-ea"/>
              </a:rPr>
              <a:t>CIFAR</a:t>
            </a:r>
            <a:r>
              <a:rPr lang="zh-CN" altLang="en-US" sz="2400" dirty="0">
                <a:latin typeface="Times New Roman" panose="02020603050405020304" pitchFamily="18" charset="0"/>
                <a:cs typeface="Times New Roman" panose="02020603050405020304" pitchFamily="18" charset="0"/>
                <a:sym typeface="+mn-ea"/>
              </a:rPr>
              <a:t>的特征分布，然后画一下决策面</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600" dirty="0">
                <a:latin typeface="+mn-ea"/>
                <a:cs typeface="+mj-lt"/>
                <a:sym typeface="+mn-ea"/>
              </a:rPr>
              <a:t>图像分类的常见错误来源（灌水很多页）</a:t>
            </a:r>
          </a:p>
        </p:txBody>
      </p:sp>
      <p:sp>
        <p:nvSpPr>
          <p:cNvPr id="9" name="矩形 8">
            <a:extLst>
              <a:ext uri="{FF2B5EF4-FFF2-40B4-BE49-F238E27FC236}">
                <a16:creationId xmlns:a16="http://schemas.microsoft.com/office/drawing/2014/main" id="{41C84942-01E2-2242-B492-A4B72FE0DA27}"/>
              </a:ext>
            </a:extLst>
          </p:cNvPr>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zh-CN" altLang="en-US" sz="2400" dirty="0"/>
              <a:t>背景干扰、尺度变化、遮挡、域偏移、细粒度类别混淆</a:t>
            </a:r>
            <a:endParaRPr lang="zh-CN" altLang="en-US" sz="2400" dirty="0">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37536123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3600" dirty="0" err="1">
                <a:latin typeface="+mn-ea"/>
                <a:sym typeface="+mn-ea"/>
              </a:rPr>
              <a:t>迁移学习</a:t>
            </a:r>
            <a:r>
              <a:rPr lang="zh-CN" altLang="en-US" sz="3600" dirty="0">
                <a:latin typeface="+mn-ea"/>
                <a:sym typeface="+mn-ea"/>
              </a:rPr>
              <a:t>（</a:t>
            </a:r>
            <a:r>
              <a:rPr lang="en-US" sz="3600" dirty="0">
                <a:latin typeface="+mn-ea"/>
                <a:sym typeface="+mn-ea"/>
              </a:rPr>
              <a:t>Transfer Learning</a:t>
            </a:r>
            <a:r>
              <a:rPr lang="zh-CN" altLang="en-US" sz="3600" dirty="0">
                <a:latin typeface="+mn-ea"/>
                <a:sym typeface="+mn-ea"/>
              </a:rPr>
              <a:t>）</a:t>
            </a:r>
            <a:endParaRPr lang="en-US" sz="3600" dirty="0">
              <a:latin typeface="+mn-ea"/>
              <a:cs typeface="+mj-lt"/>
              <a:sym typeface="+mn-ea"/>
            </a:endParaRPr>
          </a:p>
        </p:txBody>
      </p:sp>
      <p:sp>
        <p:nvSpPr>
          <p:cNvPr id="4" name="矩形 3"/>
          <p:cNvSpPr/>
          <p:nvPr>
            <p:custDataLst>
              <p:tags r:id="rId1"/>
            </p:custDataLst>
          </p:nvPr>
        </p:nvSpPr>
        <p:spPr bwMode="auto">
          <a:xfrm>
            <a:off x="548640" y="1437005"/>
            <a:ext cx="11132820" cy="81407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能否提取通用表征</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mn-ea"/>
              </a:rPr>
              <a:t>将大数据集上学到的通用知识直接</a:t>
            </a:r>
            <a:r>
              <a:rPr lang="zh-CN" altLang="en-US" sz="2400" dirty="0">
                <a:solidFill>
                  <a:srgbClr val="FF0000"/>
                </a:solidFill>
                <a:latin typeface="Times New Roman" panose="02020603050405020304" pitchFamily="18" charset="0"/>
                <a:cs typeface="Times New Roman" panose="02020603050405020304" pitchFamily="18" charset="0"/>
                <a:sym typeface="+mn-ea"/>
              </a:rPr>
              <a:t>迁移</a:t>
            </a:r>
            <a:r>
              <a:rPr lang="zh-CN" altLang="en-US" sz="2400" dirty="0">
                <a:latin typeface="Times New Roman" panose="02020603050405020304" pitchFamily="18" charset="0"/>
                <a:cs typeface="Times New Roman" panose="02020603050405020304" pitchFamily="18" charset="0"/>
                <a:sym typeface="+mn-ea"/>
              </a:rPr>
              <a:t>到新任务中。</a:t>
            </a:r>
          </a:p>
        </p:txBody>
      </p:sp>
      <p:sp>
        <p:nvSpPr>
          <p:cNvPr id="6" name="矩形 5"/>
          <p:cNvSpPr/>
          <p:nvPr>
            <p:custDataLst>
              <p:tags r:id="rId2"/>
            </p:custDataLst>
          </p:nvPr>
        </p:nvSpPr>
        <p:spPr>
          <a:xfrm>
            <a:off x="548640" y="2643505"/>
            <a:ext cx="5695950" cy="35420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3"/>
            </p:custDataLst>
          </p:nvPr>
        </p:nvSpPr>
        <p:spPr>
          <a:xfrm>
            <a:off x="548640" y="2635250"/>
            <a:ext cx="2700020" cy="469265"/>
          </a:xfrm>
          <a:prstGeom prst="rect">
            <a:avLst/>
          </a:prstGeom>
          <a:solidFill>
            <a:srgbClr val="142C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custDataLst>
              <p:tags r:id="rId4"/>
            </p:custDataLst>
          </p:nvPr>
        </p:nvSpPr>
        <p:spPr>
          <a:xfrm>
            <a:off x="571500" y="2620010"/>
            <a:ext cx="2674620" cy="497205"/>
          </a:xfrm>
          <a:prstGeom prst="rect">
            <a:avLst/>
          </a:prstGeom>
          <a:noFill/>
        </p:spPr>
        <p:txBody>
          <a:bodyPr wrap="square">
            <a:noAutofit/>
          </a:bodyPr>
          <a:lstStyle/>
          <a:p>
            <a:pPr algn="ctr"/>
            <a:r>
              <a:rPr lang="zh-CN" altLang="en-US" sz="2400" b="1" dirty="0">
                <a:solidFill>
                  <a:schemeClr val="bg1"/>
                </a:solidFill>
              </a:rPr>
              <a:t>现实困难</a:t>
            </a:r>
          </a:p>
        </p:txBody>
      </p:sp>
      <p:sp>
        <p:nvSpPr>
          <p:cNvPr id="14" name="文本框 13"/>
          <p:cNvSpPr txBox="1"/>
          <p:nvPr>
            <p:custDataLst>
              <p:tags r:id="rId5"/>
            </p:custDataLst>
          </p:nvPr>
        </p:nvSpPr>
        <p:spPr>
          <a:xfrm>
            <a:off x="723265" y="3248660"/>
            <a:ext cx="5327015" cy="2047875"/>
          </a:xfrm>
          <a:prstGeom prst="rect">
            <a:avLst/>
          </a:prstGeom>
          <a:noFill/>
        </p:spPr>
        <p:txBody>
          <a:bodyPr wrap="square">
            <a:noAutofit/>
          </a:bodyPr>
          <a:lstStyle/>
          <a:p>
            <a:pPr algn="l">
              <a:lnSpc>
                <a:spcPct val="150000"/>
              </a:lnSpc>
            </a:pPr>
            <a:r>
              <a:rPr lang="en-US" altLang="zh-CN" sz="2400" dirty="0"/>
              <a:t> </a:t>
            </a:r>
            <a:r>
              <a:rPr lang="zh-CN" altLang="en-US" sz="2400" dirty="0"/>
              <a:t>数据荒：</a:t>
            </a:r>
            <a:r>
              <a:rPr lang="en-US" altLang="zh-CN" sz="2400" dirty="0"/>
              <a:t> </a:t>
            </a:r>
            <a:r>
              <a:rPr lang="zh-CN" altLang="en-US" sz="2400" dirty="0"/>
              <a:t>垂直领域（如医疗、工业缺陷）很难获取万级以上的标注数据。</a:t>
            </a:r>
          </a:p>
          <a:p>
            <a:pPr algn="l">
              <a:lnSpc>
                <a:spcPct val="150000"/>
              </a:lnSpc>
            </a:pPr>
            <a:endParaRPr lang="zh-CN" altLang="en-US" sz="2400" dirty="0"/>
          </a:p>
          <a:p>
            <a:pPr algn="l">
              <a:lnSpc>
                <a:spcPct val="150000"/>
              </a:lnSpc>
            </a:pPr>
            <a:r>
              <a:rPr lang="zh-CN" altLang="en-US" sz="2400" dirty="0"/>
              <a:t>算力贵：</a:t>
            </a:r>
            <a:r>
              <a:rPr lang="en-US" altLang="zh-CN" sz="2400" dirty="0"/>
              <a:t> </a:t>
            </a:r>
            <a:r>
              <a:rPr lang="zh-CN" altLang="en-US" sz="2400" dirty="0"/>
              <a:t>从零训练大型网络耗时极长。</a:t>
            </a:r>
          </a:p>
        </p:txBody>
      </p:sp>
      <p:sp>
        <p:nvSpPr>
          <p:cNvPr id="3" name="矩形 2"/>
          <p:cNvSpPr/>
          <p:nvPr>
            <p:custDataLst>
              <p:tags r:id="rId6"/>
            </p:custDataLst>
          </p:nvPr>
        </p:nvSpPr>
        <p:spPr>
          <a:xfrm>
            <a:off x="6371590" y="2643505"/>
            <a:ext cx="5695950" cy="35420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custDataLst>
              <p:tags r:id="rId7"/>
            </p:custDataLst>
          </p:nvPr>
        </p:nvSpPr>
        <p:spPr>
          <a:xfrm>
            <a:off x="6371590" y="2635250"/>
            <a:ext cx="2700020" cy="469265"/>
          </a:xfrm>
          <a:prstGeom prst="rect">
            <a:avLst/>
          </a:prstGeom>
          <a:solidFill>
            <a:srgbClr val="142C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custDataLst>
              <p:tags r:id="rId8"/>
            </p:custDataLst>
          </p:nvPr>
        </p:nvSpPr>
        <p:spPr>
          <a:xfrm>
            <a:off x="6394450" y="2620010"/>
            <a:ext cx="2674620" cy="497205"/>
          </a:xfrm>
          <a:prstGeom prst="rect">
            <a:avLst/>
          </a:prstGeom>
          <a:noFill/>
        </p:spPr>
        <p:txBody>
          <a:bodyPr wrap="square">
            <a:noAutofit/>
          </a:bodyPr>
          <a:lstStyle/>
          <a:p>
            <a:pPr algn="ctr"/>
            <a:r>
              <a:rPr lang="zh-CN" altLang="en-US" sz="2400" b="1" dirty="0">
                <a:solidFill>
                  <a:schemeClr val="bg1"/>
                </a:solidFill>
              </a:rPr>
              <a:t>关键观察</a:t>
            </a:r>
          </a:p>
        </p:txBody>
      </p:sp>
      <p:sp>
        <p:nvSpPr>
          <p:cNvPr id="13" name="文本框 12"/>
          <p:cNvSpPr txBox="1"/>
          <p:nvPr>
            <p:custDataLst>
              <p:tags r:id="rId9"/>
            </p:custDataLst>
          </p:nvPr>
        </p:nvSpPr>
        <p:spPr>
          <a:xfrm>
            <a:off x="6546215" y="3248660"/>
            <a:ext cx="5327015" cy="2047875"/>
          </a:xfrm>
          <a:prstGeom prst="rect">
            <a:avLst/>
          </a:prstGeom>
          <a:noFill/>
        </p:spPr>
        <p:txBody>
          <a:bodyPr wrap="square">
            <a:noAutofit/>
          </a:bodyPr>
          <a:lstStyle/>
          <a:p>
            <a:pPr algn="l">
              <a:lnSpc>
                <a:spcPct val="150000"/>
              </a:lnSpc>
            </a:pPr>
            <a:r>
              <a:rPr lang="en-US" altLang="zh-CN" sz="2400" dirty="0"/>
              <a:t> </a:t>
            </a:r>
            <a:r>
              <a:rPr lang="zh-CN" altLang="en-US" sz="2400" dirty="0"/>
              <a:t>神经网络底层学习的是边缘、纹理等通用视觉特征。迁移学习就是将大数据集上学到的</a:t>
            </a:r>
            <a:r>
              <a:rPr lang="en-US" altLang="zh-CN" sz="2400" dirty="0"/>
              <a:t>“</a:t>
            </a:r>
            <a:r>
              <a:rPr lang="zh-CN" altLang="en-US" sz="2400" dirty="0"/>
              <a:t>通用视觉常识</a:t>
            </a:r>
            <a:r>
              <a:rPr lang="en-US" altLang="zh-CN" sz="2400" dirty="0"/>
              <a:t>”</a:t>
            </a:r>
            <a:r>
              <a:rPr lang="zh-CN" altLang="en-US" sz="2400" dirty="0"/>
              <a:t>直接搬移到新任务中。</a:t>
            </a:r>
          </a:p>
        </p:txBody>
      </p:sp>
    </p:spTree>
    <p:extLst>
      <p:ext uri="{BB962C8B-B14F-4D97-AF65-F5344CB8AC3E}">
        <p14:creationId xmlns:p14="http://schemas.microsoft.com/office/powerpoint/2010/main" val="32503817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600" dirty="0">
                <a:latin typeface="+mj-lt"/>
                <a:ea typeface="+mj-lt"/>
                <a:sym typeface="+mn-ea"/>
              </a:rPr>
              <a:t>迁移策略</a:t>
            </a:r>
            <a:endParaRPr lang="en-US" sz="3600" dirty="0">
              <a:latin typeface="+mj-lt"/>
              <a:ea typeface="+mj-lt"/>
              <a:cs typeface="+mj-lt"/>
              <a:sym typeface="+mn-ea"/>
            </a:endParaRPr>
          </a:p>
        </p:txBody>
      </p:sp>
      <p:sp>
        <p:nvSpPr>
          <p:cNvPr id="3" name="矩形 2"/>
          <p:cNvSpPr/>
          <p:nvPr/>
        </p:nvSpPr>
        <p:spPr bwMode="auto">
          <a:xfrm>
            <a:off x="548640" y="1436915"/>
            <a:ext cx="11132848" cy="688925"/>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zh-CN" altLang="en-US" sz="2400" dirty="0">
                <a:latin typeface="Times New Roman" panose="02020603050405020304" pitchFamily="18" charset="0"/>
                <a:cs typeface="Times New Roman" panose="02020603050405020304" pitchFamily="18" charset="0"/>
              </a:rPr>
              <a:t>迁移学习主要包括三种迁移策略。</a:t>
            </a:r>
          </a:p>
        </p:txBody>
      </p:sp>
      <p:sp>
        <p:nvSpPr>
          <p:cNvPr id="4" name="文本框 3"/>
          <p:cNvSpPr txBox="1"/>
          <p:nvPr/>
        </p:nvSpPr>
        <p:spPr>
          <a:xfrm>
            <a:off x="1226821" y="2914100"/>
            <a:ext cx="2191008" cy="398780"/>
          </a:xfrm>
          <a:prstGeom prst="rect">
            <a:avLst/>
          </a:prstGeom>
          <a:noFill/>
        </p:spPr>
        <p:txBody>
          <a:bodyPr wrap="square">
            <a:spAutoFit/>
          </a:bodyPr>
          <a:lstStyle/>
          <a:p>
            <a:r>
              <a:rPr lang="zh-CN" altLang="en-US" sz="2000" dirty="0"/>
              <a:t>固定特征提取器</a:t>
            </a:r>
          </a:p>
        </p:txBody>
      </p:sp>
      <p:sp>
        <p:nvSpPr>
          <p:cNvPr id="6" name="文本框 5"/>
          <p:cNvSpPr txBox="1"/>
          <p:nvPr/>
        </p:nvSpPr>
        <p:spPr>
          <a:xfrm>
            <a:off x="5734819" y="2914100"/>
            <a:ext cx="1741478" cy="398780"/>
          </a:xfrm>
          <a:prstGeom prst="rect">
            <a:avLst/>
          </a:prstGeom>
          <a:noFill/>
        </p:spPr>
        <p:txBody>
          <a:bodyPr wrap="square">
            <a:spAutoFit/>
          </a:bodyPr>
          <a:lstStyle/>
          <a:p>
            <a:r>
              <a:rPr lang="zh-CN" altLang="en-US" sz="2000" dirty="0"/>
              <a:t>微调</a:t>
            </a:r>
          </a:p>
        </p:txBody>
      </p:sp>
      <p:sp>
        <p:nvSpPr>
          <p:cNvPr id="8" name="文本框 7"/>
          <p:cNvSpPr txBox="1"/>
          <p:nvPr/>
        </p:nvSpPr>
        <p:spPr>
          <a:xfrm>
            <a:off x="9090087" y="2914100"/>
            <a:ext cx="1741478" cy="398780"/>
          </a:xfrm>
          <a:prstGeom prst="rect">
            <a:avLst/>
          </a:prstGeom>
          <a:noFill/>
        </p:spPr>
        <p:txBody>
          <a:bodyPr wrap="square">
            <a:spAutoFit/>
          </a:bodyPr>
          <a:lstStyle/>
          <a:p>
            <a:r>
              <a:rPr lang="zh-CN" altLang="en-US" sz="2000" dirty="0"/>
              <a:t>部分冻结</a:t>
            </a:r>
          </a:p>
        </p:txBody>
      </p:sp>
      <p:sp>
        <p:nvSpPr>
          <p:cNvPr id="9" name="矩形 8"/>
          <p:cNvSpPr/>
          <p:nvPr/>
        </p:nvSpPr>
        <p:spPr>
          <a:xfrm>
            <a:off x="548639" y="2618509"/>
            <a:ext cx="11132847" cy="38602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3"/>
          <a:stretch>
            <a:fillRect/>
          </a:stretch>
        </p:blipFill>
        <p:spPr>
          <a:xfrm>
            <a:off x="681355" y="3750945"/>
            <a:ext cx="3281680" cy="1595755"/>
          </a:xfrm>
          <a:prstGeom prst="rect">
            <a:avLst/>
          </a:prstGeom>
        </p:spPr>
      </p:pic>
      <p:pic>
        <p:nvPicPr>
          <p:cNvPr id="11" name="图片 10"/>
          <p:cNvPicPr>
            <a:picLocks noChangeAspect="1"/>
          </p:cNvPicPr>
          <p:nvPr/>
        </p:nvPicPr>
        <p:blipFill>
          <a:blip r:embed="rId4"/>
          <a:stretch>
            <a:fillRect/>
          </a:stretch>
        </p:blipFill>
        <p:spPr>
          <a:xfrm>
            <a:off x="4338955" y="3429000"/>
            <a:ext cx="3622675" cy="2285365"/>
          </a:xfrm>
          <a:prstGeom prst="rect">
            <a:avLst/>
          </a:prstGeom>
        </p:spPr>
      </p:pic>
      <p:pic>
        <p:nvPicPr>
          <p:cNvPr id="13" name="图片 12"/>
          <p:cNvPicPr>
            <a:picLocks noChangeAspect="1"/>
          </p:cNvPicPr>
          <p:nvPr/>
        </p:nvPicPr>
        <p:blipFill>
          <a:blip r:embed="rId5"/>
          <a:stretch>
            <a:fillRect/>
          </a:stretch>
        </p:blipFill>
        <p:spPr>
          <a:xfrm>
            <a:off x="8163560" y="3597275"/>
            <a:ext cx="3180080" cy="2117090"/>
          </a:xfrm>
          <a:prstGeom prst="rect">
            <a:avLst/>
          </a:prstGeom>
        </p:spPr>
      </p:pic>
    </p:spTree>
    <p:extLst>
      <p:ext uri="{BB962C8B-B14F-4D97-AF65-F5344CB8AC3E}">
        <p14:creationId xmlns:p14="http://schemas.microsoft.com/office/powerpoint/2010/main" val="3777641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600" dirty="0">
                <a:latin typeface="+mn-ea"/>
                <a:cs typeface="+mj-lt"/>
                <a:sym typeface="+mn-ea"/>
              </a:rPr>
              <a:t>如何让视觉模型支持回归任务</a:t>
            </a:r>
          </a:p>
        </p:txBody>
      </p:sp>
      <p:sp>
        <p:nvSpPr>
          <p:cNvPr id="4" name="矩形 3"/>
          <p:cNvSpPr/>
          <p:nvPr/>
        </p:nvSpPr>
        <p:spPr bwMode="auto">
          <a:xfrm>
            <a:off x="548640" y="1436914"/>
            <a:ext cx="11132848" cy="574766"/>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sym typeface="+mn-ea"/>
              </a:rPr>
              <a:t>主干网络 </a:t>
            </a:r>
            <a:r>
              <a:rPr lang="en" altLang="zh-CN" sz="2400" dirty="0">
                <a:latin typeface="Times New Roman" panose="02020603050405020304" pitchFamily="18" charset="0"/>
                <a:cs typeface="Times New Roman" panose="02020603050405020304" pitchFamily="18" charset="0"/>
                <a:sym typeface="+mn-ea"/>
              </a:rPr>
              <a:t>backbone </a:t>
            </a:r>
            <a:r>
              <a:rPr lang="zh-CN" altLang="en-US" sz="2400" dirty="0">
                <a:latin typeface="Times New Roman" panose="02020603050405020304" pitchFamily="18" charset="0"/>
                <a:cs typeface="Times New Roman" panose="02020603050405020304" pitchFamily="18" charset="0"/>
                <a:sym typeface="+mn-ea"/>
              </a:rPr>
              <a:t>往往可以不变、最后一层输出维度根据任务改变、分类常接 </a:t>
            </a:r>
            <a:r>
              <a:rPr lang="en" altLang="zh-CN" sz="2400" dirty="0" err="1">
                <a:latin typeface="Times New Roman" panose="02020603050405020304" pitchFamily="18" charset="0"/>
                <a:cs typeface="Times New Roman" panose="02020603050405020304" pitchFamily="18" charset="0"/>
                <a:sym typeface="+mn-ea"/>
              </a:rPr>
              <a:t>softmax</a:t>
            </a:r>
            <a:r>
              <a:rPr lang="zh-CN" altLang="en-US" sz="2400" dirty="0">
                <a:latin typeface="Times New Roman" panose="02020603050405020304" pitchFamily="18" charset="0"/>
                <a:cs typeface="Times New Roman" panose="02020603050405020304" pitchFamily="18" charset="0"/>
                <a:sym typeface="+mn-ea"/>
              </a:rPr>
              <a:t>、回归通常直接输出实数向量。</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493839"/>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3600" dirty="0">
                <a:latin typeface="+mn-ea"/>
                <a:cs typeface="+mj-lt"/>
                <a:sym typeface="+mn-ea"/>
              </a:rPr>
              <a:t>有哪些经典的分类和回归任务</a:t>
            </a:r>
          </a:p>
        </p:txBody>
      </p:sp>
      <p:sp>
        <p:nvSpPr>
          <p:cNvPr id="18" name="矩形 17">
            <a:extLst>
              <a:ext uri="{FF2B5EF4-FFF2-40B4-BE49-F238E27FC236}">
                <a16:creationId xmlns:a16="http://schemas.microsoft.com/office/drawing/2014/main" id="{5AD2C669-EE2C-6644-98AA-091DF66FB3F1}"/>
              </a:ext>
            </a:extLst>
          </p:cNvPr>
          <p:cNvSpPr/>
          <p:nvPr/>
        </p:nvSpPr>
        <p:spPr bwMode="auto">
          <a:xfrm>
            <a:off x="548640" y="1436914"/>
            <a:ext cx="11132848" cy="1111477"/>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algn="l">
              <a:lnSpc>
                <a:spcPct val="100000"/>
              </a:lnSpc>
              <a:buClrTx/>
              <a:buSzTx/>
              <a:buFontTx/>
              <a:buNone/>
            </a:pPr>
            <a:r>
              <a:rPr lang="zh-CN" altLang="en-US" sz="2400" dirty="0"/>
              <a:t>分类：手写数字分类、医学图像分类</a:t>
            </a:r>
            <a:endParaRPr lang="en-US" altLang="zh-CN" sz="2400" dirty="0"/>
          </a:p>
          <a:p>
            <a:pPr marL="0" algn="l">
              <a:lnSpc>
                <a:spcPct val="100000"/>
              </a:lnSpc>
              <a:buClrTx/>
              <a:buSzTx/>
              <a:buFontTx/>
              <a:buNone/>
            </a:pPr>
            <a:r>
              <a:rPr lang="zh-CN" altLang="en-US" sz="2400" dirty="0"/>
              <a:t>回归：年龄估计 人脸关键点坐标预测 头部姿态角度预测</a:t>
            </a:r>
            <a:endParaRPr lang="en-US" altLang="zh-CN" sz="2400" dirty="0"/>
          </a:p>
          <a:p>
            <a:pPr marL="0" algn="l">
              <a:lnSpc>
                <a:spcPct val="100000"/>
              </a:lnSpc>
              <a:buClrTx/>
              <a:buSzTx/>
              <a:buFontTx/>
              <a:buNone/>
            </a:pPr>
            <a:r>
              <a:rPr lang="zh-CN" altLang="en-US" sz="2400" dirty="0">
                <a:latin typeface="Times New Roman" panose="02020603050405020304" pitchFamily="18" charset="0"/>
                <a:cs typeface="Times New Roman" panose="02020603050405020304" pitchFamily="18" charset="0"/>
                <a:sym typeface="+mn-ea"/>
              </a:rPr>
              <a:t>找点例子</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CDD6-674C-0F71-1EF0-1A53F52FB9D5}"/>
            </a:ext>
          </a:extLst>
        </p:cNvPr>
        <p:cNvGrpSpPr/>
        <p:nvPr/>
      </p:nvGrpSpPr>
      <p:grpSpPr>
        <a:xfrm>
          <a:off x="0" y="0"/>
          <a:ext cx="0" cy="0"/>
          <a:chOff x="0" y="0"/>
          <a:chExt cx="0" cy="0"/>
        </a:xfrm>
      </p:grpSpPr>
      <p:sp>
        <p:nvSpPr>
          <p:cNvPr id="38" name="TextBox 81">
            <a:extLst>
              <a:ext uri="{FF2B5EF4-FFF2-40B4-BE49-F238E27FC236}">
                <a16:creationId xmlns:a16="http://schemas.microsoft.com/office/drawing/2014/main" id="{77FB56CD-CA2E-17F5-4612-BBB1A0E8A896}"/>
              </a:ext>
            </a:extLst>
          </p:cNvPr>
          <p:cNvSpPr txBox="1"/>
          <p:nvPr/>
        </p:nvSpPr>
        <p:spPr>
          <a:xfrm>
            <a:off x="641288" y="1845271"/>
            <a:ext cx="7784653" cy="584775"/>
          </a:xfrm>
          <a:prstGeom prst="rect">
            <a:avLst/>
          </a:prstGeom>
          <a:noFill/>
        </p:spPr>
        <p:txBody>
          <a:bodyPr wrap="square" rtlCol="0">
            <a:spAutoFit/>
          </a:bodyPr>
          <a:lstStyle/>
          <a:p>
            <a:pPr marL="342900" indent="-342900">
              <a:buFont typeface="Arial" panose="020B0604020202020204" pitchFamily="34" charset="0"/>
              <a:buChar char="•"/>
            </a:pPr>
            <a:r>
              <a:rPr lang="en-US" altLang="zh-CN" sz="3200" b="1" dirty="0">
                <a:solidFill>
                  <a:srgbClr val="142C68"/>
                </a:solidFill>
                <a:latin typeface="微软雅黑" panose="020B0503020204020204" pitchFamily="34" charset="-122"/>
                <a:ea typeface="微软雅黑" panose="020B0503020204020204" pitchFamily="34" charset="-122"/>
              </a:rPr>
              <a:t>01</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3200" b="1" dirty="0">
                <a:solidFill>
                  <a:srgbClr val="142C68"/>
                </a:solidFill>
                <a:latin typeface="微软雅黑" panose="020B0503020204020204" pitchFamily="34" charset="-122"/>
                <a:ea typeface="微软雅黑" panose="020B0503020204020204" pitchFamily="34" charset="-122"/>
              </a:rPr>
              <a:t>计算机视觉基础</a:t>
            </a:r>
            <a:endParaRPr lang="en-US" sz="3200" b="1" dirty="0">
              <a:solidFill>
                <a:srgbClr val="142C68"/>
              </a:solidFill>
              <a:latin typeface="微软雅黑" panose="020B0503020204020204" pitchFamily="34" charset="-122"/>
              <a:ea typeface="微软雅黑" panose="020B0503020204020204" pitchFamily="34" charset="-122"/>
            </a:endParaRPr>
          </a:p>
        </p:txBody>
      </p:sp>
      <p:sp>
        <p:nvSpPr>
          <p:cNvPr id="40" name="TextBox 83">
            <a:extLst>
              <a:ext uri="{FF2B5EF4-FFF2-40B4-BE49-F238E27FC236}">
                <a16:creationId xmlns:a16="http://schemas.microsoft.com/office/drawing/2014/main" id="{1F4C841A-C878-F92F-6E89-5B354824C6CD}"/>
              </a:ext>
            </a:extLst>
          </p:cNvPr>
          <p:cNvSpPr txBox="1"/>
          <p:nvPr/>
        </p:nvSpPr>
        <p:spPr>
          <a:xfrm>
            <a:off x="641287" y="2915183"/>
            <a:ext cx="7890771" cy="584775"/>
          </a:xfrm>
          <a:prstGeom prst="rect">
            <a:avLst/>
          </a:prstGeom>
          <a:noFill/>
        </p:spPr>
        <p:txBody>
          <a:bodyPr wrap="square" rtlCol="0">
            <a:spAutoFit/>
          </a:bodyPr>
          <a:lstStyle/>
          <a:p>
            <a:pPr marL="342900" indent="-342900">
              <a:buFont typeface="Arial" panose="020B0604020202020204" pitchFamily="34" charset="0"/>
              <a:buChar char="•"/>
            </a:pPr>
            <a:r>
              <a:rPr lang="en-US" altLang="zh-CN" sz="3200" b="1" dirty="0">
                <a:solidFill>
                  <a:srgbClr val="142C68"/>
                </a:solidFill>
                <a:latin typeface="微软雅黑" panose="020B0503020204020204" pitchFamily="34" charset="-122"/>
                <a:ea typeface="微软雅黑" panose="020B0503020204020204" pitchFamily="34" charset="-122"/>
              </a:rPr>
              <a:t>02 </a:t>
            </a:r>
            <a:r>
              <a:rPr lang="zh-CN" altLang="en-US" sz="3200" b="1" dirty="0">
                <a:solidFill>
                  <a:srgbClr val="142C68"/>
                </a:solidFill>
                <a:latin typeface="微软雅黑" panose="020B0503020204020204" pitchFamily="34" charset="-122"/>
                <a:ea typeface="微软雅黑" panose="020B0503020204020204" pitchFamily="34" charset="-122"/>
              </a:rPr>
              <a:t>卷积操作与卷积层</a:t>
            </a:r>
            <a:endParaRPr lang="en-US" sz="3200" b="1" dirty="0">
              <a:solidFill>
                <a:srgbClr val="142C68"/>
              </a:solidFill>
              <a:latin typeface="微软雅黑" panose="020B0503020204020204" pitchFamily="34" charset="-122"/>
              <a:ea typeface="微软雅黑" panose="020B0503020204020204" pitchFamily="34" charset="-122"/>
            </a:endParaRPr>
          </a:p>
        </p:txBody>
      </p:sp>
      <p:sp>
        <p:nvSpPr>
          <p:cNvPr id="53" name="矩形 52">
            <a:extLst>
              <a:ext uri="{FF2B5EF4-FFF2-40B4-BE49-F238E27FC236}">
                <a16:creationId xmlns:a16="http://schemas.microsoft.com/office/drawing/2014/main" id="{56F32944-5C4D-F112-69C9-048D01F27AEE}"/>
              </a:ext>
            </a:extLst>
          </p:cNvPr>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5D619ACB-98A4-BE51-BB1F-70DB06FACA22}"/>
              </a:ext>
            </a:extLst>
          </p:cNvPr>
          <p:cNvSpPr>
            <a:spLocks noGrp="1"/>
          </p:cNvSpPr>
          <p:nvPr>
            <p:ph type="sldNum" sz="quarter" idx="12"/>
          </p:nvPr>
        </p:nvSpPr>
        <p:spPr/>
        <p:txBody>
          <a:bodyPr/>
          <a:lstStyle/>
          <a:p>
            <a:fld id="{74633FFB-1C19-419E-8E77-89EB46374809}" type="slidenum">
              <a:rPr lang="zh-CN" altLang="en-US" smtClean="0"/>
              <a:pPr/>
              <a:t>100</a:t>
            </a:fld>
            <a:endParaRPr lang="zh-CN" altLang="en-US" dirty="0"/>
          </a:p>
        </p:txBody>
      </p:sp>
      <p:sp>
        <p:nvSpPr>
          <p:cNvPr id="7" name="TextBox 83">
            <a:extLst>
              <a:ext uri="{FF2B5EF4-FFF2-40B4-BE49-F238E27FC236}">
                <a16:creationId xmlns:a16="http://schemas.microsoft.com/office/drawing/2014/main" id="{7578BF8D-0C98-271B-A148-095BAEA8DEB3}"/>
              </a:ext>
            </a:extLst>
          </p:cNvPr>
          <p:cNvSpPr txBox="1"/>
          <p:nvPr/>
        </p:nvSpPr>
        <p:spPr>
          <a:xfrm>
            <a:off x="641286" y="3985095"/>
            <a:ext cx="8677974" cy="584775"/>
          </a:xfrm>
          <a:prstGeom prst="rect">
            <a:avLst/>
          </a:prstGeom>
          <a:noFill/>
        </p:spPr>
        <p:txBody>
          <a:bodyPr wrap="square" rtlCol="0">
            <a:spAutoFit/>
          </a:bodyPr>
          <a:lstStyle/>
          <a:p>
            <a:pPr marL="342900" indent="-342900">
              <a:buFont typeface="Arial" panose="020B0604020202020204" pitchFamily="34" charset="0"/>
              <a:buChar char="•"/>
            </a:pPr>
            <a:r>
              <a:rPr lang="en-US" altLang="zh-CN" sz="3200" b="1" dirty="0">
                <a:solidFill>
                  <a:srgbClr val="142C68"/>
                </a:solidFill>
                <a:latin typeface="微软雅黑" panose="020B0503020204020204" pitchFamily="34" charset="-122"/>
                <a:ea typeface="微软雅黑" panose="020B0503020204020204" pitchFamily="34" charset="-122"/>
              </a:rPr>
              <a:t>03 </a:t>
            </a:r>
            <a:r>
              <a:rPr lang="zh-CN" altLang="en-US" sz="3200" b="1" dirty="0">
                <a:solidFill>
                  <a:srgbClr val="142C68"/>
                </a:solidFill>
                <a:latin typeface="微软雅黑" panose="020B0503020204020204" pitchFamily="34" charset="-122"/>
                <a:ea typeface="微软雅黑" panose="020B0503020204020204" pitchFamily="34" charset="-122"/>
              </a:rPr>
              <a:t>经典卷积神经网络</a:t>
            </a:r>
            <a:endParaRPr lang="en-US" sz="3200" b="1" dirty="0">
              <a:solidFill>
                <a:srgbClr val="142C68"/>
              </a:solidFill>
              <a:latin typeface="微软雅黑" panose="020B0503020204020204" pitchFamily="34" charset="-122"/>
              <a:ea typeface="微软雅黑" panose="020B0503020204020204" pitchFamily="34" charset="-122"/>
            </a:endParaRPr>
          </a:p>
        </p:txBody>
      </p:sp>
      <p:sp>
        <p:nvSpPr>
          <p:cNvPr id="8" name="TextBox 81">
            <a:extLst>
              <a:ext uri="{FF2B5EF4-FFF2-40B4-BE49-F238E27FC236}">
                <a16:creationId xmlns:a16="http://schemas.microsoft.com/office/drawing/2014/main" id="{27E14F86-99E0-3984-1B67-7FCC56C7E0D8}"/>
              </a:ext>
            </a:extLst>
          </p:cNvPr>
          <p:cNvSpPr txBox="1"/>
          <p:nvPr/>
        </p:nvSpPr>
        <p:spPr>
          <a:xfrm>
            <a:off x="641286" y="5055007"/>
            <a:ext cx="8075829" cy="584775"/>
          </a:xfrm>
          <a:prstGeom prst="rect">
            <a:avLst/>
          </a:prstGeom>
          <a:noFill/>
        </p:spPr>
        <p:txBody>
          <a:bodyPr wrap="square" rtlCol="0">
            <a:spAutoFit/>
          </a:bodyPr>
          <a:lstStyle/>
          <a:p>
            <a:pPr marL="342900" indent="-342900">
              <a:buFont typeface="Arial" panose="020B0604020202020204" pitchFamily="34" charset="0"/>
              <a:buChar char="•"/>
            </a:pPr>
            <a:r>
              <a:rPr lang="en-US" altLang="zh-CN" sz="3200" b="1" dirty="0">
                <a:solidFill>
                  <a:srgbClr val="142C68"/>
                </a:solidFill>
                <a:latin typeface="微软雅黑" panose="020B0503020204020204" pitchFamily="34" charset="-122"/>
                <a:ea typeface="微软雅黑" panose="020B0503020204020204" pitchFamily="34" charset="-122"/>
              </a:rPr>
              <a:t>04</a:t>
            </a:r>
            <a:r>
              <a:rPr lang="zh-CN" altLang="en-US" sz="3200" b="1" dirty="0">
                <a:solidFill>
                  <a:srgbClr val="142C68"/>
                </a:solidFill>
                <a:latin typeface="微软雅黑" panose="020B0503020204020204" pitchFamily="34" charset="-122"/>
                <a:ea typeface="微软雅黑" panose="020B0503020204020204" pitchFamily="34" charset="-122"/>
              </a:rPr>
              <a:t> 其他</a:t>
            </a:r>
            <a:endParaRPr lang="en-US" sz="3200" b="1" dirty="0">
              <a:solidFill>
                <a:srgbClr val="142C68"/>
              </a:solidFill>
              <a:latin typeface="微软雅黑" panose="020B0503020204020204" pitchFamily="34" charset="-122"/>
              <a:ea typeface="微软雅黑" panose="020B0503020204020204" pitchFamily="34" charset="-122"/>
            </a:endParaRPr>
          </a:p>
        </p:txBody>
      </p:sp>
      <p:sp>
        <p:nvSpPr>
          <p:cNvPr id="9" name="object 5">
            <a:extLst>
              <a:ext uri="{FF2B5EF4-FFF2-40B4-BE49-F238E27FC236}">
                <a16:creationId xmlns:a16="http://schemas.microsoft.com/office/drawing/2014/main" id="{B7B52139-F2D5-0D73-19FB-0B483293D43C}"/>
              </a:ext>
            </a:extLst>
          </p:cNvPr>
          <p:cNvSpPr txBox="1">
            <a:spLocks/>
          </p:cNvSpPr>
          <p:nvPr/>
        </p:nvSpPr>
        <p:spPr>
          <a:xfrm>
            <a:off x="119703" y="552382"/>
            <a:ext cx="1859765"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spc="-10" dirty="0">
                <a:solidFill>
                  <a:schemeClr val="bg1"/>
                </a:solidFill>
                <a:latin typeface="Calibri" panose="020F0502020204030204" pitchFamily="34" charset="0"/>
                <a:cs typeface="Calibri" panose="020F0502020204030204" pitchFamily="34" charset="0"/>
              </a:rPr>
              <a:t>总结</a:t>
            </a:r>
            <a:endParaRPr lang="en-US" sz="3600" spc="-10" dirty="0">
              <a:solidFill>
                <a:schemeClr val="bg1"/>
              </a:solidFill>
              <a:latin typeface="Calibri" panose="020F0502020204030204" pitchFamily="34" charset="0"/>
              <a:cs typeface="Calibri" panose="020F0502020204030204" pitchFamily="34" charset="0"/>
            </a:endParaRPr>
          </a:p>
        </p:txBody>
      </p:sp>
      <p:sp>
        <p:nvSpPr>
          <p:cNvPr id="11" name="文本框 10">
            <a:extLst>
              <a:ext uri="{FF2B5EF4-FFF2-40B4-BE49-F238E27FC236}">
                <a16:creationId xmlns:a16="http://schemas.microsoft.com/office/drawing/2014/main" id="{D7C574EA-66B7-A912-7938-D279F200E375}"/>
              </a:ext>
            </a:extLst>
          </p:cNvPr>
          <p:cNvSpPr txBox="1"/>
          <p:nvPr/>
        </p:nvSpPr>
        <p:spPr>
          <a:xfrm>
            <a:off x="7176382" y="4304240"/>
            <a:ext cx="4285753" cy="1569660"/>
          </a:xfrm>
          <a:prstGeom prst="rect">
            <a:avLst/>
          </a:prstGeom>
          <a:noFill/>
          <a:ln w="38100">
            <a:solidFill>
              <a:srgbClr val="C00000"/>
            </a:solidFill>
          </a:ln>
        </p:spPr>
        <p:txBody>
          <a:bodyPr wrap="square">
            <a:spAutoFit/>
          </a:bodyPr>
          <a:lstStyle/>
          <a:p>
            <a:r>
              <a:rPr lang="zh-CN" altLang="en-US" sz="2400" dirty="0">
                <a:solidFill>
                  <a:srgbClr val="C00000"/>
                </a:solidFill>
              </a:rPr>
              <a:t>本 PPT 内容仅供学习交流使用，若其中的图片等素材存在版权争议，请联系我以便妥善解决。</a:t>
            </a:r>
            <a:r>
              <a:rPr lang="en-US" altLang="zh-CN" sz="2400" dirty="0" err="1">
                <a:solidFill>
                  <a:srgbClr val="C00000"/>
                </a:solidFill>
              </a:rPr>
              <a:t>wanghaobo@zju.edu.cn</a:t>
            </a:r>
            <a:r>
              <a:rPr lang="zh-CN" altLang="en-US" sz="2400" dirty="0">
                <a:solidFill>
                  <a:srgbClr val="C00000"/>
                </a:solidFill>
              </a:rPr>
              <a:t>。</a:t>
            </a:r>
          </a:p>
        </p:txBody>
      </p:sp>
      <p:sp>
        <p:nvSpPr>
          <p:cNvPr id="12" name="矩形 11">
            <a:extLst>
              <a:ext uri="{FF2B5EF4-FFF2-40B4-BE49-F238E27FC236}">
                <a16:creationId xmlns:a16="http://schemas.microsoft.com/office/drawing/2014/main" id="{394F1C05-F542-E5B0-2669-AB3775C8180D}"/>
              </a:ext>
            </a:extLst>
          </p:cNvPr>
          <p:cNvSpPr/>
          <p:nvPr/>
        </p:nvSpPr>
        <p:spPr>
          <a:xfrm>
            <a:off x="7173488" y="4304240"/>
            <a:ext cx="4285753" cy="156966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251437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56.7570652548317,&quot;left&quot;:43.2,&quot;top&quot;:113.1428346456693,&quot;width&quot;:876.602204724409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0.2054330708661,&quot;left&quot;:43.2,&quot;top&quot;:206.3,&quot;width&quot;:907}"/>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56251</TotalTime>
  <Words>5973</Words>
  <Application>Microsoft Office PowerPoint</Application>
  <PresentationFormat>宽屏</PresentationFormat>
  <Paragraphs>730</Paragraphs>
  <Slides>100</Slides>
  <Notes>78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100</vt:i4>
      </vt:variant>
    </vt:vector>
  </HeadingPairs>
  <TitlesOfParts>
    <vt:vector size="115" baseType="lpstr">
      <vt:lpstr>-apple-system</vt:lpstr>
      <vt:lpstr>system-ui</vt:lpstr>
      <vt:lpstr>Xingkai SC</vt:lpstr>
      <vt:lpstr>等线</vt:lpstr>
      <vt:lpstr>等线 Light</vt:lpstr>
      <vt:lpstr>黑体</vt:lpstr>
      <vt:lpstr>Microsoft YaHei</vt:lpstr>
      <vt:lpstr>Microsoft YaHei</vt:lpstr>
      <vt:lpstr>Arial</vt:lpstr>
      <vt:lpstr>Calibri</vt:lpstr>
      <vt:lpstr>Calibri Light</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Wenguan Wang</cp:lastModifiedBy>
  <cp:revision>874</cp:revision>
  <dcterms:created xsi:type="dcterms:W3CDTF">2023-11-05T01:38:25Z</dcterms:created>
  <dcterms:modified xsi:type="dcterms:W3CDTF">2026-04-03T02:13:29Z</dcterms:modified>
</cp:coreProperties>
</file>