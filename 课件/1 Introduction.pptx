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wmf" ContentType="image/x-w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306" r:id="rId6"/>
    <p:sldId id="299" r:id="rId7"/>
    <p:sldId id="300" r:id="rId8"/>
    <p:sldId id="301" r:id="rId9"/>
    <p:sldId id="302" r:id="rId10"/>
    <p:sldId id="304" r:id="rId11"/>
    <p:sldId id="303" r:id="rId12"/>
    <p:sldId id="259" r:id="rId13"/>
    <p:sldId id="260" r:id="rId14"/>
    <p:sldId id="305" r:id="rId15"/>
    <p:sldId id="261" r:id="rId16"/>
    <p:sldId id="262" r:id="rId17"/>
    <p:sldId id="263" r:id="rId18"/>
    <p:sldId id="296" r:id="rId19"/>
    <p:sldId id="265" r:id="rId20"/>
    <p:sldId id="264" r:id="rId21"/>
    <p:sldId id="292" r:id="rId22"/>
    <p:sldId id="293" r:id="rId23"/>
    <p:sldId id="295" r:id="rId24"/>
    <p:sldId id="308" r:id="rId25"/>
    <p:sldId id="266" r:id="rId26"/>
    <p:sldId id="272" r:id="rId27"/>
    <p:sldId id="270" r:id="rId28"/>
    <p:sldId id="267" r:id="rId29"/>
    <p:sldId id="271" r:id="rId30"/>
    <p:sldId id="273" r:id="rId31"/>
    <p:sldId id="274" r:id="rId32"/>
    <p:sldId id="275" r:id="rId33"/>
    <p:sldId id="276" r:id="rId34"/>
    <p:sldId id="277" r:id="rId35"/>
    <p:sldId id="278" r:id="rId36"/>
    <p:sldId id="297" r:id="rId37"/>
    <p:sldId id="279" r:id="rId38"/>
    <p:sldId id="280" r:id="rId39"/>
    <p:sldId id="294" r:id="rId40"/>
    <p:sldId id="298" r:id="rId41"/>
    <p:sldId id="288" r:id="rId42"/>
    <p:sldId id="289" r:id="rId43"/>
    <p:sldId id="290" r:id="rId44"/>
    <p:sldId id="309" r:id="rId45"/>
    <p:sldId id="291" r:id="rId46"/>
  </p:sldIdLst>
  <p:sldSz cx="13004800" cy="9753600"/>
  <p:notesSz cx="13004800" cy="97536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CBE"/>
    <a:srgbClr val="CEFCAE"/>
    <a:srgbClr val="B1FA80"/>
    <a:srgbClr val="80FABA"/>
    <a:srgbClr val="FB7E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6" autoAdjust="0"/>
    <p:restoredTop sz="93590" autoAdjust="0"/>
  </p:normalViewPr>
  <p:slideViewPr>
    <p:cSldViewPr showGuides="1">
      <p:cViewPr varScale="1">
        <p:scale>
          <a:sx n="63" d="100"/>
          <a:sy n="63" d="100"/>
        </p:scale>
        <p:origin x="855" y="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AD6DF-169B-5C4A-A50E-BEC02F833B1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B8734-E4F4-4B4E-86F6-610BF9AB4B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/>
              <a:t>ystem hierarchy &amp; abstraction, modulization, interface…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B8734-E4F4-4B4E-86F6-610BF9AB4B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B8734-E4F4-4B4E-86F6-610BF9AB4B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Danish, ACM/IEEE fellow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B8734-E4F4-4B4E-86F6-610BF9AB4B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Adobe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公司首席科学家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Alexander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Stepanov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B8734-E4F4-4B4E-86F6-610BF9AB4B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5720" y="508000"/>
            <a:ext cx="10373360" cy="1280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ill Sans Std" panose="020B0502020104020203" pitchFamily="34" charset="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50000" y="9329575"/>
            <a:ext cx="279400" cy="654025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lang="en-US" altLang="zh-CN" sz="1600" smtClean="0"/>
            </a:fld>
            <a:endParaRPr lang="zh-CN" altLang="en-US" sz="16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6700" y="2715260"/>
            <a:ext cx="9931400" cy="646331"/>
          </a:xfrm>
        </p:spPr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50000" y="9329575"/>
            <a:ext cx="279400" cy="654025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lang="en-US" altLang="zh-CN" sz="1600" smtClean="0"/>
            </a:fld>
            <a:endParaRPr lang="zh-CN" altLang="en-US"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sz="1600" dirty="0"/>
            </a:fld>
            <a:endParaRPr sz="16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ill Sans Std" panose="020B0502020104020203" pitchFamily="34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350000" y="9329575"/>
            <a:ext cx="279400" cy="654025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ill Sans Std" panose="020B0502020104020203" pitchFamily="34" charset="0"/>
                <a:cs typeface="Gill Sans Std" panose="020B0502020104020203" pitchFamily="34" charset="0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lang="en-US" altLang="zh-CN" sz="1600" smtClean="0"/>
            </a:fld>
            <a:endParaRPr lang="zh-CN" altLang="en-US" sz="16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sz="1600" dirty="0"/>
            </a:fld>
            <a:endParaRPr sz="16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50240" y="9070848"/>
            <a:ext cx="2991104" cy="276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421632" y="9070848"/>
            <a:ext cx="4161536" cy="276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50000" y="9329575"/>
            <a:ext cx="279400" cy="55399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C09B1-9E9F-4B91-A6D0-CC72F1D18F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5720" y="508000"/>
            <a:ext cx="10373360" cy="1280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6700" y="2715260"/>
            <a:ext cx="9931400" cy="4313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50000" y="9329575"/>
            <a:ext cx="279400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01600">
              <a:lnSpc>
                <a:spcPts val="1700"/>
              </a:lnSpc>
            </a:pPr>
            <a:fld id="{81D60167-4931-47E6-BA6A-407CBD079E47}" type="slidenum">
              <a:rPr sz="1600" dirty="0"/>
            </a:fld>
            <a:endParaRPr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Arcon" panose="00000500000000000000" pitchFamily="50" charset="0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tiff"/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hyperlink" Target="http://mindview.net/" TargetMode="Externa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youtube.com/user/CppCon" TargetMode="External"/><Relationship Id="rId2" Type="http://schemas.openxmlformats.org/officeDocument/2006/relationships/hyperlink" Target="https://isocpp.org/" TargetMode="External"/><Relationship Id="rId1" Type="http://schemas.openxmlformats.org/officeDocument/2006/relationships/hyperlink" Target="https://cppreference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hyperlink" Target="https://pintia.cn/" TargetMode="Externa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conduct.berkeley.edu/integrity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chonghao@zju.edu.cn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jpeg"/><Relationship Id="rId3" Type="http://schemas.microsoft.com/office/2007/relationships/media" Target="../media/audio1.wav"/><Relationship Id="rId2" Type="http://schemas.openxmlformats.org/officeDocument/2006/relationships/audio" Target="../media/audio1.wav"/><Relationship Id="rId1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0.jpeg"/><Relationship Id="rId1" Type="http://schemas.openxmlformats.org/officeDocument/2006/relationships/hyperlink" Target="https://www.infoq.cn/article/rv3SX2V8rtRaJj9B17xZ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engin.umd.umich.edu/CIS/course.des/cis400/simula/simula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open-std.org/jtc1/sc22/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en.wikipedia.org/wiki/Object-oriented_programming#Criticism" TargetMode="External"/><Relationship Id="rId1" Type="http://schemas.openxmlformats.org/officeDocument/2006/relationships/hyperlink" Target="https://en.wikipedia.org/wiki/C%2B%2B#Criticis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3659" y="883285"/>
            <a:ext cx="10035542" cy="3013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ts val="9600"/>
              </a:lnSpc>
            </a:pPr>
            <a:r>
              <a:rPr spc="-5" dirty="0"/>
              <a:t>O</a:t>
            </a:r>
            <a:r>
              <a:rPr dirty="0"/>
              <a:t>b</a:t>
            </a:r>
            <a:r>
              <a:rPr spc="-5" dirty="0"/>
              <a:t>j</a:t>
            </a:r>
            <a:r>
              <a:rPr dirty="0"/>
              <a:t>ect</a:t>
            </a:r>
            <a:r>
              <a:rPr spc="-5" dirty="0"/>
              <a:t>-O</a:t>
            </a:r>
            <a:r>
              <a:rPr dirty="0"/>
              <a:t>r</a:t>
            </a:r>
            <a:r>
              <a:rPr spc="-5" dirty="0"/>
              <a:t>i</a:t>
            </a:r>
            <a:r>
              <a:rPr dirty="0"/>
              <a:t>ented  </a:t>
            </a:r>
            <a:r>
              <a:rPr spc="-20" dirty="0"/>
              <a:t>Programming</a:t>
            </a:r>
            <a:endParaRPr spc="-20" dirty="0"/>
          </a:p>
          <a:p>
            <a:pPr marL="13970" algn="ctr">
              <a:lnSpc>
                <a:spcPts val="4340"/>
              </a:lnSpc>
              <a:tabLst>
                <a:tab pos="1228090" algn="l"/>
              </a:tabLst>
            </a:pPr>
            <a:r>
              <a:rPr lang="en-US" altLang="zh-CN" sz="3800" spc="-5" dirty="0"/>
              <a:t>with </a:t>
            </a:r>
            <a:r>
              <a:rPr lang="en-US" altLang="zh-CN" sz="3800" dirty="0"/>
              <a:t>C++</a:t>
            </a:r>
            <a:endParaRPr sz="3800" dirty="0"/>
          </a:p>
        </p:txBody>
      </p:sp>
      <p:sp>
        <p:nvSpPr>
          <p:cNvPr id="3" name="object 3"/>
          <p:cNvSpPr txBox="1"/>
          <p:nvPr/>
        </p:nvSpPr>
        <p:spPr>
          <a:xfrm>
            <a:off x="3232150" y="4802769"/>
            <a:ext cx="6258560" cy="51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56000"/>
              </a:lnSpc>
            </a:pPr>
            <a:r>
              <a:rPr lang="en-US" altLang="zh-CN" sz="2400" spc="-5" dirty="0">
                <a:latin typeface="Gill Sans Std" panose="020B0502020104020203" pitchFamily="34" charset="0"/>
                <a:cs typeface="Tahoma" panose="020B0604030504040204"/>
              </a:rPr>
              <a:t>Yuchi Huo</a:t>
            </a:r>
            <a:r>
              <a:rPr lang="en-US" sz="2400" spc="-5" dirty="0">
                <a:latin typeface="Gill Sans Std" panose="020B0502020104020203" pitchFamily="34" charset="0"/>
                <a:cs typeface="Tahoma" panose="020B0604030504040204"/>
              </a:rPr>
              <a:t> @ CAD&amp;</a:t>
            </a:r>
            <a:r>
              <a:rPr lang="en-US" sz="2400" spc="-5">
                <a:latin typeface="Gill Sans Std" panose="020B0502020104020203" pitchFamily="34" charset="0"/>
                <a:cs typeface="Tahoma" panose="020B0604030504040204"/>
              </a:rPr>
              <a:t>CG Lab</a:t>
            </a:r>
            <a:endParaRPr lang="en-US" sz="2400" spc="-5" dirty="0">
              <a:latin typeface="Gill Sans Std" panose="020B0502020104020203" pitchFamily="34" charset="0"/>
              <a:cs typeface="Tahom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9600" y="6223000"/>
            <a:ext cx="9245600" cy="28448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dirty="0">
                <a:latin typeface="Gill Sans Std" panose="020B0502020104020203" pitchFamily="34" charset="0"/>
              </a:rPr>
              <a:t>Course</a:t>
            </a:r>
            <a:r>
              <a:rPr spc="-105" dirty="0">
                <a:latin typeface="Gill Sans Std" panose="020B0502020104020203" pitchFamily="34" charset="0"/>
              </a:rPr>
              <a:t> </a:t>
            </a:r>
            <a:r>
              <a:rPr lang="en-US" dirty="0">
                <a:latin typeface="Gill Sans Std" panose="020B0502020104020203" pitchFamily="34" charset="0"/>
              </a:rPr>
              <a:t>c</a:t>
            </a:r>
            <a:r>
              <a:rPr dirty="0">
                <a:latin typeface="Gill Sans Std" panose="020B0502020104020203" pitchFamily="34" charset="0"/>
              </a:rPr>
              <a:t>ontents</a:t>
            </a:r>
            <a:endParaRPr dirty="0">
              <a:latin typeface="Gill Sans Std" panose="020B05020201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68400" y="2743200"/>
            <a:ext cx="10363200" cy="4360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2632710" indent="-444500">
              <a:lnSpc>
                <a:spcPts val="4900"/>
              </a:lnSpc>
              <a:buSzPct val="170000"/>
              <a:buChar char="•"/>
              <a:tabLst>
                <a:tab pos="457200" algn="l"/>
                <a:tab pos="3922395" algn="l"/>
              </a:tabLst>
            </a:pPr>
            <a:r>
              <a:rPr sz="4200" dirty="0">
                <a:latin typeface="Gill Sans Std" panose="020B0502020104020203" pitchFamily="34" charset="0"/>
              </a:rPr>
              <a:t>Int</a:t>
            </a:r>
            <a:r>
              <a:rPr sz="4200" spc="-105" dirty="0">
                <a:latin typeface="Gill Sans Std" panose="020B0502020104020203" pitchFamily="34" charset="0"/>
              </a:rPr>
              <a:t>r</a:t>
            </a:r>
            <a:r>
              <a:rPr sz="4200" dirty="0">
                <a:latin typeface="Gill Sans Std" panose="020B0502020104020203" pitchFamily="34" charset="0"/>
              </a:rPr>
              <a:t>oduct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on</a:t>
            </a:r>
            <a:r>
              <a:rPr sz="4200" spc="-5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to	ob</a:t>
            </a:r>
            <a:r>
              <a:rPr sz="4200" spc="-5" dirty="0">
                <a:latin typeface="Gill Sans Std" panose="020B0502020104020203" pitchFamily="34" charset="0"/>
              </a:rPr>
              <a:t>j</a:t>
            </a:r>
            <a:r>
              <a:rPr sz="4200" dirty="0">
                <a:latin typeface="Gill Sans Std" panose="020B0502020104020203" pitchFamily="34" charset="0"/>
              </a:rPr>
              <a:t>ect</a:t>
            </a:r>
            <a:r>
              <a:rPr sz="4200" spc="-5" dirty="0">
                <a:latin typeface="Gill Sans Std" panose="020B0502020104020203" pitchFamily="34" charset="0"/>
              </a:rPr>
              <a:t>-</a:t>
            </a:r>
            <a:r>
              <a:rPr sz="4200" dirty="0">
                <a:latin typeface="Gill Sans Std" panose="020B0502020104020203" pitchFamily="34" charset="0"/>
              </a:rPr>
              <a:t>or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ented </a:t>
            </a:r>
            <a:r>
              <a:rPr sz="4200" spc="-10" dirty="0">
                <a:latin typeface="Gill Sans Std" panose="020B0502020104020203" pitchFamily="34" charset="0"/>
              </a:rPr>
              <a:t>programming…</a:t>
            </a:r>
            <a:endParaRPr sz="4200" dirty="0">
              <a:latin typeface="Gill Sans Std" panose="020B0502020104020203" pitchFamily="34" charset="0"/>
            </a:endParaRPr>
          </a:p>
          <a:p>
            <a:pPr marL="457200" marR="1452880" indent="-444500">
              <a:lnSpc>
                <a:spcPts val="4900"/>
              </a:lnSpc>
              <a:spcBef>
                <a:spcPts val="2300"/>
              </a:spcBef>
              <a:buSzPct val="170000"/>
              <a:buChar char="•"/>
              <a:tabLst>
                <a:tab pos="457200" algn="l"/>
                <a:tab pos="2083435" algn="l"/>
                <a:tab pos="2459355" algn="l"/>
                <a:tab pos="3976370" algn="l"/>
              </a:tabLst>
            </a:pPr>
            <a:r>
              <a:rPr sz="4200" spc="-5" dirty="0">
                <a:latin typeface="Gill Sans Std" panose="020B0502020104020203" pitchFamily="34" charset="0"/>
              </a:rPr>
              <a:t>…with	</a:t>
            </a:r>
            <a:r>
              <a:rPr sz="4200" dirty="0">
                <a:latin typeface="Gill Sans Std" panose="020B0502020104020203" pitchFamily="34" charset="0"/>
              </a:rPr>
              <a:t>a	</a:t>
            </a:r>
            <a:r>
              <a:rPr lang="en-US" sz="4200" spc="-20" dirty="0">
                <a:latin typeface="Gill Sans Std" panose="020B0502020104020203" pitchFamily="34" charset="0"/>
              </a:rPr>
              <a:t>solid </a:t>
            </a:r>
            <a:r>
              <a:rPr sz="4200" spc="-15" dirty="0">
                <a:latin typeface="Gill Sans Std" panose="020B0502020104020203" pitchFamily="34" charset="0"/>
              </a:rPr>
              <a:t>software</a:t>
            </a:r>
            <a:r>
              <a:rPr sz="4200" spc="-30" dirty="0">
                <a:latin typeface="Gill Sans Std" panose="020B0502020104020203" pitchFamily="34" charset="0"/>
              </a:rPr>
              <a:t> </a:t>
            </a:r>
            <a:r>
              <a:rPr sz="4200" spc="-5" dirty="0">
                <a:latin typeface="Gill Sans Std" panose="020B0502020104020203" pitchFamily="34" charset="0"/>
              </a:rPr>
              <a:t>engineering </a:t>
            </a:r>
            <a:r>
              <a:rPr sz="4200" dirty="0">
                <a:latin typeface="Gill Sans Std" panose="020B0502020104020203" pitchFamily="34" charset="0"/>
              </a:rPr>
              <a:t> </a:t>
            </a:r>
            <a:r>
              <a:rPr sz="4200" spc="-5" dirty="0">
                <a:latin typeface="Gill Sans Std" panose="020B0502020104020203" pitchFamily="34" charset="0"/>
              </a:rPr>
              <a:t>foundation…</a:t>
            </a:r>
            <a:endParaRPr sz="4200" dirty="0">
              <a:latin typeface="Gill Sans Std" panose="020B0502020104020203" pitchFamily="34" charset="0"/>
            </a:endParaRPr>
          </a:p>
          <a:p>
            <a:pPr marL="457200" marR="5080" indent="-444500">
              <a:lnSpc>
                <a:spcPts val="4900"/>
              </a:lnSpc>
              <a:spcBef>
                <a:spcPts val="2300"/>
              </a:spcBef>
              <a:buSzPct val="170000"/>
              <a:buChar char="•"/>
              <a:tabLst>
                <a:tab pos="457200" algn="l"/>
                <a:tab pos="2421890" algn="l"/>
                <a:tab pos="3061335" algn="l"/>
                <a:tab pos="5266055" algn="l"/>
                <a:tab pos="6180455" algn="l"/>
                <a:tab pos="8750935" algn="l"/>
              </a:tabLst>
            </a:pPr>
            <a:r>
              <a:rPr sz="4200" dirty="0">
                <a:latin typeface="Gill Sans Std" panose="020B0502020104020203" pitchFamily="34" charset="0"/>
              </a:rPr>
              <a:t>…a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med</a:t>
            </a:r>
            <a:r>
              <a:rPr lang="en-US" sz="4200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at</a:t>
            </a:r>
            <a:r>
              <a:rPr sz="4200" spc="-5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p</a:t>
            </a:r>
            <a:r>
              <a:rPr sz="4200" spc="-105" dirty="0">
                <a:latin typeface="Gill Sans Std" panose="020B0502020104020203" pitchFamily="34" charset="0"/>
              </a:rPr>
              <a:t>r</a:t>
            </a:r>
            <a:r>
              <a:rPr sz="4200" dirty="0">
                <a:latin typeface="Gill Sans Std" panose="020B0502020104020203" pitchFamily="34" charset="0"/>
              </a:rPr>
              <a:t>oduc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ng</a:t>
            </a:r>
            <a:r>
              <a:rPr lang="en-US" sz="4200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and</a:t>
            </a:r>
            <a:r>
              <a:rPr lang="en-US" sz="4200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ma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nta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n</a:t>
            </a:r>
            <a:r>
              <a:rPr sz="4200" spc="-5" dirty="0">
                <a:latin typeface="Gill Sans Std" panose="020B0502020104020203" pitchFamily="34" charset="0"/>
              </a:rPr>
              <a:t>i</a:t>
            </a:r>
            <a:r>
              <a:rPr sz="4200" dirty="0">
                <a:latin typeface="Gill Sans Std" panose="020B0502020104020203" pitchFamily="34" charset="0"/>
              </a:rPr>
              <a:t>ng</a:t>
            </a:r>
            <a:r>
              <a:rPr lang="en-US" sz="4200" dirty="0">
                <a:latin typeface="Gill Sans Std" panose="020B0502020104020203" pitchFamily="34" charset="0"/>
              </a:rPr>
              <a:t> </a:t>
            </a:r>
            <a:r>
              <a:rPr sz="4200" spc="-5" dirty="0">
                <a:latin typeface="Gill Sans Std" panose="020B0502020104020203" pitchFamily="34" charset="0"/>
              </a:rPr>
              <a:t>l</a:t>
            </a:r>
            <a:r>
              <a:rPr sz="4200" dirty="0">
                <a:latin typeface="Gill Sans Std" panose="020B0502020104020203" pitchFamily="34" charset="0"/>
              </a:rPr>
              <a:t>arg</a:t>
            </a:r>
            <a:r>
              <a:rPr sz="4200" spc="80" dirty="0">
                <a:latin typeface="Gill Sans Std" panose="020B0502020104020203" pitchFamily="34" charset="0"/>
              </a:rPr>
              <a:t>e</a:t>
            </a:r>
            <a:r>
              <a:rPr sz="4200" dirty="0">
                <a:latin typeface="Gill Sans Std" panose="020B0502020104020203" pitchFamily="34" charset="0"/>
              </a:rPr>
              <a:t>,</a:t>
            </a:r>
            <a:r>
              <a:rPr lang="en-US" sz="4200" dirty="0">
                <a:latin typeface="Gill Sans Std" panose="020B0502020104020203" pitchFamily="34" charset="0"/>
              </a:rPr>
              <a:t> </a:t>
            </a:r>
            <a:r>
              <a:rPr sz="4200" spc="-5" dirty="0">
                <a:latin typeface="Gill Sans Std" panose="020B0502020104020203" pitchFamily="34" charset="0"/>
              </a:rPr>
              <a:t>high-quality</a:t>
            </a:r>
            <a:r>
              <a:rPr lang="en-US" sz="4200" spc="-5" dirty="0">
                <a:latin typeface="Gill Sans Std" panose="020B0502020104020203" pitchFamily="34" charset="0"/>
              </a:rPr>
              <a:t> </a:t>
            </a:r>
            <a:r>
              <a:rPr sz="4200" spc="-15" dirty="0">
                <a:latin typeface="Gill Sans Std" panose="020B0502020104020203" pitchFamily="34" charset="0"/>
              </a:rPr>
              <a:t>software</a:t>
            </a:r>
            <a:r>
              <a:rPr sz="4200" spc="-75" dirty="0">
                <a:latin typeface="Gill Sans Std" panose="020B0502020104020203" pitchFamily="34" charset="0"/>
              </a:rPr>
              <a:t> </a:t>
            </a:r>
            <a:r>
              <a:rPr sz="4200" dirty="0">
                <a:latin typeface="Gill Sans Std" panose="020B0502020104020203" pitchFamily="34" charset="0"/>
              </a:rPr>
              <a:t>systems.</a:t>
            </a:r>
            <a:endParaRPr sz="4200" dirty="0"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dirty="0"/>
              <a:t>Ranked 4</a:t>
            </a:r>
            <a:r>
              <a:rPr lang="en-US" baseline="30000" dirty="0"/>
              <a:t>th</a:t>
            </a:r>
            <a:r>
              <a:rPr lang="en-US" dirty="0"/>
              <a:t> on TIOBE Index</a:t>
            </a:r>
            <a:endParaRPr dirty="0">
              <a:latin typeface="Gill Sans Std" panose="020B05020201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/>
          <a:srcRect t="10316"/>
          <a:stretch>
            <a:fillRect/>
          </a:stretch>
        </p:blipFill>
        <p:spPr>
          <a:xfrm>
            <a:off x="-15474" y="2819400"/>
            <a:ext cx="13035748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311400"/>
            <a:ext cx="10629900" cy="7137400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dirty="0"/>
              <a:t>C++ Applications</a:t>
            </a:r>
            <a:endParaRPr dirty="0"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2068830"/>
            <a:ext cx="3987800" cy="27789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490" y="2287905"/>
            <a:ext cx="2293620" cy="2293620"/>
          </a:xfrm>
          <a:prstGeom prst="rect">
            <a:avLst/>
          </a:prstGeom>
        </p:spPr>
      </p:pic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dirty="0"/>
              <a:t>C++ Applications</a:t>
            </a:r>
            <a:endParaRPr dirty="0">
              <a:latin typeface="Gill Sans Std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290" y="4800600"/>
            <a:ext cx="8248220" cy="4635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600" y="1996539"/>
            <a:ext cx="3810000" cy="2694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dirty="0"/>
              <a:t>C++ Applications</a:t>
            </a:r>
            <a:endParaRPr dirty="0">
              <a:latin typeface="Gill Sans Std" panose="020B05020201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598" y="2819400"/>
            <a:ext cx="8795603" cy="570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667000"/>
            <a:ext cx="9906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8000" dirty="0"/>
              <a:t>C++ Applications</a:t>
            </a:r>
            <a:r>
              <a:rPr lang="zh-CN" altLang="en-US" sz="6000" dirty="0"/>
              <a:t>「</a:t>
            </a:r>
            <a:r>
              <a:rPr lang="en-US" sz="6000" dirty="0" err="1"/>
              <a:t>卡脖子问题</a:t>
            </a:r>
            <a:r>
              <a:rPr lang="zh-CN" altLang="en-US" sz="6000" dirty="0"/>
              <a:t>」</a:t>
            </a:r>
            <a:endParaRPr dirty="0"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irbus A380 | 3DEXPERIENCE Ed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093" y="2895600"/>
            <a:ext cx="9724613" cy="505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8000" dirty="0"/>
              <a:t>C++ Applications</a:t>
            </a:r>
            <a:r>
              <a:rPr lang="zh-CN" altLang="en-US" sz="6000" dirty="0"/>
              <a:t>「</a:t>
            </a:r>
            <a:r>
              <a:rPr lang="en-US" sz="6000" dirty="0" err="1"/>
              <a:t>卡脖子问题</a:t>
            </a:r>
            <a:r>
              <a:rPr lang="zh-CN" altLang="en-US" sz="6000" dirty="0"/>
              <a:t>」</a:t>
            </a:r>
            <a:endParaRPr dirty="0"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0" y="774700"/>
            <a:ext cx="130048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8000" dirty="0"/>
              <a:t>C++ Applications</a:t>
            </a:r>
            <a:r>
              <a:rPr lang="zh-CN" altLang="en-US" sz="6000" dirty="0"/>
              <a:t>「</a:t>
            </a:r>
            <a:r>
              <a:rPr lang="en-US" sz="6000" dirty="0" err="1"/>
              <a:t>卡脖子问题</a:t>
            </a:r>
            <a:r>
              <a:rPr lang="zh-CN" altLang="en-US" sz="6000" dirty="0"/>
              <a:t>」</a:t>
            </a:r>
            <a:endParaRPr dirty="0">
              <a:latin typeface="Gill Sans Std" panose="020B0502020104020203" pitchFamily="34" charset="0"/>
            </a:endParaRPr>
          </a:p>
        </p:txBody>
      </p:sp>
      <p:pic>
        <p:nvPicPr>
          <p:cNvPr id="3076" name="Picture 4" descr="How to Insert an Image into CATIA | Image Converter | Scan2C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2819400"/>
            <a:ext cx="9855200" cy="525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8400" y="5584190"/>
            <a:ext cx="2000250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template</a:t>
            </a:r>
            <a:endParaRPr sz="380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1400" y="3298190"/>
            <a:ext cx="3020060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encapsulation</a:t>
            </a:r>
            <a:endParaRPr sz="380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9800" y="4707890"/>
            <a:ext cx="2806065" cy="151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0">
              <a:lnSpc>
                <a:spcPct val="100000"/>
              </a:lnSpc>
            </a:pP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c</a:t>
            </a: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oupling</a:t>
            </a:r>
            <a:endParaRPr sz="3800">
              <a:latin typeface="Gill Sans Std" panose="020B0502020104020203" pitchFamily="34" charset="0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4200" spc="-5" dirty="0">
                <a:latin typeface="Gill Sans Std" panose="020B0502020104020203" pitchFamily="34" charset="0"/>
                <a:cs typeface="Trebuchet MS" panose="020B0603020202020204"/>
              </a:rPr>
              <a:t>interface</a:t>
            </a:r>
            <a:endParaRPr sz="420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9000" y="5368290"/>
            <a:ext cx="190563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c</a:t>
            </a: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ohesi</a:t>
            </a: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on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3000" y="8174990"/>
            <a:ext cx="559879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polymorphic method</a:t>
            </a:r>
            <a:r>
              <a:rPr sz="3800" spc="-55" dirty="0">
                <a:latin typeface="Gill Sans Std" panose="020B0502020104020203" pitchFamily="34" charset="0"/>
                <a:cs typeface="Trebuchet MS" panose="020B0603020202020204"/>
              </a:rPr>
              <a:t> </a:t>
            </a: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calls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2600" y="3298190"/>
            <a:ext cx="2489200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inheritance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8300" y="6879590"/>
            <a:ext cx="375856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mutator</a:t>
            </a:r>
            <a:r>
              <a:rPr sz="3800" spc="-60" dirty="0">
                <a:latin typeface="Gill Sans Std" panose="020B0502020104020203" pitchFamily="34" charset="0"/>
                <a:cs typeface="Trebuchet MS" panose="020B0603020202020204"/>
              </a:rPr>
              <a:t> </a:t>
            </a: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methods</a:t>
            </a:r>
            <a:endParaRPr sz="380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2900" y="6777990"/>
            <a:ext cx="379031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collection</a:t>
            </a:r>
            <a:r>
              <a:rPr sz="3800" spc="-70" dirty="0">
                <a:latin typeface="Gill Sans Std" panose="020B0502020104020203" pitchFamily="34" charset="0"/>
                <a:cs typeface="Trebuchet MS" panose="020B0603020202020204"/>
              </a:rPr>
              <a:t> </a:t>
            </a: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classes</a:t>
            </a:r>
            <a:endParaRPr sz="380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0400" y="4276090"/>
            <a:ext cx="221043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overriding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7400" y="4276090"/>
            <a:ext cx="1891030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ite</a:t>
            </a: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rator</a:t>
            </a:r>
            <a:r>
              <a:rPr sz="3800" dirty="0">
                <a:latin typeface="Gill Sans Std" panose="020B0502020104020203" pitchFamily="34" charset="0"/>
                <a:cs typeface="Trebuchet MS" panose="020B0603020202020204"/>
              </a:rPr>
              <a:t>s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8900" y="2434590"/>
            <a:ext cx="5963285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responsibility-driven</a:t>
            </a:r>
            <a:r>
              <a:rPr sz="3800" spc="10" dirty="0">
                <a:latin typeface="Gill Sans Std" panose="020B0502020104020203" pitchFamily="34" charset="0"/>
                <a:cs typeface="Trebuchet MS" panose="020B0603020202020204"/>
              </a:rPr>
              <a:t> </a:t>
            </a:r>
            <a:r>
              <a:rPr sz="3800" spc="-5" dirty="0">
                <a:latin typeface="Gill Sans Std" panose="020B0502020104020203" pitchFamily="34" charset="0"/>
                <a:cs typeface="Trebuchet MS" panose="020B0603020202020204"/>
              </a:rPr>
              <a:t>design</a:t>
            </a:r>
            <a:endParaRPr sz="3800" dirty="0">
              <a:latin typeface="Gill Sans Std" panose="020B0502020104020203" pitchFamily="34" charset="0"/>
              <a:cs typeface="Trebuchet MS" panose="020B0603020202020204"/>
            </a:endParaRPr>
          </a:p>
        </p:txBody>
      </p:sp>
      <p:sp>
        <p:nvSpPr>
          <p:cNvPr id="1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Buzz</a:t>
            </a:r>
            <a:r>
              <a:rPr lang="en-US" altLang="zh-CN" spc="-170" dirty="0"/>
              <a:t>w</a:t>
            </a:r>
            <a:r>
              <a:rPr lang="en-US" altLang="zh-CN" dirty="0"/>
              <a:t>o</a:t>
            </a:r>
            <a:r>
              <a:rPr lang="en-US" altLang="zh-CN" spc="-130" dirty="0"/>
              <a:t>r</a:t>
            </a:r>
            <a:r>
              <a:rPr lang="en-US" altLang="zh-CN" dirty="0"/>
              <a:t>ds</a:t>
            </a:r>
            <a:endParaRPr lang="en-US" kern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Textbooks</a:t>
            </a:r>
            <a:endParaRPr lang="en-US" kern="0" dirty="0"/>
          </a:p>
        </p:txBody>
      </p:sp>
      <p:sp>
        <p:nvSpPr>
          <p:cNvPr id="6" name="object 4"/>
          <p:cNvSpPr/>
          <p:nvPr/>
        </p:nvSpPr>
        <p:spPr>
          <a:xfrm>
            <a:off x="6705600" y="3616005"/>
            <a:ext cx="5549900" cy="4165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48" y="0"/>
            <a:ext cx="11209504" cy="97705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0535" y="1"/>
            <a:ext cx="11562131" cy="2855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21334" y="2855161"/>
            <a:ext cx="11562131" cy="3012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1335" y="5744311"/>
            <a:ext cx="11562131" cy="3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4529" y="2514600"/>
            <a:ext cx="5967871" cy="6368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030" marR="5080" indent="-354330">
              <a:lnSpc>
                <a:spcPts val="3900"/>
              </a:lnSpc>
              <a:buSzPct val="171000"/>
              <a:buChar char="•"/>
              <a:tabLst>
                <a:tab pos="367665" algn="l"/>
              </a:tabLst>
            </a:pPr>
            <a:r>
              <a:rPr sz="3400" spc="-5" dirty="0">
                <a:latin typeface="Gill Sans Std" panose="020B0502020104020203" pitchFamily="34" charset="0"/>
                <a:cs typeface="Gill Sans MT"/>
              </a:rPr>
              <a:t>Thinking </a:t>
            </a:r>
            <a:r>
              <a:rPr lang="en-US" sz="3400" spc="-5" dirty="0">
                <a:latin typeface="Gill Sans Std" panose="020B0502020104020203" pitchFamily="34" charset="0"/>
                <a:cs typeface="Gill Sans MT"/>
              </a:rPr>
              <a:t>i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n </a:t>
            </a:r>
            <a:r>
              <a:rPr sz="3400" spc="-75" dirty="0">
                <a:latin typeface="Gill Sans Std" panose="020B0502020104020203" pitchFamily="34" charset="0"/>
                <a:cs typeface="Gill Sans MT"/>
              </a:rPr>
              <a:t>C++,</a:t>
            </a:r>
            <a:r>
              <a:rPr lang="en-US" sz="3400" spc="-75" dirty="0">
                <a:latin typeface="Gill Sans Std" panose="020B0502020104020203" pitchFamily="34" charset="0"/>
                <a:cs typeface="Gill Sans MT"/>
              </a:rPr>
              <a:t>  </a:t>
            </a:r>
            <a:r>
              <a:rPr sz="3400" spc="-45" dirty="0">
                <a:latin typeface="Gill Sans Std" panose="020B0502020104020203" pitchFamily="34" charset="0"/>
                <a:cs typeface="Gill Sans MT"/>
              </a:rPr>
              <a:t>Vol</a:t>
            </a:r>
            <a:r>
              <a:rPr lang="en-US" sz="3400" spc="-45" dirty="0">
                <a:latin typeface="Gill Sans Std" panose="020B0502020104020203" pitchFamily="34" charset="0"/>
                <a:cs typeface="Gill Sans MT"/>
              </a:rPr>
              <a:t>.</a:t>
            </a:r>
            <a:r>
              <a:rPr lang="en-US" sz="3400" dirty="0">
                <a:latin typeface="Gill Sans Std" panose="020B0502020104020203" pitchFamily="34" charset="0"/>
                <a:cs typeface="Gill Sans MT"/>
              </a:rPr>
              <a:t>1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&amp;2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367030" indent="-354330">
              <a:lnSpc>
                <a:spcPct val="100000"/>
              </a:lnSpc>
              <a:spcBef>
                <a:spcPts val="2020"/>
              </a:spcBef>
              <a:buSzPct val="171000"/>
              <a:buChar char="•"/>
              <a:tabLst>
                <a:tab pos="367665" algn="l"/>
              </a:tabLst>
            </a:pPr>
            <a:r>
              <a:rPr sz="3400" dirty="0">
                <a:latin typeface="Gill Sans Std" panose="020B0502020104020203" pitchFamily="34" charset="0"/>
                <a:cs typeface="Gill Sans MT"/>
              </a:rPr>
              <a:t>C++ </a:t>
            </a:r>
            <a:r>
              <a:rPr sz="3400" spc="-65" dirty="0">
                <a:latin typeface="Gill Sans Std" panose="020B0502020104020203" pitchFamily="34" charset="0"/>
                <a:cs typeface="Gill Sans MT"/>
              </a:rPr>
              <a:t>Primer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367030" indent="-354330">
              <a:lnSpc>
                <a:spcPct val="100000"/>
              </a:lnSpc>
              <a:spcBef>
                <a:spcPts val="2120"/>
              </a:spcBef>
              <a:buSzPct val="171000"/>
              <a:buChar char="•"/>
              <a:tabLst>
                <a:tab pos="367665" algn="l"/>
              </a:tabLst>
            </a:pPr>
            <a:r>
              <a:rPr sz="3400" spc="-10" dirty="0">
                <a:latin typeface="Gill Sans Std" panose="020B0502020104020203" pitchFamily="34" charset="0"/>
                <a:cs typeface="Gill Sans MT"/>
              </a:rPr>
              <a:t>References: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600"/>
              </a:lnSpc>
              <a:spcBef>
                <a:spcPts val="270"/>
              </a:spcBef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170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The C++ </a:t>
            </a:r>
            <a:r>
              <a:rPr sz="2800" spc="-10" dirty="0">
                <a:latin typeface="Gill Sans Std" panose="020B0502020104020203" pitchFamily="34" charset="0"/>
                <a:cs typeface="Gill Sans MT"/>
              </a:rPr>
              <a:t>Programming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Language</a:t>
            </a:r>
            <a:endParaRPr sz="28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500"/>
              </a:lnSpc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245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2800" spc="20" dirty="0">
                <a:latin typeface="Gill Sans Std" panose="020B0502020104020203" pitchFamily="34" charset="0"/>
                <a:cs typeface="Gill Sans MT"/>
              </a:rPr>
              <a:t>A Tour of C++</a:t>
            </a:r>
            <a:endParaRPr sz="28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500"/>
              </a:lnSpc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177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2800" spc="-5" dirty="0">
                <a:latin typeface="Gill Sans Std" panose="020B0502020104020203" pitchFamily="34" charset="0"/>
                <a:cs typeface="Gill Sans MT"/>
              </a:rPr>
              <a:t>Essential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C++</a:t>
            </a:r>
            <a:endParaRPr sz="28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500"/>
              </a:lnSpc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230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2800" spc="-10" dirty="0">
                <a:latin typeface="Gill Sans Std" panose="020B0502020104020203" pitchFamily="34" charset="0"/>
                <a:cs typeface="Gill Sans MT"/>
              </a:rPr>
              <a:t>Effective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C++</a:t>
            </a:r>
            <a:endParaRPr sz="28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500"/>
              </a:lnSpc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162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2800" spc="-5" dirty="0">
                <a:latin typeface="Gill Sans Std" panose="020B0502020104020203" pitchFamily="34" charset="0"/>
                <a:cs typeface="Gill Sans MT"/>
              </a:rPr>
              <a:t>Inside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the C++ </a:t>
            </a:r>
            <a:r>
              <a:rPr sz="2800" spc="-5" dirty="0">
                <a:latin typeface="Gill Sans Std" panose="020B0502020104020203" pitchFamily="34" charset="0"/>
                <a:cs typeface="Gill Sans MT"/>
              </a:rPr>
              <a:t>Object </a:t>
            </a:r>
            <a:r>
              <a:rPr sz="2800" dirty="0">
                <a:latin typeface="Gill Sans Std" panose="020B0502020104020203" pitchFamily="34" charset="0"/>
                <a:cs typeface="Gill Sans MT"/>
              </a:rPr>
              <a:t>Model</a:t>
            </a:r>
            <a:endParaRPr sz="2800" dirty="0">
              <a:latin typeface="Gill Sans Std" panose="020B0502020104020203" pitchFamily="34" charset="0"/>
              <a:cs typeface="Gill Sans MT"/>
            </a:endParaRPr>
          </a:p>
          <a:p>
            <a:pPr marL="354965">
              <a:lnSpc>
                <a:spcPts val="5600"/>
              </a:lnSpc>
            </a:pPr>
            <a:r>
              <a:rPr sz="7125" spc="15" baseline="-8000" dirty="0">
                <a:latin typeface="Gill Sans Std" panose="020B0502020104020203" pitchFamily="34" charset="0"/>
                <a:cs typeface="Gill Sans MT"/>
              </a:rPr>
              <a:t>•</a:t>
            </a:r>
            <a:r>
              <a:rPr sz="7125" spc="-1147" baseline="-80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2800" dirty="0">
                <a:latin typeface="Gill Sans Std" panose="020B0502020104020203" pitchFamily="34" charset="0"/>
                <a:cs typeface="Gill Sans MT"/>
              </a:rPr>
              <a:t>……</a:t>
            </a:r>
            <a:endParaRPr lang="en-US" sz="2800" spc="-5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5600" y="3616005"/>
            <a:ext cx="5549900" cy="4165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Textbooks</a:t>
            </a:r>
            <a:endParaRPr lang="en-US" kern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61100" cy="81534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59600" y="2108200"/>
            <a:ext cx="6045200" cy="764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59600" y="533400"/>
            <a:ext cx="571182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C++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编程思想 机械工业出版社</a:t>
            </a:r>
            <a:endParaRPr sz="3200" b="1" dirty="0"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5263" y="2372360"/>
            <a:ext cx="12614275" cy="4801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7660" marR="5080" indent="-314960">
              <a:lnSpc>
                <a:spcPts val="4400"/>
              </a:lnSpc>
              <a:buChar char="•"/>
              <a:tabLst>
                <a:tab pos="327025" algn="l"/>
                <a:tab pos="1168400" algn="l"/>
                <a:tab pos="1337945" algn="l"/>
                <a:tab pos="1933575" algn="l"/>
                <a:tab pos="2357120" algn="l"/>
                <a:tab pos="2851150" algn="l"/>
                <a:tab pos="3143250" algn="l"/>
                <a:tab pos="3860800" algn="l"/>
                <a:tab pos="3960495" algn="l"/>
                <a:tab pos="4638675" algn="l"/>
                <a:tab pos="5175250" algn="l"/>
                <a:tab pos="6708775" algn="l"/>
                <a:tab pos="7048500" algn="l"/>
                <a:tab pos="7699375" algn="l"/>
                <a:tab pos="7889875" algn="l"/>
                <a:tab pos="8364220" algn="l"/>
                <a:tab pos="8556625" algn="l"/>
                <a:tab pos="8980170" algn="l"/>
                <a:tab pos="10370820" algn="l"/>
                <a:tab pos="10525125" algn="l"/>
                <a:tab pos="11198225" algn="l"/>
                <a:tab pos="11564620" algn="l"/>
              </a:tabLst>
            </a:pPr>
            <a:r>
              <a:rPr sz="3800" spc="-25" dirty="0">
                <a:latin typeface="Gill Sans Std Light" panose="020B0302020104020203" pitchFamily="34" charset="0"/>
                <a:cs typeface="Gill Sans MT"/>
              </a:rPr>
              <a:t>BRUCE</a:t>
            </a:r>
            <a:r>
              <a:rPr lang="en-US" sz="3800" spc="-2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ECKEL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 is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the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author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of</a:t>
            </a:r>
            <a:r>
              <a:rPr sz="3800" spc="-38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“Thinking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in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C++”,</a:t>
            </a:r>
            <a:r>
              <a:rPr sz="3800" spc="-44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which</a:t>
            </a:r>
            <a:r>
              <a:rPr sz="3800" spc="-2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30" dirty="0">
                <a:latin typeface="Gill Sans Std Light" panose="020B0302020104020203" pitchFamily="34" charset="0"/>
                <a:cs typeface="Gill Sans MT"/>
              </a:rPr>
              <a:t>won</a:t>
            </a:r>
            <a:r>
              <a:rPr lang="en-US" sz="3800" spc="-3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the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Software</a:t>
            </a:r>
            <a:r>
              <a:rPr lang="en-US" sz="3800" spc="-1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Development</a:t>
            </a:r>
            <a:r>
              <a:rPr sz="3800" spc="5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25" dirty="0">
                <a:latin typeface="Gill Sans Std Light" panose="020B0302020104020203" pitchFamily="34" charset="0"/>
                <a:cs typeface="Gill Sans MT"/>
              </a:rPr>
              <a:t>Jol</a:t>
            </a:r>
            <a:r>
              <a:rPr lang="en-US" sz="3800" spc="-25" dirty="0">
                <a:latin typeface="Gill Sans Std Light" panose="020B0302020104020203" pitchFamily="34" charset="0"/>
                <a:cs typeface="Gill Sans MT"/>
              </a:rPr>
              <a:t>t </a:t>
            </a:r>
            <a:r>
              <a:rPr sz="3800" spc="-35" dirty="0">
                <a:latin typeface="Gill Sans Std Light" panose="020B0302020104020203" pitchFamily="34" charset="0"/>
                <a:cs typeface="Gill Sans MT"/>
              </a:rPr>
              <a:t>Award</a:t>
            </a:r>
            <a:r>
              <a:rPr lang="en-US" sz="3800" spc="-3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for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best book</a:t>
            </a:r>
            <a:r>
              <a:rPr sz="3800" spc="-7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of</a:t>
            </a:r>
            <a:r>
              <a:rPr sz="3800" spc="-3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1995.  He's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been</a:t>
            </a:r>
            <a:r>
              <a:rPr sz="3800" spc="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professionall</a:t>
            </a:r>
            <a:r>
              <a:rPr lang="en-US" sz="3800" spc="-15" dirty="0">
                <a:latin typeface="Gill Sans Std Light" panose="020B0302020104020203" pitchFamily="34" charset="0"/>
                <a:cs typeface="Gill Sans MT"/>
              </a:rPr>
              <a:t>y </a:t>
            </a:r>
            <a:r>
              <a:rPr sz="3800" spc="-10" dirty="0">
                <a:latin typeface="Gill Sans Std Light" panose="020B0302020104020203" pitchFamily="34" charset="0"/>
                <a:cs typeface="Gill Sans MT"/>
              </a:rPr>
              <a:t>programming	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for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 20 </a:t>
            </a:r>
            <a:r>
              <a:rPr sz="3800" spc="-20" dirty="0">
                <a:latin typeface="Gill Sans Std Light" panose="020B0302020104020203" pitchFamily="34" charset="0"/>
                <a:cs typeface="Gill Sans MT"/>
              </a:rPr>
              <a:t>years</a:t>
            </a:r>
            <a:r>
              <a:rPr lang="en-US" sz="3800" spc="-2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and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has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been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teaching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people</a:t>
            </a:r>
            <a:r>
              <a:rPr sz="3800" spc="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0" dirty="0">
                <a:latin typeface="Gill Sans Std Light" panose="020B0302020104020203" pitchFamily="34" charset="0"/>
                <a:cs typeface="Gill Sans MT"/>
              </a:rPr>
              <a:t>throughout</a:t>
            </a:r>
            <a:r>
              <a:rPr sz="3800" spc="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the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20" dirty="0">
                <a:latin typeface="Gill Sans Std Light" panose="020B0302020104020203" pitchFamily="34" charset="0"/>
                <a:cs typeface="Gill Sans MT"/>
              </a:rPr>
              <a:t>world	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how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to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program</a:t>
            </a:r>
            <a:r>
              <a:rPr lang="en-US" sz="3800" spc="-1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with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objects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since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1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986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.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He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 was</a:t>
            </a:r>
            <a:r>
              <a:rPr lang="en-US"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a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 Light" panose="020B0302020104020203" pitchFamily="34" charset="0"/>
                <a:cs typeface="Gill Sans MT"/>
              </a:rPr>
              <a:t>voting</a:t>
            </a:r>
            <a:r>
              <a:rPr lang="en-US" sz="3800" spc="-1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member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of</a:t>
            </a:r>
            <a:r>
              <a:rPr sz="3800" spc="-5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the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dirty="0">
                <a:latin typeface="Gill Sans Std Light" panose="020B0302020104020203" pitchFamily="34" charset="0"/>
                <a:cs typeface="Gill Sans MT"/>
              </a:rPr>
              <a:t>C++</a:t>
            </a:r>
            <a:r>
              <a:rPr lang="en-US" sz="3800" dirty="0">
                <a:latin typeface="Gill Sans Std Light" panose="020B0302020104020203" pitchFamily="34" charset="0"/>
                <a:cs typeface="Gill Sans MT"/>
              </a:rPr>
              <a:t> </a:t>
            </a:r>
            <a:r>
              <a:rPr sz="3800" spc="-10" dirty="0">
                <a:latin typeface="Gill Sans Std Light" panose="020B0302020104020203" pitchFamily="34" charset="0"/>
                <a:cs typeface="Gill Sans MT"/>
              </a:rPr>
              <a:t>Standards	</a:t>
            </a:r>
            <a:r>
              <a:rPr sz="3800" spc="5" dirty="0">
                <a:latin typeface="Gill Sans Std Light" panose="020B0302020104020203" pitchFamily="34" charset="0"/>
                <a:cs typeface="Gill Sans MT"/>
              </a:rPr>
              <a:t>Committee.</a:t>
            </a:r>
            <a:endParaRPr sz="3800" dirty="0">
              <a:latin typeface="Gill Sans Std Light" panose="020B0302020104020203" pitchFamily="34" charset="0"/>
              <a:cs typeface="Gill Sans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Gill Sans MT"/>
              <a:buChar char="•"/>
            </a:pPr>
            <a:endParaRPr sz="5400" dirty="0">
              <a:latin typeface="Gill Sans Std Light" panose="020B0302020104020203" pitchFamily="34" charset="0"/>
              <a:cs typeface="Times New Roman" panose="02020603050405020304"/>
            </a:endParaRPr>
          </a:p>
          <a:p>
            <a:pPr marL="327660" indent="-314960">
              <a:lnSpc>
                <a:spcPct val="100000"/>
              </a:lnSpc>
              <a:buChar char="•"/>
              <a:tabLst>
                <a:tab pos="327660" algn="l"/>
              </a:tabLst>
            </a:pPr>
            <a:r>
              <a:rPr sz="3800" u="heavy" spc="-20" dirty="0">
                <a:latin typeface="Gill Sans Std Light" panose="020B0302020104020203" pitchFamily="34" charset="0"/>
                <a:cs typeface="Gill Sans MT"/>
                <a:hlinkClick r:id="rId1"/>
              </a:rPr>
              <a:t>http://mindview.net</a:t>
            </a:r>
            <a:endParaRPr sz="3800" dirty="0">
              <a:latin typeface="Gill Sans Std Light" panose="020B0302020104020203" pitchFamily="34" charset="0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1000" y="6108700"/>
            <a:ext cx="3327400" cy="332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Gill Sans Std" panose="020B05020201040202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6900" y="8915400"/>
            <a:ext cx="1530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Gill Sans Std" panose="020B0502020104020203" pitchFamily="34" charset="0"/>
                <a:cs typeface="Arial" panose="020B0604020202020204"/>
              </a:rPr>
              <a:t>6</a:t>
            </a:r>
            <a:endParaRPr sz="1800">
              <a:latin typeface="Gill Sans Std" panose="020B0502020104020203" pitchFamily="34" charset="0"/>
              <a:cs typeface="Arial" panose="020B06040202020202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Bruce</a:t>
            </a:r>
            <a:r>
              <a:rPr lang="en-US" altLang="zh-CN" spc="-85" dirty="0"/>
              <a:t> </a:t>
            </a:r>
            <a:r>
              <a:rPr lang="en-US" altLang="zh-CN" spc="-55" dirty="0"/>
              <a:t>Eckel</a:t>
            </a:r>
            <a:endParaRPr lang="en-US" kern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Online Resources for C++</a:t>
            </a:r>
            <a:endParaRPr lang="en-US" kern="0" dirty="0"/>
          </a:p>
        </p:txBody>
      </p:sp>
      <p:sp>
        <p:nvSpPr>
          <p:cNvPr id="5" name="object 2"/>
          <p:cNvSpPr txBox="1"/>
          <p:nvPr/>
        </p:nvSpPr>
        <p:spPr>
          <a:xfrm>
            <a:off x="1016000" y="2743200"/>
            <a:ext cx="10972800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r>
              <a:rPr lang="en-US" sz="4400" dirty="0">
                <a:latin typeface="Gill Sans" panose="020B0502020104020203" pitchFamily="34" charset="-79"/>
                <a:cs typeface="Gill Sans" panose="020B0502020104020203" pitchFamily="34" charset="-79"/>
                <a:hlinkClick r:id="rId1"/>
              </a:rPr>
              <a:t>https://cppreference.com</a:t>
            </a:r>
            <a:endParaRPr lang="en-US" sz="44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12700">
              <a:lnSpc>
                <a:spcPct val="100000"/>
              </a:lnSpc>
              <a:tabLst>
                <a:tab pos="619125" algn="l"/>
              </a:tabLst>
            </a:pPr>
            <a:endParaRPr lang="en-US" sz="44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r>
              <a:rPr lang="en-US" sz="4400" dirty="0">
                <a:latin typeface="Gill Sans" panose="020B0502020104020203" pitchFamily="34" charset="-79"/>
                <a:cs typeface="Gill Sans" panose="020B0502020104020203" pitchFamily="34" charset="-79"/>
                <a:hlinkClick r:id="rId2"/>
              </a:rPr>
              <a:t>https://isocpp.org/</a:t>
            </a:r>
            <a:endParaRPr lang="en-US" sz="44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endParaRPr lang="en-US" sz="44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r>
              <a:rPr lang="en-US" sz="4400" dirty="0">
                <a:latin typeface="Gill Sans" panose="020B0502020104020203" pitchFamily="34" charset="-79"/>
                <a:cs typeface="Gill Sans" panose="020B0502020104020203" pitchFamily="34" charset="-79"/>
                <a:hlinkClick r:id="rId3"/>
              </a:rPr>
              <a:t>https://www.youtube.com/user/CppCon</a:t>
            </a:r>
            <a:endParaRPr sz="440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743200"/>
            <a:ext cx="10972800" cy="5237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19125" algn="l"/>
              </a:tabLst>
            </a:pPr>
            <a:r>
              <a:rPr sz="4200" spc="-15" dirty="0">
                <a:latin typeface="Gill Sans Std" panose="020B0502020104020203" pitchFamily="34" charset="0"/>
                <a:cs typeface="Gill Sans MT"/>
              </a:rPr>
              <a:t>Lab</a:t>
            </a:r>
            <a:r>
              <a:rPr lang="en-US" sz="4200" spc="-15" dirty="0">
                <a:latin typeface="Gill Sans Std" panose="020B0502020104020203" pitchFamily="34" charset="0"/>
                <a:cs typeface="Gill Sans MT"/>
              </a:rPr>
              <a:t> (</a:t>
            </a:r>
            <a:r>
              <a:rPr sz="4000" spc="-5" dirty="0">
                <a:solidFill>
                  <a:srgbClr val="FF0000"/>
                </a:solidFill>
                <a:latin typeface="Avenir Medium" panose="02000503020000020003" pitchFamily="2" charset="0"/>
                <a:cs typeface="Gill Sans MT"/>
              </a:rPr>
              <a:t>50%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, including the</a:t>
            </a:r>
            <a:r>
              <a:rPr lang="zh-CN" altLang="en-US" sz="42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altLang="zh-CN" sz="4200" spc="-5" dirty="0">
                <a:latin typeface="Gill Sans Std" panose="020B0502020104020203" pitchFamily="34" charset="0"/>
                <a:cs typeface="Gill Sans MT"/>
              </a:rPr>
              <a:t>in-class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 quiz)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  <a:p>
            <a:pPr marL="1327150" indent="-857250">
              <a:lnSpc>
                <a:spcPct val="100000"/>
              </a:lnSpc>
              <a:spcBef>
                <a:spcPts val="2125"/>
              </a:spcBef>
              <a:buSzPct val="140000"/>
              <a:buFont typeface="Arial" panose="020B0604020202020204" pitchFamily="34" charset="0"/>
              <a:buChar char="•"/>
              <a:tabLst>
                <a:tab pos="1000125" algn="l"/>
              </a:tabLst>
            </a:pPr>
            <a:r>
              <a:rPr lang="en-US" sz="4200" dirty="0">
                <a:latin typeface="Gill Sans Std" panose="020B0502020104020203" pitchFamily="34" charset="0"/>
                <a:cs typeface="Gill Sans MT"/>
              </a:rPr>
              <a:t>Announced i</a:t>
            </a:r>
            <a:r>
              <a:rPr sz="4200" dirty="0">
                <a:latin typeface="Gill Sans Std" panose="020B0502020104020203" pitchFamily="34" charset="0"/>
                <a:cs typeface="Gill Sans MT"/>
              </a:rPr>
              <a:t>n</a:t>
            </a:r>
            <a:r>
              <a:rPr sz="4200" spc="-2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spc="-25" dirty="0">
                <a:latin typeface="Gill Sans Std" panose="020B0502020104020203" pitchFamily="34" charset="0"/>
                <a:cs typeface="Gill Sans MT"/>
              </a:rPr>
              <a:t>week</a:t>
            </a:r>
            <a:r>
              <a:rPr sz="4200" spc="-2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1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3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5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7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9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sz="4200" dirty="0">
                <a:latin typeface="Arcon" panose="00000500000000000000" pitchFamily="50" charset="0"/>
                <a:cs typeface="Gill Sans MT"/>
              </a:rPr>
              <a:t>1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1</a:t>
            </a:r>
            <a:r>
              <a:rPr sz="4200" dirty="0">
                <a:latin typeface="Arcon" panose="00000500000000000000" pitchFamily="50" charset="0"/>
                <a:cs typeface="Gill Sans MT"/>
              </a:rPr>
              <a:t>,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 </a:t>
            </a:r>
            <a:r>
              <a:rPr lang="en-US" sz="4200" dirty="0">
                <a:latin typeface="Gill Sans Std" panose="020B0502020104020203" pitchFamily="34" charset="0"/>
                <a:cs typeface="Gill Sans MT"/>
              </a:rPr>
              <a:t>and</a:t>
            </a:r>
            <a:r>
              <a:rPr sz="4200" spc="-434" dirty="0">
                <a:latin typeface="Arcon" panose="00000500000000000000" pitchFamily="50" charset="0"/>
                <a:cs typeface="Gill Sans MT"/>
              </a:rPr>
              <a:t> </a:t>
            </a:r>
            <a:r>
              <a:rPr sz="4200" dirty="0">
                <a:latin typeface="Arcon" panose="00000500000000000000" pitchFamily="50" charset="0"/>
                <a:cs typeface="Gill Sans MT"/>
              </a:rPr>
              <a:t>1</a:t>
            </a:r>
            <a:r>
              <a:rPr lang="en-US" sz="4200" dirty="0">
                <a:latin typeface="Arcon" panose="00000500000000000000" pitchFamily="50" charset="0"/>
                <a:cs typeface="Gill Sans MT"/>
              </a:rPr>
              <a:t>3</a:t>
            </a:r>
            <a:endParaRPr lang="en-US" sz="4200" dirty="0">
              <a:latin typeface="Gill Sans Std" panose="020B0502020104020203" pitchFamily="34" charset="0"/>
              <a:cs typeface="Gill Sans MT"/>
            </a:endParaRPr>
          </a:p>
          <a:p>
            <a:pPr marL="1327150" indent="-857250">
              <a:lnSpc>
                <a:spcPct val="100000"/>
              </a:lnSpc>
              <a:spcBef>
                <a:spcPts val="2125"/>
              </a:spcBef>
              <a:buSzPct val="140000"/>
              <a:buFont typeface="Arial" panose="020B0604020202020204" pitchFamily="34" charset="0"/>
              <a:buChar char="•"/>
              <a:tabLst>
                <a:tab pos="1000125" algn="l"/>
              </a:tabLst>
            </a:pPr>
            <a:r>
              <a:rPr lang="en-US" sz="4200" spc="-315" dirty="0">
                <a:latin typeface="Gill Sans Std" panose="020B0502020104020203" pitchFamily="34" charset="0"/>
                <a:cs typeface="Gill Sans MT"/>
              </a:rPr>
              <a:t>S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ubmit</a:t>
            </a:r>
            <a:r>
              <a:rPr sz="4200" spc="1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spc="5" dirty="0">
                <a:latin typeface="Gill Sans Std" panose="020B0502020104020203" pitchFamily="34" charset="0"/>
                <a:cs typeface="Gill Sans MT"/>
              </a:rPr>
              <a:t>on-line</a:t>
            </a:r>
            <a:r>
              <a:rPr lang="en-US" sz="4200" spc="5" dirty="0">
                <a:latin typeface="Gill Sans Std" panose="020B0502020104020203" pitchFamily="34" charset="0"/>
                <a:cs typeface="Gill Sans MT"/>
              </a:rPr>
              <a:t> (</a:t>
            </a:r>
            <a:r>
              <a:rPr lang="en-US" sz="4200" dirty="0">
                <a:latin typeface="Gill Sans Std" panose="020B0502020104020203" pitchFamily="34" charset="0"/>
                <a:cs typeface="Gill Sans MT"/>
              </a:rPr>
              <a:t>manually 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judged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 by TA)</a:t>
            </a:r>
            <a:endParaRPr lang="en-US" sz="4200" dirty="0">
              <a:latin typeface="Gill Sans Std" panose="020B0502020104020203" pitchFamily="34" charset="0"/>
              <a:cs typeface="Gill Sans MT"/>
            </a:endParaRPr>
          </a:p>
          <a:p>
            <a:pPr marL="1327150" indent="-857250">
              <a:lnSpc>
                <a:spcPct val="100000"/>
              </a:lnSpc>
              <a:spcBef>
                <a:spcPts val="2125"/>
              </a:spcBef>
              <a:buSzPct val="140000"/>
              <a:buFont typeface="Arial" panose="020B0604020202020204" pitchFamily="34" charset="0"/>
              <a:buChar char="•"/>
              <a:tabLst>
                <a:tab pos="1000125" algn="l"/>
              </a:tabLst>
            </a:pP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The d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eadline</a:t>
            </a:r>
            <a:r>
              <a:rPr sz="4200" spc="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is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 truly</a:t>
            </a:r>
            <a:r>
              <a:rPr sz="4200" spc="1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dirty="0">
                <a:solidFill>
                  <a:srgbClr val="FF2600"/>
                </a:solidFill>
                <a:latin typeface="Gill Sans Std" panose="020B0502020104020203" pitchFamily="34" charset="0"/>
                <a:cs typeface="Gill Sans MT"/>
              </a:rPr>
              <a:t>DEA</a:t>
            </a:r>
            <a:r>
              <a:rPr lang="en-US" sz="4200" dirty="0">
                <a:solidFill>
                  <a:srgbClr val="FF2600"/>
                </a:solidFill>
                <a:latin typeface="Gill Sans Std" panose="020B0502020104020203" pitchFamily="34" charset="0"/>
                <a:cs typeface="Gill Sans MT"/>
              </a:rPr>
              <a:t>D</a:t>
            </a:r>
            <a:endParaRPr lang="en-US" sz="4200" spc="-5" dirty="0">
              <a:solidFill>
                <a:srgbClr val="FF2600"/>
              </a:solidFill>
              <a:latin typeface="Gill Sans Std" panose="020B0502020104020203" pitchFamily="34" charset="0"/>
              <a:cs typeface="Gill Sans MT"/>
            </a:endParaRPr>
          </a:p>
          <a:p>
            <a:pPr marL="1327150" indent="-857250">
              <a:lnSpc>
                <a:spcPct val="100000"/>
              </a:lnSpc>
              <a:spcBef>
                <a:spcPts val="2125"/>
              </a:spcBef>
              <a:buSzPct val="140000"/>
              <a:buFont typeface="Arial" panose="020B0604020202020204" pitchFamily="34" charset="0"/>
              <a:buChar char="•"/>
              <a:tabLst>
                <a:tab pos="1000125" algn="l"/>
              </a:tabLst>
            </a:pP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Per day delay cost: </a:t>
            </a:r>
            <a:r>
              <a:rPr lang="en-US" sz="4000" spc="-5" dirty="0">
                <a:solidFill>
                  <a:srgbClr val="FF0000"/>
                </a:solidFill>
                <a:latin typeface="Avenir Medium" panose="02000503020000020003" pitchFamily="2" charset="0"/>
                <a:cs typeface="Gill Sans MT"/>
              </a:rPr>
              <a:t>10%</a:t>
            </a:r>
            <a:r>
              <a:rPr lang="en-US" sz="4200" spc="-5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 of the full score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619125" algn="l"/>
              </a:tabLst>
            </a:pPr>
            <a:r>
              <a:rPr sz="4200" spc="-5" dirty="0">
                <a:latin typeface="Gill Sans Std" panose="020B0502020104020203" pitchFamily="34" charset="0"/>
                <a:cs typeface="Gill Sans MT"/>
              </a:rPr>
              <a:t>Final </a:t>
            </a:r>
            <a:r>
              <a:rPr sz="4200" dirty="0">
                <a:latin typeface="Gill Sans Std" panose="020B0502020104020203" pitchFamily="34" charset="0"/>
                <a:cs typeface="Gill Sans MT"/>
              </a:rPr>
              <a:t>exam</a:t>
            </a:r>
            <a:r>
              <a:rPr lang="en-US" sz="4200" dirty="0">
                <a:latin typeface="Gill Sans Std" panose="020B0502020104020203" pitchFamily="34" charset="0"/>
                <a:cs typeface="Gill Sans MT"/>
              </a:rPr>
              <a:t> (</a:t>
            </a:r>
            <a:r>
              <a:rPr sz="4000" spc="30" dirty="0">
                <a:solidFill>
                  <a:srgbClr val="FF0000"/>
                </a:solidFill>
                <a:latin typeface="Avenir Medium" panose="02000503020000020003" pitchFamily="2" charset="0"/>
                <a:cs typeface="Gill Sans MT"/>
              </a:rPr>
              <a:t>50%</a:t>
            </a:r>
            <a:r>
              <a:rPr lang="en-US" sz="4200" spc="30" dirty="0">
                <a:latin typeface="Gill Sans Std" panose="020B0502020104020203" pitchFamily="34" charset="0"/>
                <a:cs typeface="Gill Sans MT"/>
              </a:rPr>
              <a:t>, on PTA)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Assessment</a:t>
            </a:r>
            <a:endParaRPr lang="en-US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Resources</a:t>
            </a:r>
            <a:endParaRPr lang="en-US" kern="0" dirty="0"/>
          </a:p>
        </p:txBody>
      </p:sp>
      <p:sp>
        <p:nvSpPr>
          <p:cNvPr id="7" name="object 2"/>
          <p:cNvSpPr txBox="1"/>
          <p:nvPr/>
        </p:nvSpPr>
        <p:spPr>
          <a:xfrm>
            <a:off x="1016000" y="2743200"/>
            <a:ext cx="10972800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r>
              <a:rPr lang="en-US" sz="4200" dirty="0">
                <a:latin typeface="Gill Sans Std" panose="020B0502020104020203" pitchFamily="34" charset="0"/>
                <a:cs typeface="Times New Roman" panose="02020603050405020304"/>
              </a:rPr>
              <a:t>Courseware (</a:t>
            </a:r>
            <a:r>
              <a:rPr lang="zh-CN" altLang="en-US" sz="4200" dirty="0">
                <a:latin typeface="Heiti TC Medium" pitchFamily="2" charset="-128"/>
                <a:ea typeface="Heiti TC Medium" pitchFamily="2" charset="-128"/>
                <a:cs typeface="Microsoft Sans Serif" panose="020B0604020202020204" pitchFamily="34" charset="0"/>
              </a:rPr>
              <a:t>学在浙大</a:t>
            </a:r>
            <a:r>
              <a:rPr lang="en-US" sz="4200" dirty="0">
                <a:latin typeface="Gill Sans Std" panose="020B0502020104020203" pitchFamily="34" charset="0"/>
                <a:cs typeface="Times New Roman" panose="02020603050405020304"/>
              </a:rPr>
              <a:t>)</a:t>
            </a:r>
            <a:endParaRPr lang="en-US" sz="4200" dirty="0">
              <a:latin typeface="Gill Sans Std" panose="020B0502020104020203" pitchFamily="34" charset="0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619125" algn="l"/>
              </a:tabLst>
            </a:pPr>
            <a:endParaRPr lang="en-US" sz="4200" dirty="0">
              <a:latin typeface="Gill Sans Std" panose="020B0502020104020203" pitchFamily="34" charset="0"/>
              <a:cs typeface="Times New Roman" panose="02020603050405020304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19125" algn="l"/>
              </a:tabLst>
            </a:pPr>
            <a:r>
              <a:rPr lang="en-US" sz="4200" dirty="0">
                <a:latin typeface="Gill Sans Std" panose="020B0502020104020203" pitchFamily="34" charset="0"/>
                <a:cs typeface="Times New Roman" panose="02020603050405020304"/>
              </a:rPr>
              <a:t>Assignments (PTA)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280161" y="781192"/>
          <a:ext cx="1700106" cy="103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剪辑" r:id="rId1" imgW="1803400" imgH="1026795" progId="MS_ClipArt_Gallery.2">
                  <p:embed/>
                </p:oleObj>
              </mc:Choice>
              <mc:Fallback>
                <p:oleObj name="剪辑" r:id="rId1" imgW="1803400" imgH="1026795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161" y="781192"/>
                        <a:ext cx="1700106" cy="1036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2996072" y="997938"/>
            <a:ext cx="837861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550" b="1" dirty="0">
                <a:latin typeface="微软雅黑" panose="020B0503020204020204" charset="-122"/>
                <a:ea typeface="微软雅黑" panose="020B0503020204020204" charset="-122"/>
              </a:rPr>
              <a:t>作业</a:t>
            </a:r>
            <a:r>
              <a:rPr lang="zh-CN" altLang="en-US" sz="4550" b="1" dirty="0">
                <a:latin typeface="Gill Sans Std" panose="020B0502020104020203" pitchFamily="34" charset="0"/>
                <a:ea typeface="楷体_GB2312" pitchFamily="49" charset="-122"/>
              </a:rPr>
              <a:t> </a:t>
            </a:r>
            <a:r>
              <a:rPr lang="en-US" altLang="zh-CN" sz="4400" dirty="0">
                <a:latin typeface="Gill Sans Std" panose="020B0502020104020203" pitchFamily="34" charset="0"/>
                <a:ea typeface="楷体_GB2312" pitchFamily="49" charset="-122"/>
              </a:rPr>
              <a:t>(Homework Assignments)</a:t>
            </a:r>
            <a:endParaRPr lang="en-US" altLang="zh-CN" sz="5400" dirty="0">
              <a:latin typeface="Gill Sans Std" panose="020B0502020104020203" pitchFamily="34" charset="0"/>
              <a:ea typeface="楷体_GB2312" pitchFamily="49" charset="-122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280161" y="2526454"/>
            <a:ext cx="10295467" cy="190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85775" indent="-485775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!"/>
            </a:pPr>
            <a:r>
              <a:rPr lang="en-US" altLang="zh-CN" sz="3415" dirty="0">
                <a:latin typeface="Gill Sans Std" panose="020B0502020104020203" pitchFamily="34" charset="0"/>
                <a:sym typeface="Wingdings" panose="05000000000000000000" pitchFamily="2" charset="2"/>
              </a:rPr>
              <a:t>Register and login at </a:t>
            </a:r>
            <a:r>
              <a:rPr lang="en-US" altLang="zh-CN" sz="3415" dirty="0">
                <a:solidFill>
                  <a:srgbClr val="00B0F0"/>
                </a:solidFill>
                <a:latin typeface="Gill Sans Std" panose="020B0502020104020203" pitchFamily="34" charset="0"/>
                <a:sym typeface="Wingdings" panose="05000000000000000000" pitchFamily="2" charset="2"/>
                <a:hlinkClick r:id="rId3"/>
              </a:rPr>
              <a:t>https://pintia.cn/</a:t>
            </a:r>
            <a:endParaRPr lang="en-US" altLang="zh-CN" sz="3415" dirty="0">
              <a:solidFill>
                <a:srgbClr val="00B0F0"/>
              </a:solidFill>
              <a:latin typeface="Gill Sans Std" panose="020B0502020104020203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!"/>
            </a:pPr>
            <a:r>
              <a:rPr lang="en-US" altLang="zh-CN" sz="3415" dirty="0">
                <a:latin typeface="Gill Sans Std" panose="020B0502020104020203" pitchFamily="34" charset="0"/>
                <a:sym typeface="Wingdings" panose="05000000000000000000" pitchFamily="2" charset="2"/>
              </a:rPr>
              <a:t>Bind your student ID with bind key</a:t>
            </a:r>
            <a:endParaRPr lang="en-US" altLang="zh-CN" sz="3415" dirty="0">
              <a:solidFill>
                <a:srgbClr val="FF0000"/>
              </a:solidFill>
              <a:latin typeface="Gill Sans Std" panose="020B0502020104020203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Char char="!"/>
            </a:pPr>
            <a:r>
              <a:rPr lang="en-US" altLang="zh-CN" sz="3415" dirty="0">
                <a:latin typeface="Gill Sans Std" panose="020B0502020104020203" pitchFamily="34" charset="0"/>
                <a:sym typeface="Wingdings" panose="05000000000000000000" pitchFamily="2" charset="2"/>
              </a:rPr>
              <a:t>Enter</a:t>
            </a:r>
            <a:endParaRPr lang="en-US" altLang="zh-CN" sz="3415" dirty="0">
              <a:latin typeface="Gill Sans Std" panose="020B0502020104020203" pitchFamily="34" charset="0"/>
              <a:sym typeface="Wingdings" panose="05000000000000000000" pitchFamily="2" charset="2"/>
            </a:endParaRPr>
          </a:p>
        </p:txBody>
      </p:sp>
      <p:pic>
        <p:nvPicPr>
          <p:cNvPr id="9221" name="Picture 20" descr="D:\Desktop\未标题-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16783"/>
            <a:ext cx="13004800" cy="4736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1" name="Picture 21" descr="D:\Desktop\捕获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1" y="5283200"/>
            <a:ext cx="1930399" cy="22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>
            <a:off x="10769600" y="6705600"/>
            <a:ext cx="1320801" cy="2258"/>
          </a:xfrm>
          <a:prstGeom prst="line">
            <a:avLst/>
          </a:prstGeom>
          <a:noFill/>
          <a:ln w="38100" algn="ctr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142" name="Picture 22" descr="D:\Desktop\捕获2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92" y="477521"/>
            <a:ext cx="10769600" cy="879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1" y="4876801"/>
            <a:ext cx="2844800" cy="3556001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415">
              <a:latin typeface="Gill Sans Std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3111218" y="4373317"/>
            <a:ext cx="6925999" cy="967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5690" dirty="0">
                <a:latin typeface="Gill Sans Std" panose="020B0502020104020203" pitchFamily="34" charset="0"/>
              </a:rPr>
              <a:t>PTA</a:t>
            </a:r>
            <a:r>
              <a:rPr lang="zh-CN" altLang="en-US" sz="5690" dirty="0">
                <a:latin typeface="微软雅黑" panose="020B0503020204020204" charset="-122"/>
                <a:ea typeface="微软雅黑" panose="020B0503020204020204" charset="-122"/>
              </a:rPr>
              <a:t>绑定码</a:t>
            </a:r>
            <a:r>
              <a:rPr lang="zh-CN" altLang="en-US" sz="5690" dirty="0">
                <a:latin typeface="Gill Sans Std" panose="020B0502020104020203" pitchFamily="34" charset="0"/>
              </a:rPr>
              <a:t>：</a:t>
            </a:r>
            <a:r>
              <a:rPr lang="en-US" altLang="zh-CN" sz="5690" b="1" dirty="0">
                <a:solidFill>
                  <a:srgbClr val="FF0000"/>
                </a:solidFill>
                <a:latin typeface="Gill Sans Std" panose="020B0502020104020203" pitchFamily="34" charset="0"/>
              </a:rPr>
              <a:t>850585</a:t>
            </a:r>
            <a:endParaRPr lang="zh-CN" altLang="en-US" sz="5690" b="1" dirty="0">
              <a:solidFill>
                <a:srgbClr val="FF0000"/>
              </a:solidFill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Course policy</a:t>
            </a:r>
            <a:endParaRPr lang="en-US" kern="0" dirty="0"/>
          </a:p>
        </p:txBody>
      </p:sp>
      <p:sp>
        <p:nvSpPr>
          <p:cNvPr id="4" name="object 3"/>
          <p:cNvSpPr txBox="1"/>
          <p:nvPr/>
        </p:nvSpPr>
        <p:spPr>
          <a:xfrm>
            <a:off x="1435100" y="2816691"/>
            <a:ext cx="10782300" cy="4544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44500">
              <a:lnSpc>
                <a:spcPct val="100000"/>
              </a:lnSpc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Academic honesty:</a:t>
            </a:r>
            <a:endParaRPr lang="en-US" sz="4200" spc="-10" dirty="0">
              <a:latin typeface="Gill Sans Std" panose="020B0502020104020203" pitchFamily="34" charset="0"/>
              <a:cs typeface="Gill Sans MT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altLang="zh-CN" sz="3600" dirty="0">
                <a:latin typeface="Gill Sans Std" panose="020B0502020104020203" pitchFamily="34" charset="0"/>
              </a:rPr>
              <a:t>Students are fully responsible for their actions.</a:t>
            </a:r>
            <a:endParaRPr lang="en-US" altLang="zh-CN" sz="3600" dirty="0">
              <a:latin typeface="Gill Sans Std" panose="020B0502020104020203" pitchFamily="34" charset="0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altLang="zh-CN" sz="3600" dirty="0">
                <a:latin typeface="Gill Sans Std" panose="020B0502020104020203" pitchFamily="34" charset="0"/>
              </a:rPr>
              <a:t>During homework, students can help each other through hints and explanations.</a:t>
            </a:r>
            <a:endParaRPr lang="en-US" altLang="zh-CN" sz="3600" dirty="0">
              <a:latin typeface="Gill Sans Std" panose="020B0502020104020203" pitchFamily="34" charset="0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altLang="zh-CN" sz="3600" dirty="0">
                <a:latin typeface="Gill Sans Std" panose="020B0502020104020203" pitchFamily="34" charset="0"/>
              </a:rPr>
              <a:t>Copying code from anybody else is strictly forbidden.</a:t>
            </a:r>
            <a:endParaRPr lang="en-US" altLang="zh-CN" sz="3600" dirty="0">
              <a:latin typeface="Gill Sans Std" panose="020B0502020104020203" pitchFamily="34" charset="0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sz="3600" dirty="0">
                <a:latin typeface="Gill Sans Std" panose="020B0502020104020203" pitchFamily="34" charset="0"/>
                <a:hlinkClick r:id="rId1"/>
              </a:rPr>
              <a:t>https://conduct.berkeley.edu/integrity/</a:t>
            </a:r>
            <a:endParaRPr lang="en-US" sz="3600" dirty="0">
              <a:latin typeface="Gill Sans Std" panose="020B05020201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Course policy</a:t>
            </a:r>
            <a:endParaRPr lang="en-US" kern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4700"/>
            <a:ext cx="11176000" cy="843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35100" y="2816691"/>
            <a:ext cx="10134600" cy="4442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44500">
              <a:lnSpc>
                <a:spcPct val="100000"/>
              </a:lnSpc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Contact info:</a:t>
            </a:r>
            <a:endParaRPr lang="en-US" sz="4200" spc="-10" dirty="0">
              <a:latin typeface="Gill Sans Std" panose="020B0502020104020203" pitchFamily="34" charset="0"/>
              <a:cs typeface="Gill Sans MT"/>
            </a:endParaRPr>
          </a:p>
          <a:p>
            <a:pPr marL="914400" lvl="1" indent="-444500"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[ TA</a:t>
            </a:r>
            <a:r>
              <a:rPr lang="zh-CN" altLang="en-US" sz="4200" spc="-1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zh-CN" altLang="en-US" sz="4200" spc="-1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Gill Sans MT"/>
              </a:rPr>
              <a:t>胡崇浩</a:t>
            </a: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] </a:t>
            </a:r>
            <a:r>
              <a:rPr lang="en-US" sz="4200" u="sng" spc="-10" dirty="0">
                <a:latin typeface="Gill Sans Std" panose="020B0502020104020203" pitchFamily="34" charset="0"/>
                <a:hlinkClick r:id="rId1"/>
              </a:rPr>
              <a:t>chonghao@zju.edu.cn</a:t>
            </a:r>
            <a:endParaRPr lang="en-US" sz="4200" u="sng" spc="-10" dirty="0">
              <a:latin typeface="Gill Sans Std" panose="020B0502020104020203" pitchFamily="34" charset="0"/>
            </a:endParaRPr>
          </a:p>
          <a:p>
            <a:pPr marL="914400" lvl="1" indent="-444500">
              <a:buSzPct val="170000"/>
              <a:buFontTx/>
              <a:buChar char="•"/>
              <a:tabLst>
                <a:tab pos="457200" algn="l"/>
              </a:tabLst>
            </a:pPr>
            <a:r>
              <a:rPr lang="en-US" altLang="zh-CN" sz="4200" spc="-10" dirty="0">
                <a:latin typeface="Gill Sans Std" panose="020B0502020104020203" pitchFamily="34" charset="0"/>
                <a:cs typeface="Gill Sans MT"/>
              </a:rPr>
              <a:t>[ TA</a:t>
            </a:r>
            <a:r>
              <a:rPr lang="zh-CN" altLang="en-US" sz="4200" spc="-1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zh-CN" altLang="en-US" sz="4200" spc="-1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Gill Sans MT"/>
              </a:rPr>
              <a:t>孙川</a:t>
            </a:r>
            <a:r>
              <a:rPr lang="en-US" altLang="zh-CN" sz="4200" spc="-10" dirty="0">
                <a:latin typeface="Gill Sans Std" panose="020B0502020104020203" pitchFamily="34" charset="0"/>
                <a:cs typeface="Gill Sans MT"/>
              </a:rPr>
              <a:t>] </a:t>
            </a:r>
            <a:r>
              <a:rPr lang="en-US" altLang="zh-CN" sz="4200" u="sng" spc="-10" dirty="0">
                <a:latin typeface="Gill Sans Std" panose="020B0502020104020203" pitchFamily="34" charset="0"/>
              </a:rPr>
              <a:t>22421279@zju.edu.cn</a:t>
            </a:r>
            <a:endParaRPr lang="en-US" sz="4200" u="sng" spc="-10" dirty="0">
              <a:latin typeface="Gill Sans Std" panose="020B0502020104020203" pitchFamily="34" charset="0"/>
            </a:endParaRPr>
          </a:p>
          <a:p>
            <a:pPr marL="914400" lvl="1" indent="-444500"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[ </a:t>
            </a:r>
            <a:r>
              <a:rPr lang="en-US" altLang="zh-CN" sz="4200" spc="-10" dirty="0">
                <a:latin typeface="Gill Sans Std" panose="020B0502020104020203" pitchFamily="34" charset="0"/>
                <a:cs typeface="Gill Sans MT"/>
              </a:rPr>
              <a:t>me </a:t>
            </a: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] </a:t>
            </a:r>
            <a:r>
              <a:rPr lang="en-US" sz="4200" u="sng" spc="-10" dirty="0">
                <a:latin typeface="Gill Sans Std" panose="020B0502020104020203" pitchFamily="34" charset="0"/>
                <a:cs typeface="Gill Sans MT"/>
              </a:rPr>
              <a:t>eehyc0</a:t>
            </a:r>
            <a:r>
              <a:rPr sz="4200" u="sng" spc="-10" dirty="0">
                <a:latin typeface="Gill Sans Std" panose="020B0502020104020203" pitchFamily="34" charset="0"/>
                <a:cs typeface="Gill Sans MT"/>
              </a:rPr>
              <a:t>@zju.edu.cn</a:t>
            </a:r>
            <a:endParaRPr sz="4200" u="sng" dirty="0">
              <a:latin typeface="Gill Sans Std" panose="020B0502020104020203" pitchFamily="34" charset="0"/>
              <a:cs typeface="Gill Sans MT"/>
            </a:endParaRPr>
          </a:p>
          <a:p>
            <a:pPr marL="457200" indent="-444500">
              <a:lnSpc>
                <a:spcPct val="100000"/>
              </a:lnSpc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sz="4200" spc="-5" dirty="0">
                <a:latin typeface="Gill Sans Std" panose="020B0502020104020203" pitchFamily="34" charset="0"/>
                <a:cs typeface="Gill Sans MT"/>
              </a:rPr>
              <a:t>Title</a:t>
            </a:r>
            <a:r>
              <a:rPr sz="4200" spc="10" dirty="0">
                <a:latin typeface="Gill Sans Std" panose="020B0502020104020203" pitchFamily="34" charset="0"/>
                <a:cs typeface="Gill Sans MT"/>
              </a:rPr>
              <a:t> starts	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with</a:t>
            </a:r>
            <a:r>
              <a:rPr sz="4200" spc="-49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4200" spc="-49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altLang="zh-CN" sz="4200" spc="-5" dirty="0">
                <a:latin typeface="Gill Sans Std" panose="020B0502020104020203" pitchFamily="34" charset="0"/>
                <a:cs typeface="Gill Sans MT"/>
              </a:rPr>
              <a:t>"</a:t>
            </a:r>
            <a:r>
              <a:rPr sz="4200" spc="-5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[OOP]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"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  <a:p>
            <a:pPr marL="457200" indent="-444500">
              <a:lnSpc>
                <a:spcPct val="100000"/>
              </a:lnSpc>
              <a:spcBef>
                <a:spcPts val="2160"/>
              </a:spcBef>
              <a:buSzPct val="170000"/>
              <a:buChar char="•"/>
              <a:tabLst>
                <a:tab pos="457200" algn="l"/>
                <a:tab pos="5054600" algn="l"/>
                <a:tab pos="5796915" algn="l"/>
                <a:tab pos="7176770" algn="l"/>
              </a:tabLst>
            </a:pPr>
            <a:r>
              <a:rPr sz="4200" dirty="0">
                <a:latin typeface="Gill Sans Std" panose="020B0502020104020203" pitchFamily="34" charset="0"/>
                <a:cs typeface="Gill Sans MT"/>
              </a:rPr>
              <a:t>State </a:t>
            </a:r>
            <a:r>
              <a:rPr sz="4200" spc="-25" dirty="0">
                <a:latin typeface="Gill Sans Std" panose="020B0502020104020203" pitchFamily="34" charset="0"/>
                <a:cs typeface="Gill Sans MT"/>
              </a:rPr>
              <a:t>your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name</a:t>
            </a:r>
            <a:r>
              <a:rPr sz="4200" spc="-5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 </a:t>
            </a:r>
            <a:r>
              <a:rPr sz="4200" dirty="0">
                <a:latin typeface="Gill Sans Std" panose="020B0502020104020203" pitchFamily="34" charset="0"/>
                <a:cs typeface="Gill Sans MT"/>
              </a:rPr>
              <a:t>and	</a:t>
            </a:r>
            <a:r>
              <a:rPr sz="4200" spc="-5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id</a:t>
            </a:r>
            <a:r>
              <a:rPr lang="en-US" sz="4200" spc="-5" dirty="0">
                <a:solidFill>
                  <a:srgbClr val="FF0000"/>
                </a:solidFill>
                <a:latin typeface="Gill Sans Std" panose="020B0502020104020203" pitchFamily="34" charset="0"/>
                <a:cs typeface="Gill Sans MT"/>
              </a:rPr>
              <a:t> 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in </a:t>
            </a:r>
            <a:r>
              <a:rPr sz="4200" dirty="0">
                <a:latin typeface="Gill Sans Std" panose="020B0502020104020203" pitchFamily="34" charset="0"/>
                <a:cs typeface="Gill Sans MT"/>
              </a:rPr>
              <a:t>the</a:t>
            </a:r>
            <a:r>
              <a:rPr lang="en-US" sz="42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dirty="0">
                <a:latin typeface="Gill Sans Std" panose="020B0502020104020203" pitchFamily="34" charset="0"/>
                <a:cs typeface="Gill Sans MT"/>
              </a:rPr>
              <a:t>text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4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/>
              <a:t>E-mail</a:t>
            </a:r>
            <a:r>
              <a:rPr lang="en-US" altLang="zh-CN" spc="-70" dirty="0"/>
              <a:t> </a:t>
            </a:r>
            <a:r>
              <a:rPr lang="en-US" altLang="zh-CN" spc="-5" dirty="0"/>
              <a:t>rule</a:t>
            </a:r>
            <a:endParaRPr lang="en-US" kern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3782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  <a:tabLst>
                <a:tab pos="6943725" algn="l"/>
              </a:tabLst>
            </a:pPr>
            <a:r>
              <a:rPr sz="8400" dirty="0">
                <a:latin typeface="Gill Sans Std" panose="020B0502020104020203" pitchFamily="34" charset="0"/>
                <a:cs typeface="Gill Sans MT"/>
              </a:rPr>
              <a:t>Int</a:t>
            </a:r>
            <a:r>
              <a:rPr sz="8400" spc="-210" dirty="0">
                <a:latin typeface="Gill Sans Std" panose="020B0502020104020203" pitchFamily="34" charset="0"/>
                <a:cs typeface="Gill Sans MT"/>
              </a:rPr>
              <a:t>r</a:t>
            </a:r>
            <a:r>
              <a:rPr sz="8400" dirty="0">
                <a:latin typeface="Gill Sans Std" panose="020B0502020104020203" pitchFamily="34" charset="0"/>
                <a:cs typeface="Gill Sans MT"/>
              </a:rPr>
              <a:t>oduct</a:t>
            </a:r>
            <a:r>
              <a:rPr sz="8400" spc="-5" dirty="0">
                <a:latin typeface="Gill Sans Std" panose="020B0502020104020203" pitchFamily="34" charset="0"/>
                <a:cs typeface="Gill Sans MT"/>
              </a:rPr>
              <a:t>i</a:t>
            </a:r>
            <a:r>
              <a:rPr sz="8400" dirty="0">
                <a:latin typeface="Gill Sans Std" panose="020B0502020104020203" pitchFamily="34" charset="0"/>
                <a:cs typeface="Gill Sans MT"/>
              </a:rPr>
              <a:t>on</a:t>
            </a:r>
            <a:r>
              <a:rPr sz="84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8400" dirty="0">
                <a:latin typeface="Gill Sans Std" panose="020B0502020104020203" pitchFamily="34" charset="0"/>
                <a:cs typeface="Gill Sans MT"/>
              </a:rPr>
              <a:t>to</a:t>
            </a:r>
            <a:r>
              <a:rPr lang="en-US" sz="84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8400" dirty="0">
                <a:latin typeface="Gill Sans Std" panose="020B0502020104020203" pitchFamily="34" charset="0"/>
                <a:cs typeface="Gill Sans MT"/>
              </a:rPr>
              <a:t>C++</a:t>
            </a:r>
            <a:endParaRPr sz="8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289800"/>
            <a:ext cx="1300480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  <a:tabLst>
                <a:tab pos="1003935" algn="l"/>
              </a:tabLst>
            </a:pPr>
            <a:r>
              <a:rPr sz="4200" dirty="0">
                <a:latin typeface="Gill Sans Std" panose="020B0502020104020203" pitchFamily="34" charset="0"/>
                <a:cs typeface="Gill Sans MT"/>
              </a:rPr>
              <a:t>The	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trip</a:t>
            </a: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4200" spc="-5" dirty="0">
                <a:latin typeface="Gill Sans Std" panose="020B0502020104020203" pitchFamily="34" charset="0"/>
                <a:cs typeface="Gill Sans MT"/>
              </a:rPr>
              <a:t>begins…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243840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1689080" h="6902450">
                <a:moveTo>
                  <a:pt x="0" y="0"/>
                </a:moveTo>
                <a:lnTo>
                  <a:pt x="11688521" y="0"/>
                </a:lnTo>
                <a:lnTo>
                  <a:pt x="11688521" y="6902027"/>
                </a:lnTo>
                <a:lnTo>
                  <a:pt x="0" y="6902027"/>
                </a:lnTo>
                <a:lnTo>
                  <a:pt x="0" y="0"/>
                </a:lnTo>
                <a:close/>
              </a:path>
            </a:pathLst>
          </a:custGeom>
          <a:solidFill>
            <a:srgbClr val="FFF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3280" y="2786831"/>
            <a:ext cx="11318240" cy="4680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096760">
              <a:lnSpc>
                <a:spcPts val="400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#include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&lt;iostream&gt;  </a:t>
            </a:r>
            <a:r>
              <a:rPr sz="3400" dirty="0">
                <a:latin typeface="Arial" panose="020B0604020202020204"/>
                <a:cs typeface="Arial" panose="020B0604020202020204"/>
              </a:rPr>
              <a:t>using namespace</a:t>
            </a:r>
            <a:r>
              <a:rPr sz="34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std;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int</a:t>
            </a:r>
            <a:r>
              <a:rPr sz="34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main()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4040"/>
              </a:lnSpc>
              <a:spcBef>
                <a:spcPts val="20"/>
              </a:spcBef>
            </a:pPr>
            <a:r>
              <a:rPr sz="3400" dirty="0">
                <a:latin typeface="Arial" panose="020B0604020202020204"/>
                <a:cs typeface="Arial" panose="020B0604020202020204"/>
              </a:rPr>
              <a:t>{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499745">
              <a:lnSpc>
                <a:spcPts val="404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cout &lt;&lt; "Hello,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World! </a:t>
            </a:r>
            <a:r>
              <a:rPr sz="3400" dirty="0">
                <a:latin typeface="Arial" panose="020B0604020202020204"/>
                <a:cs typeface="Arial" panose="020B0604020202020204"/>
              </a:rPr>
              <a:t>I am </a:t>
            </a:r>
            <a:r>
              <a:rPr lang="en-US" sz="3400" dirty="0">
                <a:latin typeface="Arial" panose="020B0604020202020204"/>
                <a:cs typeface="Arial" panose="020B0604020202020204"/>
              </a:rPr>
              <a:t>"</a:t>
            </a:r>
            <a:r>
              <a:rPr sz="3400" dirty="0">
                <a:latin typeface="Arial" panose="020B0604020202020204"/>
                <a:cs typeface="Arial" panose="020B0604020202020204"/>
              </a:rPr>
              <a:t> &lt;&lt; 18 &lt;&lt; "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Today!" </a:t>
            </a:r>
            <a:r>
              <a:rPr sz="3400" dirty="0">
                <a:latin typeface="Arial" panose="020B0604020202020204"/>
                <a:cs typeface="Arial" panose="020B0604020202020204"/>
              </a:rPr>
              <a:t>&lt;&lt;</a:t>
            </a:r>
            <a:r>
              <a:rPr sz="34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endl;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 dirty="0">
              <a:latin typeface="Times New Roman" panose="02020603050405020304"/>
              <a:cs typeface="Times New Roman" panose="02020603050405020304"/>
            </a:endParaRPr>
          </a:p>
          <a:p>
            <a:pPr marL="499745">
              <a:lnSpc>
                <a:spcPct val="100000"/>
              </a:lnSpc>
            </a:pPr>
            <a:r>
              <a:rPr sz="3400" spc="-5" dirty="0">
                <a:latin typeface="Arial" panose="020B0604020202020204"/>
                <a:cs typeface="Arial" panose="020B0604020202020204"/>
              </a:rPr>
              <a:t>return</a:t>
            </a:r>
            <a:r>
              <a:rPr sz="34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0;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400" dirty="0">
                <a:latin typeface="Arial" panose="020B0604020202020204"/>
                <a:cs typeface="Arial" panose="020B0604020202020204"/>
              </a:rPr>
              <a:t>}</a:t>
            </a:r>
            <a:endParaRPr sz="3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>
                <a:cs typeface="Arial" panose="020B0604020202020204"/>
              </a:rPr>
              <a:t>The first </a:t>
            </a:r>
            <a:r>
              <a:rPr lang="en-US" altLang="zh-CN" dirty="0">
                <a:cs typeface="Arial" panose="020B0604020202020204"/>
              </a:rPr>
              <a:t>C++</a:t>
            </a:r>
            <a:r>
              <a:rPr lang="en-US" altLang="zh-CN" spc="-85" dirty="0">
                <a:cs typeface="Arial" panose="020B0604020202020204"/>
              </a:rPr>
              <a:t> </a:t>
            </a:r>
            <a:r>
              <a:rPr lang="en-US" altLang="zh-CN" dirty="0">
                <a:cs typeface="Arial" panose="020B0604020202020204"/>
              </a:rPr>
              <a:t>program</a:t>
            </a:r>
            <a:endParaRPr lang="en-US" kern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254" dirty="0"/>
              <a:t>Development environment</a:t>
            </a:r>
            <a:endParaRPr lang="en-US" kern="0" dirty="0"/>
          </a:p>
        </p:txBody>
      </p:sp>
      <p:sp>
        <p:nvSpPr>
          <p:cNvPr id="4" name="object 3"/>
          <p:cNvSpPr txBox="1"/>
          <p:nvPr/>
        </p:nvSpPr>
        <p:spPr>
          <a:xfrm>
            <a:off x="1435100" y="2816691"/>
            <a:ext cx="10134600" cy="5006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44500">
              <a:lnSpc>
                <a:spcPct val="100000"/>
              </a:lnSpc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Windows:</a:t>
            </a:r>
            <a:endParaRPr lang="en-US" sz="4200" spc="-10" dirty="0">
              <a:latin typeface="Gill Sans Std" panose="020B0502020104020203" pitchFamily="34" charset="0"/>
              <a:cs typeface="Gill Sans MT"/>
            </a:endParaRPr>
          </a:p>
          <a:p>
            <a:pPr marL="914400" lvl="1" indent="-444500">
              <a:buSzPct val="170000"/>
              <a:buChar char="•"/>
              <a:tabLst>
                <a:tab pos="457200" algn="l"/>
              </a:tabLst>
            </a:pPr>
            <a:r>
              <a:rPr lang="en-US" sz="4200" spc="-10" dirty="0">
                <a:latin typeface="Gill Sans Std" panose="020B0502020104020203" pitchFamily="34" charset="0"/>
                <a:cs typeface="Gill Sans MT"/>
              </a:rPr>
              <a:t>visual studio community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  <a:p>
            <a:pPr marL="457200" indent="-444500">
              <a:lnSpc>
                <a:spcPct val="100000"/>
              </a:lnSpc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Linux, macOS:</a:t>
            </a:r>
            <a:endParaRPr lang="en-US" sz="4200" spc="-5" dirty="0">
              <a:latin typeface="Gill Sans Std" panose="020B0502020104020203" pitchFamily="34" charset="0"/>
              <a:cs typeface="Gill Sans MT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g++, clang</a:t>
            </a:r>
            <a:endParaRPr lang="en-US" sz="4200" spc="-5" dirty="0">
              <a:latin typeface="Gill Sans Std" panose="020B0502020104020203" pitchFamily="34" charset="0"/>
              <a:cs typeface="Gill Sans MT"/>
            </a:endParaRPr>
          </a:p>
          <a:p>
            <a:pPr marL="914400" lvl="1" indent="-444500">
              <a:spcBef>
                <a:spcPts val="2160"/>
              </a:spcBef>
              <a:buSzPct val="170000"/>
              <a:buChar char="•"/>
              <a:tabLst>
                <a:tab pos="457200" algn="l"/>
                <a:tab pos="2957830" algn="l"/>
              </a:tabLst>
            </a:pPr>
            <a:r>
              <a:rPr lang="en-US" sz="4200" dirty="0">
                <a:latin typeface="Gill Sans Std" panose="020B0502020104020203" pitchFamily="34" charset="0"/>
                <a:cs typeface="Gill Sans MT"/>
              </a:rPr>
              <a:t>visual studio code</a:t>
            </a:r>
            <a:endParaRPr sz="4200" dirty="0">
              <a:latin typeface="Gill Sans Std" panose="020B0502020104020203" pitchFamily="34" charset="0"/>
              <a:cs typeface="Gill Sans MT"/>
            </a:endParaRPr>
          </a:p>
          <a:p>
            <a:pPr marL="457200" indent="-444500">
              <a:lnSpc>
                <a:spcPct val="100000"/>
              </a:lnSpc>
              <a:spcBef>
                <a:spcPts val="2160"/>
              </a:spcBef>
              <a:buSzPct val="170000"/>
              <a:buChar char="•"/>
              <a:tabLst>
                <a:tab pos="457200" algn="l"/>
                <a:tab pos="5054600" algn="l"/>
                <a:tab pos="5796915" algn="l"/>
                <a:tab pos="7176770" algn="l"/>
              </a:tabLst>
            </a:pPr>
            <a:r>
              <a:rPr lang="en-US" sz="4200" spc="-5" dirty="0">
                <a:latin typeface="Gill Sans Std" panose="020B0502020104020203" pitchFamily="34" charset="0"/>
                <a:cs typeface="Gill Sans MT"/>
              </a:rPr>
              <a:t>Any compiler supports C++ standard well…</a:t>
            </a:r>
            <a:endParaRPr lang="en-US" sz="4200" spc="-5" dirty="0">
              <a:latin typeface="Gill Sans Std" panose="020B0502020104020203" pitchFamily="34" charset="0"/>
              <a:cs typeface="Gill Sans M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0" y="3352800"/>
            <a:ext cx="794197" cy="749766"/>
          </a:xfrm>
          <a:prstGeom prst="rect">
            <a:avLst/>
          </a:prstGeom>
        </p:spPr>
      </p:pic>
      <p:pic>
        <p:nvPicPr>
          <p:cNvPr id="2050" name="Picture 2" descr="Visual Studio Code - Code Editing. Re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1" y="6172201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/>
          <p:nvPr/>
        </p:nvSpPr>
        <p:spPr>
          <a:xfrm>
            <a:off x="0" y="243840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1689080" h="6902450">
                <a:moveTo>
                  <a:pt x="0" y="0"/>
                </a:moveTo>
                <a:lnTo>
                  <a:pt x="11688521" y="0"/>
                </a:lnTo>
                <a:lnTo>
                  <a:pt x="11688521" y="6902027"/>
                </a:lnTo>
                <a:lnTo>
                  <a:pt x="0" y="6902027"/>
                </a:lnTo>
                <a:lnTo>
                  <a:pt x="0" y="0"/>
                </a:lnTo>
                <a:close/>
              </a:path>
            </a:pathLst>
          </a:custGeom>
          <a:solidFill>
            <a:srgbClr val="FFF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1930" y="2590800"/>
            <a:ext cx="12600940" cy="7043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379460">
              <a:lnSpc>
                <a:spcPct val="12000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#include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&lt;iostream&gt;  </a:t>
            </a:r>
            <a:r>
              <a:rPr sz="3400" dirty="0">
                <a:latin typeface="Arial" panose="020B0604020202020204"/>
                <a:cs typeface="Arial" panose="020B0604020202020204"/>
              </a:rPr>
              <a:t>using namespace</a:t>
            </a:r>
            <a:r>
              <a:rPr sz="34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std;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int main()</a:t>
            </a:r>
            <a:r>
              <a:rPr sz="34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{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499745">
              <a:lnSpc>
                <a:spcPct val="100000"/>
              </a:lnSpc>
              <a:spcBef>
                <a:spcPts val="920"/>
              </a:spcBef>
            </a:pPr>
            <a:r>
              <a:rPr sz="3400" dirty="0">
                <a:latin typeface="Arial" panose="020B0604020202020204"/>
                <a:cs typeface="Arial" panose="020B0604020202020204"/>
              </a:rPr>
              <a:t>int</a:t>
            </a:r>
            <a:r>
              <a:rPr sz="34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number;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400" spc="-5" dirty="0">
              <a:latin typeface="Arial" panose="020B0604020202020204"/>
              <a:cs typeface="Arial" panose="020B0604020202020204"/>
            </a:endParaRPr>
          </a:p>
          <a:p>
            <a:pPr marL="499745" marR="5281295">
              <a:lnSpc>
                <a:spcPct val="120000"/>
              </a:lnSpc>
            </a:pPr>
            <a:r>
              <a:rPr sz="3400" dirty="0">
                <a:latin typeface="Arial" panose="020B0604020202020204"/>
                <a:cs typeface="Arial" panose="020B0604020202020204"/>
              </a:rPr>
              <a:t>cout &lt;&lt;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"Enter </a:t>
            </a:r>
            <a:r>
              <a:rPr sz="3400" dirty="0">
                <a:latin typeface="Arial" panose="020B0604020202020204"/>
                <a:cs typeface="Arial" panose="020B0604020202020204"/>
              </a:rPr>
              <a:t>a decimal number:</a:t>
            </a:r>
            <a:r>
              <a:rPr sz="34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";  cin &gt;&gt;</a:t>
            </a:r>
            <a:r>
              <a:rPr sz="34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number;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499745">
              <a:lnSpc>
                <a:spcPct val="100000"/>
              </a:lnSpc>
              <a:spcBef>
                <a:spcPts val="920"/>
              </a:spcBef>
            </a:pPr>
            <a:r>
              <a:rPr sz="3400" dirty="0">
                <a:latin typeface="Arial" panose="020B0604020202020204"/>
                <a:cs typeface="Arial" panose="020B0604020202020204"/>
              </a:rPr>
              <a:t>cout &lt;&lt;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"The </a:t>
            </a:r>
            <a:r>
              <a:rPr sz="3400" dirty="0">
                <a:latin typeface="Arial" panose="020B0604020202020204"/>
                <a:cs typeface="Arial" panose="020B0604020202020204"/>
              </a:rPr>
              <a:t>number you </a:t>
            </a:r>
            <a:r>
              <a:rPr sz="3400" spc="-5" dirty="0">
                <a:latin typeface="Arial" panose="020B0604020202020204"/>
                <a:cs typeface="Arial" panose="020B0604020202020204"/>
              </a:rPr>
              <a:t>entered </a:t>
            </a:r>
            <a:r>
              <a:rPr sz="3400" dirty="0">
                <a:latin typeface="Arial" panose="020B0604020202020204"/>
                <a:cs typeface="Arial" panose="020B0604020202020204"/>
              </a:rPr>
              <a:t>is " &lt;&lt; number &lt;&lt;"." &lt;&lt;</a:t>
            </a:r>
            <a:r>
              <a:rPr sz="34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endl;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 spc="-5" dirty="0">
              <a:latin typeface="Arial" panose="020B0604020202020204"/>
              <a:cs typeface="Arial" panose="020B0604020202020204"/>
            </a:endParaRPr>
          </a:p>
          <a:p>
            <a:pPr marL="499745">
              <a:lnSpc>
                <a:spcPct val="100000"/>
              </a:lnSpc>
            </a:pPr>
            <a:r>
              <a:rPr sz="3400" spc="-5" dirty="0">
                <a:latin typeface="Arial" panose="020B0604020202020204"/>
                <a:cs typeface="Arial" panose="020B0604020202020204"/>
              </a:rPr>
              <a:t>return</a:t>
            </a:r>
            <a:r>
              <a:rPr sz="34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3400" dirty="0">
                <a:latin typeface="Arial" panose="020B0604020202020204"/>
                <a:cs typeface="Arial" panose="020B0604020202020204"/>
              </a:rPr>
              <a:t>0;</a:t>
            </a:r>
            <a:endParaRPr sz="34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400" dirty="0">
                <a:latin typeface="Arial" panose="020B0604020202020204"/>
                <a:cs typeface="Arial" panose="020B0604020202020204"/>
              </a:rPr>
              <a:t>}</a:t>
            </a:r>
            <a:endParaRPr sz="3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>
                <a:cs typeface="Arial" panose="020B0604020202020204"/>
              </a:rPr>
              <a:t>Read input</a:t>
            </a:r>
            <a:endParaRPr lang="en-US" kern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6038" y="2618740"/>
            <a:ext cx="11186161" cy="6181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060" indent="-340360">
              <a:lnSpc>
                <a:spcPct val="100000"/>
              </a:lnSpc>
              <a:buFont typeface="Arial" panose="020B0604020202020204"/>
              <a:buChar char="•"/>
              <a:tabLst>
                <a:tab pos="353060" algn="l"/>
              </a:tabLst>
            </a:pPr>
            <a:r>
              <a:rPr sz="3800" b="1" spc="-5" dirty="0">
                <a:latin typeface="Gill Sans" panose="020B0502020104020203" pitchFamily="34" charset="-79"/>
                <a:cs typeface="Gill Sans" panose="020B0502020104020203" pitchFamily="34" charset="-79"/>
              </a:rPr>
              <a:t>Strengths</a:t>
            </a:r>
            <a:endParaRPr sz="3800" b="1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924560" lvl="1" indent="-3556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924560" algn="l"/>
              </a:tabLst>
            </a:pPr>
            <a:r>
              <a:rPr sz="3400" spc="10" dirty="0">
                <a:latin typeface="Gill Sans Std" panose="020B0502020104020203" pitchFamily="34" charset="0"/>
                <a:cs typeface="Gill Sans MT"/>
              </a:rPr>
              <a:t>Efficient</a:t>
            </a:r>
            <a:r>
              <a:rPr sz="3400" spc="-5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15" dirty="0">
                <a:latin typeface="Gill Sans Std" panose="020B0502020104020203" pitchFamily="34" charset="0"/>
                <a:cs typeface="Gill Sans MT"/>
              </a:rPr>
              <a:t>programs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924560" lvl="1" indent="-355600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924560" algn="l"/>
              </a:tabLst>
            </a:pPr>
            <a:r>
              <a:rPr sz="3400" spc="-15" dirty="0">
                <a:latin typeface="Gill Sans Std" panose="020B0502020104020203" pitchFamily="34" charset="0"/>
                <a:cs typeface="Gill Sans MT"/>
              </a:rPr>
              <a:t>Direct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access to </a:t>
            </a:r>
            <a:r>
              <a:rPr sz="3400" spc="5" dirty="0">
                <a:latin typeface="Gill Sans Std" panose="020B0502020104020203" pitchFamily="34" charset="0"/>
                <a:cs typeface="Gill Sans MT"/>
              </a:rPr>
              <a:t>machine,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suitable </a:t>
            </a:r>
            <a:r>
              <a:rPr sz="3400" spc="-15" dirty="0">
                <a:latin typeface="Gill Sans Std" panose="020B0502020104020203" pitchFamily="34" charset="0"/>
                <a:cs typeface="Gill Sans MT"/>
              </a:rPr>
              <a:t>for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OS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and</a:t>
            </a:r>
            <a:r>
              <a:rPr sz="3400" spc="-34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ES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924560" lvl="1" indent="-355600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924560" algn="l"/>
              </a:tabLst>
            </a:pPr>
            <a:r>
              <a:rPr sz="3400" spc="-5" dirty="0">
                <a:latin typeface="Gill Sans Std" panose="020B0502020104020203" pitchFamily="34" charset="0"/>
                <a:cs typeface="Gill Sans MT"/>
              </a:rPr>
              <a:t>Flexible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353060" indent="-340360">
              <a:lnSpc>
                <a:spcPct val="100000"/>
              </a:lnSpc>
              <a:spcBef>
                <a:spcPts val="2020"/>
              </a:spcBef>
              <a:buFont typeface="Arial" panose="020B0604020202020204"/>
              <a:buChar char="•"/>
              <a:tabLst>
                <a:tab pos="353060" algn="l"/>
              </a:tabLst>
            </a:pPr>
            <a:r>
              <a:rPr sz="3800" b="1" spc="-5" dirty="0">
                <a:latin typeface="Gill Sans" panose="020B0502020104020203" pitchFamily="34" charset="-79"/>
                <a:cs typeface="Gill Sans" panose="020B0502020104020203" pitchFamily="34" charset="-79"/>
              </a:rPr>
              <a:t>Weakness</a:t>
            </a:r>
            <a:endParaRPr sz="3800" b="1" spc="-5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924560" lvl="1" indent="-3556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924560" algn="l"/>
              </a:tabLst>
            </a:pPr>
            <a:r>
              <a:rPr sz="3400" spc="5" dirty="0">
                <a:latin typeface="Gill Sans Std" panose="020B0502020104020203" pitchFamily="34" charset="0"/>
                <a:cs typeface="Gill Sans MT"/>
              </a:rPr>
              <a:t>Insufficient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type</a:t>
            </a:r>
            <a:r>
              <a:rPr sz="3400" spc="-3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checking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924560" lvl="1" indent="-355600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924560" algn="l"/>
              </a:tabLst>
            </a:pPr>
            <a:r>
              <a:rPr lang="en-US" sz="3400" spc="-25" dirty="0">
                <a:latin typeface="Gill Sans Std" panose="020B0502020104020203" pitchFamily="34" charset="0"/>
                <a:cs typeface="Gill Sans MT"/>
              </a:rPr>
              <a:t>Unsuitable</a:t>
            </a:r>
            <a:r>
              <a:rPr sz="3400" spc="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15" dirty="0">
                <a:latin typeface="Gill Sans Std" panose="020B0502020104020203" pitchFamily="34" charset="0"/>
                <a:cs typeface="Gill Sans MT"/>
              </a:rPr>
              <a:t>for</a:t>
            </a:r>
            <a:r>
              <a:rPr sz="3400" spc="-2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400" spc="-25" dirty="0">
                <a:latin typeface="Gill Sans Std" panose="020B0502020104020203" pitchFamily="34" charset="0"/>
                <a:cs typeface="Gill Sans MT"/>
              </a:rPr>
              <a:t>high-level </a:t>
            </a:r>
            <a:r>
              <a:rPr lang="en-US" sz="3400" spc="-5" dirty="0">
                <a:latin typeface="Gill Sans Std" panose="020B0502020104020203" pitchFamily="34" charset="0"/>
                <a:cs typeface="Gill Sans MT"/>
              </a:rPr>
              <a:t>applications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924560" lvl="1" indent="-355600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924560" algn="l"/>
              </a:tabLst>
            </a:pPr>
            <a:r>
              <a:rPr lang="en-US" sz="3400" spc="-10" dirty="0">
                <a:latin typeface="Gill Sans Std" panose="020B0502020104020203" pitchFamily="34" charset="0"/>
                <a:cs typeface="Gill Sans MT"/>
              </a:rPr>
              <a:t>No direct support for </a:t>
            </a:r>
            <a:r>
              <a:rPr lang="en-US" sz="3400" spc="-10" dirty="0" err="1">
                <a:latin typeface="Gill Sans Std" panose="020B0502020104020203" pitchFamily="34" charset="0"/>
                <a:cs typeface="Gill Sans MT"/>
              </a:rPr>
              <a:t>oop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The	C</a:t>
            </a:r>
            <a:r>
              <a:rPr lang="en-US" altLang="zh-CN" spc="-70" dirty="0"/>
              <a:t> </a:t>
            </a:r>
            <a:r>
              <a:rPr lang="en-US" altLang="zh-CN" spc="-5" dirty="0"/>
              <a:t>language</a:t>
            </a:r>
            <a:endParaRPr lang="en-US" kern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0583" y="2362200"/>
            <a:ext cx="11303635" cy="148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0" marR="5080" indent="-276860">
              <a:lnSpc>
                <a:spcPts val="3480"/>
              </a:lnSpc>
              <a:buChar char="•"/>
              <a:tabLst>
                <a:tab pos="289560" algn="l"/>
              </a:tabLst>
            </a:pPr>
            <a:r>
              <a:rPr sz="3400" dirty="0">
                <a:latin typeface="Gill Sans Std" panose="020B0502020104020203" pitchFamily="34" charset="0"/>
                <a:cs typeface="Gill Sans MT"/>
              </a:rPr>
              <a:t>C++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was </a:t>
            </a:r>
            <a:r>
              <a:rPr sz="3400" spc="20" dirty="0">
                <a:latin typeface="Gill Sans Std" panose="020B0502020104020203" pitchFamily="34" charset="0"/>
                <a:cs typeface="Gill Sans MT"/>
              </a:rPr>
              <a:t>first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designed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and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implemented </a:t>
            </a:r>
            <a:r>
              <a:rPr sz="3400" spc="-20" dirty="0">
                <a:latin typeface="Gill Sans Std" panose="020B0502020104020203" pitchFamily="34" charset="0"/>
                <a:cs typeface="Gill Sans MT"/>
              </a:rPr>
              <a:t>by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Bjarne </a:t>
            </a:r>
            <a:r>
              <a:rPr sz="3400" spc="-20" dirty="0">
                <a:latin typeface="Gill Sans Std" panose="020B0502020104020203" pitchFamily="34" charset="0"/>
                <a:cs typeface="Gill Sans MT"/>
              </a:rPr>
              <a:t>Stroustrup,  </a:t>
            </a:r>
            <a:r>
              <a:rPr sz="3400" spc="-155" dirty="0">
                <a:latin typeface="Gill Sans Std" panose="020B0502020104020203" pitchFamily="34" charset="0"/>
                <a:cs typeface="Gill Sans MT"/>
              </a:rPr>
              <a:t>AT&amp;T</a:t>
            </a:r>
            <a:r>
              <a:rPr lang="en-US" sz="3400" spc="-155" dirty="0">
                <a:latin typeface="Gill Sans Std" panose="020B0502020104020203" pitchFamily="34" charset="0"/>
                <a:cs typeface="Gill Sans MT"/>
              </a:rPr>
              <a:t>, </a:t>
            </a:r>
            <a:r>
              <a:rPr sz="3400" spc="-10" dirty="0">
                <a:latin typeface="Gill Sans Std" panose="020B0502020104020203" pitchFamily="34" charset="0"/>
                <a:cs typeface="Gill Sans MT"/>
              </a:rPr>
              <a:t>early</a:t>
            </a:r>
            <a:r>
              <a:rPr sz="3400" spc="-24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50" dirty="0">
                <a:latin typeface="Gill Sans Std" panose="020B0502020104020203" pitchFamily="34" charset="0"/>
                <a:cs typeface="Gill Sans MT"/>
              </a:rPr>
              <a:t>1980’s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289560" indent="-276860">
              <a:lnSpc>
                <a:spcPct val="100000"/>
              </a:lnSpc>
              <a:spcBef>
                <a:spcPts val="500"/>
              </a:spcBef>
              <a:buChar char="•"/>
              <a:tabLst>
                <a:tab pos="289560" algn="l"/>
              </a:tabLst>
            </a:pPr>
            <a:r>
              <a:rPr lang="en-US" sz="3400" spc="-10" dirty="0">
                <a:latin typeface="Gill Sans Std" panose="020B0502020104020203" pitchFamily="34" charset="0"/>
                <a:cs typeface="Gill Sans MT"/>
              </a:rPr>
              <a:t>http://www.stroustrup.com/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2400" y="3894214"/>
            <a:ext cx="7620000" cy="55499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Gill Sans Std" panose="020B0502020104020203" pitchFamily="34" charset="0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/>
              <a:t>Bjarne</a:t>
            </a:r>
            <a:r>
              <a:rPr lang="en-US" altLang="zh-CN" spc="-45" dirty="0"/>
              <a:t> </a:t>
            </a:r>
            <a:r>
              <a:rPr lang="en-US" altLang="zh-CN" spc="-25" dirty="0"/>
              <a:t>Stroustrup</a:t>
            </a:r>
            <a:endParaRPr lang="en-US" kern="0" dirty="0"/>
          </a:p>
        </p:txBody>
      </p:sp>
      <p:pic>
        <p:nvPicPr>
          <p:cNvPr id="2" name="pronounciatio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17200" y="1265238"/>
            <a:ext cx="487363" cy="487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0"/>
            <a:ext cx="72898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3088665"/>
            <a:ext cx="4978400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7660" marR="5080" indent="-314960">
              <a:lnSpc>
                <a:spcPts val="4380"/>
              </a:lnSpc>
              <a:buChar char="•"/>
              <a:tabLst>
                <a:tab pos="327660" algn="l"/>
                <a:tab pos="1708150" algn="l"/>
                <a:tab pos="3490595" algn="l"/>
              </a:tabLst>
            </a:pPr>
            <a:r>
              <a:rPr sz="3800" spc="-5" dirty="0"/>
              <a:t>Oct. </a:t>
            </a:r>
            <a:r>
              <a:rPr sz="3800" dirty="0"/>
              <a:t>2002,</a:t>
            </a:r>
            <a:r>
              <a:rPr sz="3800" spc="-844" dirty="0"/>
              <a:t> </a:t>
            </a:r>
            <a:r>
              <a:rPr lang="en-US" sz="3800" spc="-844" dirty="0"/>
              <a:t> </a:t>
            </a:r>
            <a:r>
              <a:rPr sz="3800" spc="-10" dirty="0"/>
              <a:t>Stroustrup  </a:t>
            </a:r>
            <a:r>
              <a:rPr sz="3800" spc="-5" dirty="0"/>
              <a:t>visited</a:t>
            </a:r>
            <a:r>
              <a:rPr lang="en-US" sz="3800" spc="-5" dirty="0"/>
              <a:t> </a:t>
            </a:r>
            <a:r>
              <a:rPr sz="3800" spc="-5" dirty="0"/>
              <a:t>Zhejiang</a:t>
            </a:r>
            <a:r>
              <a:rPr lang="en-US" sz="3800" spc="-5" dirty="0"/>
              <a:t> </a:t>
            </a:r>
            <a:r>
              <a:rPr sz="3800" spc="-50" dirty="0"/>
              <a:t>Univ.</a:t>
            </a:r>
            <a:endParaRPr sz="3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35900" y="9004300"/>
            <a:ext cx="444754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Stroustrup visited </a:t>
            </a:r>
            <a:r>
              <a:rPr lang="en-US" sz="2400" dirty="0">
                <a:latin typeface="Gill Sans Std" panose="020B0502020104020203" pitchFamily="34" charset="0"/>
                <a:cs typeface="Arial" panose="020B0604020202020204"/>
              </a:rPr>
              <a:t>zju </a:t>
            </a: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in</a:t>
            </a:r>
            <a:r>
              <a:rPr sz="2400" spc="-100" dirty="0">
                <a:latin typeface="Gill Sans Std" panose="020B0502020104020203" pitchFamily="34" charset="0"/>
                <a:cs typeface="Arial" panose="020B0604020202020204"/>
              </a:rPr>
              <a:t> </a:t>
            </a: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2005</a:t>
            </a:r>
            <a:endParaRPr sz="2400" dirty="0">
              <a:latin typeface="Gill Sans Std" panose="020B0502020104020203" pitchFamily="34" charset="0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2586" y="7029271"/>
            <a:ext cx="98796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latin typeface="Gill Sans" panose="020B0502020104020203" pitchFamily="34" charset="-79"/>
                <a:ea typeface="Heiti TC Medium" pitchFamily="2" charset="-128"/>
                <a:cs typeface="Gill Sans" panose="020B0502020104020203" pitchFamily="34" charset="-79"/>
              </a:rPr>
              <a:t>C++ </a:t>
            </a:r>
            <a:r>
              <a:rPr lang="zh-CN" altLang="en-US" sz="3600" dirty="0">
                <a:latin typeface="Gill Sans" panose="020B0502020104020203" pitchFamily="34" charset="-79"/>
                <a:ea typeface="Heiti TC Medium" pitchFamily="2" charset="-128"/>
                <a:cs typeface="Gill Sans" panose="020B0502020104020203" pitchFamily="34" charset="-79"/>
              </a:rPr>
              <a:t>之父：爱吃辣子鸡，</a:t>
            </a:r>
            <a:r>
              <a:rPr lang="en-US" sz="3600" dirty="0">
                <a:latin typeface="Gill Sans" panose="020B0502020104020203" pitchFamily="34" charset="-79"/>
                <a:ea typeface="Heiti TC Medium" pitchFamily="2" charset="-128"/>
                <a:cs typeface="Gill Sans" panose="020B0502020104020203" pitchFamily="34" charset="-79"/>
              </a:rPr>
              <a:t>C++20 </a:t>
            </a:r>
            <a:r>
              <a:rPr lang="zh-CN" altLang="en-US" sz="3600" dirty="0">
                <a:latin typeface="Gill Sans" panose="020B0502020104020203" pitchFamily="34" charset="-79"/>
                <a:ea typeface="Heiti TC Medium" pitchFamily="2" charset="-128"/>
                <a:cs typeface="Gill Sans" panose="020B0502020104020203" pitchFamily="34" charset="-79"/>
              </a:rPr>
              <a:t>会非常出色</a:t>
            </a:r>
            <a:endParaRPr lang="en-US" sz="3600" dirty="0">
              <a:latin typeface="Gill Sans" panose="020B0502020104020203" pitchFamily="34" charset="-79"/>
              <a:ea typeface="Heiti TC Medium" pitchFamily="2" charset="-128"/>
              <a:cs typeface="Gill Sans" panose="020B0502020104020203" pitchFamily="34" charset="-79"/>
              <a:hlinkClick r:id="rId1"/>
            </a:endParaRPr>
          </a:p>
          <a:p>
            <a:pPr algn="ctr"/>
            <a:r>
              <a:rPr lang="en-US" sz="3600" dirty="0">
                <a:latin typeface="Gill Sans" panose="020B0502020104020203" pitchFamily="34" charset="-79"/>
                <a:ea typeface="Heiti TC Medium" pitchFamily="2" charset="-128"/>
                <a:cs typeface="Gill Sans" panose="020B0502020104020203" pitchFamily="34" charset="-79"/>
                <a:hlinkClick r:id="rId1"/>
              </a:rPr>
              <a:t>https://www.infoq.cn/article/rv3SX2V8rtRaJj9B17xZ</a:t>
            </a:r>
            <a:endParaRPr lang="en-US" sz="3600" dirty="0">
              <a:latin typeface="Gill Sans" panose="020B0502020104020203" pitchFamily="34" charset="-79"/>
              <a:ea typeface="Heiti TC Medium" pitchFamily="2" charset="-128"/>
              <a:cs typeface="Gill Sans" panose="020B0502020104020203" pitchFamily="34" charset="-79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838200"/>
            <a:ext cx="7620000" cy="578409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749300"/>
            <a:ext cx="11168380" cy="85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74470" algn="l"/>
              </a:tabLst>
            </a:pPr>
            <a:r>
              <a:rPr sz="5600" spc="-5" dirty="0">
                <a:latin typeface="Gill Sans" panose="020B0502020104020203" pitchFamily="34" charset="-79"/>
                <a:cs typeface="Gill Sans" panose="020B0502020104020203" pitchFamily="34" charset="-79"/>
              </a:rPr>
              <a:t>The</a:t>
            </a:r>
            <a:r>
              <a:rPr lang="en-US" sz="5600" spc="-5" dirty="0">
                <a:latin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sz="5600" spc="-5" dirty="0">
                <a:latin typeface="Gill Sans" panose="020B0502020104020203" pitchFamily="34" charset="-79"/>
                <a:cs typeface="Gill Sans" panose="020B0502020104020203" pitchFamily="34" charset="-79"/>
              </a:rPr>
              <a:t>Design</a:t>
            </a:r>
            <a:r>
              <a:rPr lang="en-US" sz="5600" spc="-5" dirty="0">
                <a:latin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sz="5600" spc="-5" dirty="0">
                <a:latin typeface="Gill Sans" panose="020B0502020104020203" pitchFamily="34" charset="-79"/>
                <a:cs typeface="Gill Sans" panose="020B0502020104020203" pitchFamily="34" charset="-79"/>
              </a:rPr>
              <a:t>and Evolution of</a:t>
            </a:r>
            <a:r>
              <a:rPr sz="5600" spc="-50" dirty="0">
                <a:latin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sz="5600" dirty="0">
                <a:latin typeface="Gill Sans" panose="020B0502020104020203" pitchFamily="34" charset="-79"/>
                <a:cs typeface="Gill Sans" panose="020B0502020104020203" pitchFamily="34" charset="-79"/>
              </a:rPr>
              <a:t>C++</a:t>
            </a:r>
            <a:endParaRPr sz="560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91427" y="1930400"/>
            <a:ext cx="4529846" cy="6705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Gill Sans Std" panose="020B050202010402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7200" y="8763000"/>
            <a:ext cx="70104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Bjarne Stroustrup, </a:t>
            </a:r>
            <a:r>
              <a:rPr sz="2400" spc="-15" dirty="0">
                <a:latin typeface="Gill Sans Std" panose="020B0502020104020203" pitchFamily="34" charset="0"/>
                <a:cs typeface="Arial" panose="020B0604020202020204"/>
              </a:rPr>
              <a:t>Addison-Wesley, </a:t>
            </a: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ISBN</a:t>
            </a:r>
            <a:r>
              <a:rPr sz="2400" spc="-225" dirty="0">
                <a:latin typeface="Gill Sans Std" panose="020B0502020104020203" pitchFamily="34" charset="0"/>
                <a:cs typeface="Arial" panose="020B0604020202020204"/>
              </a:rPr>
              <a:t> </a:t>
            </a:r>
            <a:r>
              <a:rPr sz="2400" dirty="0">
                <a:latin typeface="Gill Sans Std" panose="020B0502020104020203" pitchFamily="34" charset="0"/>
                <a:cs typeface="Arial" panose="020B0604020202020204"/>
              </a:rPr>
              <a:t>0-201-54330-3</a:t>
            </a:r>
            <a:endParaRPr sz="2400" dirty="0">
              <a:latin typeface="Gill Sans Std" panose="020B0502020104020203" pitchFamily="34" charset="0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8555" y="3642359"/>
            <a:ext cx="9859645" cy="3995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" marR="5080" indent="-406400">
              <a:lnSpc>
                <a:spcPts val="4400"/>
              </a:lnSpc>
              <a:buSzPct val="100000"/>
              <a:buChar char="•"/>
              <a:tabLst>
                <a:tab pos="419100" algn="l"/>
                <a:tab pos="6029325" algn="l"/>
              </a:tabLst>
            </a:pPr>
            <a:r>
              <a:rPr sz="3800" dirty="0">
                <a:latin typeface="Gill Sans Std" panose="020B0502020104020203" pitchFamily="34" charset="0"/>
                <a:cs typeface="Gill Sans MT"/>
              </a:rPr>
              <a:t>1978: BS at</a:t>
            </a:r>
            <a:r>
              <a:rPr sz="3800" spc="-38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5" dirty="0">
                <a:latin typeface="Gill Sans Std" panose="020B0502020104020203" pitchFamily="34" charset="0"/>
                <a:cs typeface="Gill Sans MT"/>
              </a:rPr>
              <a:t>Cambridge,</a:t>
            </a:r>
            <a:r>
              <a:rPr sz="3800" spc="-38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UK.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10" dirty="0">
                <a:latin typeface="Gill Sans Std" panose="020B0502020104020203" pitchFamily="34" charset="0"/>
                <a:cs typeface="Gill Sans MT"/>
              </a:rPr>
              <a:t>Simulation</a:t>
            </a:r>
            <a:r>
              <a:rPr sz="3800" spc="-5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" panose="020B0502020104020203" pitchFamily="34" charset="0"/>
                <a:cs typeface="Gill Sans MT"/>
              </a:rPr>
              <a:t>program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in</a:t>
            </a:r>
            <a:r>
              <a:rPr sz="3800" spc="-9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i="1" spc="-10" dirty="0">
                <a:latin typeface="Gill Sans Std" panose="020B0502020104020203" pitchFamily="34" charset="0"/>
                <a:cs typeface="Gill Sans MT"/>
              </a:rPr>
              <a:t>Simula</a:t>
            </a:r>
            <a:endParaRPr sz="3800" i="1" dirty="0">
              <a:latin typeface="Gill Sans Std" panose="020B0502020104020203" pitchFamily="34" charset="0"/>
              <a:cs typeface="Gill Sans MT"/>
            </a:endParaRPr>
          </a:p>
          <a:p>
            <a:pPr marL="711200" lvl="1" indent="-355600">
              <a:lnSpc>
                <a:spcPct val="100000"/>
              </a:lnSpc>
              <a:spcBef>
                <a:spcPts val="2020"/>
              </a:spcBef>
              <a:buSzPct val="100000"/>
              <a:buChar char="•"/>
              <a:tabLst>
                <a:tab pos="711200" algn="l"/>
              </a:tabLst>
            </a:pPr>
            <a:r>
              <a:rPr sz="3400" spc="5" dirty="0">
                <a:latin typeface="Gill Sans Std" panose="020B0502020104020203" pitchFamily="34" charset="0"/>
                <a:cs typeface="Gill Sans MT"/>
              </a:rPr>
              <a:t>Supports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classes,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inheritance</a:t>
            </a:r>
            <a:r>
              <a:rPr lang="en-US" sz="3400" dirty="0">
                <a:latin typeface="Gill Sans Std" panose="020B0502020104020203" pitchFamily="34" charset="0"/>
                <a:cs typeface="Gill Sans MT"/>
              </a:rPr>
              <a:t>,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and type check</a:t>
            </a:r>
            <a:endParaRPr lang="en-US" sz="3400" dirty="0">
              <a:latin typeface="Gill Sans Std" panose="020B0502020104020203" pitchFamily="34" charset="0"/>
              <a:cs typeface="Gill Sans MT"/>
            </a:endParaRPr>
          </a:p>
          <a:p>
            <a:pPr marL="711200" lvl="1" indent="-355600">
              <a:lnSpc>
                <a:spcPct val="100000"/>
              </a:lnSpc>
              <a:spcBef>
                <a:spcPts val="2020"/>
              </a:spcBef>
              <a:buSzPct val="100000"/>
              <a:buChar char="•"/>
              <a:tabLst>
                <a:tab pos="711200" algn="l"/>
              </a:tabLst>
            </a:pPr>
            <a:r>
              <a:rPr sz="3400" spc="-25" dirty="0">
                <a:latin typeface="Gill Sans Std" panose="020B0502020104020203" pitchFamily="34" charset="0"/>
                <a:cs typeface="Gill Sans MT"/>
              </a:rPr>
              <a:t>Poor</a:t>
            </a:r>
            <a:r>
              <a:rPr sz="3400" spc="-6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performance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711200" marR="562610" lvl="1" indent="-355600">
              <a:lnSpc>
                <a:spcPts val="3900"/>
              </a:lnSpc>
              <a:spcBef>
                <a:spcPts val="2400"/>
              </a:spcBef>
              <a:buSzPct val="100000"/>
              <a:buChar char="•"/>
              <a:tabLst>
                <a:tab pos="711200" algn="l"/>
              </a:tabLst>
            </a:pP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http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: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//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ww</a:t>
            </a:r>
            <a:r>
              <a:rPr sz="3400" spc="-204" dirty="0">
                <a:latin typeface="Gill Sans Std" panose="020B0502020104020203" pitchFamily="34" charset="0"/>
                <a:cs typeface="Gill Sans MT"/>
                <a:hlinkClick r:id="rId1"/>
              </a:rPr>
              <a:t>w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.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eng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i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n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.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umd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.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um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i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ch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.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edu/CIS/cours</a:t>
            </a:r>
            <a:r>
              <a:rPr sz="3400" spc="65" dirty="0">
                <a:latin typeface="Gill Sans Std" panose="020B0502020104020203" pitchFamily="34" charset="0"/>
                <a:cs typeface="Gill Sans MT"/>
                <a:hlinkClick r:id="rId1"/>
              </a:rPr>
              <a:t>e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.</a:t>
            </a:r>
            <a:r>
              <a:rPr sz="3400" dirty="0">
                <a:latin typeface="Gill Sans Std" panose="020B0502020104020203" pitchFamily="34" charset="0"/>
                <a:cs typeface="Gill Sans MT"/>
                <a:hlinkClick r:id="rId1"/>
              </a:rPr>
              <a:t>des</a:t>
            </a:r>
            <a:r>
              <a:rPr lang="en-US" sz="3400" dirty="0">
                <a:latin typeface="Gill Sans Std" panose="020B0502020104020203" pitchFamily="34" charset="0"/>
                <a:cs typeface="Gill Sans MT"/>
                <a:hlinkClick r:id="rId1"/>
              </a:rPr>
              <a:t>/</a:t>
            </a:r>
            <a:r>
              <a:rPr sz="3400" spc="-5" dirty="0">
                <a:latin typeface="Gill Sans Std" panose="020B0502020104020203" pitchFamily="34" charset="0"/>
                <a:cs typeface="Gill Sans MT"/>
                <a:hlinkClick r:id="rId1"/>
              </a:rPr>
              <a:t>cis400/simula/simula.html</a:t>
            </a:r>
            <a:r>
              <a:rPr lang="en-US" sz="3400" spc="-5" dirty="0">
                <a:latin typeface="Gill Sans Std" panose="020B0502020104020203" pitchFamily="34" charset="0"/>
                <a:cs typeface="Gill Sans MT"/>
              </a:rPr>
              <a:t> 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Br</a:t>
            </a:r>
            <a:r>
              <a:rPr lang="en-US" altLang="zh-CN" spc="-5" dirty="0"/>
              <a:t>i</a:t>
            </a:r>
            <a:r>
              <a:rPr lang="en-US" altLang="zh-CN" dirty="0"/>
              <a:t>ef</a:t>
            </a:r>
            <a:r>
              <a:rPr lang="en-US" altLang="zh-CN" spc="-5" dirty="0"/>
              <a:t> </a:t>
            </a:r>
            <a:r>
              <a:rPr lang="en-US" altLang="zh-CN" dirty="0"/>
              <a:t>h</a:t>
            </a:r>
            <a:r>
              <a:rPr lang="en-US" altLang="zh-CN" spc="-5" dirty="0"/>
              <a:t>i</a:t>
            </a:r>
            <a:r>
              <a:rPr lang="en-US" altLang="zh-CN" dirty="0"/>
              <a:t>sto</a:t>
            </a:r>
            <a:r>
              <a:rPr lang="en-US" altLang="zh-CN" spc="250" dirty="0"/>
              <a:t>r</a:t>
            </a:r>
            <a:r>
              <a:rPr lang="en-US" altLang="zh-CN" dirty="0"/>
              <a:t>y of</a:t>
            </a:r>
            <a:r>
              <a:rPr lang="en-US" altLang="zh-CN" spc="-5" dirty="0"/>
              <a:t> C+</a:t>
            </a:r>
            <a:r>
              <a:rPr lang="en-US" altLang="zh-CN" dirty="0"/>
              <a:t>+ </a:t>
            </a:r>
            <a:r>
              <a:rPr lang="en-US" altLang="zh-CN" spc="-5" dirty="0"/>
              <a:t>(</a:t>
            </a:r>
            <a:r>
              <a:rPr lang="en-US" altLang="zh-CN" dirty="0"/>
              <a:t>1)</a:t>
            </a:r>
            <a:endParaRPr lang="en-US" kern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2045" y="3124200"/>
            <a:ext cx="10714356" cy="6032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5290" indent="-402590">
              <a:spcBef>
                <a:spcPts val="1200"/>
              </a:spcBef>
              <a:buSzPct val="100000"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1979: BS</a:t>
            </a:r>
            <a:r>
              <a:rPr lang="en-US" altLang="zh-CN" sz="3800" spc="-38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at</a:t>
            </a:r>
            <a:r>
              <a:rPr lang="en-US" altLang="zh-CN" sz="3800" spc="-100" dirty="0">
                <a:latin typeface="Gill Sans Std" panose="020B0502020104020203" pitchFamily="34" charset="0"/>
                <a:cs typeface="Gill Sans MT"/>
              </a:rPr>
              <a:t> AT&amp;T </a:t>
            </a:r>
            <a:r>
              <a:rPr lang="en-US" altLang="zh-CN" sz="3800" spc="-5" dirty="0">
                <a:latin typeface="Gill Sans Std" panose="020B0502020104020203" pitchFamily="34" charset="0"/>
                <a:cs typeface="Gill Sans MT"/>
              </a:rPr>
              <a:t>Labs, </a:t>
            </a:r>
            <a:r>
              <a:rPr lang="en-US" altLang="zh-CN" sz="3800" spc="-5" dirty="0" err="1">
                <a:latin typeface="Gill Sans Std" panose="020B0502020104020203" pitchFamily="34" charset="0"/>
                <a:cs typeface="Gill Sans MT"/>
              </a:rPr>
              <a:t>Cpre</a:t>
            </a:r>
            <a:r>
              <a:rPr lang="en-US" altLang="zh-CN" sz="3800" spc="-5" dirty="0">
                <a:latin typeface="Gill Sans Std" panose="020B0502020104020203" pitchFamily="34" charset="0"/>
                <a:cs typeface="Gill Sans MT"/>
              </a:rPr>
              <a:t>,</a:t>
            </a:r>
            <a:r>
              <a:rPr lang="en-US" altLang="zh-CN" sz="3800" spc="-750" dirty="0">
                <a:latin typeface="Gill Sans Std" panose="020B0502020104020203" pitchFamily="34" charset="0"/>
                <a:cs typeface="Gill Sans MT"/>
              </a:rPr>
              <a:t>  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C</a:t>
            </a:r>
            <a:r>
              <a:rPr lang="en-US" altLang="zh-CN" sz="3800" spc="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altLang="zh-CN" sz="3800" spc="-5" dirty="0">
                <a:latin typeface="Gill Sans Std" panose="020B0502020104020203" pitchFamily="34" charset="0"/>
                <a:cs typeface="Gill Sans MT"/>
              </a:rPr>
              <a:t>w/classes</a:t>
            </a:r>
            <a:endParaRPr lang="en-US" altLang="zh-CN" sz="3800" spc="-5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FontTx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1980: most C++ features but virtual functions</a:t>
            </a: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FontTx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1983: C++ w/virtual functions, named C++ by Rick </a:t>
            </a:r>
            <a:r>
              <a:rPr lang="en-US" altLang="zh-CN" sz="3800" dirty="0" err="1">
                <a:latin typeface="Gill Sans Std" panose="020B0502020104020203" pitchFamily="34" charset="0"/>
                <a:cs typeface="Gill Sans MT"/>
              </a:rPr>
              <a:t>Mascitti</a:t>
            </a: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FontTx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1985: “The C++ Programming Language”</a:t>
            </a: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FontTx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1990: ANSI C++ Committee ISO/ANSI</a:t>
            </a: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FontTx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Standard C++ in 1998: ISO/IEC 14882 (</a:t>
            </a:r>
            <a:r>
              <a:rPr lang="en-US" altLang="zh-CN" sz="3800" u="sng" dirty="0">
                <a:latin typeface="Gill Sans Std" panose="020B0502020104020203" pitchFamily="34" charset="0"/>
                <a:cs typeface="Gill Sans MT"/>
                <a:hlinkClick r:id="rId1"/>
              </a:rPr>
              <a:t>http://www.open-std.org/jtc1/sc22/</a:t>
            </a:r>
            <a:r>
              <a:rPr lang="en-US" altLang="zh-CN" sz="3800" u="sng" dirty="0">
                <a:latin typeface="Gill Sans Std" panose="020B0502020104020203" pitchFamily="34" charset="0"/>
                <a:cs typeface="Gill Sans MT"/>
              </a:rPr>
              <a:t>wg21/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)</a:t>
            </a:r>
            <a:endParaRPr lang="zh-CN" altLang="en-US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lnSpc>
                <a:spcPct val="100000"/>
              </a:lnSpc>
              <a:buSzPct val="100000"/>
              <a:buChar char="•"/>
              <a:tabLst>
                <a:tab pos="415925" algn="l"/>
                <a:tab pos="3943350" algn="l"/>
                <a:tab pos="7292975" algn="l"/>
              </a:tabLst>
            </a:pP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Br</a:t>
            </a:r>
            <a:r>
              <a:rPr lang="en-US" altLang="zh-CN" spc="-5" dirty="0"/>
              <a:t>i</a:t>
            </a:r>
            <a:r>
              <a:rPr lang="en-US" altLang="zh-CN" dirty="0"/>
              <a:t>ef</a:t>
            </a:r>
            <a:r>
              <a:rPr lang="en-US" altLang="zh-CN" spc="-5" dirty="0"/>
              <a:t> </a:t>
            </a:r>
            <a:r>
              <a:rPr lang="en-US" altLang="zh-CN" dirty="0"/>
              <a:t>h</a:t>
            </a:r>
            <a:r>
              <a:rPr lang="en-US" altLang="zh-CN" spc="-5" dirty="0"/>
              <a:t>i</a:t>
            </a:r>
            <a:r>
              <a:rPr lang="en-US" altLang="zh-CN" dirty="0"/>
              <a:t>sto</a:t>
            </a:r>
            <a:r>
              <a:rPr lang="en-US" altLang="zh-CN" spc="250" dirty="0"/>
              <a:t>r</a:t>
            </a:r>
            <a:r>
              <a:rPr lang="en-US" altLang="zh-CN" dirty="0"/>
              <a:t>y of</a:t>
            </a:r>
            <a:r>
              <a:rPr lang="en-US" altLang="zh-CN" spc="-5" dirty="0"/>
              <a:t> C+</a:t>
            </a:r>
            <a:r>
              <a:rPr lang="en-US" altLang="zh-CN" dirty="0"/>
              <a:t>+ </a:t>
            </a:r>
            <a:r>
              <a:rPr lang="en-US" altLang="zh-CN" spc="-5" dirty="0"/>
              <a:t>(</a:t>
            </a:r>
            <a:r>
              <a:rPr lang="en-US" altLang="zh-CN" dirty="0"/>
              <a:t>2)</a:t>
            </a:r>
            <a:endParaRPr lang="en-US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2045" y="3124200"/>
            <a:ext cx="10714356" cy="1908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5290" indent="-402590">
              <a:spcBef>
                <a:spcPts val="1200"/>
              </a:spcBef>
              <a:buSzPct val="100000"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C++03, C++11, </a:t>
            </a:r>
            <a:r>
              <a:rPr lang="en-US" altLang="zh-CN" sz="3800" dirty="0" err="1">
                <a:latin typeface="Gill Sans Std" panose="020B0502020104020203" pitchFamily="34" charset="0"/>
                <a:cs typeface="Gill Sans MT"/>
              </a:rPr>
              <a:t>c++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14, </a:t>
            </a:r>
            <a:r>
              <a:rPr lang="en-US" altLang="zh-CN" sz="3800" dirty="0" err="1">
                <a:latin typeface="Gill Sans Std" panose="020B0502020104020203" pitchFamily="34" charset="0"/>
                <a:cs typeface="Gill Sans MT"/>
              </a:rPr>
              <a:t>c++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17, </a:t>
            </a:r>
            <a:r>
              <a:rPr lang="en-US" altLang="zh-CN" sz="3800" dirty="0" err="1">
                <a:latin typeface="Gill Sans Std" panose="020B0502020104020203" pitchFamily="34" charset="0"/>
                <a:cs typeface="Gill Sans MT"/>
              </a:rPr>
              <a:t>c++</a:t>
            </a: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20</a:t>
            </a: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spcBef>
                <a:spcPts val="1200"/>
              </a:spcBef>
              <a:buSzPct val="100000"/>
              <a:buChar char="•"/>
              <a:tabLst>
                <a:tab pos="415925" algn="l"/>
                <a:tab pos="3943350" algn="l"/>
                <a:tab pos="729297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To be continued …</a:t>
            </a:r>
            <a:endParaRPr lang="zh-CN" altLang="en-US" sz="3800" dirty="0">
              <a:latin typeface="Gill Sans Std" panose="020B0502020104020203" pitchFamily="34" charset="0"/>
              <a:cs typeface="Gill Sans MT"/>
            </a:endParaRPr>
          </a:p>
          <a:p>
            <a:pPr marL="415290" indent="-402590">
              <a:lnSpc>
                <a:spcPct val="100000"/>
              </a:lnSpc>
              <a:buSzPct val="100000"/>
              <a:buChar char="•"/>
              <a:tabLst>
                <a:tab pos="415925" algn="l"/>
                <a:tab pos="3943350" algn="l"/>
                <a:tab pos="7292975" algn="l"/>
              </a:tabLst>
            </a:pPr>
            <a:endParaRPr lang="en-US" altLang="zh-CN" sz="38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Br</a:t>
            </a:r>
            <a:r>
              <a:rPr lang="en-US" altLang="zh-CN" spc="-5" dirty="0"/>
              <a:t>i</a:t>
            </a:r>
            <a:r>
              <a:rPr lang="en-US" altLang="zh-CN" dirty="0"/>
              <a:t>ef</a:t>
            </a:r>
            <a:r>
              <a:rPr lang="en-US" altLang="zh-CN" spc="-5" dirty="0"/>
              <a:t> </a:t>
            </a:r>
            <a:r>
              <a:rPr lang="en-US" altLang="zh-CN" dirty="0"/>
              <a:t>h</a:t>
            </a:r>
            <a:r>
              <a:rPr lang="en-US" altLang="zh-CN" spc="-5" dirty="0"/>
              <a:t>i</a:t>
            </a:r>
            <a:r>
              <a:rPr lang="en-US" altLang="zh-CN" dirty="0"/>
              <a:t>sto</a:t>
            </a:r>
            <a:r>
              <a:rPr lang="en-US" altLang="zh-CN" spc="250" dirty="0"/>
              <a:t>r</a:t>
            </a:r>
            <a:r>
              <a:rPr lang="en-US" altLang="zh-CN" dirty="0"/>
              <a:t>y of</a:t>
            </a:r>
            <a:r>
              <a:rPr lang="en-US" altLang="zh-CN" spc="-5" dirty="0"/>
              <a:t> C+</a:t>
            </a:r>
            <a:r>
              <a:rPr lang="en-US" altLang="zh-CN" dirty="0"/>
              <a:t>+ </a:t>
            </a:r>
            <a:r>
              <a:rPr lang="en-US" altLang="zh-CN" spc="-5" dirty="0"/>
              <a:t>(</a:t>
            </a:r>
            <a:r>
              <a:rPr lang="en-US" altLang="zh-CN" dirty="0"/>
              <a:t>3)</a:t>
            </a:r>
            <a:endParaRPr lang="en-US" kern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4279900"/>
            <a:ext cx="9123680" cy="2665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" indent="-406400">
              <a:lnSpc>
                <a:spcPct val="100000"/>
              </a:lnSpc>
              <a:buSzPct val="100000"/>
              <a:buChar char="•"/>
              <a:tabLst>
                <a:tab pos="419100" algn="l"/>
                <a:tab pos="979805" algn="l"/>
              </a:tabLst>
            </a:pPr>
            <a:r>
              <a:rPr lang="en-US" altLang="zh-CN" sz="3800" dirty="0">
                <a:latin typeface="Gill Sans Std" panose="020B0502020104020203" pitchFamily="34" charset="0"/>
                <a:cs typeface="Gill Sans MT"/>
              </a:rPr>
              <a:t>T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o	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combine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: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711200" lvl="1" indent="-3556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711200" algn="l"/>
              </a:tabLst>
            </a:pPr>
            <a:r>
              <a:rPr sz="3400" spc="-5" dirty="0">
                <a:latin typeface="Gill Sans Std" panose="020B0502020104020203" pitchFamily="34" charset="0"/>
                <a:cs typeface="Gill Sans MT"/>
              </a:rPr>
              <a:t>Flexibility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and </a:t>
            </a:r>
            <a:r>
              <a:rPr sz="3400" spc="10" dirty="0">
                <a:latin typeface="Gill Sans Std" panose="020B0502020104020203" pitchFamily="34" charset="0"/>
                <a:cs typeface="Gill Sans MT"/>
              </a:rPr>
              <a:t>efficiency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of</a:t>
            </a:r>
            <a:r>
              <a:rPr sz="3400" spc="-8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C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711200" marR="5080" lvl="1" indent="-355600">
              <a:lnSpc>
                <a:spcPts val="3900"/>
              </a:lnSpc>
              <a:spcBef>
                <a:spcPts val="2400"/>
              </a:spcBef>
              <a:buSzPct val="100000"/>
              <a:buChar char="•"/>
              <a:tabLst>
                <a:tab pos="711200" algn="l"/>
              </a:tabLst>
            </a:pPr>
            <a:r>
              <a:rPr sz="3400" spc="5" dirty="0">
                <a:latin typeface="Gill Sans Std" panose="020B0502020104020203" pitchFamily="34" charset="0"/>
                <a:cs typeface="Gill Sans MT"/>
              </a:rPr>
              <a:t>Support </a:t>
            </a:r>
            <a:r>
              <a:rPr sz="3400" spc="-15" dirty="0">
                <a:latin typeface="Gill Sans Std" panose="020B0502020104020203" pitchFamily="34" charset="0"/>
                <a:cs typeface="Gill Sans MT"/>
              </a:rPr>
              <a:t>for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object</a:t>
            </a:r>
            <a:r>
              <a:rPr lang="en-US" sz="3400" spc="-5" dirty="0">
                <a:latin typeface="Gill Sans Std" panose="020B0502020104020203" pitchFamily="34" charset="0"/>
                <a:cs typeface="Gill Sans MT"/>
              </a:rPr>
              <a:t>-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oriented </a:t>
            </a:r>
            <a:r>
              <a:rPr sz="3400" spc="-10" dirty="0">
                <a:latin typeface="Gill Sans Std" panose="020B0502020104020203" pitchFamily="34" charset="0"/>
                <a:cs typeface="Gill Sans MT"/>
              </a:rPr>
              <a:t>programming </a:t>
            </a:r>
            <a:r>
              <a:rPr sz="3400" spc="-20" dirty="0">
                <a:latin typeface="Gill Sans Std" panose="020B0502020104020203" pitchFamily="34" charset="0"/>
                <a:cs typeface="Gill Sans MT"/>
              </a:rPr>
              <a:t>(from  </a:t>
            </a:r>
            <a:r>
              <a:rPr lang="en-US" sz="3400" i="1" spc="-20" dirty="0" err="1">
                <a:latin typeface="Gill Sans Std" panose="020B0502020104020203" pitchFamily="34" charset="0"/>
                <a:cs typeface="Gill Sans MT"/>
              </a:rPr>
              <a:t>Simula</a:t>
            </a:r>
            <a:r>
              <a:rPr lang="en-US" sz="3400" spc="-20" dirty="0">
                <a:latin typeface="Gill Sans Std" panose="020B0502020104020203" pitchFamily="34" charset="0"/>
                <a:cs typeface="Gill Sans MT"/>
              </a:rPr>
              <a:t> and </a:t>
            </a:r>
            <a:r>
              <a:rPr sz="3400" i="1" spc="-45" dirty="0" err="1">
                <a:latin typeface="Gill Sans Std" panose="020B0502020104020203" pitchFamily="34" charset="0"/>
                <a:cs typeface="Gill Sans MT"/>
              </a:rPr>
              <a:t>SmallTalk</a:t>
            </a:r>
            <a:r>
              <a:rPr sz="3400" spc="-45" dirty="0">
                <a:latin typeface="Gill Sans Std" panose="020B0502020104020203" pitchFamily="34" charset="0"/>
                <a:cs typeface="Gill Sans MT"/>
              </a:rPr>
              <a:t>)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/>
              <a:t>Goal </a:t>
            </a:r>
            <a:r>
              <a:rPr lang="en-US" altLang="zh-CN" spc="-30" dirty="0"/>
              <a:t>for</a:t>
            </a:r>
            <a:r>
              <a:rPr lang="en-US" altLang="zh-CN" spc="-85" dirty="0"/>
              <a:t> </a:t>
            </a:r>
            <a:r>
              <a:rPr lang="en-US" altLang="zh-CN" dirty="0"/>
              <a:t>C++</a:t>
            </a:r>
            <a:endParaRPr lang="en-US" kern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60575" y="5943600"/>
            <a:ext cx="8883650" cy="31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" indent="-406400">
              <a:lnSpc>
                <a:spcPct val="100000"/>
              </a:lnSpc>
              <a:buSzPct val="100000"/>
              <a:buChar char="•"/>
              <a:tabLst>
                <a:tab pos="419100" algn="l"/>
                <a:tab pos="1457960" algn="l"/>
                <a:tab pos="2718435" algn="l"/>
              </a:tabLst>
            </a:pPr>
            <a:r>
              <a:rPr sz="3800" dirty="0">
                <a:latin typeface="Gill Sans Std" panose="020B0502020104020203" pitchFamily="34" charset="0"/>
                <a:cs typeface="Gill Sans MT"/>
              </a:rPr>
              <a:t>C++	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builds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on</a:t>
            </a:r>
            <a:r>
              <a:rPr sz="3800" spc="-10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C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419100" indent="-4064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419100" algn="l"/>
                <a:tab pos="4875530" algn="l"/>
              </a:tabLst>
            </a:pPr>
            <a:r>
              <a:rPr sz="3800" spc="-10" dirty="0">
                <a:latin typeface="Gill Sans Std" panose="020B0502020104020203" pitchFamily="34" charset="0"/>
                <a:cs typeface="Gill Sans MT"/>
              </a:rPr>
              <a:t>Knowledge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of</a:t>
            </a:r>
            <a:r>
              <a:rPr sz="3800" spc="3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C</a:t>
            </a:r>
            <a:r>
              <a:rPr sz="3800" spc="1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helps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30" dirty="0">
                <a:latin typeface="Gill Sans Std" panose="020B0502020104020203" pitchFamily="34" charset="0"/>
                <a:cs typeface="Gill Sans MT"/>
              </a:rPr>
              <a:t>you 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in</a:t>
            </a:r>
            <a:r>
              <a:rPr sz="3800" spc="-6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C++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419100" indent="-4064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419100" algn="l"/>
                <a:tab pos="1457960" algn="l"/>
                <a:tab pos="5528945" algn="l"/>
              </a:tabLst>
            </a:pPr>
            <a:r>
              <a:rPr sz="3800" dirty="0">
                <a:latin typeface="Gill Sans Std" panose="020B0502020104020203" pitchFamily="34" charset="0"/>
                <a:cs typeface="Gill Sans MT"/>
              </a:rPr>
              <a:t>C++	</a:t>
            </a:r>
            <a:r>
              <a:rPr sz="3800" spc="10" dirty="0">
                <a:latin typeface="Gill Sans Std" panose="020B0502020104020203" pitchFamily="34" charset="0"/>
                <a:cs typeface="Gill Sans MT"/>
              </a:rPr>
              <a:t>support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20" dirty="0">
                <a:latin typeface="Gill Sans Std" panose="020B0502020104020203" pitchFamily="34" charset="0"/>
                <a:cs typeface="Gill Sans MT"/>
              </a:rPr>
              <a:t>more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styles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of</a:t>
            </a:r>
            <a:r>
              <a:rPr sz="3800" spc="-9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10" dirty="0">
                <a:latin typeface="Gill Sans Std" panose="020B0502020104020203" pitchFamily="34" charset="0"/>
                <a:cs typeface="Gill Sans MT"/>
              </a:rPr>
              <a:t>programming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419100" indent="-406400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419100" algn="l"/>
                <a:tab pos="1457960" algn="l"/>
                <a:tab pos="3254375" algn="l"/>
              </a:tabLst>
            </a:pPr>
            <a:r>
              <a:rPr sz="3800" dirty="0">
                <a:latin typeface="Gill Sans Std" panose="020B0502020104020203" pitchFamily="34" charset="0"/>
                <a:cs typeface="Gill Sans MT"/>
              </a:rPr>
              <a:t>C++	</a:t>
            </a:r>
            <a:r>
              <a:rPr sz="3800" spc="-20" dirty="0">
                <a:latin typeface="Gill Sans Std" panose="020B0502020104020203" pitchFamily="34" charset="0"/>
                <a:cs typeface="Gill Sans MT"/>
              </a:rPr>
              <a:t>provides	more</a:t>
            </a:r>
            <a:r>
              <a:rPr sz="3800" spc="-10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-15" dirty="0">
                <a:latin typeface="Gill Sans Std" panose="020B0502020104020203" pitchFamily="34" charset="0"/>
                <a:cs typeface="Gill Sans MT"/>
              </a:rPr>
              <a:t>features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422650" y="2362200"/>
            <a:ext cx="6159500" cy="3022600"/>
            <a:chOff x="3422650" y="2362200"/>
            <a:chExt cx="6159500" cy="3022600"/>
          </a:xfrm>
        </p:grpSpPr>
        <p:sp>
          <p:nvSpPr>
            <p:cNvPr id="4" name="object 4"/>
            <p:cNvSpPr/>
            <p:nvPr/>
          </p:nvSpPr>
          <p:spPr>
            <a:xfrm>
              <a:off x="3422650" y="2362200"/>
              <a:ext cx="6159500" cy="3022600"/>
            </a:xfrm>
            <a:custGeom>
              <a:avLst/>
              <a:gdLst/>
              <a:ahLst/>
              <a:cxnLst/>
              <a:rect l="l" t="t" r="r" b="b"/>
              <a:pathLst>
                <a:path w="6159500" h="3022600">
                  <a:moveTo>
                    <a:pt x="0" y="0"/>
                  </a:moveTo>
                  <a:lnTo>
                    <a:pt x="6159500" y="0"/>
                  </a:lnTo>
                  <a:lnTo>
                    <a:pt x="6159500" y="3022600"/>
                  </a:lnTo>
                  <a:lnTo>
                    <a:pt x="0" y="302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CEFE"/>
            </a:solidFill>
          </p:spPr>
          <p:txBody>
            <a:bodyPr wrap="square" lIns="0" tIns="0" rIns="0" bIns="0" rtlCol="0"/>
            <a:lstStyle/>
            <a:p>
              <a:endParaRPr>
                <a:latin typeface="Gill Sans Std" panose="020B0502020104020203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22650" y="2362200"/>
              <a:ext cx="6159500" cy="3022600"/>
            </a:xfrm>
            <a:custGeom>
              <a:avLst/>
              <a:gdLst/>
              <a:ahLst/>
              <a:cxnLst/>
              <a:rect l="l" t="t" r="r" b="b"/>
              <a:pathLst>
                <a:path w="6159500" h="3022600">
                  <a:moveTo>
                    <a:pt x="0" y="0"/>
                  </a:moveTo>
                  <a:lnTo>
                    <a:pt x="6159500" y="0"/>
                  </a:lnTo>
                  <a:lnTo>
                    <a:pt x="6159500" y="3022600"/>
                  </a:lnTo>
                  <a:lnTo>
                    <a:pt x="0" y="3022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Gill Sans Std" panose="020B0502020104020203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508500" y="2687320"/>
              <a:ext cx="3987800" cy="2146300"/>
            </a:xfrm>
            <a:custGeom>
              <a:avLst/>
              <a:gdLst/>
              <a:ahLst/>
              <a:cxnLst/>
              <a:rect l="l" t="t" r="r" b="b"/>
              <a:pathLst>
                <a:path w="3987800" h="2146300">
                  <a:moveTo>
                    <a:pt x="1993903" y="0"/>
                  </a:moveTo>
                  <a:lnTo>
                    <a:pt x="1942879" y="349"/>
                  </a:lnTo>
                  <a:lnTo>
                    <a:pt x="1891882" y="1397"/>
                  </a:lnTo>
                  <a:lnTo>
                    <a:pt x="1840939" y="3143"/>
                  </a:lnTo>
                  <a:lnTo>
                    <a:pt x="1790076" y="5588"/>
                  </a:lnTo>
                  <a:lnTo>
                    <a:pt x="1739321" y="8731"/>
                  </a:lnTo>
                  <a:lnTo>
                    <a:pt x="1688701" y="12573"/>
                  </a:lnTo>
                  <a:lnTo>
                    <a:pt x="1638241" y="17113"/>
                  </a:lnTo>
                  <a:lnTo>
                    <a:pt x="1587970" y="22351"/>
                  </a:lnTo>
                  <a:lnTo>
                    <a:pt x="1537914" y="28289"/>
                  </a:lnTo>
                  <a:lnTo>
                    <a:pt x="1488100" y="34925"/>
                  </a:lnTo>
                  <a:lnTo>
                    <a:pt x="1438554" y="42259"/>
                  </a:lnTo>
                  <a:lnTo>
                    <a:pt x="1389304" y="50292"/>
                  </a:lnTo>
                  <a:lnTo>
                    <a:pt x="1340377" y="59023"/>
                  </a:lnTo>
                  <a:lnTo>
                    <a:pt x="1291799" y="68452"/>
                  </a:lnTo>
                  <a:lnTo>
                    <a:pt x="1243597" y="78581"/>
                  </a:lnTo>
                  <a:lnTo>
                    <a:pt x="1195799" y="89407"/>
                  </a:lnTo>
                  <a:lnTo>
                    <a:pt x="1148431" y="100933"/>
                  </a:lnTo>
                  <a:lnTo>
                    <a:pt x="1101519" y="113156"/>
                  </a:lnTo>
                  <a:lnTo>
                    <a:pt x="1055091" y="126079"/>
                  </a:lnTo>
                  <a:lnTo>
                    <a:pt x="1009175" y="139700"/>
                  </a:lnTo>
                  <a:lnTo>
                    <a:pt x="963795" y="154019"/>
                  </a:lnTo>
                  <a:lnTo>
                    <a:pt x="918980" y="169037"/>
                  </a:lnTo>
                  <a:lnTo>
                    <a:pt x="874757" y="184753"/>
                  </a:lnTo>
                  <a:lnTo>
                    <a:pt x="831151" y="201168"/>
                  </a:lnTo>
                  <a:lnTo>
                    <a:pt x="788191" y="218281"/>
                  </a:lnTo>
                  <a:lnTo>
                    <a:pt x="745902" y="236093"/>
                  </a:lnTo>
                  <a:lnTo>
                    <a:pt x="704313" y="254603"/>
                  </a:lnTo>
                  <a:lnTo>
                    <a:pt x="663449" y="273812"/>
                  </a:lnTo>
                  <a:lnTo>
                    <a:pt x="623338" y="293719"/>
                  </a:lnTo>
                  <a:lnTo>
                    <a:pt x="584006" y="314325"/>
                  </a:lnTo>
                  <a:lnTo>
                    <a:pt x="536353" y="340852"/>
                  </a:lnTo>
                  <a:lnTo>
                    <a:pt x="490727" y="368029"/>
                  </a:lnTo>
                  <a:lnTo>
                    <a:pt x="447129" y="395828"/>
                  </a:lnTo>
                  <a:lnTo>
                    <a:pt x="405559" y="424220"/>
                  </a:lnTo>
                  <a:lnTo>
                    <a:pt x="366017" y="453177"/>
                  </a:lnTo>
                  <a:lnTo>
                    <a:pt x="328503" y="482671"/>
                  </a:lnTo>
                  <a:lnTo>
                    <a:pt x="293017" y="512673"/>
                  </a:lnTo>
                  <a:lnTo>
                    <a:pt x="259558" y="543156"/>
                  </a:lnTo>
                  <a:lnTo>
                    <a:pt x="228127" y="574091"/>
                  </a:lnTo>
                  <a:lnTo>
                    <a:pt x="198724" y="605450"/>
                  </a:lnTo>
                  <a:lnTo>
                    <a:pt x="171349" y="637204"/>
                  </a:lnTo>
                  <a:lnTo>
                    <a:pt x="146001" y="669326"/>
                  </a:lnTo>
                  <a:lnTo>
                    <a:pt x="122681" y="701786"/>
                  </a:lnTo>
                  <a:lnTo>
                    <a:pt x="101389" y="734558"/>
                  </a:lnTo>
                  <a:lnTo>
                    <a:pt x="82125" y="767612"/>
                  </a:lnTo>
                  <a:lnTo>
                    <a:pt x="49681" y="834455"/>
                  </a:lnTo>
                  <a:lnTo>
                    <a:pt x="25347" y="902088"/>
                  </a:lnTo>
                  <a:lnTo>
                    <a:pt x="9125" y="970287"/>
                  </a:lnTo>
                  <a:lnTo>
                    <a:pt x="1013" y="1038826"/>
                  </a:lnTo>
                  <a:lnTo>
                    <a:pt x="0" y="1073151"/>
                  </a:lnTo>
                  <a:lnTo>
                    <a:pt x="1013" y="1107477"/>
                  </a:lnTo>
                  <a:lnTo>
                    <a:pt x="9125" y="1176015"/>
                  </a:lnTo>
                  <a:lnTo>
                    <a:pt x="25347" y="1244214"/>
                  </a:lnTo>
                  <a:lnTo>
                    <a:pt x="49681" y="1311848"/>
                  </a:lnTo>
                  <a:lnTo>
                    <a:pt x="82125" y="1378692"/>
                  </a:lnTo>
                  <a:lnTo>
                    <a:pt x="101389" y="1411746"/>
                  </a:lnTo>
                  <a:lnTo>
                    <a:pt x="122681" y="1444518"/>
                  </a:lnTo>
                  <a:lnTo>
                    <a:pt x="146001" y="1476979"/>
                  </a:lnTo>
                  <a:lnTo>
                    <a:pt x="171349" y="1509101"/>
                  </a:lnTo>
                  <a:lnTo>
                    <a:pt x="198724" y="1540856"/>
                  </a:lnTo>
                  <a:lnTo>
                    <a:pt x="228127" y="1572215"/>
                  </a:lnTo>
                  <a:lnTo>
                    <a:pt x="259558" y="1603150"/>
                  </a:lnTo>
                  <a:lnTo>
                    <a:pt x="293017" y="1633634"/>
                  </a:lnTo>
                  <a:lnTo>
                    <a:pt x="328503" y="1663637"/>
                  </a:lnTo>
                  <a:lnTo>
                    <a:pt x="366017" y="1693131"/>
                  </a:lnTo>
                  <a:lnTo>
                    <a:pt x="405559" y="1722089"/>
                  </a:lnTo>
                  <a:lnTo>
                    <a:pt x="447129" y="1750482"/>
                  </a:lnTo>
                  <a:lnTo>
                    <a:pt x="490727" y="1778281"/>
                  </a:lnTo>
                  <a:lnTo>
                    <a:pt x="536353" y="1805459"/>
                  </a:lnTo>
                  <a:lnTo>
                    <a:pt x="584006" y="1831987"/>
                  </a:lnTo>
                  <a:lnTo>
                    <a:pt x="623338" y="1852592"/>
                  </a:lnTo>
                  <a:lnTo>
                    <a:pt x="663449" y="1872499"/>
                  </a:lnTo>
                  <a:lnTo>
                    <a:pt x="704313" y="1891707"/>
                  </a:lnTo>
                  <a:lnTo>
                    <a:pt x="745902" y="1910217"/>
                  </a:lnTo>
                  <a:lnTo>
                    <a:pt x="788191" y="1928028"/>
                  </a:lnTo>
                  <a:lnTo>
                    <a:pt x="831151" y="1945141"/>
                  </a:lnTo>
                  <a:lnTo>
                    <a:pt x="874757" y="1961555"/>
                  </a:lnTo>
                  <a:lnTo>
                    <a:pt x="918980" y="1977271"/>
                  </a:lnTo>
                  <a:lnTo>
                    <a:pt x="963795" y="1992288"/>
                  </a:lnTo>
                  <a:lnTo>
                    <a:pt x="1009175" y="2006607"/>
                  </a:lnTo>
                  <a:lnTo>
                    <a:pt x="1055091" y="2020227"/>
                  </a:lnTo>
                  <a:lnTo>
                    <a:pt x="1101519" y="2033149"/>
                  </a:lnTo>
                  <a:lnTo>
                    <a:pt x="1148431" y="2045372"/>
                  </a:lnTo>
                  <a:lnTo>
                    <a:pt x="1195799" y="2056897"/>
                  </a:lnTo>
                  <a:lnTo>
                    <a:pt x="1243597" y="2067724"/>
                  </a:lnTo>
                  <a:lnTo>
                    <a:pt x="1291799" y="2077852"/>
                  </a:lnTo>
                  <a:lnTo>
                    <a:pt x="1340377" y="2087281"/>
                  </a:lnTo>
                  <a:lnTo>
                    <a:pt x="1389304" y="2096012"/>
                  </a:lnTo>
                  <a:lnTo>
                    <a:pt x="1438554" y="2104045"/>
                  </a:lnTo>
                  <a:lnTo>
                    <a:pt x="1488100" y="2111379"/>
                  </a:lnTo>
                  <a:lnTo>
                    <a:pt x="1537914" y="2118014"/>
                  </a:lnTo>
                  <a:lnTo>
                    <a:pt x="1587970" y="2123951"/>
                  </a:lnTo>
                  <a:lnTo>
                    <a:pt x="1638241" y="2129190"/>
                  </a:lnTo>
                  <a:lnTo>
                    <a:pt x="1688701" y="2133730"/>
                  </a:lnTo>
                  <a:lnTo>
                    <a:pt x="1739321" y="2137572"/>
                  </a:lnTo>
                  <a:lnTo>
                    <a:pt x="1790076" y="2140715"/>
                  </a:lnTo>
                  <a:lnTo>
                    <a:pt x="1840939" y="2143160"/>
                  </a:lnTo>
                  <a:lnTo>
                    <a:pt x="1891882" y="2144906"/>
                  </a:lnTo>
                  <a:lnTo>
                    <a:pt x="1942879" y="2145953"/>
                  </a:lnTo>
                  <a:lnTo>
                    <a:pt x="1993903" y="2146303"/>
                  </a:lnTo>
                  <a:lnTo>
                    <a:pt x="2044926" y="2145953"/>
                  </a:lnTo>
                  <a:lnTo>
                    <a:pt x="2095923" y="2144906"/>
                  </a:lnTo>
                  <a:lnTo>
                    <a:pt x="2146867" y="2143160"/>
                  </a:lnTo>
                  <a:lnTo>
                    <a:pt x="2197729" y="2140715"/>
                  </a:lnTo>
                  <a:lnTo>
                    <a:pt x="2248484" y="2137572"/>
                  </a:lnTo>
                  <a:lnTo>
                    <a:pt x="2299105" y="2133730"/>
                  </a:lnTo>
                  <a:lnTo>
                    <a:pt x="2349564" y="2129190"/>
                  </a:lnTo>
                  <a:lnTo>
                    <a:pt x="2399835" y="2123951"/>
                  </a:lnTo>
                  <a:lnTo>
                    <a:pt x="2449892" y="2118014"/>
                  </a:lnTo>
                  <a:lnTo>
                    <a:pt x="2499706" y="2111379"/>
                  </a:lnTo>
                  <a:lnTo>
                    <a:pt x="2549251" y="2104045"/>
                  </a:lnTo>
                  <a:lnTo>
                    <a:pt x="2598501" y="2096012"/>
                  </a:lnTo>
                  <a:lnTo>
                    <a:pt x="2647428" y="2087281"/>
                  </a:lnTo>
                  <a:lnTo>
                    <a:pt x="2696006" y="2077852"/>
                  </a:lnTo>
                  <a:lnTo>
                    <a:pt x="2744208" y="2067724"/>
                  </a:lnTo>
                  <a:lnTo>
                    <a:pt x="2792006" y="2056897"/>
                  </a:lnTo>
                  <a:lnTo>
                    <a:pt x="2839375" y="2045372"/>
                  </a:lnTo>
                  <a:lnTo>
                    <a:pt x="2886286" y="2033149"/>
                  </a:lnTo>
                  <a:lnTo>
                    <a:pt x="2932714" y="2020227"/>
                  </a:lnTo>
                  <a:lnTo>
                    <a:pt x="2978631" y="2006607"/>
                  </a:lnTo>
                  <a:lnTo>
                    <a:pt x="3024010" y="1992288"/>
                  </a:lnTo>
                  <a:lnTo>
                    <a:pt x="3068825" y="1977271"/>
                  </a:lnTo>
                  <a:lnTo>
                    <a:pt x="3113049" y="1961555"/>
                  </a:lnTo>
                  <a:lnTo>
                    <a:pt x="3156654" y="1945141"/>
                  </a:lnTo>
                  <a:lnTo>
                    <a:pt x="3199615" y="1928028"/>
                  </a:lnTo>
                  <a:lnTo>
                    <a:pt x="3241903" y="1910217"/>
                  </a:lnTo>
                  <a:lnTo>
                    <a:pt x="3283493" y="1891707"/>
                  </a:lnTo>
                  <a:lnTo>
                    <a:pt x="3324356" y="1872499"/>
                  </a:lnTo>
                  <a:lnTo>
                    <a:pt x="3364468" y="1852592"/>
                  </a:lnTo>
                  <a:lnTo>
                    <a:pt x="3403800" y="1831987"/>
                  </a:lnTo>
                  <a:lnTo>
                    <a:pt x="3451453" y="1805459"/>
                  </a:lnTo>
                  <a:lnTo>
                    <a:pt x="3497078" y="1778281"/>
                  </a:lnTo>
                  <a:lnTo>
                    <a:pt x="3540676" y="1750482"/>
                  </a:lnTo>
                  <a:lnTo>
                    <a:pt x="3582246" y="1722089"/>
                  </a:lnTo>
                  <a:lnTo>
                    <a:pt x="3621788" y="1693131"/>
                  </a:lnTo>
                  <a:lnTo>
                    <a:pt x="3659302" y="1663637"/>
                  </a:lnTo>
                  <a:lnTo>
                    <a:pt x="3694789" y="1633634"/>
                  </a:lnTo>
                  <a:lnTo>
                    <a:pt x="3728247" y="1603150"/>
                  </a:lnTo>
                  <a:lnTo>
                    <a:pt x="3759678" y="1572215"/>
                  </a:lnTo>
                  <a:lnTo>
                    <a:pt x="3789081" y="1540856"/>
                  </a:lnTo>
                  <a:lnTo>
                    <a:pt x="3816457" y="1509101"/>
                  </a:lnTo>
                  <a:lnTo>
                    <a:pt x="3841804" y="1476979"/>
                  </a:lnTo>
                  <a:lnTo>
                    <a:pt x="3865124" y="1444518"/>
                  </a:lnTo>
                  <a:lnTo>
                    <a:pt x="3886416" y="1411746"/>
                  </a:lnTo>
                  <a:lnTo>
                    <a:pt x="3905680" y="1378692"/>
                  </a:lnTo>
                  <a:lnTo>
                    <a:pt x="3938125" y="1311848"/>
                  </a:lnTo>
                  <a:lnTo>
                    <a:pt x="3962458" y="1244214"/>
                  </a:lnTo>
                  <a:lnTo>
                    <a:pt x="3978681" y="1176015"/>
                  </a:lnTo>
                  <a:lnTo>
                    <a:pt x="3986792" y="1107477"/>
                  </a:lnTo>
                  <a:lnTo>
                    <a:pt x="3987806" y="1073151"/>
                  </a:lnTo>
                  <a:lnTo>
                    <a:pt x="3986792" y="1038826"/>
                  </a:lnTo>
                  <a:lnTo>
                    <a:pt x="3978681" y="970287"/>
                  </a:lnTo>
                  <a:lnTo>
                    <a:pt x="3962458" y="902088"/>
                  </a:lnTo>
                  <a:lnTo>
                    <a:pt x="3938125" y="834455"/>
                  </a:lnTo>
                  <a:lnTo>
                    <a:pt x="3905680" y="767612"/>
                  </a:lnTo>
                  <a:lnTo>
                    <a:pt x="3886416" y="734558"/>
                  </a:lnTo>
                  <a:lnTo>
                    <a:pt x="3865124" y="701786"/>
                  </a:lnTo>
                  <a:lnTo>
                    <a:pt x="3841804" y="669326"/>
                  </a:lnTo>
                  <a:lnTo>
                    <a:pt x="3816457" y="637204"/>
                  </a:lnTo>
                  <a:lnTo>
                    <a:pt x="3789081" y="605450"/>
                  </a:lnTo>
                  <a:lnTo>
                    <a:pt x="3759678" y="574091"/>
                  </a:lnTo>
                  <a:lnTo>
                    <a:pt x="3728247" y="543156"/>
                  </a:lnTo>
                  <a:lnTo>
                    <a:pt x="3694789" y="512673"/>
                  </a:lnTo>
                  <a:lnTo>
                    <a:pt x="3659302" y="482671"/>
                  </a:lnTo>
                  <a:lnTo>
                    <a:pt x="3621788" y="453177"/>
                  </a:lnTo>
                  <a:lnTo>
                    <a:pt x="3582246" y="424220"/>
                  </a:lnTo>
                  <a:lnTo>
                    <a:pt x="3540676" y="395828"/>
                  </a:lnTo>
                  <a:lnTo>
                    <a:pt x="3497078" y="368029"/>
                  </a:lnTo>
                  <a:lnTo>
                    <a:pt x="3451453" y="340852"/>
                  </a:lnTo>
                  <a:lnTo>
                    <a:pt x="3403800" y="314325"/>
                  </a:lnTo>
                  <a:lnTo>
                    <a:pt x="3364468" y="293719"/>
                  </a:lnTo>
                  <a:lnTo>
                    <a:pt x="3324356" y="273812"/>
                  </a:lnTo>
                  <a:lnTo>
                    <a:pt x="3283493" y="254603"/>
                  </a:lnTo>
                  <a:lnTo>
                    <a:pt x="3241903" y="236093"/>
                  </a:lnTo>
                  <a:lnTo>
                    <a:pt x="3199615" y="218281"/>
                  </a:lnTo>
                  <a:lnTo>
                    <a:pt x="3156654" y="201168"/>
                  </a:lnTo>
                  <a:lnTo>
                    <a:pt x="3113049" y="184753"/>
                  </a:lnTo>
                  <a:lnTo>
                    <a:pt x="3068825" y="169037"/>
                  </a:lnTo>
                  <a:lnTo>
                    <a:pt x="3024010" y="154019"/>
                  </a:lnTo>
                  <a:lnTo>
                    <a:pt x="2978631" y="139700"/>
                  </a:lnTo>
                  <a:lnTo>
                    <a:pt x="2932714" y="126079"/>
                  </a:lnTo>
                  <a:lnTo>
                    <a:pt x="2886286" y="113156"/>
                  </a:lnTo>
                  <a:lnTo>
                    <a:pt x="2839375" y="100933"/>
                  </a:lnTo>
                  <a:lnTo>
                    <a:pt x="2792006" y="89407"/>
                  </a:lnTo>
                  <a:lnTo>
                    <a:pt x="2744208" y="78581"/>
                  </a:lnTo>
                  <a:lnTo>
                    <a:pt x="2696006" y="68452"/>
                  </a:lnTo>
                  <a:lnTo>
                    <a:pt x="2647428" y="59023"/>
                  </a:lnTo>
                  <a:lnTo>
                    <a:pt x="2598501" y="50292"/>
                  </a:lnTo>
                  <a:lnTo>
                    <a:pt x="2549251" y="42259"/>
                  </a:lnTo>
                  <a:lnTo>
                    <a:pt x="2499706" y="34925"/>
                  </a:lnTo>
                  <a:lnTo>
                    <a:pt x="2449892" y="28289"/>
                  </a:lnTo>
                  <a:lnTo>
                    <a:pt x="2399835" y="22351"/>
                  </a:lnTo>
                  <a:lnTo>
                    <a:pt x="2349564" y="17113"/>
                  </a:lnTo>
                  <a:lnTo>
                    <a:pt x="2299105" y="12573"/>
                  </a:lnTo>
                  <a:lnTo>
                    <a:pt x="2248484" y="8731"/>
                  </a:lnTo>
                  <a:lnTo>
                    <a:pt x="2197729" y="5588"/>
                  </a:lnTo>
                  <a:lnTo>
                    <a:pt x="2146867" y="3143"/>
                  </a:lnTo>
                  <a:lnTo>
                    <a:pt x="2095923" y="1397"/>
                  </a:lnTo>
                  <a:lnTo>
                    <a:pt x="2044926" y="349"/>
                  </a:lnTo>
                  <a:lnTo>
                    <a:pt x="1993903" y="0"/>
                  </a:lnTo>
                  <a:close/>
                </a:path>
              </a:pathLst>
            </a:custGeom>
            <a:solidFill>
              <a:srgbClr val="C5ECBE"/>
            </a:solidFill>
          </p:spPr>
          <p:txBody>
            <a:bodyPr wrap="square" lIns="0" tIns="0" rIns="0" bIns="0" rtlCol="0"/>
            <a:lstStyle/>
            <a:p>
              <a:endParaRPr>
                <a:latin typeface="Gill Sans Std" panose="020B0502020104020203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506391" y="2687320"/>
              <a:ext cx="3987800" cy="2146300"/>
            </a:xfrm>
            <a:custGeom>
              <a:avLst/>
              <a:gdLst/>
              <a:ahLst/>
              <a:cxnLst/>
              <a:rect l="l" t="t" r="r" b="b"/>
              <a:pathLst>
                <a:path w="3987800" h="2146300">
                  <a:moveTo>
                    <a:pt x="3403803" y="314318"/>
                  </a:moveTo>
                  <a:lnTo>
                    <a:pt x="3451455" y="340846"/>
                  </a:lnTo>
                  <a:lnTo>
                    <a:pt x="3497080" y="368023"/>
                  </a:lnTo>
                  <a:lnTo>
                    <a:pt x="3540677" y="395822"/>
                  </a:lnTo>
                  <a:lnTo>
                    <a:pt x="3582246" y="424214"/>
                  </a:lnTo>
                  <a:lnTo>
                    <a:pt x="3621788" y="453172"/>
                  </a:lnTo>
                  <a:lnTo>
                    <a:pt x="3659301" y="482666"/>
                  </a:lnTo>
                  <a:lnTo>
                    <a:pt x="3694787" y="512669"/>
                  </a:lnTo>
                  <a:lnTo>
                    <a:pt x="3728245" y="543152"/>
                  </a:lnTo>
                  <a:lnTo>
                    <a:pt x="3759676" y="574087"/>
                  </a:lnTo>
                  <a:lnTo>
                    <a:pt x="3789078" y="605446"/>
                  </a:lnTo>
                  <a:lnTo>
                    <a:pt x="3816453" y="637200"/>
                  </a:lnTo>
                  <a:lnTo>
                    <a:pt x="3841800" y="669322"/>
                  </a:lnTo>
                  <a:lnTo>
                    <a:pt x="3865120" y="701783"/>
                  </a:lnTo>
                  <a:lnTo>
                    <a:pt x="3886411" y="734554"/>
                  </a:lnTo>
                  <a:lnTo>
                    <a:pt x="3905675" y="767608"/>
                  </a:lnTo>
                  <a:lnTo>
                    <a:pt x="3938119" y="834451"/>
                  </a:lnTo>
                  <a:lnTo>
                    <a:pt x="3962452" y="902085"/>
                  </a:lnTo>
                  <a:lnTo>
                    <a:pt x="3978675" y="970284"/>
                  </a:lnTo>
                  <a:lnTo>
                    <a:pt x="3986786" y="1038822"/>
                  </a:lnTo>
                  <a:lnTo>
                    <a:pt x="3987799" y="1073148"/>
                  </a:lnTo>
                  <a:lnTo>
                    <a:pt x="3986786" y="1107473"/>
                  </a:lnTo>
                  <a:lnTo>
                    <a:pt x="3978675" y="1176011"/>
                  </a:lnTo>
                  <a:lnTo>
                    <a:pt x="3962452" y="1244210"/>
                  </a:lnTo>
                  <a:lnTo>
                    <a:pt x="3938119" y="1311844"/>
                  </a:lnTo>
                  <a:lnTo>
                    <a:pt x="3905675" y="1378687"/>
                  </a:lnTo>
                  <a:lnTo>
                    <a:pt x="3886411" y="1411741"/>
                  </a:lnTo>
                  <a:lnTo>
                    <a:pt x="3865120" y="1444512"/>
                  </a:lnTo>
                  <a:lnTo>
                    <a:pt x="3841800" y="1476973"/>
                  </a:lnTo>
                  <a:lnTo>
                    <a:pt x="3816453" y="1509095"/>
                  </a:lnTo>
                  <a:lnTo>
                    <a:pt x="3789078" y="1540849"/>
                  </a:lnTo>
                  <a:lnTo>
                    <a:pt x="3759676" y="1572208"/>
                  </a:lnTo>
                  <a:lnTo>
                    <a:pt x="3728245" y="1603143"/>
                  </a:lnTo>
                  <a:lnTo>
                    <a:pt x="3694787" y="1633626"/>
                  </a:lnTo>
                  <a:lnTo>
                    <a:pt x="3659301" y="1663628"/>
                  </a:lnTo>
                  <a:lnTo>
                    <a:pt x="3621788" y="1693122"/>
                  </a:lnTo>
                  <a:lnTo>
                    <a:pt x="3582246" y="1722079"/>
                  </a:lnTo>
                  <a:lnTo>
                    <a:pt x="3540677" y="1750471"/>
                  </a:lnTo>
                  <a:lnTo>
                    <a:pt x="3497080" y="1778270"/>
                  </a:lnTo>
                  <a:lnTo>
                    <a:pt x="3451455" y="1805447"/>
                  </a:lnTo>
                  <a:lnTo>
                    <a:pt x="3403803" y="1831975"/>
                  </a:lnTo>
                  <a:lnTo>
                    <a:pt x="3364470" y="1852580"/>
                  </a:lnTo>
                  <a:lnTo>
                    <a:pt x="3324358" y="1872488"/>
                  </a:lnTo>
                  <a:lnTo>
                    <a:pt x="3283494" y="1891696"/>
                  </a:lnTo>
                  <a:lnTo>
                    <a:pt x="3241904" y="1910207"/>
                  </a:lnTo>
                  <a:lnTo>
                    <a:pt x="3199615" y="1928018"/>
                  </a:lnTo>
                  <a:lnTo>
                    <a:pt x="3156654" y="1945132"/>
                  </a:lnTo>
                  <a:lnTo>
                    <a:pt x="3113048" y="1961546"/>
                  </a:lnTo>
                  <a:lnTo>
                    <a:pt x="3068824" y="1977263"/>
                  </a:lnTo>
                  <a:lnTo>
                    <a:pt x="3024009" y="1992280"/>
                  </a:lnTo>
                  <a:lnTo>
                    <a:pt x="2978630" y="2006600"/>
                  </a:lnTo>
                  <a:lnTo>
                    <a:pt x="2932712" y="2020220"/>
                  </a:lnTo>
                  <a:lnTo>
                    <a:pt x="2886284" y="2033143"/>
                  </a:lnTo>
                  <a:lnTo>
                    <a:pt x="2839373" y="2045366"/>
                  </a:lnTo>
                  <a:lnTo>
                    <a:pt x="2792004" y="2056892"/>
                  </a:lnTo>
                  <a:lnTo>
                    <a:pt x="2744206" y="2067718"/>
                  </a:lnTo>
                  <a:lnTo>
                    <a:pt x="2696004" y="2077847"/>
                  </a:lnTo>
                  <a:lnTo>
                    <a:pt x="2647426" y="2087276"/>
                  </a:lnTo>
                  <a:lnTo>
                    <a:pt x="2598498" y="2096008"/>
                  </a:lnTo>
                  <a:lnTo>
                    <a:pt x="2549249" y="2104040"/>
                  </a:lnTo>
                  <a:lnTo>
                    <a:pt x="2499703" y="2111375"/>
                  </a:lnTo>
                  <a:lnTo>
                    <a:pt x="2449889" y="2118010"/>
                  </a:lnTo>
                  <a:lnTo>
                    <a:pt x="2399832" y="2123948"/>
                  </a:lnTo>
                  <a:lnTo>
                    <a:pt x="2349561" y="2129186"/>
                  </a:lnTo>
                  <a:lnTo>
                    <a:pt x="2299102" y="2133727"/>
                  </a:lnTo>
                  <a:lnTo>
                    <a:pt x="2248481" y="2137568"/>
                  </a:lnTo>
                  <a:lnTo>
                    <a:pt x="2197726" y="2140712"/>
                  </a:lnTo>
                  <a:lnTo>
                    <a:pt x="2146864" y="2143156"/>
                  </a:lnTo>
                  <a:lnTo>
                    <a:pt x="2095920" y="2144903"/>
                  </a:lnTo>
                  <a:lnTo>
                    <a:pt x="2044924" y="2145950"/>
                  </a:lnTo>
                  <a:lnTo>
                    <a:pt x="1993900" y="2146300"/>
                  </a:lnTo>
                  <a:lnTo>
                    <a:pt x="1942876" y="2145950"/>
                  </a:lnTo>
                  <a:lnTo>
                    <a:pt x="1891879" y="2144903"/>
                  </a:lnTo>
                  <a:lnTo>
                    <a:pt x="1840936" y="2143156"/>
                  </a:lnTo>
                  <a:lnTo>
                    <a:pt x="1790074" y="2140712"/>
                  </a:lnTo>
                  <a:lnTo>
                    <a:pt x="1739319" y="2137568"/>
                  </a:lnTo>
                  <a:lnTo>
                    <a:pt x="1688698" y="2133727"/>
                  </a:lnTo>
                  <a:lnTo>
                    <a:pt x="1638239" y="2129186"/>
                  </a:lnTo>
                  <a:lnTo>
                    <a:pt x="1587967" y="2123948"/>
                  </a:lnTo>
                  <a:lnTo>
                    <a:pt x="1537911" y="2118010"/>
                  </a:lnTo>
                  <a:lnTo>
                    <a:pt x="1488097" y="2111375"/>
                  </a:lnTo>
                  <a:lnTo>
                    <a:pt x="1438551" y="2104040"/>
                  </a:lnTo>
                  <a:lnTo>
                    <a:pt x="1389301" y="2096008"/>
                  </a:lnTo>
                  <a:lnTo>
                    <a:pt x="1340374" y="2087276"/>
                  </a:lnTo>
                  <a:lnTo>
                    <a:pt x="1291796" y="2077847"/>
                  </a:lnTo>
                  <a:lnTo>
                    <a:pt x="1243594" y="2067718"/>
                  </a:lnTo>
                  <a:lnTo>
                    <a:pt x="1195796" y="2056892"/>
                  </a:lnTo>
                  <a:lnTo>
                    <a:pt x="1148427" y="2045366"/>
                  </a:lnTo>
                  <a:lnTo>
                    <a:pt x="1101516" y="2033143"/>
                  </a:lnTo>
                  <a:lnTo>
                    <a:pt x="1055088" y="2020220"/>
                  </a:lnTo>
                  <a:lnTo>
                    <a:pt x="1009171" y="2006600"/>
                  </a:lnTo>
                  <a:lnTo>
                    <a:pt x="963791" y="1992280"/>
                  </a:lnTo>
                  <a:lnTo>
                    <a:pt x="918976" y="1977263"/>
                  </a:lnTo>
                  <a:lnTo>
                    <a:pt x="874752" y="1961546"/>
                  </a:lnTo>
                  <a:lnTo>
                    <a:pt x="831147" y="1945132"/>
                  </a:lnTo>
                  <a:lnTo>
                    <a:pt x="788186" y="1928018"/>
                  </a:lnTo>
                  <a:lnTo>
                    <a:pt x="745897" y="1910207"/>
                  </a:lnTo>
                  <a:lnTo>
                    <a:pt x="704307" y="1891696"/>
                  </a:lnTo>
                  <a:lnTo>
                    <a:pt x="663443" y="1872488"/>
                  </a:lnTo>
                  <a:lnTo>
                    <a:pt x="623331" y="1852580"/>
                  </a:lnTo>
                  <a:lnTo>
                    <a:pt x="583999" y="1831975"/>
                  </a:lnTo>
                  <a:lnTo>
                    <a:pt x="536346" y="1805447"/>
                  </a:lnTo>
                  <a:lnTo>
                    <a:pt x="490721" y="1778270"/>
                  </a:lnTo>
                  <a:lnTo>
                    <a:pt x="447124" y="1750471"/>
                  </a:lnTo>
                  <a:lnTo>
                    <a:pt x="405555" y="1722079"/>
                  </a:lnTo>
                  <a:lnTo>
                    <a:pt x="366013" y="1693122"/>
                  </a:lnTo>
                  <a:lnTo>
                    <a:pt x="328499" y="1663628"/>
                  </a:lnTo>
                  <a:lnTo>
                    <a:pt x="293013" y="1633626"/>
                  </a:lnTo>
                  <a:lnTo>
                    <a:pt x="259555" y="1603143"/>
                  </a:lnTo>
                  <a:lnTo>
                    <a:pt x="228124" y="1572208"/>
                  </a:lnTo>
                  <a:lnTo>
                    <a:pt x="198721" y="1540849"/>
                  </a:lnTo>
                  <a:lnTo>
                    <a:pt x="171346" y="1509095"/>
                  </a:lnTo>
                  <a:lnTo>
                    <a:pt x="145999" y="1476973"/>
                  </a:lnTo>
                  <a:lnTo>
                    <a:pt x="122680" y="1444512"/>
                  </a:lnTo>
                  <a:lnTo>
                    <a:pt x="101388" y="1411741"/>
                  </a:lnTo>
                  <a:lnTo>
                    <a:pt x="82124" y="1378687"/>
                  </a:lnTo>
                  <a:lnTo>
                    <a:pt x="49680" y="1311844"/>
                  </a:lnTo>
                  <a:lnTo>
                    <a:pt x="25346" y="1244210"/>
                  </a:lnTo>
                  <a:lnTo>
                    <a:pt x="9124" y="1176011"/>
                  </a:lnTo>
                  <a:lnTo>
                    <a:pt x="1013" y="1107473"/>
                  </a:lnTo>
                  <a:lnTo>
                    <a:pt x="0" y="1073148"/>
                  </a:lnTo>
                  <a:lnTo>
                    <a:pt x="1013" y="1038822"/>
                  </a:lnTo>
                  <a:lnTo>
                    <a:pt x="9124" y="970284"/>
                  </a:lnTo>
                  <a:lnTo>
                    <a:pt x="25346" y="902085"/>
                  </a:lnTo>
                  <a:lnTo>
                    <a:pt x="49680" y="834451"/>
                  </a:lnTo>
                  <a:lnTo>
                    <a:pt x="82124" y="767608"/>
                  </a:lnTo>
                  <a:lnTo>
                    <a:pt x="101388" y="734554"/>
                  </a:lnTo>
                  <a:lnTo>
                    <a:pt x="122680" y="701783"/>
                  </a:lnTo>
                  <a:lnTo>
                    <a:pt x="145999" y="669322"/>
                  </a:lnTo>
                  <a:lnTo>
                    <a:pt x="171346" y="637200"/>
                  </a:lnTo>
                  <a:lnTo>
                    <a:pt x="198721" y="605446"/>
                  </a:lnTo>
                  <a:lnTo>
                    <a:pt x="228124" y="574087"/>
                  </a:lnTo>
                  <a:lnTo>
                    <a:pt x="259555" y="543152"/>
                  </a:lnTo>
                  <a:lnTo>
                    <a:pt x="293013" y="512669"/>
                  </a:lnTo>
                  <a:lnTo>
                    <a:pt x="328499" y="482666"/>
                  </a:lnTo>
                  <a:lnTo>
                    <a:pt x="366013" y="453172"/>
                  </a:lnTo>
                  <a:lnTo>
                    <a:pt x="405555" y="424214"/>
                  </a:lnTo>
                  <a:lnTo>
                    <a:pt x="447124" y="395822"/>
                  </a:lnTo>
                  <a:lnTo>
                    <a:pt x="490721" y="368023"/>
                  </a:lnTo>
                  <a:lnTo>
                    <a:pt x="536346" y="340846"/>
                  </a:lnTo>
                  <a:lnTo>
                    <a:pt x="583999" y="314318"/>
                  </a:lnTo>
                  <a:lnTo>
                    <a:pt x="623331" y="293713"/>
                  </a:lnTo>
                  <a:lnTo>
                    <a:pt x="663443" y="273806"/>
                  </a:lnTo>
                  <a:lnTo>
                    <a:pt x="704307" y="254598"/>
                  </a:lnTo>
                  <a:lnTo>
                    <a:pt x="745897" y="236088"/>
                  </a:lnTo>
                  <a:lnTo>
                    <a:pt x="788186" y="218276"/>
                  </a:lnTo>
                  <a:lnTo>
                    <a:pt x="831147" y="201163"/>
                  </a:lnTo>
                  <a:lnTo>
                    <a:pt x="874752" y="184749"/>
                  </a:lnTo>
                  <a:lnTo>
                    <a:pt x="918976" y="169033"/>
                  </a:lnTo>
                  <a:lnTo>
                    <a:pt x="963791" y="154016"/>
                  </a:lnTo>
                  <a:lnTo>
                    <a:pt x="1009171" y="139697"/>
                  </a:lnTo>
                  <a:lnTo>
                    <a:pt x="1055088" y="126076"/>
                  </a:lnTo>
                  <a:lnTo>
                    <a:pt x="1101516" y="113154"/>
                  </a:lnTo>
                  <a:lnTo>
                    <a:pt x="1148427" y="100931"/>
                  </a:lnTo>
                  <a:lnTo>
                    <a:pt x="1195796" y="89406"/>
                  </a:lnTo>
                  <a:lnTo>
                    <a:pt x="1243594" y="78579"/>
                  </a:lnTo>
                  <a:lnTo>
                    <a:pt x="1291796" y="68451"/>
                  </a:lnTo>
                  <a:lnTo>
                    <a:pt x="1340374" y="59022"/>
                  </a:lnTo>
                  <a:lnTo>
                    <a:pt x="1389301" y="50291"/>
                  </a:lnTo>
                  <a:lnTo>
                    <a:pt x="1438551" y="42258"/>
                  </a:lnTo>
                  <a:lnTo>
                    <a:pt x="1488097" y="34924"/>
                  </a:lnTo>
                  <a:lnTo>
                    <a:pt x="1537911" y="28288"/>
                  </a:lnTo>
                  <a:lnTo>
                    <a:pt x="1587967" y="22351"/>
                  </a:lnTo>
                  <a:lnTo>
                    <a:pt x="1638239" y="17113"/>
                  </a:lnTo>
                  <a:lnTo>
                    <a:pt x="1688698" y="12572"/>
                  </a:lnTo>
                  <a:lnTo>
                    <a:pt x="1739319" y="8731"/>
                  </a:lnTo>
                  <a:lnTo>
                    <a:pt x="1790074" y="5588"/>
                  </a:lnTo>
                  <a:lnTo>
                    <a:pt x="1840936" y="3143"/>
                  </a:lnTo>
                  <a:lnTo>
                    <a:pt x="1891879" y="1397"/>
                  </a:lnTo>
                  <a:lnTo>
                    <a:pt x="1942876" y="349"/>
                  </a:lnTo>
                  <a:lnTo>
                    <a:pt x="1993900" y="0"/>
                  </a:lnTo>
                  <a:lnTo>
                    <a:pt x="2044924" y="349"/>
                  </a:lnTo>
                  <a:lnTo>
                    <a:pt x="2095920" y="1397"/>
                  </a:lnTo>
                  <a:lnTo>
                    <a:pt x="2146864" y="3143"/>
                  </a:lnTo>
                  <a:lnTo>
                    <a:pt x="2197726" y="5588"/>
                  </a:lnTo>
                  <a:lnTo>
                    <a:pt x="2248481" y="8731"/>
                  </a:lnTo>
                  <a:lnTo>
                    <a:pt x="2299102" y="12572"/>
                  </a:lnTo>
                  <a:lnTo>
                    <a:pt x="2349561" y="17113"/>
                  </a:lnTo>
                  <a:lnTo>
                    <a:pt x="2399832" y="22351"/>
                  </a:lnTo>
                  <a:lnTo>
                    <a:pt x="2449889" y="28288"/>
                  </a:lnTo>
                  <a:lnTo>
                    <a:pt x="2499703" y="34924"/>
                  </a:lnTo>
                  <a:lnTo>
                    <a:pt x="2549249" y="42258"/>
                  </a:lnTo>
                  <a:lnTo>
                    <a:pt x="2598498" y="50291"/>
                  </a:lnTo>
                  <a:lnTo>
                    <a:pt x="2647426" y="59022"/>
                  </a:lnTo>
                  <a:lnTo>
                    <a:pt x="2696004" y="68451"/>
                  </a:lnTo>
                  <a:lnTo>
                    <a:pt x="2744206" y="78579"/>
                  </a:lnTo>
                  <a:lnTo>
                    <a:pt x="2792004" y="89406"/>
                  </a:lnTo>
                  <a:lnTo>
                    <a:pt x="2839373" y="100931"/>
                  </a:lnTo>
                  <a:lnTo>
                    <a:pt x="2886284" y="113154"/>
                  </a:lnTo>
                  <a:lnTo>
                    <a:pt x="2932712" y="126076"/>
                  </a:lnTo>
                  <a:lnTo>
                    <a:pt x="2978630" y="139697"/>
                  </a:lnTo>
                  <a:lnTo>
                    <a:pt x="3024009" y="154016"/>
                  </a:lnTo>
                  <a:lnTo>
                    <a:pt x="3068824" y="169033"/>
                  </a:lnTo>
                  <a:lnTo>
                    <a:pt x="3113048" y="184749"/>
                  </a:lnTo>
                  <a:lnTo>
                    <a:pt x="3156654" y="201163"/>
                  </a:lnTo>
                  <a:lnTo>
                    <a:pt x="3199615" y="218276"/>
                  </a:lnTo>
                  <a:lnTo>
                    <a:pt x="3241904" y="236088"/>
                  </a:lnTo>
                  <a:lnTo>
                    <a:pt x="3283494" y="254598"/>
                  </a:lnTo>
                  <a:lnTo>
                    <a:pt x="3324358" y="273806"/>
                  </a:lnTo>
                  <a:lnTo>
                    <a:pt x="3364470" y="293713"/>
                  </a:lnTo>
                  <a:lnTo>
                    <a:pt x="3403803" y="31431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Gill Sans Std" panose="020B0502020104020203" pitchFamily="34" charset="0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112001" y="3451581"/>
              <a:ext cx="1003656" cy="57708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4540"/>
                </a:lnSpc>
              </a:pPr>
              <a:r>
                <a:rPr sz="3800" dirty="0">
                  <a:latin typeface="Gill Sans Std" panose="020B0502020104020203" pitchFamily="34" charset="0"/>
                  <a:cs typeface="Times New Roman" panose="02020603050405020304"/>
                </a:rPr>
                <a:t>C++</a:t>
              </a:r>
              <a:endParaRPr sz="3800" dirty="0">
                <a:latin typeface="Gill Sans Std" panose="020B0502020104020203" pitchFamily="34" charset="0"/>
                <a:cs typeface="Times New Roman" panose="02020603050405020304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524767" y="2872648"/>
              <a:ext cx="2348865" cy="1752600"/>
            </a:xfrm>
            <a:custGeom>
              <a:avLst/>
              <a:gdLst/>
              <a:ahLst/>
              <a:cxnLst/>
              <a:rect l="l" t="t" r="r" b="b"/>
              <a:pathLst>
                <a:path w="2348865" h="1752600">
                  <a:moveTo>
                    <a:pt x="2005102" y="256474"/>
                  </a:moveTo>
                  <a:lnTo>
                    <a:pt x="2045545" y="288159"/>
                  </a:lnTo>
                  <a:lnTo>
                    <a:pt x="2083461" y="320944"/>
                  </a:lnTo>
                  <a:lnTo>
                    <a:pt x="2118848" y="354758"/>
                  </a:lnTo>
                  <a:lnTo>
                    <a:pt x="2151708" y="389531"/>
                  </a:lnTo>
                  <a:lnTo>
                    <a:pt x="2182040" y="425191"/>
                  </a:lnTo>
                  <a:lnTo>
                    <a:pt x="2209845" y="461668"/>
                  </a:lnTo>
                  <a:lnTo>
                    <a:pt x="2235122" y="498891"/>
                  </a:lnTo>
                  <a:lnTo>
                    <a:pt x="2257871" y="536788"/>
                  </a:lnTo>
                  <a:lnTo>
                    <a:pt x="2278092" y="575288"/>
                  </a:lnTo>
                  <a:lnTo>
                    <a:pt x="2295786" y="614321"/>
                  </a:lnTo>
                  <a:lnTo>
                    <a:pt x="2310952" y="653816"/>
                  </a:lnTo>
                  <a:lnTo>
                    <a:pt x="2323591" y="693700"/>
                  </a:lnTo>
                  <a:lnTo>
                    <a:pt x="2333702" y="733905"/>
                  </a:lnTo>
                  <a:lnTo>
                    <a:pt x="2341285" y="774358"/>
                  </a:lnTo>
                  <a:lnTo>
                    <a:pt x="2346340" y="814988"/>
                  </a:lnTo>
                  <a:lnTo>
                    <a:pt x="2348868" y="855725"/>
                  </a:lnTo>
                  <a:lnTo>
                    <a:pt x="2348868" y="896497"/>
                  </a:lnTo>
                  <a:lnTo>
                    <a:pt x="2346340" y="937234"/>
                  </a:lnTo>
                  <a:lnTo>
                    <a:pt x="2341285" y="977864"/>
                  </a:lnTo>
                  <a:lnTo>
                    <a:pt x="2333702" y="1018317"/>
                  </a:lnTo>
                  <a:lnTo>
                    <a:pt x="2323591" y="1058521"/>
                  </a:lnTo>
                  <a:lnTo>
                    <a:pt x="2310952" y="1098406"/>
                  </a:lnTo>
                  <a:lnTo>
                    <a:pt x="2295786" y="1137900"/>
                  </a:lnTo>
                  <a:lnTo>
                    <a:pt x="2278092" y="1176933"/>
                  </a:lnTo>
                  <a:lnTo>
                    <a:pt x="2257871" y="1215433"/>
                  </a:lnTo>
                  <a:lnTo>
                    <a:pt x="2235122" y="1253330"/>
                  </a:lnTo>
                  <a:lnTo>
                    <a:pt x="2209845" y="1290552"/>
                  </a:lnTo>
                  <a:lnTo>
                    <a:pt x="2182040" y="1327029"/>
                  </a:lnTo>
                  <a:lnTo>
                    <a:pt x="2151708" y="1362689"/>
                  </a:lnTo>
                  <a:lnTo>
                    <a:pt x="2118848" y="1397462"/>
                  </a:lnTo>
                  <a:lnTo>
                    <a:pt x="2083461" y="1431276"/>
                  </a:lnTo>
                  <a:lnTo>
                    <a:pt x="2045545" y="1464061"/>
                  </a:lnTo>
                  <a:lnTo>
                    <a:pt x="2005102" y="1495745"/>
                  </a:lnTo>
                  <a:lnTo>
                    <a:pt x="1967292" y="1522742"/>
                  </a:lnTo>
                  <a:lnTo>
                    <a:pt x="1928300" y="1548240"/>
                  </a:lnTo>
                  <a:lnTo>
                    <a:pt x="1888194" y="1572237"/>
                  </a:lnTo>
                  <a:lnTo>
                    <a:pt x="1847041" y="1594735"/>
                  </a:lnTo>
                  <a:lnTo>
                    <a:pt x="1804908" y="1615733"/>
                  </a:lnTo>
                  <a:lnTo>
                    <a:pt x="1761864" y="1635230"/>
                  </a:lnTo>
                  <a:lnTo>
                    <a:pt x="1717976" y="1653229"/>
                  </a:lnTo>
                  <a:lnTo>
                    <a:pt x="1673312" y="1669727"/>
                  </a:lnTo>
                  <a:lnTo>
                    <a:pt x="1627938" y="1684725"/>
                  </a:lnTo>
                  <a:lnTo>
                    <a:pt x="1581923" y="1698224"/>
                  </a:lnTo>
                  <a:lnTo>
                    <a:pt x="1535333" y="1710223"/>
                  </a:lnTo>
                  <a:lnTo>
                    <a:pt x="1488237" y="1720722"/>
                  </a:lnTo>
                  <a:lnTo>
                    <a:pt x="1440703" y="1729721"/>
                  </a:lnTo>
                  <a:lnTo>
                    <a:pt x="1392796" y="1737220"/>
                  </a:lnTo>
                  <a:lnTo>
                    <a:pt x="1344586" y="1743219"/>
                  </a:lnTo>
                  <a:lnTo>
                    <a:pt x="1296140" y="1747719"/>
                  </a:lnTo>
                  <a:lnTo>
                    <a:pt x="1247525" y="1750718"/>
                  </a:lnTo>
                  <a:lnTo>
                    <a:pt x="1198808" y="1752218"/>
                  </a:lnTo>
                  <a:lnTo>
                    <a:pt x="1150058" y="1752218"/>
                  </a:lnTo>
                  <a:lnTo>
                    <a:pt x="1101341" y="1750718"/>
                  </a:lnTo>
                  <a:lnTo>
                    <a:pt x="1052726" y="1747719"/>
                  </a:lnTo>
                  <a:lnTo>
                    <a:pt x="1004279" y="1743219"/>
                  </a:lnTo>
                  <a:lnTo>
                    <a:pt x="956069" y="1737220"/>
                  </a:lnTo>
                  <a:lnTo>
                    <a:pt x="908163" y="1729721"/>
                  </a:lnTo>
                  <a:lnTo>
                    <a:pt x="860628" y="1720722"/>
                  </a:lnTo>
                  <a:lnTo>
                    <a:pt x="813532" y="1710223"/>
                  </a:lnTo>
                  <a:lnTo>
                    <a:pt x="766943" y="1698224"/>
                  </a:lnTo>
                  <a:lnTo>
                    <a:pt x="720927" y="1684725"/>
                  </a:lnTo>
                  <a:lnTo>
                    <a:pt x="675553" y="1669727"/>
                  </a:lnTo>
                  <a:lnTo>
                    <a:pt x="630888" y="1653229"/>
                  </a:lnTo>
                  <a:lnTo>
                    <a:pt x="587000" y="1635230"/>
                  </a:lnTo>
                  <a:lnTo>
                    <a:pt x="543956" y="1615733"/>
                  </a:lnTo>
                  <a:lnTo>
                    <a:pt x="501823" y="1594735"/>
                  </a:lnTo>
                  <a:lnTo>
                    <a:pt x="460670" y="1572237"/>
                  </a:lnTo>
                  <a:lnTo>
                    <a:pt x="420563" y="1548240"/>
                  </a:lnTo>
                  <a:lnTo>
                    <a:pt x="381570" y="1522742"/>
                  </a:lnTo>
                  <a:lnTo>
                    <a:pt x="343760" y="1495745"/>
                  </a:lnTo>
                  <a:lnTo>
                    <a:pt x="303317" y="1464061"/>
                  </a:lnTo>
                  <a:lnTo>
                    <a:pt x="265403" y="1431276"/>
                  </a:lnTo>
                  <a:lnTo>
                    <a:pt x="230015" y="1397462"/>
                  </a:lnTo>
                  <a:lnTo>
                    <a:pt x="197156" y="1362689"/>
                  </a:lnTo>
                  <a:lnTo>
                    <a:pt x="166824" y="1327029"/>
                  </a:lnTo>
                  <a:lnTo>
                    <a:pt x="139020" y="1290552"/>
                  </a:lnTo>
                  <a:lnTo>
                    <a:pt x="113744" y="1253330"/>
                  </a:lnTo>
                  <a:lnTo>
                    <a:pt x="90995" y="1215433"/>
                  </a:lnTo>
                  <a:lnTo>
                    <a:pt x="70774" y="1176933"/>
                  </a:lnTo>
                  <a:lnTo>
                    <a:pt x="53080" y="1137900"/>
                  </a:lnTo>
                  <a:lnTo>
                    <a:pt x="37914" y="1098406"/>
                  </a:lnTo>
                  <a:lnTo>
                    <a:pt x="25276" y="1058521"/>
                  </a:lnTo>
                  <a:lnTo>
                    <a:pt x="15165" y="1018317"/>
                  </a:lnTo>
                  <a:lnTo>
                    <a:pt x="7582" y="977864"/>
                  </a:lnTo>
                  <a:lnTo>
                    <a:pt x="2527" y="937234"/>
                  </a:lnTo>
                  <a:lnTo>
                    <a:pt x="0" y="896497"/>
                  </a:lnTo>
                  <a:lnTo>
                    <a:pt x="0" y="855725"/>
                  </a:lnTo>
                  <a:lnTo>
                    <a:pt x="2527" y="814988"/>
                  </a:lnTo>
                  <a:lnTo>
                    <a:pt x="7582" y="774358"/>
                  </a:lnTo>
                  <a:lnTo>
                    <a:pt x="15165" y="733905"/>
                  </a:lnTo>
                  <a:lnTo>
                    <a:pt x="25276" y="693700"/>
                  </a:lnTo>
                  <a:lnTo>
                    <a:pt x="37914" y="653816"/>
                  </a:lnTo>
                  <a:lnTo>
                    <a:pt x="53080" y="614321"/>
                  </a:lnTo>
                  <a:lnTo>
                    <a:pt x="70774" y="575288"/>
                  </a:lnTo>
                  <a:lnTo>
                    <a:pt x="90995" y="536788"/>
                  </a:lnTo>
                  <a:lnTo>
                    <a:pt x="113744" y="498891"/>
                  </a:lnTo>
                  <a:lnTo>
                    <a:pt x="139020" y="461668"/>
                  </a:lnTo>
                  <a:lnTo>
                    <a:pt x="166824" y="425191"/>
                  </a:lnTo>
                  <a:lnTo>
                    <a:pt x="197156" y="389531"/>
                  </a:lnTo>
                  <a:lnTo>
                    <a:pt x="230015" y="354758"/>
                  </a:lnTo>
                  <a:lnTo>
                    <a:pt x="265403" y="320944"/>
                  </a:lnTo>
                  <a:lnTo>
                    <a:pt x="303317" y="288159"/>
                  </a:lnTo>
                  <a:lnTo>
                    <a:pt x="343760" y="256474"/>
                  </a:lnTo>
                  <a:lnTo>
                    <a:pt x="381570" y="229477"/>
                  </a:lnTo>
                  <a:lnTo>
                    <a:pt x="420563" y="203979"/>
                  </a:lnTo>
                  <a:lnTo>
                    <a:pt x="460670" y="179982"/>
                  </a:lnTo>
                  <a:lnTo>
                    <a:pt x="501823" y="157484"/>
                  </a:lnTo>
                  <a:lnTo>
                    <a:pt x="543956" y="136486"/>
                  </a:lnTo>
                  <a:lnTo>
                    <a:pt x="587000" y="116988"/>
                  </a:lnTo>
                  <a:lnTo>
                    <a:pt x="630888" y="98990"/>
                  </a:lnTo>
                  <a:lnTo>
                    <a:pt x="675553" y="82491"/>
                  </a:lnTo>
                  <a:lnTo>
                    <a:pt x="720927" y="67493"/>
                  </a:lnTo>
                  <a:lnTo>
                    <a:pt x="766943" y="53994"/>
                  </a:lnTo>
                  <a:lnTo>
                    <a:pt x="813532" y="41995"/>
                  </a:lnTo>
                  <a:lnTo>
                    <a:pt x="860628" y="31496"/>
                  </a:lnTo>
                  <a:lnTo>
                    <a:pt x="908163" y="22497"/>
                  </a:lnTo>
                  <a:lnTo>
                    <a:pt x="956069" y="14998"/>
                  </a:lnTo>
                  <a:lnTo>
                    <a:pt x="1004279" y="8999"/>
                  </a:lnTo>
                  <a:lnTo>
                    <a:pt x="1052726" y="4499"/>
                  </a:lnTo>
                  <a:lnTo>
                    <a:pt x="1101341" y="1499"/>
                  </a:lnTo>
                  <a:lnTo>
                    <a:pt x="1150058" y="0"/>
                  </a:lnTo>
                  <a:lnTo>
                    <a:pt x="1198808" y="0"/>
                  </a:lnTo>
                  <a:lnTo>
                    <a:pt x="1247525" y="1499"/>
                  </a:lnTo>
                  <a:lnTo>
                    <a:pt x="1296140" y="4499"/>
                  </a:lnTo>
                  <a:lnTo>
                    <a:pt x="1344586" y="8999"/>
                  </a:lnTo>
                  <a:lnTo>
                    <a:pt x="1392796" y="14998"/>
                  </a:lnTo>
                  <a:lnTo>
                    <a:pt x="1440703" y="22497"/>
                  </a:lnTo>
                  <a:lnTo>
                    <a:pt x="1488237" y="31496"/>
                  </a:lnTo>
                  <a:lnTo>
                    <a:pt x="1535333" y="41995"/>
                  </a:lnTo>
                  <a:lnTo>
                    <a:pt x="1581923" y="53994"/>
                  </a:lnTo>
                  <a:lnTo>
                    <a:pt x="1627938" y="67493"/>
                  </a:lnTo>
                  <a:lnTo>
                    <a:pt x="1673312" y="82491"/>
                  </a:lnTo>
                  <a:lnTo>
                    <a:pt x="1717976" y="98990"/>
                  </a:lnTo>
                  <a:lnTo>
                    <a:pt x="1761864" y="116988"/>
                  </a:lnTo>
                  <a:lnTo>
                    <a:pt x="1804908" y="136486"/>
                  </a:lnTo>
                  <a:lnTo>
                    <a:pt x="1847041" y="157484"/>
                  </a:lnTo>
                  <a:lnTo>
                    <a:pt x="1888194" y="179982"/>
                  </a:lnTo>
                  <a:lnTo>
                    <a:pt x="1928300" y="203979"/>
                  </a:lnTo>
                  <a:lnTo>
                    <a:pt x="1967292" y="229477"/>
                  </a:lnTo>
                  <a:lnTo>
                    <a:pt x="2005102" y="256474"/>
                  </a:lnTo>
                </a:path>
              </a:pathLst>
            </a:custGeom>
            <a:solidFill>
              <a:srgbClr val="FB7E93"/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Gill Sans Std" panose="020B0502020104020203" pitchFamily="34" charset="0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553431" y="3502381"/>
              <a:ext cx="321945" cy="577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4540"/>
                </a:lnSpc>
              </a:pPr>
              <a:r>
                <a:rPr sz="3800" dirty="0">
                  <a:latin typeface="Gill Sans Std" panose="020B0502020104020203" pitchFamily="34" charset="0"/>
                  <a:cs typeface="Times New Roman" panose="02020603050405020304"/>
                </a:rPr>
                <a:t>C</a:t>
              </a:r>
              <a:endParaRPr sz="3800">
                <a:latin typeface="Gill Sans Std" panose="020B0502020104020203" pitchFamily="34" charset="0"/>
                <a:cs typeface="Times New Roman" panose="02020603050405020304"/>
              </a:endParaRPr>
            </a:p>
          </p:txBody>
        </p:sp>
      </p:grpSp>
      <p:sp>
        <p:nvSpPr>
          <p:cNvPr id="12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C</a:t>
            </a:r>
            <a:r>
              <a:rPr lang="en-US" altLang="zh-CN" spc="-5" dirty="0"/>
              <a:t> </a:t>
            </a:r>
            <a:r>
              <a:rPr lang="en-US" altLang="zh-CN" dirty="0"/>
              <a:t>and C++</a:t>
            </a:r>
            <a:endParaRPr lang="en-US" kern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/>
          <p:cNvSpPr txBox="1"/>
          <p:nvPr/>
        </p:nvSpPr>
        <p:spPr>
          <a:xfrm>
            <a:off x="0" y="1524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spc="-5" dirty="0"/>
              <a:t>C+</a:t>
            </a:r>
            <a:r>
              <a:rPr lang="en-US" altLang="zh-CN" dirty="0"/>
              <a:t>+ </a:t>
            </a:r>
            <a:r>
              <a:rPr lang="en-US" altLang="zh-CN" spc="-5" dirty="0"/>
              <a:t>i</a:t>
            </a:r>
            <a:r>
              <a:rPr lang="en-US" altLang="zh-CN" dirty="0"/>
              <a:t>mp</a:t>
            </a:r>
            <a:r>
              <a:rPr lang="en-US" altLang="zh-CN" spc="-210" dirty="0"/>
              <a:t>r</a:t>
            </a:r>
            <a:r>
              <a:rPr lang="en-US" altLang="zh-CN" spc="-85" dirty="0"/>
              <a:t>o</a:t>
            </a:r>
            <a:r>
              <a:rPr lang="en-US" altLang="zh-CN" spc="-170" dirty="0"/>
              <a:t>v</a:t>
            </a:r>
            <a:r>
              <a:rPr lang="en-US" altLang="zh-CN" dirty="0"/>
              <a:t>ements</a:t>
            </a:r>
            <a:endParaRPr lang="en-US" kern="0" dirty="0"/>
          </a:p>
        </p:txBody>
      </p:sp>
      <p:sp>
        <p:nvSpPr>
          <p:cNvPr id="21" name="TextBox 20"/>
          <p:cNvSpPr txBox="1"/>
          <p:nvPr/>
        </p:nvSpPr>
        <p:spPr>
          <a:xfrm>
            <a:off x="635000" y="1983912"/>
            <a:ext cx="5174237" cy="7007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84200" lvl="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dirty="0">
                <a:solidFill>
                  <a:prstClr val="black"/>
                </a:solidFill>
                <a:latin typeface="Gill Sans Std" panose="020B0502020104020203" pitchFamily="34" charset="0"/>
                <a:cs typeface="Gill Sans MT"/>
              </a:rPr>
              <a:t>Data </a:t>
            </a:r>
            <a:r>
              <a:rPr lang="en-US" sz="3800" spc="-5" dirty="0">
                <a:solidFill>
                  <a:prstClr val="black"/>
                </a:solidFill>
                <a:latin typeface="Gill Sans Std" panose="020B0502020104020203" pitchFamily="34" charset="0"/>
                <a:cs typeface="Gill Sans MT"/>
              </a:rPr>
              <a:t>abstraction</a:t>
            </a:r>
            <a:endParaRPr lang="en-US" sz="3800" spc="-5" dirty="0">
              <a:solidFill>
                <a:prstClr val="black"/>
              </a:solidFill>
              <a:latin typeface="Gill Sans Std" panose="020B0502020104020203" pitchFamily="34" charset="0"/>
              <a:cs typeface="Gill Sans MT"/>
            </a:endParaRPr>
          </a:p>
          <a:p>
            <a:pPr marL="584200" lvl="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solidFill>
                  <a:prstClr val="black"/>
                </a:solidFill>
                <a:latin typeface="Gill Sans Std" panose="020B0502020104020203" pitchFamily="34" charset="0"/>
                <a:cs typeface="Gill Sans MT"/>
              </a:rPr>
              <a:t>Access control</a:t>
            </a:r>
            <a:endParaRPr lang="en-US" sz="3800" spc="-5" dirty="0">
              <a:solidFill>
                <a:prstClr val="black"/>
              </a:solidFill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Initialization 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&amp;</a:t>
            </a:r>
            <a:r>
              <a:rPr lang="en-US" sz="3800" spc="-3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10" dirty="0">
                <a:latin typeface="Gill Sans Std" panose="020B0502020104020203" pitchFamily="34" charset="0"/>
                <a:cs typeface="Gill Sans MT"/>
              </a:rPr>
              <a:t>cleanup</a:t>
            </a:r>
            <a:endParaRPr lang="en-US" sz="3800" spc="-1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Function</a:t>
            </a:r>
            <a:r>
              <a:rPr lang="en-US" sz="3800" spc="-4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overloading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Streams for</a:t>
            </a:r>
            <a:r>
              <a:rPr lang="en-US" sz="3800" spc="-10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I/O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dirty="0">
                <a:latin typeface="Gill Sans Std" panose="020B0502020104020203" pitchFamily="34" charset="0"/>
                <a:cs typeface="Gill Sans MT"/>
              </a:rPr>
              <a:t>Constants 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(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C99)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dirty="0">
                <a:latin typeface="Gill Sans Std" panose="020B0502020104020203" pitchFamily="34" charset="0"/>
                <a:cs typeface="Gill Sans MT"/>
              </a:rPr>
              <a:t>Name</a:t>
            </a:r>
            <a:r>
              <a:rPr lang="en-US" sz="3800" spc="-9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control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Inline</a:t>
            </a:r>
            <a:r>
              <a:rPr lang="en-US" sz="3800" spc="-2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functions(C99)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35801" y="1983912"/>
            <a:ext cx="5715000" cy="700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References</a:t>
            </a:r>
            <a:endParaRPr lang="en-US" sz="3800" spc="-5" dirty="0">
              <a:solidFill>
                <a:prstClr val="black"/>
              </a:solidFill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Operator</a:t>
            </a:r>
            <a:r>
              <a:rPr lang="en-US" sz="3800" spc="-3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overloading</a:t>
            </a:r>
            <a:endParaRPr lang="en-US" sz="3800" spc="-5" dirty="0">
              <a:solidFill>
                <a:prstClr val="black"/>
              </a:solidFill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15" dirty="0">
                <a:latin typeface="Gill Sans Std" panose="020B0502020104020203" pitchFamily="34" charset="0"/>
                <a:cs typeface="Gill Sans MT"/>
              </a:rPr>
              <a:t>Memory 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management</a:t>
            </a:r>
            <a:endParaRPr lang="en-US" sz="3800" spc="-1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10" dirty="0">
                <a:latin typeface="Gill Sans Std" panose="020B0502020104020203" pitchFamily="34" charset="0"/>
                <a:cs typeface="Gill Sans MT"/>
              </a:rPr>
              <a:t>Support </a:t>
            </a:r>
            <a:r>
              <a:rPr lang="en-US" sz="3800" spc="-15" dirty="0">
                <a:latin typeface="Gill Sans Std" panose="020B0502020104020203" pitchFamily="34" charset="0"/>
                <a:cs typeface="Gill Sans MT"/>
              </a:rPr>
              <a:t>for</a:t>
            </a:r>
            <a:r>
              <a:rPr lang="en-US" sz="3800" spc="-10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OOP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dirty="0">
                <a:latin typeface="Gill Sans Std" panose="020B0502020104020203" pitchFamily="34" charset="0"/>
                <a:cs typeface="Gill Sans MT"/>
              </a:rPr>
              <a:t>Templates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Exception</a:t>
            </a:r>
            <a:r>
              <a:rPr lang="en-US" sz="3800" spc="-3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handling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  <a:p>
            <a:pPr marL="584200" indent="-5715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080770" algn="l"/>
              </a:tabLst>
            </a:pPr>
            <a:r>
              <a:rPr lang="en-US" sz="3800" spc="-10" dirty="0">
                <a:latin typeface="Gill Sans Std" panose="020B0502020104020203" pitchFamily="34" charset="0"/>
                <a:cs typeface="Gill Sans MT"/>
              </a:rPr>
              <a:t>Extensive</a:t>
            </a:r>
            <a:r>
              <a:rPr lang="en-US" sz="3800" spc="-5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libraries, </a:t>
            </a:r>
            <a:r>
              <a:rPr lang="en-US" sz="3800" dirty="0">
                <a:latin typeface="Gill Sans Std" panose="020B0502020104020203" pitchFamily="34" charset="0"/>
                <a:cs typeface="Gill Sans MT"/>
              </a:rPr>
              <a:t>STL</a:t>
            </a:r>
            <a:endParaRPr lang="en-US" sz="3800" dirty="0">
              <a:latin typeface="Gill Sans Std" panose="020B0502020104020203" pitchFamily="34" charset="0"/>
              <a:cs typeface="Gill Sans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64847" y="2324517"/>
            <a:ext cx="11075107" cy="7048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735" indent="-407035"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altLang="zh-CN" sz="3800" spc="-5" dirty="0">
                <a:latin typeface="Gill Sans Std" panose="020B0502020104020203" pitchFamily="34" charset="0"/>
                <a:cs typeface="Gill Sans MT"/>
              </a:rPr>
              <a:t>C++ can be viewed as a</a:t>
            </a:r>
            <a:r>
              <a:rPr lang="zh-CN" altLang="en-US" sz="3800" spc="-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lang="en-US" altLang="zh-CN" sz="3800" spc="-5" dirty="0">
                <a:latin typeface="Gill Sans Std" panose="020B0502020104020203" pitchFamily="34" charset="0"/>
                <a:cs typeface="Gill Sans MT"/>
              </a:rPr>
              <a:t>“better” C</a:t>
            </a:r>
            <a:endParaRPr lang="en-US" altLang="zh-CN" sz="3800" spc="-5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spcBef>
                <a:spcPts val="2120"/>
              </a:spcBef>
              <a:buSzPct val="100000"/>
              <a:buChar char="•"/>
              <a:tabLst>
                <a:tab pos="712470" algn="l"/>
              </a:tabLst>
            </a:pPr>
            <a:r>
              <a:rPr lang="en-US" altLang="zh-CN" sz="3400" dirty="0">
                <a:latin typeface="Gill Sans Std" panose="020B0502020104020203" pitchFamily="34" charset="0"/>
                <a:cs typeface="Gill Sans MT"/>
              </a:rPr>
              <a:t>C++ </a:t>
            </a:r>
            <a:r>
              <a:rPr lang="en-US" altLang="zh-CN" sz="3400" dirty="0">
                <a:latin typeface="Gill Sans Std" panose="020B0502020104020203" pitchFamily="34" charset="0"/>
                <a:cs typeface="Gill Sans MT"/>
                <a:sym typeface="Wingdings" panose="05000000000000000000" pitchFamily="2" charset="2"/>
              </a:rPr>
              <a:t></a:t>
            </a:r>
            <a:r>
              <a:rPr lang="en-US" altLang="zh-CN" sz="3400" dirty="0">
                <a:latin typeface="Gill Sans Std" panose="020B0502020104020203" pitchFamily="34" charset="0"/>
                <a:cs typeface="Gill Sans MT"/>
              </a:rPr>
              <a:t> C=C+</a:t>
            </a:r>
            <a:r>
              <a:rPr lang="en-US" altLang="zh-CN" sz="3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en-US" altLang="zh-CN" sz="3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419735" indent="-407035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sz="3800" spc="-5" dirty="0">
                <a:latin typeface="Gill Sans Std" panose="020B0502020104020203" pitchFamily="34" charset="0"/>
                <a:cs typeface="Gill Sans MT"/>
              </a:rPr>
              <a:t>B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ut...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712470" algn="l"/>
              </a:tabLst>
            </a:pPr>
            <a:r>
              <a:rPr sz="3400" dirty="0">
                <a:latin typeface="Gill Sans Std" panose="020B0502020104020203" pitchFamily="34" charset="0"/>
                <a:cs typeface="Gill Sans MT"/>
              </a:rPr>
              <a:t>C++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is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not</a:t>
            </a:r>
            <a:r>
              <a:rPr sz="3400" spc="-9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C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712470" algn="l"/>
              </a:tabLst>
            </a:pPr>
            <a:r>
              <a:rPr sz="3400" spc="-15" dirty="0">
                <a:latin typeface="Gill Sans Std" panose="020B0502020104020203" pitchFamily="34" charset="0"/>
                <a:cs typeface="Gill Sans MT"/>
              </a:rPr>
              <a:t>Focus </a:t>
            </a:r>
            <a:r>
              <a:rPr sz="3400" dirty="0">
                <a:latin typeface="Gill Sans Std" panose="020B0502020104020203" pitchFamily="34" charset="0"/>
                <a:cs typeface="Gill Sans MT"/>
              </a:rPr>
              <a:t>on C++ as a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language in its </a:t>
            </a:r>
            <a:r>
              <a:rPr sz="3400" spc="-15" dirty="0">
                <a:latin typeface="Gill Sans Std" panose="020B0502020104020203" pitchFamily="34" charset="0"/>
                <a:cs typeface="Gill Sans MT"/>
              </a:rPr>
              <a:t>own</a:t>
            </a:r>
            <a:r>
              <a:rPr sz="3400" spc="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5" dirty="0">
                <a:latin typeface="Gill Sans Std" panose="020B0502020104020203" pitchFamily="34" charset="0"/>
                <a:cs typeface="Gill Sans MT"/>
              </a:rPr>
              <a:t>right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419735" indent="-407035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420370" algn="l"/>
                <a:tab pos="1458595" algn="l"/>
                <a:tab pos="1884680" algn="l"/>
                <a:tab pos="2224405" algn="l"/>
                <a:tab pos="3578225" algn="l"/>
              </a:tabLst>
            </a:pPr>
            <a:r>
              <a:rPr sz="3800" dirty="0">
                <a:latin typeface="Gill Sans Std" panose="020B0502020104020203" pitchFamily="34" charset="0"/>
                <a:cs typeface="Gill Sans MT"/>
              </a:rPr>
              <a:t>C++	</a:t>
            </a:r>
            <a:r>
              <a:rPr sz="3800" spc="-5" dirty="0">
                <a:latin typeface="Gill Sans Std" panose="020B0502020104020203" pitchFamily="34" charset="0"/>
                <a:cs typeface="Gill Sans MT"/>
              </a:rPr>
              <a:t>is	</a:t>
            </a:r>
            <a:r>
              <a:rPr sz="3800" dirty="0">
                <a:latin typeface="Gill Sans Std" panose="020B0502020104020203" pitchFamily="34" charset="0"/>
                <a:cs typeface="Gill Sans MT"/>
              </a:rPr>
              <a:t>a	</a:t>
            </a:r>
            <a:r>
              <a:rPr sz="3800" spc="-25" dirty="0">
                <a:latin typeface="Gill Sans Std" panose="020B0502020104020203" pitchFamily="34" charset="0"/>
                <a:cs typeface="Gill Sans MT"/>
              </a:rPr>
              <a:t>hybrid</a:t>
            </a:r>
            <a:r>
              <a:rPr lang="en-US" sz="3800" spc="-2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5" dirty="0">
                <a:latin typeface="Gill Sans Std" panose="020B0502020104020203" pitchFamily="34" charset="0"/>
                <a:cs typeface="Gill Sans MT"/>
              </a:rPr>
              <a:t>language,</a:t>
            </a:r>
            <a:r>
              <a:rPr sz="3800" spc="-42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800" spc="5" dirty="0">
                <a:latin typeface="Gill Sans Std" panose="020B0502020104020203" pitchFamily="34" charset="0"/>
                <a:cs typeface="Gill Sans MT"/>
              </a:rPr>
              <a:t>supports</a:t>
            </a:r>
            <a:endParaRPr sz="3800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lnSpc>
                <a:spcPct val="100000"/>
              </a:lnSpc>
              <a:spcBef>
                <a:spcPts val="2140"/>
              </a:spcBef>
              <a:buSzPct val="100000"/>
              <a:buChar char="•"/>
              <a:tabLst>
                <a:tab pos="712470" algn="l"/>
              </a:tabLst>
            </a:pPr>
            <a:r>
              <a:rPr sz="3400" spc="-10" dirty="0">
                <a:latin typeface="Gill Sans Std" panose="020B0502020104020203" pitchFamily="34" charset="0"/>
                <a:cs typeface="Gill Sans MT"/>
              </a:rPr>
              <a:t>Procedure-oriented</a:t>
            </a:r>
            <a:r>
              <a:rPr sz="3400" spc="-6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10" dirty="0">
                <a:latin typeface="Gill Sans Std" panose="020B0502020104020203" pitchFamily="34" charset="0"/>
                <a:cs typeface="Gill Sans MT"/>
              </a:rPr>
              <a:t>programming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712470" algn="l"/>
              </a:tabLst>
            </a:pPr>
            <a:r>
              <a:rPr sz="3400" spc="-5" dirty="0">
                <a:latin typeface="Gill Sans Std" panose="020B0502020104020203" pitchFamily="34" charset="0"/>
                <a:cs typeface="Gill Sans MT"/>
              </a:rPr>
              <a:t>Object-oriented</a:t>
            </a:r>
            <a:r>
              <a:rPr sz="3400" spc="-25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10" dirty="0">
                <a:latin typeface="Gill Sans Std" panose="020B0502020104020203" pitchFamily="34" charset="0"/>
                <a:cs typeface="Gill Sans MT"/>
              </a:rPr>
              <a:t>programming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  <a:p>
            <a:pPr marL="711835" lvl="1" indent="-356235">
              <a:lnSpc>
                <a:spcPct val="100000"/>
              </a:lnSpc>
              <a:spcBef>
                <a:spcPts val="2120"/>
              </a:spcBef>
              <a:buSzPct val="100000"/>
              <a:buChar char="•"/>
              <a:tabLst>
                <a:tab pos="712470" algn="l"/>
              </a:tabLst>
            </a:pPr>
            <a:r>
              <a:rPr sz="3400" spc="-5" dirty="0">
                <a:latin typeface="Gill Sans Std" panose="020B0502020104020203" pitchFamily="34" charset="0"/>
                <a:cs typeface="Gill Sans MT"/>
              </a:rPr>
              <a:t>Generic</a:t>
            </a:r>
            <a:r>
              <a:rPr sz="3400" spc="-50" dirty="0">
                <a:latin typeface="Gill Sans Std" panose="020B0502020104020203" pitchFamily="34" charset="0"/>
                <a:cs typeface="Gill Sans MT"/>
              </a:rPr>
              <a:t> </a:t>
            </a:r>
            <a:r>
              <a:rPr sz="3400" spc="-10" dirty="0">
                <a:latin typeface="Gill Sans Std" panose="020B0502020104020203" pitchFamily="34" charset="0"/>
                <a:cs typeface="Gill Sans MT"/>
              </a:rPr>
              <a:t>programming</a:t>
            </a:r>
            <a:endParaRPr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C++</a:t>
            </a:r>
            <a:endParaRPr lang="en-US" kern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64847" y="2324517"/>
            <a:ext cx="12039953" cy="2808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735" indent="-407035"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sz="3400" dirty="0">
                <a:latin typeface="Gill Sans Std" panose="020B0502020104020203" pitchFamily="34" charset="0"/>
                <a:cs typeface="Gill Sans MT"/>
              </a:rPr>
              <a:t>C++</a:t>
            </a:r>
            <a:endParaRPr lang="en-US" sz="3400" dirty="0">
              <a:latin typeface="Gill Sans Std" panose="020B0502020104020203" pitchFamily="34" charset="0"/>
              <a:cs typeface="Gill Sans MT"/>
            </a:endParaRPr>
          </a:p>
          <a:p>
            <a:pPr marL="876935" lvl="1" indent="-407035"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sz="2800" dirty="0">
                <a:latin typeface="Gill Sans Std" panose="020B0502020104020203" pitchFamily="34" charset="0"/>
                <a:cs typeface="Gill Sans MT"/>
                <a:hlinkClick r:id="rId1"/>
              </a:rPr>
              <a:t>https://en.wikipedia.org/wiki/C%2B%2B#Criticism</a:t>
            </a:r>
            <a:endParaRPr lang="en-US" sz="3400" dirty="0">
              <a:latin typeface="Gill Sans Std" panose="020B0502020104020203" pitchFamily="34" charset="0"/>
              <a:cs typeface="Gill Sans MT"/>
            </a:endParaRPr>
          </a:p>
          <a:p>
            <a:pPr marL="419735" indent="-407035"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sz="3400" dirty="0">
                <a:latin typeface="Gill Sans Std" panose="020B0502020104020203" pitchFamily="34" charset="0"/>
                <a:cs typeface="Gill Sans MT"/>
              </a:rPr>
              <a:t>OOP</a:t>
            </a:r>
            <a:endParaRPr lang="en-US" sz="3400" dirty="0">
              <a:latin typeface="Gill Sans Std" panose="020B0502020104020203" pitchFamily="34" charset="0"/>
              <a:cs typeface="Gill Sans MT"/>
            </a:endParaRPr>
          </a:p>
          <a:p>
            <a:pPr marL="876935" lvl="1" indent="-407035">
              <a:spcBef>
                <a:spcPts val="2120"/>
              </a:spcBef>
              <a:buSzPct val="100000"/>
              <a:buChar char="•"/>
              <a:tabLst>
                <a:tab pos="420370" algn="l"/>
              </a:tabLst>
            </a:pPr>
            <a:r>
              <a:rPr lang="en-US" sz="2800" dirty="0">
                <a:latin typeface="Gill Sans Std" panose="020B0502020104020203" pitchFamily="34" charset="0"/>
                <a:cs typeface="Gill Sans MT"/>
                <a:hlinkClick r:id="rId2"/>
              </a:rPr>
              <a:t>https://en.wikipedia.org/wiki/Object-oriented_programming#Criticism</a:t>
            </a:r>
            <a:endParaRPr lang="en-US" sz="3400" dirty="0">
              <a:latin typeface="Gill Sans Std" panose="020B0502020104020203" pitchFamily="34" charset="0"/>
              <a:cs typeface="Gill Sans MT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0" y="774700"/>
            <a:ext cx="13004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Gill Sans Std" panose="020B0502020104020203" pitchFamily="34" charset="0"/>
                <a:ea typeface="+mj-ea"/>
                <a:cs typeface="Gill Sans Std" panose="020B0502020104020203" pitchFamily="34" charset="0"/>
              </a:defRPr>
            </a:lvl1pPr>
          </a:lstStyle>
          <a:p>
            <a:pPr marL="12700" algn="ctr"/>
            <a:r>
              <a:rPr lang="en-US" altLang="zh-CN" dirty="0"/>
              <a:t>Criticism of …</a:t>
            </a:r>
            <a:endParaRPr lang="en-US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4506</Words>
  <Application>WPS Presentation</Application>
  <PresentationFormat>自定义</PresentationFormat>
  <Paragraphs>266</Paragraphs>
  <Slides>43</Slides>
  <Notes>4</Notes>
  <HiddenSlides>0</HiddenSlides>
  <MMClips>1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73" baseType="lpstr">
      <vt:lpstr>Arial</vt:lpstr>
      <vt:lpstr>宋体</vt:lpstr>
      <vt:lpstr>Wingdings</vt:lpstr>
      <vt:lpstr>Gill Sans MT</vt:lpstr>
      <vt:lpstr>Arcon</vt:lpstr>
      <vt:lpstr>Segoe Print</vt:lpstr>
      <vt:lpstr>Gill Sans Std</vt:lpstr>
      <vt:lpstr>Yu Gothic UI</vt:lpstr>
      <vt:lpstr>Tahoma</vt:lpstr>
      <vt:lpstr>Trebuchet MS</vt:lpstr>
      <vt:lpstr>微软雅黑</vt:lpstr>
      <vt:lpstr>Arial Unicode MS</vt:lpstr>
      <vt:lpstr>Calibri</vt:lpstr>
      <vt:lpstr>Arial</vt:lpstr>
      <vt:lpstr>Calibri</vt:lpstr>
      <vt:lpstr>Gill Sans Std Light</vt:lpstr>
      <vt:lpstr>Yu Gothic UI Light</vt:lpstr>
      <vt:lpstr>Times New Roman</vt:lpstr>
      <vt:lpstr>Gill Sans</vt:lpstr>
      <vt:lpstr>Avenir Medium</vt:lpstr>
      <vt:lpstr>Heiti TC Medium</vt:lpstr>
      <vt:lpstr>Microsoft Sans Serif</vt:lpstr>
      <vt:lpstr>Times New Roman</vt:lpstr>
      <vt:lpstr>楷体_GB2312</vt:lpstr>
      <vt:lpstr>微软雅黑 Light</vt:lpstr>
      <vt:lpstr>Arial Unicode MS</vt:lpstr>
      <vt:lpstr>UD Digi Kyokasho N-R</vt:lpstr>
      <vt:lpstr>新宋体</vt:lpstr>
      <vt:lpstr>Office Theme</vt:lpstr>
      <vt:lpstr>MS_ClipArt_Gallery.2</vt:lpstr>
      <vt:lpstr>with C++</vt:lpstr>
      <vt:lpstr>Course contents</vt:lpstr>
      <vt:lpstr>Ranked 4th on TIOBE Index</vt:lpstr>
      <vt:lpstr>C++ Applications</vt:lpstr>
      <vt:lpstr>C++ Applications</vt:lpstr>
      <vt:lpstr>C++ Applications</vt:lpstr>
      <vt:lpstr>C++ Applications「卡脖子问题」</vt:lpstr>
      <vt:lpstr>C++ Applications「卡脖子问题」</vt:lpstr>
      <vt:lpstr>C++ Applications「卡脖子问题」</vt:lpstr>
      <vt:lpstr>PowerPoint 演示文稿</vt:lpstr>
      <vt:lpstr>PowerPoint 演示文稿</vt:lpstr>
      <vt:lpstr>PowerPoint 演示文稿</vt:lpstr>
      <vt:lpstr>PowerPoint 演示文稿</vt:lpstr>
      <vt:lpstr>C++编程思想 机械工业出版社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Oct. 2002,  Stroustrup  visited Zhejiang Univ.</vt:lpstr>
      <vt:lpstr>PowerPoint 演示文稿</vt:lpstr>
      <vt:lpstr>PowerPoint 演示文稿</vt:lpstr>
      <vt:lpstr>PowerPoint 演示文稿</vt:lpstr>
      <vt:lpstr>PowerPoint 演示文稿</vt:lpstr>
      <vt:lpstr>The Design and Evolution of C++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Programming Using C++</dc:title>
  <dc:creator>Administrator</dc:creator>
  <cp:lastModifiedBy>scitbb</cp:lastModifiedBy>
  <cp:revision>281</cp:revision>
  <dcterms:created xsi:type="dcterms:W3CDTF">2017-02-26T04:18:00Z</dcterms:created>
  <dcterms:modified xsi:type="dcterms:W3CDTF">2024-09-12T12:56:56Z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2017-02-26T08:00:00Z</vt:filetime>
  </property>
  <property fmtid="{D5CDD505-2E9C-101B-9397-08002B2CF9AE}" pid="3" name="ICV">
    <vt:lpwstr>32206ADD34734B66A51D44958A686251_13</vt:lpwstr>
  </property>
  <property fmtid="{D5CDD505-2E9C-101B-9397-08002B2CF9AE}" pid="4" name="KSOProductBuildVer">
    <vt:lpwstr>1033-12.2.0.17562</vt:lpwstr>
  </property>
</Properties>
</file>