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4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5.xml" ContentType="application/vnd.openxmlformats-officedocument.theme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05" r:id="rId1"/>
    <p:sldMasterId id="2147484131" r:id="rId2"/>
    <p:sldMasterId id="2147484332" r:id="rId3"/>
    <p:sldMasterId id="2147484345" r:id="rId4"/>
    <p:sldMasterId id="2147484403" r:id="rId5"/>
    <p:sldMasterId id="2147484415" r:id="rId6"/>
  </p:sldMasterIdLst>
  <p:notesMasterIdLst>
    <p:notesMasterId r:id="rId75"/>
  </p:notesMasterIdLst>
  <p:handoutMasterIdLst>
    <p:handoutMasterId r:id="rId76"/>
  </p:handoutMasterIdLst>
  <p:sldIdLst>
    <p:sldId id="5150" r:id="rId7"/>
    <p:sldId id="6145" r:id="rId8"/>
    <p:sldId id="6201" r:id="rId9"/>
    <p:sldId id="4422" r:id="rId10"/>
    <p:sldId id="6196" r:id="rId11"/>
    <p:sldId id="5159" r:id="rId12"/>
    <p:sldId id="5167" r:id="rId13"/>
    <p:sldId id="5168" r:id="rId14"/>
    <p:sldId id="5164" r:id="rId15"/>
    <p:sldId id="5166" r:id="rId16"/>
    <p:sldId id="6204" r:id="rId17"/>
    <p:sldId id="2866" r:id="rId18"/>
    <p:sldId id="2869" r:id="rId19"/>
    <p:sldId id="6205" r:id="rId20"/>
    <p:sldId id="6252" r:id="rId21"/>
    <p:sldId id="6209" r:id="rId22"/>
    <p:sldId id="711" r:id="rId23"/>
    <p:sldId id="2870" r:id="rId24"/>
    <p:sldId id="2973" r:id="rId25"/>
    <p:sldId id="6212" r:id="rId26"/>
    <p:sldId id="6211" r:id="rId27"/>
    <p:sldId id="6207" r:id="rId28"/>
    <p:sldId id="6223" r:id="rId29"/>
    <p:sldId id="6229" r:id="rId30"/>
    <p:sldId id="6234" r:id="rId31"/>
    <p:sldId id="6232" r:id="rId32"/>
    <p:sldId id="6233" r:id="rId33"/>
    <p:sldId id="6222" r:id="rId34"/>
    <p:sldId id="6206" r:id="rId35"/>
    <p:sldId id="2987" r:id="rId36"/>
    <p:sldId id="2988" r:id="rId37"/>
    <p:sldId id="6224" r:id="rId38"/>
    <p:sldId id="2992" r:id="rId39"/>
    <p:sldId id="6221" r:id="rId40"/>
    <p:sldId id="6216" r:id="rId41"/>
    <p:sldId id="6213" r:id="rId42"/>
    <p:sldId id="6217" r:id="rId43"/>
    <p:sldId id="6218" r:id="rId44"/>
    <p:sldId id="6219" r:id="rId45"/>
    <p:sldId id="2841" r:id="rId46"/>
    <p:sldId id="2842" r:id="rId47"/>
    <p:sldId id="2844" r:id="rId48"/>
    <p:sldId id="6235" r:id="rId49"/>
    <p:sldId id="2854" r:id="rId50"/>
    <p:sldId id="6236" r:id="rId51"/>
    <p:sldId id="6237" r:id="rId52"/>
    <p:sldId id="6238" r:id="rId53"/>
    <p:sldId id="6239" r:id="rId54"/>
    <p:sldId id="6243" r:id="rId55"/>
    <p:sldId id="6240" r:id="rId56"/>
    <p:sldId id="6242" r:id="rId57"/>
    <p:sldId id="6241" r:id="rId58"/>
    <p:sldId id="6250" r:id="rId59"/>
    <p:sldId id="6244" r:id="rId60"/>
    <p:sldId id="6245" r:id="rId61"/>
    <p:sldId id="6246" r:id="rId62"/>
    <p:sldId id="6249" r:id="rId63"/>
    <p:sldId id="6248" r:id="rId64"/>
    <p:sldId id="2845" r:id="rId65"/>
    <p:sldId id="2846" r:id="rId66"/>
    <p:sldId id="2847" r:id="rId67"/>
    <p:sldId id="2848" r:id="rId68"/>
    <p:sldId id="6547" r:id="rId69"/>
    <p:sldId id="6161" r:id="rId70"/>
    <p:sldId id="5160" r:id="rId71"/>
    <p:sldId id="6170" r:id="rId72"/>
    <p:sldId id="6171" r:id="rId73"/>
    <p:sldId id="6126" r:id="rId74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2D050"/>
    <a:srgbClr val="FF0000"/>
    <a:srgbClr val="3B812F"/>
    <a:srgbClr val="0432FF"/>
    <a:srgbClr val="CCE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17" autoAdjust="0"/>
    <p:restoredTop sz="93741"/>
  </p:normalViewPr>
  <p:slideViewPr>
    <p:cSldViewPr>
      <p:cViewPr varScale="1">
        <p:scale>
          <a:sx n="120" d="100"/>
          <a:sy n="120" d="100"/>
        </p:scale>
        <p:origin x="2080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0.xml"/><Relationship Id="rId21" Type="http://schemas.openxmlformats.org/officeDocument/2006/relationships/slide" Target="slides/slide15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63" Type="http://schemas.openxmlformats.org/officeDocument/2006/relationships/slide" Target="slides/slide57.xml"/><Relationship Id="rId68" Type="http://schemas.openxmlformats.org/officeDocument/2006/relationships/slide" Target="slides/slide62.xml"/><Relationship Id="rId16" Type="http://schemas.openxmlformats.org/officeDocument/2006/relationships/slide" Target="slides/slide10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53" Type="http://schemas.openxmlformats.org/officeDocument/2006/relationships/slide" Target="slides/slide47.xml"/><Relationship Id="rId58" Type="http://schemas.openxmlformats.org/officeDocument/2006/relationships/slide" Target="slides/slide52.xml"/><Relationship Id="rId66" Type="http://schemas.openxmlformats.org/officeDocument/2006/relationships/slide" Target="slides/slide60.xml"/><Relationship Id="rId74" Type="http://schemas.openxmlformats.org/officeDocument/2006/relationships/slide" Target="slides/slide68.xml"/><Relationship Id="rId79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61" Type="http://schemas.openxmlformats.org/officeDocument/2006/relationships/slide" Target="slides/slide55.xml"/><Relationship Id="rId19" Type="http://schemas.openxmlformats.org/officeDocument/2006/relationships/slide" Target="slides/slide1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56" Type="http://schemas.openxmlformats.org/officeDocument/2006/relationships/slide" Target="slides/slide50.xml"/><Relationship Id="rId64" Type="http://schemas.openxmlformats.org/officeDocument/2006/relationships/slide" Target="slides/slide58.xml"/><Relationship Id="rId69" Type="http://schemas.openxmlformats.org/officeDocument/2006/relationships/slide" Target="slides/slide63.xml"/><Relationship Id="rId77" Type="http://schemas.openxmlformats.org/officeDocument/2006/relationships/presProps" Target="presProps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72" Type="http://schemas.openxmlformats.org/officeDocument/2006/relationships/slide" Target="slides/slide66.xml"/><Relationship Id="rId80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59" Type="http://schemas.openxmlformats.org/officeDocument/2006/relationships/slide" Target="slides/slide53.xml"/><Relationship Id="rId67" Type="http://schemas.openxmlformats.org/officeDocument/2006/relationships/slide" Target="slides/slide61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slide" Target="slides/slide48.xml"/><Relationship Id="rId62" Type="http://schemas.openxmlformats.org/officeDocument/2006/relationships/slide" Target="slides/slide56.xml"/><Relationship Id="rId70" Type="http://schemas.openxmlformats.org/officeDocument/2006/relationships/slide" Target="slides/slide64.xml"/><Relationship Id="rId75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openxmlformats.org/officeDocument/2006/relationships/slide" Target="slides/slide51.xml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slide" Target="slides/slide46.xml"/><Relationship Id="rId60" Type="http://schemas.openxmlformats.org/officeDocument/2006/relationships/slide" Target="slides/slide54.xml"/><Relationship Id="rId65" Type="http://schemas.openxmlformats.org/officeDocument/2006/relationships/slide" Target="slides/slide59.xml"/><Relationship Id="rId73" Type="http://schemas.openxmlformats.org/officeDocument/2006/relationships/slide" Target="slides/slide67.xml"/><Relationship Id="rId78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9" Type="http://schemas.openxmlformats.org/officeDocument/2006/relationships/slide" Target="slides/slide33.xml"/><Relationship Id="rId34" Type="http://schemas.openxmlformats.org/officeDocument/2006/relationships/slide" Target="slides/slide28.xml"/><Relationship Id="rId50" Type="http://schemas.openxmlformats.org/officeDocument/2006/relationships/slide" Target="slides/slide44.xml"/><Relationship Id="rId55" Type="http://schemas.openxmlformats.org/officeDocument/2006/relationships/slide" Target="slides/slide49.xml"/><Relationship Id="rId76" Type="http://schemas.openxmlformats.org/officeDocument/2006/relationships/handoutMaster" Target="handoutMasters/handoutMaster1.xml"/><Relationship Id="rId7" Type="http://schemas.openxmlformats.org/officeDocument/2006/relationships/slide" Target="slides/slide1.xml"/><Relationship Id="rId71" Type="http://schemas.openxmlformats.org/officeDocument/2006/relationships/slide" Target="slides/slide65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3019A08-F8A3-6949-A65B-E3147C278B9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A3DF19-91AD-914C-A7F6-4AA2A7E6456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fld id="{AD636FF8-CD82-7340-9DDC-BB4B4798B04E}" type="datetimeFigureOut">
              <a:rPr lang="en-US"/>
              <a:pPr>
                <a:defRPr/>
              </a:pPr>
              <a:t>5/7/26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49600E-2B3E-2641-9ECF-F25C3BA209A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17B383-3727-2745-B3D2-CA3F82DC2A8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hangingPunct="1">
              <a:defRPr sz="12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fld id="{F63E19C4-7634-C84C-8A08-F1155DA4151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302EC73-6E89-F04C-A37A-7C630CCBAA4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5176FC-BDCF-954E-A852-4B4AE321B1D4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charset="0"/>
                <a:ea typeface="ＭＳ Ｐゴシック" charset="-128"/>
              </a:defRPr>
            </a:lvl1pPr>
          </a:lstStyle>
          <a:p>
            <a:pPr>
              <a:defRPr/>
            </a:pPr>
            <a:fld id="{90E3D52B-79D4-6A46-9768-0576B5B692C2}" type="datetime1">
              <a:rPr lang="en-US" altLang="en-US"/>
              <a:pPr>
                <a:defRPr/>
              </a:pPr>
              <a:t>5/7/26</a:t>
            </a:fld>
            <a:endParaRPr lang="en-US" alt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138926B2-FAB3-9A41-903D-981D5B9DDA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00A49AD7-AD6F-3843-B037-3977124195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8FCC79-2EC2-9147-9B95-84369E68674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4E0FE6-2B29-2044-BE2C-49B3357C14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charset="0"/>
                <a:ea typeface="ＭＳ Ｐゴシック" charset="-128"/>
              </a:defRPr>
            </a:lvl1pPr>
          </a:lstStyle>
          <a:p>
            <a:pPr>
              <a:defRPr/>
            </a:pPr>
            <a:fld id="{91B4C252-306E-224C-8B2A-E6667D8E67C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06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06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06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06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7">
            <a:extLst>
              <a:ext uri="{FF2B5EF4-FFF2-40B4-BE49-F238E27FC236}">
                <a16:creationId xmlns:a16="http://schemas.microsoft.com/office/drawing/2014/main" id="{4811DDEB-23E5-1A4A-A4FA-2FB462DC493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 defTabSz="91122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7CF1C65-F0E2-8E44-882C-5DBA87F125D8}" type="slidenum">
              <a:rPr lang="en-US" altLang="en-US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1</a:t>
            </a:fld>
            <a:endParaRPr lang="en-US" altLang="en-US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554" name="Rectangle 2">
            <a:extLst>
              <a:ext uri="{FF2B5EF4-FFF2-40B4-BE49-F238E27FC236}">
                <a16:creationId xmlns:a16="http://schemas.microsoft.com/office/drawing/2014/main" id="{2AB01437-07BF-AD4E-82F9-DDA0E0B2AF5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55423678-1E4A-644F-87FF-81A34DC442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596214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4 combinations…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1B4C252-306E-224C-8B2A-E6667D8E67C9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362322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65" name="Slide Image Placeholder 1">
            <a:extLst>
              <a:ext uri="{FF2B5EF4-FFF2-40B4-BE49-F238E27FC236}">
                <a16:creationId xmlns:a16="http://schemas.microsoft.com/office/drawing/2014/main" id="{6489FE02-8C36-C546-A801-E281BF10E77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1666" name="Notes Placeholder 2">
            <a:extLst>
              <a:ext uri="{FF2B5EF4-FFF2-40B4-BE49-F238E27FC236}">
                <a16:creationId xmlns:a16="http://schemas.microsoft.com/office/drawing/2014/main" id="{BBE8A9E4-9F24-B046-AD6F-8D6ECA7C813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241667" name="Slide Number Placeholder 3">
            <a:extLst>
              <a:ext uri="{FF2B5EF4-FFF2-40B4-BE49-F238E27FC236}">
                <a16:creationId xmlns:a16="http://schemas.microsoft.com/office/drawing/2014/main" id="{79AA5862-F58D-2542-AA2F-E31CD4BD3B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E2E99F8-86B3-0748-BFEC-8E71EC322606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Coherence;</a:t>
            </a:r>
            <a:r>
              <a:rPr lang="zh-CN" altLang="en-US" dirty="0"/>
              <a:t>一致性</a:t>
            </a:r>
            <a:endParaRPr lang="en-US" altLang="zh-CN" dirty="0"/>
          </a:p>
          <a:p>
            <a:r>
              <a:rPr lang="en-US" altLang="zh-CN" dirty="0"/>
              <a:t>Consistency:</a:t>
            </a:r>
            <a:r>
              <a:rPr lang="zh-CN" altLang="en-US" dirty="0"/>
              <a:t>连贯性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1B4C252-306E-224C-8B2A-E6667D8E67C9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816618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Singe Core? Valid bit, tag…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1B4C252-306E-224C-8B2A-E6667D8E67C9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155113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大三有很多课，假如</a:t>
            </a:r>
            <a:r>
              <a:rPr lang="en-US" altLang="zh-CN" dirty="0"/>
              <a:t>10</a:t>
            </a:r>
            <a:r>
              <a:rPr lang="zh-CN" altLang="en-US" dirty="0"/>
              <a:t>门课，你跟你室友都选了人工智能芯片与系统专业课，这样人工智能专业课的信息大家有兴趣去了解（</a:t>
            </a:r>
            <a:r>
              <a:rPr lang="en-US" altLang="zh-CN" dirty="0"/>
              <a:t>update</a:t>
            </a:r>
            <a:r>
              <a:rPr lang="zh-CN" altLang="en-US" dirty="0"/>
              <a:t>比较好）；但有选修课，不是所有人都选了，这个时候</a:t>
            </a:r>
            <a:r>
              <a:rPr lang="en-US" altLang="zh-CN" dirty="0"/>
              <a:t>update</a:t>
            </a:r>
            <a:r>
              <a:rPr lang="zh-CN" altLang="en-US" dirty="0"/>
              <a:t>就不好，</a:t>
            </a:r>
            <a:r>
              <a:rPr lang="en-US" altLang="zh-CN" dirty="0"/>
              <a:t>invalidate</a:t>
            </a:r>
            <a:r>
              <a:rPr lang="zh-CN" altLang="en-US" dirty="0"/>
              <a:t>就比较好。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1B4C252-306E-224C-8B2A-E6667D8E67C9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191191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Reducing AMAT is not always beneficial for performance. The direct metric is instruction throughput, which might be orthogonal to latency.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1B4C252-306E-224C-8B2A-E6667D8E67C9}" type="slidenum">
              <a:rPr lang="en-US" altLang="en-US" smtClean="0"/>
              <a:pPr>
                <a:defRPr/>
              </a:pPr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10129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CPU request </a:t>
            </a:r>
            <a:r>
              <a:rPr lang="en-US" altLang="zh-CN" dirty="0">
                <a:sym typeface="Wingdings" panose="05000000000000000000" pitchFamily="2" charset="2"/>
              </a:rPr>
              <a:t> </a:t>
            </a:r>
            <a:r>
              <a:rPr lang="en-US" altLang="zh-CN" dirty="0"/>
              <a:t>Cache states </a:t>
            </a:r>
            <a:r>
              <a:rPr lang="en-US" altLang="zh-CN" dirty="0">
                <a:sym typeface="Wingdings" panose="05000000000000000000" pitchFamily="2" charset="2"/>
              </a:rPr>
              <a:t> Bus request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1B4C252-306E-224C-8B2A-E6667D8E67C9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705691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大三有很多课，假如</a:t>
            </a:r>
            <a:r>
              <a:rPr lang="en-US" altLang="zh-CN" dirty="0"/>
              <a:t>10</a:t>
            </a:r>
            <a:r>
              <a:rPr lang="zh-CN" altLang="en-US" dirty="0"/>
              <a:t>门课，你跟你室友都选了人工智能芯片与系统专业课，这样人工智能专业课的信息大家有兴趣去了解（</a:t>
            </a:r>
            <a:r>
              <a:rPr lang="en-US" altLang="zh-CN" dirty="0"/>
              <a:t>update</a:t>
            </a:r>
            <a:r>
              <a:rPr lang="zh-CN" altLang="en-US" dirty="0"/>
              <a:t>比较好）；但有选修课，不是所有人都选了，这个时候</a:t>
            </a:r>
            <a:r>
              <a:rPr lang="en-US" altLang="zh-CN" dirty="0"/>
              <a:t>update</a:t>
            </a:r>
            <a:r>
              <a:rPr lang="zh-CN" altLang="en-US" dirty="0"/>
              <a:t>就不好，</a:t>
            </a:r>
            <a:r>
              <a:rPr lang="en-US" altLang="zh-CN" dirty="0"/>
              <a:t>invalidate</a:t>
            </a:r>
            <a:r>
              <a:rPr lang="zh-CN" altLang="en-US" dirty="0"/>
              <a:t>就比较好。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1B4C252-306E-224C-8B2A-E6667D8E67C9}" type="slidenum">
              <a:rPr lang="en-US" altLang="en-US" smtClean="0"/>
              <a:pPr>
                <a:defRPr/>
              </a:pPr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134339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Bus also broadcasts to C2…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1B4C252-306E-224C-8B2A-E6667D8E67C9}" type="slidenum">
              <a:rPr lang="en-US" altLang="en-US" smtClean="0"/>
              <a:pPr>
                <a:defRPr/>
              </a:pPr>
              <a:t>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843503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endParaRPr lang="en-US" altLang="en-US" dirty="0">
              <a:ea typeface="ＭＳ Ｐゴシック" charset="-128"/>
            </a:endParaRPr>
          </a:p>
          <a:p>
            <a:r>
              <a:rPr lang="en-US" altLang="en-US" dirty="0">
                <a:ea typeface="ＭＳ Ｐゴシック" charset="-128"/>
              </a:rPr>
              <a:t>Protocol design is flexible</a:t>
            </a:r>
          </a:p>
          <a:p>
            <a:pPr lvl="1"/>
            <a:r>
              <a:rPr lang="en-US" altLang="en-US" dirty="0">
                <a:ea typeface="ＭＳ Ｐゴシック" charset="-128"/>
              </a:rPr>
              <a:t>Exact forwarding paths depend on implementation</a:t>
            </a:r>
          </a:p>
          <a:p>
            <a:pPr lvl="1"/>
            <a:r>
              <a:rPr lang="en-US" altLang="en-US" dirty="0">
                <a:ea typeface="ＭＳ Ｐゴシック" charset="-128"/>
              </a:rPr>
              <a:t>For example, do cache-to-cache transfer?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1B4C252-306E-224C-8B2A-E6667D8E67C9}" type="slidenum">
              <a:rPr lang="en-US" altLang="en-US" smtClean="0"/>
              <a:pPr>
                <a:defRPr/>
              </a:pPr>
              <a:t>33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52318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Coherence;</a:t>
            </a:r>
            <a:r>
              <a:rPr lang="zh-CN" altLang="en-US" dirty="0"/>
              <a:t>一致性</a:t>
            </a:r>
            <a:endParaRPr lang="en-US" altLang="zh-CN" dirty="0"/>
          </a:p>
          <a:p>
            <a:r>
              <a:rPr lang="en-US" altLang="zh-CN" dirty="0"/>
              <a:t>Consistency:</a:t>
            </a:r>
            <a:r>
              <a:rPr lang="zh-CN" altLang="en-US" dirty="0"/>
              <a:t>连贯性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1B4C252-306E-224C-8B2A-E6667D8E67C9}" type="slidenum">
              <a:rPr lang="en-US" altLang="en-US" smtClean="0"/>
              <a:pPr>
                <a:defRPr/>
              </a:pPr>
              <a:t>38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905332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有可能的哈。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1B4C252-306E-224C-8B2A-E6667D8E67C9}" type="slidenum">
              <a:rPr lang="en-US" altLang="en-US" smtClean="0"/>
              <a:pPr>
                <a:defRPr/>
              </a:pPr>
              <a:t>43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41477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有可能的哈。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1B4C252-306E-224C-8B2A-E6667D8E67C9}" type="slidenum">
              <a:rPr lang="en-US" altLang="en-US" smtClean="0"/>
              <a:pPr>
                <a:defRPr/>
              </a:pPr>
              <a:t>49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403370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有可能的哈。</a:t>
            </a:r>
            <a:r>
              <a:rPr lang="en-US" altLang="zh-CN" dirty="0"/>
              <a:t>&lt;critical section&gt;</a:t>
            </a:r>
            <a:endParaRPr lang="zh-CN" altLang="en-US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1B4C252-306E-224C-8B2A-E6667D8E67C9}" type="slidenum">
              <a:rPr lang="en-US" altLang="en-US" smtClean="0"/>
              <a:pPr>
                <a:defRPr/>
              </a:pPr>
              <a:t>54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5527344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有可能的哈。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1B4C252-306E-224C-8B2A-E6667D8E67C9}" type="slidenum">
              <a:rPr lang="en-US" altLang="en-US" smtClean="0"/>
              <a:pPr>
                <a:defRPr/>
              </a:pPr>
              <a:t>58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6022182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Slide Image Placeholder 1">
            <a:extLst>
              <a:ext uri="{FF2B5EF4-FFF2-40B4-BE49-F238E27FC236}">
                <a16:creationId xmlns:a16="http://schemas.microsoft.com/office/drawing/2014/main" id="{F1B71060-4BED-264E-B5AB-5D060FC9E9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4994" name="Notes Placeholder 2">
            <a:extLst>
              <a:ext uri="{FF2B5EF4-FFF2-40B4-BE49-F238E27FC236}">
                <a16:creationId xmlns:a16="http://schemas.microsoft.com/office/drawing/2014/main" id="{F3B43675-ED60-3540-9853-82CA7DDDCBC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sz="1200" b="1" dirty="0"/>
              <a:t>HBM3 memory subsystem</a:t>
            </a:r>
            <a:r>
              <a:rPr lang="en-US" sz="1200" dirty="0"/>
              <a:t> provides nearly a 2x bandwidth increase over the previous generation. The H100 SXM5 GPU is the world’s first GPU with HBM3 memory delivering a class-leading 3 TB/sec of memory bandwidth.</a:t>
            </a:r>
          </a:p>
          <a:p>
            <a:r>
              <a:rPr lang="en-US" sz="1200" b="1" dirty="0"/>
              <a:t>50 MB L2 cache architecture </a:t>
            </a:r>
            <a:r>
              <a:rPr lang="en-US" sz="1200" dirty="0"/>
              <a:t>caches large portions of models and datasets for repeated access, reducing trips to HBM3.</a:t>
            </a:r>
          </a:p>
          <a:p>
            <a:r>
              <a:rPr lang="en-US" altLang="zh-CN" sz="1200" dirty="0"/>
              <a:t>SM</a:t>
            </a:r>
            <a:r>
              <a:rPr lang="zh-CN" altLang="en-US" sz="1200" dirty="0"/>
              <a:t>： </a:t>
            </a:r>
            <a:r>
              <a:rPr lang="en-US" altLang="zh-CN" sz="1200" dirty="0"/>
              <a:t>streaming multiprocessor</a:t>
            </a:r>
          </a:p>
          <a:p>
            <a:endParaRPr lang="en-US" sz="12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dirty="0"/>
          </a:p>
        </p:txBody>
      </p:sp>
      <p:sp>
        <p:nvSpPr>
          <p:cNvPr id="84995" name="Slide Number Placeholder 3">
            <a:extLst>
              <a:ext uri="{FF2B5EF4-FFF2-40B4-BE49-F238E27FC236}">
                <a16:creationId xmlns:a16="http://schemas.microsoft.com/office/drawing/2014/main" id="{DA2FEC94-CE7C-7F4D-9AEB-C4F824521B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12813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12813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12813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12813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5EA8C3D-9B74-7A43-B7E8-1232C63E8CDC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63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63781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>
            <a:extLst>
              <a:ext uri="{FF2B5EF4-FFF2-40B4-BE49-F238E27FC236}">
                <a16:creationId xmlns:a16="http://schemas.microsoft.com/office/drawing/2014/main" id="{C3742222-F29D-8746-8485-52B78EC429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23950"/>
            <a:ext cx="8229600" cy="914400"/>
          </a:xfrm>
          <a:custGeom>
            <a:avLst/>
            <a:gdLst>
              <a:gd name="T0" fmla="*/ 0 w 1000"/>
              <a:gd name="T1" fmla="*/ 2147483646 h 1000"/>
              <a:gd name="T2" fmla="*/ 0 w 1000"/>
              <a:gd name="T3" fmla="*/ 0 h 1000"/>
              <a:gd name="T4" fmla="*/ 2147483646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8">
            <a:extLst>
              <a:ext uri="{FF2B5EF4-FFF2-40B4-BE49-F238E27FC236}">
                <a16:creationId xmlns:a16="http://schemas.microsoft.com/office/drawing/2014/main" id="{DA1EEB37-4086-A048-BCA6-52EF3E991764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337185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Line 10">
            <a:extLst>
              <a:ext uri="{FF2B5EF4-FFF2-40B4-BE49-F238E27FC236}">
                <a16:creationId xmlns:a16="http://schemas.microsoft.com/office/drawing/2014/main" id="{351D10F5-CF07-BC4F-AEA7-EB0EBBF5C7F7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8686800" y="2457450"/>
            <a:ext cx="0" cy="91440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13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524000"/>
            <a:ext cx="7924800" cy="17526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85800" y="3581400"/>
            <a:ext cx="78486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5279F13-A660-0442-BA6B-97FEC7F1420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000000"/>
                </a:solidFill>
                <a:latin typeface="Garamond" pitchFamily="-106" charset="0"/>
                <a:ea typeface="Arial" pitchFamily="-106" charset="0"/>
                <a:cs typeface="Arial" pitchFamily="-106" charset="0"/>
              </a:defRPr>
            </a:lvl1pPr>
          </a:lstStyle>
          <a:p>
            <a:pPr>
              <a:defRPr/>
            </a:pPr>
            <a:r>
              <a:rPr lang="en-US"/>
              <a:t>Efficient Runahead Execution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B6D374A8-8534-4C45-BA6E-2E1580AF53E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3638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FA3412AE-DCDC-2D47-A254-A070F420216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 smtClean="0"/>
            </a:lvl1pPr>
          </a:lstStyle>
          <a:p>
            <a:pPr>
              <a:defRPr/>
            </a:pPr>
            <a:fld id="{E9B532B6-A008-424A-924E-EA71AE4F142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61445027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97527"/>
            <a:ext cx="8610600" cy="51937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29">
            <a:extLst>
              <a:ext uri="{FF2B5EF4-FFF2-40B4-BE49-F238E27FC236}">
                <a16:creationId xmlns:a16="http://schemas.microsoft.com/office/drawing/2014/main" id="{7CC0346A-E57B-6F40-9390-403E914C0F3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1030">
            <a:extLst>
              <a:ext uri="{FF2B5EF4-FFF2-40B4-BE49-F238E27FC236}">
                <a16:creationId xmlns:a16="http://schemas.microsoft.com/office/drawing/2014/main" id="{9FABF3E2-2C59-E840-A957-4865F1925F6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B0D574-11D3-D64D-8790-E46EB69BFFB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59654291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029">
            <a:extLst>
              <a:ext uri="{FF2B5EF4-FFF2-40B4-BE49-F238E27FC236}">
                <a16:creationId xmlns:a16="http://schemas.microsoft.com/office/drawing/2014/main" id="{68AFD0C6-552A-BF4A-B802-D080C569DD0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1030">
            <a:extLst>
              <a:ext uri="{FF2B5EF4-FFF2-40B4-BE49-F238E27FC236}">
                <a16:creationId xmlns:a16="http://schemas.microsoft.com/office/drawing/2014/main" id="{C2DCC204-07CA-D146-872C-416F095E31E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D38EAD-5B00-BF4C-BB83-04F79AC870F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88198150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371600"/>
            <a:ext cx="42291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0100" y="1371600"/>
            <a:ext cx="42291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029">
            <a:extLst>
              <a:ext uri="{FF2B5EF4-FFF2-40B4-BE49-F238E27FC236}">
                <a16:creationId xmlns:a16="http://schemas.microsoft.com/office/drawing/2014/main" id="{B054A0D1-0549-344F-8552-4DE1684069A4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1030">
            <a:extLst>
              <a:ext uri="{FF2B5EF4-FFF2-40B4-BE49-F238E27FC236}">
                <a16:creationId xmlns:a16="http://schemas.microsoft.com/office/drawing/2014/main" id="{CA1508F3-C424-1B47-AA30-2C03B51A81D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C8D11A-B685-594F-92D4-7402680B15C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87957050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029">
            <a:extLst>
              <a:ext uri="{FF2B5EF4-FFF2-40B4-BE49-F238E27FC236}">
                <a16:creationId xmlns:a16="http://schemas.microsoft.com/office/drawing/2014/main" id="{9986699C-7B92-9242-BC30-2B42D065FAD4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1030">
            <a:extLst>
              <a:ext uri="{FF2B5EF4-FFF2-40B4-BE49-F238E27FC236}">
                <a16:creationId xmlns:a16="http://schemas.microsoft.com/office/drawing/2014/main" id="{4715F616-BAAD-B64A-8179-9775F218106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5BB188-0DEA-C148-82FD-03336D5DBA2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46603068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029">
            <a:extLst>
              <a:ext uri="{FF2B5EF4-FFF2-40B4-BE49-F238E27FC236}">
                <a16:creationId xmlns:a16="http://schemas.microsoft.com/office/drawing/2014/main" id="{92A548EE-EB47-1940-8A88-A755330E9D8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1030">
            <a:extLst>
              <a:ext uri="{FF2B5EF4-FFF2-40B4-BE49-F238E27FC236}">
                <a16:creationId xmlns:a16="http://schemas.microsoft.com/office/drawing/2014/main" id="{BFD0B88A-D29A-BE47-9EF2-F7E7B500875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716B2A-6574-DD42-8F78-46F777B3BA2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11786868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9">
            <a:extLst>
              <a:ext uri="{FF2B5EF4-FFF2-40B4-BE49-F238E27FC236}">
                <a16:creationId xmlns:a16="http://schemas.microsoft.com/office/drawing/2014/main" id="{58813B69-B5B7-CD48-BAD2-F658836CB22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1030">
            <a:extLst>
              <a:ext uri="{FF2B5EF4-FFF2-40B4-BE49-F238E27FC236}">
                <a16:creationId xmlns:a16="http://schemas.microsoft.com/office/drawing/2014/main" id="{F8E0F78B-FEC5-1845-80C5-6F4A789232D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8E01A5-AB12-254B-80C1-12E7FDB9921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80718697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029">
            <a:extLst>
              <a:ext uri="{FF2B5EF4-FFF2-40B4-BE49-F238E27FC236}">
                <a16:creationId xmlns:a16="http://schemas.microsoft.com/office/drawing/2014/main" id="{83DB902F-38D8-A24C-9BF2-9F954FFA0D5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1030">
            <a:extLst>
              <a:ext uri="{FF2B5EF4-FFF2-40B4-BE49-F238E27FC236}">
                <a16:creationId xmlns:a16="http://schemas.microsoft.com/office/drawing/2014/main" id="{C3DC7B3F-4F2E-D145-B398-6B3E10D56B6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3FEB14-871A-A642-9D43-2895160B9A9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67367731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029">
            <a:extLst>
              <a:ext uri="{FF2B5EF4-FFF2-40B4-BE49-F238E27FC236}">
                <a16:creationId xmlns:a16="http://schemas.microsoft.com/office/drawing/2014/main" id="{3EC101C1-41AB-9147-A093-DE6C3C50508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1030">
            <a:extLst>
              <a:ext uri="{FF2B5EF4-FFF2-40B4-BE49-F238E27FC236}">
                <a16:creationId xmlns:a16="http://schemas.microsoft.com/office/drawing/2014/main" id="{DD5E2ADD-A347-F642-85BB-9810FD9AA00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03FC76-6196-F84D-A33E-AC850170F73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93396542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29">
            <a:extLst>
              <a:ext uri="{FF2B5EF4-FFF2-40B4-BE49-F238E27FC236}">
                <a16:creationId xmlns:a16="http://schemas.microsoft.com/office/drawing/2014/main" id="{B4A68A53-E6AD-3D4A-A5AD-C8BAE714FB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1030">
            <a:extLst>
              <a:ext uri="{FF2B5EF4-FFF2-40B4-BE49-F238E27FC236}">
                <a16:creationId xmlns:a16="http://schemas.microsoft.com/office/drawing/2014/main" id="{CC5B509E-82B4-674A-BE6F-B5ACA15C1F0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4C376A-0C92-DF4F-9013-F4619B16C3C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58534849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86550" y="152400"/>
            <a:ext cx="2152650" cy="6096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152400"/>
            <a:ext cx="6305550" cy="6096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29">
            <a:extLst>
              <a:ext uri="{FF2B5EF4-FFF2-40B4-BE49-F238E27FC236}">
                <a16:creationId xmlns:a16="http://schemas.microsoft.com/office/drawing/2014/main" id="{970A5FEF-40C5-A141-9473-6023FFF1C50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1030">
            <a:extLst>
              <a:ext uri="{FF2B5EF4-FFF2-40B4-BE49-F238E27FC236}">
                <a16:creationId xmlns:a16="http://schemas.microsoft.com/office/drawing/2014/main" id="{524A988D-876D-DD45-A280-19C3559BFA1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9D9080-6B3D-274B-8935-CD0F10A0EE5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90367354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Title, Clip 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8610600" cy="1066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lipArt Placeholder 2"/>
          <p:cNvSpPr>
            <a:spLocks noGrp="1"/>
          </p:cNvSpPr>
          <p:nvPr>
            <p:ph type="clipArt" sz="half" idx="1"/>
          </p:nvPr>
        </p:nvSpPr>
        <p:spPr>
          <a:xfrm>
            <a:off x="228600" y="1371600"/>
            <a:ext cx="4229100" cy="4876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10100" y="1371600"/>
            <a:ext cx="4229100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029">
            <a:extLst>
              <a:ext uri="{FF2B5EF4-FFF2-40B4-BE49-F238E27FC236}">
                <a16:creationId xmlns:a16="http://schemas.microsoft.com/office/drawing/2014/main" id="{88BEB09C-B257-3942-A72E-B204574FC8B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1030">
            <a:extLst>
              <a:ext uri="{FF2B5EF4-FFF2-40B4-BE49-F238E27FC236}">
                <a16:creationId xmlns:a16="http://schemas.microsoft.com/office/drawing/2014/main" id="{BA401158-F3E8-214A-84B5-EE46C4E719B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4119E5-1D2D-6F40-BFB5-6DDC3CE8305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40258005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>
            <a:extLst>
              <a:ext uri="{FF2B5EF4-FFF2-40B4-BE49-F238E27FC236}">
                <a16:creationId xmlns:a16="http://schemas.microsoft.com/office/drawing/2014/main" id="{82E1C9A3-F56E-D141-AFDD-14DAFE9913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23950"/>
            <a:ext cx="8229600" cy="914400"/>
          </a:xfrm>
          <a:custGeom>
            <a:avLst/>
            <a:gdLst>
              <a:gd name="T0" fmla="*/ 0 w 1000"/>
              <a:gd name="T1" fmla="*/ 2147483646 h 1000"/>
              <a:gd name="T2" fmla="*/ 0 w 1000"/>
              <a:gd name="T3" fmla="*/ 0 h 1000"/>
              <a:gd name="T4" fmla="*/ 2147483646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8">
            <a:extLst>
              <a:ext uri="{FF2B5EF4-FFF2-40B4-BE49-F238E27FC236}">
                <a16:creationId xmlns:a16="http://schemas.microsoft.com/office/drawing/2014/main" id="{F27F9853-DC4D-6A40-8B3D-0046D6891CA8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337185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Line 10">
            <a:extLst>
              <a:ext uri="{FF2B5EF4-FFF2-40B4-BE49-F238E27FC236}">
                <a16:creationId xmlns:a16="http://schemas.microsoft.com/office/drawing/2014/main" id="{1A3CEF30-81C3-494E-8E08-B06EED17BF65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8686800" y="2457450"/>
            <a:ext cx="0" cy="91440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13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524000"/>
            <a:ext cx="7924800" cy="17526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85800" y="3581400"/>
            <a:ext cx="78486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E31DA0A4-3F10-7243-82FB-1B85A352C97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000000"/>
                </a:solidFill>
                <a:latin typeface="Garamond" pitchFamily="-106" charset="0"/>
                <a:ea typeface="Arial" pitchFamily="-106" charset="0"/>
                <a:cs typeface="Arial" pitchFamily="-106" charset="0"/>
              </a:defRPr>
            </a:lvl1pPr>
          </a:lstStyle>
          <a:p>
            <a:pPr>
              <a:defRPr/>
            </a:pPr>
            <a:r>
              <a:rPr lang="en-US"/>
              <a:t>Efficient Runahead Execution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E93FF985-53D0-9349-AC13-CD6AE394120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3638"/>
            <a:ext cx="2895600" cy="457200"/>
          </a:xfrm>
        </p:spPr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99D741F4-487D-3E4E-9492-1709A558490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1200"/>
            </a:lvl1pPr>
          </a:lstStyle>
          <a:p>
            <a:pPr>
              <a:defRPr/>
            </a:pPr>
            <a:fld id="{23E0EA3A-D5AA-C346-B0E5-0F3723CF0AF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54004945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97529"/>
            <a:ext cx="8610600" cy="51937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29">
            <a:extLst>
              <a:ext uri="{FF2B5EF4-FFF2-40B4-BE49-F238E27FC236}">
                <a16:creationId xmlns:a16="http://schemas.microsoft.com/office/drawing/2014/main" id="{274190E3-4064-CF4E-9EF1-5498E2CC5D1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1030">
            <a:extLst>
              <a:ext uri="{FF2B5EF4-FFF2-40B4-BE49-F238E27FC236}">
                <a16:creationId xmlns:a16="http://schemas.microsoft.com/office/drawing/2014/main" id="{97C4C7F7-4C4D-B944-BC3B-71BA39BC691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614BF785-49C4-4B44-9CBF-9B061C32DFF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20010747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8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029">
            <a:extLst>
              <a:ext uri="{FF2B5EF4-FFF2-40B4-BE49-F238E27FC236}">
                <a16:creationId xmlns:a16="http://schemas.microsoft.com/office/drawing/2014/main" id="{6D11A547-9A96-D34E-9AE5-D03E9FBB1A0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1030">
            <a:extLst>
              <a:ext uri="{FF2B5EF4-FFF2-40B4-BE49-F238E27FC236}">
                <a16:creationId xmlns:a16="http://schemas.microsoft.com/office/drawing/2014/main" id="{F09AFB6F-ED4E-7541-AA59-8A27C3DE6BDE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7310A982-9DE3-0240-BA09-D77CC283AC5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19679840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3" y="1371600"/>
            <a:ext cx="42291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0103" y="1371600"/>
            <a:ext cx="42291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029">
            <a:extLst>
              <a:ext uri="{FF2B5EF4-FFF2-40B4-BE49-F238E27FC236}">
                <a16:creationId xmlns:a16="http://schemas.microsoft.com/office/drawing/2014/main" id="{81FFA73C-96FD-4047-9E4B-7F77101D9E1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1030">
            <a:extLst>
              <a:ext uri="{FF2B5EF4-FFF2-40B4-BE49-F238E27FC236}">
                <a16:creationId xmlns:a16="http://schemas.microsoft.com/office/drawing/2014/main" id="{6CDFF0CB-D922-AE44-8655-D362B07698D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711E71DC-D6B8-B544-A322-844BB8D72F5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72780677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3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3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31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31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029">
            <a:extLst>
              <a:ext uri="{FF2B5EF4-FFF2-40B4-BE49-F238E27FC236}">
                <a16:creationId xmlns:a16="http://schemas.microsoft.com/office/drawing/2014/main" id="{CBC457C9-BFF8-2F46-8923-024E19AE301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1030">
            <a:extLst>
              <a:ext uri="{FF2B5EF4-FFF2-40B4-BE49-F238E27FC236}">
                <a16:creationId xmlns:a16="http://schemas.microsoft.com/office/drawing/2014/main" id="{E2576195-54AB-DD4F-9010-41A85A870D6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36184090-2B8D-2C48-90B7-6903E8EFDAA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02820407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029">
            <a:extLst>
              <a:ext uri="{FF2B5EF4-FFF2-40B4-BE49-F238E27FC236}">
                <a16:creationId xmlns:a16="http://schemas.microsoft.com/office/drawing/2014/main" id="{7C6CA79B-3246-2340-B232-D58F661C36A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1030">
            <a:extLst>
              <a:ext uri="{FF2B5EF4-FFF2-40B4-BE49-F238E27FC236}">
                <a16:creationId xmlns:a16="http://schemas.microsoft.com/office/drawing/2014/main" id="{9EF88248-C1B9-0748-9AB9-32134EA6D98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AA3D9306-ECE4-C544-A3CD-354A1CDCC3A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49066829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9">
            <a:extLst>
              <a:ext uri="{FF2B5EF4-FFF2-40B4-BE49-F238E27FC236}">
                <a16:creationId xmlns:a16="http://schemas.microsoft.com/office/drawing/2014/main" id="{3B408B40-D24F-6743-BC6C-4DDBDBC0F30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1030">
            <a:extLst>
              <a:ext uri="{FF2B5EF4-FFF2-40B4-BE49-F238E27FC236}">
                <a16:creationId xmlns:a16="http://schemas.microsoft.com/office/drawing/2014/main" id="{00155B31-3658-5D48-8A04-A92905AD0B1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623C1B2B-713D-944A-8EF0-1D71CFC78B0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47092355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6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5" y="273055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6" y="1435105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029">
            <a:extLst>
              <a:ext uri="{FF2B5EF4-FFF2-40B4-BE49-F238E27FC236}">
                <a16:creationId xmlns:a16="http://schemas.microsoft.com/office/drawing/2014/main" id="{35F94AF5-7321-5D4E-AB77-CE6E9B9B4F6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1030">
            <a:extLst>
              <a:ext uri="{FF2B5EF4-FFF2-40B4-BE49-F238E27FC236}">
                <a16:creationId xmlns:a16="http://schemas.microsoft.com/office/drawing/2014/main" id="{4E881CA0-D034-7849-BDCB-DDCB8F1B602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7C870DD5-5BB8-B04A-8DCF-77553DDFA28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14083092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029">
            <a:extLst>
              <a:ext uri="{FF2B5EF4-FFF2-40B4-BE49-F238E27FC236}">
                <a16:creationId xmlns:a16="http://schemas.microsoft.com/office/drawing/2014/main" id="{DEF76DDE-0079-A74C-89D8-E23DF7952DB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1030">
            <a:extLst>
              <a:ext uri="{FF2B5EF4-FFF2-40B4-BE49-F238E27FC236}">
                <a16:creationId xmlns:a16="http://schemas.microsoft.com/office/drawing/2014/main" id="{1EC2C245-9575-3E48-858A-A505AB8D973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7DC0B96F-BEA7-3F4F-8A59-59148C79862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5398916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29">
            <a:extLst>
              <a:ext uri="{FF2B5EF4-FFF2-40B4-BE49-F238E27FC236}">
                <a16:creationId xmlns:a16="http://schemas.microsoft.com/office/drawing/2014/main" id="{72477E4B-B36D-AB49-AB2A-B49BEDB8BA4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1030">
            <a:extLst>
              <a:ext uri="{FF2B5EF4-FFF2-40B4-BE49-F238E27FC236}">
                <a16:creationId xmlns:a16="http://schemas.microsoft.com/office/drawing/2014/main" id="{1248D540-1400-2E4B-A645-30C5F856A3B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F973F432-234C-0B43-BBAA-E00587F5514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4041100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86549" y="152400"/>
            <a:ext cx="2152651" cy="6096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6" y="152400"/>
            <a:ext cx="6305551" cy="6096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29">
            <a:extLst>
              <a:ext uri="{FF2B5EF4-FFF2-40B4-BE49-F238E27FC236}">
                <a16:creationId xmlns:a16="http://schemas.microsoft.com/office/drawing/2014/main" id="{FD2F324C-9234-7D4C-BFDC-556019537C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1030">
            <a:extLst>
              <a:ext uri="{FF2B5EF4-FFF2-40B4-BE49-F238E27FC236}">
                <a16:creationId xmlns:a16="http://schemas.microsoft.com/office/drawing/2014/main" id="{E6D6E083-9670-8249-B57A-4F9188469D4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63C054EE-DDC4-1E44-8972-DD1D6D6730D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13166820"/>
      </p:ext>
    </p:extLst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Title, Clip 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8610600" cy="1066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lipArt Placeholder 2"/>
          <p:cNvSpPr>
            <a:spLocks noGrp="1"/>
          </p:cNvSpPr>
          <p:nvPr>
            <p:ph type="clipArt" sz="half" idx="1"/>
          </p:nvPr>
        </p:nvSpPr>
        <p:spPr>
          <a:xfrm>
            <a:off x="228603" y="1371600"/>
            <a:ext cx="4229100" cy="4876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10103" y="1371600"/>
            <a:ext cx="4229100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029">
            <a:extLst>
              <a:ext uri="{FF2B5EF4-FFF2-40B4-BE49-F238E27FC236}">
                <a16:creationId xmlns:a16="http://schemas.microsoft.com/office/drawing/2014/main" id="{57E5DF24-E9FE-C344-9BD0-18942DD36EDB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1030">
            <a:extLst>
              <a:ext uri="{FF2B5EF4-FFF2-40B4-BE49-F238E27FC236}">
                <a16:creationId xmlns:a16="http://schemas.microsoft.com/office/drawing/2014/main" id="{6BFD28FE-BE78-6A48-AEF2-D0B0FE3828B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70BE929E-4EFA-1347-8DBD-771F9AC3AB4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63962836"/>
      </p:ext>
    </p:extLst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/>
          <p:cNvSpPr>
            <a:spLocks noChangeArrowheads="1"/>
          </p:cNvSpPr>
          <p:nvPr/>
        </p:nvSpPr>
        <p:spPr bwMode="auto">
          <a:xfrm>
            <a:off x="457200" y="1123950"/>
            <a:ext cx="8229600" cy="914400"/>
          </a:xfrm>
          <a:custGeom>
            <a:avLst/>
            <a:gdLst>
              <a:gd name="T0" fmla="*/ 0 w 1000"/>
              <a:gd name="T1" fmla="*/ 2147483647 h 1000"/>
              <a:gd name="T2" fmla="*/ 0 w 1000"/>
              <a:gd name="T3" fmla="*/ 0 h 1000"/>
              <a:gd name="T4" fmla="*/ 2147483647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Arial" charset="0"/>
              <a:ea typeface="ＭＳ Ｐゴシック" charset="-128"/>
            </a:endParaRPr>
          </a:p>
        </p:txBody>
      </p:sp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457200" y="337185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Arial" charset="0"/>
              <a:ea typeface="ＭＳ Ｐゴシック" charset="-128"/>
            </a:endParaRPr>
          </a:p>
        </p:txBody>
      </p:sp>
      <p:sp>
        <p:nvSpPr>
          <p:cNvPr id="6" name="Line 10"/>
          <p:cNvSpPr>
            <a:spLocks noChangeShapeType="1"/>
          </p:cNvSpPr>
          <p:nvPr userDrawn="1"/>
        </p:nvSpPr>
        <p:spPr bwMode="auto">
          <a:xfrm>
            <a:off x="8686800" y="2457450"/>
            <a:ext cx="0" cy="91440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Arial" charset="0"/>
              <a:ea typeface="ＭＳ Ｐゴシック" charset="-128"/>
            </a:endParaRPr>
          </a:p>
        </p:txBody>
      </p:sp>
      <p:sp>
        <p:nvSpPr>
          <p:cNvPr id="1013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524000"/>
            <a:ext cx="7924800" cy="17526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85800" y="3581400"/>
            <a:ext cx="78486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000000"/>
                </a:solidFill>
                <a:latin typeface="Garamond" pitchFamily="-106" charset="0"/>
                <a:ea typeface="Arial" pitchFamily="-106" charset="0"/>
                <a:cs typeface="Arial" pitchFamily="-106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3638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/>
            </a:lvl1pPr>
          </a:lstStyle>
          <a:p>
            <a:fld id="{B83FCC61-4B87-AB4C-8CFF-885FAAC811D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91265733"/>
      </p:ext>
    </p:extLst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97529"/>
            <a:ext cx="8610600" cy="51937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0AE726A-E58B-F348-AFE8-8E758D91856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61876742"/>
      </p:ext>
    </p:extLst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8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CAB8120-7BE8-1646-82F1-87D6D6593A7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92478371"/>
      </p:ext>
    </p:extLst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3" y="1371600"/>
            <a:ext cx="42291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0103" y="1371600"/>
            <a:ext cx="42291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F598457-F2AF-5642-8568-B194DCD11FC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77065099"/>
      </p:ext>
    </p:extLst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3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3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31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31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5EC3EF-F419-4C4A-80EB-49D8207AEA8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48405484"/>
      </p:ext>
    </p:extLst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C2B5F6E-C0B7-6A47-A6C5-C921A6B45A4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68397911"/>
      </p:ext>
    </p:extLst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CB7EBA-2110-394E-909B-C314EBAE962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09329122"/>
      </p:ext>
    </p:extLst>
  </p:cSld>
  <p:clrMapOvr>
    <a:masterClrMapping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6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5" y="273055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6" y="1435105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DE0B401-FF74-F249-AECE-D27786BDFAC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31456084"/>
      </p:ext>
    </p:extLst>
  </p:cSld>
  <p:clrMapOvr>
    <a:masterClrMapping/>
  </p:clrMapOvr>
  <p:transition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6ACA92-08C4-574F-92B6-F6E2D1FD557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07294200"/>
      </p:ext>
    </p:extLst>
  </p:cSld>
  <p:clrMapOvr>
    <a:masterClrMapping/>
  </p:clrMapOvr>
  <p:transition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B232DBB-60A4-A549-94D6-E89D51F1F93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32834585"/>
      </p:ext>
    </p:extLst>
  </p:cSld>
  <p:clrMapOvr>
    <a:masterClrMapping/>
  </p:clrMapOvr>
  <p:transition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86549" y="152400"/>
            <a:ext cx="2152651" cy="6096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6" y="152400"/>
            <a:ext cx="6305551" cy="6096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F886BC7-1C5A-4343-9502-58A4CA5A58A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2526334"/>
      </p:ext>
    </p:extLst>
  </p:cSld>
  <p:clrMapOvr>
    <a:masterClrMapping/>
  </p:clrMapOvr>
  <p:transition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Title, Clip 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8610600" cy="1066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lipArt Placeholder 2"/>
          <p:cNvSpPr>
            <a:spLocks noGrp="1"/>
          </p:cNvSpPr>
          <p:nvPr>
            <p:ph type="clipArt" sz="half" idx="1"/>
          </p:nvPr>
        </p:nvSpPr>
        <p:spPr>
          <a:xfrm>
            <a:off x="228603" y="1371600"/>
            <a:ext cx="4229100" cy="4876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10103" y="1371600"/>
            <a:ext cx="4229100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651F7F5-D84C-3749-9543-62E47283D0D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20382092"/>
      </p:ext>
    </p:extLst>
  </p:cSld>
  <p:clrMapOvr>
    <a:masterClrMapping/>
  </p:clrMapOvr>
  <p:transition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97527"/>
            <a:ext cx="8610600" cy="51937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299AED6-79BC-4446-BC9E-2F1AC7B3839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31728003"/>
      </p:ext>
    </p:extLst>
  </p:cSld>
  <p:clrMapOvr>
    <a:masterClrMapping/>
  </p:clrMapOvr>
  <p:transition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/>
          <p:cNvSpPr>
            <a:spLocks noChangeArrowheads="1"/>
          </p:cNvSpPr>
          <p:nvPr/>
        </p:nvSpPr>
        <p:spPr bwMode="auto">
          <a:xfrm>
            <a:off x="457200" y="1123950"/>
            <a:ext cx="8229600" cy="914400"/>
          </a:xfrm>
          <a:custGeom>
            <a:avLst/>
            <a:gdLst>
              <a:gd name="T0" fmla="*/ 0 w 1000"/>
              <a:gd name="T1" fmla="*/ 2147483647 h 1000"/>
              <a:gd name="T2" fmla="*/ 0 w 1000"/>
              <a:gd name="T3" fmla="*/ 0 h 1000"/>
              <a:gd name="T4" fmla="*/ 2147483647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Arial" charset="0"/>
              <a:ea typeface="ＭＳ Ｐゴシック" charset="-128"/>
            </a:endParaRPr>
          </a:p>
        </p:txBody>
      </p:sp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457200" y="337185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Arial" charset="0"/>
              <a:ea typeface="ＭＳ Ｐゴシック" charset="-128"/>
            </a:endParaRPr>
          </a:p>
        </p:txBody>
      </p:sp>
      <p:sp>
        <p:nvSpPr>
          <p:cNvPr id="6" name="Line 10"/>
          <p:cNvSpPr>
            <a:spLocks noChangeShapeType="1"/>
          </p:cNvSpPr>
          <p:nvPr userDrawn="1"/>
        </p:nvSpPr>
        <p:spPr bwMode="auto">
          <a:xfrm>
            <a:off x="8686800" y="2457450"/>
            <a:ext cx="0" cy="91440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Arial" charset="0"/>
              <a:ea typeface="ＭＳ Ｐゴシック" charset="-128"/>
            </a:endParaRPr>
          </a:p>
        </p:txBody>
      </p:sp>
      <p:sp>
        <p:nvSpPr>
          <p:cNvPr id="1013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524000"/>
            <a:ext cx="7924800" cy="17526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85800" y="3581400"/>
            <a:ext cx="78486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000000"/>
                </a:solidFill>
                <a:latin typeface="Garamond" pitchFamily="-106" charset="0"/>
                <a:ea typeface="Arial" pitchFamily="-106" charset="0"/>
                <a:cs typeface="Arial" pitchFamily="-106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3638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/>
            </a:lvl1pPr>
          </a:lstStyle>
          <a:p>
            <a:fld id="{198C375A-5227-0144-9C68-C314CEC44D9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20777804"/>
      </p:ext>
    </p:extLst>
  </p:cSld>
  <p:clrMapOvr>
    <a:masterClrMapping/>
  </p:clrMapOvr>
  <p:transition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>
            <a:spLocks noChangeArrowheads="1"/>
          </p:cNvSpPr>
          <p:nvPr/>
        </p:nvSpPr>
        <p:spPr bwMode="auto">
          <a:xfrm>
            <a:off x="457200" y="1123950"/>
            <a:ext cx="8229600" cy="914400"/>
          </a:xfrm>
          <a:custGeom>
            <a:avLst/>
            <a:gdLst/>
            <a:ahLst/>
            <a:cxnLst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457200" y="337185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Line 10"/>
          <p:cNvSpPr>
            <a:spLocks noChangeShapeType="1"/>
          </p:cNvSpPr>
          <p:nvPr userDrawn="1"/>
        </p:nvSpPr>
        <p:spPr bwMode="auto">
          <a:xfrm>
            <a:off x="8686800" y="2457450"/>
            <a:ext cx="0" cy="91440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13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524000"/>
            <a:ext cx="7924800" cy="17526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85800" y="3581400"/>
            <a:ext cx="78486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Garamond" pitchFamily="18" charset="0"/>
              </a:defRPr>
            </a:lvl1pPr>
          </a:lstStyle>
          <a:p>
            <a:r>
              <a:rPr lang="en-US" altLang="en-US"/>
              <a:t>Efficient Runahead Execution</a:t>
            </a: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3638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/>
            </a:lvl1pPr>
          </a:lstStyle>
          <a:p>
            <a:fld id="{7341D3D9-3FE8-4025-BF66-8DAB1ABB951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56214860"/>
      </p:ext>
    </p:extLst>
  </p:cSld>
  <p:clrMapOvr>
    <a:masterClrMapping/>
  </p:clrMapOvr>
  <p:transition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23594FA-E141-4234-AE05-360401972BE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02471268"/>
      </p:ext>
    </p:extLst>
  </p:cSld>
  <p:clrMapOvr>
    <a:masterClrMapping/>
  </p:clrMapOvr>
  <p:transition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AC7BA1-BEA2-40AF-9056-44DC8C98568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38446065"/>
      </p:ext>
    </p:extLst>
  </p:cSld>
  <p:clrMapOvr>
    <a:masterClrMapping/>
  </p:clrMapOvr>
  <p:transition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371600"/>
            <a:ext cx="42291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0100" y="1371600"/>
            <a:ext cx="42291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4D2BBBE-2A44-4D16-8758-0239282DCC5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20852526"/>
      </p:ext>
    </p:extLst>
  </p:cSld>
  <p:clrMapOvr>
    <a:masterClrMapping/>
  </p:clrMapOvr>
  <p:transition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5FD5635-BCCD-45D2-B61E-320731E13B1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9933886"/>
      </p:ext>
    </p:extLst>
  </p:cSld>
  <p:clrMapOvr>
    <a:masterClrMapping/>
  </p:clrMapOvr>
  <p:transition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18A7077-2B78-4FB5-8F56-24239751AEF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74298433"/>
      </p:ext>
    </p:extLst>
  </p:cSld>
  <p:clrMapOvr>
    <a:masterClrMapping/>
  </p:clrMapOvr>
  <p:transition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E86574E-FA2E-425B-A84C-39F9592E9EC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7299776"/>
      </p:ext>
    </p:extLst>
  </p:cSld>
  <p:clrMapOvr>
    <a:masterClrMapping/>
  </p:clrMapOvr>
  <p:transition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148CFD0-6DDB-45F0-A989-9F5CE648BC1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15171750"/>
      </p:ext>
    </p:extLst>
  </p:cSld>
  <p:clrMapOvr>
    <a:masterClrMapping/>
  </p:clrMapOvr>
  <p:transition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E97B092-8552-4BA4-B0E1-CE51B98A2A2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91075619"/>
      </p:ext>
    </p:extLst>
  </p:cSld>
  <p:clrMapOvr>
    <a:masterClrMapping/>
  </p:clrMapOvr>
  <p:transition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44DDA66-0DFC-412A-A4B0-EFE91F0913E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81859640"/>
      </p:ext>
    </p:extLst>
  </p:cSld>
  <p:clrMapOvr>
    <a:masterClrMapping/>
  </p:clrMapOvr>
  <p:transition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86550" y="152400"/>
            <a:ext cx="2152650" cy="6096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152400"/>
            <a:ext cx="6305550" cy="6096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2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D1F9A79-97CD-456A-8962-B51E5744B9C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00591615"/>
      </p:ext>
    </p:extLst>
  </p:cSld>
  <p:clrMapOvr>
    <a:masterClrMapping/>
  </p:clrMapOvr>
  <p:transition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 descr="safari.png">
            <a:extLst>
              <a:ext uri="{FF2B5EF4-FFF2-40B4-BE49-F238E27FC236}">
                <a16:creationId xmlns:a16="http://schemas.microsoft.com/office/drawing/2014/main" id="{9CD35D2D-5E91-46D5-981B-E75BA6DA714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975" y="6411913"/>
            <a:ext cx="1025525" cy="296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Rectangle 1029">
            <a:extLst>
              <a:ext uri="{FF2B5EF4-FFF2-40B4-BE49-F238E27FC236}">
                <a16:creationId xmlns:a16="http://schemas.microsoft.com/office/drawing/2014/main" id="{7A21EAFC-4035-4857-807A-CB62B3BF44F4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030">
            <a:extLst>
              <a:ext uri="{FF2B5EF4-FFF2-40B4-BE49-F238E27FC236}">
                <a16:creationId xmlns:a16="http://schemas.microsoft.com/office/drawing/2014/main" id="{C888C28F-145F-424D-84CC-5AE9AF6843A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826BB2-7A42-4BD5-B790-DBCEF432F44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5245994"/>
      </p:ext>
    </p:extLst>
  </p:cSld>
  <p:clrMapOvr>
    <a:masterClrMapping/>
  </p:clrMapOvr>
  <p:transition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29">
            <a:extLst>
              <a:ext uri="{FF2B5EF4-FFF2-40B4-BE49-F238E27FC236}">
                <a16:creationId xmlns:a16="http://schemas.microsoft.com/office/drawing/2014/main" id="{409AC565-7350-4525-9420-2EB7757D306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030">
            <a:extLst>
              <a:ext uri="{FF2B5EF4-FFF2-40B4-BE49-F238E27FC236}">
                <a16:creationId xmlns:a16="http://schemas.microsoft.com/office/drawing/2014/main" id="{4AA7F312-6BE9-48B6-AA7B-A6D10D628BA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19D7DF-598B-483B-A6D0-8553CDFAE63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61866519"/>
      </p:ext>
    </p:extLst>
  </p:cSld>
  <p:clrMapOvr>
    <a:masterClrMapping/>
  </p:clrMapOvr>
  <p:transition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029">
            <a:extLst>
              <a:ext uri="{FF2B5EF4-FFF2-40B4-BE49-F238E27FC236}">
                <a16:creationId xmlns:a16="http://schemas.microsoft.com/office/drawing/2014/main" id="{08787426-EFB2-4064-9F82-5B1B136B39E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030">
            <a:extLst>
              <a:ext uri="{FF2B5EF4-FFF2-40B4-BE49-F238E27FC236}">
                <a16:creationId xmlns:a16="http://schemas.microsoft.com/office/drawing/2014/main" id="{60038527-DAED-4D79-A54B-129F6A20F67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D67C19-8364-4600-B88B-828769DCBD4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45540042"/>
      </p:ext>
    </p:extLst>
  </p:cSld>
  <p:clrMapOvr>
    <a:masterClrMapping/>
  </p:clrMapOvr>
  <p:transition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371600"/>
            <a:ext cx="42291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0100" y="1371600"/>
            <a:ext cx="42291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029">
            <a:extLst>
              <a:ext uri="{FF2B5EF4-FFF2-40B4-BE49-F238E27FC236}">
                <a16:creationId xmlns:a16="http://schemas.microsoft.com/office/drawing/2014/main" id="{DB333F77-5829-459B-B71C-A401B0AC83F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030">
            <a:extLst>
              <a:ext uri="{FF2B5EF4-FFF2-40B4-BE49-F238E27FC236}">
                <a16:creationId xmlns:a16="http://schemas.microsoft.com/office/drawing/2014/main" id="{DC357D67-E160-41BD-A8F4-591D3B61CA4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E1BDAC-3FCE-4406-AD14-A59ECE86B20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58587394"/>
      </p:ext>
    </p:extLst>
  </p:cSld>
  <p:clrMapOvr>
    <a:masterClrMapping/>
  </p:clrMapOvr>
  <p:transition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029">
            <a:extLst>
              <a:ext uri="{FF2B5EF4-FFF2-40B4-BE49-F238E27FC236}">
                <a16:creationId xmlns:a16="http://schemas.microsoft.com/office/drawing/2014/main" id="{D26DBB79-5AEF-450D-8A69-9E473A6D46F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1030">
            <a:extLst>
              <a:ext uri="{FF2B5EF4-FFF2-40B4-BE49-F238E27FC236}">
                <a16:creationId xmlns:a16="http://schemas.microsoft.com/office/drawing/2014/main" id="{5613F326-A967-4A16-9691-5994EAA77F8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DDAB56-7687-49EE-9BFA-357DD2115F9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82806106"/>
      </p:ext>
    </p:extLst>
  </p:cSld>
  <p:clrMapOvr>
    <a:masterClrMapping/>
  </p:clrMapOvr>
  <p:transition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029">
            <a:extLst>
              <a:ext uri="{FF2B5EF4-FFF2-40B4-BE49-F238E27FC236}">
                <a16:creationId xmlns:a16="http://schemas.microsoft.com/office/drawing/2014/main" id="{25C5F115-951D-416A-8367-F27935F171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1030">
            <a:extLst>
              <a:ext uri="{FF2B5EF4-FFF2-40B4-BE49-F238E27FC236}">
                <a16:creationId xmlns:a16="http://schemas.microsoft.com/office/drawing/2014/main" id="{9FA67899-1E4C-4F33-994F-0FE9DDF922F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6ABE56-5E07-4208-997F-19E78ED3449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1088746"/>
      </p:ext>
    </p:extLst>
  </p:cSld>
  <p:clrMapOvr>
    <a:masterClrMapping/>
  </p:clrMapOvr>
  <p:transition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9">
            <a:extLst>
              <a:ext uri="{FF2B5EF4-FFF2-40B4-BE49-F238E27FC236}">
                <a16:creationId xmlns:a16="http://schemas.microsoft.com/office/drawing/2014/main" id="{A3210EB8-01E8-436A-B41F-069A2DB8B74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1030">
            <a:extLst>
              <a:ext uri="{FF2B5EF4-FFF2-40B4-BE49-F238E27FC236}">
                <a16:creationId xmlns:a16="http://schemas.microsoft.com/office/drawing/2014/main" id="{88357862-E4F0-4312-AEFB-533810CEB35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632353-6DA2-4969-8B9B-3DBC4F8425A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01818033"/>
      </p:ext>
    </p:extLst>
  </p:cSld>
  <p:clrMapOvr>
    <a:masterClrMapping/>
  </p:clrMapOvr>
  <p:transition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029">
            <a:extLst>
              <a:ext uri="{FF2B5EF4-FFF2-40B4-BE49-F238E27FC236}">
                <a16:creationId xmlns:a16="http://schemas.microsoft.com/office/drawing/2014/main" id="{7D8C17F0-0F2C-4BA2-ACAD-9F9DD7E1D754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030">
            <a:extLst>
              <a:ext uri="{FF2B5EF4-FFF2-40B4-BE49-F238E27FC236}">
                <a16:creationId xmlns:a16="http://schemas.microsoft.com/office/drawing/2014/main" id="{01206954-09DD-443F-8138-FD04D7E9104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E294FE-CC9E-4E10-B310-514CFBF72E7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27735813"/>
      </p:ext>
    </p:extLst>
  </p:cSld>
  <p:clrMapOvr>
    <a:masterClrMapping/>
  </p:clrMapOvr>
  <p:transition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029">
            <a:extLst>
              <a:ext uri="{FF2B5EF4-FFF2-40B4-BE49-F238E27FC236}">
                <a16:creationId xmlns:a16="http://schemas.microsoft.com/office/drawing/2014/main" id="{2D2B0F18-FF15-4EF6-984A-01641DEDA28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030">
            <a:extLst>
              <a:ext uri="{FF2B5EF4-FFF2-40B4-BE49-F238E27FC236}">
                <a16:creationId xmlns:a16="http://schemas.microsoft.com/office/drawing/2014/main" id="{1E37D587-FAF0-4764-AD77-644AFEF7307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63DEC2-A46B-4DF0-9B6D-3DA55177CC4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53760683"/>
      </p:ext>
    </p:extLst>
  </p:cSld>
  <p:clrMapOvr>
    <a:masterClrMapping/>
  </p:clrMapOvr>
  <p:transition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29">
            <a:extLst>
              <a:ext uri="{FF2B5EF4-FFF2-40B4-BE49-F238E27FC236}">
                <a16:creationId xmlns:a16="http://schemas.microsoft.com/office/drawing/2014/main" id="{C0A08B9B-687C-4AD3-8C6D-FA4C5E16A31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030">
            <a:extLst>
              <a:ext uri="{FF2B5EF4-FFF2-40B4-BE49-F238E27FC236}">
                <a16:creationId xmlns:a16="http://schemas.microsoft.com/office/drawing/2014/main" id="{5BE2A02B-D63E-4DD6-9FFA-98D71570A2A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4704B9-2B86-45E3-BC5C-2F3F28BAAB8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94965039"/>
      </p:ext>
    </p:extLst>
  </p:cSld>
  <p:clrMapOvr>
    <a:masterClrMapping/>
  </p:clrMapOvr>
  <p:transition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86550" y="152400"/>
            <a:ext cx="2152650" cy="6096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152400"/>
            <a:ext cx="6305550" cy="6096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29">
            <a:extLst>
              <a:ext uri="{FF2B5EF4-FFF2-40B4-BE49-F238E27FC236}">
                <a16:creationId xmlns:a16="http://schemas.microsoft.com/office/drawing/2014/main" id="{E62CEBD1-E2A7-41F0-A158-62153EC297D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030">
            <a:extLst>
              <a:ext uri="{FF2B5EF4-FFF2-40B4-BE49-F238E27FC236}">
                <a16:creationId xmlns:a16="http://schemas.microsoft.com/office/drawing/2014/main" id="{6011B996-071A-4884-856A-6B25C3879E5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C1C64C-0813-4AB1-8463-69A3B31BE14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28819764"/>
      </p:ext>
    </p:extLst>
  </p:cSld>
  <p:clrMapOvr>
    <a:masterClrMapping/>
  </p:clrMapOvr>
  <p:transition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8610600" cy="1066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228600" y="1371600"/>
            <a:ext cx="8610600" cy="4876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1029">
            <a:extLst>
              <a:ext uri="{FF2B5EF4-FFF2-40B4-BE49-F238E27FC236}">
                <a16:creationId xmlns:a16="http://schemas.microsoft.com/office/drawing/2014/main" id="{B55989F0-9C2F-467D-8A2B-E760CFC57E8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030">
            <a:extLst>
              <a:ext uri="{FF2B5EF4-FFF2-40B4-BE49-F238E27FC236}">
                <a16:creationId xmlns:a16="http://schemas.microsoft.com/office/drawing/2014/main" id="{B76D41D7-E031-46E6-8D53-528FF913AD9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C0357D-5951-4316-833F-FB5D4423D79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85238493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7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61.xml"/><Relationship Id="rId2" Type="http://schemas.openxmlformats.org/officeDocument/2006/relationships/slideLayout" Target="../slideLayouts/slideLayout51.xml"/><Relationship Id="rId1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5.xml"/><Relationship Id="rId11" Type="http://schemas.openxmlformats.org/officeDocument/2006/relationships/slideLayout" Target="../slideLayouts/slideLayout60.xml"/><Relationship Id="rId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59.xml"/><Relationship Id="rId4" Type="http://schemas.openxmlformats.org/officeDocument/2006/relationships/slideLayout" Target="../slideLayouts/slideLayout53.xml"/><Relationship Id="rId9" Type="http://schemas.openxmlformats.org/officeDocument/2006/relationships/slideLayout" Target="../slideLayouts/slideLayout58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1026">
            <a:extLst>
              <a:ext uri="{FF2B5EF4-FFF2-40B4-BE49-F238E27FC236}">
                <a16:creationId xmlns:a16="http://schemas.microsoft.com/office/drawing/2014/main" id="{8D063893-3AE8-284D-A275-E8FDFBA4D9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152400"/>
            <a:ext cx="8610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40963" name="Rectangle 1027">
            <a:extLst>
              <a:ext uri="{FF2B5EF4-FFF2-40B4-BE49-F238E27FC236}">
                <a16:creationId xmlns:a16="http://schemas.microsoft.com/office/drawing/2014/main" id="{F0E13FE8-6F14-1F47-B2FE-525895119A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898525"/>
            <a:ext cx="8610600" cy="523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0357" name="Rectangle 1029">
            <a:extLst>
              <a:ext uri="{FF2B5EF4-FFF2-40B4-BE49-F238E27FC236}">
                <a16:creationId xmlns:a16="http://schemas.microsoft.com/office/drawing/2014/main" id="{D624DA32-BF01-BA4E-9E10-47ABCA88245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0358" name="Rectangle 1030">
            <a:extLst>
              <a:ext uri="{FF2B5EF4-FFF2-40B4-BE49-F238E27FC236}">
                <a16:creationId xmlns:a16="http://schemas.microsoft.com/office/drawing/2014/main" id="{44215C59-8EB3-1A4D-A592-4164F6136CD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77038" y="631825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600" smtClean="0">
                <a:solidFill>
                  <a:srgbClr val="000000"/>
                </a:solidFill>
                <a:latin typeface="Garamond" panose="02020404030301010803" pitchFamily="18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AC01B96E-8C0C-4A40-AEED-3BB3936E334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40966" name="Line 1032">
            <a:extLst>
              <a:ext uri="{FF2B5EF4-FFF2-40B4-BE49-F238E27FC236}">
                <a16:creationId xmlns:a16="http://schemas.microsoft.com/office/drawing/2014/main" id="{259D7F8C-F1D6-F841-8CC7-81402C595EB7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" y="6481763"/>
            <a:ext cx="8610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967" name="Line 1033">
            <a:extLst>
              <a:ext uri="{FF2B5EF4-FFF2-40B4-BE49-F238E27FC236}">
                <a16:creationId xmlns:a16="http://schemas.microsoft.com/office/drawing/2014/main" id="{8B3213CB-59D2-6C41-9062-D9953F238052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228600" y="898525"/>
            <a:ext cx="8610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69" r:id="rId1"/>
    <p:sldLayoutId id="2147484232" r:id="rId2"/>
    <p:sldLayoutId id="2147484233" r:id="rId3"/>
    <p:sldLayoutId id="2147484234" r:id="rId4"/>
    <p:sldLayoutId id="2147484235" r:id="rId5"/>
    <p:sldLayoutId id="2147484236" r:id="rId6"/>
    <p:sldLayoutId id="2147484237" r:id="rId7"/>
    <p:sldLayoutId id="2147484238" r:id="rId8"/>
    <p:sldLayoutId id="2147484239" r:id="rId9"/>
    <p:sldLayoutId id="2147484240" r:id="rId10"/>
    <p:sldLayoutId id="2147484241" r:id="rId11"/>
    <p:sldLayoutId id="2147484242" r:id="rId12"/>
  </p:sldLayoutIdLst>
  <p:transition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  <a:ea typeface="ＭＳ Ｐゴシック" charset="0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  <a:ea typeface="ＭＳ Ｐゴシック" charset="0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  <a:ea typeface="ＭＳ Ｐゴシック" charset="0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  <a:ea typeface="ＭＳ Ｐゴシック" charset="0"/>
          <a:cs typeface="ＭＳ Ｐゴシック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669925" indent="-32543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q"/>
        <a:defRPr sz="2200">
          <a:solidFill>
            <a:schemeClr val="tx1"/>
          </a:solidFill>
          <a:latin typeface="+mn-lt"/>
          <a:ea typeface="ＭＳ Ｐゴシック" pitchFamily="-106" charset="-128"/>
        </a:defRPr>
      </a:lvl2pPr>
      <a:lvl3pPr marL="1022350" indent="-35083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ＭＳ Ｐゴシック" pitchFamily="-106" charset="-128"/>
        </a:defRPr>
      </a:lvl3pPr>
      <a:lvl4pPr marL="1339850" indent="-3159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q"/>
        <a:defRPr>
          <a:solidFill>
            <a:schemeClr val="tx1"/>
          </a:solidFill>
          <a:latin typeface="+mn-lt"/>
          <a:ea typeface="ＭＳ Ｐゴシック" pitchFamily="-106" charset="-128"/>
        </a:defRPr>
      </a:lvl4pPr>
      <a:lvl5pPr marL="1681163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  <a:ea typeface="ＭＳ Ｐゴシック" pitchFamily="-106" charset="-128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1026">
            <a:extLst>
              <a:ext uri="{FF2B5EF4-FFF2-40B4-BE49-F238E27FC236}">
                <a16:creationId xmlns:a16="http://schemas.microsoft.com/office/drawing/2014/main" id="{86836D00-ED4E-7446-B2C1-5E2FAE20C9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152400"/>
            <a:ext cx="8610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74083" name="Rectangle 1027">
            <a:extLst>
              <a:ext uri="{FF2B5EF4-FFF2-40B4-BE49-F238E27FC236}">
                <a16:creationId xmlns:a16="http://schemas.microsoft.com/office/drawing/2014/main" id="{2FD858EB-A165-8141-97D5-2226233C3A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898525"/>
            <a:ext cx="8610600" cy="523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0357" name="Rectangle 1029">
            <a:extLst>
              <a:ext uri="{FF2B5EF4-FFF2-40B4-BE49-F238E27FC236}">
                <a16:creationId xmlns:a16="http://schemas.microsoft.com/office/drawing/2014/main" id="{E48B0D79-436D-FB48-95D4-FC336984622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0358" name="Rectangle 1030">
            <a:extLst>
              <a:ext uri="{FF2B5EF4-FFF2-40B4-BE49-F238E27FC236}">
                <a16:creationId xmlns:a16="http://schemas.microsoft.com/office/drawing/2014/main" id="{E7CF08AB-ED2E-BF42-B037-91CF124B5F0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77038" y="631825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600">
                <a:solidFill>
                  <a:srgbClr val="000000"/>
                </a:solidFill>
                <a:latin typeface="Garamond" charset="0"/>
              </a:defRPr>
            </a:lvl1pPr>
          </a:lstStyle>
          <a:p>
            <a:pPr>
              <a:defRPr/>
            </a:pPr>
            <a:fld id="{8E65CC38-3E71-D246-9F7F-3BD7D1A1263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74086" name="Line 1032">
            <a:extLst>
              <a:ext uri="{FF2B5EF4-FFF2-40B4-BE49-F238E27FC236}">
                <a16:creationId xmlns:a16="http://schemas.microsoft.com/office/drawing/2014/main" id="{46DE66B3-A632-3246-8565-365576AD349A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" y="6481763"/>
            <a:ext cx="8610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087" name="Line 1033">
            <a:extLst>
              <a:ext uri="{FF2B5EF4-FFF2-40B4-BE49-F238E27FC236}">
                <a16:creationId xmlns:a16="http://schemas.microsoft.com/office/drawing/2014/main" id="{22EE3315-5FDC-CA4D-816E-C2D3049E1E57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228600" y="898525"/>
            <a:ext cx="8610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82" r:id="rId1"/>
    <p:sldLayoutId id="2147484283" r:id="rId2"/>
    <p:sldLayoutId id="2147484284" r:id="rId3"/>
    <p:sldLayoutId id="2147484285" r:id="rId4"/>
    <p:sldLayoutId id="2147484286" r:id="rId5"/>
    <p:sldLayoutId id="2147484287" r:id="rId6"/>
    <p:sldLayoutId id="2147484288" r:id="rId7"/>
    <p:sldLayoutId id="2147484289" r:id="rId8"/>
    <p:sldLayoutId id="2147484290" r:id="rId9"/>
    <p:sldLayoutId id="2147484291" r:id="rId10"/>
    <p:sldLayoutId id="2147484292" r:id="rId11"/>
    <p:sldLayoutId id="2147484293" r:id="rId12"/>
  </p:sldLayoutIdLst>
  <p:transition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  <a:ea typeface="ＭＳ Ｐゴシック" charset="0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  <a:ea typeface="ＭＳ Ｐゴシック" charset="0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  <a:ea typeface="ＭＳ Ｐゴシック" charset="0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  <a:ea typeface="ＭＳ Ｐゴシック" charset="0"/>
          <a:cs typeface="ＭＳ Ｐゴシック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669925" indent="-32543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q"/>
        <a:defRPr sz="2200">
          <a:solidFill>
            <a:schemeClr val="tx1"/>
          </a:solidFill>
          <a:latin typeface="+mn-lt"/>
          <a:ea typeface="ＭＳ Ｐゴシック" pitchFamily="-106" charset="-128"/>
        </a:defRPr>
      </a:lvl2pPr>
      <a:lvl3pPr marL="1022350" indent="-35083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ＭＳ Ｐゴシック" pitchFamily="-106" charset="-128"/>
        </a:defRPr>
      </a:lvl3pPr>
      <a:lvl4pPr marL="1339850" indent="-3159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q"/>
        <a:defRPr>
          <a:solidFill>
            <a:schemeClr val="tx1"/>
          </a:solidFill>
          <a:latin typeface="+mn-lt"/>
          <a:ea typeface="ＭＳ Ｐゴシック" pitchFamily="-106" charset="-128"/>
        </a:defRPr>
      </a:lvl4pPr>
      <a:lvl5pPr marL="1681163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  <a:ea typeface="ＭＳ Ｐゴシック" pitchFamily="-106" charset="-128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1026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152400"/>
            <a:ext cx="8610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38915" name="Rectangle 1027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898525"/>
            <a:ext cx="8610600" cy="523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0357" name="Rectangle 102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000000"/>
                </a:solidFill>
                <a:latin typeface="Garamond"/>
                <a:ea typeface="+mn-ea"/>
                <a:cs typeface="+mn-cs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100358" name="Rectangle 103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77038" y="631825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000000"/>
                </a:solidFill>
                <a:latin typeface="Garamond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7EE9C8B-C204-4343-ACCD-1281F13431D5}" type="slidenum">
              <a:rPr lang="en-US" altLang="en-US" smtClean="0">
                <a:ea typeface="ＭＳ Ｐゴシック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ea typeface="ＭＳ Ｐゴシック" charset="-128"/>
            </a:endParaRPr>
          </a:p>
        </p:txBody>
      </p:sp>
      <p:sp>
        <p:nvSpPr>
          <p:cNvPr id="38918" name="Line 1032"/>
          <p:cNvSpPr>
            <a:spLocks noChangeShapeType="1"/>
          </p:cNvSpPr>
          <p:nvPr/>
        </p:nvSpPr>
        <p:spPr bwMode="auto">
          <a:xfrm>
            <a:off x="228600" y="6481763"/>
            <a:ext cx="8610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Arial" charset="0"/>
              <a:ea typeface="ＭＳ Ｐゴシック" charset="-128"/>
            </a:endParaRPr>
          </a:p>
        </p:txBody>
      </p:sp>
      <p:sp>
        <p:nvSpPr>
          <p:cNvPr id="38919" name="Line 1033"/>
          <p:cNvSpPr>
            <a:spLocks noChangeShapeType="1"/>
          </p:cNvSpPr>
          <p:nvPr userDrawn="1"/>
        </p:nvSpPr>
        <p:spPr bwMode="auto">
          <a:xfrm>
            <a:off x="228600" y="898525"/>
            <a:ext cx="8610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Arial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785488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33" r:id="rId1"/>
    <p:sldLayoutId id="2147484334" r:id="rId2"/>
    <p:sldLayoutId id="2147484335" r:id="rId3"/>
    <p:sldLayoutId id="2147484336" r:id="rId4"/>
    <p:sldLayoutId id="2147484337" r:id="rId5"/>
    <p:sldLayoutId id="2147484338" r:id="rId6"/>
    <p:sldLayoutId id="2147484339" r:id="rId7"/>
    <p:sldLayoutId id="2147484340" r:id="rId8"/>
    <p:sldLayoutId id="2147484341" r:id="rId9"/>
    <p:sldLayoutId id="2147484342" r:id="rId10"/>
    <p:sldLayoutId id="2147484343" r:id="rId11"/>
    <p:sldLayoutId id="2147484344" r:id="rId12"/>
  </p:sldLayoutIdLst>
  <p:transition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  <a:ea typeface="ＭＳ Ｐゴシック" charset="0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  <a:ea typeface="ＭＳ Ｐゴシック" charset="0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  <a:ea typeface="ＭＳ Ｐゴシック" charset="0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  <a:ea typeface="ＭＳ Ｐゴシック" charset="0"/>
          <a:cs typeface="ＭＳ Ｐゴシック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charset="2"/>
        <a:buChar char="n"/>
        <a:defRPr sz="24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669925" indent="-32543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charset="2"/>
        <a:buChar char="q"/>
        <a:defRPr sz="2200">
          <a:solidFill>
            <a:schemeClr val="tx1"/>
          </a:solidFill>
          <a:latin typeface="+mn-lt"/>
          <a:ea typeface="ＭＳ Ｐゴシック" pitchFamily="-106" charset="-128"/>
        </a:defRPr>
      </a:lvl2pPr>
      <a:lvl3pPr marL="1022350" indent="-35083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charset="2"/>
        <a:buChar char="n"/>
        <a:defRPr sz="2000">
          <a:solidFill>
            <a:schemeClr val="tx1"/>
          </a:solidFill>
          <a:latin typeface="+mn-lt"/>
          <a:ea typeface="ＭＳ Ｐゴシック" pitchFamily="-106" charset="-128"/>
        </a:defRPr>
      </a:lvl3pPr>
      <a:lvl4pPr marL="1339850" indent="-3159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charset="2"/>
        <a:buChar char="q"/>
        <a:defRPr>
          <a:solidFill>
            <a:schemeClr val="tx1"/>
          </a:solidFill>
          <a:latin typeface="+mn-lt"/>
          <a:ea typeface="ＭＳ Ｐゴシック" pitchFamily="-106" charset="-128"/>
        </a:defRPr>
      </a:lvl4pPr>
      <a:lvl5pPr marL="1681163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charset="2"/>
        <a:buChar char="§"/>
        <a:defRPr sz="1600">
          <a:solidFill>
            <a:schemeClr val="tx1"/>
          </a:solidFill>
          <a:latin typeface="+mn-lt"/>
          <a:ea typeface="ＭＳ Ｐゴシック" pitchFamily="-106" charset="-128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1026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152400"/>
            <a:ext cx="8610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52227" name="Rectangle 1027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898525"/>
            <a:ext cx="8610600" cy="523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0357" name="Rectangle 102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000000"/>
                </a:solidFill>
                <a:latin typeface="Garamond"/>
                <a:ea typeface="+mn-ea"/>
                <a:cs typeface="+mn-cs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/>
          </a:p>
        </p:txBody>
      </p:sp>
      <p:sp>
        <p:nvSpPr>
          <p:cNvPr id="100358" name="Rectangle 103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77038" y="631825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000000"/>
                </a:solidFill>
                <a:latin typeface="Garamond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A731672-D220-A84B-AA98-123E7EE64BEB}" type="slidenum">
              <a:rPr lang="en-US" altLang="en-US" smtClean="0">
                <a:ea typeface="ＭＳ Ｐゴシック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ea typeface="ＭＳ Ｐゴシック" charset="-128"/>
            </a:endParaRPr>
          </a:p>
        </p:txBody>
      </p:sp>
      <p:sp>
        <p:nvSpPr>
          <p:cNvPr id="52230" name="Line 1032"/>
          <p:cNvSpPr>
            <a:spLocks noChangeShapeType="1"/>
          </p:cNvSpPr>
          <p:nvPr/>
        </p:nvSpPr>
        <p:spPr bwMode="auto">
          <a:xfrm>
            <a:off x="228600" y="6481763"/>
            <a:ext cx="8610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Arial" charset="0"/>
              <a:ea typeface="ＭＳ Ｐゴシック" charset="-128"/>
            </a:endParaRPr>
          </a:p>
        </p:txBody>
      </p:sp>
      <p:sp>
        <p:nvSpPr>
          <p:cNvPr id="52231" name="Line 1033"/>
          <p:cNvSpPr>
            <a:spLocks noChangeShapeType="1"/>
          </p:cNvSpPr>
          <p:nvPr/>
        </p:nvSpPr>
        <p:spPr bwMode="auto">
          <a:xfrm>
            <a:off x="228600" y="898525"/>
            <a:ext cx="8610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  <a:latin typeface="Arial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2501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46" r:id="rId1"/>
    <p:sldLayoutId id="2147484347" r:id="rId2"/>
  </p:sldLayoutIdLst>
  <p:transition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ＭＳ Ｐゴシック" pitchFamily="-107" charset="-128"/>
          <a:cs typeface="ＭＳ Ｐゴシック" pitchFamily="-107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  <a:ea typeface="ＭＳ Ｐゴシック" pitchFamily="-107" charset="-128"/>
          <a:cs typeface="ＭＳ Ｐゴシック" pitchFamily="-107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  <a:ea typeface="ＭＳ Ｐゴシック" pitchFamily="-107" charset="-128"/>
          <a:cs typeface="ＭＳ Ｐゴシック" pitchFamily="-107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  <a:ea typeface="ＭＳ Ｐゴシック" pitchFamily="-107" charset="-128"/>
          <a:cs typeface="ＭＳ Ｐゴシック" pitchFamily="-107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  <a:ea typeface="ＭＳ Ｐゴシック" pitchFamily="-107" charset="-128"/>
          <a:cs typeface="ＭＳ Ｐゴシック" pitchFamily="-107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charset="2"/>
        <a:buChar char="n"/>
        <a:defRPr sz="2400">
          <a:solidFill>
            <a:schemeClr val="tx1"/>
          </a:solidFill>
          <a:latin typeface="+mn-lt"/>
          <a:ea typeface="ＭＳ Ｐゴシック" pitchFamily="-107" charset="-128"/>
          <a:cs typeface="ＭＳ Ｐゴシック" pitchFamily="-107" charset="-128"/>
        </a:defRPr>
      </a:lvl1pPr>
      <a:lvl2pPr marL="669925" indent="-32543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charset="2"/>
        <a:buChar char="q"/>
        <a:defRPr sz="2200">
          <a:solidFill>
            <a:schemeClr val="tx1"/>
          </a:solidFill>
          <a:latin typeface="+mn-lt"/>
          <a:ea typeface="ＭＳ Ｐゴシック" pitchFamily="-107" charset="-128"/>
        </a:defRPr>
      </a:lvl2pPr>
      <a:lvl3pPr marL="1022350" indent="-35083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charset="2"/>
        <a:buChar char="n"/>
        <a:defRPr sz="2000">
          <a:solidFill>
            <a:schemeClr val="tx1"/>
          </a:solidFill>
          <a:latin typeface="+mn-lt"/>
          <a:ea typeface="ＭＳ Ｐゴシック" pitchFamily="-107" charset="-128"/>
        </a:defRPr>
      </a:lvl3pPr>
      <a:lvl4pPr marL="1339850" indent="-3159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charset="2"/>
        <a:buChar char="q"/>
        <a:defRPr>
          <a:solidFill>
            <a:schemeClr val="tx1"/>
          </a:solidFill>
          <a:latin typeface="+mn-lt"/>
          <a:ea typeface="ＭＳ Ｐゴシック" pitchFamily="-107" charset="-128"/>
        </a:defRPr>
      </a:lvl4pPr>
      <a:lvl5pPr marL="1681163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charset="2"/>
        <a:buChar char="§"/>
        <a:defRPr sz="1600">
          <a:solidFill>
            <a:schemeClr val="tx1"/>
          </a:solidFill>
          <a:latin typeface="+mn-lt"/>
          <a:ea typeface="ＭＳ Ｐゴシック" pitchFamily="-107" charset="-128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026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152400"/>
            <a:ext cx="861060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5123" name="Rectangle 1027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371600"/>
            <a:ext cx="8610600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0357" name="Rectangle 102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latin typeface="Garamond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100358" name="Rectangle 103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600">
                <a:latin typeface="Garamond" pitchFamily="18" charset="0"/>
              </a:defRPr>
            </a:lvl1pPr>
          </a:lstStyle>
          <a:p>
            <a:fld id="{6F400BD0-49BF-48FC-8114-37C1D4F5AB3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0360" name="Line 1032"/>
          <p:cNvSpPr>
            <a:spLocks noChangeShapeType="1"/>
          </p:cNvSpPr>
          <p:nvPr/>
        </p:nvSpPr>
        <p:spPr bwMode="auto">
          <a:xfrm>
            <a:off x="228600" y="6381328"/>
            <a:ext cx="8610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0361" name="Line 1033"/>
          <p:cNvSpPr>
            <a:spLocks noChangeShapeType="1"/>
          </p:cNvSpPr>
          <p:nvPr/>
        </p:nvSpPr>
        <p:spPr bwMode="auto">
          <a:xfrm>
            <a:off x="228600" y="914400"/>
            <a:ext cx="8610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pic>
        <p:nvPicPr>
          <p:cNvPr id="8" name="Picture 7" descr="safari.png"/>
          <p:cNvPicPr>
            <a:picLocks noChangeAspect="1"/>
          </p:cNvPicPr>
          <p:nvPr userDrawn="1"/>
        </p:nvPicPr>
        <p:blipFill>
          <a:blip r:embed="rId13" cstate="print"/>
          <a:stretch>
            <a:fillRect/>
          </a:stretch>
        </p:blipFill>
        <p:spPr>
          <a:xfrm>
            <a:off x="179512" y="6453336"/>
            <a:ext cx="1080120" cy="312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23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04" r:id="rId1"/>
    <p:sldLayoutId id="2147484405" r:id="rId2"/>
    <p:sldLayoutId id="2147484406" r:id="rId3"/>
    <p:sldLayoutId id="2147484407" r:id="rId4"/>
    <p:sldLayoutId id="2147484408" r:id="rId5"/>
    <p:sldLayoutId id="2147484409" r:id="rId6"/>
    <p:sldLayoutId id="2147484410" r:id="rId7"/>
    <p:sldLayoutId id="2147484411" r:id="rId8"/>
    <p:sldLayoutId id="2147484412" r:id="rId9"/>
    <p:sldLayoutId id="2147484413" r:id="rId10"/>
    <p:sldLayoutId id="2147484414" r:id="rId11"/>
  </p:sldLayoutIdLst>
  <p:transition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q"/>
        <a:defRPr sz="2200">
          <a:solidFill>
            <a:schemeClr val="tx1"/>
          </a:solidFill>
          <a:latin typeface="+mn-lt"/>
        </a:defRPr>
      </a:lvl2pPr>
      <a:lvl3pPr marL="1022350" indent="-35083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3pPr>
      <a:lvl4pPr marL="1339850" indent="-3159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q"/>
        <a:defRPr>
          <a:solidFill>
            <a:schemeClr val="tx1"/>
          </a:solidFill>
          <a:latin typeface="+mn-lt"/>
        </a:defRPr>
      </a:lvl4pPr>
      <a:lvl5pPr marL="1681163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1026">
            <a:extLst>
              <a:ext uri="{FF2B5EF4-FFF2-40B4-BE49-F238E27FC236}">
                <a16:creationId xmlns:a16="http://schemas.microsoft.com/office/drawing/2014/main" id="{4100DFBF-1FEE-4ACB-900C-42CD990BE5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152400"/>
            <a:ext cx="8610600" cy="884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1" name="Rectangle 1027">
            <a:extLst>
              <a:ext uri="{FF2B5EF4-FFF2-40B4-BE49-F238E27FC236}">
                <a16:creationId xmlns:a16="http://schemas.microsoft.com/office/drawing/2014/main" id="{7B86C5D9-AB13-4DED-A44A-D17CB1C1FD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095375"/>
            <a:ext cx="8610600" cy="515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0357" name="Rectangle 1029">
            <a:extLst>
              <a:ext uri="{FF2B5EF4-FFF2-40B4-BE49-F238E27FC236}">
                <a16:creationId xmlns:a16="http://schemas.microsoft.com/office/drawing/2014/main" id="{D84474C4-284F-9440-A98C-FA4AB90F76F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000000"/>
                </a:solidFill>
                <a:latin typeface="Garamond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0358" name="Rectangle 1030">
            <a:extLst>
              <a:ext uri="{FF2B5EF4-FFF2-40B4-BE49-F238E27FC236}">
                <a16:creationId xmlns:a16="http://schemas.microsoft.com/office/drawing/2014/main" id="{653E7E89-9F9B-F740-A030-C38912ADA09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46900" y="6373813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600">
                <a:solidFill>
                  <a:srgbClr val="000000"/>
                </a:solidFill>
                <a:latin typeface="Garamond" panose="02020404030301010803" pitchFamily="18" charset="0"/>
              </a:defRPr>
            </a:lvl1pPr>
          </a:lstStyle>
          <a:p>
            <a:pPr>
              <a:defRPr/>
            </a:pPr>
            <a:fld id="{6A6BA0A0-A7BE-4DC4-A1D2-67560873BDC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2054" name="Line 1032">
            <a:extLst>
              <a:ext uri="{FF2B5EF4-FFF2-40B4-BE49-F238E27FC236}">
                <a16:creationId xmlns:a16="http://schemas.microsoft.com/office/drawing/2014/main" id="{B2BA4185-DAF2-4408-906B-C503302DE471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" y="6446838"/>
            <a:ext cx="8610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5" name="Line 1033">
            <a:extLst>
              <a:ext uri="{FF2B5EF4-FFF2-40B4-BE49-F238E27FC236}">
                <a16:creationId xmlns:a16="http://schemas.microsoft.com/office/drawing/2014/main" id="{BFB13A2A-7836-4554-BA73-7213A39EA284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228600" y="914400"/>
            <a:ext cx="8610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2056" name="Picture 7" descr="safari.png">
            <a:extLst>
              <a:ext uri="{FF2B5EF4-FFF2-40B4-BE49-F238E27FC236}">
                <a16:creationId xmlns:a16="http://schemas.microsoft.com/office/drawing/2014/main" id="{1177FD16-61A1-4390-9ECA-67D35227FBA3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975" y="6602413"/>
            <a:ext cx="847725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692712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16" r:id="rId1"/>
    <p:sldLayoutId id="2147484417" r:id="rId2"/>
    <p:sldLayoutId id="2147484418" r:id="rId3"/>
    <p:sldLayoutId id="2147484419" r:id="rId4"/>
    <p:sldLayoutId id="2147484420" r:id="rId5"/>
    <p:sldLayoutId id="2147484421" r:id="rId6"/>
    <p:sldLayoutId id="2147484422" r:id="rId7"/>
    <p:sldLayoutId id="2147484423" r:id="rId8"/>
    <p:sldLayoutId id="2147484424" r:id="rId9"/>
    <p:sldLayoutId id="2147484425" r:id="rId10"/>
    <p:sldLayoutId id="2147484426" r:id="rId11"/>
    <p:sldLayoutId id="2147484427" r:id="rId12"/>
  </p:sldLayoutIdLst>
  <p:transition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ＭＳ Ｐゴシック" pitchFamily="-106" charset="-128"/>
          <a:cs typeface="ＭＳ Ｐゴシック" pitchFamily="-106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-106" charset="0"/>
          <a:ea typeface="ＭＳ Ｐゴシック" pitchFamily="-106" charset="-128"/>
          <a:cs typeface="ＭＳ Ｐゴシック" pitchFamily="-106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-106" charset="0"/>
          <a:ea typeface="ＭＳ Ｐゴシック" pitchFamily="-106" charset="-128"/>
          <a:cs typeface="ＭＳ Ｐゴシック" pitchFamily="-106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-106" charset="0"/>
          <a:ea typeface="ＭＳ Ｐゴシック" pitchFamily="-106" charset="-128"/>
          <a:cs typeface="ＭＳ Ｐゴシック" pitchFamily="-106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-106" charset="0"/>
          <a:ea typeface="ＭＳ Ｐゴシック" pitchFamily="-106" charset="-128"/>
          <a:cs typeface="ＭＳ Ｐゴシック" pitchFamily="-106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-106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-106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-106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Garamond" pitchFamily="-10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ＭＳ Ｐゴシック" pitchFamily="-106" charset="-128"/>
          <a:cs typeface="ＭＳ Ｐゴシック" pitchFamily="-106" charset="-128"/>
        </a:defRPr>
      </a:lvl1pPr>
      <a:lvl2pPr marL="669925" indent="-32543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q"/>
        <a:defRPr sz="2200">
          <a:solidFill>
            <a:schemeClr val="tx1"/>
          </a:solidFill>
          <a:latin typeface="+mn-lt"/>
          <a:ea typeface="ＭＳ Ｐゴシック" pitchFamily="-106" charset="-128"/>
        </a:defRPr>
      </a:lvl2pPr>
      <a:lvl3pPr marL="1022350" indent="-35083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ＭＳ Ｐゴシック" pitchFamily="-106" charset="-128"/>
        </a:defRPr>
      </a:lvl3pPr>
      <a:lvl4pPr marL="1339850" indent="-3159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q"/>
        <a:defRPr>
          <a:solidFill>
            <a:schemeClr val="tx1"/>
          </a:solidFill>
          <a:latin typeface="+mn-lt"/>
          <a:ea typeface="ＭＳ Ｐゴシック" pitchFamily="-106" charset="-128"/>
        </a:defRPr>
      </a:lvl4pPr>
      <a:lvl5pPr marL="1681163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1600">
          <a:solidFill>
            <a:schemeClr val="tx1"/>
          </a:solidFill>
          <a:latin typeface="+mn-lt"/>
          <a:ea typeface="ＭＳ Ｐゴシック" pitchFamily="-106" charset="-128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-106" charset="2"/>
        <a:buChar char="§"/>
        <a:defRPr sz="1600">
          <a:solidFill>
            <a:schemeClr val="tx1"/>
          </a:solidFill>
          <a:latin typeface="+mn-lt"/>
          <a:ea typeface="ＭＳ Ｐゴシック" pitchFamily="-106" charset="-128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-106" charset="2"/>
        <a:buChar char="§"/>
        <a:defRPr sz="1600">
          <a:solidFill>
            <a:schemeClr val="tx1"/>
          </a:solidFill>
          <a:latin typeface="+mn-lt"/>
          <a:ea typeface="ＭＳ Ｐゴシック" pitchFamily="-106" charset="-128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-106" charset="2"/>
        <a:buChar char="§"/>
        <a:defRPr sz="1600">
          <a:solidFill>
            <a:schemeClr val="tx1"/>
          </a:solidFill>
          <a:latin typeface="+mn-lt"/>
          <a:ea typeface="ＭＳ Ｐゴシック" pitchFamily="-106" charset="-128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-106" charset="2"/>
        <a:buChar char="§"/>
        <a:defRPr sz="1600">
          <a:solidFill>
            <a:schemeClr val="tx1"/>
          </a:solidFill>
          <a:latin typeface="+mn-lt"/>
          <a:ea typeface="ＭＳ Ｐゴシック" pitchFamily="-106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4">
            <a:extLst>
              <a:ext uri="{FF2B5EF4-FFF2-40B4-BE49-F238E27FC236}">
                <a16:creationId xmlns:a16="http://schemas.microsoft.com/office/drawing/2014/main" id="{449D8DDE-B114-874A-8B5A-CE4E2F84BF7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28600" y="381000"/>
            <a:ext cx="8686800" cy="1720850"/>
          </a:xfrm>
        </p:spPr>
        <p:txBody>
          <a:bodyPr/>
          <a:lstStyle/>
          <a:p>
            <a:pPr algn="ctr" eaLnBrk="1" hangingPunct="1"/>
            <a:br>
              <a:rPr lang="en-US" altLang="en-US" dirty="0">
                <a:ea typeface="ＭＳ Ｐゴシック" panose="020B0600070205080204" pitchFamily="34" charset="-128"/>
              </a:rPr>
            </a:br>
            <a:r>
              <a:rPr lang="en-US" altLang="en-US" sz="4500" b="1" dirty="0">
                <a:ea typeface="ＭＳ Ｐゴシック" panose="020B0600070205080204" pitchFamily="34" charset="-128"/>
              </a:rPr>
              <a:t>Computer Arch. &amp; AI Chip</a:t>
            </a:r>
            <a:br>
              <a:rPr lang="en-US" altLang="en-US" sz="4500" b="1" dirty="0">
                <a:ea typeface="ＭＳ Ｐゴシック" panose="020B0600070205080204" pitchFamily="34" charset="-128"/>
              </a:rPr>
            </a:br>
            <a:br>
              <a:rPr lang="en-US" altLang="en-US" sz="1000" b="1" dirty="0">
                <a:ea typeface="ＭＳ Ｐゴシック" panose="020B0600070205080204" pitchFamily="34" charset="-128"/>
              </a:rPr>
            </a:br>
            <a:r>
              <a:rPr lang="en-US" altLang="en-US" sz="4300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Lecture 10: Cache Coherence and Cache Consistency</a:t>
            </a:r>
          </a:p>
        </p:txBody>
      </p:sp>
      <p:sp>
        <p:nvSpPr>
          <p:cNvPr id="22530" name="Rectangle 5">
            <a:extLst>
              <a:ext uri="{FF2B5EF4-FFF2-40B4-BE49-F238E27FC236}">
                <a16:creationId xmlns:a16="http://schemas.microsoft.com/office/drawing/2014/main" id="{435E454D-D444-0541-B91A-9C35CDC08D6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685800" y="3581400"/>
            <a:ext cx="7848600" cy="2900363"/>
          </a:xfrm>
        </p:spPr>
        <p:txBody>
          <a:bodyPr/>
          <a:lstStyle/>
          <a:p>
            <a:pPr eaLnBrk="1" hangingPunct="1"/>
            <a:endParaRPr lang="en-US" altLang="en-US" dirty="0">
              <a:solidFill>
                <a:srgbClr val="003399"/>
              </a:solidFill>
              <a:ea typeface="ＭＳ Ｐゴシック" panose="020B0600070205080204" pitchFamily="34" charset="-128"/>
            </a:endParaRPr>
          </a:p>
          <a:p>
            <a:pPr eaLnBrk="1" hangingPunct="1"/>
            <a:r>
              <a:rPr lang="en-US" altLang="en-US" sz="2800" dirty="0">
                <a:solidFill>
                  <a:srgbClr val="003399"/>
                </a:solidFill>
                <a:ea typeface="ＭＳ Ｐゴシック" panose="020B0600070205080204" pitchFamily="34" charset="-128"/>
              </a:rPr>
              <a:t>Prof. </a:t>
            </a:r>
            <a:r>
              <a:rPr lang="en-US" altLang="zh-CN" sz="2800" dirty="0">
                <a:solidFill>
                  <a:srgbClr val="003399"/>
                </a:solidFill>
                <a:ea typeface="ＭＳ Ｐゴシック" panose="020B0600070205080204" pitchFamily="34" charset="-128"/>
              </a:rPr>
              <a:t>Zeke Wang</a:t>
            </a:r>
            <a:endParaRPr lang="en-US" altLang="en-US" sz="2800" dirty="0">
              <a:solidFill>
                <a:srgbClr val="003399"/>
              </a:solidFill>
              <a:ea typeface="ＭＳ Ｐゴシック" panose="020B0600070205080204" pitchFamily="34" charset="-128"/>
            </a:endParaRPr>
          </a:p>
          <a:p>
            <a:pPr eaLnBrk="1" hangingPunct="1"/>
            <a:endParaRPr lang="en-US" altLang="en-US" sz="2800" dirty="0">
              <a:solidFill>
                <a:srgbClr val="003399"/>
              </a:solidFill>
              <a:ea typeface="ＭＳ Ｐゴシック" panose="020B0600070205080204" pitchFamily="34" charset="-128"/>
            </a:endParaRPr>
          </a:p>
          <a:p>
            <a:pPr eaLnBrk="1" hangingPunct="1"/>
            <a:r>
              <a:rPr lang="en-US" altLang="en-US" dirty="0">
                <a:ea typeface="ＭＳ Ｐゴシック" panose="020B0600070205080204" pitchFamily="34" charset="-128"/>
              </a:rPr>
              <a:t>Zhejiang University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7 </a:t>
            </a:r>
            <a:r>
              <a:rPr lang="en-US" altLang="zh-CN" dirty="0">
                <a:ea typeface="ＭＳ Ｐゴシック" panose="020B0600070205080204" pitchFamily="34" charset="-128"/>
              </a:rPr>
              <a:t>May</a:t>
            </a:r>
            <a:r>
              <a:rPr lang="en-US" altLang="en-US" dirty="0">
                <a:ea typeface="ＭＳ Ｐゴシック" panose="020B0600070205080204" pitchFamily="34" charset="-128"/>
              </a:rPr>
              <a:t> 2026</a:t>
            </a:r>
          </a:p>
          <a:p>
            <a:pPr eaLnBrk="1" hangingPunct="1"/>
            <a:endParaRPr lang="en-US" altLang="en-US" dirty="0">
              <a:ea typeface="ＭＳ Ｐゴシック" panose="020B0600070205080204" pitchFamily="34" charset="-128"/>
            </a:endParaRPr>
          </a:p>
          <a:p>
            <a:pPr eaLnBrk="1" hangingPunct="1"/>
            <a:endParaRPr lang="en-US" altLang="en-US" dirty="0">
              <a:ea typeface="ＭＳ Ｐゴシック" panose="020B0600070205080204" pitchFamily="34" charset="-128"/>
            </a:endParaRPr>
          </a:p>
          <a:p>
            <a:pPr eaLnBrk="1" hangingPunct="1"/>
            <a:endParaRPr lang="en-US" altLang="en-US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04645496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5751EBB-48F2-4EBC-BFD3-511916AA9A9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630988" y="6330394"/>
            <a:ext cx="2133600" cy="457200"/>
          </a:xfrm>
        </p:spPr>
        <p:txBody>
          <a:bodyPr/>
          <a:lstStyle/>
          <a:p>
            <a:pPr>
              <a:defRPr/>
            </a:pPr>
            <a:fld id="{753DEEF8-87BA-7144-9648-F84693A6E11D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  <p:sp>
        <p:nvSpPr>
          <p:cNvPr id="158" name="Title 1">
            <a:extLst>
              <a:ext uri="{FF2B5EF4-FFF2-40B4-BE49-F238E27FC236}">
                <a16:creationId xmlns:a16="http://schemas.microsoft.com/office/drawing/2014/main" id="{9D44D825-827C-4862-B6D5-ADA7CEAD34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0"/>
            <a:ext cx="8610600" cy="914400"/>
          </a:xfrm>
        </p:spPr>
        <p:txBody>
          <a:bodyPr anchor="ctr"/>
          <a:lstStyle/>
          <a:p>
            <a:r>
              <a:rPr lang="en-US" altLang="en-US" b="1" dirty="0">
                <a:ea typeface="ＭＳ Ｐゴシック" panose="020B0600070205080204" pitchFamily="34" charset="-128"/>
              </a:rPr>
              <a:t>Where Are We?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9643334-222C-424B-A516-C7DDFA3948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138" y="908019"/>
            <a:ext cx="9144000" cy="5238364"/>
          </a:xfrm>
          <a:prstGeom prst="rect">
            <a:avLst/>
          </a:prstGeom>
        </p:spPr>
      </p:pic>
      <p:sp>
        <p:nvSpPr>
          <p:cNvPr id="7" name="Rectangle 36">
            <a:extLst>
              <a:ext uri="{FF2B5EF4-FFF2-40B4-BE49-F238E27FC236}">
                <a16:creationId xmlns:a16="http://schemas.microsoft.com/office/drawing/2014/main" id="{E4528BFB-F447-4501-9EEA-C1A6CF482C5C}"/>
              </a:ext>
            </a:extLst>
          </p:cNvPr>
          <p:cNvSpPr/>
          <p:nvPr/>
        </p:nvSpPr>
        <p:spPr>
          <a:xfrm>
            <a:off x="685800" y="1905001"/>
            <a:ext cx="2133600" cy="8382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58631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89" name="Title 1">
            <a:extLst>
              <a:ext uri="{FF2B5EF4-FFF2-40B4-BE49-F238E27FC236}">
                <a16:creationId xmlns:a16="http://schemas.microsoft.com/office/drawing/2014/main" id="{FCB0A7AC-B562-0749-ABB0-F445B14F65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Recall: One Implementation of LRU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E85A3E-9550-954A-84FA-D2F88DC7589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996950"/>
            <a:ext cx="8610600" cy="2432050"/>
          </a:xfrm>
        </p:spPr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Pseudo LRU for 8-way set-associated cache: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Assume 8 blocks (L0~L7) for a set, 7 bits for rule (B0~B6). </a:t>
            </a:r>
          </a:p>
          <a:p>
            <a:pPr lvl="1"/>
            <a:r>
              <a:rPr lang="en-US" altLang="en-US" b="1" dirty="0">
                <a:ea typeface="ＭＳ Ｐゴシック" panose="020B0600070205080204" pitchFamily="34" charset="-128"/>
              </a:rPr>
              <a:t>PLRU Replacement Way Selection</a:t>
            </a:r>
            <a:r>
              <a:rPr lang="en-US" altLang="en-US" dirty="0">
                <a:ea typeface="ＭＳ Ｐゴシック" panose="020B0600070205080204" pitchFamily="34" charset="-128"/>
              </a:rPr>
              <a:t>: choosing the suitable way (L0~L7) based on the PLRU bits.</a:t>
            </a:r>
          </a:p>
          <a:p>
            <a:pPr lvl="1"/>
            <a:r>
              <a:rPr lang="en-US" altLang="en-US" b="1" dirty="0">
                <a:ea typeface="ＭＳ Ｐゴシック" panose="020B0600070205080204" pitchFamily="34" charset="-128"/>
              </a:rPr>
              <a:t>PLRU Bits Updating Rule</a:t>
            </a:r>
            <a:r>
              <a:rPr lang="en-US" altLang="en-US" dirty="0">
                <a:ea typeface="ＭＳ Ｐゴシック" panose="020B0600070205080204" pitchFamily="34" charset="-128"/>
              </a:rPr>
              <a:t>: updating PLRU bits after replacing the way (L0~L7).</a:t>
            </a:r>
          </a:p>
          <a:p>
            <a:pPr lvl="1"/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217091" name="Slide Number Placeholder 3">
            <a:extLst>
              <a:ext uri="{FF2B5EF4-FFF2-40B4-BE49-F238E27FC236}">
                <a16:creationId xmlns:a16="http://schemas.microsoft.com/office/drawing/2014/main" id="{80FCD70D-4907-2740-97B5-D16BB0D6601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A30909A7-1C06-F64A-82EA-5FF46ED5255C}" type="slidenum">
              <a:rPr lang="en-US" altLang="en-US" sz="1600" smtClean="0">
                <a:solidFill>
                  <a:srgbClr val="000000"/>
                </a:solidFill>
                <a:latin typeface="Garamond" panose="02020404030301010803" pitchFamily="18" charset="0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en-US" sz="1600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106782E3-29C5-47E7-84A2-CD480E4D0B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8248" y="3911805"/>
            <a:ext cx="4186238" cy="2305834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4528268B-BA3A-41AB-AFC8-359F4E7883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3886200"/>
            <a:ext cx="4705848" cy="2222705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6EDC55E6-71F3-4162-9F85-BD6ED1B70ED9}"/>
              </a:ext>
            </a:extLst>
          </p:cNvPr>
          <p:cNvSpPr/>
          <p:nvPr/>
        </p:nvSpPr>
        <p:spPr>
          <a:xfrm>
            <a:off x="533400" y="3592800"/>
            <a:ext cx="38180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dirty="0">
                <a:solidFill>
                  <a:srgbClr val="0432FF"/>
                </a:solidFill>
              </a:rPr>
              <a:t>PLRU Replacement Way Selection:</a:t>
            </a:r>
            <a:endParaRPr lang="zh-CN" altLang="en-US" dirty="0">
              <a:solidFill>
                <a:srgbClr val="0432FF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FD5BBB4-E5E5-461D-895C-E52A7DE3EB31}"/>
              </a:ext>
            </a:extLst>
          </p:cNvPr>
          <p:cNvSpPr/>
          <p:nvPr/>
        </p:nvSpPr>
        <p:spPr>
          <a:xfrm>
            <a:off x="5508413" y="3592800"/>
            <a:ext cx="28392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dirty="0">
                <a:solidFill>
                  <a:srgbClr val="0432FF"/>
                </a:solidFill>
              </a:rPr>
              <a:t>PLRU Bits Updating Rule:</a:t>
            </a:r>
            <a:endParaRPr lang="zh-CN" altLang="en-US" dirty="0">
              <a:solidFill>
                <a:srgbClr val="0432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895556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33" name="Title 1">
            <a:extLst>
              <a:ext uri="{FF2B5EF4-FFF2-40B4-BE49-F238E27FC236}">
                <a16:creationId xmlns:a16="http://schemas.microsoft.com/office/drawing/2014/main" id="{D186EE75-64BC-1B44-9807-E1A3522627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915400" cy="1066800"/>
          </a:xfrm>
        </p:spPr>
        <p:txBody>
          <a:bodyPr/>
          <a:lstStyle/>
          <a:p>
            <a:r>
              <a:rPr lang="en-US" altLang="en-US" sz="3600" dirty="0">
                <a:ea typeface="ＭＳ Ｐゴシック" panose="020B0600070205080204" pitchFamily="34" charset="-128"/>
              </a:rPr>
              <a:t>Recall: </a:t>
            </a:r>
            <a:r>
              <a:rPr lang="en-US" altLang="en-US" sz="3800" dirty="0">
                <a:ea typeface="ＭＳ Ｐゴシック" panose="020B0600070205080204" pitchFamily="34" charset="-128"/>
              </a:rPr>
              <a:t>Cache Replacement Policy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C2E412-8BF0-C04A-8344-C03B72F49E4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996950"/>
            <a:ext cx="8610600" cy="5194300"/>
          </a:xfrm>
        </p:spPr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LRU vs. Random: </a:t>
            </a:r>
            <a:r>
              <a:rPr lang="en-US" altLang="zh-CN" dirty="0">
                <a:ea typeface="ＭＳ Ｐゴシック" panose="020B0600070205080204" pitchFamily="34" charset="-128"/>
              </a:rPr>
              <a:t>LRU is not always better. </a:t>
            </a:r>
            <a:endParaRPr lang="en-US" altLang="en-US" dirty="0">
              <a:ea typeface="ＭＳ Ｐゴシック" panose="020B0600070205080204" pitchFamily="34" charset="-128"/>
            </a:endParaRP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Example: 4-way cache, cyclic references to A, B, C, D, E </a:t>
            </a:r>
            <a:endParaRPr lang="en-US" altLang="en-US" dirty="0">
              <a:ea typeface="ＭＳ Ｐゴシック" panose="020B0600070205080204" pitchFamily="34" charset="-128"/>
              <a:sym typeface="Wingdings" pitchFamily="2" charset="2"/>
            </a:endParaRPr>
          </a:p>
          <a:p>
            <a:pPr lvl="2"/>
            <a:r>
              <a:rPr lang="en-US" altLang="en-US" dirty="0">
                <a:ea typeface="ＭＳ Ｐゴシック" panose="020B0600070205080204" pitchFamily="34" charset="-128"/>
                <a:sym typeface="Wingdings" pitchFamily="2" charset="2"/>
              </a:rPr>
              <a:t>0% hit rate with LRU policy</a:t>
            </a:r>
            <a:endParaRPr lang="en-US" altLang="en-US" dirty="0">
              <a:ea typeface="ＭＳ Ｐゴシック" panose="020B0600070205080204" pitchFamily="34" charset="-128"/>
            </a:endParaRPr>
          </a:p>
          <a:p>
            <a:r>
              <a:rPr lang="en-US" altLang="en-US" dirty="0">
                <a:solidFill>
                  <a:srgbClr val="0000FF"/>
                </a:solidFill>
                <a:ea typeface="ＭＳ Ｐゴシック" panose="020B0600070205080204" pitchFamily="34" charset="-128"/>
              </a:rPr>
              <a:t>Set thrashing: </a:t>
            </a:r>
            <a:r>
              <a:rPr lang="en-US" altLang="en-US" dirty="0">
                <a:ea typeface="ＭＳ Ｐゴシック" panose="020B0600070205080204" pitchFamily="34" charset="-128"/>
              </a:rPr>
              <a:t>When the </a:t>
            </a:r>
            <a:r>
              <a:rPr lang="ja-JP" altLang="en-US" dirty="0">
                <a:ea typeface="ＭＳ Ｐゴシック" panose="020B0600070205080204" pitchFamily="34" charset="-128"/>
              </a:rPr>
              <a:t>“</a:t>
            </a:r>
            <a:r>
              <a:rPr lang="en-US" altLang="ja-JP" dirty="0">
                <a:ea typeface="ＭＳ Ｐゴシック" panose="020B0600070205080204" pitchFamily="34" charset="-128"/>
              </a:rPr>
              <a:t>program working set</a:t>
            </a:r>
            <a:r>
              <a:rPr lang="ja-JP" altLang="en-US" dirty="0">
                <a:ea typeface="ＭＳ Ｐゴシック" panose="020B0600070205080204" pitchFamily="34" charset="-128"/>
              </a:rPr>
              <a:t>”</a:t>
            </a:r>
            <a:r>
              <a:rPr lang="en-US" altLang="ja-JP" dirty="0">
                <a:ea typeface="ＭＳ Ｐゴシック" panose="020B0600070205080204" pitchFamily="34" charset="-128"/>
              </a:rPr>
              <a:t> in a set is larger than set associativity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  <a:sym typeface="Wingdings" pitchFamily="2" charset="2"/>
              </a:rPr>
              <a:t>Random replacement policy is better when thrashing occurs</a:t>
            </a:r>
          </a:p>
          <a:p>
            <a:r>
              <a:rPr lang="en-US" altLang="en-US" dirty="0">
                <a:ea typeface="ＭＳ Ｐゴシック" panose="020B0600070205080204" pitchFamily="34" charset="-128"/>
                <a:sym typeface="Wingdings" pitchFamily="2" charset="2"/>
              </a:rPr>
              <a:t>Which one is better in practice?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  <a:sym typeface="Wingdings" pitchFamily="2" charset="2"/>
              </a:rPr>
              <a:t>Depends on workload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  <a:sym typeface="Wingdings" pitchFamily="2" charset="2"/>
              </a:rPr>
              <a:t>Average hit rate of LRU and Random are similar</a:t>
            </a:r>
          </a:p>
          <a:p>
            <a:pPr lvl="1"/>
            <a:endParaRPr lang="en-US" altLang="en-US" sz="1400" dirty="0">
              <a:ea typeface="ＭＳ Ｐゴシック" panose="020B0600070205080204" pitchFamily="34" charset="-128"/>
              <a:sym typeface="Wingdings" pitchFamily="2" charset="2"/>
            </a:endParaRPr>
          </a:p>
          <a:p>
            <a:r>
              <a:rPr lang="en-US" altLang="en-US" dirty="0">
                <a:ea typeface="ＭＳ Ｐゴシック" panose="020B0600070205080204" pitchFamily="34" charset="-128"/>
                <a:sym typeface="Wingdings" pitchFamily="2" charset="2"/>
              </a:rPr>
              <a:t>Best of both Worlds: Hybrid of LRU and Random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  <a:sym typeface="Wingdings" pitchFamily="2" charset="2"/>
              </a:rPr>
              <a:t>How to choose between the two? </a:t>
            </a:r>
            <a:endParaRPr lang="en-US" altLang="en-US" dirty="0">
              <a:solidFill>
                <a:srgbClr val="0000FF"/>
              </a:solidFill>
              <a:ea typeface="ＭＳ Ｐゴシック" panose="020B0600070205080204" pitchFamily="34" charset="-128"/>
              <a:sym typeface="Wingdings" pitchFamily="2" charset="2"/>
            </a:endParaRPr>
          </a:p>
          <a:p>
            <a:pPr lvl="2"/>
            <a:r>
              <a:rPr lang="en-US" altLang="ja-JP" dirty="0">
                <a:ea typeface="ＭＳ Ｐゴシック" panose="020B0600070205080204" pitchFamily="34" charset="-128"/>
                <a:sym typeface="Wingdings" pitchFamily="2" charset="2"/>
              </a:rPr>
              <a:t>Intel CPU uses the hybrid approach. </a:t>
            </a:r>
            <a:endParaRPr lang="en-US" altLang="ja-JP" dirty="0">
              <a:ea typeface="ＭＳ Ｐゴシック" panose="020B0600070205080204" pitchFamily="34" charset="-128"/>
            </a:endParaRPr>
          </a:p>
          <a:p>
            <a:pPr lvl="2"/>
            <a:endParaRPr lang="en-US" altLang="en-US" dirty="0">
              <a:solidFill>
                <a:srgbClr val="0000FF"/>
              </a:solidFill>
              <a:ea typeface="ＭＳ Ｐゴシック" panose="020B0600070205080204" pitchFamily="34" charset="-128"/>
              <a:sym typeface="Wingdings" pitchFamily="2" charset="2"/>
            </a:endParaRPr>
          </a:p>
        </p:txBody>
      </p:sp>
      <p:sp>
        <p:nvSpPr>
          <p:cNvPr id="223235" name="Slide Number Placeholder 3">
            <a:extLst>
              <a:ext uri="{FF2B5EF4-FFF2-40B4-BE49-F238E27FC236}">
                <a16:creationId xmlns:a16="http://schemas.microsoft.com/office/drawing/2014/main" id="{C22F57BC-F167-CF47-9B52-211F48E5A4E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DABBE689-A193-9048-8AFA-FF4CF7578DCA}" type="slidenum">
              <a:rPr lang="en-US" altLang="en-US" sz="1600" smtClean="0">
                <a:solidFill>
                  <a:srgbClr val="000000"/>
                </a:solidFill>
                <a:latin typeface="Garamond" panose="02020404030301010803" pitchFamily="18" charset="0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en-US" sz="1600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53" name="Title 1">
            <a:extLst>
              <a:ext uri="{FF2B5EF4-FFF2-40B4-BE49-F238E27FC236}">
                <a16:creationId xmlns:a16="http://schemas.microsoft.com/office/drawing/2014/main" id="{A617AE3D-6E0F-B44D-9D3F-B6CA17D837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Recall: Cache Policies: Memory Write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1575B2-CC0D-8849-AA6D-1C3BBA6AF0C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2400" y="987425"/>
            <a:ext cx="8915400" cy="5562600"/>
          </a:xfrm>
        </p:spPr>
        <p:txBody>
          <a:bodyPr/>
          <a:lstStyle/>
          <a:p>
            <a:pPr>
              <a:lnSpc>
                <a:spcPct val="90000"/>
              </a:lnSpc>
              <a:buClr>
                <a:schemeClr val="tx1"/>
              </a:buClr>
            </a:pPr>
            <a:r>
              <a:rPr lang="en-US" altLang="zh-CN" dirty="0"/>
              <a:t>Where should you write the result of a store? One policy for each step. </a:t>
            </a:r>
          </a:p>
          <a:p>
            <a:pPr lvl="1">
              <a:defRPr/>
            </a:pPr>
            <a:r>
              <a:rPr lang="en-US" altLang="zh-CN" b="1" dirty="0"/>
              <a:t>Step 1</a:t>
            </a:r>
            <a:r>
              <a:rPr lang="en-US" altLang="zh-CN" dirty="0"/>
              <a:t>: store </a:t>
            </a:r>
            <a:r>
              <a:rPr lang="en-US" altLang="zh-CN" dirty="0" err="1"/>
              <a:t>insn</a:t>
            </a:r>
            <a:r>
              <a:rPr lang="en-US" altLang="zh-CN" dirty="0"/>
              <a:t>. </a:t>
            </a:r>
            <a:r>
              <a:rPr lang="en-US" altLang="zh-CN" dirty="0">
                <a:sym typeface="Wingdings" panose="05000000000000000000" pitchFamily="2" charset="2"/>
              </a:rPr>
              <a:t> </a:t>
            </a:r>
            <a:r>
              <a:rPr lang="en-US" altLang="zh-CN" dirty="0"/>
              <a:t>cache, either policy works: </a:t>
            </a:r>
          </a:p>
          <a:p>
            <a:pPr lvl="2">
              <a:defRPr/>
            </a:pPr>
            <a:r>
              <a:rPr lang="en-US" altLang="zh-CN" dirty="0">
                <a:solidFill>
                  <a:srgbClr val="0432FF"/>
                </a:solidFill>
              </a:rPr>
              <a:t>Write-allocate policy </a:t>
            </a:r>
            <a:r>
              <a:rPr lang="en-US" altLang="zh-CN" dirty="0"/>
              <a:t>(default): </a:t>
            </a:r>
          </a:p>
          <a:p>
            <a:pPr lvl="3">
              <a:defRPr/>
            </a:pPr>
            <a:r>
              <a:rPr lang="en-US" altLang="zh-CN" dirty="0"/>
              <a:t>Allocate the cache line (put it in the cache). </a:t>
            </a:r>
          </a:p>
          <a:p>
            <a:pPr lvl="3">
              <a:defRPr/>
            </a:pPr>
            <a:r>
              <a:rPr lang="en-US" altLang="zh-CN" dirty="0">
                <a:solidFill>
                  <a:srgbClr val="FF0000"/>
                </a:solidFill>
              </a:rPr>
              <a:t>Issue: Read an entire cache block from memory</a:t>
            </a:r>
          </a:p>
          <a:p>
            <a:pPr lvl="2">
              <a:defRPr/>
            </a:pPr>
            <a:r>
              <a:rPr lang="en-US" altLang="zh-CN" dirty="0">
                <a:solidFill>
                  <a:srgbClr val="0432FF"/>
                </a:solidFill>
              </a:rPr>
              <a:t>Write-no-allocate policy </a:t>
            </a:r>
            <a:r>
              <a:rPr lang="en-US" altLang="zh-CN" dirty="0"/>
              <a:t>(PCIe/IO): </a:t>
            </a:r>
          </a:p>
          <a:p>
            <a:pPr lvl="3">
              <a:defRPr/>
            </a:pPr>
            <a:r>
              <a:rPr lang="en-US" altLang="zh-CN" dirty="0"/>
              <a:t>Write it directly to memory without allocation in cache.</a:t>
            </a:r>
          </a:p>
          <a:p>
            <a:pPr lvl="3">
              <a:defRPr/>
            </a:pPr>
            <a:r>
              <a:rPr lang="en-US" altLang="zh-CN" dirty="0"/>
              <a:t>Ignore cache. </a:t>
            </a:r>
          </a:p>
          <a:p>
            <a:pPr lvl="3">
              <a:defRPr/>
            </a:pPr>
            <a:endParaRPr lang="en-US" altLang="zh-CN" dirty="0"/>
          </a:p>
          <a:p>
            <a:pPr lvl="1">
              <a:defRPr/>
            </a:pPr>
            <a:r>
              <a:rPr lang="en-US" altLang="zh-CN" b="1" dirty="0"/>
              <a:t>Step 2</a:t>
            </a:r>
            <a:r>
              <a:rPr lang="en-US" altLang="zh-CN" dirty="0"/>
              <a:t>: cache </a:t>
            </a:r>
            <a:r>
              <a:rPr lang="en-US" altLang="zh-CN" dirty="0">
                <a:sym typeface="Wingdings" panose="05000000000000000000" pitchFamily="2" charset="2"/>
              </a:rPr>
              <a:t> memory</a:t>
            </a:r>
            <a:r>
              <a:rPr lang="en-US" altLang="zh-CN" dirty="0"/>
              <a:t>, either policy works: </a:t>
            </a:r>
          </a:p>
          <a:p>
            <a:pPr lvl="2">
              <a:defRPr/>
            </a:pPr>
            <a:r>
              <a:rPr lang="en-US" altLang="zh-CN" dirty="0">
                <a:solidFill>
                  <a:srgbClr val="0432FF"/>
                </a:solidFill>
              </a:rPr>
              <a:t>Write-back policy </a:t>
            </a:r>
            <a:r>
              <a:rPr lang="en-US" altLang="zh-CN" dirty="0"/>
              <a:t>(default): </a:t>
            </a:r>
            <a:r>
              <a:rPr lang="en-US" altLang="zh-CN" dirty="0">
                <a:solidFill>
                  <a:srgbClr val="0432FF"/>
                </a:solidFill>
              </a:rPr>
              <a:t> </a:t>
            </a:r>
          </a:p>
          <a:p>
            <a:pPr lvl="3">
              <a:defRPr/>
            </a:pPr>
            <a:r>
              <a:rPr lang="en-US" altLang="zh-CN" dirty="0"/>
              <a:t>Writes it to the cache and wait until the cache kicks the cache block out</a:t>
            </a:r>
          </a:p>
          <a:p>
            <a:pPr lvl="2">
              <a:defRPr/>
            </a:pPr>
            <a:r>
              <a:rPr lang="en-US" altLang="zh-CN" dirty="0">
                <a:solidFill>
                  <a:srgbClr val="0432FF"/>
                </a:solidFill>
              </a:rPr>
              <a:t>Write-through policy </a:t>
            </a:r>
            <a:r>
              <a:rPr lang="en-US" altLang="zh-CN" dirty="0"/>
              <a:t>(streaming write instruction):</a:t>
            </a:r>
            <a:r>
              <a:rPr lang="en-US" altLang="zh-CN" dirty="0">
                <a:solidFill>
                  <a:srgbClr val="0432FF"/>
                </a:solidFill>
              </a:rPr>
              <a:t> </a:t>
            </a:r>
          </a:p>
          <a:p>
            <a:pPr lvl="3">
              <a:defRPr/>
            </a:pPr>
            <a:r>
              <a:rPr lang="en-US" altLang="zh-CN" dirty="0"/>
              <a:t>Writes it to the cache and </a:t>
            </a:r>
            <a:r>
              <a:rPr lang="en-US" altLang="zh-CN" dirty="0">
                <a:solidFill>
                  <a:schemeClr val="tx2"/>
                </a:solidFill>
              </a:rPr>
              <a:t>memory</a:t>
            </a:r>
            <a:r>
              <a:rPr lang="en-US" altLang="zh-CN" dirty="0"/>
              <a:t> right away</a:t>
            </a:r>
          </a:p>
          <a:p>
            <a:pPr marL="688975" lvl="2" indent="0">
              <a:buNone/>
              <a:defRPr/>
            </a:pPr>
            <a:r>
              <a:rPr lang="en-US" altLang="zh-CN" dirty="0"/>
              <a:t>	</a:t>
            </a:r>
          </a:p>
        </p:txBody>
      </p:sp>
      <p:sp>
        <p:nvSpPr>
          <p:cNvPr id="228355" name="Slide Number Placeholder 3">
            <a:extLst>
              <a:ext uri="{FF2B5EF4-FFF2-40B4-BE49-F238E27FC236}">
                <a16:creationId xmlns:a16="http://schemas.microsoft.com/office/drawing/2014/main" id="{9DA65B70-5F2D-4F4E-950B-2E633D99FE4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968172A-668C-4F44-8D10-94AA5551B1E5}" type="slidenum"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0888521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49" name="Title 1">
            <a:extLst>
              <a:ext uri="{FF2B5EF4-FFF2-40B4-BE49-F238E27FC236}">
                <a16:creationId xmlns:a16="http://schemas.microsoft.com/office/drawing/2014/main" id="{DDD0B9D8-591E-B746-A2D8-571ACD6182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10600" cy="685800"/>
          </a:xfrm>
        </p:spPr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Recall: Instruction vs. Data Caches</a:t>
            </a:r>
          </a:p>
        </p:txBody>
      </p:sp>
      <p:sp>
        <p:nvSpPr>
          <p:cNvPr id="37890" name="Content Placeholder 2">
            <a:extLst>
              <a:ext uri="{FF2B5EF4-FFF2-40B4-BE49-F238E27FC236}">
                <a16:creationId xmlns:a16="http://schemas.microsoft.com/office/drawing/2014/main" id="{AD5849C4-EF68-9C48-8147-82A01536715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914400"/>
            <a:ext cx="8610600" cy="5562600"/>
          </a:xfrm>
        </p:spPr>
        <p:txBody>
          <a:bodyPr/>
          <a:lstStyle/>
          <a:p>
            <a:r>
              <a:rPr lang="en-US" altLang="en-US" b="1" dirty="0">
                <a:ea typeface="ＭＳ Ｐゴシック" panose="020B0600070205080204" pitchFamily="34" charset="-128"/>
              </a:rPr>
              <a:t>Core question</a:t>
            </a:r>
            <a:r>
              <a:rPr lang="en-US" altLang="en-US" dirty="0">
                <a:ea typeface="ＭＳ Ｐゴシック" panose="020B0600070205080204" pitchFamily="34" charset="-128"/>
              </a:rPr>
              <a:t>: Separate or Unified?</a:t>
            </a:r>
          </a:p>
          <a:p>
            <a:endParaRPr lang="en-US" altLang="en-US" sz="1800" dirty="0">
              <a:ea typeface="ＭＳ Ｐゴシック" panose="020B0600070205080204" pitchFamily="34" charset="-128"/>
            </a:endParaRPr>
          </a:p>
          <a:p>
            <a:r>
              <a:rPr lang="en-US" altLang="en-US" dirty="0">
                <a:ea typeface="ＭＳ Ｐゴシック" panose="020B0600070205080204" pitchFamily="34" charset="-128"/>
              </a:rPr>
              <a:t>Pros and Cons of Unified Cache:</a:t>
            </a:r>
          </a:p>
          <a:p>
            <a:pPr lvl="1">
              <a:buFont typeface="Wingdings" pitchFamily="2" charset="2"/>
              <a:buNone/>
            </a:pPr>
            <a:r>
              <a:rPr lang="en-US" altLang="en-US" dirty="0">
                <a:solidFill>
                  <a:srgbClr val="0432FF"/>
                </a:solidFill>
                <a:ea typeface="ＭＳ Ｐゴシック" panose="020B0600070205080204" pitchFamily="34" charset="-128"/>
              </a:rPr>
              <a:t>+ Dynamic sharing of cache space: no overprovisioning that might happen with static partitioning (i.e., separate I and D caches)</a:t>
            </a:r>
          </a:p>
          <a:p>
            <a:pPr lvl="1">
              <a:buFont typeface="Wingdings" pitchFamily="2" charset="2"/>
              <a:buNone/>
            </a:pPr>
            <a:r>
              <a:rPr lang="en-US" altLang="en-US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-- Instructions and data can thrash each other (i.e., no guaranteed space for either)</a:t>
            </a:r>
          </a:p>
          <a:p>
            <a:pPr lvl="1">
              <a:buFont typeface="Wingdings" pitchFamily="2" charset="2"/>
              <a:buNone/>
            </a:pPr>
            <a:r>
              <a:rPr lang="en-US" altLang="en-US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-- I and D are accessed in different places in the pipeline. Where do we place the unified cache for fast access?</a:t>
            </a:r>
          </a:p>
          <a:p>
            <a:pPr lvl="1">
              <a:buFont typeface="Wingdings" pitchFamily="2" charset="2"/>
              <a:buNone/>
            </a:pPr>
            <a:endParaRPr lang="en-US" altLang="en-US" dirty="0">
              <a:ea typeface="ＭＳ Ｐゴシック" panose="020B0600070205080204" pitchFamily="34" charset="-128"/>
            </a:endParaRPr>
          </a:p>
          <a:p>
            <a:r>
              <a:rPr lang="en-US" altLang="en-US" dirty="0">
                <a:ea typeface="ＭＳ Ｐゴシック" panose="020B0600070205080204" pitchFamily="34" charset="-128"/>
              </a:rPr>
              <a:t>Modern CPU: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First level caches are almost always split 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Higher level caches are almost always unified</a:t>
            </a:r>
          </a:p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232451" name="Slide Number Placeholder 3">
            <a:extLst>
              <a:ext uri="{FF2B5EF4-FFF2-40B4-BE49-F238E27FC236}">
                <a16:creationId xmlns:a16="http://schemas.microsoft.com/office/drawing/2014/main" id="{52F6C29F-8F36-0846-94B3-7FDCC15F809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A6B37B6-573C-B040-97F4-B42C7ECDA57A}" type="slidenum"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ＭＳ Ｐゴシック" panose="020B0600070205080204" pitchFamily="34" charset="-128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689" name="Title 1">
            <a:extLst>
              <a:ext uri="{FF2B5EF4-FFF2-40B4-BE49-F238E27FC236}">
                <a16:creationId xmlns:a16="http://schemas.microsoft.com/office/drawing/2014/main" id="{8D920F56-9B9B-F247-A317-DC0AB3A48E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Recall: Classification of Cache Misses</a:t>
            </a:r>
          </a:p>
        </p:txBody>
      </p:sp>
      <p:sp>
        <p:nvSpPr>
          <p:cNvPr id="48130" name="Content Placeholder 2">
            <a:extLst>
              <a:ext uri="{FF2B5EF4-FFF2-40B4-BE49-F238E27FC236}">
                <a16:creationId xmlns:a16="http://schemas.microsoft.com/office/drawing/2014/main" id="{9EA6A80F-F22E-B442-80E6-FCFE792BEAC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914400"/>
            <a:ext cx="8534400" cy="5562600"/>
          </a:xfrm>
        </p:spPr>
        <p:txBody>
          <a:bodyPr/>
          <a:lstStyle/>
          <a:p>
            <a:r>
              <a:rPr lang="en-US" altLang="en-US" b="1" dirty="0">
                <a:solidFill>
                  <a:schemeClr val="tx2"/>
                </a:solidFill>
                <a:ea typeface="ＭＳ Ｐゴシック" panose="020B0600070205080204" pitchFamily="34" charset="-128"/>
              </a:rPr>
              <a:t>Compulsory miss </a:t>
            </a:r>
          </a:p>
          <a:p>
            <a:pPr lvl="1"/>
            <a:r>
              <a:rPr lang="en-US" altLang="en-US" dirty="0">
                <a:solidFill>
                  <a:schemeClr val="tx2"/>
                </a:solidFill>
                <a:ea typeface="ＭＳ Ｐゴシック" panose="020B0600070205080204" pitchFamily="34" charset="-128"/>
              </a:rPr>
              <a:t>Defined as the first reference to an address (block), always resulting in a miss</a:t>
            </a: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r>
              <a:rPr lang="en-US" altLang="en-US" b="1" dirty="0">
                <a:solidFill>
                  <a:schemeClr val="tx2"/>
                </a:solidFill>
                <a:ea typeface="ＭＳ Ｐゴシック" panose="020B0600070205080204" pitchFamily="34" charset="-128"/>
              </a:rPr>
              <a:t>Capacity miss 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defined as the misses that would occur even in a fully-associative cache (with optimal replacement) of the same capacity 	</a:t>
            </a:r>
          </a:p>
          <a:p>
            <a:pPr lvl="1"/>
            <a:r>
              <a:rPr lang="en-US" altLang="en-US" dirty="0">
                <a:solidFill>
                  <a:schemeClr val="tx2"/>
                </a:solidFill>
                <a:ea typeface="ＭＳ Ｐゴシック" panose="020B0600070205080204" pitchFamily="34" charset="-128"/>
              </a:rPr>
              <a:t>Cause: cache is too small to hold everything needed</a:t>
            </a: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r>
              <a:rPr lang="en-US" altLang="en-US" b="1" dirty="0">
                <a:solidFill>
                  <a:schemeClr val="tx2"/>
                </a:solidFill>
                <a:ea typeface="ＭＳ Ｐゴシック" panose="020B0600070205080204" pitchFamily="34" charset="-128"/>
              </a:rPr>
              <a:t>Conflict miss 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defined as </a:t>
            </a:r>
            <a:r>
              <a:rPr lang="en-US" altLang="en-US" dirty="0">
                <a:solidFill>
                  <a:schemeClr val="tx2"/>
                </a:solidFill>
                <a:ea typeface="ＭＳ Ｐゴシック" panose="020B0600070205080204" pitchFamily="34" charset="-128"/>
              </a:rPr>
              <a:t>any miss that is neither a compulsory nor a capacity miss</a:t>
            </a:r>
            <a:r>
              <a:rPr lang="en-US" altLang="en-US" dirty="0">
                <a:solidFill>
                  <a:srgbClr val="0432FF"/>
                </a:solidFill>
                <a:ea typeface="ＭＳ Ｐゴシック" panose="020B0600070205080204" pitchFamily="34" charset="-128"/>
              </a:rPr>
              <a:t>	</a:t>
            </a:r>
          </a:p>
        </p:txBody>
      </p:sp>
      <p:sp>
        <p:nvSpPr>
          <p:cNvPr id="242691" name="Slide Number Placeholder 3">
            <a:extLst>
              <a:ext uri="{FF2B5EF4-FFF2-40B4-BE49-F238E27FC236}">
                <a16:creationId xmlns:a16="http://schemas.microsoft.com/office/drawing/2014/main" id="{18F47AAE-3071-384D-8FE1-8E5E9252A6F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7233B88-6CD8-FF4B-82E3-0E64DCBB7D38}" type="slidenum"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058420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713" name="Title 1">
            <a:extLst>
              <a:ext uri="{FF2B5EF4-FFF2-40B4-BE49-F238E27FC236}">
                <a16:creationId xmlns:a16="http://schemas.microsoft.com/office/drawing/2014/main" id="{0A540D80-C58E-3548-907D-0DCF99C7A7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Recall: How to Reduce Each Miss Type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575350-184D-4246-B62F-3CFF71A80FA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914400"/>
            <a:ext cx="8610600" cy="5194300"/>
          </a:xfrm>
        </p:spPr>
        <p:txBody>
          <a:bodyPr/>
          <a:lstStyle/>
          <a:p>
            <a:r>
              <a:rPr lang="en-US" altLang="en-US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Compulsory miss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Caching cannot help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Prefetching can: Anticipate which blocks will be needed soon</a:t>
            </a:r>
          </a:p>
          <a:p>
            <a:r>
              <a:rPr lang="en-US" altLang="en-US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Conflict miss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More associativity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Other ways to get more associativity without making the cache associative</a:t>
            </a:r>
          </a:p>
          <a:p>
            <a:pPr lvl="2"/>
            <a:r>
              <a:rPr lang="en-US" altLang="en-US" dirty="0">
                <a:ea typeface="ＭＳ Ｐゴシック" panose="020B0600070205080204" pitchFamily="34" charset="-128"/>
              </a:rPr>
              <a:t>Victim cache</a:t>
            </a:r>
          </a:p>
          <a:p>
            <a:pPr lvl="2"/>
            <a:r>
              <a:rPr lang="en-US" altLang="en-US" dirty="0">
                <a:ea typeface="ＭＳ Ｐゴシック" panose="020B0600070205080204" pitchFamily="34" charset="-128"/>
              </a:rPr>
              <a:t>Better, randomized indexing</a:t>
            </a:r>
          </a:p>
          <a:p>
            <a:pPr lvl="2"/>
            <a:r>
              <a:rPr lang="en-US" altLang="en-US" dirty="0">
                <a:ea typeface="ＭＳ Ｐゴシック" panose="020B0600070205080204" pitchFamily="34" charset="-128"/>
              </a:rPr>
              <a:t>Software hints?</a:t>
            </a:r>
          </a:p>
          <a:p>
            <a:r>
              <a:rPr lang="en-US" altLang="en-US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Capacity miss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Utilize cache space better: keep blocks that will be referenced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Software management: divide working set and computation such that each </a:t>
            </a:r>
            <a:r>
              <a:rPr lang="ja-JP" altLang="en-US" dirty="0">
                <a:ea typeface="ＭＳ Ｐゴシック" panose="020B0600070205080204" pitchFamily="34" charset="-128"/>
              </a:rPr>
              <a:t>“</a:t>
            </a:r>
            <a:r>
              <a:rPr lang="en-US" altLang="ja-JP" dirty="0">
                <a:ea typeface="ＭＳ Ｐゴシック" panose="020B0600070205080204" pitchFamily="34" charset="-128"/>
              </a:rPr>
              <a:t>computation phase</a:t>
            </a:r>
            <a:r>
              <a:rPr lang="ja-JP" altLang="en-US" dirty="0">
                <a:ea typeface="ＭＳ Ｐゴシック" panose="020B0600070205080204" pitchFamily="34" charset="-128"/>
              </a:rPr>
              <a:t>”</a:t>
            </a:r>
            <a:r>
              <a:rPr lang="en-US" altLang="ja-JP" dirty="0">
                <a:ea typeface="ＭＳ Ｐゴシック" panose="020B0600070205080204" pitchFamily="34" charset="-128"/>
              </a:rPr>
              <a:t> fits in cache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243715" name="Slide Number Placeholder 3">
            <a:extLst>
              <a:ext uri="{FF2B5EF4-FFF2-40B4-BE49-F238E27FC236}">
                <a16:creationId xmlns:a16="http://schemas.microsoft.com/office/drawing/2014/main" id="{264469E5-D0F6-394F-B960-DB96223F845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F2B1A69-60C9-3741-A171-4C6007310487}" type="slidenum"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424081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B6E018-6540-834B-959B-BE2282F9C93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901700"/>
            <a:ext cx="8915400" cy="5575300"/>
          </a:xfrm>
        </p:spPr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Block size is the data that is associated with an address tag </a:t>
            </a:r>
          </a:p>
          <a:p>
            <a:pPr marL="344487" lvl="1" indent="0">
              <a:buNone/>
            </a:pPr>
            <a:r>
              <a:rPr lang="en-US" altLang="en-US" dirty="0">
                <a:ea typeface="ＭＳ Ｐゴシック" panose="020B0600070205080204" pitchFamily="34" charset="-128"/>
              </a:rPr>
              <a:t> </a:t>
            </a:r>
          </a:p>
          <a:p>
            <a:pPr lvl="1"/>
            <a:endParaRPr lang="en-US" altLang="en-US" sz="1000" dirty="0">
              <a:ea typeface="ＭＳ Ｐゴシック" panose="020B0600070205080204" pitchFamily="34" charset="-128"/>
            </a:endParaRPr>
          </a:p>
          <a:p>
            <a:r>
              <a:rPr lang="en-US" altLang="en-US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Too small </a:t>
            </a:r>
            <a:r>
              <a:rPr lang="en-US" altLang="en-US" dirty="0">
                <a:ea typeface="ＭＳ Ｐゴシック" panose="020B0600070205080204" pitchFamily="34" charset="-128"/>
              </a:rPr>
              <a:t>blocks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 don’t exploit spatial locality well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 have larger tag overhead</a:t>
            </a:r>
          </a:p>
          <a:p>
            <a:endParaRPr lang="en-US" altLang="en-US" sz="2000" dirty="0">
              <a:ea typeface="ＭＳ Ｐゴシック" panose="020B0600070205080204" pitchFamily="34" charset="-128"/>
            </a:endParaRPr>
          </a:p>
          <a:p>
            <a:r>
              <a:rPr lang="en-US" altLang="en-US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Too large </a:t>
            </a:r>
            <a:r>
              <a:rPr lang="en-US" altLang="en-US" dirty="0">
                <a:ea typeface="ＭＳ Ｐゴシック" panose="020B0600070205080204" pitchFamily="34" charset="-128"/>
              </a:rPr>
              <a:t>blocks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too few total # of blocks </a:t>
            </a:r>
            <a:r>
              <a:rPr lang="en-US" altLang="en-US" dirty="0">
                <a:ea typeface="ＭＳ Ｐゴシック" panose="020B0600070205080204" pitchFamily="34" charset="-128"/>
                <a:sym typeface="Wingdings" pitchFamily="2" charset="2"/>
              </a:rPr>
              <a:t> less</a:t>
            </a:r>
          </a:p>
          <a:p>
            <a:pPr lvl="2">
              <a:buFont typeface="Wingdings" pitchFamily="2" charset="2"/>
              <a:buNone/>
            </a:pPr>
            <a:r>
              <a:rPr lang="en-US" altLang="en-US" sz="2200" dirty="0">
                <a:ea typeface="ＭＳ Ｐゴシック" panose="020B0600070205080204" pitchFamily="34" charset="-128"/>
                <a:sym typeface="Wingdings" pitchFamily="2" charset="2"/>
              </a:rPr>
              <a:t>temporal locality exploitation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  <a:sym typeface="Wingdings" pitchFamily="2" charset="2"/>
              </a:rPr>
              <a:t>waste of cache space and bandwidth/energy </a:t>
            </a:r>
          </a:p>
          <a:p>
            <a:pPr lvl="1">
              <a:buFont typeface="Wingdings" pitchFamily="2" charset="2"/>
              <a:buNone/>
            </a:pPr>
            <a:r>
              <a:rPr lang="en-US" altLang="en-US" dirty="0">
                <a:ea typeface="ＭＳ Ｐゴシック" panose="020B0600070205080204" pitchFamily="34" charset="-128"/>
                <a:sym typeface="Wingdings" pitchFamily="2" charset="2"/>
              </a:rPr>
              <a:t>    if spatial locality is not high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238593" name="Title 1">
            <a:extLst>
              <a:ext uri="{FF2B5EF4-FFF2-40B4-BE49-F238E27FC236}">
                <a16:creationId xmlns:a16="http://schemas.microsoft.com/office/drawing/2014/main" id="{8D4373FB-FD83-2745-8F24-33D875C573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Recall: Block Size</a:t>
            </a:r>
          </a:p>
        </p:txBody>
      </p:sp>
      <p:sp>
        <p:nvSpPr>
          <p:cNvPr id="238595" name="Slide Number Placeholder 3">
            <a:extLst>
              <a:ext uri="{FF2B5EF4-FFF2-40B4-BE49-F238E27FC236}">
                <a16:creationId xmlns:a16="http://schemas.microsoft.com/office/drawing/2014/main" id="{85A174DD-BE8D-E746-85CC-8D78A75ACE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A6815B7-7032-EA4D-9E89-475FA7BC4202}" type="slidenum"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3A08151E-29D5-4CA4-AD36-8ADC3EF79893}"/>
              </a:ext>
            </a:extLst>
          </p:cNvPr>
          <p:cNvGrpSpPr/>
          <p:nvPr/>
        </p:nvGrpSpPr>
        <p:grpSpPr>
          <a:xfrm>
            <a:off x="5181600" y="1752600"/>
            <a:ext cx="3994150" cy="3373438"/>
            <a:chOff x="5075238" y="2590800"/>
            <a:chExt cx="3994150" cy="3373438"/>
          </a:xfrm>
        </p:grpSpPr>
        <p:sp>
          <p:nvSpPr>
            <p:cNvPr id="238596" name="Freeform 4">
              <a:extLst>
                <a:ext uri="{FF2B5EF4-FFF2-40B4-BE49-F238E27FC236}">
                  <a16:creationId xmlns:a16="http://schemas.microsoft.com/office/drawing/2014/main" id="{D02BBFA5-3A40-CE46-AC90-C6996BB7DB1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59438" y="3032125"/>
              <a:ext cx="3048000" cy="2286000"/>
            </a:xfrm>
            <a:custGeom>
              <a:avLst/>
              <a:gdLst>
                <a:gd name="T0" fmla="*/ 0 w 1920"/>
                <a:gd name="T1" fmla="*/ 0 h 1440"/>
                <a:gd name="T2" fmla="*/ 0 w 1920"/>
                <a:gd name="T3" fmla="*/ 2147483646 h 1440"/>
                <a:gd name="T4" fmla="*/ 2147483646 w 1920"/>
                <a:gd name="T5" fmla="*/ 2147483646 h 1440"/>
                <a:gd name="T6" fmla="*/ 0 60000 65536"/>
                <a:gd name="T7" fmla="*/ 0 60000 65536"/>
                <a:gd name="T8" fmla="*/ 0 60000 65536"/>
                <a:gd name="T9" fmla="*/ 0 w 1920"/>
                <a:gd name="T10" fmla="*/ 0 h 1440"/>
                <a:gd name="T11" fmla="*/ 1920 w 1920"/>
                <a:gd name="T12" fmla="*/ 1440 h 144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20" h="1440">
                  <a:moveTo>
                    <a:pt x="0" y="0"/>
                  </a:moveTo>
                  <a:lnTo>
                    <a:pt x="0" y="1440"/>
                  </a:lnTo>
                  <a:lnTo>
                    <a:pt x="1920" y="1440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8597" name="Text Box 5">
              <a:extLst>
                <a:ext uri="{FF2B5EF4-FFF2-40B4-BE49-F238E27FC236}">
                  <a16:creationId xmlns:a16="http://schemas.microsoft.com/office/drawing/2014/main" id="{EC557BC5-9F45-B442-A9D7-E5E12C27C2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75238" y="2590800"/>
              <a:ext cx="1114425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hit rate</a:t>
              </a:r>
            </a:p>
          </p:txBody>
        </p:sp>
        <p:sp>
          <p:nvSpPr>
            <p:cNvPr id="238598" name="Text Box 6">
              <a:extLst>
                <a:ext uri="{FF2B5EF4-FFF2-40B4-BE49-F238E27FC236}">
                  <a16:creationId xmlns:a16="http://schemas.microsoft.com/office/drawing/2014/main" id="{6257B137-3EC1-C440-B0B6-CBFF979E09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47075" y="5318125"/>
              <a:ext cx="722313" cy="646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block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size</a:t>
              </a:r>
            </a:p>
          </p:txBody>
        </p:sp>
        <p:sp>
          <p:nvSpPr>
            <p:cNvPr id="238599" name="Freeform 7">
              <a:extLst>
                <a:ext uri="{FF2B5EF4-FFF2-40B4-BE49-F238E27FC236}">
                  <a16:creationId xmlns:a16="http://schemas.microsoft.com/office/drawing/2014/main" id="{422761CA-5BF9-2C4A-8DF7-08A0E9D7D5EE}"/>
                </a:ext>
              </a:extLst>
            </p:cNvPr>
            <p:cNvSpPr>
              <a:spLocks/>
            </p:cNvSpPr>
            <p:nvPr/>
          </p:nvSpPr>
          <p:spPr bwMode="auto">
            <a:xfrm>
              <a:off x="5659438" y="3048000"/>
              <a:ext cx="2863850" cy="2270125"/>
            </a:xfrm>
            <a:custGeom>
              <a:avLst/>
              <a:gdLst>
                <a:gd name="T0" fmla="*/ 0 w 1804"/>
                <a:gd name="T1" fmla="*/ 2147483646 h 1430"/>
                <a:gd name="T2" fmla="*/ 2147483646 w 1804"/>
                <a:gd name="T3" fmla="*/ 2147483646 h 1430"/>
                <a:gd name="T4" fmla="*/ 2147483646 w 1804"/>
                <a:gd name="T5" fmla="*/ 2147483646 h 1430"/>
                <a:gd name="T6" fmla="*/ 2147483646 w 1804"/>
                <a:gd name="T7" fmla="*/ 2147483646 h 1430"/>
                <a:gd name="T8" fmla="*/ 2147483646 w 1804"/>
                <a:gd name="T9" fmla="*/ 2147483646 h 14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804"/>
                <a:gd name="T16" fmla="*/ 0 h 1430"/>
                <a:gd name="T17" fmla="*/ 1804 w 1804"/>
                <a:gd name="T18" fmla="*/ 1430 h 14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804" h="1430">
                  <a:moveTo>
                    <a:pt x="0" y="1430"/>
                  </a:moveTo>
                  <a:cubicBezTo>
                    <a:pt x="36" y="1210"/>
                    <a:pt x="52" y="1027"/>
                    <a:pt x="144" y="806"/>
                  </a:cubicBezTo>
                  <a:cubicBezTo>
                    <a:pt x="236" y="585"/>
                    <a:pt x="384" y="212"/>
                    <a:pt x="551" y="106"/>
                  </a:cubicBezTo>
                  <a:cubicBezTo>
                    <a:pt x="718" y="0"/>
                    <a:pt x="937" y="45"/>
                    <a:pt x="1146" y="169"/>
                  </a:cubicBezTo>
                  <a:cubicBezTo>
                    <a:pt x="1355" y="293"/>
                    <a:pt x="1667" y="710"/>
                    <a:pt x="1804" y="852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1" name="Title 1">
            <a:extLst>
              <a:ext uri="{FF2B5EF4-FFF2-40B4-BE49-F238E27FC236}">
                <a16:creationId xmlns:a16="http://schemas.microsoft.com/office/drawing/2014/main" id="{8D98BFA0-99B2-F64A-9BD8-B8769CC292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Recall: Associativity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E55D8F-6FF8-4E48-8F28-31305B0EF25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6200" y="914400"/>
            <a:ext cx="9005888" cy="5562600"/>
          </a:xfrm>
        </p:spPr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How many blocks can be present in the same index (i.e., set)?</a:t>
            </a: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r>
              <a:rPr lang="en-US" altLang="en-US" dirty="0">
                <a:solidFill>
                  <a:srgbClr val="0432FF"/>
                </a:solidFill>
                <a:ea typeface="ＭＳ Ｐゴシック" panose="020B0600070205080204" pitchFamily="34" charset="-128"/>
              </a:rPr>
              <a:t>Larger associativity</a:t>
            </a:r>
          </a:p>
          <a:p>
            <a:pPr lvl="1"/>
            <a:r>
              <a:rPr lang="en-US" altLang="zh-CN" dirty="0">
                <a:ea typeface="ＭＳ Ｐゴシック" panose="020B0600070205080204" pitchFamily="34" charset="-128"/>
              </a:rPr>
              <a:t>L</a:t>
            </a:r>
            <a:r>
              <a:rPr lang="en-US" altLang="en-US" dirty="0">
                <a:ea typeface="ＭＳ Ｐゴシック" panose="020B0600070205080204" pitchFamily="34" charset="-128"/>
              </a:rPr>
              <a:t>ower miss rate (reduced conflicts)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Higher hit latency and area cost (plus diminishing returns)</a:t>
            </a: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r>
              <a:rPr lang="en-US" altLang="en-US" dirty="0">
                <a:solidFill>
                  <a:srgbClr val="0432FF"/>
                </a:solidFill>
                <a:ea typeface="ＭＳ Ｐゴシック" panose="020B0600070205080204" pitchFamily="34" charset="-128"/>
              </a:rPr>
              <a:t>Smaller associativity</a:t>
            </a:r>
          </a:p>
          <a:p>
            <a:pPr lvl="1"/>
            <a:r>
              <a:rPr lang="en-US" altLang="zh-CN" dirty="0">
                <a:ea typeface="ＭＳ Ｐゴシック" panose="020B0600070205080204" pitchFamily="34" charset="-128"/>
              </a:rPr>
              <a:t>Lower</a:t>
            </a:r>
            <a:r>
              <a:rPr lang="en-US" altLang="en-US" dirty="0">
                <a:ea typeface="ＭＳ Ｐゴシック" panose="020B0600070205080204" pitchFamily="34" charset="-128"/>
              </a:rPr>
              <a:t> hit rate</a:t>
            </a:r>
          </a:p>
          <a:p>
            <a:pPr lvl="1"/>
            <a:r>
              <a:rPr lang="en-US" altLang="zh-CN" dirty="0">
                <a:ea typeface="ＭＳ Ｐゴシック" panose="020B0600070205080204" pitchFamily="34" charset="-128"/>
              </a:rPr>
              <a:t>L</a:t>
            </a:r>
            <a:r>
              <a:rPr lang="en-US" altLang="en-US" dirty="0">
                <a:ea typeface="ＭＳ Ｐゴシック" panose="020B0600070205080204" pitchFamily="34" charset="-128"/>
              </a:rPr>
              <a:t>ower cost</a:t>
            </a:r>
          </a:p>
          <a:p>
            <a:pPr lvl="1"/>
            <a:r>
              <a:rPr lang="en-US" altLang="zh-CN" dirty="0">
                <a:ea typeface="ＭＳ Ｐゴシック" panose="020B0600070205080204" pitchFamily="34" charset="-128"/>
              </a:rPr>
              <a:t>L</a:t>
            </a:r>
            <a:r>
              <a:rPr lang="en-US" altLang="en-US" dirty="0">
                <a:ea typeface="ＭＳ Ｐゴシック" panose="020B0600070205080204" pitchFamily="34" charset="-128"/>
              </a:rPr>
              <a:t>ower hit latency</a:t>
            </a:r>
          </a:p>
          <a:p>
            <a:pPr lvl="2"/>
            <a:r>
              <a:rPr lang="en-US" altLang="en-US" dirty="0">
                <a:ea typeface="ＭＳ Ｐゴシック" panose="020B0600070205080204" pitchFamily="34" charset="-128"/>
              </a:rPr>
              <a:t>Especially important for L1 caches</a:t>
            </a:r>
          </a:p>
          <a:p>
            <a:pPr lvl="1">
              <a:buFont typeface="Wingdings" pitchFamily="2" charset="2"/>
              <a:buNone/>
            </a:pPr>
            <a:endParaRPr lang="en-US" altLang="en-US" dirty="0">
              <a:ea typeface="ＭＳ Ｐゴシック" panose="020B0600070205080204" pitchFamily="34" charset="-128"/>
            </a:endParaRPr>
          </a:p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240643" name="Slide Number Placeholder 3">
            <a:extLst>
              <a:ext uri="{FF2B5EF4-FFF2-40B4-BE49-F238E27FC236}">
                <a16:creationId xmlns:a16="http://schemas.microsoft.com/office/drawing/2014/main" id="{716AA897-F03A-184E-8E70-6932FD3563A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918969F-C166-4549-B472-67EFBC00DC27}" type="slidenum"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40644" name="Freeform 5">
            <a:extLst>
              <a:ext uri="{FF2B5EF4-FFF2-40B4-BE49-F238E27FC236}">
                <a16:creationId xmlns:a16="http://schemas.microsoft.com/office/drawing/2014/main" id="{4BB3A8F6-F064-CF45-8C84-A17B6B90080A}"/>
              </a:ext>
            </a:extLst>
          </p:cNvPr>
          <p:cNvSpPr>
            <a:spLocks/>
          </p:cNvSpPr>
          <p:nvPr/>
        </p:nvSpPr>
        <p:spPr bwMode="auto">
          <a:xfrm>
            <a:off x="5527675" y="3414713"/>
            <a:ext cx="3048000" cy="2286000"/>
          </a:xfrm>
          <a:custGeom>
            <a:avLst/>
            <a:gdLst>
              <a:gd name="T0" fmla="*/ 0 w 1920"/>
              <a:gd name="T1" fmla="*/ 0 h 1440"/>
              <a:gd name="T2" fmla="*/ 0 w 1920"/>
              <a:gd name="T3" fmla="*/ 2147483646 h 1440"/>
              <a:gd name="T4" fmla="*/ 2147483646 w 1920"/>
              <a:gd name="T5" fmla="*/ 2147483646 h 1440"/>
              <a:gd name="T6" fmla="*/ 0 60000 65536"/>
              <a:gd name="T7" fmla="*/ 0 60000 65536"/>
              <a:gd name="T8" fmla="*/ 0 60000 65536"/>
              <a:gd name="T9" fmla="*/ 0 w 1920"/>
              <a:gd name="T10" fmla="*/ 0 h 1440"/>
              <a:gd name="T11" fmla="*/ 1920 w 1920"/>
              <a:gd name="T12" fmla="*/ 1440 h 144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20" h="1440">
                <a:moveTo>
                  <a:pt x="0" y="0"/>
                </a:moveTo>
                <a:lnTo>
                  <a:pt x="0" y="1440"/>
                </a:lnTo>
                <a:lnTo>
                  <a:pt x="1920" y="1440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40645" name="Text Box 7">
            <a:extLst>
              <a:ext uri="{FF2B5EF4-FFF2-40B4-BE49-F238E27FC236}">
                <a16:creationId xmlns:a16="http://schemas.microsoft.com/office/drawing/2014/main" id="{E8C154C2-076A-D147-B491-1D05E02954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42225" y="5734050"/>
            <a:ext cx="14811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associativity</a:t>
            </a:r>
          </a:p>
        </p:txBody>
      </p:sp>
      <p:sp>
        <p:nvSpPr>
          <p:cNvPr id="240646" name="Freeform 8">
            <a:extLst>
              <a:ext uri="{FF2B5EF4-FFF2-40B4-BE49-F238E27FC236}">
                <a16:creationId xmlns:a16="http://schemas.microsoft.com/office/drawing/2014/main" id="{4EB1FF55-ACDA-7F4B-86A8-166C5A3234A3}"/>
              </a:ext>
            </a:extLst>
          </p:cNvPr>
          <p:cNvSpPr>
            <a:spLocks/>
          </p:cNvSpPr>
          <p:nvPr/>
        </p:nvSpPr>
        <p:spPr bwMode="auto">
          <a:xfrm>
            <a:off x="5813425" y="3414713"/>
            <a:ext cx="2609850" cy="852487"/>
          </a:xfrm>
          <a:custGeom>
            <a:avLst/>
            <a:gdLst>
              <a:gd name="T0" fmla="*/ 0 w 1644"/>
              <a:gd name="T1" fmla="*/ 2147483646 h 537"/>
              <a:gd name="T2" fmla="*/ 2147483646 w 1644"/>
              <a:gd name="T3" fmla="*/ 2147483646 h 537"/>
              <a:gd name="T4" fmla="*/ 2147483646 w 1644"/>
              <a:gd name="T5" fmla="*/ 2147483646 h 537"/>
              <a:gd name="T6" fmla="*/ 2147483646 w 1644"/>
              <a:gd name="T7" fmla="*/ 0 h 537"/>
              <a:gd name="T8" fmla="*/ 0 60000 65536"/>
              <a:gd name="T9" fmla="*/ 0 60000 65536"/>
              <a:gd name="T10" fmla="*/ 0 60000 65536"/>
              <a:gd name="T11" fmla="*/ 0 60000 65536"/>
              <a:gd name="T12" fmla="*/ 0 w 1644"/>
              <a:gd name="T13" fmla="*/ 0 h 537"/>
              <a:gd name="T14" fmla="*/ 1644 w 1644"/>
              <a:gd name="T15" fmla="*/ 537 h 53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644" h="537">
                <a:moveTo>
                  <a:pt x="0" y="537"/>
                </a:moveTo>
                <a:cubicBezTo>
                  <a:pt x="35" y="492"/>
                  <a:pt x="101" y="341"/>
                  <a:pt x="209" y="267"/>
                </a:cubicBezTo>
                <a:cubicBezTo>
                  <a:pt x="317" y="193"/>
                  <a:pt x="410" y="134"/>
                  <a:pt x="649" y="90"/>
                </a:cubicBezTo>
                <a:cubicBezTo>
                  <a:pt x="888" y="46"/>
                  <a:pt x="1437" y="19"/>
                  <a:pt x="164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40647" name="Text Box 6">
            <a:extLst>
              <a:ext uri="{FF2B5EF4-FFF2-40B4-BE49-F238E27FC236}">
                <a16:creationId xmlns:a16="http://schemas.microsoft.com/office/drawing/2014/main" id="{B7008063-7CC5-0243-9A0B-D2F1C89F08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3130550"/>
            <a:ext cx="1116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hit rate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ea typeface="ＭＳ Ｐゴシック" charset="-128"/>
              </a:rPr>
              <a:t>Memory Consistency vs. Cache Coherence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143000"/>
            <a:ext cx="8610600" cy="3510136"/>
          </a:xfrm>
        </p:spPr>
        <p:txBody>
          <a:bodyPr/>
          <a:lstStyle/>
          <a:p>
            <a:r>
              <a:rPr lang="en-US" altLang="en-US" b="1" dirty="0">
                <a:ea typeface="ＭＳ Ｐゴシック" charset="-128"/>
              </a:rPr>
              <a:t>Coherence</a:t>
            </a:r>
            <a:r>
              <a:rPr lang="en-US" altLang="en-US" dirty="0">
                <a:ea typeface="ＭＳ Ｐゴシック" charset="-128"/>
              </a:rPr>
              <a:t> is about ordering of operations from different processors </a:t>
            </a:r>
            <a:r>
              <a:rPr lang="en-US" altLang="en-US" dirty="0">
                <a:solidFill>
                  <a:srgbClr val="0000FF"/>
                </a:solidFill>
                <a:ea typeface="ＭＳ Ｐゴシック" charset="-128"/>
              </a:rPr>
              <a:t>to</a:t>
            </a:r>
            <a:r>
              <a:rPr lang="en-US" altLang="en-US" dirty="0">
                <a:ea typeface="ＭＳ Ｐゴシック" charset="-128"/>
              </a:rPr>
              <a:t> </a:t>
            </a:r>
            <a:r>
              <a:rPr lang="en-US" altLang="en-US" dirty="0">
                <a:solidFill>
                  <a:srgbClr val="0000FF"/>
                </a:solidFill>
                <a:ea typeface="ＭＳ Ｐゴシック" charset="-128"/>
              </a:rPr>
              <a:t>the same memory location</a:t>
            </a:r>
          </a:p>
          <a:p>
            <a:pPr lvl="1"/>
            <a:r>
              <a:rPr lang="en-US" altLang="en-US" dirty="0">
                <a:ea typeface="ＭＳ Ｐゴシック" charset="-128"/>
              </a:rPr>
              <a:t>Local ordering of accesses to </a:t>
            </a:r>
            <a:r>
              <a:rPr lang="en-US" altLang="en-US" i="1" dirty="0">
                <a:ea typeface="ＭＳ Ｐゴシック" charset="-128"/>
              </a:rPr>
              <a:t>each</a:t>
            </a:r>
            <a:r>
              <a:rPr lang="en-US" altLang="en-US" dirty="0">
                <a:ea typeface="ＭＳ Ｐゴシック" charset="-128"/>
              </a:rPr>
              <a:t> cache </a:t>
            </a:r>
            <a:r>
              <a:rPr lang="en-US" altLang="en-US" i="1" dirty="0">
                <a:ea typeface="ＭＳ Ｐゴシック" charset="-128"/>
              </a:rPr>
              <a:t>block</a:t>
            </a:r>
          </a:p>
          <a:p>
            <a:pPr lvl="1"/>
            <a:endParaRPr lang="en-US" altLang="en-US" i="1" dirty="0">
              <a:ea typeface="ＭＳ Ｐゴシック" charset="-128"/>
            </a:endParaRPr>
          </a:p>
          <a:p>
            <a:r>
              <a:rPr lang="en-US" altLang="en-US" b="1" dirty="0">
                <a:ea typeface="ＭＳ Ｐゴシック" charset="-128"/>
              </a:rPr>
              <a:t>Consistency</a:t>
            </a:r>
            <a:r>
              <a:rPr lang="en-US" altLang="en-US" dirty="0">
                <a:ea typeface="ＭＳ Ｐゴシック" charset="-128"/>
              </a:rPr>
              <a:t> is about ordering of </a:t>
            </a:r>
            <a:r>
              <a:rPr lang="en-US" altLang="en-US" dirty="0">
                <a:solidFill>
                  <a:srgbClr val="0000FF"/>
                </a:solidFill>
                <a:ea typeface="ＭＳ Ｐゴシック" charset="-128"/>
              </a:rPr>
              <a:t>all memory operations </a:t>
            </a:r>
            <a:r>
              <a:rPr lang="en-US" altLang="en-US" dirty="0">
                <a:ea typeface="ＭＳ Ｐゴシック" charset="-128"/>
              </a:rPr>
              <a:t>from different processors (i.e., to different memory locations)</a:t>
            </a:r>
          </a:p>
          <a:p>
            <a:pPr lvl="1"/>
            <a:r>
              <a:rPr lang="en-US" altLang="en-US" dirty="0">
                <a:ea typeface="ＭＳ Ｐゴシック" charset="-128"/>
              </a:rPr>
              <a:t>Global ordering of accesses to </a:t>
            </a:r>
            <a:r>
              <a:rPr lang="en-US" altLang="en-US" i="1" dirty="0">
                <a:ea typeface="ＭＳ Ｐゴシック" charset="-128"/>
              </a:rPr>
              <a:t>all</a:t>
            </a:r>
            <a:r>
              <a:rPr lang="en-US" altLang="en-US" dirty="0">
                <a:ea typeface="ＭＳ Ｐゴシック" charset="-128"/>
              </a:rPr>
              <a:t> memory </a:t>
            </a:r>
            <a:r>
              <a:rPr lang="en-US" altLang="en-US" i="1" dirty="0">
                <a:ea typeface="ＭＳ Ｐゴシック" charset="-128"/>
              </a:rPr>
              <a:t>locations</a:t>
            </a:r>
          </a:p>
          <a:p>
            <a:pPr lvl="1"/>
            <a:endParaRPr lang="en-US" altLang="en-US" dirty="0">
              <a:ea typeface="ＭＳ Ｐゴシック" charset="-128"/>
            </a:endParaRPr>
          </a:p>
        </p:txBody>
      </p:sp>
      <p:sp>
        <p:nvSpPr>
          <p:cNvPr id="62467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7E70BB5-019B-AB4A-8562-E21B04001561}" type="slidenum"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charset="0"/>
                <a:ea typeface="ＭＳ Ｐゴシック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charset="0"/>
              <a:ea typeface="ＭＳ Ｐゴシック" charset="-128"/>
              <a:cs typeface="+mn-cs"/>
            </a:endParaRPr>
          </a:p>
        </p:txBody>
      </p:sp>
      <p:sp>
        <p:nvSpPr>
          <p:cNvPr id="5" name="Rectangle 36">
            <a:extLst>
              <a:ext uri="{FF2B5EF4-FFF2-40B4-BE49-F238E27FC236}">
                <a16:creationId xmlns:a16="http://schemas.microsoft.com/office/drawing/2014/main" id="{C5165292-86F2-4EB6-BFB9-13881FF12A51}"/>
              </a:ext>
            </a:extLst>
          </p:cNvPr>
          <p:cNvSpPr/>
          <p:nvPr/>
        </p:nvSpPr>
        <p:spPr>
          <a:xfrm flipV="1">
            <a:off x="152400" y="1143000"/>
            <a:ext cx="8458200" cy="12192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61167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Title 4"/>
          <p:cNvSpPr>
            <a:spLocks noGrp="1"/>
          </p:cNvSpPr>
          <p:nvPr>
            <p:ph type="ctrTitle"/>
          </p:nvPr>
        </p:nvSpPr>
        <p:spPr>
          <a:xfrm>
            <a:off x="457200" y="1143000"/>
            <a:ext cx="8229600" cy="2209800"/>
          </a:xfrm>
        </p:spPr>
        <p:txBody>
          <a:bodyPr anchor="ctr"/>
          <a:lstStyle/>
          <a:p>
            <a:pPr algn="ctr"/>
            <a:r>
              <a:rPr lang="en-US" altLang="en-US" sz="4400">
                <a:ea typeface="ＭＳ Ｐゴシック" charset="-128"/>
              </a:rPr>
              <a:t>Cache Coherence</a:t>
            </a:r>
          </a:p>
        </p:txBody>
      </p:sp>
    </p:spTree>
    <p:extLst>
      <p:ext uri="{BB962C8B-B14F-4D97-AF65-F5344CB8AC3E}">
        <p14:creationId xmlns:p14="http://schemas.microsoft.com/office/powerpoint/2010/main" val="343088728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ea typeface="ＭＳ Ｐゴシック" charset="-128"/>
              </a:rPr>
              <a:t>Features of Cache Coherence </a:t>
            </a:r>
          </a:p>
        </p:txBody>
      </p:sp>
      <p:sp>
        <p:nvSpPr>
          <p:cNvPr id="93186" name="Content Placeholder 2"/>
          <p:cNvSpPr>
            <a:spLocks noGrp="1"/>
          </p:cNvSpPr>
          <p:nvPr>
            <p:ph idx="1"/>
          </p:nvPr>
        </p:nvSpPr>
        <p:spPr>
          <a:xfrm>
            <a:off x="0" y="959918"/>
            <a:ext cx="9074150" cy="956347"/>
          </a:xfrm>
        </p:spPr>
        <p:txBody>
          <a:bodyPr/>
          <a:lstStyle/>
          <a:p>
            <a:r>
              <a:rPr lang="en-US" altLang="en-US" b="1" dirty="0">
                <a:ea typeface="ＭＳ Ｐゴシック" charset="-128"/>
              </a:rPr>
              <a:t>Cache Coherence</a:t>
            </a:r>
            <a:r>
              <a:rPr lang="en-US" altLang="en-US" dirty="0">
                <a:ea typeface="ＭＳ Ｐゴシック" charset="-128"/>
              </a:rPr>
              <a:t>: Multiple cores have a consistent state of the last written value from any core to a memory address.</a:t>
            </a:r>
          </a:p>
          <a:p>
            <a:pPr lvl="1"/>
            <a:r>
              <a:rPr lang="en-US" altLang="en-US" dirty="0">
                <a:solidFill>
                  <a:srgbClr val="0000FF"/>
                </a:solidFill>
                <a:ea typeface="ＭＳ Ｐゴシック" charset="-128"/>
              </a:rPr>
              <a:t>Program order preservation</a:t>
            </a:r>
            <a:r>
              <a:rPr lang="en-US" altLang="en-US" dirty="0">
                <a:ea typeface="ＭＳ Ｐゴシック" charset="-128"/>
              </a:rPr>
              <a:t>: core </a:t>
            </a:r>
            <a:r>
              <a:rPr lang="en-US" altLang="en-US" dirty="0">
                <a:latin typeface="Arial Narrow" panose="020B0606020202030204" pitchFamily="34" charset="0"/>
                <a:ea typeface="ＭＳ Ｐゴシック" charset="-128"/>
              </a:rPr>
              <a:t>C</a:t>
            </a:r>
            <a:r>
              <a:rPr lang="en-US" altLang="en-US" dirty="0">
                <a:ea typeface="ＭＳ Ｐゴシック" charset="-128"/>
              </a:rPr>
              <a:t> </a:t>
            </a:r>
            <a:r>
              <a:rPr lang="en-US" altLang="en-US" dirty="0">
                <a:solidFill>
                  <a:srgbClr val="92D050"/>
                </a:solidFill>
                <a:ea typeface="ＭＳ Ｐゴシック" charset="-128"/>
              </a:rPr>
              <a:t>writes</a:t>
            </a:r>
            <a:r>
              <a:rPr lang="en-US" altLang="en-US" dirty="0">
                <a:ea typeface="ＭＳ Ｐゴシック" charset="-128"/>
              </a:rPr>
              <a:t> to the address and then </a:t>
            </a:r>
            <a:r>
              <a:rPr lang="en-US" altLang="en-US" dirty="0">
                <a:solidFill>
                  <a:srgbClr val="92D050"/>
                </a:solidFill>
                <a:ea typeface="ＭＳ Ｐゴシック" charset="-128"/>
              </a:rPr>
              <a:t>reads</a:t>
            </a:r>
            <a:r>
              <a:rPr lang="en-US" altLang="en-US" dirty="0">
                <a:ea typeface="ＭＳ Ｐゴシック" charset="-128"/>
              </a:rPr>
              <a:t> from the same address, </a:t>
            </a:r>
            <a:r>
              <a:rPr lang="en-US" altLang="en-US" dirty="0">
                <a:latin typeface="Arial Narrow" panose="020B0606020202030204" pitchFamily="34" charset="0"/>
                <a:ea typeface="ＭＳ Ｐゴシック" charset="-128"/>
              </a:rPr>
              <a:t>C</a:t>
            </a:r>
            <a:r>
              <a:rPr lang="en-US" altLang="en-US" dirty="0">
                <a:ea typeface="ＭＳ Ｐゴシック" charset="-128"/>
              </a:rPr>
              <a:t> gets value written.</a:t>
            </a:r>
            <a:endParaRPr lang="en-US" altLang="en-US" dirty="0">
              <a:solidFill>
                <a:srgbClr val="0000FF"/>
              </a:solidFill>
              <a:ea typeface="ＭＳ Ｐゴシック" charset="-128"/>
            </a:endParaRPr>
          </a:p>
          <a:p>
            <a:pPr lvl="1"/>
            <a:endParaRPr lang="en-US" altLang="en-US" dirty="0">
              <a:solidFill>
                <a:srgbClr val="0000FF"/>
              </a:solidFill>
              <a:ea typeface="ＭＳ Ｐゴシック" charset="-128"/>
            </a:endParaRPr>
          </a:p>
          <a:p>
            <a:pPr lvl="1"/>
            <a:endParaRPr lang="en-US" altLang="en-US" dirty="0">
              <a:solidFill>
                <a:srgbClr val="0000FF"/>
              </a:solidFill>
              <a:ea typeface="ＭＳ Ｐゴシック" charset="-128"/>
            </a:endParaRPr>
          </a:p>
          <a:p>
            <a:pPr lvl="1"/>
            <a:r>
              <a:rPr lang="en-US" altLang="en-US" dirty="0">
                <a:solidFill>
                  <a:srgbClr val="0000FF"/>
                </a:solidFill>
                <a:ea typeface="ＭＳ Ｐゴシック" charset="-128"/>
              </a:rPr>
              <a:t>Coherent memory view</a:t>
            </a:r>
            <a:r>
              <a:rPr lang="en-US" altLang="en-US" dirty="0">
                <a:ea typeface="ＭＳ Ｐゴシック" charset="-128"/>
              </a:rPr>
              <a:t>: if </a:t>
            </a:r>
            <a:r>
              <a:rPr lang="en-US" altLang="en-US" dirty="0">
                <a:latin typeface="Arial Narrow" panose="020B0606020202030204" pitchFamily="34" charset="0"/>
                <a:ea typeface="ＭＳ Ｐゴシック" charset="-128"/>
              </a:rPr>
              <a:t>C1</a:t>
            </a:r>
            <a:r>
              <a:rPr lang="en-US" altLang="en-US" dirty="0">
                <a:ea typeface="ＭＳ Ｐゴシック" charset="-128"/>
              </a:rPr>
              <a:t> performs “</a:t>
            </a:r>
            <a:r>
              <a:rPr lang="en-US" altLang="en-US" dirty="0">
                <a:latin typeface="Arial Narrow" panose="020B0606020202030204" pitchFamily="34" charset="0"/>
                <a:ea typeface="ＭＳ Ｐゴシック" charset="-128"/>
              </a:rPr>
              <a:t>mem[X] = 1</a:t>
            </a:r>
            <a:r>
              <a:rPr lang="en-US" altLang="en-US" dirty="0">
                <a:ea typeface="ＭＳ Ｐゴシック" charset="-128"/>
              </a:rPr>
              <a:t>”, after a sufficient time, </a:t>
            </a:r>
            <a:r>
              <a:rPr lang="en-US" altLang="en-US" dirty="0">
                <a:latin typeface="Arial Narrow" panose="020B0606020202030204" pitchFamily="34" charset="0"/>
                <a:ea typeface="ＭＳ Ｐゴシック" charset="-128"/>
              </a:rPr>
              <a:t>C2</a:t>
            </a:r>
            <a:r>
              <a:rPr lang="en-US" altLang="en-US" dirty="0">
                <a:ea typeface="ＭＳ Ｐゴシック" charset="-128"/>
              </a:rPr>
              <a:t> will read 1 from “</a:t>
            </a:r>
            <a:r>
              <a:rPr lang="en-US" altLang="en-US" dirty="0">
                <a:latin typeface="Arial Narrow" panose="020B0606020202030204" pitchFamily="34" charset="0"/>
                <a:ea typeface="ＭＳ Ｐゴシック" charset="-128"/>
              </a:rPr>
              <a:t>mem[X]</a:t>
            </a:r>
            <a:r>
              <a:rPr lang="en-US" altLang="en-US" dirty="0">
                <a:ea typeface="ＭＳ Ｐゴシック" charset="-128"/>
              </a:rPr>
              <a:t>”. </a:t>
            </a:r>
          </a:p>
          <a:p>
            <a:pPr lvl="1"/>
            <a:endParaRPr lang="en-US" altLang="en-US" dirty="0">
              <a:solidFill>
                <a:srgbClr val="0000FF"/>
              </a:solidFill>
              <a:ea typeface="ＭＳ Ｐゴシック" charset="-128"/>
            </a:endParaRPr>
          </a:p>
          <a:p>
            <a:pPr lvl="1"/>
            <a:endParaRPr lang="en-US" altLang="en-US" dirty="0">
              <a:solidFill>
                <a:srgbClr val="0000FF"/>
              </a:solidFill>
              <a:ea typeface="ＭＳ Ｐゴシック" charset="-128"/>
            </a:endParaRPr>
          </a:p>
          <a:p>
            <a:pPr lvl="1"/>
            <a:r>
              <a:rPr lang="en-US" altLang="en-US" dirty="0">
                <a:solidFill>
                  <a:srgbClr val="0000FF"/>
                </a:solidFill>
                <a:ea typeface="ＭＳ Ｐゴシック" charset="-128"/>
              </a:rPr>
              <a:t>Write serialization</a:t>
            </a:r>
            <a:r>
              <a:rPr lang="en-US" altLang="en-US" dirty="0">
                <a:ea typeface="ＭＳ Ｐゴシック" charset="-128"/>
              </a:rPr>
              <a:t>: writes to the same address by different processors are seen in </a:t>
            </a:r>
            <a:r>
              <a:rPr lang="en-US" altLang="en-US" dirty="0">
                <a:solidFill>
                  <a:srgbClr val="0432FF"/>
                </a:solidFill>
                <a:ea typeface="ＭＳ Ｐゴシック" charset="-128"/>
              </a:rPr>
              <a:t>same order </a:t>
            </a:r>
            <a:r>
              <a:rPr lang="en-US" altLang="en-US" dirty="0">
                <a:ea typeface="ＭＳ Ｐゴシック" charset="-128"/>
              </a:rPr>
              <a:t>by all processors. </a:t>
            </a:r>
          </a:p>
          <a:p>
            <a:pPr lvl="1"/>
            <a:endParaRPr lang="en-US" altLang="en-US" dirty="0">
              <a:solidFill>
                <a:srgbClr val="0000FF"/>
              </a:solidFill>
              <a:ea typeface="ＭＳ Ｐゴシック" charset="-128"/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361752CF-DA48-4B75-A1E5-E4098E363F2C}"/>
              </a:ext>
            </a:extLst>
          </p:cNvPr>
          <p:cNvGrpSpPr/>
          <p:nvPr/>
        </p:nvGrpSpPr>
        <p:grpSpPr>
          <a:xfrm>
            <a:off x="3124200" y="2434937"/>
            <a:ext cx="2599531" cy="994063"/>
            <a:chOff x="3124200" y="2434937"/>
            <a:chExt cx="2599531" cy="994063"/>
          </a:xfrm>
        </p:grpSpPr>
        <p:sp>
          <p:nvSpPr>
            <p:cNvPr id="35" name="Oval 7">
              <a:extLst>
                <a:ext uri="{FF2B5EF4-FFF2-40B4-BE49-F238E27FC236}">
                  <a16:creationId xmlns:a16="http://schemas.microsoft.com/office/drawing/2014/main" id="{2F82C923-5420-4658-A632-DD3E6A0E15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4200" y="2667000"/>
              <a:ext cx="609600" cy="533400"/>
            </a:xfrm>
            <a:prstGeom prst="ellipse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  <a:cs typeface="+mn-cs"/>
                </a:rPr>
                <a:t>C</a:t>
              </a:r>
            </a:p>
          </p:txBody>
        </p:sp>
        <p:sp>
          <p:nvSpPr>
            <p:cNvPr id="36" name="Rectangle 11">
              <a:extLst>
                <a:ext uri="{FF2B5EF4-FFF2-40B4-BE49-F238E27FC236}">
                  <a16:creationId xmlns:a16="http://schemas.microsoft.com/office/drawing/2014/main" id="{BC66029B-1F8C-4B26-B4E7-B43EFCAA5E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53000" y="2590800"/>
              <a:ext cx="770731" cy="68757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</a:rPr>
                <a:t>Memory</a:t>
              </a: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</a:endParaRPr>
            </a:p>
          </p:txBody>
        </p:sp>
        <p:cxnSp>
          <p:nvCxnSpPr>
            <p:cNvPr id="5" name="直接箭头连接符 4">
              <a:extLst>
                <a:ext uri="{FF2B5EF4-FFF2-40B4-BE49-F238E27FC236}">
                  <a16:creationId xmlns:a16="http://schemas.microsoft.com/office/drawing/2014/main" id="{79806B35-526F-4215-9E5D-7E8C6938CE9E}"/>
                </a:ext>
              </a:extLst>
            </p:cNvPr>
            <p:cNvCxnSpPr>
              <a:stCxn id="35" idx="7"/>
            </p:cNvCxnSpPr>
            <p:nvPr/>
          </p:nvCxnSpPr>
          <p:spPr bwMode="auto">
            <a:xfrm flipV="1">
              <a:off x="3644526" y="2743200"/>
              <a:ext cx="1308474" cy="1915"/>
            </a:xfrm>
            <a:prstGeom prst="straightConnector1">
              <a:avLst/>
            </a:prstGeom>
            <a:solidFill>
              <a:srgbClr val="C0C0C0"/>
            </a:solidFill>
            <a:ln w="1905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9" name="直接箭头连接符 38">
              <a:extLst>
                <a:ext uri="{FF2B5EF4-FFF2-40B4-BE49-F238E27FC236}">
                  <a16:creationId xmlns:a16="http://schemas.microsoft.com/office/drawing/2014/main" id="{2C742F81-E467-4893-92C1-8FE7068CA0A9}"/>
                </a:ext>
              </a:extLst>
            </p:cNvPr>
            <p:cNvCxnSpPr>
              <a:cxnSpLocks/>
              <a:endCxn id="35" idx="5"/>
            </p:cNvCxnSpPr>
            <p:nvPr/>
          </p:nvCxnSpPr>
          <p:spPr bwMode="auto">
            <a:xfrm flipH="1">
              <a:off x="3644526" y="3122285"/>
              <a:ext cx="1308474" cy="0"/>
            </a:xfrm>
            <a:prstGeom prst="straightConnector1">
              <a:avLst/>
            </a:prstGeom>
            <a:solidFill>
              <a:srgbClr val="C0C0C0"/>
            </a:solidFill>
            <a:ln w="1905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0CCE220D-8C0F-4FAF-9896-9260B88E08D2}"/>
                </a:ext>
              </a:extLst>
            </p:cNvPr>
            <p:cNvSpPr/>
            <p:nvPr/>
          </p:nvSpPr>
          <p:spPr>
            <a:xfrm>
              <a:off x="3946017" y="2434937"/>
              <a:ext cx="78091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en-US" dirty="0">
                  <a:solidFill>
                    <a:srgbClr val="92D050"/>
                  </a:solidFill>
                  <a:latin typeface="Arial Narrow" panose="020B0606020202030204" pitchFamily="34" charset="0"/>
                  <a:ea typeface="ＭＳ Ｐゴシック" charset="-128"/>
                </a:rPr>
                <a:t>Write 1</a:t>
              </a:r>
              <a:endParaRPr lang="zh-CN" altLang="en-US" dirty="0">
                <a:latin typeface="Arial Narrow" panose="020B0606020202030204" pitchFamily="34" charset="0"/>
              </a:endParaRPr>
            </a:p>
          </p:txBody>
        </p: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46C43484-703D-4F8D-807F-C3B3BB7AEDEF}"/>
                </a:ext>
              </a:extLst>
            </p:cNvPr>
            <p:cNvSpPr/>
            <p:nvPr/>
          </p:nvSpPr>
          <p:spPr>
            <a:xfrm>
              <a:off x="3956179" y="3059668"/>
              <a:ext cx="79701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en-US" dirty="0">
                  <a:solidFill>
                    <a:srgbClr val="92D050"/>
                  </a:solidFill>
                  <a:latin typeface="Arial Narrow" panose="020B0606020202030204" pitchFamily="34" charset="0"/>
                  <a:ea typeface="ＭＳ Ｐゴシック" charset="-128"/>
                </a:rPr>
                <a:t>Read 1</a:t>
              </a:r>
              <a:endParaRPr lang="zh-CN" altLang="en-US" dirty="0">
                <a:latin typeface="Arial Narrow" panose="020B0606020202030204" pitchFamily="34" charset="0"/>
              </a:endParaRP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2DA4C432-36F5-40DE-BC37-F57AD126F854}"/>
              </a:ext>
            </a:extLst>
          </p:cNvPr>
          <p:cNvGrpSpPr/>
          <p:nvPr/>
        </p:nvGrpSpPr>
        <p:grpSpPr>
          <a:xfrm>
            <a:off x="1661967" y="3992823"/>
            <a:ext cx="4586433" cy="922077"/>
            <a:chOff x="1661967" y="3992823"/>
            <a:chExt cx="4586433" cy="922077"/>
          </a:xfrm>
        </p:grpSpPr>
        <p:sp>
          <p:nvSpPr>
            <p:cNvPr id="44" name="Oval 7">
              <a:extLst>
                <a:ext uri="{FF2B5EF4-FFF2-40B4-BE49-F238E27FC236}">
                  <a16:creationId xmlns:a16="http://schemas.microsoft.com/office/drawing/2014/main" id="{25B3A9D7-2CF1-4E32-BF94-C8612EED86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1967" y="4267200"/>
              <a:ext cx="609600" cy="533400"/>
            </a:xfrm>
            <a:prstGeom prst="ellipse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  <a:cs typeface="+mn-cs"/>
                </a:rPr>
                <a:t>C1</a:t>
              </a:r>
            </a:p>
          </p:txBody>
        </p:sp>
        <p:sp>
          <p:nvSpPr>
            <p:cNvPr id="45" name="Rectangle 11">
              <a:extLst>
                <a:ext uri="{FF2B5EF4-FFF2-40B4-BE49-F238E27FC236}">
                  <a16:creationId xmlns:a16="http://schemas.microsoft.com/office/drawing/2014/main" id="{7339167E-C779-4920-8A79-FEC95D6807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5200" y="4145223"/>
              <a:ext cx="770731" cy="68757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</a:rPr>
                <a:t>Memory</a:t>
              </a: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</a:endParaRPr>
            </a:p>
          </p:txBody>
        </p:sp>
        <p:cxnSp>
          <p:nvCxnSpPr>
            <p:cNvPr id="46" name="直接箭头连接符 45">
              <a:extLst>
                <a:ext uri="{FF2B5EF4-FFF2-40B4-BE49-F238E27FC236}">
                  <a16:creationId xmlns:a16="http://schemas.microsoft.com/office/drawing/2014/main" id="{46C810EA-D704-468C-9E03-491D2E20FA65}"/>
                </a:ext>
              </a:extLst>
            </p:cNvPr>
            <p:cNvCxnSpPr>
              <a:stCxn id="44" idx="7"/>
            </p:cNvCxnSpPr>
            <p:nvPr/>
          </p:nvCxnSpPr>
          <p:spPr bwMode="auto">
            <a:xfrm flipV="1">
              <a:off x="2182293" y="4343400"/>
              <a:ext cx="1308474" cy="1915"/>
            </a:xfrm>
            <a:prstGeom prst="straightConnector1">
              <a:avLst/>
            </a:prstGeom>
            <a:solidFill>
              <a:srgbClr val="C0C0C0"/>
            </a:solidFill>
            <a:ln w="1905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7" name="直接箭头连接符 46">
              <a:extLst>
                <a:ext uri="{FF2B5EF4-FFF2-40B4-BE49-F238E27FC236}">
                  <a16:creationId xmlns:a16="http://schemas.microsoft.com/office/drawing/2014/main" id="{3D25EB70-1601-47BA-B3B1-36B8105B9C1F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298763" y="4648200"/>
              <a:ext cx="1340037" cy="0"/>
            </a:xfrm>
            <a:prstGeom prst="straightConnector1">
              <a:avLst/>
            </a:prstGeom>
            <a:solidFill>
              <a:srgbClr val="C0C0C0"/>
            </a:solidFill>
            <a:ln w="1905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A29D6E7E-7426-44AD-85B0-1EE79DDE4BA5}"/>
                </a:ext>
              </a:extLst>
            </p:cNvPr>
            <p:cNvSpPr/>
            <p:nvPr/>
          </p:nvSpPr>
          <p:spPr>
            <a:xfrm>
              <a:off x="2501902" y="3992823"/>
              <a:ext cx="78091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en-US" dirty="0">
                  <a:solidFill>
                    <a:srgbClr val="92D050"/>
                  </a:solidFill>
                  <a:latin typeface="Arial Narrow" panose="020B0606020202030204" pitchFamily="34" charset="0"/>
                  <a:ea typeface="ＭＳ Ｐゴシック" charset="-128"/>
                </a:rPr>
                <a:t>Write 1</a:t>
              </a:r>
              <a:endParaRPr lang="zh-CN" altLang="en-US" dirty="0">
                <a:latin typeface="Arial Narrow" panose="020B0606020202030204" pitchFamily="34" charset="0"/>
              </a:endParaRPr>
            </a:p>
          </p:txBody>
        </p:sp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22C1C35C-EB4A-4D37-8F84-99CD6956CEDD}"/>
                </a:ext>
              </a:extLst>
            </p:cNvPr>
            <p:cNvSpPr/>
            <p:nvPr/>
          </p:nvSpPr>
          <p:spPr>
            <a:xfrm>
              <a:off x="4696043" y="4304344"/>
              <a:ext cx="79701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en-US" dirty="0">
                  <a:solidFill>
                    <a:srgbClr val="92D050"/>
                  </a:solidFill>
                  <a:latin typeface="Arial Narrow" panose="020B0606020202030204" pitchFamily="34" charset="0"/>
                  <a:ea typeface="ＭＳ Ｐゴシック" charset="-128"/>
                </a:rPr>
                <a:t>Read 1</a:t>
              </a:r>
              <a:endParaRPr lang="zh-CN" altLang="en-US" dirty="0">
                <a:latin typeface="Arial Narrow" panose="020B0606020202030204" pitchFamily="34" charset="0"/>
              </a:endParaRPr>
            </a:p>
          </p:txBody>
        </p:sp>
        <p:sp>
          <p:nvSpPr>
            <p:cNvPr id="50" name="Oval 7">
              <a:extLst>
                <a:ext uri="{FF2B5EF4-FFF2-40B4-BE49-F238E27FC236}">
                  <a16:creationId xmlns:a16="http://schemas.microsoft.com/office/drawing/2014/main" id="{7454FEAB-C722-4C56-BF07-DC0DCC48D0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8800" y="4381500"/>
              <a:ext cx="609600" cy="533400"/>
            </a:xfrm>
            <a:prstGeom prst="ellipse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  <a:cs typeface="+mn-cs"/>
                </a:rPr>
                <a:t>C2</a:t>
              </a: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1852240A-A58D-42AD-B61F-A07C8B8432CA}"/>
              </a:ext>
            </a:extLst>
          </p:cNvPr>
          <p:cNvGrpSpPr/>
          <p:nvPr/>
        </p:nvGrpSpPr>
        <p:grpSpPr>
          <a:xfrm>
            <a:off x="1828800" y="5481928"/>
            <a:ext cx="4560382" cy="948110"/>
            <a:chOff x="1828800" y="5528750"/>
            <a:chExt cx="4560382" cy="948110"/>
          </a:xfrm>
        </p:grpSpPr>
        <p:sp>
          <p:nvSpPr>
            <p:cNvPr id="52" name="Oval 7">
              <a:extLst>
                <a:ext uri="{FF2B5EF4-FFF2-40B4-BE49-F238E27FC236}">
                  <a16:creationId xmlns:a16="http://schemas.microsoft.com/office/drawing/2014/main" id="{F3DFEDB5-D9E9-41B1-B5E8-10FABA06FE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8800" y="5785297"/>
              <a:ext cx="609600" cy="533400"/>
            </a:xfrm>
            <a:prstGeom prst="ellipse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  <a:cs typeface="+mn-cs"/>
                </a:rPr>
                <a:t>C1</a:t>
              </a:r>
            </a:p>
          </p:txBody>
        </p:sp>
        <p:sp>
          <p:nvSpPr>
            <p:cNvPr id="53" name="Rectangle 11">
              <a:extLst>
                <a:ext uri="{FF2B5EF4-FFF2-40B4-BE49-F238E27FC236}">
                  <a16:creationId xmlns:a16="http://schemas.microsoft.com/office/drawing/2014/main" id="{30C2C5A6-3518-4FC9-B678-9A1D883610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69514" y="5707183"/>
              <a:ext cx="770731" cy="68757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</a:rPr>
                <a:t>Memory</a:t>
              </a: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</a:endParaRPr>
            </a:p>
          </p:txBody>
        </p:sp>
        <p:cxnSp>
          <p:nvCxnSpPr>
            <p:cNvPr id="54" name="直接箭头连接符 53">
              <a:extLst>
                <a:ext uri="{FF2B5EF4-FFF2-40B4-BE49-F238E27FC236}">
                  <a16:creationId xmlns:a16="http://schemas.microsoft.com/office/drawing/2014/main" id="{FF41E986-5125-40E9-A20F-5307850203D7}"/>
                </a:ext>
              </a:extLst>
            </p:cNvPr>
            <p:cNvCxnSpPr>
              <a:stCxn id="52" idx="7"/>
            </p:cNvCxnSpPr>
            <p:nvPr/>
          </p:nvCxnSpPr>
          <p:spPr bwMode="auto">
            <a:xfrm flipV="1">
              <a:off x="2349126" y="5861497"/>
              <a:ext cx="1308474" cy="1915"/>
            </a:xfrm>
            <a:prstGeom prst="straightConnector1">
              <a:avLst/>
            </a:prstGeom>
            <a:solidFill>
              <a:srgbClr val="C0C0C0"/>
            </a:solidFill>
            <a:ln w="1905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5" name="直接箭头连接符 54">
              <a:extLst>
                <a:ext uri="{FF2B5EF4-FFF2-40B4-BE49-F238E27FC236}">
                  <a16:creationId xmlns:a16="http://schemas.microsoft.com/office/drawing/2014/main" id="{77C07681-1D6D-41FE-8692-73821F73E261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439545" y="6210160"/>
              <a:ext cx="1340037" cy="0"/>
            </a:xfrm>
            <a:prstGeom prst="straightConnector1">
              <a:avLst/>
            </a:prstGeom>
            <a:solidFill>
              <a:srgbClr val="C0C0C0"/>
            </a:solidFill>
            <a:ln w="19050" cap="flat" cmpd="sng" algn="ctr">
              <a:solidFill>
                <a:schemeClr val="accent1"/>
              </a:solidFill>
              <a:prstDash val="solid"/>
              <a:round/>
              <a:headEnd type="triangle" w="med" len="med"/>
              <a:tailEnd type="none"/>
            </a:ln>
            <a:effectLst/>
          </p:spPr>
        </p:cxnSp>
        <p:sp>
          <p:nvSpPr>
            <p:cNvPr id="56" name="矩形 55">
              <a:extLst>
                <a:ext uri="{FF2B5EF4-FFF2-40B4-BE49-F238E27FC236}">
                  <a16:creationId xmlns:a16="http://schemas.microsoft.com/office/drawing/2014/main" id="{01404D6B-3692-4430-A4EC-16C393FAB331}"/>
                </a:ext>
              </a:extLst>
            </p:cNvPr>
            <p:cNvSpPr/>
            <p:nvPr/>
          </p:nvSpPr>
          <p:spPr>
            <a:xfrm>
              <a:off x="2651731" y="5528750"/>
              <a:ext cx="78091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en-US" dirty="0">
                  <a:solidFill>
                    <a:srgbClr val="92D050"/>
                  </a:solidFill>
                  <a:latin typeface="Arial Narrow" panose="020B0606020202030204" pitchFamily="34" charset="0"/>
                  <a:ea typeface="ＭＳ Ｐゴシック" charset="-128"/>
                </a:rPr>
                <a:t>Write 1</a:t>
              </a:r>
              <a:endParaRPr lang="zh-CN" altLang="en-US" dirty="0">
                <a:latin typeface="Arial Narrow" panose="020B0606020202030204" pitchFamily="34" charset="0"/>
              </a:endParaRPr>
            </a:p>
          </p:txBody>
        </p:sp>
        <p:sp>
          <p:nvSpPr>
            <p:cNvPr id="57" name="矩形 56">
              <a:extLst>
                <a:ext uri="{FF2B5EF4-FFF2-40B4-BE49-F238E27FC236}">
                  <a16:creationId xmlns:a16="http://schemas.microsoft.com/office/drawing/2014/main" id="{83023FFA-D331-4DCA-9A13-7DE485989EF2}"/>
                </a:ext>
              </a:extLst>
            </p:cNvPr>
            <p:cNvSpPr/>
            <p:nvPr/>
          </p:nvSpPr>
          <p:spPr>
            <a:xfrm>
              <a:off x="4836825" y="5866304"/>
              <a:ext cx="78091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en-US" dirty="0">
                  <a:solidFill>
                    <a:srgbClr val="92D050"/>
                  </a:solidFill>
                  <a:latin typeface="Arial Narrow" panose="020B0606020202030204" pitchFamily="34" charset="0"/>
                  <a:ea typeface="ＭＳ Ｐゴシック" charset="-128"/>
                </a:rPr>
                <a:t>Write 2</a:t>
              </a:r>
              <a:endParaRPr lang="zh-CN" altLang="en-US" dirty="0">
                <a:latin typeface="Arial Narrow" panose="020B0606020202030204" pitchFamily="34" charset="0"/>
              </a:endParaRPr>
            </a:p>
          </p:txBody>
        </p:sp>
        <p:sp>
          <p:nvSpPr>
            <p:cNvPr id="58" name="Oval 7">
              <a:extLst>
                <a:ext uri="{FF2B5EF4-FFF2-40B4-BE49-F238E27FC236}">
                  <a16:creationId xmlns:a16="http://schemas.microsoft.com/office/drawing/2014/main" id="{3A0E4478-CEE2-4233-8F23-74A86BB7F5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9582" y="5943460"/>
              <a:ext cx="609600" cy="533400"/>
            </a:xfrm>
            <a:prstGeom prst="ellipse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  <a:cs typeface="+mn-cs"/>
                </a:rPr>
                <a:t>C2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508301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Title 1"/>
          <p:cNvSpPr>
            <a:spLocks noGrp="1"/>
          </p:cNvSpPr>
          <p:nvPr>
            <p:ph type="title"/>
          </p:nvPr>
        </p:nvSpPr>
        <p:spPr>
          <a:xfrm>
            <a:off x="38100" y="197879"/>
            <a:ext cx="9105900" cy="1066800"/>
          </a:xfrm>
        </p:spPr>
        <p:txBody>
          <a:bodyPr/>
          <a:lstStyle/>
          <a:p>
            <a:r>
              <a:rPr lang="en-US" altLang="zh-CN" dirty="0">
                <a:ea typeface="ＭＳ Ｐゴシック" charset="-128"/>
              </a:rPr>
              <a:t>Recall: </a:t>
            </a:r>
            <a:r>
              <a:rPr lang="en-US" altLang="en-US" dirty="0">
                <a:ea typeface="ＭＳ Ｐゴシック" charset="-128"/>
              </a:rPr>
              <a:t>Hardware Arch. for Cache Coherence </a:t>
            </a:r>
          </a:p>
        </p:txBody>
      </p:sp>
      <p:sp>
        <p:nvSpPr>
          <p:cNvPr id="93186" name="Content Placeholder 2"/>
          <p:cNvSpPr>
            <a:spLocks noGrp="1"/>
          </p:cNvSpPr>
          <p:nvPr>
            <p:ph idx="1"/>
          </p:nvPr>
        </p:nvSpPr>
        <p:spPr>
          <a:xfrm>
            <a:off x="-67468" y="960144"/>
            <a:ext cx="8839200" cy="1300200"/>
          </a:xfrm>
        </p:spPr>
        <p:txBody>
          <a:bodyPr/>
          <a:lstStyle/>
          <a:p>
            <a:r>
              <a:rPr lang="en-US" altLang="en-US" b="1" dirty="0">
                <a:ea typeface="ＭＳ Ｐゴシック" charset="-128"/>
              </a:rPr>
              <a:t>Hardware architecture for Cache Coherence</a:t>
            </a:r>
            <a:r>
              <a:rPr lang="en-US" altLang="en-US" dirty="0">
                <a:ea typeface="ＭＳ Ｐゴシック" charset="-128"/>
              </a:rPr>
              <a:t>: </a:t>
            </a:r>
          </a:p>
          <a:p>
            <a:pPr lvl="1"/>
            <a:r>
              <a:rPr lang="en-US" altLang="en-US" dirty="0">
                <a:ea typeface="ＭＳ Ｐゴシック" charset="-128"/>
              </a:rPr>
              <a:t>Cores, caches, interconnect, memory work together to achieve cache coherence from core’s point of view. </a:t>
            </a:r>
          </a:p>
          <a:p>
            <a:pPr lvl="2"/>
            <a:r>
              <a:rPr lang="en-US" altLang="en-US" dirty="0">
                <a:solidFill>
                  <a:srgbClr val="0000FF"/>
                </a:solidFill>
                <a:ea typeface="ＭＳ Ｐゴシック" charset="-128"/>
              </a:rPr>
              <a:t>Cache Tags</a:t>
            </a:r>
            <a:r>
              <a:rPr lang="en-US" altLang="en-US" dirty="0">
                <a:ea typeface="ＭＳ Ｐゴシック" charset="-128"/>
              </a:rPr>
              <a:t>: MESI (</a:t>
            </a:r>
            <a:r>
              <a:rPr lang="en-US" altLang="en-US" b="1" dirty="0">
                <a:solidFill>
                  <a:schemeClr val="accent2"/>
                </a:solidFill>
                <a:latin typeface="Arial Narrow" panose="020B0606020202030204" pitchFamily="34" charset="0"/>
              </a:rPr>
              <a:t>CPU action </a:t>
            </a:r>
            <a:r>
              <a:rPr lang="en-US" altLang="en-US" b="1" dirty="0">
                <a:solidFill>
                  <a:srgbClr val="002060"/>
                </a:solidFill>
                <a:latin typeface="Arial Narrow" panose="020B0606020202030204" pitchFamily="34" charset="0"/>
                <a:sym typeface="Wingdings" panose="05000000000000000000" pitchFamily="2" charset="2"/>
              </a:rPr>
              <a:t> </a:t>
            </a:r>
            <a:r>
              <a:rPr lang="en-US" altLang="en-US" b="1" dirty="0">
                <a:solidFill>
                  <a:srgbClr val="92D050"/>
                </a:solidFill>
                <a:latin typeface="Arial Narrow" panose="020B0606020202030204" pitchFamily="34" charset="0"/>
              </a:rPr>
              <a:t>Bus action</a:t>
            </a:r>
            <a:r>
              <a:rPr lang="en-US" altLang="en-US" b="1" dirty="0">
                <a:solidFill>
                  <a:srgbClr val="002060"/>
                </a:solidFill>
                <a:latin typeface="Arial Narrow" panose="020B0606020202030204" pitchFamily="34" charset="0"/>
              </a:rPr>
              <a:t>, Tags</a:t>
            </a:r>
            <a:r>
              <a:rPr lang="en-US" altLang="en-US" dirty="0">
                <a:ea typeface="ＭＳ Ｐゴシック" charset="-128"/>
              </a:rPr>
              <a:t>)</a:t>
            </a:r>
          </a:p>
          <a:p>
            <a:pPr lvl="2"/>
            <a:r>
              <a:rPr lang="en-US" altLang="en-US" dirty="0">
                <a:solidFill>
                  <a:srgbClr val="0432FF"/>
                </a:solidFill>
                <a:ea typeface="ＭＳ Ｐゴシック" charset="-128"/>
              </a:rPr>
              <a:t>Cache Updating</a:t>
            </a:r>
            <a:r>
              <a:rPr lang="en-US" altLang="en-US" dirty="0">
                <a:ea typeface="ＭＳ Ｐゴシック" charset="-128"/>
              </a:rPr>
              <a:t>: </a:t>
            </a:r>
            <a:r>
              <a:rPr lang="en-US" altLang="en-US" dirty="0" err="1">
                <a:ea typeface="ＭＳ Ｐゴシック" charset="-128"/>
              </a:rPr>
              <a:t>invl</a:t>
            </a:r>
            <a:r>
              <a:rPr lang="en-US" altLang="en-US" dirty="0">
                <a:ea typeface="ＭＳ Ｐゴシック" charset="-128"/>
              </a:rPr>
              <a:t>./update (</a:t>
            </a:r>
            <a:r>
              <a:rPr lang="en-US" altLang="en-US" b="1" dirty="0">
                <a:solidFill>
                  <a:srgbClr val="92D050"/>
                </a:solidFill>
                <a:latin typeface="Arial Narrow" panose="020B0606020202030204" pitchFamily="34" charset="0"/>
              </a:rPr>
              <a:t>Bus action</a:t>
            </a:r>
            <a:r>
              <a:rPr lang="en-US" altLang="en-US" dirty="0">
                <a:ea typeface="ＭＳ Ｐゴシック" charset="-128"/>
              </a:rPr>
              <a:t>)</a:t>
            </a:r>
          </a:p>
          <a:p>
            <a:pPr lvl="2"/>
            <a:r>
              <a:rPr lang="en-US" altLang="en-US" dirty="0">
                <a:solidFill>
                  <a:srgbClr val="0432FF"/>
                </a:solidFill>
                <a:ea typeface="ＭＳ Ｐゴシック" charset="-128"/>
              </a:rPr>
              <a:t>Interconnect</a:t>
            </a:r>
            <a:r>
              <a:rPr lang="en-US" altLang="en-US" dirty="0">
                <a:ea typeface="ＭＳ Ｐゴシック" charset="-128"/>
              </a:rPr>
              <a:t>: Bus/Switch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9644AEE6-E5FD-4857-82BA-2910192F46B3}"/>
              </a:ext>
            </a:extLst>
          </p:cNvPr>
          <p:cNvGrpSpPr/>
          <p:nvPr/>
        </p:nvGrpSpPr>
        <p:grpSpPr>
          <a:xfrm>
            <a:off x="4165886" y="2819400"/>
            <a:ext cx="5130514" cy="3701950"/>
            <a:chOff x="4165886" y="2819400"/>
            <a:chExt cx="5130514" cy="3701950"/>
          </a:xfrm>
        </p:grpSpPr>
        <p:sp>
          <p:nvSpPr>
            <p:cNvPr id="93192" name="Oval 7"/>
            <p:cNvSpPr>
              <a:spLocks noChangeArrowheads="1"/>
            </p:cNvSpPr>
            <p:nvPr/>
          </p:nvSpPr>
          <p:spPr bwMode="auto">
            <a:xfrm>
              <a:off x="4465917" y="2819400"/>
              <a:ext cx="749300" cy="7493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  <a:cs typeface="+mn-cs"/>
              </a:endParaRPr>
            </a:p>
          </p:txBody>
        </p:sp>
        <p:sp>
          <p:nvSpPr>
            <p:cNvPr id="93194" name="Line 9"/>
            <p:cNvSpPr>
              <a:spLocks noChangeShapeType="1"/>
            </p:cNvSpPr>
            <p:nvPr/>
          </p:nvSpPr>
          <p:spPr bwMode="auto">
            <a:xfrm>
              <a:off x="4858029" y="3575131"/>
              <a:ext cx="0" cy="3111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  <a:cs typeface="+mn-cs"/>
              </a:endParaRPr>
            </a:p>
          </p:txBody>
        </p:sp>
        <p:sp>
          <p:nvSpPr>
            <p:cNvPr id="93195" name="Line 10"/>
            <p:cNvSpPr>
              <a:spLocks noChangeShapeType="1"/>
            </p:cNvSpPr>
            <p:nvPr/>
          </p:nvSpPr>
          <p:spPr bwMode="auto">
            <a:xfrm>
              <a:off x="4858029" y="4565731"/>
              <a:ext cx="0" cy="3683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  <a:cs typeface="+mn-cs"/>
              </a:endParaRPr>
            </a:p>
          </p:txBody>
        </p:sp>
        <p:sp>
          <p:nvSpPr>
            <p:cNvPr id="93196" name="Rectangle 11"/>
            <p:cNvSpPr>
              <a:spLocks noChangeArrowheads="1"/>
            </p:cNvSpPr>
            <p:nvPr/>
          </p:nvSpPr>
          <p:spPr bwMode="auto">
            <a:xfrm>
              <a:off x="4345268" y="5908507"/>
              <a:ext cx="2897184" cy="61284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  <a:cs typeface="+mn-cs"/>
              </a:endParaRPr>
            </a:p>
          </p:txBody>
        </p:sp>
        <p:sp>
          <p:nvSpPr>
            <p:cNvPr id="93198" name="Rectangle 13"/>
            <p:cNvSpPr>
              <a:spLocks noChangeArrowheads="1"/>
            </p:cNvSpPr>
            <p:nvPr/>
          </p:nvSpPr>
          <p:spPr bwMode="auto">
            <a:xfrm>
              <a:off x="4544765" y="2996406"/>
              <a:ext cx="593112" cy="3667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</a:rPr>
                <a:t>Core</a:t>
              </a:r>
            </a:p>
          </p:txBody>
        </p:sp>
        <p:sp>
          <p:nvSpPr>
            <p:cNvPr id="93201" name="AutoShape 16"/>
            <p:cNvSpPr>
              <a:spLocks noChangeArrowheads="1"/>
            </p:cNvSpPr>
            <p:nvPr/>
          </p:nvSpPr>
          <p:spPr bwMode="auto">
            <a:xfrm>
              <a:off x="4260335" y="4946731"/>
              <a:ext cx="3067051" cy="596900"/>
            </a:xfrm>
            <a:prstGeom prst="roundRect">
              <a:avLst>
                <a:gd name="adj" fmla="val 1249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  <a:cs typeface="+mn-cs"/>
              </a:endParaRPr>
            </a:p>
          </p:txBody>
        </p:sp>
        <p:sp>
          <p:nvSpPr>
            <p:cNvPr id="93202" name="Rectangle 17"/>
            <p:cNvSpPr>
              <a:spLocks noChangeArrowheads="1"/>
            </p:cNvSpPr>
            <p:nvPr/>
          </p:nvSpPr>
          <p:spPr bwMode="auto">
            <a:xfrm>
              <a:off x="4407982" y="5069431"/>
              <a:ext cx="2644775" cy="3635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  <a:cs typeface="+mn-cs"/>
                </a:rPr>
                <a:t>Interconnection Network</a:t>
              </a:r>
            </a:p>
          </p:txBody>
        </p:sp>
        <p:sp>
          <p:nvSpPr>
            <p:cNvPr id="93203" name="Line 18"/>
            <p:cNvSpPr>
              <a:spLocks noChangeShapeType="1"/>
            </p:cNvSpPr>
            <p:nvPr/>
          </p:nvSpPr>
          <p:spPr bwMode="auto">
            <a:xfrm>
              <a:off x="5784336" y="5543631"/>
              <a:ext cx="0" cy="3683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  <a:cs typeface="+mn-cs"/>
              </a:endParaRPr>
            </a:p>
          </p:txBody>
        </p:sp>
        <p:sp>
          <p:nvSpPr>
            <p:cNvPr id="93204" name="Rectangle 19"/>
            <p:cNvSpPr>
              <a:spLocks noChangeArrowheads="1"/>
            </p:cNvSpPr>
            <p:nvPr/>
          </p:nvSpPr>
          <p:spPr bwMode="auto">
            <a:xfrm>
              <a:off x="5001698" y="6014375"/>
              <a:ext cx="1565275" cy="3635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  <a:cs typeface="+mn-cs"/>
                </a:rPr>
                <a:t>Main Memory</a:t>
              </a:r>
            </a:p>
          </p:txBody>
        </p:sp>
        <p:sp>
          <p:nvSpPr>
            <p:cNvPr id="2" name="矩形: 圆角 1">
              <a:extLst>
                <a:ext uri="{FF2B5EF4-FFF2-40B4-BE49-F238E27FC236}">
                  <a16:creationId xmlns:a16="http://schemas.microsoft.com/office/drawing/2014/main" id="{197A2E7D-E796-4CB6-932C-CE508379E512}"/>
                </a:ext>
              </a:extLst>
            </p:cNvPr>
            <p:cNvSpPr/>
            <p:nvPr/>
          </p:nvSpPr>
          <p:spPr bwMode="auto">
            <a:xfrm>
              <a:off x="4165886" y="3886281"/>
              <a:ext cx="1371569" cy="679450"/>
            </a:xfrm>
            <a:prstGeom prst="roundRect">
              <a:avLst/>
            </a:prstGeom>
            <a:solidFill>
              <a:srgbClr val="CCEC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28" name="Oval 7">
              <a:extLst>
                <a:ext uri="{FF2B5EF4-FFF2-40B4-BE49-F238E27FC236}">
                  <a16:creationId xmlns:a16="http://schemas.microsoft.com/office/drawing/2014/main" id="{5587B5FA-1721-4FBB-9AFA-8039131DFD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17736" y="2828091"/>
              <a:ext cx="749300" cy="7493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  <a:cs typeface="+mn-cs"/>
              </a:endParaRPr>
            </a:p>
          </p:txBody>
        </p:sp>
        <p:sp>
          <p:nvSpPr>
            <p:cNvPr id="29" name="Line 9">
              <a:extLst>
                <a:ext uri="{FF2B5EF4-FFF2-40B4-BE49-F238E27FC236}">
                  <a16:creationId xmlns:a16="http://schemas.microsoft.com/office/drawing/2014/main" id="{A835B3EC-4E63-4D88-8C33-19534305EB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09848" y="3583822"/>
              <a:ext cx="0" cy="3111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  <a:cs typeface="+mn-cs"/>
              </a:endParaRPr>
            </a:p>
          </p:txBody>
        </p:sp>
        <p:sp>
          <p:nvSpPr>
            <p:cNvPr id="30" name="Line 10">
              <a:extLst>
                <a:ext uri="{FF2B5EF4-FFF2-40B4-BE49-F238E27FC236}">
                  <a16:creationId xmlns:a16="http://schemas.microsoft.com/office/drawing/2014/main" id="{9F801ACD-2793-4362-9D44-A355344348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09848" y="4574422"/>
              <a:ext cx="0" cy="3683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  <a:cs typeface="+mn-cs"/>
              </a:endParaRPr>
            </a:p>
          </p:txBody>
        </p:sp>
        <p:sp>
          <p:nvSpPr>
            <p:cNvPr id="33" name="Rectangle 13">
              <a:extLst>
                <a:ext uri="{FF2B5EF4-FFF2-40B4-BE49-F238E27FC236}">
                  <a16:creationId xmlns:a16="http://schemas.microsoft.com/office/drawing/2014/main" id="{465E82AB-AB8A-480C-B6D1-40C7981D31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78367" y="2996406"/>
              <a:ext cx="593112" cy="3667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</a:rPr>
                <a:t>Core</a:t>
              </a:r>
            </a:p>
          </p:txBody>
        </p: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BA6DEEBE-3B6E-47CA-8AAF-CEBF9F3607D3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810500" y="3663731"/>
              <a:ext cx="1143000" cy="0"/>
            </a:xfrm>
            <a:prstGeom prst="line">
              <a:avLst/>
            </a:prstGeom>
            <a:solidFill>
              <a:srgbClr val="C0C0C0"/>
            </a:solidFill>
            <a:ln w="9525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D4FF6037-5A17-49AD-B816-40D5E35AE04E}"/>
                </a:ext>
              </a:extLst>
            </p:cNvPr>
            <p:cNvSpPr/>
            <p:nvPr/>
          </p:nvSpPr>
          <p:spPr>
            <a:xfrm>
              <a:off x="7886700" y="2996406"/>
              <a:ext cx="760144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en-US" sz="2400" b="1" dirty="0">
                  <a:solidFill>
                    <a:srgbClr val="000000"/>
                  </a:solidFill>
                  <a:latin typeface="Arial Narrow" panose="020B0606020202030204" pitchFamily="34" charset="0"/>
                </a:rPr>
                <a:t>Core</a:t>
              </a:r>
              <a:endParaRPr lang="zh-CN" altLang="en-US" sz="2400" b="1" dirty="0"/>
            </a:p>
          </p:txBody>
        </p: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F57ECB00-3EDC-4BD8-8541-6C0E9D897200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7810500" y="4705131"/>
              <a:ext cx="1143000" cy="8691"/>
            </a:xfrm>
            <a:prstGeom prst="line">
              <a:avLst/>
            </a:prstGeom>
            <a:solidFill>
              <a:srgbClr val="C0C0C0"/>
            </a:solidFill>
            <a:ln w="9525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F05DCBA6-BBD4-4173-8D87-28484B537C09}"/>
                </a:ext>
              </a:extLst>
            </p:cNvPr>
            <p:cNvSpPr/>
            <p:nvPr/>
          </p:nvSpPr>
          <p:spPr>
            <a:xfrm>
              <a:off x="7823995" y="3968531"/>
              <a:ext cx="1066799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en-US" sz="2400" b="1" dirty="0">
                  <a:solidFill>
                    <a:srgbClr val="000000"/>
                  </a:solidFill>
                  <a:latin typeface="Arial Narrow" panose="020B0606020202030204" pitchFamily="34" charset="0"/>
                </a:rPr>
                <a:t>Cache</a:t>
              </a:r>
              <a:endParaRPr lang="zh-CN" altLang="en-US" sz="2400" dirty="0"/>
            </a:p>
          </p:txBody>
        </p: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01FEF2FC-3FDA-4640-BDC9-A42EFF96FBB1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810500" y="5721131"/>
              <a:ext cx="1080294" cy="0"/>
            </a:xfrm>
            <a:prstGeom prst="line">
              <a:avLst/>
            </a:prstGeom>
            <a:solidFill>
              <a:srgbClr val="C0C0C0"/>
            </a:solidFill>
            <a:ln w="9525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28E701F9-F5F3-4A8F-B748-96B3267DB09D}"/>
                </a:ext>
              </a:extLst>
            </p:cNvPr>
            <p:cNvSpPr/>
            <p:nvPr/>
          </p:nvSpPr>
          <p:spPr>
            <a:xfrm>
              <a:off x="7467599" y="4949610"/>
              <a:ext cx="1828801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en-US" sz="2400" b="1" dirty="0">
                  <a:solidFill>
                    <a:srgbClr val="000000"/>
                  </a:solidFill>
                  <a:latin typeface="Arial Narrow" panose="020B0606020202030204" pitchFamily="34" charset="0"/>
                </a:rPr>
                <a:t>Interconnect</a:t>
              </a:r>
              <a:endParaRPr lang="zh-CN" altLang="en-US" sz="2400" dirty="0"/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6960A665-F97D-4ECA-A468-87A02EA7003F}"/>
                </a:ext>
              </a:extLst>
            </p:cNvPr>
            <p:cNvSpPr/>
            <p:nvPr/>
          </p:nvSpPr>
          <p:spPr>
            <a:xfrm>
              <a:off x="7729516" y="5992634"/>
              <a:ext cx="156210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en-US" sz="2400" b="1" dirty="0">
                  <a:solidFill>
                    <a:srgbClr val="000000"/>
                  </a:solidFill>
                  <a:latin typeface="Arial Narrow" panose="020B0606020202030204" pitchFamily="34" charset="0"/>
                </a:rPr>
                <a:t>Memory</a:t>
              </a:r>
              <a:endParaRPr lang="zh-CN" altLang="en-US" sz="2400" dirty="0"/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86E5F786-BF93-42D3-BC7E-18B214997FFB}"/>
                </a:ext>
              </a:extLst>
            </p:cNvPr>
            <p:cNvSpPr/>
            <p:nvPr/>
          </p:nvSpPr>
          <p:spPr>
            <a:xfrm>
              <a:off x="4793737" y="3564106"/>
              <a:ext cx="1066799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en-US" sz="1400" b="1" dirty="0">
                  <a:solidFill>
                    <a:schemeClr val="accent2"/>
                  </a:solidFill>
                  <a:latin typeface="Arial Narrow" panose="020B0606020202030204" pitchFamily="34" charset="0"/>
                </a:rPr>
                <a:t>CPU action</a:t>
              </a:r>
              <a:endParaRPr lang="zh-CN" altLang="en-US" sz="1400" dirty="0">
                <a:solidFill>
                  <a:schemeClr val="accent2"/>
                </a:solidFill>
              </a:endParaRPr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8DF4378D-F25F-4ABC-A0F4-8BC9C8A6B640}"/>
                </a:ext>
              </a:extLst>
            </p:cNvPr>
            <p:cNvSpPr/>
            <p:nvPr/>
          </p:nvSpPr>
          <p:spPr>
            <a:xfrm>
              <a:off x="4793737" y="4615157"/>
              <a:ext cx="1066799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en-US" sz="1400" b="1" dirty="0">
                  <a:solidFill>
                    <a:srgbClr val="92D050"/>
                  </a:solidFill>
                  <a:latin typeface="Arial Narrow" panose="020B0606020202030204" pitchFamily="34" charset="0"/>
                </a:rPr>
                <a:t>Bus action</a:t>
              </a:r>
              <a:endParaRPr lang="zh-CN" altLang="en-US" sz="1400" dirty="0">
                <a:solidFill>
                  <a:srgbClr val="92D050"/>
                </a:solidFill>
              </a:endParaRPr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72E9687B-3708-4E36-B549-3F0FF11FC43F}"/>
                </a:ext>
              </a:extLst>
            </p:cNvPr>
            <p:cNvSpPr/>
            <p:nvPr/>
          </p:nvSpPr>
          <p:spPr>
            <a:xfrm>
              <a:off x="6666379" y="3582293"/>
              <a:ext cx="1066799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en-US" sz="1400" b="1" dirty="0">
                  <a:solidFill>
                    <a:schemeClr val="accent2"/>
                  </a:solidFill>
                  <a:latin typeface="Arial Narrow" panose="020B0606020202030204" pitchFamily="34" charset="0"/>
                </a:rPr>
                <a:t>CPU action</a:t>
              </a:r>
              <a:endParaRPr lang="zh-CN" altLang="en-US" sz="1400" dirty="0">
                <a:solidFill>
                  <a:schemeClr val="accent2"/>
                </a:solidFill>
              </a:endParaRPr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36C32580-47BC-4B1E-8569-30824D536957}"/>
                </a:ext>
              </a:extLst>
            </p:cNvPr>
            <p:cNvSpPr/>
            <p:nvPr/>
          </p:nvSpPr>
          <p:spPr>
            <a:xfrm>
              <a:off x="6666380" y="4615157"/>
              <a:ext cx="1066799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en-US" sz="1400" b="1" dirty="0">
                  <a:solidFill>
                    <a:srgbClr val="92D050"/>
                  </a:solidFill>
                  <a:latin typeface="Arial Narrow" panose="020B0606020202030204" pitchFamily="34" charset="0"/>
                </a:rPr>
                <a:t>Bus action</a:t>
              </a:r>
              <a:endParaRPr lang="zh-CN" altLang="en-US" sz="1400" dirty="0">
                <a:solidFill>
                  <a:srgbClr val="92D050"/>
                </a:solidFill>
              </a:endParaRPr>
            </a:p>
          </p:txBody>
        </p: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F75686F7-F811-483D-B9DE-9C1320341277}"/>
                </a:ext>
              </a:extLst>
            </p:cNvPr>
            <p:cNvSpPr/>
            <p:nvPr/>
          </p:nvSpPr>
          <p:spPr>
            <a:xfrm>
              <a:off x="4210333" y="3971401"/>
              <a:ext cx="673100" cy="523220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altLang="en-US" sz="1400" dirty="0">
                  <a:solidFill>
                    <a:srgbClr val="000000"/>
                  </a:solidFill>
                  <a:latin typeface="Arial Narrow" panose="020B0606020202030204" pitchFamily="34" charset="0"/>
                </a:rPr>
                <a:t>Cache blocks</a:t>
              </a:r>
              <a:endParaRPr lang="zh-CN" altLang="en-US" sz="1400" dirty="0"/>
            </a:p>
          </p:txBody>
        </p: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49683AD4-BE72-4F90-9161-EAC548022989}"/>
                </a:ext>
              </a:extLst>
            </p:cNvPr>
            <p:cNvSpPr/>
            <p:nvPr/>
          </p:nvSpPr>
          <p:spPr>
            <a:xfrm>
              <a:off x="4927880" y="4072117"/>
              <a:ext cx="533400" cy="307777"/>
            </a:xfrm>
            <a:prstGeom prst="rect">
              <a:avLst/>
            </a:prstGeom>
            <a:ln w="15875" cmpd="sng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altLang="en-US" sz="1400" dirty="0">
                  <a:solidFill>
                    <a:srgbClr val="000000"/>
                  </a:solidFill>
                  <a:latin typeface="Arial Narrow" panose="020B0606020202030204" pitchFamily="34" charset="0"/>
                </a:rPr>
                <a:t>Tags</a:t>
              </a:r>
              <a:endParaRPr lang="zh-CN" altLang="en-US" sz="1400" dirty="0"/>
            </a:p>
          </p:txBody>
        </p:sp>
        <p:sp>
          <p:nvSpPr>
            <p:cNvPr id="42" name="矩形: 圆角 41">
              <a:extLst>
                <a:ext uri="{FF2B5EF4-FFF2-40B4-BE49-F238E27FC236}">
                  <a16:creationId xmlns:a16="http://schemas.microsoft.com/office/drawing/2014/main" id="{F22D4DD0-1D4B-44F4-9DE4-30661D8B8BD3}"/>
                </a:ext>
              </a:extLst>
            </p:cNvPr>
            <p:cNvSpPr/>
            <p:nvPr/>
          </p:nvSpPr>
          <p:spPr bwMode="auto">
            <a:xfrm>
              <a:off x="6024063" y="3902770"/>
              <a:ext cx="1371569" cy="679450"/>
            </a:xfrm>
            <a:prstGeom prst="roundRect">
              <a:avLst/>
            </a:prstGeom>
            <a:solidFill>
              <a:srgbClr val="CCEC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422FB93B-4539-465E-92DB-F6D383E0CF36}"/>
                </a:ext>
              </a:extLst>
            </p:cNvPr>
            <p:cNvSpPr/>
            <p:nvPr/>
          </p:nvSpPr>
          <p:spPr>
            <a:xfrm>
              <a:off x="6068510" y="3987890"/>
              <a:ext cx="673100" cy="523220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altLang="en-US" sz="1400" dirty="0">
                  <a:solidFill>
                    <a:srgbClr val="000000"/>
                  </a:solidFill>
                  <a:latin typeface="Arial Narrow" panose="020B0606020202030204" pitchFamily="34" charset="0"/>
                </a:rPr>
                <a:t>Cache blocks</a:t>
              </a:r>
              <a:endParaRPr lang="zh-CN" altLang="en-US" sz="1400" dirty="0"/>
            </a:p>
          </p:txBody>
        </p:sp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1BF1E2DE-29F6-4756-9AB1-CCF2C648E72D}"/>
                </a:ext>
              </a:extLst>
            </p:cNvPr>
            <p:cNvSpPr/>
            <p:nvPr/>
          </p:nvSpPr>
          <p:spPr>
            <a:xfrm>
              <a:off x="6786057" y="4088606"/>
              <a:ext cx="533400" cy="307777"/>
            </a:xfrm>
            <a:prstGeom prst="rect">
              <a:avLst/>
            </a:prstGeom>
            <a:ln w="15875" cmpd="sng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altLang="en-US" sz="1400" dirty="0">
                  <a:solidFill>
                    <a:srgbClr val="000000"/>
                  </a:solidFill>
                  <a:latin typeface="Arial Narrow" panose="020B0606020202030204" pitchFamily="34" charset="0"/>
                </a:rPr>
                <a:t>Tags</a:t>
              </a:r>
              <a:endParaRPr lang="zh-CN" altLang="en-US" sz="1400" dirty="0"/>
            </a:p>
          </p:txBody>
        </p:sp>
      </p:grpSp>
      <p:sp>
        <p:nvSpPr>
          <p:cNvPr id="13" name="矩形 12">
            <a:extLst>
              <a:ext uri="{FF2B5EF4-FFF2-40B4-BE49-F238E27FC236}">
                <a16:creationId xmlns:a16="http://schemas.microsoft.com/office/drawing/2014/main" id="{5EDAB7B2-7E79-4F81-8122-F7494A07F825}"/>
              </a:ext>
            </a:extLst>
          </p:cNvPr>
          <p:cNvSpPr/>
          <p:nvPr/>
        </p:nvSpPr>
        <p:spPr>
          <a:xfrm>
            <a:off x="767082" y="5023094"/>
            <a:ext cx="188203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ea typeface="ＭＳ Ｐゴシック" charset="-128"/>
              </a:rPr>
              <a:t>R</a:t>
            </a:r>
            <a:r>
              <a:rPr lang="en-US" altLang="zh-CN" dirty="0">
                <a:ea typeface="ＭＳ Ｐゴシック" charset="-128"/>
              </a:rPr>
              <a:t>: read</a:t>
            </a:r>
          </a:p>
          <a:p>
            <a:r>
              <a:rPr lang="en-US" altLang="zh-CN" b="1" dirty="0">
                <a:ea typeface="ＭＳ Ｐゴシック" charset="-128"/>
              </a:rPr>
              <a:t>W</a:t>
            </a:r>
            <a:r>
              <a:rPr lang="en-US" altLang="zh-CN" dirty="0">
                <a:ea typeface="ＭＳ Ｐゴシック" charset="-128"/>
              </a:rPr>
              <a:t>:write</a:t>
            </a:r>
          </a:p>
          <a:p>
            <a:r>
              <a:rPr lang="en-US" altLang="zh-CN" b="1" dirty="0">
                <a:ea typeface="ＭＳ Ｐゴシック" charset="-128"/>
              </a:rPr>
              <a:t>I</a:t>
            </a:r>
            <a:r>
              <a:rPr lang="en-US" altLang="zh-CN" dirty="0">
                <a:ea typeface="ＭＳ Ｐゴシック" charset="-128"/>
              </a:rPr>
              <a:t>: invalidate</a:t>
            </a:r>
          </a:p>
          <a:p>
            <a:r>
              <a:rPr lang="en-US" altLang="zh-CN" b="1" dirty="0">
                <a:ea typeface="ＭＳ Ｐゴシック" charset="-128"/>
              </a:rPr>
              <a:t>U</a:t>
            </a:r>
            <a:r>
              <a:rPr lang="en-US" altLang="zh-CN" dirty="0">
                <a:ea typeface="ＭＳ Ｐゴシック" charset="-128"/>
              </a:rPr>
              <a:t>: update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56172885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Title 1"/>
          <p:cNvSpPr>
            <a:spLocks noGrp="1"/>
          </p:cNvSpPr>
          <p:nvPr>
            <p:ph type="title"/>
          </p:nvPr>
        </p:nvSpPr>
        <p:spPr>
          <a:xfrm>
            <a:off x="38100" y="197879"/>
            <a:ext cx="9067800" cy="1066800"/>
          </a:xfrm>
        </p:spPr>
        <p:txBody>
          <a:bodyPr/>
          <a:lstStyle/>
          <a:p>
            <a:r>
              <a:rPr lang="en-US" altLang="en-US" dirty="0">
                <a:ea typeface="ＭＳ Ｐゴシック" charset="-128"/>
              </a:rPr>
              <a:t>Recall: Cache Coherence: Cache Tags</a:t>
            </a:r>
          </a:p>
        </p:txBody>
      </p:sp>
      <p:sp>
        <p:nvSpPr>
          <p:cNvPr id="93186" name="Content Placeholder 2"/>
          <p:cNvSpPr>
            <a:spLocks noGrp="1"/>
          </p:cNvSpPr>
          <p:nvPr>
            <p:ph idx="1"/>
          </p:nvPr>
        </p:nvSpPr>
        <p:spPr>
          <a:xfrm>
            <a:off x="-67468" y="960144"/>
            <a:ext cx="8839200" cy="1300200"/>
          </a:xfrm>
        </p:spPr>
        <p:txBody>
          <a:bodyPr/>
          <a:lstStyle/>
          <a:p>
            <a:r>
              <a:rPr lang="en-US" altLang="en-US" b="1" dirty="0">
                <a:ea typeface="ＭＳ Ｐゴシック" charset="-128"/>
              </a:rPr>
              <a:t>Hardware architecture for Cache Coherence</a:t>
            </a:r>
            <a:r>
              <a:rPr lang="en-US" altLang="en-US" dirty="0">
                <a:ea typeface="ＭＳ Ｐゴシック" charset="-128"/>
              </a:rPr>
              <a:t>: </a:t>
            </a:r>
          </a:p>
          <a:p>
            <a:pPr lvl="1"/>
            <a:r>
              <a:rPr lang="en-US" altLang="en-US" dirty="0">
                <a:ea typeface="ＭＳ Ｐゴシック" charset="-128"/>
              </a:rPr>
              <a:t>Cores, caches, interconnect, memory work together to achieve cache coherence from core’s point of view. </a:t>
            </a:r>
          </a:p>
          <a:p>
            <a:pPr lvl="2"/>
            <a:r>
              <a:rPr lang="en-US" altLang="en-US" dirty="0">
                <a:solidFill>
                  <a:srgbClr val="0000FF"/>
                </a:solidFill>
                <a:ea typeface="ＭＳ Ｐゴシック" charset="-128"/>
              </a:rPr>
              <a:t>Cache Tags</a:t>
            </a:r>
            <a:r>
              <a:rPr lang="en-US" altLang="en-US" dirty="0">
                <a:ea typeface="ＭＳ Ｐゴシック" charset="-128"/>
              </a:rPr>
              <a:t>: MESI (</a:t>
            </a:r>
            <a:r>
              <a:rPr lang="en-US" altLang="en-US" b="1" dirty="0">
                <a:solidFill>
                  <a:schemeClr val="accent2"/>
                </a:solidFill>
                <a:latin typeface="Arial Narrow" panose="020B0606020202030204" pitchFamily="34" charset="0"/>
              </a:rPr>
              <a:t>CPU action </a:t>
            </a:r>
            <a:r>
              <a:rPr lang="en-US" altLang="en-US" b="1" dirty="0">
                <a:solidFill>
                  <a:srgbClr val="002060"/>
                </a:solidFill>
                <a:latin typeface="Arial Narrow" panose="020B0606020202030204" pitchFamily="34" charset="0"/>
                <a:sym typeface="Wingdings" panose="05000000000000000000" pitchFamily="2" charset="2"/>
              </a:rPr>
              <a:t> </a:t>
            </a:r>
            <a:r>
              <a:rPr lang="en-US" altLang="en-US" b="1" dirty="0">
                <a:solidFill>
                  <a:srgbClr val="92D050"/>
                </a:solidFill>
                <a:latin typeface="Arial Narrow" panose="020B0606020202030204" pitchFamily="34" charset="0"/>
              </a:rPr>
              <a:t>Bus action</a:t>
            </a:r>
            <a:r>
              <a:rPr lang="en-US" altLang="en-US" b="1" dirty="0">
                <a:solidFill>
                  <a:srgbClr val="002060"/>
                </a:solidFill>
                <a:latin typeface="Arial Narrow" panose="020B0606020202030204" pitchFamily="34" charset="0"/>
              </a:rPr>
              <a:t>, Tags</a:t>
            </a:r>
            <a:r>
              <a:rPr lang="en-US" altLang="en-US" dirty="0">
                <a:ea typeface="ＭＳ Ｐゴシック" charset="-128"/>
              </a:rPr>
              <a:t>)</a:t>
            </a:r>
          </a:p>
          <a:p>
            <a:pPr lvl="2"/>
            <a:r>
              <a:rPr lang="en-US" altLang="en-US" dirty="0">
                <a:solidFill>
                  <a:srgbClr val="0432FF"/>
                </a:solidFill>
                <a:ea typeface="ＭＳ Ｐゴシック" charset="-128"/>
              </a:rPr>
              <a:t>Cache Updating</a:t>
            </a:r>
            <a:r>
              <a:rPr lang="en-US" altLang="en-US" dirty="0">
                <a:ea typeface="ＭＳ Ｐゴシック" charset="-128"/>
              </a:rPr>
              <a:t>: </a:t>
            </a:r>
            <a:r>
              <a:rPr lang="en-US" altLang="en-US" dirty="0" err="1">
                <a:ea typeface="ＭＳ Ｐゴシック" charset="-128"/>
              </a:rPr>
              <a:t>invl</a:t>
            </a:r>
            <a:r>
              <a:rPr lang="en-US" altLang="en-US" dirty="0">
                <a:ea typeface="ＭＳ Ｐゴシック" charset="-128"/>
              </a:rPr>
              <a:t>./update (</a:t>
            </a:r>
            <a:r>
              <a:rPr lang="en-US" altLang="en-US" b="1" dirty="0">
                <a:solidFill>
                  <a:srgbClr val="92D050"/>
                </a:solidFill>
                <a:latin typeface="Arial Narrow" panose="020B0606020202030204" pitchFamily="34" charset="0"/>
              </a:rPr>
              <a:t>Bus action</a:t>
            </a:r>
            <a:r>
              <a:rPr lang="en-US" altLang="en-US" dirty="0">
                <a:ea typeface="ＭＳ Ｐゴシック" charset="-128"/>
              </a:rPr>
              <a:t>)</a:t>
            </a:r>
          </a:p>
          <a:p>
            <a:pPr lvl="2"/>
            <a:r>
              <a:rPr lang="en-US" altLang="en-US" dirty="0">
                <a:solidFill>
                  <a:srgbClr val="0432FF"/>
                </a:solidFill>
                <a:ea typeface="ＭＳ Ｐゴシック" charset="-128"/>
              </a:rPr>
              <a:t>Interconnect</a:t>
            </a:r>
            <a:r>
              <a:rPr lang="en-US" altLang="en-US" dirty="0">
                <a:ea typeface="ＭＳ Ｐゴシック" charset="-128"/>
              </a:rPr>
              <a:t>: Bus/Switch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9644AEE6-E5FD-4857-82BA-2910192F46B3}"/>
              </a:ext>
            </a:extLst>
          </p:cNvPr>
          <p:cNvGrpSpPr/>
          <p:nvPr/>
        </p:nvGrpSpPr>
        <p:grpSpPr>
          <a:xfrm>
            <a:off x="4165886" y="2819400"/>
            <a:ext cx="5130514" cy="3701950"/>
            <a:chOff x="4165886" y="2819400"/>
            <a:chExt cx="5130514" cy="3701950"/>
          </a:xfrm>
        </p:grpSpPr>
        <p:sp>
          <p:nvSpPr>
            <p:cNvPr id="93192" name="Oval 7"/>
            <p:cNvSpPr>
              <a:spLocks noChangeArrowheads="1"/>
            </p:cNvSpPr>
            <p:nvPr/>
          </p:nvSpPr>
          <p:spPr bwMode="auto">
            <a:xfrm>
              <a:off x="4465917" y="2819400"/>
              <a:ext cx="749300" cy="7493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  <a:cs typeface="+mn-cs"/>
              </a:endParaRPr>
            </a:p>
          </p:txBody>
        </p:sp>
        <p:sp>
          <p:nvSpPr>
            <p:cNvPr id="93194" name="Line 9"/>
            <p:cNvSpPr>
              <a:spLocks noChangeShapeType="1"/>
            </p:cNvSpPr>
            <p:nvPr/>
          </p:nvSpPr>
          <p:spPr bwMode="auto">
            <a:xfrm>
              <a:off x="4858029" y="3575131"/>
              <a:ext cx="0" cy="3111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  <a:cs typeface="+mn-cs"/>
              </a:endParaRPr>
            </a:p>
          </p:txBody>
        </p:sp>
        <p:sp>
          <p:nvSpPr>
            <p:cNvPr id="93195" name="Line 10"/>
            <p:cNvSpPr>
              <a:spLocks noChangeShapeType="1"/>
            </p:cNvSpPr>
            <p:nvPr/>
          </p:nvSpPr>
          <p:spPr bwMode="auto">
            <a:xfrm>
              <a:off x="4858029" y="4565731"/>
              <a:ext cx="0" cy="3683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  <a:cs typeface="+mn-cs"/>
              </a:endParaRPr>
            </a:p>
          </p:txBody>
        </p:sp>
        <p:sp>
          <p:nvSpPr>
            <p:cNvPr id="93196" name="Rectangle 11"/>
            <p:cNvSpPr>
              <a:spLocks noChangeArrowheads="1"/>
            </p:cNvSpPr>
            <p:nvPr/>
          </p:nvSpPr>
          <p:spPr bwMode="auto">
            <a:xfrm>
              <a:off x="4345268" y="5908507"/>
              <a:ext cx="2897184" cy="61284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  <a:cs typeface="+mn-cs"/>
              </a:endParaRPr>
            </a:p>
          </p:txBody>
        </p:sp>
        <p:sp>
          <p:nvSpPr>
            <p:cNvPr id="93198" name="Rectangle 13"/>
            <p:cNvSpPr>
              <a:spLocks noChangeArrowheads="1"/>
            </p:cNvSpPr>
            <p:nvPr/>
          </p:nvSpPr>
          <p:spPr bwMode="auto">
            <a:xfrm>
              <a:off x="4544765" y="2996406"/>
              <a:ext cx="593112" cy="3667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</a:rPr>
                <a:t>Core</a:t>
              </a:r>
            </a:p>
          </p:txBody>
        </p:sp>
        <p:sp>
          <p:nvSpPr>
            <p:cNvPr id="93201" name="AutoShape 16"/>
            <p:cNvSpPr>
              <a:spLocks noChangeArrowheads="1"/>
            </p:cNvSpPr>
            <p:nvPr/>
          </p:nvSpPr>
          <p:spPr bwMode="auto">
            <a:xfrm>
              <a:off x="4260335" y="4946731"/>
              <a:ext cx="3067051" cy="596900"/>
            </a:xfrm>
            <a:prstGeom prst="roundRect">
              <a:avLst>
                <a:gd name="adj" fmla="val 1249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  <a:cs typeface="+mn-cs"/>
              </a:endParaRPr>
            </a:p>
          </p:txBody>
        </p:sp>
        <p:sp>
          <p:nvSpPr>
            <p:cNvPr id="93202" name="Rectangle 17"/>
            <p:cNvSpPr>
              <a:spLocks noChangeArrowheads="1"/>
            </p:cNvSpPr>
            <p:nvPr/>
          </p:nvSpPr>
          <p:spPr bwMode="auto">
            <a:xfrm>
              <a:off x="4407982" y="5069431"/>
              <a:ext cx="2644775" cy="3635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  <a:cs typeface="+mn-cs"/>
                </a:rPr>
                <a:t>Interconnection Network</a:t>
              </a:r>
            </a:p>
          </p:txBody>
        </p:sp>
        <p:sp>
          <p:nvSpPr>
            <p:cNvPr id="93203" name="Line 18"/>
            <p:cNvSpPr>
              <a:spLocks noChangeShapeType="1"/>
            </p:cNvSpPr>
            <p:nvPr/>
          </p:nvSpPr>
          <p:spPr bwMode="auto">
            <a:xfrm>
              <a:off x="5784336" y="5543631"/>
              <a:ext cx="0" cy="3683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  <a:cs typeface="+mn-cs"/>
              </a:endParaRPr>
            </a:p>
          </p:txBody>
        </p:sp>
        <p:sp>
          <p:nvSpPr>
            <p:cNvPr id="93204" name="Rectangle 19"/>
            <p:cNvSpPr>
              <a:spLocks noChangeArrowheads="1"/>
            </p:cNvSpPr>
            <p:nvPr/>
          </p:nvSpPr>
          <p:spPr bwMode="auto">
            <a:xfrm>
              <a:off x="5001698" y="6014375"/>
              <a:ext cx="1565275" cy="3635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-128"/>
                  <a:cs typeface="+mn-cs"/>
                </a:rPr>
                <a:t>Main Memory</a:t>
              </a:r>
            </a:p>
          </p:txBody>
        </p:sp>
        <p:sp>
          <p:nvSpPr>
            <p:cNvPr id="2" name="矩形: 圆角 1">
              <a:extLst>
                <a:ext uri="{FF2B5EF4-FFF2-40B4-BE49-F238E27FC236}">
                  <a16:creationId xmlns:a16="http://schemas.microsoft.com/office/drawing/2014/main" id="{197A2E7D-E796-4CB6-932C-CE508379E512}"/>
                </a:ext>
              </a:extLst>
            </p:cNvPr>
            <p:cNvSpPr/>
            <p:nvPr/>
          </p:nvSpPr>
          <p:spPr bwMode="auto">
            <a:xfrm>
              <a:off x="4165886" y="3886281"/>
              <a:ext cx="1371569" cy="679450"/>
            </a:xfrm>
            <a:prstGeom prst="roundRect">
              <a:avLst/>
            </a:prstGeom>
            <a:solidFill>
              <a:srgbClr val="CCEC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28" name="Oval 7">
              <a:extLst>
                <a:ext uri="{FF2B5EF4-FFF2-40B4-BE49-F238E27FC236}">
                  <a16:creationId xmlns:a16="http://schemas.microsoft.com/office/drawing/2014/main" id="{5587B5FA-1721-4FBB-9AFA-8039131DFD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17736" y="2828091"/>
              <a:ext cx="749300" cy="7493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  <a:cs typeface="+mn-cs"/>
              </a:endParaRPr>
            </a:p>
          </p:txBody>
        </p:sp>
        <p:sp>
          <p:nvSpPr>
            <p:cNvPr id="29" name="Line 9">
              <a:extLst>
                <a:ext uri="{FF2B5EF4-FFF2-40B4-BE49-F238E27FC236}">
                  <a16:creationId xmlns:a16="http://schemas.microsoft.com/office/drawing/2014/main" id="{A835B3EC-4E63-4D88-8C33-19534305EB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09848" y="3583822"/>
              <a:ext cx="0" cy="3111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  <a:cs typeface="+mn-cs"/>
              </a:endParaRPr>
            </a:p>
          </p:txBody>
        </p:sp>
        <p:sp>
          <p:nvSpPr>
            <p:cNvPr id="30" name="Line 10">
              <a:extLst>
                <a:ext uri="{FF2B5EF4-FFF2-40B4-BE49-F238E27FC236}">
                  <a16:creationId xmlns:a16="http://schemas.microsoft.com/office/drawing/2014/main" id="{9F801ACD-2793-4362-9D44-A355344348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09848" y="4574422"/>
              <a:ext cx="0" cy="3683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  <a:cs typeface="+mn-cs"/>
              </a:endParaRPr>
            </a:p>
          </p:txBody>
        </p:sp>
        <p:sp>
          <p:nvSpPr>
            <p:cNvPr id="33" name="Rectangle 13">
              <a:extLst>
                <a:ext uri="{FF2B5EF4-FFF2-40B4-BE49-F238E27FC236}">
                  <a16:creationId xmlns:a16="http://schemas.microsoft.com/office/drawing/2014/main" id="{465E82AB-AB8A-480C-B6D1-40C7981D31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78367" y="2996406"/>
              <a:ext cx="593112" cy="3667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</a:rPr>
                <a:t>Core</a:t>
              </a:r>
            </a:p>
          </p:txBody>
        </p: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BA6DEEBE-3B6E-47CA-8AAF-CEBF9F3607D3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810500" y="3663731"/>
              <a:ext cx="1143000" cy="0"/>
            </a:xfrm>
            <a:prstGeom prst="line">
              <a:avLst/>
            </a:prstGeom>
            <a:solidFill>
              <a:srgbClr val="C0C0C0"/>
            </a:solidFill>
            <a:ln w="9525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D4FF6037-5A17-49AD-B816-40D5E35AE04E}"/>
                </a:ext>
              </a:extLst>
            </p:cNvPr>
            <p:cNvSpPr/>
            <p:nvPr/>
          </p:nvSpPr>
          <p:spPr>
            <a:xfrm>
              <a:off x="7886700" y="2996406"/>
              <a:ext cx="760144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en-US" sz="2400" b="1" dirty="0">
                  <a:solidFill>
                    <a:srgbClr val="000000"/>
                  </a:solidFill>
                  <a:latin typeface="Arial Narrow" panose="020B0606020202030204" pitchFamily="34" charset="0"/>
                </a:rPr>
                <a:t>Core</a:t>
              </a:r>
              <a:endParaRPr lang="zh-CN" altLang="en-US" sz="2400" b="1" dirty="0"/>
            </a:p>
          </p:txBody>
        </p: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F57ECB00-3EDC-4BD8-8541-6C0E9D897200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7810500" y="4705131"/>
              <a:ext cx="1143000" cy="8691"/>
            </a:xfrm>
            <a:prstGeom prst="line">
              <a:avLst/>
            </a:prstGeom>
            <a:solidFill>
              <a:srgbClr val="C0C0C0"/>
            </a:solidFill>
            <a:ln w="9525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F05DCBA6-BBD4-4173-8D87-28484B537C09}"/>
                </a:ext>
              </a:extLst>
            </p:cNvPr>
            <p:cNvSpPr/>
            <p:nvPr/>
          </p:nvSpPr>
          <p:spPr>
            <a:xfrm>
              <a:off x="7823995" y="3968531"/>
              <a:ext cx="1066799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en-US" sz="2400" b="1" dirty="0">
                  <a:solidFill>
                    <a:srgbClr val="000000"/>
                  </a:solidFill>
                  <a:latin typeface="Arial Narrow" panose="020B0606020202030204" pitchFamily="34" charset="0"/>
                </a:rPr>
                <a:t>Cache</a:t>
              </a:r>
              <a:endParaRPr lang="zh-CN" altLang="en-US" sz="2400" dirty="0"/>
            </a:p>
          </p:txBody>
        </p: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01FEF2FC-3FDA-4640-BDC9-A42EFF96FBB1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810500" y="5721131"/>
              <a:ext cx="1080294" cy="0"/>
            </a:xfrm>
            <a:prstGeom prst="line">
              <a:avLst/>
            </a:prstGeom>
            <a:solidFill>
              <a:srgbClr val="C0C0C0"/>
            </a:solidFill>
            <a:ln w="9525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28E701F9-F5F3-4A8F-B748-96B3267DB09D}"/>
                </a:ext>
              </a:extLst>
            </p:cNvPr>
            <p:cNvSpPr/>
            <p:nvPr/>
          </p:nvSpPr>
          <p:spPr>
            <a:xfrm>
              <a:off x="7467599" y="4949610"/>
              <a:ext cx="1828801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en-US" sz="2400" b="1" dirty="0">
                  <a:solidFill>
                    <a:srgbClr val="000000"/>
                  </a:solidFill>
                  <a:latin typeface="Arial Narrow" panose="020B0606020202030204" pitchFamily="34" charset="0"/>
                </a:rPr>
                <a:t>Interconnect</a:t>
              </a:r>
              <a:endParaRPr lang="zh-CN" altLang="en-US" sz="2400" dirty="0"/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6960A665-F97D-4ECA-A468-87A02EA7003F}"/>
                </a:ext>
              </a:extLst>
            </p:cNvPr>
            <p:cNvSpPr/>
            <p:nvPr/>
          </p:nvSpPr>
          <p:spPr>
            <a:xfrm>
              <a:off x="7734300" y="6031453"/>
              <a:ext cx="156210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en-US" sz="2400" b="1" dirty="0">
                  <a:solidFill>
                    <a:srgbClr val="000000"/>
                  </a:solidFill>
                  <a:latin typeface="Arial Narrow" panose="020B0606020202030204" pitchFamily="34" charset="0"/>
                </a:rPr>
                <a:t>Memory</a:t>
              </a:r>
              <a:endParaRPr lang="zh-CN" altLang="en-US" sz="2400" dirty="0"/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86E5F786-BF93-42D3-BC7E-18B214997FFB}"/>
                </a:ext>
              </a:extLst>
            </p:cNvPr>
            <p:cNvSpPr/>
            <p:nvPr/>
          </p:nvSpPr>
          <p:spPr>
            <a:xfrm>
              <a:off x="4793737" y="3564106"/>
              <a:ext cx="1066799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en-US" sz="1400" b="1" dirty="0">
                  <a:solidFill>
                    <a:schemeClr val="accent2"/>
                  </a:solidFill>
                  <a:latin typeface="Arial Narrow" panose="020B0606020202030204" pitchFamily="34" charset="0"/>
                </a:rPr>
                <a:t>CPU action</a:t>
              </a:r>
              <a:endParaRPr lang="zh-CN" altLang="en-US" sz="1400" dirty="0">
                <a:solidFill>
                  <a:schemeClr val="accent2"/>
                </a:solidFill>
              </a:endParaRPr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8DF4378D-F25F-4ABC-A0F4-8BC9C8A6B640}"/>
                </a:ext>
              </a:extLst>
            </p:cNvPr>
            <p:cNvSpPr/>
            <p:nvPr/>
          </p:nvSpPr>
          <p:spPr>
            <a:xfrm>
              <a:off x="4793737" y="4615157"/>
              <a:ext cx="1066799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en-US" sz="1400" b="1" dirty="0">
                  <a:solidFill>
                    <a:srgbClr val="92D050"/>
                  </a:solidFill>
                  <a:latin typeface="Arial Narrow" panose="020B0606020202030204" pitchFamily="34" charset="0"/>
                </a:rPr>
                <a:t>Bus action</a:t>
              </a:r>
              <a:endParaRPr lang="zh-CN" altLang="en-US" sz="1400" dirty="0">
                <a:solidFill>
                  <a:srgbClr val="92D050"/>
                </a:solidFill>
              </a:endParaRPr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72E9687B-3708-4E36-B549-3F0FF11FC43F}"/>
                </a:ext>
              </a:extLst>
            </p:cNvPr>
            <p:cNvSpPr/>
            <p:nvPr/>
          </p:nvSpPr>
          <p:spPr>
            <a:xfrm>
              <a:off x="6666379" y="3582293"/>
              <a:ext cx="1066799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en-US" sz="1400" b="1" dirty="0">
                  <a:solidFill>
                    <a:schemeClr val="accent2"/>
                  </a:solidFill>
                  <a:latin typeface="Arial Narrow" panose="020B0606020202030204" pitchFamily="34" charset="0"/>
                </a:rPr>
                <a:t>CPU action</a:t>
              </a:r>
              <a:endParaRPr lang="zh-CN" altLang="en-US" sz="1400" dirty="0">
                <a:solidFill>
                  <a:schemeClr val="accent2"/>
                </a:solidFill>
              </a:endParaRPr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36C32580-47BC-4B1E-8569-30824D536957}"/>
                </a:ext>
              </a:extLst>
            </p:cNvPr>
            <p:cNvSpPr/>
            <p:nvPr/>
          </p:nvSpPr>
          <p:spPr>
            <a:xfrm>
              <a:off x="6666380" y="4615157"/>
              <a:ext cx="1066799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en-US" sz="1400" b="1" dirty="0">
                  <a:solidFill>
                    <a:srgbClr val="92D050"/>
                  </a:solidFill>
                  <a:latin typeface="Arial Narrow" panose="020B0606020202030204" pitchFamily="34" charset="0"/>
                </a:rPr>
                <a:t>Bus action</a:t>
              </a:r>
              <a:endParaRPr lang="zh-CN" altLang="en-US" sz="1400" dirty="0">
                <a:solidFill>
                  <a:srgbClr val="92D050"/>
                </a:solidFill>
              </a:endParaRPr>
            </a:p>
          </p:txBody>
        </p: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F75686F7-F811-483D-B9DE-9C1320341277}"/>
                </a:ext>
              </a:extLst>
            </p:cNvPr>
            <p:cNvSpPr/>
            <p:nvPr/>
          </p:nvSpPr>
          <p:spPr>
            <a:xfrm>
              <a:off x="4210333" y="3971401"/>
              <a:ext cx="673100" cy="523220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altLang="en-US" sz="1400" dirty="0">
                  <a:solidFill>
                    <a:srgbClr val="000000"/>
                  </a:solidFill>
                  <a:latin typeface="Arial Narrow" panose="020B0606020202030204" pitchFamily="34" charset="0"/>
                </a:rPr>
                <a:t>Cache blocks</a:t>
              </a:r>
              <a:endParaRPr lang="zh-CN" altLang="en-US" sz="1400" dirty="0"/>
            </a:p>
          </p:txBody>
        </p: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49683AD4-BE72-4F90-9161-EAC548022989}"/>
                </a:ext>
              </a:extLst>
            </p:cNvPr>
            <p:cNvSpPr/>
            <p:nvPr/>
          </p:nvSpPr>
          <p:spPr>
            <a:xfrm>
              <a:off x="4927880" y="4072117"/>
              <a:ext cx="533400" cy="307777"/>
            </a:xfrm>
            <a:prstGeom prst="rect">
              <a:avLst/>
            </a:prstGeom>
            <a:ln w="15875" cmpd="sng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altLang="en-US" sz="1400" dirty="0">
                  <a:solidFill>
                    <a:srgbClr val="000000"/>
                  </a:solidFill>
                  <a:latin typeface="Arial Narrow" panose="020B0606020202030204" pitchFamily="34" charset="0"/>
                </a:rPr>
                <a:t>Tags</a:t>
              </a:r>
              <a:endParaRPr lang="zh-CN" altLang="en-US" sz="1400" dirty="0"/>
            </a:p>
          </p:txBody>
        </p:sp>
        <p:sp>
          <p:nvSpPr>
            <p:cNvPr id="42" name="矩形: 圆角 41">
              <a:extLst>
                <a:ext uri="{FF2B5EF4-FFF2-40B4-BE49-F238E27FC236}">
                  <a16:creationId xmlns:a16="http://schemas.microsoft.com/office/drawing/2014/main" id="{F22D4DD0-1D4B-44F4-9DE4-30661D8B8BD3}"/>
                </a:ext>
              </a:extLst>
            </p:cNvPr>
            <p:cNvSpPr/>
            <p:nvPr/>
          </p:nvSpPr>
          <p:spPr bwMode="auto">
            <a:xfrm>
              <a:off x="6024063" y="3902770"/>
              <a:ext cx="1371569" cy="679450"/>
            </a:xfrm>
            <a:prstGeom prst="roundRect">
              <a:avLst/>
            </a:prstGeom>
            <a:solidFill>
              <a:srgbClr val="CCEC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422FB93B-4539-465E-92DB-F6D383E0CF36}"/>
                </a:ext>
              </a:extLst>
            </p:cNvPr>
            <p:cNvSpPr/>
            <p:nvPr/>
          </p:nvSpPr>
          <p:spPr>
            <a:xfrm>
              <a:off x="6068510" y="3987890"/>
              <a:ext cx="673100" cy="523220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altLang="en-US" sz="1400" dirty="0">
                  <a:solidFill>
                    <a:srgbClr val="000000"/>
                  </a:solidFill>
                  <a:latin typeface="Arial Narrow" panose="020B0606020202030204" pitchFamily="34" charset="0"/>
                </a:rPr>
                <a:t>Cache blocks</a:t>
              </a:r>
              <a:endParaRPr lang="zh-CN" altLang="en-US" sz="1400" dirty="0"/>
            </a:p>
          </p:txBody>
        </p:sp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1BF1E2DE-29F6-4756-9AB1-CCF2C648E72D}"/>
                </a:ext>
              </a:extLst>
            </p:cNvPr>
            <p:cNvSpPr/>
            <p:nvPr/>
          </p:nvSpPr>
          <p:spPr>
            <a:xfrm>
              <a:off x="6786057" y="4088606"/>
              <a:ext cx="533400" cy="307777"/>
            </a:xfrm>
            <a:prstGeom prst="rect">
              <a:avLst/>
            </a:prstGeom>
            <a:ln w="15875" cmpd="sng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altLang="en-US" sz="1400" dirty="0">
                  <a:solidFill>
                    <a:srgbClr val="000000"/>
                  </a:solidFill>
                  <a:latin typeface="Arial Narrow" panose="020B0606020202030204" pitchFamily="34" charset="0"/>
                </a:rPr>
                <a:t>Tags</a:t>
              </a:r>
              <a:endParaRPr lang="zh-CN" altLang="en-US" sz="1400" dirty="0"/>
            </a:p>
          </p:txBody>
        </p:sp>
      </p:grpSp>
      <p:sp>
        <p:nvSpPr>
          <p:cNvPr id="13" name="矩形 12">
            <a:extLst>
              <a:ext uri="{FF2B5EF4-FFF2-40B4-BE49-F238E27FC236}">
                <a16:creationId xmlns:a16="http://schemas.microsoft.com/office/drawing/2014/main" id="{5EDAB7B2-7E79-4F81-8122-F7494A07F825}"/>
              </a:ext>
            </a:extLst>
          </p:cNvPr>
          <p:cNvSpPr/>
          <p:nvPr/>
        </p:nvSpPr>
        <p:spPr>
          <a:xfrm>
            <a:off x="767082" y="5023094"/>
            <a:ext cx="188203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ea typeface="ＭＳ Ｐゴシック" charset="-128"/>
              </a:rPr>
              <a:t>R</a:t>
            </a:r>
            <a:r>
              <a:rPr lang="en-US" altLang="zh-CN" dirty="0">
                <a:ea typeface="ＭＳ Ｐゴシック" charset="-128"/>
              </a:rPr>
              <a:t>: read</a:t>
            </a:r>
          </a:p>
          <a:p>
            <a:r>
              <a:rPr lang="en-US" altLang="zh-CN" b="1" dirty="0">
                <a:ea typeface="ＭＳ Ｐゴシック" charset="-128"/>
              </a:rPr>
              <a:t>W</a:t>
            </a:r>
            <a:r>
              <a:rPr lang="en-US" altLang="zh-CN" dirty="0">
                <a:ea typeface="ＭＳ Ｐゴシック" charset="-128"/>
              </a:rPr>
              <a:t>:write</a:t>
            </a:r>
          </a:p>
          <a:p>
            <a:r>
              <a:rPr lang="en-US" altLang="zh-CN" b="1" dirty="0">
                <a:ea typeface="ＭＳ Ｐゴシック" charset="-128"/>
              </a:rPr>
              <a:t>I</a:t>
            </a:r>
            <a:r>
              <a:rPr lang="en-US" altLang="zh-CN" dirty="0">
                <a:ea typeface="ＭＳ Ｐゴシック" charset="-128"/>
              </a:rPr>
              <a:t>: invalidate</a:t>
            </a:r>
          </a:p>
          <a:p>
            <a:r>
              <a:rPr lang="en-US" altLang="zh-CN" b="1" dirty="0">
                <a:ea typeface="ＭＳ Ｐゴシック" charset="-128"/>
              </a:rPr>
              <a:t>U</a:t>
            </a:r>
            <a:r>
              <a:rPr lang="en-US" altLang="zh-CN" dirty="0">
                <a:ea typeface="ＭＳ Ｐゴシック" charset="-128"/>
              </a:rPr>
              <a:t>: update</a:t>
            </a:r>
            <a:endParaRPr lang="zh-CN" altLang="en-US" dirty="0"/>
          </a:p>
        </p:txBody>
      </p:sp>
      <p:sp>
        <p:nvSpPr>
          <p:cNvPr id="39" name="Rectangle">
            <a:extLst>
              <a:ext uri="{FF2B5EF4-FFF2-40B4-BE49-F238E27FC236}">
                <a16:creationId xmlns:a16="http://schemas.microsoft.com/office/drawing/2014/main" id="{15838E0D-BCAA-4F55-A415-294E6FEF2C8F}"/>
              </a:ext>
            </a:extLst>
          </p:cNvPr>
          <p:cNvSpPr/>
          <p:nvPr/>
        </p:nvSpPr>
        <p:spPr>
          <a:xfrm>
            <a:off x="4172749" y="4922934"/>
            <a:ext cx="4971251" cy="1557733"/>
          </a:xfrm>
          <a:prstGeom prst="rect">
            <a:avLst/>
          </a:prstGeom>
          <a:solidFill>
            <a:srgbClr val="FFFFFF">
              <a:alpha val="84174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99930692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Title 1"/>
          <p:cNvSpPr>
            <a:spLocks noGrp="1"/>
          </p:cNvSpPr>
          <p:nvPr>
            <p:ph type="title"/>
          </p:nvPr>
        </p:nvSpPr>
        <p:spPr>
          <a:xfrm>
            <a:off x="38100" y="197879"/>
            <a:ext cx="9067800" cy="1066800"/>
          </a:xfrm>
        </p:spPr>
        <p:txBody>
          <a:bodyPr/>
          <a:lstStyle/>
          <a:p>
            <a:r>
              <a:rPr lang="en-US" altLang="en-US" dirty="0">
                <a:ea typeface="ＭＳ Ｐゴシック" charset="-128"/>
              </a:rPr>
              <a:t>Cache Coherence: Cache Tags</a:t>
            </a:r>
          </a:p>
        </p:txBody>
      </p:sp>
      <p:sp>
        <p:nvSpPr>
          <p:cNvPr id="93186" name="Content Placeholder 2"/>
          <p:cNvSpPr>
            <a:spLocks noGrp="1"/>
          </p:cNvSpPr>
          <p:nvPr>
            <p:ph idx="1"/>
          </p:nvPr>
        </p:nvSpPr>
        <p:spPr>
          <a:xfrm>
            <a:off x="-76200" y="878854"/>
            <a:ext cx="9220200" cy="1707302"/>
          </a:xfrm>
        </p:spPr>
        <p:txBody>
          <a:bodyPr/>
          <a:lstStyle/>
          <a:p>
            <a:r>
              <a:rPr lang="en-US" altLang="en-US" b="1" dirty="0">
                <a:ea typeface="ＭＳ Ｐゴシック" charset="-128"/>
              </a:rPr>
              <a:t>MSI </a:t>
            </a:r>
            <a:r>
              <a:rPr lang="en-US" altLang="zh-CN" b="1" dirty="0">
                <a:ea typeface="ＭＳ Ｐゴシック" charset="-128"/>
              </a:rPr>
              <a:t>Protocol</a:t>
            </a:r>
            <a:r>
              <a:rPr lang="en-US" altLang="en-US" dirty="0">
                <a:ea typeface="ＭＳ Ｐゴシック" charset="-128"/>
              </a:rPr>
              <a:t>: safely update replicated data in caches (goal).  </a:t>
            </a:r>
          </a:p>
          <a:p>
            <a:pPr lvl="1"/>
            <a:r>
              <a:rPr lang="en-US" altLang="zh-CN" sz="2000" dirty="0">
                <a:solidFill>
                  <a:srgbClr val="0432FF"/>
                </a:solidFill>
                <a:ea typeface="ＭＳ Ｐゴシック" charset="-128"/>
              </a:rPr>
              <a:t>I</a:t>
            </a:r>
            <a:r>
              <a:rPr lang="en-US" altLang="zh-CN" sz="2000" dirty="0">
                <a:ea typeface="ＭＳ Ｐゴシック" charset="-128"/>
              </a:rPr>
              <a:t>(</a:t>
            </a:r>
            <a:r>
              <a:rPr lang="en-US" altLang="zh-CN" sz="2000" dirty="0" err="1">
                <a:ea typeface="ＭＳ Ｐゴシック" charset="-128"/>
              </a:rPr>
              <a:t>nvalid</a:t>
            </a:r>
            <a:r>
              <a:rPr lang="en-US" altLang="zh-CN" sz="2000" dirty="0">
                <a:ea typeface="ＭＳ Ｐゴシック" charset="-128"/>
              </a:rPr>
              <a:t>):</a:t>
            </a:r>
            <a:r>
              <a:rPr lang="en-US" altLang="en-US" sz="2000" dirty="0">
                <a:ea typeface="ＭＳ Ｐゴシック" charset="-128"/>
              </a:rPr>
              <a:t> block is not in cache, need to fetch from memory or other cache</a:t>
            </a:r>
          </a:p>
          <a:p>
            <a:pPr lvl="1"/>
            <a:r>
              <a:rPr lang="en-US" altLang="zh-CN" sz="2000" dirty="0">
                <a:solidFill>
                  <a:srgbClr val="0432FF"/>
                </a:solidFill>
                <a:ea typeface="ＭＳ Ｐゴシック" charset="-128"/>
              </a:rPr>
              <a:t>S</a:t>
            </a:r>
            <a:r>
              <a:rPr lang="en-US" altLang="zh-CN" sz="2000" dirty="0">
                <a:ea typeface="ＭＳ Ｐゴシック" charset="-128"/>
              </a:rPr>
              <a:t>(hared): in &gt;=1 caches, clean, local cores can read it w/o bus action </a:t>
            </a:r>
          </a:p>
          <a:p>
            <a:pPr lvl="1"/>
            <a:r>
              <a:rPr lang="en-US" altLang="zh-CN" sz="2000" dirty="0">
                <a:solidFill>
                  <a:srgbClr val="0432FF"/>
                </a:solidFill>
                <a:ea typeface="ＭＳ Ｐゴシック" charset="-128"/>
              </a:rPr>
              <a:t>M</a:t>
            </a:r>
            <a:r>
              <a:rPr lang="en-US" altLang="zh-CN" sz="2000" dirty="0">
                <a:ea typeface="ＭＳ Ｐゴシック" charset="-128"/>
              </a:rPr>
              <a:t>(</a:t>
            </a:r>
            <a:r>
              <a:rPr lang="en-US" altLang="zh-CN" sz="2000" dirty="0" err="1">
                <a:ea typeface="ＭＳ Ｐゴシック" charset="-128"/>
              </a:rPr>
              <a:t>odified</a:t>
            </a:r>
            <a:r>
              <a:rPr lang="en-US" altLang="zh-CN" sz="2000" dirty="0">
                <a:ea typeface="ＭＳ Ｐゴシック" charset="-128"/>
              </a:rPr>
              <a:t>):</a:t>
            </a:r>
            <a:r>
              <a:rPr lang="en-US" altLang="en-US" sz="2000" dirty="0">
                <a:ea typeface="ＭＳ Ｐゴシック" charset="-128"/>
              </a:rPr>
              <a:t> in 1 cache, core can read/write it </a:t>
            </a:r>
            <a:r>
              <a:rPr lang="en-US" altLang="zh-CN" sz="2000" dirty="0">
                <a:ea typeface="ＭＳ Ｐゴシック" charset="-128"/>
              </a:rPr>
              <a:t>w/o bus action</a:t>
            </a:r>
            <a:endParaRPr lang="en-US" altLang="en-US" sz="2000" dirty="0">
              <a:ea typeface="ＭＳ Ｐゴシック" charset="-128"/>
            </a:endParaRPr>
          </a:p>
          <a:p>
            <a:pPr lvl="1"/>
            <a:endParaRPr lang="en-US" altLang="en-US" sz="2000" dirty="0">
              <a:ea typeface="ＭＳ Ｐゴシック" charset="-128"/>
            </a:endParaRPr>
          </a:p>
        </p:txBody>
      </p:sp>
      <p:sp>
        <p:nvSpPr>
          <p:cNvPr id="31" name="Oval 7">
            <a:extLst>
              <a:ext uri="{FF2B5EF4-FFF2-40B4-BE49-F238E27FC236}">
                <a16:creationId xmlns:a16="http://schemas.microsoft.com/office/drawing/2014/main" id="{505E7039-0C3E-4F47-87E6-6CAF8F376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2681589"/>
            <a:ext cx="749300" cy="7493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32" name="Line 9">
            <a:extLst>
              <a:ext uri="{FF2B5EF4-FFF2-40B4-BE49-F238E27FC236}">
                <a16:creationId xmlns:a16="http://schemas.microsoft.com/office/drawing/2014/main" id="{BBE36100-A8E7-4D07-8112-079B517F191F}"/>
              </a:ext>
            </a:extLst>
          </p:cNvPr>
          <p:cNvSpPr>
            <a:spLocks noChangeShapeType="1"/>
          </p:cNvSpPr>
          <p:nvPr/>
        </p:nvSpPr>
        <p:spPr bwMode="auto">
          <a:xfrm>
            <a:off x="6335712" y="3437320"/>
            <a:ext cx="0" cy="3111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33" name="Line 10">
            <a:extLst>
              <a:ext uri="{FF2B5EF4-FFF2-40B4-BE49-F238E27FC236}">
                <a16:creationId xmlns:a16="http://schemas.microsoft.com/office/drawing/2014/main" id="{560A9395-1E09-4EF4-879C-4E15A5C7C3E8}"/>
              </a:ext>
            </a:extLst>
          </p:cNvPr>
          <p:cNvSpPr>
            <a:spLocks noChangeShapeType="1"/>
          </p:cNvSpPr>
          <p:nvPr/>
        </p:nvSpPr>
        <p:spPr bwMode="auto">
          <a:xfrm>
            <a:off x="6335712" y="4427920"/>
            <a:ext cx="0" cy="3683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34" name="Rectangle 11">
            <a:extLst>
              <a:ext uri="{FF2B5EF4-FFF2-40B4-BE49-F238E27FC236}">
                <a16:creationId xmlns:a16="http://schemas.microsoft.com/office/drawing/2014/main" id="{A05656FD-72C7-4990-A5A8-DF73A1EABA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22951" y="5770696"/>
            <a:ext cx="2897184" cy="612843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35" name="Rectangle 13">
            <a:extLst>
              <a:ext uri="{FF2B5EF4-FFF2-40B4-BE49-F238E27FC236}">
                <a16:creationId xmlns:a16="http://schemas.microsoft.com/office/drawing/2014/main" id="{A2426C09-8C99-42F3-A22F-ADF2E32ABB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2448" y="2858595"/>
            <a:ext cx="593112" cy="366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</a:rPr>
              <a:t>Core</a:t>
            </a:r>
          </a:p>
        </p:txBody>
      </p:sp>
      <p:sp>
        <p:nvSpPr>
          <p:cNvPr id="36" name="AutoShape 16">
            <a:extLst>
              <a:ext uri="{FF2B5EF4-FFF2-40B4-BE49-F238E27FC236}">
                <a16:creationId xmlns:a16="http://schemas.microsoft.com/office/drawing/2014/main" id="{EF911625-2622-4A52-8579-8A886F0B1A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38018" y="4808920"/>
            <a:ext cx="3067051" cy="596900"/>
          </a:xfrm>
          <a:prstGeom prst="roundRect">
            <a:avLst>
              <a:gd name="adj" fmla="val 12495"/>
            </a:avLst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37" name="Rectangle 17">
            <a:extLst>
              <a:ext uri="{FF2B5EF4-FFF2-40B4-BE49-F238E27FC236}">
                <a16:creationId xmlns:a16="http://schemas.microsoft.com/office/drawing/2014/main" id="{5B2743AF-6DB9-401C-9C98-0203C05E91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9840" y="4936609"/>
            <a:ext cx="2212210" cy="366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  <a:cs typeface="+mn-cs"/>
              </a:rPr>
              <a:t>Bus (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65000"/>
                  </a:schemeClr>
                </a:solidFill>
                <a:effectLst/>
                <a:uLnTx/>
                <a:uFillTx/>
                <a:latin typeface="Arial Narrow" panose="020B0606020202030204" pitchFamily="34" charset="0"/>
              </a:rPr>
              <a:t>one </a:t>
            </a:r>
            <a:r>
              <a:rPr lang="en-US" altLang="en-US" sz="1800" dirty="0">
                <a:solidFill>
                  <a:schemeClr val="accent3">
                    <a:lumMod val="65000"/>
                  </a:schemeClr>
                </a:solidFill>
                <a:latin typeface="Arial Narrow" panose="020B0606020202030204" pitchFamily="34" charset="0"/>
              </a:rPr>
              <a:t>trans. A time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  <a:cs typeface="+mn-cs"/>
              </a:rPr>
              <a:t>)</a:t>
            </a:r>
          </a:p>
        </p:txBody>
      </p:sp>
      <p:sp>
        <p:nvSpPr>
          <p:cNvPr id="38" name="Line 18">
            <a:extLst>
              <a:ext uri="{FF2B5EF4-FFF2-40B4-BE49-F238E27FC236}">
                <a16:creationId xmlns:a16="http://schemas.microsoft.com/office/drawing/2014/main" id="{9CA40475-D9C7-407C-B4CE-9CD7F01F176F}"/>
              </a:ext>
            </a:extLst>
          </p:cNvPr>
          <p:cNvSpPr>
            <a:spLocks noChangeShapeType="1"/>
          </p:cNvSpPr>
          <p:nvPr/>
        </p:nvSpPr>
        <p:spPr bwMode="auto">
          <a:xfrm>
            <a:off x="7262019" y="5405820"/>
            <a:ext cx="0" cy="3683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39" name="Rectangle 19">
            <a:extLst>
              <a:ext uri="{FF2B5EF4-FFF2-40B4-BE49-F238E27FC236}">
                <a16:creationId xmlns:a16="http://schemas.microsoft.com/office/drawing/2014/main" id="{52D5B20E-651E-4DC9-927E-5509DED0B5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9381" y="5876564"/>
            <a:ext cx="1565275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  <a:cs typeface="+mn-cs"/>
              </a:rPr>
              <a:t>Main Memory</a:t>
            </a: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22EFF7A7-182C-459F-B607-8175868BD34C}"/>
              </a:ext>
            </a:extLst>
          </p:cNvPr>
          <p:cNvSpPr/>
          <p:nvPr/>
        </p:nvSpPr>
        <p:spPr bwMode="auto">
          <a:xfrm>
            <a:off x="5643569" y="3748470"/>
            <a:ext cx="1371569" cy="679450"/>
          </a:xfrm>
          <a:prstGeom prst="roundRect">
            <a:avLst/>
          </a:prstGeom>
          <a:solidFill>
            <a:srgbClr val="CCEC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41" name="Oval 7">
            <a:extLst>
              <a:ext uri="{FF2B5EF4-FFF2-40B4-BE49-F238E27FC236}">
                <a16:creationId xmlns:a16="http://schemas.microsoft.com/office/drawing/2014/main" id="{B2AC88E4-862C-4A5B-8315-133D34596B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95419" y="2690280"/>
            <a:ext cx="749300" cy="7493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42" name="Line 9">
            <a:extLst>
              <a:ext uri="{FF2B5EF4-FFF2-40B4-BE49-F238E27FC236}">
                <a16:creationId xmlns:a16="http://schemas.microsoft.com/office/drawing/2014/main" id="{3FCFCF99-43C6-44BB-B210-30DBC1AF1323}"/>
              </a:ext>
            </a:extLst>
          </p:cNvPr>
          <p:cNvSpPr>
            <a:spLocks noChangeShapeType="1"/>
          </p:cNvSpPr>
          <p:nvPr/>
        </p:nvSpPr>
        <p:spPr bwMode="auto">
          <a:xfrm>
            <a:off x="8187531" y="3446011"/>
            <a:ext cx="0" cy="3111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43" name="Line 10">
            <a:extLst>
              <a:ext uri="{FF2B5EF4-FFF2-40B4-BE49-F238E27FC236}">
                <a16:creationId xmlns:a16="http://schemas.microsoft.com/office/drawing/2014/main" id="{A8E50FCD-FB49-471B-BF8E-56676AE33385}"/>
              </a:ext>
            </a:extLst>
          </p:cNvPr>
          <p:cNvSpPr>
            <a:spLocks noChangeShapeType="1"/>
          </p:cNvSpPr>
          <p:nvPr/>
        </p:nvSpPr>
        <p:spPr bwMode="auto">
          <a:xfrm>
            <a:off x="8187531" y="4436611"/>
            <a:ext cx="0" cy="3683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44" name="Rectangle 13">
            <a:extLst>
              <a:ext uri="{FF2B5EF4-FFF2-40B4-BE49-F238E27FC236}">
                <a16:creationId xmlns:a16="http://schemas.microsoft.com/office/drawing/2014/main" id="{4FAF96E6-0AE7-4F80-8C19-8D8B5C6149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56050" y="2858595"/>
            <a:ext cx="593112" cy="366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</a:rPr>
              <a:t>Core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5196633B-A3EF-4FC4-92D4-32ACCFDBA5D4}"/>
              </a:ext>
            </a:extLst>
          </p:cNvPr>
          <p:cNvSpPr/>
          <p:nvPr/>
        </p:nvSpPr>
        <p:spPr>
          <a:xfrm>
            <a:off x="6271420" y="3426295"/>
            <a:ext cx="106679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1400" b="1" dirty="0">
                <a:solidFill>
                  <a:schemeClr val="accent2"/>
                </a:solidFill>
                <a:latin typeface="Arial Narrow" panose="020B0606020202030204" pitchFamily="34" charset="0"/>
              </a:rPr>
              <a:t>CPU action</a:t>
            </a:r>
            <a:endParaRPr lang="zh-CN" altLang="en-US" sz="1400" dirty="0">
              <a:solidFill>
                <a:schemeClr val="accent2"/>
              </a:solidFill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268481EA-3C10-47F9-955C-5FD6BA76584D}"/>
              </a:ext>
            </a:extLst>
          </p:cNvPr>
          <p:cNvSpPr/>
          <p:nvPr/>
        </p:nvSpPr>
        <p:spPr>
          <a:xfrm>
            <a:off x="6271420" y="4477346"/>
            <a:ext cx="106679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1400" b="1" dirty="0">
                <a:solidFill>
                  <a:srgbClr val="92D050"/>
                </a:solidFill>
                <a:latin typeface="Arial Narrow" panose="020B0606020202030204" pitchFamily="34" charset="0"/>
              </a:rPr>
              <a:t>Bus action</a:t>
            </a:r>
            <a:endParaRPr lang="zh-CN" altLang="en-US" sz="1400" dirty="0">
              <a:solidFill>
                <a:srgbClr val="92D050"/>
              </a:solidFill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3D627E8C-1F09-4406-9C74-A2798AD99ADA}"/>
              </a:ext>
            </a:extLst>
          </p:cNvPr>
          <p:cNvSpPr/>
          <p:nvPr/>
        </p:nvSpPr>
        <p:spPr>
          <a:xfrm>
            <a:off x="8144062" y="3444482"/>
            <a:ext cx="106679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1400" b="1" dirty="0">
                <a:solidFill>
                  <a:schemeClr val="accent2"/>
                </a:solidFill>
                <a:latin typeface="Arial Narrow" panose="020B0606020202030204" pitchFamily="34" charset="0"/>
              </a:rPr>
              <a:t>CPU action</a:t>
            </a:r>
            <a:endParaRPr lang="zh-CN" altLang="en-US" sz="1400" dirty="0">
              <a:solidFill>
                <a:schemeClr val="accent2"/>
              </a:solidFill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083D37BB-B0D2-4452-A4FC-F528CD488A38}"/>
              </a:ext>
            </a:extLst>
          </p:cNvPr>
          <p:cNvSpPr/>
          <p:nvPr/>
        </p:nvSpPr>
        <p:spPr>
          <a:xfrm>
            <a:off x="8144063" y="4477346"/>
            <a:ext cx="106679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1400" b="1" dirty="0">
                <a:solidFill>
                  <a:srgbClr val="92D050"/>
                </a:solidFill>
                <a:latin typeface="Arial Narrow" panose="020B0606020202030204" pitchFamily="34" charset="0"/>
              </a:rPr>
              <a:t>Bus action</a:t>
            </a:r>
            <a:endParaRPr lang="zh-CN" altLang="en-US" sz="1400" dirty="0">
              <a:solidFill>
                <a:srgbClr val="92D050"/>
              </a:solidFill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FF6E9913-198C-4F80-A320-41BD2725FA15}"/>
              </a:ext>
            </a:extLst>
          </p:cNvPr>
          <p:cNvSpPr/>
          <p:nvPr/>
        </p:nvSpPr>
        <p:spPr>
          <a:xfrm>
            <a:off x="5688016" y="3833590"/>
            <a:ext cx="673100" cy="523220"/>
          </a:xfrm>
          <a:prstGeom prst="rect">
            <a:avLst/>
          </a:prstGeom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en-US" sz="1400" dirty="0">
                <a:solidFill>
                  <a:srgbClr val="000000"/>
                </a:solidFill>
                <a:latin typeface="Arial Narrow" panose="020B0606020202030204" pitchFamily="34" charset="0"/>
              </a:rPr>
              <a:t>Cache blocks</a:t>
            </a:r>
            <a:endParaRPr lang="zh-CN" altLang="en-US" sz="1400" dirty="0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EA880816-E3D0-4148-851A-E108108328A8}"/>
              </a:ext>
            </a:extLst>
          </p:cNvPr>
          <p:cNvSpPr/>
          <p:nvPr/>
        </p:nvSpPr>
        <p:spPr>
          <a:xfrm>
            <a:off x="6405563" y="3934306"/>
            <a:ext cx="533400" cy="307777"/>
          </a:xfrm>
          <a:prstGeom prst="rect">
            <a:avLst/>
          </a:prstGeom>
          <a:ln w="15875" cmpd="sng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en-US" sz="1400" dirty="0">
                <a:solidFill>
                  <a:srgbClr val="000000"/>
                </a:solidFill>
                <a:latin typeface="Arial Narrow" panose="020B0606020202030204" pitchFamily="34" charset="0"/>
              </a:rPr>
              <a:t>Tags</a:t>
            </a:r>
            <a:endParaRPr lang="zh-CN" altLang="en-US" sz="1400" dirty="0"/>
          </a:p>
        </p:txBody>
      </p: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7871F9C9-E945-4690-9AED-A91449D6FA15}"/>
              </a:ext>
            </a:extLst>
          </p:cNvPr>
          <p:cNvSpPr/>
          <p:nvPr/>
        </p:nvSpPr>
        <p:spPr bwMode="auto">
          <a:xfrm>
            <a:off x="7501746" y="3764959"/>
            <a:ext cx="1371569" cy="679450"/>
          </a:xfrm>
          <a:prstGeom prst="roundRect">
            <a:avLst/>
          </a:prstGeom>
          <a:solidFill>
            <a:srgbClr val="CCEC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29C57301-6A42-42F7-BE37-34969B1D1643}"/>
              </a:ext>
            </a:extLst>
          </p:cNvPr>
          <p:cNvSpPr/>
          <p:nvPr/>
        </p:nvSpPr>
        <p:spPr>
          <a:xfrm>
            <a:off x="7546193" y="3850079"/>
            <a:ext cx="673100" cy="523220"/>
          </a:xfrm>
          <a:prstGeom prst="rect">
            <a:avLst/>
          </a:prstGeom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en-US" sz="1400" dirty="0">
                <a:solidFill>
                  <a:srgbClr val="000000"/>
                </a:solidFill>
                <a:latin typeface="Arial Narrow" panose="020B0606020202030204" pitchFamily="34" charset="0"/>
              </a:rPr>
              <a:t>Cache blocks</a:t>
            </a:r>
            <a:endParaRPr lang="zh-CN" altLang="en-US" sz="1400" dirty="0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32F74296-15F0-4ED8-870C-3086A947D7DB}"/>
              </a:ext>
            </a:extLst>
          </p:cNvPr>
          <p:cNvSpPr/>
          <p:nvPr/>
        </p:nvSpPr>
        <p:spPr>
          <a:xfrm>
            <a:off x="8263740" y="3950795"/>
            <a:ext cx="533400" cy="307777"/>
          </a:xfrm>
          <a:prstGeom prst="rect">
            <a:avLst/>
          </a:prstGeom>
          <a:ln w="15875" cmpd="sng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en-US" sz="1400" dirty="0">
                <a:solidFill>
                  <a:srgbClr val="000000"/>
                </a:solidFill>
                <a:latin typeface="Arial Narrow" panose="020B0606020202030204" pitchFamily="34" charset="0"/>
              </a:rPr>
              <a:t>Tags</a:t>
            </a:r>
            <a:endParaRPr lang="zh-CN" altLang="en-US" sz="1400" dirty="0"/>
          </a:p>
        </p:txBody>
      </p:sp>
      <p:sp>
        <p:nvSpPr>
          <p:cNvPr id="54" name="Rectangle">
            <a:extLst>
              <a:ext uri="{FF2B5EF4-FFF2-40B4-BE49-F238E27FC236}">
                <a16:creationId xmlns:a16="http://schemas.microsoft.com/office/drawing/2014/main" id="{93A47E81-8113-4E59-9280-59EBFDCF0B32}"/>
              </a:ext>
            </a:extLst>
          </p:cNvPr>
          <p:cNvSpPr/>
          <p:nvPr/>
        </p:nvSpPr>
        <p:spPr>
          <a:xfrm>
            <a:off x="5589607" y="4739980"/>
            <a:ext cx="3401989" cy="1740687"/>
          </a:xfrm>
          <a:prstGeom prst="rect">
            <a:avLst/>
          </a:prstGeom>
          <a:solidFill>
            <a:srgbClr val="FFFFFF">
              <a:alpha val="84174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55" name="Rectangle">
            <a:extLst>
              <a:ext uri="{FF2B5EF4-FFF2-40B4-BE49-F238E27FC236}">
                <a16:creationId xmlns:a16="http://schemas.microsoft.com/office/drawing/2014/main" id="{F4608CE1-5DBE-4EC0-86CE-301A488971FA}"/>
              </a:ext>
            </a:extLst>
          </p:cNvPr>
          <p:cNvSpPr/>
          <p:nvPr/>
        </p:nvSpPr>
        <p:spPr>
          <a:xfrm>
            <a:off x="5589608" y="2590800"/>
            <a:ext cx="3554392" cy="862099"/>
          </a:xfrm>
          <a:prstGeom prst="rect">
            <a:avLst/>
          </a:prstGeom>
          <a:solidFill>
            <a:srgbClr val="FFFFFF">
              <a:alpha val="84174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A402EBE-6F36-45CF-B946-110C9050CD3B}"/>
              </a:ext>
            </a:extLst>
          </p:cNvPr>
          <p:cNvSpPr/>
          <p:nvPr/>
        </p:nvSpPr>
        <p:spPr>
          <a:xfrm>
            <a:off x="-58737" y="2652870"/>
            <a:ext cx="5867397" cy="40072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spcBef>
                <a:spcPct val="20000"/>
              </a:spcBef>
              <a:buClr>
                <a:srgbClr val="CC9900"/>
              </a:buClr>
              <a:buSzPct val="65000"/>
              <a:buFont typeface="Wingdings" charset="2"/>
              <a:buChar char="n"/>
            </a:pPr>
            <a:r>
              <a:rPr lang="en-US" altLang="en-US" sz="2400" b="1" kern="0" dirty="0">
                <a:solidFill>
                  <a:srgbClr val="000000"/>
                </a:solidFill>
                <a:latin typeface="Tahoma"/>
                <a:ea typeface="ＭＳ Ｐゴシック" charset="-128"/>
              </a:rPr>
              <a:t>Input</a:t>
            </a:r>
            <a:r>
              <a:rPr lang="en-US" altLang="en-US" sz="2400" kern="0" dirty="0">
                <a:solidFill>
                  <a:srgbClr val="000000"/>
                </a:solidFill>
                <a:latin typeface="Tahoma"/>
                <a:ea typeface="ＭＳ Ｐゴシック" charset="-128"/>
              </a:rPr>
              <a:t>:</a:t>
            </a:r>
          </a:p>
          <a:p>
            <a:pPr marL="800100" lvl="1" indent="-342900">
              <a:spcBef>
                <a:spcPct val="20000"/>
              </a:spcBef>
              <a:buClr>
                <a:srgbClr val="CC9900"/>
              </a:buClr>
              <a:buSzPct val="65000"/>
              <a:buFont typeface="Wingdings" charset="2"/>
              <a:buChar char="n"/>
            </a:pPr>
            <a:r>
              <a:rPr lang="en-US" altLang="en-US" sz="2400" kern="0" dirty="0">
                <a:solidFill>
                  <a:srgbClr val="3B812F"/>
                </a:solidFill>
                <a:latin typeface="Tahoma"/>
                <a:ea typeface="ＭＳ Ｐゴシック" charset="-128"/>
              </a:rPr>
              <a:t>CPU action of one requested core</a:t>
            </a:r>
          </a:p>
          <a:p>
            <a:pPr marL="800100" lvl="1" indent="-342900">
              <a:spcBef>
                <a:spcPct val="20000"/>
              </a:spcBef>
              <a:buClr>
                <a:srgbClr val="CC9900"/>
              </a:buClr>
              <a:buSzPct val="65000"/>
              <a:buFont typeface="Wingdings" charset="2"/>
              <a:buChar char="n"/>
            </a:pPr>
            <a:endParaRPr lang="en-US" altLang="en-US" sz="2400" kern="0" dirty="0">
              <a:solidFill>
                <a:srgbClr val="3B812F"/>
              </a:solidFill>
              <a:latin typeface="Tahoma"/>
              <a:ea typeface="ＭＳ Ｐゴシック" charset="-128"/>
            </a:endParaRPr>
          </a:p>
          <a:p>
            <a:pPr marL="342900" lvl="0" indent="-342900">
              <a:spcBef>
                <a:spcPct val="20000"/>
              </a:spcBef>
              <a:buClr>
                <a:srgbClr val="CC9900"/>
              </a:buClr>
              <a:buSzPct val="65000"/>
              <a:buFont typeface="Wingdings" charset="2"/>
              <a:buChar char="n"/>
            </a:pPr>
            <a:r>
              <a:rPr lang="en-US" altLang="en-US" sz="2400" b="1" kern="0" dirty="0">
                <a:solidFill>
                  <a:srgbClr val="000000"/>
                </a:solidFill>
                <a:latin typeface="Tahoma"/>
                <a:ea typeface="ＭＳ Ｐゴシック" charset="-128"/>
              </a:rPr>
              <a:t>Output</a:t>
            </a:r>
            <a:r>
              <a:rPr lang="en-US" altLang="en-US" sz="2400" kern="0" dirty="0">
                <a:solidFill>
                  <a:srgbClr val="000000"/>
                </a:solidFill>
                <a:latin typeface="Tahoma"/>
                <a:ea typeface="ＭＳ Ｐゴシック" charset="-128"/>
              </a:rPr>
              <a:t>:</a:t>
            </a:r>
          </a:p>
          <a:p>
            <a:pPr marL="800100" lvl="1" indent="-342900">
              <a:spcBef>
                <a:spcPct val="20000"/>
              </a:spcBef>
              <a:buClr>
                <a:srgbClr val="CC9900"/>
              </a:buClr>
              <a:buSzPct val="65000"/>
              <a:buFont typeface="Wingdings" charset="2"/>
              <a:buChar char="n"/>
            </a:pPr>
            <a:r>
              <a:rPr lang="en-US" altLang="en-US" sz="2400" kern="0" dirty="0">
                <a:solidFill>
                  <a:srgbClr val="92D050"/>
                </a:solidFill>
                <a:latin typeface="Tahoma"/>
                <a:ea typeface="ＭＳ Ｐゴシック" charset="-128"/>
              </a:rPr>
              <a:t>Bus action of one requested core</a:t>
            </a:r>
          </a:p>
          <a:p>
            <a:pPr marL="800100" lvl="1" indent="-342900">
              <a:spcBef>
                <a:spcPct val="20000"/>
              </a:spcBef>
              <a:buClr>
                <a:srgbClr val="CC9900"/>
              </a:buClr>
              <a:buSzPct val="65000"/>
              <a:buFont typeface="Wingdings" charset="2"/>
              <a:buChar char="n"/>
            </a:pPr>
            <a:endParaRPr lang="en-US" altLang="en-US" sz="2400" kern="0" dirty="0">
              <a:solidFill>
                <a:srgbClr val="92D050"/>
              </a:solidFill>
              <a:latin typeface="Tahoma"/>
              <a:ea typeface="ＭＳ Ｐゴシック" charset="-128"/>
            </a:endParaRPr>
          </a:p>
          <a:p>
            <a:pPr marL="342900" lvl="0" indent="-342900">
              <a:spcBef>
                <a:spcPct val="20000"/>
              </a:spcBef>
              <a:buClr>
                <a:srgbClr val="CC9900"/>
              </a:buClr>
              <a:buSzPct val="65000"/>
              <a:buFont typeface="Wingdings" charset="2"/>
              <a:buChar char="n"/>
            </a:pPr>
            <a:r>
              <a:rPr lang="en-US" altLang="en-US" sz="2400" b="1" kern="0" dirty="0">
                <a:solidFill>
                  <a:srgbClr val="000000"/>
                </a:solidFill>
                <a:latin typeface="Tahoma"/>
                <a:ea typeface="ＭＳ Ｐゴシック" charset="-128"/>
              </a:rPr>
              <a:t>Changed States</a:t>
            </a:r>
            <a:r>
              <a:rPr lang="en-US" altLang="en-US" sz="2400" kern="0" dirty="0">
                <a:solidFill>
                  <a:srgbClr val="000000"/>
                </a:solidFill>
                <a:latin typeface="Tahoma"/>
                <a:ea typeface="ＭＳ Ｐゴシック" charset="-128"/>
              </a:rPr>
              <a:t>:</a:t>
            </a:r>
          </a:p>
          <a:p>
            <a:pPr marL="800100" lvl="1" indent="-342900">
              <a:spcBef>
                <a:spcPct val="20000"/>
              </a:spcBef>
              <a:buClr>
                <a:srgbClr val="CC9900"/>
              </a:buClr>
              <a:buSzPct val="65000"/>
              <a:buFont typeface="Wingdings" charset="2"/>
              <a:buChar char="n"/>
            </a:pPr>
            <a:r>
              <a:rPr lang="en-US" altLang="en-US" sz="2400" kern="0" dirty="0">
                <a:latin typeface="Tahoma"/>
                <a:ea typeface="ＭＳ Ｐゴシック" charset="-128"/>
              </a:rPr>
              <a:t>Modified cache tag</a:t>
            </a:r>
          </a:p>
          <a:p>
            <a:pPr lvl="1">
              <a:spcBef>
                <a:spcPct val="20000"/>
              </a:spcBef>
              <a:buClr>
                <a:srgbClr val="CC9900"/>
              </a:buClr>
              <a:buSzPct val="65000"/>
            </a:pPr>
            <a:endParaRPr lang="en-US" altLang="en-US" sz="2400" kern="0" dirty="0">
              <a:solidFill>
                <a:srgbClr val="92D050"/>
              </a:solidFill>
              <a:latin typeface="Tahoma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79560134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7" name="Title 1">
            <a:extLst>
              <a:ext uri="{FF2B5EF4-FFF2-40B4-BE49-F238E27FC236}">
                <a16:creationId xmlns:a16="http://schemas.microsoft.com/office/drawing/2014/main" id="{86691543-15E9-1548-A371-F90877B9B9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Recall: Single Core’s </a:t>
            </a:r>
            <a:r>
              <a:rPr lang="en-US" altLang="en-US" dirty="0">
                <a:ea typeface="ＭＳ Ｐゴシック" panose="020B0600070205080204" pitchFamily="34" charset="-128"/>
              </a:rPr>
              <a:t>Cache</a:t>
            </a:r>
          </a:p>
        </p:txBody>
      </p:sp>
      <p:sp>
        <p:nvSpPr>
          <p:cNvPr id="121859" name="Slide Number Placeholder 3">
            <a:extLst>
              <a:ext uri="{FF2B5EF4-FFF2-40B4-BE49-F238E27FC236}">
                <a16:creationId xmlns:a16="http://schemas.microsoft.com/office/drawing/2014/main" id="{C20DEC91-5F15-EF45-BA55-C7CB5C53D61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8D973330-6274-2840-B449-11153AC7E4A2}" type="slidenum">
              <a:rPr lang="en-US" altLang="en-US" sz="1600" smtClean="0">
                <a:solidFill>
                  <a:srgbClr val="000000"/>
                </a:solidFill>
                <a:latin typeface="Garamond" panose="02020404030301010803" pitchFamily="18" charset="0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US" altLang="en-US" sz="1600">
              <a:solidFill>
                <a:srgbClr val="000000"/>
              </a:solidFill>
              <a:latin typeface="Garamond" panose="02020404030301010803" pitchFamily="18" charset="0"/>
            </a:endParaRPr>
          </a:p>
        </p:txBody>
      </p:sp>
      <p:sp>
        <p:nvSpPr>
          <p:cNvPr id="121860" name="TextBox 5">
            <a:extLst>
              <a:ext uri="{FF2B5EF4-FFF2-40B4-BE49-F238E27FC236}">
                <a16:creationId xmlns:a16="http://schemas.microsoft.com/office/drawing/2014/main" id="{A8930F8D-4FB7-3549-8928-09DF10E0FB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688" y="1652588"/>
            <a:ext cx="1030287" cy="3698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000000"/>
                </a:solidFill>
                <a:latin typeface="Arial" panose="020B0604020202020204" pitchFamily="34" charset="0"/>
              </a:rPr>
              <a:t>Address</a:t>
            </a:r>
          </a:p>
        </p:txBody>
      </p:sp>
      <p:cxnSp>
        <p:nvCxnSpPr>
          <p:cNvPr id="121865" name="Straight Arrow Connector 11">
            <a:extLst>
              <a:ext uri="{FF2B5EF4-FFF2-40B4-BE49-F238E27FC236}">
                <a16:creationId xmlns:a16="http://schemas.microsoft.com/office/drawing/2014/main" id="{E6F9F0D0-0529-CE49-AD13-6F423E6D6CD4}"/>
              </a:ext>
            </a:extLst>
          </p:cNvPr>
          <p:cNvCxnSpPr>
            <a:cxnSpLocks noChangeShapeType="1"/>
            <a:stCxn id="121860" idx="3"/>
          </p:cNvCxnSpPr>
          <p:nvPr/>
        </p:nvCxnSpPr>
        <p:spPr bwMode="auto">
          <a:xfrm flipV="1">
            <a:off x="1704975" y="1828800"/>
            <a:ext cx="1758950" cy="95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1866" name="Straight Connector 13">
            <a:extLst>
              <a:ext uri="{FF2B5EF4-FFF2-40B4-BE49-F238E27FC236}">
                <a16:creationId xmlns:a16="http://schemas.microsoft.com/office/drawing/2014/main" id="{462517A9-B095-D442-B387-8CF9031530E8}"/>
              </a:ext>
            </a:extLst>
          </p:cNvPr>
          <p:cNvCxnSpPr>
            <a:cxnSpLocks noChangeShapeType="1"/>
          </p:cNvCxnSpPr>
          <p:nvPr/>
        </p:nvCxnSpPr>
        <p:spPr bwMode="auto">
          <a:xfrm rot="5400000" flipH="1" flipV="1">
            <a:off x="2489200" y="1584325"/>
            <a:ext cx="4889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1867" name="Straight Connector 16">
            <a:extLst>
              <a:ext uri="{FF2B5EF4-FFF2-40B4-BE49-F238E27FC236}">
                <a16:creationId xmlns:a16="http://schemas.microsoft.com/office/drawing/2014/main" id="{A08259CB-6595-7543-8F7C-DD4EAE4DA46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733675" y="1339850"/>
            <a:ext cx="296545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1868" name="Straight Connector 18">
            <a:extLst>
              <a:ext uri="{FF2B5EF4-FFF2-40B4-BE49-F238E27FC236}">
                <a16:creationId xmlns:a16="http://schemas.microsoft.com/office/drawing/2014/main" id="{5C29A8B8-9899-C644-A92F-784138B34C84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5454651" y="1584325"/>
            <a:ext cx="487362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4" name="组合 3">
            <a:extLst>
              <a:ext uri="{FF2B5EF4-FFF2-40B4-BE49-F238E27FC236}">
                <a16:creationId xmlns:a16="http://schemas.microsoft.com/office/drawing/2014/main" id="{5229D7C8-B343-4C77-B7F6-1AD3F8240887}"/>
              </a:ext>
            </a:extLst>
          </p:cNvPr>
          <p:cNvGrpSpPr/>
          <p:nvPr/>
        </p:nvGrpSpPr>
        <p:grpSpPr>
          <a:xfrm>
            <a:off x="3151328" y="1652588"/>
            <a:ext cx="4952860" cy="2928937"/>
            <a:chOff x="3151328" y="1652588"/>
            <a:chExt cx="4952860" cy="2928937"/>
          </a:xfrm>
        </p:grpSpPr>
        <p:sp>
          <p:nvSpPr>
            <p:cNvPr id="121861" name="Rectangle 6">
              <a:extLst>
                <a:ext uri="{FF2B5EF4-FFF2-40B4-BE49-F238E27FC236}">
                  <a16:creationId xmlns:a16="http://schemas.microsoft.com/office/drawing/2014/main" id="{DC091819-204E-2F44-B5B7-AD66389904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63925" y="1652588"/>
              <a:ext cx="1874838" cy="191293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21862" name="TextBox 7">
              <a:extLst>
                <a:ext uri="{FF2B5EF4-FFF2-40B4-BE49-F238E27FC236}">
                  <a16:creationId xmlns:a16="http://schemas.microsoft.com/office/drawing/2014/main" id="{AFA84543-9EEE-E641-A14C-D3881B0DE4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51328" y="1837531"/>
              <a:ext cx="2316023" cy="23083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 dirty="0">
                  <a:solidFill>
                    <a:srgbClr val="000000"/>
                  </a:solidFill>
                  <a:latin typeface="Arial" panose="020B0604020202020204" pitchFamily="34" charset="0"/>
                </a:rPr>
                <a:t>Tag Store</a:t>
              </a:r>
              <a:endParaRPr lang="en-US" altLang="en-US" sz="1800" dirty="0">
                <a:solidFill>
                  <a:srgbClr val="000000"/>
                </a:solidFill>
                <a:latin typeface="Arial" panose="020B0604020202020204" pitchFamily="34" charset="0"/>
              </a:endParaRPr>
            </a:p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dirty="0">
                  <a:solidFill>
                    <a:srgbClr val="000000"/>
                  </a:solidFill>
                  <a:latin typeface="Arial" panose="020B0604020202020204" pitchFamily="34" charset="0"/>
                </a:rPr>
                <a:t>(</a:t>
              </a:r>
              <a:r>
                <a:rPr lang="en-US" altLang="en-US" sz="1800" dirty="0">
                  <a:solidFill>
                    <a:srgbClr val="0000FF"/>
                  </a:solidFill>
                  <a:latin typeface="Arial" panose="020B0604020202020204" pitchFamily="34" charset="0"/>
                </a:rPr>
                <a:t>Valid bit </a:t>
              </a:r>
              <a:r>
                <a:rPr lang="en-US" altLang="en-US" sz="1800" dirty="0">
                  <a:latin typeface="Arial" panose="020B0604020202020204" pitchFamily="34" charset="0"/>
                </a:rPr>
                <a:t>+</a:t>
              </a:r>
            </a:p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dirty="0">
                  <a:solidFill>
                    <a:srgbClr val="0000FF"/>
                  </a:solidFill>
                  <a:latin typeface="Arial" panose="020B0604020202020204" pitchFamily="34" charset="0"/>
                </a:rPr>
                <a:t>     Address tag </a:t>
              </a:r>
              <a:r>
                <a:rPr lang="en-US" altLang="en-US" sz="1800" dirty="0">
                  <a:latin typeface="Arial" panose="020B0604020202020204" pitchFamily="34" charset="0"/>
                </a:rPr>
                <a:t>+</a:t>
              </a:r>
            </a:p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dirty="0">
                  <a:solidFill>
                    <a:srgbClr val="0000FF"/>
                  </a:solidFill>
                  <a:latin typeface="Arial" panose="020B0604020202020204" pitchFamily="34" charset="0"/>
                </a:rPr>
                <a:t>     Replacement policy bits</a:t>
              </a:r>
              <a:r>
                <a:rPr lang="en-US" altLang="en-US" sz="1800" dirty="0">
                  <a:solidFill>
                    <a:srgbClr val="000000"/>
                  </a:solidFill>
                  <a:latin typeface="Arial" panose="020B0604020202020204" pitchFamily="34" charset="0"/>
                </a:rPr>
                <a:t>)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 dirty="0">
                <a:solidFill>
                  <a:srgbClr val="000000"/>
                </a:solidFill>
                <a:latin typeface="Arial" panose="020B0604020202020204" pitchFamily="34" charset="0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 dirty="0">
                <a:solidFill>
                  <a:srgbClr val="000000"/>
                </a:solidFill>
                <a:latin typeface="Arial" panose="020B0604020202020204" pitchFamily="34" charset="0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 dirty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21863" name="Rectangle 8">
              <a:extLst>
                <a:ext uri="{FF2B5EF4-FFF2-40B4-BE49-F238E27FC236}">
                  <a16:creationId xmlns:a16="http://schemas.microsoft.com/office/drawing/2014/main" id="{903EDBFD-0C7E-E743-B827-3CAD20731B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9350" y="1652588"/>
              <a:ext cx="1874838" cy="191293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21864" name="TextBox 9">
              <a:extLst>
                <a:ext uri="{FF2B5EF4-FFF2-40B4-BE49-F238E27FC236}">
                  <a16:creationId xmlns:a16="http://schemas.microsoft.com/office/drawing/2014/main" id="{93F5923F-41ED-954B-B43C-BF2A5A0B4B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43393" y="1828800"/>
              <a:ext cx="1338828" cy="14773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 dirty="0">
                  <a:solidFill>
                    <a:srgbClr val="000000"/>
                  </a:solidFill>
                  <a:latin typeface="Arial" panose="020B0604020202020204" pitchFamily="34" charset="0"/>
                </a:rPr>
                <a:t>Data Store</a:t>
              </a:r>
            </a:p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 dirty="0">
                <a:solidFill>
                  <a:srgbClr val="000000"/>
                </a:solidFill>
                <a:latin typeface="Arial" panose="020B0604020202020204" pitchFamily="34" charset="0"/>
              </a:endParaRPr>
            </a:p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dirty="0">
                  <a:solidFill>
                    <a:srgbClr val="000000"/>
                  </a:solidFill>
                  <a:latin typeface="Arial" panose="020B0604020202020204" pitchFamily="34" charset="0"/>
                </a:rPr>
                <a:t>(stores </a:t>
              </a:r>
            </a:p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dirty="0">
                  <a:solidFill>
                    <a:srgbClr val="000000"/>
                  </a:solidFill>
                  <a:latin typeface="Arial" panose="020B0604020202020204" pitchFamily="34" charset="0"/>
                </a:rPr>
                <a:t>memory </a:t>
              </a:r>
            </a:p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dirty="0">
                  <a:solidFill>
                    <a:srgbClr val="000000"/>
                  </a:solidFill>
                  <a:latin typeface="Arial" panose="020B0604020202020204" pitchFamily="34" charset="0"/>
                </a:rPr>
                <a:t>blocks)</a:t>
              </a:r>
            </a:p>
          </p:txBody>
        </p:sp>
        <p:cxnSp>
          <p:nvCxnSpPr>
            <p:cNvPr id="121869" name="Straight Arrow Connector 20">
              <a:extLst>
                <a:ext uri="{FF2B5EF4-FFF2-40B4-BE49-F238E27FC236}">
                  <a16:creationId xmlns:a16="http://schemas.microsoft.com/office/drawing/2014/main" id="{2DA71E7C-41FA-4040-9CBF-75B4BE72424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5699125" y="1828800"/>
              <a:ext cx="530225" cy="952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1870" name="Straight Arrow Connector 22">
              <a:extLst>
                <a:ext uri="{FF2B5EF4-FFF2-40B4-BE49-F238E27FC236}">
                  <a16:creationId xmlns:a16="http://schemas.microsoft.com/office/drawing/2014/main" id="{54BFBCE7-13AD-5D40-9030-B5FC63BC248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6200000" flipH="1">
              <a:off x="4106069" y="3883819"/>
              <a:ext cx="646113" cy="952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21871" name="TextBox 23">
              <a:extLst>
                <a:ext uri="{FF2B5EF4-FFF2-40B4-BE49-F238E27FC236}">
                  <a16:creationId xmlns:a16="http://schemas.microsoft.com/office/drawing/2014/main" id="{BCB9BF51-2D75-6E47-930E-82700EF02B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67150" y="4211638"/>
              <a:ext cx="1133475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  <a:latin typeface="Arial" panose="020B0604020202020204" pitchFamily="34" charset="0"/>
                </a:rPr>
                <a:t>Hit/miss?</a:t>
              </a:r>
            </a:p>
          </p:txBody>
        </p:sp>
        <p:cxnSp>
          <p:nvCxnSpPr>
            <p:cNvPr id="121872" name="Straight Arrow Connector 25">
              <a:extLst>
                <a:ext uri="{FF2B5EF4-FFF2-40B4-BE49-F238E27FC236}">
                  <a16:creationId xmlns:a16="http://schemas.microsoft.com/office/drawing/2014/main" id="{78206B3C-9788-4A47-A2D3-57E3849AE9C9}"/>
                </a:ext>
              </a:extLst>
            </p:cNvPr>
            <p:cNvCxnSpPr>
              <a:cxnSpLocks noChangeShapeType="1"/>
              <a:stCxn id="121863" idx="2"/>
            </p:cNvCxnSpPr>
            <p:nvPr/>
          </p:nvCxnSpPr>
          <p:spPr bwMode="auto">
            <a:xfrm rot="5400000">
              <a:off x="6839744" y="3883819"/>
              <a:ext cx="646113" cy="952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21873" name="TextBox 26">
              <a:extLst>
                <a:ext uri="{FF2B5EF4-FFF2-40B4-BE49-F238E27FC236}">
                  <a16:creationId xmlns:a16="http://schemas.microsoft.com/office/drawing/2014/main" id="{DCC63DCC-BBAE-0647-8247-7FA678323A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45300" y="4211638"/>
              <a:ext cx="673100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  <a:latin typeface="Arial" panose="020B0604020202020204" pitchFamily="34" charset="0"/>
                </a:rPr>
                <a:t>Data</a:t>
              </a:r>
            </a:p>
          </p:txBody>
        </p:sp>
      </p:grp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8610600" cy="754237"/>
          </a:xfrm>
        </p:spPr>
        <p:txBody>
          <a:bodyPr/>
          <a:lstStyle/>
          <a:p>
            <a:r>
              <a:rPr lang="en-US" altLang="en-US" dirty="0">
                <a:ea typeface="ＭＳ Ｐゴシック" charset="-128"/>
              </a:rPr>
              <a:t>State Diagrams for CPU and Bus Requests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AC8E1797-93E9-41E0-A5B9-E68F4DB87048}"/>
              </a:ext>
            </a:extLst>
          </p:cNvPr>
          <p:cNvSpPr/>
          <p:nvPr/>
        </p:nvSpPr>
        <p:spPr bwMode="auto">
          <a:xfrm>
            <a:off x="838200" y="2667000"/>
            <a:ext cx="533400" cy="533400"/>
          </a:xfrm>
          <a:prstGeom prst="ellipse">
            <a:avLst/>
          </a:prstGeom>
          <a:solidFill>
            <a:srgbClr val="CCEC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I</a:t>
            </a: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005BAE60-CE78-4463-AD13-DB69EE7C9A63}"/>
              </a:ext>
            </a:extLst>
          </p:cNvPr>
          <p:cNvSpPr/>
          <p:nvPr/>
        </p:nvSpPr>
        <p:spPr bwMode="auto">
          <a:xfrm>
            <a:off x="3124200" y="2667000"/>
            <a:ext cx="533400" cy="533400"/>
          </a:xfrm>
          <a:prstGeom prst="ellipse">
            <a:avLst/>
          </a:prstGeom>
          <a:solidFill>
            <a:srgbClr val="CCEC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S</a:t>
            </a: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5D770194-E5A9-4678-928A-83848C41101E}"/>
              </a:ext>
            </a:extLst>
          </p:cNvPr>
          <p:cNvSpPr/>
          <p:nvPr/>
        </p:nvSpPr>
        <p:spPr bwMode="auto">
          <a:xfrm>
            <a:off x="838200" y="4343400"/>
            <a:ext cx="533400" cy="533400"/>
          </a:xfrm>
          <a:prstGeom prst="ellipse">
            <a:avLst/>
          </a:prstGeom>
          <a:solidFill>
            <a:srgbClr val="CCEC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dirty="0"/>
              <a:t>M</a:t>
            </a: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E9B87900-93BD-4D45-9F98-9B8076355842}"/>
              </a:ext>
            </a:extLst>
          </p:cNvPr>
          <p:cNvCxnSpPr>
            <a:stCxn id="2" idx="6"/>
            <a:endCxn id="25" idx="2"/>
          </p:cNvCxnSpPr>
          <p:nvPr/>
        </p:nvCxnSpPr>
        <p:spPr bwMode="auto">
          <a:xfrm>
            <a:off x="1371600" y="2933700"/>
            <a:ext cx="1752600" cy="0"/>
          </a:xfrm>
          <a:prstGeom prst="straightConnector1">
            <a:avLst/>
          </a:prstGeom>
          <a:solidFill>
            <a:srgbClr val="C0C0C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9" name="矩形 28">
            <a:extLst>
              <a:ext uri="{FF2B5EF4-FFF2-40B4-BE49-F238E27FC236}">
                <a16:creationId xmlns:a16="http://schemas.microsoft.com/office/drawing/2014/main" id="{41B4DC87-2F18-4294-8402-B0B5FA33753D}"/>
              </a:ext>
            </a:extLst>
          </p:cNvPr>
          <p:cNvSpPr/>
          <p:nvPr/>
        </p:nvSpPr>
        <p:spPr>
          <a:xfrm>
            <a:off x="1638300" y="2621137"/>
            <a:ext cx="12954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1400" b="1" dirty="0">
                <a:solidFill>
                  <a:schemeClr val="accent2"/>
                </a:solidFill>
                <a:latin typeface="Arial Narrow" panose="020B0606020202030204" pitchFamily="34" charset="0"/>
              </a:rPr>
              <a:t>Core read miss</a:t>
            </a:r>
            <a:endParaRPr lang="zh-CN" altLang="en-US" sz="1400" dirty="0">
              <a:solidFill>
                <a:schemeClr val="accent2"/>
              </a:solidFill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DA7D2423-30AF-4B5C-AD66-839A73DD0923}"/>
              </a:ext>
            </a:extLst>
          </p:cNvPr>
          <p:cNvSpPr/>
          <p:nvPr/>
        </p:nvSpPr>
        <p:spPr>
          <a:xfrm>
            <a:off x="1523999" y="2933700"/>
            <a:ext cx="1524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1400" b="1" dirty="0">
                <a:solidFill>
                  <a:srgbClr val="92D050"/>
                </a:solidFill>
                <a:latin typeface="Arial Narrow" panose="020B0606020202030204" pitchFamily="34" charset="0"/>
              </a:rPr>
              <a:t>Read miss on bus</a:t>
            </a:r>
            <a:endParaRPr lang="zh-CN" altLang="en-US" sz="1400" dirty="0">
              <a:solidFill>
                <a:srgbClr val="92D050"/>
              </a:solidFill>
            </a:endParaRPr>
          </a:p>
        </p:txBody>
      </p: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A48AE015-2431-476F-ABEA-92848C2CF5D5}"/>
              </a:ext>
            </a:extLst>
          </p:cNvPr>
          <p:cNvCxnSpPr>
            <a:cxnSpLocks/>
            <a:endCxn id="26" idx="0"/>
          </p:cNvCxnSpPr>
          <p:nvPr/>
        </p:nvCxnSpPr>
        <p:spPr bwMode="auto">
          <a:xfrm>
            <a:off x="1104900" y="3200400"/>
            <a:ext cx="0" cy="1143000"/>
          </a:xfrm>
          <a:prstGeom prst="straightConnector1">
            <a:avLst/>
          </a:prstGeom>
          <a:solidFill>
            <a:srgbClr val="C0C0C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5" name="矩形 34">
            <a:extLst>
              <a:ext uri="{FF2B5EF4-FFF2-40B4-BE49-F238E27FC236}">
                <a16:creationId xmlns:a16="http://schemas.microsoft.com/office/drawing/2014/main" id="{4C1C1B89-A3E7-4D99-AC9E-1641B9152907}"/>
              </a:ext>
            </a:extLst>
          </p:cNvPr>
          <p:cNvSpPr/>
          <p:nvPr/>
        </p:nvSpPr>
        <p:spPr>
          <a:xfrm>
            <a:off x="76200" y="3741153"/>
            <a:ext cx="129539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1400" b="1" dirty="0">
                <a:solidFill>
                  <a:schemeClr val="accent2"/>
                </a:solidFill>
                <a:latin typeface="Arial Narrow" panose="020B0606020202030204" pitchFamily="34" charset="0"/>
              </a:rPr>
              <a:t>Core write miss</a:t>
            </a:r>
            <a:endParaRPr lang="zh-CN" altLang="en-US" sz="1400" dirty="0">
              <a:solidFill>
                <a:schemeClr val="accent2"/>
              </a:solidFill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78F1DD87-93EE-4D59-819F-BD6FD354FC8A}"/>
              </a:ext>
            </a:extLst>
          </p:cNvPr>
          <p:cNvSpPr/>
          <p:nvPr/>
        </p:nvSpPr>
        <p:spPr>
          <a:xfrm>
            <a:off x="1043781" y="3378814"/>
            <a:ext cx="1524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1400" b="1" dirty="0">
                <a:solidFill>
                  <a:srgbClr val="92D050"/>
                </a:solidFill>
                <a:latin typeface="Arial Narrow" panose="020B0606020202030204" pitchFamily="34" charset="0"/>
              </a:rPr>
              <a:t>Write miss on bus</a:t>
            </a:r>
            <a:endParaRPr lang="zh-CN" altLang="en-US" sz="1400" dirty="0">
              <a:solidFill>
                <a:srgbClr val="92D050"/>
              </a:solidFill>
            </a:endParaRPr>
          </a:p>
        </p:txBody>
      </p:sp>
      <p:cxnSp>
        <p:nvCxnSpPr>
          <p:cNvPr id="11" name="连接符: 曲线 10">
            <a:extLst>
              <a:ext uri="{FF2B5EF4-FFF2-40B4-BE49-F238E27FC236}">
                <a16:creationId xmlns:a16="http://schemas.microsoft.com/office/drawing/2014/main" id="{F51F1982-ED9B-466D-911D-AABCC5CA32F5}"/>
              </a:ext>
            </a:extLst>
          </p:cNvPr>
          <p:cNvCxnSpPr>
            <a:stCxn id="25" idx="0"/>
            <a:endCxn id="25" idx="6"/>
          </p:cNvCxnSpPr>
          <p:nvPr/>
        </p:nvCxnSpPr>
        <p:spPr bwMode="auto">
          <a:xfrm rot="16200000" flipH="1">
            <a:off x="3390900" y="2667000"/>
            <a:ext cx="266700" cy="266700"/>
          </a:xfrm>
          <a:prstGeom prst="curvedConnector4">
            <a:avLst>
              <a:gd name="adj1" fmla="val -85714"/>
              <a:gd name="adj2" fmla="val 185714"/>
            </a:avLst>
          </a:prstGeom>
          <a:solidFill>
            <a:srgbClr val="C0C0C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3" name="矩形 42">
            <a:extLst>
              <a:ext uri="{FF2B5EF4-FFF2-40B4-BE49-F238E27FC236}">
                <a16:creationId xmlns:a16="http://schemas.microsoft.com/office/drawing/2014/main" id="{E8EB4686-284D-4450-8B48-93DD48EC3331}"/>
              </a:ext>
            </a:extLst>
          </p:cNvPr>
          <p:cNvSpPr/>
          <p:nvPr/>
        </p:nvSpPr>
        <p:spPr>
          <a:xfrm>
            <a:off x="3200400" y="2205333"/>
            <a:ext cx="12192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1400" b="1" dirty="0">
                <a:solidFill>
                  <a:schemeClr val="accent2"/>
                </a:solidFill>
                <a:latin typeface="Arial Narrow" panose="020B0606020202030204" pitchFamily="34" charset="0"/>
              </a:rPr>
              <a:t>Core read hit</a:t>
            </a:r>
            <a:endParaRPr lang="zh-CN" altLang="en-US" sz="1400" dirty="0">
              <a:solidFill>
                <a:schemeClr val="accent2"/>
              </a:solidFill>
            </a:endParaRPr>
          </a:p>
        </p:txBody>
      </p:sp>
      <p:cxnSp>
        <p:nvCxnSpPr>
          <p:cNvPr id="15" name="连接符: 曲线 14">
            <a:extLst>
              <a:ext uri="{FF2B5EF4-FFF2-40B4-BE49-F238E27FC236}">
                <a16:creationId xmlns:a16="http://schemas.microsoft.com/office/drawing/2014/main" id="{351F057F-D7E9-4F8A-A533-75614748D877}"/>
              </a:ext>
            </a:extLst>
          </p:cNvPr>
          <p:cNvCxnSpPr>
            <a:stCxn id="26" idx="3"/>
            <a:endCxn id="26" idx="1"/>
          </p:cNvCxnSpPr>
          <p:nvPr/>
        </p:nvCxnSpPr>
        <p:spPr bwMode="auto">
          <a:xfrm rot="5400000" flipH="1">
            <a:off x="727730" y="4610100"/>
            <a:ext cx="377170" cy="12700"/>
          </a:xfrm>
          <a:prstGeom prst="curvedConnector5">
            <a:avLst>
              <a:gd name="adj1" fmla="val -14948"/>
              <a:gd name="adj2" fmla="val 2995685"/>
              <a:gd name="adj3" fmla="val 129081"/>
            </a:avLst>
          </a:prstGeom>
          <a:solidFill>
            <a:srgbClr val="C0C0C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53" name="矩形 52">
            <a:extLst>
              <a:ext uri="{FF2B5EF4-FFF2-40B4-BE49-F238E27FC236}">
                <a16:creationId xmlns:a16="http://schemas.microsoft.com/office/drawing/2014/main" id="{42A51F05-015D-4ACC-9580-5D59B76CA016}"/>
              </a:ext>
            </a:extLst>
          </p:cNvPr>
          <p:cNvSpPr/>
          <p:nvPr/>
        </p:nvSpPr>
        <p:spPr>
          <a:xfrm>
            <a:off x="118913" y="4816481"/>
            <a:ext cx="12192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1400" b="1" dirty="0">
                <a:solidFill>
                  <a:schemeClr val="accent2"/>
                </a:solidFill>
                <a:latin typeface="Arial Narrow" panose="020B0606020202030204" pitchFamily="34" charset="0"/>
              </a:rPr>
              <a:t>Core read hit</a:t>
            </a:r>
            <a:endParaRPr lang="zh-CN" altLang="en-US" sz="1400" dirty="0">
              <a:solidFill>
                <a:schemeClr val="accent2"/>
              </a:solidFill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C5860720-11DC-4644-882D-DE5ECD2935D7}"/>
              </a:ext>
            </a:extLst>
          </p:cNvPr>
          <p:cNvSpPr/>
          <p:nvPr/>
        </p:nvSpPr>
        <p:spPr>
          <a:xfrm>
            <a:off x="118913" y="5046338"/>
            <a:ext cx="12192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1400" b="1" dirty="0">
                <a:solidFill>
                  <a:schemeClr val="accent2"/>
                </a:solidFill>
                <a:latin typeface="Arial Narrow" panose="020B0606020202030204" pitchFamily="34" charset="0"/>
              </a:rPr>
              <a:t>Core write hit</a:t>
            </a:r>
            <a:endParaRPr lang="zh-CN" altLang="en-US" sz="1400" dirty="0">
              <a:solidFill>
                <a:schemeClr val="accent2"/>
              </a:solidFill>
            </a:endParaRPr>
          </a:p>
        </p:txBody>
      </p: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8D6C837B-A258-43FE-B491-72F8D5EFCE98}"/>
              </a:ext>
            </a:extLst>
          </p:cNvPr>
          <p:cNvCxnSpPr>
            <a:cxnSpLocks/>
            <a:stCxn id="25" idx="4"/>
          </p:cNvCxnSpPr>
          <p:nvPr/>
        </p:nvCxnSpPr>
        <p:spPr bwMode="auto">
          <a:xfrm flipH="1">
            <a:off x="1371592" y="3200400"/>
            <a:ext cx="2019308" cy="1420030"/>
          </a:xfrm>
          <a:prstGeom prst="straightConnector1">
            <a:avLst/>
          </a:prstGeom>
          <a:solidFill>
            <a:srgbClr val="C0C0C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7" name="矩形 56">
            <a:extLst>
              <a:ext uri="{FF2B5EF4-FFF2-40B4-BE49-F238E27FC236}">
                <a16:creationId xmlns:a16="http://schemas.microsoft.com/office/drawing/2014/main" id="{321CFE9D-E428-4074-AA22-3A7931D71C74}"/>
              </a:ext>
            </a:extLst>
          </p:cNvPr>
          <p:cNvSpPr/>
          <p:nvPr/>
        </p:nvSpPr>
        <p:spPr>
          <a:xfrm rot="19460699">
            <a:off x="1368581" y="3856873"/>
            <a:ext cx="129539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1400" b="1" dirty="0">
                <a:solidFill>
                  <a:schemeClr val="accent2"/>
                </a:solidFill>
                <a:latin typeface="Arial Narrow" panose="020B0606020202030204" pitchFamily="34" charset="0"/>
              </a:rPr>
              <a:t>Core write hit</a:t>
            </a:r>
            <a:endParaRPr lang="zh-CN" altLang="en-US" sz="1400" dirty="0">
              <a:solidFill>
                <a:schemeClr val="accent2"/>
              </a:solidFill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0DF7B45A-C3FE-4BCA-9A3A-635C7233B47F}"/>
              </a:ext>
            </a:extLst>
          </p:cNvPr>
          <p:cNvSpPr/>
          <p:nvPr/>
        </p:nvSpPr>
        <p:spPr>
          <a:xfrm rot="19423600">
            <a:off x="1427233" y="4037529"/>
            <a:ext cx="1524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1400" b="1" dirty="0">
                <a:solidFill>
                  <a:srgbClr val="92D050"/>
                </a:solidFill>
                <a:latin typeface="Arial Narrow" panose="020B0606020202030204" pitchFamily="34" charset="0"/>
              </a:rPr>
              <a:t>Invalidate on bus</a:t>
            </a:r>
            <a:endParaRPr lang="zh-CN" altLang="en-US" sz="1400" dirty="0">
              <a:solidFill>
                <a:srgbClr val="92D050"/>
              </a:solidFill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C2FC792-034F-4AC2-8709-DC5E685D355A}"/>
              </a:ext>
            </a:extLst>
          </p:cNvPr>
          <p:cNvSpPr/>
          <p:nvPr/>
        </p:nvSpPr>
        <p:spPr>
          <a:xfrm>
            <a:off x="228600" y="1131286"/>
            <a:ext cx="510539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b="1" dirty="0">
                <a:solidFill>
                  <a:schemeClr val="accent2"/>
                </a:solidFill>
                <a:latin typeface="Arial Narrow" panose="020B0606020202030204" pitchFamily="34" charset="0"/>
              </a:rPr>
              <a:t>Core’s memory read/write </a:t>
            </a:r>
            <a:r>
              <a:rPr lang="en-US" altLang="en-US" b="1" dirty="0">
                <a:solidFill>
                  <a:schemeClr val="accent2"/>
                </a:solidFill>
                <a:latin typeface="Arial Narrow" panose="020B0606020202030204" pitchFamily="34" charset="0"/>
                <a:sym typeface="Wingdings" pitchFamily="2" charset="2"/>
              </a:rPr>
              <a:t> </a:t>
            </a:r>
            <a:r>
              <a:rPr lang="en-US" altLang="en-US" b="1" dirty="0">
                <a:latin typeface="Arial Narrow" panose="020B0606020202030204" pitchFamily="34" charset="0"/>
                <a:sym typeface="Wingdings" pitchFamily="2" charset="2"/>
              </a:rPr>
              <a:t>Cache states, Bus action</a:t>
            </a:r>
            <a:r>
              <a:rPr lang="en-US" altLang="en-US" b="1" dirty="0">
                <a:latin typeface="Arial Narrow" panose="020B0606020202030204" pitchFamily="34" charset="0"/>
              </a:rPr>
              <a:t>:</a:t>
            </a:r>
          </a:p>
          <a:p>
            <a:r>
              <a:rPr lang="en-US" altLang="zh-CN" b="1" dirty="0">
                <a:solidFill>
                  <a:schemeClr val="accent2"/>
                </a:solidFill>
                <a:latin typeface="Arial Narrow" panose="020B0606020202030204" pitchFamily="34" charset="0"/>
              </a:rPr>
              <a:t>     </a:t>
            </a:r>
            <a:r>
              <a:rPr lang="en-US" altLang="zh-CN" dirty="0">
                <a:solidFill>
                  <a:schemeClr val="accent2"/>
                </a:solidFill>
                <a:latin typeface="Arial Narrow" panose="020B0606020202030204" pitchFamily="34" charset="0"/>
              </a:rPr>
              <a:t>1, Miss in local cache</a:t>
            </a:r>
          </a:p>
          <a:p>
            <a:r>
              <a:rPr lang="en-US" altLang="zh-CN" dirty="0">
                <a:solidFill>
                  <a:schemeClr val="accent2"/>
                </a:solidFill>
                <a:latin typeface="Arial Narrow" panose="020B0606020202030204" pitchFamily="34" charset="0"/>
              </a:rPr>
              <a:t>     2, Hit in local cache</a:t>
            </a:r>
            <a:endParaRPr lang="zh-CN" altLang="en-US" dirty="0">
              <a:solidFill>
                <a:schemeClr val="accent2"/>
              </a:solidFill>
              <a:latin typeface="Arial Narrow" panose="020B0606020202030204" pitchFamily="34" charset="0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526C89E2-E57C-4E77-9B38-6620B7662C67}"/>
              </a:ext>
            </a:extLst>
          </p:cNvPr>
          <p:cNvGrpSpPr/>
          <p:nvPr/>
        </p:nvGrpSpPr>
        <p:grpSpPr>
          <a:xfrm>
            <a:off x="5642993" y="1132070"/>
            <a:ext cx="3018442" cy="3774597"/>
            <a:chOff x="5267026" y="1130163"/>
            <a:chExt cx="2991131" cy="3774597"/>
          </a:xfrm>
        </p:grpSpPr>
        <p:sp>
          <p:nvSpPr>
            <p:cNvPr id="69" name="矩形 68">
              <a:extLst>
                <a:ext uri="{FF2B5EF4-FFF2-40B4-BE49-F238E27FC236}">
                  <a16:creationId xmlns:a16="http://schemas.microsoft.com/office/drawing/2014/main" id="{FC767DEF-BD21-47A2-ABDD-3B481DA09A7E}"/>
                </a:ext>
              </a:extLst>
            </p:cNvPr>
            <p:cNvSpPr/>
            <p:nvPr/>
          </p:nvSpPr>
          <p:spPr>
            <a:xfrm>
              <a:off x="5640424" y="1130163"/>
              <a:ext cx="2617733" cy="9848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en-US" sz="1600" b="1" dirty="0">
                  <a:solidFill>
                    <a:srgbClr val="92D050"/>
                  </a:solidFill>
                  <a:latin typeface="Arial Narrow" panose="020B0606020202030204" pitchFamily="34" charset="0"/>
                </a:rPr>
                <a:t>Bus action </a:t>
              </a:r>
              <a:r>
                <a:rPr lang="en-US" altLang="en-US" sz="1600" b="1" dirty="0">
                  <a:solidFill>
                    <a:srgbClr val="92D050"/>
                  </a:solidFill>
                  <a:latin typeface="Arial Narrow" panose="020B0606020202030204" pitchFamily="34" charset="0"/>
                  <a:sym typeface="Wingdings" pitchFamily="2" charset="2"/>
                </a:rPr>
                <a:t> </a:t>
              </a:r>
              <a:r>
                <a:rPr lang="en-US" altLang="en-US" sz="1600" b="1" dirty="0">
                  <a:latin typeface="Arial Narrow" panose="020B0606020202030204" pitchFamily="34" charset="0"/>
                  <a:sym typeface="Wingdings" pitchFamily="2" charset="2"/>
                </a:rPr>
                <a:t>Cache states</a:t>
              </a:r>
              <a:r>
                <a:rPr lang="en-US" altLang="en-US" sz="1400" b="1" dirty="0">
                  <a:solidFill>
                    <a:srgbClr val="92D050"/>
                  </a:solidFill>
                  <a:latin typeface="Arial Narrow" panose="020B0606020202030204" pitchFamily="34" charset="0"/>
                </a:rPr>
                <a:t>:</a:t>
              </a:r>
            </a:p>
            <a:p>
              <a:r>
                <a:rPr lang="en-US" altLang="zh-CN" sz="1400" dirty="0">
                  <a:solidFill>
                    <a:srgbClr val="92D050"/>
                  </a:solidFill>
                  <a:latin typeface="Arial Narrow" panose="020B0606020202030204" pitchFamily="34" charset="0"/>
                </a:rPr>
                <a:t>     1, Invalidate</a:t>
              </a:r>
            </a:p>
            <a:p>
              <a:r>
                <a:rPr lang="en-US" altLang="zh-CN" sz="1400" dirty="0">
                  <a:solidFill>
                    <a:srgbClr val="92D050"/>
                  </a:solidFill>
                  <a:latin typeface="Arial Narrow" panose="020B0606020202030204" pitchFamily="34" charset="0"/>
                </a:rPr>
                <a:t>     2, Write miss</a:t>
              </a:r>
            </a:p>
            <a:p>
              <a:r>
                <a:rPr lang="en-US" altLang="zh-CN" sz="1400" dirty="0">
                  <a:solidFill>
                    <a:srgbClr val="92D050"/>
                  </a:solidFill>
                  <a:latin typeface="Arial Narrow" panose="020B0606020202030204" pitchFamily="34" charset="0"/>
                </a:rPr>
                <a:t>     3, Read miss </a:t>
              </a:r>
            </a:p>
          </p:txBody>
        </p:sp>
        <p:sp>
          <p:nvSpPr>
            <p:cNvPr id="70" name="椭圆 69">
              <a:extLst>
                <a:ext uri="{FF2B5EF4-FFF2-40B4-BE49-F238E27FC236}">
                  <a16:creationId xmlns:a16="http://schemas.microsoft.com/office/drawing/2014/main" id="{353613F6-0374-442E-8948-51792C101437}"/>
                </a:ext>
              </a:extLst>
            </p:cNvPr>
            <p:cNvSpPr/>
            <p:nvPr/>
          </p:nvSpPr>
          <p:spPr bwMode="auto">
            <a:xfrm>
              <a:off x="5267026" y="2694960"/>
              <a:ext cx="533400" cy="533400"/>
            </a:xfrm>
            <a:prstGeom prst="ellipse">
              <a:avLst/>
            </a:prstGeom>
            <a:solidFill>
              <a:srgbClr val="CCEC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</a:rPr>
                <a:t>I</a:t>
              </a:r>
              <a:endPara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71" name="椭圆 70">
              <a:extLst>
                <a:ext uri="{FF2B5EF4-FFF2-40B4-BE49-F238E27FC236}">
                  <a16:creationId xmlns:a16="http://schemas.microsoft.com/office/drawing/2014/main" id="{7F9D0DF9-DCB6-45C0-B1C6-481BBA075EA5}"/>
                </a:ext>
              </a:extLst>
            </p:cNvPr>
            <p:cNvSpPr/>
            <p:nvPr/>
          </p:nvSpPr>
          <p:spPr bwMode="auto">
            <a:xfrm>
              <a:off x="7553026" y="2694960"/>
              <a:ext cx="533400" cy="533400"/>
            </a:xfrm>
            <a:prstGeom prst="ellipse">
              <a:avLst/>
            </a:prstGeom>
            <a:solidFill>
              <a:srgbClr val="CCEC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</a:rPr>
                <a:t>S</a:t>
              </a:r>
              <a:endPara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72" name="椭圆 71">
              <a:extLst>
                <a:ext uri="{FF2B5EF4-FFF2-40B4-BE49-F238E27FC236}">
                  <a16:creationId xmlns:a16="http://schemas.microsoft.com/office/drawing/2014/main" id="{0C6FEB89-FDA9-45E9-B7EB-BAC735722B80}"/>
                </a:ext>
              </a:extLst>
            </p:cNvPr>
            <p:cNvSpPr/>
            <p:nvPr/>
          </p:nvSpPr>
          <p:spPr bwMode="auto">
            <a:xfrm>
              <a:off x="5267026" y="4371360"/>
              <a:ext cx="533400" cy="533400"/>
            </a:xfrm>
            <a:prstGeom prst="ellipse">
              <a:avLst/>
            </a:prstGeom>
            <a:solidFill>
              <a:srgbClr val="CCEC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dirty="0"/>
                <a:t>M</a:t>
              </a:r>
              <a:endPara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</p:grpSp>
      <p:cxnSp>
        <p:nvCxnSpPr>
          <p:cNvPr id="73" name="直接箭头连接符 72">
            <a:extLst>
              <a:ext uri="{FF2B5EF4-FFF2-40B4-BE49-F238E27FC236}">
                <a16:creationId xmlns:a16="http://schemas.microsoft.com/office/drawing/2014/main" id="{4A9813A4-75B0-46B9-9D09-3D9ED193F4E5}"/>
              </a:ext>
            </a:extLst>
          </p:cNvPr>
          <p:cNvCxnSpPr>
            <a:cxnSpLocks/>
          </p:cNvCxnSpPr>
          <p:nvPr/>
        </p:nvCxnSpPr>
        <p:spPr bwMode="auto">
          <a:xfrm>
            <a:off x="6183050" y="2961660"/>
            <a:ext cx="1768603" cy="0"/>
          </a:xfrm>
          <a:prstGeom prst="straightConnector1">
            <a:avLst/>
          </a:prstGeom>
          <a:solidFill>
            <a:srgbClr val="C0C0C0"/>
          </a:solidFill>
          <a:ln w="12700" cap="flat" cmpd="sng" algn="ctr">
            <a:solidFill>
              <a:schemeClr val="tx1"/>
            </a:solidFill>
            <a:prstDash val="solid"/>
            <a:round/>
            <a:headEnd type="arrow" w="med" len="med"/>
            <a:tailEnd type="none"/>
          </a:ln>
          <a:effectLst/>
        </p:spPr>
      </p:cxnSp>
      <p:cxnSp>
        <p:nvCxnSpPr>
          <p:cNvPr id="76" name="直接箭头连接符 75">
            <a:extLst>
              <a:ext uri="{FF2B5EF4-FFF2-40B4-BE49-F238E27FC236}">
                <a16:creationId xmlns:a16="http://schemas.microsoft.com/office/drawing/2014/main" id="{8CD8C8CE-DACC-4126-9291-E8C4D8BCCA7F}"/>
              </a:ext>
            </a:extLst>
          </p:cNvPr>
          <p:cNvCxnSpPr>
            <a:cxnSpLocks/>
          </p:cNvCxnSpPr>
          <p:nvPr/>
        </p:nvCxnSpPr>
        <p:spPr bwMode="auto">
          <a:xfrm>
            <a:off x="5911480" y="3228360"/>
            <a:ext cx="2435" cy="1143000"/>
          </a:xfrm>
          <a:prstGeom prst="straightConnector1">
            <a:avLst/>
          </a:prstGeom>
          <a:solidFill>
            <a:srgbClr val="C0C0C0"/>
          </a:solidFill>
          <a:ln w="12700" cap="flat" cmpd="sng" algn="ctr">
            <a:solidFill>
              <a:schemeClr val="tx1"/>
            </a:solidFill>
            <a:prstDash val="solid"/>
            <a:round/>
            <a:headEnd type="arrow" w="med" len="med"/>
            <a:tailEnd type="none"/>
          </a:ln>
          <a:effectLst/>
        </p:spPr>
      </p:cxnSp>
      <p:sp>
        <p:nvSpPr>
          <p:cNvPr id="78" name="矩形 77">
            <a:extLst>
              <a:ext uri="{FF2B5EF4-FFF2-40B4-BE49-F238E27FC236}">
                <a16:creationId xmlns:a16="http://schemas.microsoft.com/office/drawing/2014/main" id="{71906773-E1E1-4D0B-82CB-6642A603C491}"/>
              </a:ext>
            </a:extLst>
          </p:cNvPr>
          <p:cNvSpPr/>
          <p:nvPr/>
        </p:nvSpPr>
        <p:spPr>
          <a:xfrm>
            <a:off x="6263610" y="2691809"/>
            <a:ext cx="168374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1400" b="1" dirty="0">
                <a:solidFill>
                  <a:srgbClr val="92D050"/>
                </a:solidFill>
                <a:latin typeface="Arial Narrow" panose="020B0606020202030204" pitchFamily="34" charset="0"/>
              </a:rPr>
              <a:t>Invalidate/Write miss</a:t>
            </a:r>
            <a:endParaRPr lang="zh-CN" altLang="en-US" sz="1400" dirty="0">
              <a:solidFill>
                <a:srgbClr val="92D050"/>
              </a:solidFill>
            </a:endParaRPr>
          </a:p>
        </p:txBody>
      </p:sp>
      <p:cxnSp>
        <p:nvCxnSpPr>
          <p:cNvPr id="79" name="连接符: 曲线 78">
            <a:extLst>
              <a:ext uri="{FF2B5EF4-FFF2-40B4-BE49-F238E27FC236}">
                <a16:creationId xmlns:a16="http://schemas.microsoft.com/office/drawing/2014/main" id="{41FE95A4-DEA4-4DB7-B4EA-152CA1FBF59E}"/>
              </a:ext>
            </a:extLst>
          </p:cNvPr>
          <p:cNvCxnSpPr>
            <a:cxnSpLocks/>
          </p:cNvCxnSpPr>
          <p:nvPr/>
        </p:nvCxnSpPr>
        <p:spPr bwMode="auto">
          <a:xfrm rot="16200000" flipH="1">
            <a:off x="8222005" y="2693743"/>
            <a:ext cx="266700" cy="269135"/>
          </a:xfrm>
          <a:prstGeom prst="curvedConnector4">
            <a:avLst>
              <a:gd name="adj1" fmla="val -85714"/>
              <a:gd name="adj2" fmla="val 184939"/>
            </a:avLst>
          </a:prstGeom>
          <a:solidFill>
            <a:srgbClr val="C0C0C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83" name="直接箭头连接符 82">
            <a:extLst>
              <a:ext uri="{FF2B5EF4-FFF2-40B4-BE49-F238E27FC236}">
                <a16:creationId xmlns:a16="http://schemas.microsoft.com/office/drawing/2014/main" id="{424A3A1F-0E45-4612-8711-28CFC89D75C9}"/>
              </a:ext>
            </a:extLst>
          </p:cNvPr>
          <p:cNvCxnSpPr>
            <a:cxnSpLocks/>
          </p:cNvCxnSpPr>
          <p:nvPr/>
        </p:nvCxnSpPr>
        <p:spPr bwMode="auto">
          <a:xfrm flipH="1">
            <a:off x="6178172" y="3228360"/>
            <a:ext cx="2042616" cy="1420030"/>
          </a:xfrm>
          <a:prstGeom prst="straightConnector1">
            <a:avLst/>
          </a:prstGeom>
          <a:solidFill>
            <a:srgbClr val="C0C0C0"/>
          </a:solidFill>
          <a:ln w="12700" cap="flat" cmpd="sng" algn="ctr">
            <a:solidFill>
              <a:schemeClr val="tx1"/>
            </a:solidFill>
            <a:prstDash val="solid"/>
            <a:round/>
            <a:headEnd type="arrow" w="med" len="med"/>
            <a:tailEnd type="none"/>
          </a:ln>
          <a:effectLst/>
        </p:spPr>
      </p:cxnSp>
      <p:sp>
        <p:nvSpPr>
          <p:cNvPr id="84" name="矩形 83">
            <a:extLst>
              <a:ext uri="{FF2B5EF4-FFF2-40B4-BE49-F238E27FC236}">
                <a16:creationId xmlns:a16="http://schemas.microsoft.com/office/drawing/2014/main" id="{3BA7457C-3BC0-4EA8-9E5C-A0892E59FED4}"/>
              </a:ext>
            </a:extLst>
          </p:cNvPr>
          <p:cNvSpPr/>
          <p:nvPr/>
        </p:nvSpPr>
        <p:spPr>
          <a:xfrm rot="19460699">
            <a:off x="6630061" y="3539132"/>
            <a:ext cx="129539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1400" b="1" dirty="0">
                <a:solidFill>
                  <a:srgbClr val="92D050"/>
                </a:solidFill>
                <a:latin typeface="Arial Narrow" panose="020B0606020202030204" pitchFamily="34" charset="0"/>
              </a:rPr>
              <a:t>Read miss</a:t>
            </a:r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890FB45B-E580-4AE9-88E7-46B3B1428CA2}"/>
              </a:ext>
            </a:extLst>
          </p:cNvPr>
          <p:cNvSpPr/>
          <p:nvPr/>
        </p:nvSpPr>
        <p:spPr>
          <a:xfrm>
            <a:off x="8011935" y="2192004"/>
            <a:ext cx="97966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1400" b="1" dirty="0">
                <a:solidFill>
                  <a:srgbClr val="92D050"/>
                </a:solidFill>
                <a:latin typeface="Arial Narrow" panose="020B0606020202030204" pitchFamily="34" charset="0"/>
              </a:rPr>
              <a:t>Read miss</a:t>
            </a:r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226AE574-1945-476C-AFD5-2235E2AFBAB2}"/>
              </a:ext>
            </a:extLst>
          </p:cNvPr>
          <p:cNvSpPr/>
          <p:nvPr/>
        </p:nvSpPr>
        <p:spPr>
          <a:xfrm rot="19460699">
            <a:off x="6365720" y="3882650"/>
            <a:ext cx="202375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1200" b="1" dirty="0">
                <a:solidFill>
                  <a:srgbClr val="FF0000"/>
                </a:solidFill>
                <a:latin typeface="Arial Narrow" panose="020B0606020202030204" pitchFamily="34" charset="0"/>
              </a:rPr>
              <a:t>Write back block to requesting cache and memory</a:t>
            </a:r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047A0CA9-0D87-4BCC-BD41-3C28138F3ECF}"/>
              </a:ext>
            </a:extLst>
          </p:cNvPr>
          <p:cNvSpPr/>
          <p:nvPr/>
        </p:nvSpPr>
        <p:spPr>
          <a:xfrm>
            <a:off x="4283008" y="3367289"/>
            <a:ext cx="191349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1400" b="1" dirty="0">
                <a:solidFill>
                  <a:srgbClr val="92D050"/>
                </a:solidFill>
                <a:latin typeface="Arial Narrow" panose="020B0606020202030204" pitchFamily="34" charset="0"/>
              </a:rPr>
              <a:t>Invalidate/ Write miss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D133EB5-E5E8-46B8-B4B0-690DAAC8B500}"/>
              </a:ext>
            </a:extLst>
          </p:cNvPr>
          <p:cNvSpPr/>
          <p:nvPr/>
        </p:nvSpPr>
        <p:spPr>
          <a:xfrm>
            <a:off x="4454442" y="3628763"/>
            <a:ext cx="232040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1400" b="1" dirty="0">
                <a:solidFill>
                  <a:srgbClr val="FF0000"/>
                </a:solidFill>
                <a:latin typeface="Arial Narrow" panose="020B0606020202030204" pitchFamily="34" charset="0"/>
              </a:rPr>
              <a:t>Write back block to requesting cache and memory</a:t>
            </a:r>
          </a:p>
        </p:txBody>
      </p:sp>
      <p:sp>
        <p:nvSpPr>
          <p:cNvPr id="45" name="Line 10">
            <a:extLst>
              <a:ext uri="{FF2B5EF4-FFF2-40B4-BE49-F238E27FC236}">
                <a16:creationId xmlns:a16="http://schemas.microsoft.com/office/drawing/2014/main" id="{051CCC8A-95A0-427E-9FDC-27A908BD951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848801" y="5979062"/>
            <a:ext cx="13" cy="39295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arrow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91E96710-6B21-4C24-8BCF-E353111E0688}"/>
              </a:ext>
            </a:extLst>
          </p:cNvPr>
          <p:cNvSpPr/>
          <p:nvPr/>
        </p:nvSpPr>
        <p:spPr bwMode="auto">
          <a:xfrm>
            <a:off x="7035030" y="5304342"/>
            <a:ext cx="1371569" cy="679450"/>
          </a:xfrm>
          <a:prstGeom prst="roundRect">
            <a:avLst/>
          </a:prstGeom>
          <a:solidFill>
            <a:srgbClr val="CCEC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9B0DEEBA-2B39-4094-B87A-E41D2945F7C7}"/>
              </a:ext>
            </a:extLst>
          </p:cNvPr>
          <p:cNvSpPr/>
          <p:nvPr/>
        </p:nvSpPr>
        <p:spPr>
          <a:xfrm>
            <a:off x="7771074" y="6056312"/>
            <a:ext cx="96121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1400" b="1" dirty="0">
                <a:solidFill>
                  <a:srgbClr val="92D050"/>
                </a:solidFill>
                <a:latin typeface="Arial Narrow" panose="020B0606020202030204" pitchFamily="34" charset="0"/>
              </a:rPr>
              <a:t>Bus action</a:t>
            </a:r>
            <a:endParaRPr lang="zh-CN" altLang="en-US" sz="1400" dirty="0">
              <a:solidFill>
                <a:srgbClr val="92D050"/>
              </a:solidFill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30B8ED47-4635-42E3-B8B6-2D1540FE6D25}"/>
              </a:ext>
            </a:extLst>
          </p:cNvPr>
          <p:cNvSpPr/>
          <p:nvPr/>
        </p:nvSpPr>
        <p:spPr>
          <a:xfrm>
            <a:off x="7089009" y="5384732"/>
            <a:ext cx="673100" cy="523220"/>
          </a:xfrm>
          <a:prstGeom prst="rect">
            <a:avLst/>
          </a:prstGeom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en-US" sz="1400" dirty="0">
                <a:solidFill>
                  <a:srgbClr val="000000"/>
                </a:solidFill>
                <a:latin typeface="Arial Narrow" panose="020B0606020202030204" pitchFamily="34" charset="0"/>
              </a:rPr>
              <a:t>Cache blocks</a:t>
            </a:r>
            <a:endParaRPr lang="zh-CN" altLang="en-US" sz="1400" dirty="0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A3BF4E39-F7B5-4F94-8DDC-00A491186618}"/>
              </a:ext>
            </a:extLst>
          </p:cNvPr>
          <p:cNvSpPr/>
          <p:nvPr/>
        </p:nvSpPr>
        <p:spPr>
          <a:xfrm>
            <a:off x="7790666" y="5485448"/>
            <a:ext cx="533400" cy="307777"/>
          </a:xfrm>
          <a:prstGeom prst="rect">
            <a:avLst/>
          </a:prstGeom>
          <a:ln w="15875" cmpd="sng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en-US" sz="1400" dirty="0">
                <a:solidFill>
                  <a:srgbClr val="000000"/>
                </a:solidFill>
                <a:latin typeface="Arial Narrow" panose="020B0606020202030204" pitchFamily="34" charset="0"/>
              </a:rPr>
              <a:t>Tags</a:t>
            </a:r>
            <a:endParaRPr lang="zh-CN" altLang="en-US" sz="1400" dirty="0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AC8EC206-7E0D-445F-960B-DCD8940B5C58}"/>
              </a:ext>
            </a:extLst>
          </p:cNvPr>
          <p:cNvSpPr/>
          <p:nvPr/>
        </p:nvSpPr>
        <p:spPr>
          <a:xfrm>
            <a:off x="6398601" y="6011638"/>
            <a:ext cx="131216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1200" b="1" dirty="0">
                <a:solidFill>
                  <a:srgbClr val="FF0000"/>
                </a:solidFill>
                <a:latin typeface="Arial Narrow" panose="020B0606020202030204" pitchFamily="34" charset="0"/>
              </a:rPr>
              <a:t>Cache response</a:t>
            </a:r>
          </a:p>
        </p:txBody>
      </p:sp>
      <p:sp>
        <p:nvSpPr>
          <p:cNvPr id="51" name="Line 9">
            <a:extLst>
              <a:ext uri="{FF2B5EF4-FFF2-40B4-BE49-F238E27FC236}">
                <a16:creationId xmlns:a16="http://schemas.microsoft.com/office/drawing/2014/main" id="{CC4F4896-AEF3-4EC5-B96B-313C906B75A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09508" y="5955043"/>
            <a:ext cx="1" cy="416976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90E4B247-DEF1-4C32-B1DF-2316C6495E9E}"/>
              </a:ext>
            </a:extLst>
          </p:cNvPr>
          <p:cNvSpPr/>
          <p:nvPr/>
        </p:nvSpPr>
        <p:spPr bwMode="auto">
          <a:xfrm>
            <a:off x="5812285" y="5648765"/>
            <a:ext cx="716843" cy="288919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Cache</a:t>
            </a:r>
            <a:endParaRPr kumimoji="0" lang="zh-CN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D49A901C-D023-44A6-8E51-FD1EDB34E00D}"/>
              </a:ext>
            </a:extLst>
          </p:cNvPr>
          <p:cNvSpPr/>
          <p:nvPr/>
        </p:nvSpPr>
        <p:spPr>
          <a:xfrm>
            <a:off x="5812285" y="5364044"/>
            <a:ext cx="72648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1600" b="1" dirty="0">
                <a:solidFill>
                  <a:srgbClr val="92D050"/>
                </a:solidFill>
                <a:latin typeface="Arial Narrow" panose="020B0606020202030204" pitchFamily="34" charset="0"/>
              </a:rPr>
              <a:t>Starter</a:t>
            </a:r>
            <a:endParaRPr lang="zh-CN" altLang="en-US" sz="1600" dirty="0">
              <a:solidFill>
                <a:srgbClr val="92D050"/>
              </a:solidFill>
            </a:endParaRPr>
          </a:p>
        </p:txBody>
      </p:sp>
      <p:sp>
        <p:nvSpPr>
          <p:cNvPr id="59" name="Line 9">
            <a:extLst>
              <a:ext uri="{FF2B5EF4-FFF2-40B4-BE49-F238E27FC236}">
                <a16:creationId xmlns:a16="http://schemas.microsoft.com/office/drawing/2014/main" id="{7D8BF624-14A9-47EA-90A1-38A4937E1C2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09509" y="6372019"/>
            <a:ext cx="1839193" cy="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60" name="Line 9">
            <a:extLst>
              <a:ext uri="{FF2B5EF4-FFF2-40B4-BE49-F238E27FC236}">
                <a16:creationId xmlns:a16="http://schemas.microsoft.com/office/drawing/2014/main" id="{1462292D-D241-421C-9B87-3B8DCCA6EC8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556493" y="5976374"/>
            <a:ext cx="0" cy="268819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61" name="Line 9">
            <a:extLst>
              <a:ext uri="{FF2B5EF4-FFF2-40B4-BE49-F238E27FC236}">
                <a16:creationId xmlns:a16="http://schemas.microsoft.com/office/drawing/2014/main" id="{795A49DB-F83A-49A2-BAB6-3D4D5241F6E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51488" y="6242527"/>
            <a:ext cx="1207507" cy="612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62" name="Line 10">
            <a:extLst>
              <a:ext uri="{FF2B5EF4-FFF2-40B4-BE49-F238E27FC236}">
                <a16:creationId xmlns:a16="http://schemas.microsoft.com/office/drawing/2014/main" id="{9898BE76-8D1D-4AE6-9211-3E8CF48686D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51488" y="5932954"/>
            <a:ext cx="13" cy="307771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arrow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F827CDD6-7AB9-4454-A411-537C2DC986E2}"/>
              </a:ext>
            </a:extLst>
          </p:cNvPr>
          <p:cNvGrpSpPr/>
          <p:nvPr/>
        </p:nvGrpSpPr>
        <p:grpSpPr>
          <a:xfrm>
            <a:off x="1338113" y="5267649"/>
            <a:ext cx="1958828" cy="1476724"/>
            <a:chOff x="974872" y="5457476"/>
            <a:chExt cx="1958828" cy="1476724"/>
          </a:xfrm>
        </p:grpSpPr>
        <p:sp>
          <p:nvSpPr>
            <p:cNvPr id="63" name="Line 9">
              <a:extLst>
                <a:ext uri="{FF2B5EF4-FFF2-40B4-BE49-F238E27FC236}">
                  <a16:creationId xmlns:a16="http://schemas.microsoft.com/office/drawing/2014/main" id="{3B19CF2B-C2AE-45BC-B0C2-C25CFB7434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19451" y="5640657"/>
              <a:ext cx="0" cy="3111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  <a:cs typeface="+mn-cs"/>
              </a:endParaRPr>
            </a:p>
          </p:txBody>
        </p:sp>
        <p:sp>
          <p:nvSpPr>
            <p:cNvPr id="64" name="Line 10">
              <a:extLst>
                <a:ext uri="{FF2B5EF4-FFF2-40B4-BE49-F238E27FC236}">
                  <a16:creationId xmlns:a16="http://schemas.microsoft.com/office/drawing/2014/main" id="{7A15B4F6-5E98-454A-872A-5C49173159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19451" y="6631257"/>
              <a:ext cx="0" cy="20158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  <a:cs typeface="+mn-cs"/>
              </a:endParaRPr>
            </a:p>
          </p:txBody>
        </p:sp>
        <p:sp>
          <p:nvSpPr>
            <p:cNvPr id="65" name="矩形: 圆角 64">
              <a:extLst>
                <a:ext uri="{FF2B5EF4-FFF2-40B4-BE49-F238E27FC236}">
                  <a16:creationId xmlns:a16="http://schemas.microsoft.com/office/drawing/2014/main" id="{C7B7BB9B-B6E5-48DB-90E1-C0C4D878CAB2}"/>
                </a:ext>
              </a:extLst>
            </p:cNvPr>
            <p:cNvSpPr/>
            <p:nvPr/>
          </p:nvSpPr>
          <p:spPr bwMode="auto">
            <a:xfrm>
              <a:off x="1233666" y="5956537"/>
              <a:ext cx="1371569" cy="679450"/>
            </a:xfrm>
            <a:prstGeom prst="roundRect">
              <a:avLst/>
            </a:prstGeom>
            <a:solidFill>
              <a:srgbClr val="CCEC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66" name="矩形 65">
              <a:extLst>
                <a:ext uri="{FF2B5EF4-FFF2-40B4-BE49-F238E27FC236}">
                  <a16:creationId xmlns:a16="http://schemas.microsoft.com/office/drawing/2014/main" id="{470A7DAA-C058-4B12-8C59-B422EBAEA713}"/>
                </a:ext>
              </a:extLst>
            </p:cNvPr>
            <p:cNvSpPr/>
            <p:nvPr/>
          </p:nvSpPr>
          <p:spPr>
            <a:xfrm>
              <a:off x="1858608" y="5710306"/>
              <a:ext cx="1024108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en-US" sz="1400" b="1" dirty="0">
                  <a:solidFill>
                    <a:schemeClr val="accent2"/>
                  </a:solidFill>
                  <a:latin typeface="Arial Narrow" panose="020B0606020202030204" pitchFamily="34" charset="0"/>
                </a:rPr>
                <a:t>CPU action</a:t>
              </a:r>
              <a:endParaRPr lang="zh-CN" altLang="en-US" sz="1400" dirty="0">
                <a:solidFill>
                  <a:schemeClr val="accent2"/>
                </a:solidFill>
              </a:endParaRPr>
            </a:p>
          </p:txBody>
        </p:sp>
        <p:sp>
          <p:nvSpPr>
            <p:cNvPr id="67" name="矩形 66">
              <a:extLst>
                <a:ext uri="{FF2B5EF4-FFF2-40B4-BE49-F238E27FC236}">
                  <a16:creationId xmlns:a16="http://schemas.microsoft.com/office/drawing/2014/main" id="{FEABB387-BFF0-4071-AD1A-39D8B6F71637}"/>
                </a:ext>
              </a:extLst>
            </p:cNvPr>
            <p:cNvSpPr/>
            <p:nvPr/>
          </p:nvSpPr>
          <p:spPr>
            <a:xfrm>
              <a:off x="1866901" y="6626423"/>
              <a:ext cx="1066799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en-US" sz="1400" b="1" dirty="0">
                  <a:solidFill>
                    <a:srgbClr val="92D050"/>
                  </a:solidFill>
                  <a:latin typeface="Arial Narrow" panose="020B0606020202030204" pitchFamily="34" charset="0"/>
                </a:rPr>
                <a:t>Bus action</a:t>
              </a:r>
              <a:endParaRPr lang="zh-CN" altLang="en-US" sz="1400" dirty="0">
                <a:solidFill>
                  <a:srgbClr val="92D050"/>
                </a:solidFill>
              </a:endParaRPr>
            </a:p>
          </p:txBody>
        </p:sp>
        <p:sp>
          <p:nvSpPr>
            <p:cNvPr id="68" name="矩形 67">
              <a:extLst>
                <a:ext uri="{FF2B5EF4-FFF2-40B4-BE49-F238E27FC236}">
                  <a16:creationId xmlns:a16="http://schemas.microsoft.com/office/drawing/2014/main" id="{28AB93BC-DBF0-49AA-A2E0-75DA90131655}"/>
                </a:ext>
              </a:extLst>
            </p:cNvPr>
            <p:cNvSpPr/>
            <p:nvPr/>
          </p:nvSpPr>
          <p:spPr>
            <a:xfrm>
              <a:off x="1287645" y="6036927"/>
              <a:ext cx="673100" cy="523220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altLang="en-US" sz="1400" dirty="0">
                  <a:solidFill>
                    <a:srgbClr val="000000"/>
                  </a:solidFill>
                  <a:latin typeface="Arial Narrow" panose="020B0606020202030204" pitchFamily="34" charset="0"/>
                </a:rPr>
                <a:t>Cache blocks</a:t>
              </a:r>
              <a:endParaRPr lang="zh-CN" altLang="en-US" sz="1400" dirty="0"/>
            </a:p>
          </p:txBody>
        </p:sp>
        <p:sp>
          <p:nvSpPr>
            <p:cNvPr id="74" name="矩形 73">
              <a:extLst>
                <a:ext uri="{FF2B5EF4-FFF2-40B4-BE49-F238E27FC236}">
                  <a16:creationId xmlns:a16="http://schemas.microsoft.com/office/drawing/2014/main" id="{169420A4-0627-4FFB-AF19-ED11063AE982}"/>
                </a:ext>
              </a:extLst>
            </p:cNvPr>
            <p:cNvSpPr/>
            <p:nvPr/>
          </p:nvSpPr>
          <p:spPr>
            <a:xfrm>
              <a:off x="1989302" y="6137643"/>
              <a:ext cx="533400" cy="307777"/>
            </a:xfrm>
            <a:prstGeom prst="rect">
              <a:avLst/>
            </a:prstGeom>
            <a:ln w="15875" cmpd="sng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altLang="en-US" sz="1400" dirty="0">
                  <a:solidFill>
                    <a:srgbClr val="000000"/>
                  </a:solidFill>
                  <a:latin typeface="Arial Narrow" panose="020B0606020202030204" pitchFamily="34" charset="0"/>
                </a:rPr>
                <a:t>Tags</a:t>
              </a:r>
              <a:endParaRPr lang="zh-CN" altLang="en-US" sz="1400" dirty="0"/>
            </a:p>
          </p:txBody>
        </p:sp>
        <p:sp>
          <p:nvSpPr>
            <p:cNvPr id="75" name="矩形 74">
              <a:extLst>
                <a:ext uri="{FF2B5EF4-FFF2-40B4-BE49-F238E27FC236}">
                  <a16:creationId xmlns:a16="http://schemas.microsoft.com/office/drawing/2014/main" id="{4D7C200C-A80B-449E-B9E4-1B0668E1F395}"/>
                </a:ext>
              </a:extLst>
            </p:cNvPr>
            <p:cNvSpPr/>
            <p:nvPr/>
          </p:nvSpPr>
          <p:spPr bwMode="auto">
            <a:xfrm>
              <a:off x="1644181" y="5457476"/>
              <a:ext cx="590564" cy="28891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anose="020B0606020202030204" pitchFamily="34" charset="0"/>
                </a:rPr>
                <a:t>Core</a:t>
              </a:r>
              <a:endPara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77" name="矩形 76">
              <a:extLst>
                <a:ext uri="{FF2B5EF4-FFF2-40B4-BE49-F238E27FC236}">
                  <a16:creationId xmlns:a16="http://schemas.microsoft.com/office/drawing/2014/main" id="{EFBC0C0A-778F-4DE5-9517-530004EB6480}"/>
                </a:ext>
              </a:extLst>
            </p:cNvPr>
            <p:cNvSpPr/>
            <p:nvPr/>
          </p:nvSpPr>
          <p:spPr>
            <a:xfrm>
              <a:off x="974872" y="5463108"/>
              <a:ext cx="726481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en-US" sz="1600" b="1" dirty="0">
                  <a:solidFill>
                    <a:schemeClr val="accent2"/>
                  </a:solidFill>
                  <a:latin typeface="Arial Narrow" panose="020B0606020202030204" pitchFamily="34" charset="0"/>
                </a:rPr>
                <a:t>Starter</a:t>
              </a:r>
              <a:endParaRPr lang="zh-CN" altLang="en-US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4005417545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ea typeface="ＭＳ Ｐゴシック" charset="-128"/>
              </a:rPr>
              <a:t>Recall: The Problem with MSI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0" y="1079500"/>
            <a:ext cx="9144000" cy="1663700"/>
          </a:xfrm>
        </p:spPr>
        <p:txBody>
          <a:bodyPr/>
          <a:lstStyle/>
          <a:p>
            <a:r>
              <a:rPr lang="en-US" altLang="en-US" dirty="0">
                <a:ea typeface="ＭＳ Ｐゴシック" charset="-128"/>
              </a:rPr>
              <a:t>A block is not in cache at the beginning. On a read, the block immediately goes to the “</a:t>
            </a:r>
            <a:r>
              <a:rPr lang="en-US" altLang="en-US" b="1" dirty="0">
                <a:solidFill>
                  <a:srgbClr val="FF0000"/>
                </a:solidFill>
                <a:ea typeface="ＭＳ Ｐゴシック" charset="-128"/>
              </a:rPr>
              <a:t>Shared</a:t>
            </a:r>
            <a:r>
              <a:rPr lang="en-US" altLang="en-US" dirty="0">
                <a:ea typeface="ＭＳ Ｐゴシック" charset="-128"/>
              </a:rPr>
              <a:t>” state. </a:t>
            </a:r>
          </a:p>
          <a:p>
            <a:r>
              <a:rPr lang="en-US" altLang="en-US" b="1" dirty="0">
                <a:ea typeface="ＭＳ Ｐゴシック" charset="-128"/>
              </a:rPr>
              <a:t>Problem</a:t>
            </a:r>
            <a:r>
              <a:rPr lang="en-US" altLang="en-US" dirty="0">
                <a:ea typeface="ＭＳ Ｐゴシック" charset="-128"/>
              </a:rPr>
              <a:t>: </a:t>
            </a:r>
            <a:r>
              <a:rPr lang="en-US" altLang="en-US" dirty="0">
                <a:solidFill>
                  <a:srgbClr val="FF0000"/>
                </a:solidFill>
                <a:ea typeface="ＭＳ Ｐゴシック" charset="-128"/>
              </a:rPr>
              <a:t>Core issues a bus action “invalidate” before writing the block to cache, even when only one cache copy exists.  </a:t>
            </a:r>
            <a:endParaRPr lang="en-US" altLang="en-US" dirty="0">
              <a:ea typeface="ＭＳ Ｐゴシック" charset="-128"/>
            </a:endParaRPr>
          </a:p>
        </p:txBody>
      </p:sp>
      <p:sp>
        <p:nvSpPr>
          <p:cNvPr id="94211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C64A9343-84D5-F142-83D4-511D05BF8A09}" type="slidenum">
              <a:rPr lang="en-US" altLang="en-US" sz="1600">
                <a:solidFill>
                  <a:srgbClr val="000000"/>
                </a:solidFill>
                <a:latin typeface="Garamond" charset="0"/>
              </a:rPr>
              <a:pPr eaLnBrk="1" hangingPunct="1"/>
              <a:t>19</a:t>
            </a:fld>
            <a:endParaRPr lang="en-US" altLang="en-US" sz="1600">
              <a:solidFill>
                <a:srgbClr val="000000"/>
              </a:solidFill>
              <a:latin typeface="Garamond" charset="0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9EACAF90-C7E6-4963-AE3D-B896A716345C}"/>
              </a:ext>
            </a:extLst>
          </p:cNvPr>
          <p:cNvGraphicFramePr>
            <a:graphicFrameLocks noGrp="1"/>
          </p:cNvGraphicFramePr>
          <p:nvPr/>
        </p:nvGraphicFramePr>
        <p:xfrm>
          <a:off x="1219200" y="2971800"/>
          <a:ext cx="6625983" cy="24688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913929">
                  <a:extLst>
                    <a:ext uri="{9D8B030D-6E8A-4147-A177-3AD203B41FA5}">
                      <a16:colId xmlns:a16="http://schemas.microsoft.com/office/drawing/2014/main" val="3840491383"/>
                    </a:ext>
                  </a:extLst>
                </a:gridCol>
                <a:gridCol w="1066250">
                  <a:extLst>
                    <a:ext uri="{9D8B030D-6E8A-4147-A177-3AD203B41FA5}">
                      <a16:colId xmlns:a16="http://schemas.microsoft.com/office/drawing/2014/main" val="3512029855"/>
                    </a:ext>
                  </a:extLst>
                </a:gridCol>
                <a:gridCol w="990089">
                  <a:extLst>
                    <a:ext uri="{9D8B030D-6E8A-4147-A177-3AD203B41FA5}">
                      <a16:colId xmlns:a16="http://schemas.microsoft.com/office/drawing/2014/main" val="2300775718"/>
                    </a:ext>
                  </a:extLst>
                </a:gridCol>
                <a:gridCol w="1142411">
                  <a:extLst>
                    <a:ext uri="{9D8B030D-6E8A-4147-A177-3AD203B41FA5}">
                      <a16:colId xmlns:a16="http://schemas.microsoft.com/office/drawing/2014/main" val="541588849"/>
                    </a:ext>
                  </a:extLst>
                </a:gridCol>
                <a:gridCol w="1066250">
                  <a:extLst>
                    <a:ext uri="{9D8B030D-6E8A-4147-A177-3AD203B41FA5}">
                      <a16:colId xmlns:a16="http://schemas.microsoft.com/office/drawing/2014/main" val="2187653967"/>
                    </a:ext>
                  </a:extLst>
                </a:gridCol>
                <a:gridCol w="1447054">
                  <a:extLst>
                    <a:ext uri="{9D8B030D-6E8A-4147-A177-3AD203B41FA5}">
                      <a16:colId xmlns:a16="http://schemas.microsoft.com/office/drawing/2014/main" val="2986282273"/>
                    </a:ext>
                  </a:extLst>
                </a:gridCol>
              </a:tblGrid>
              <a:tr h="630678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00B0F0"/>
                          </a:solidFill>
                        </a:rPr>
                        <a:t>Time</a:t>
                      </a:r>
                      <a:endParaRPr lang="zh-CN" altLang="en-US" dirty="0">
                        <a:solidFill>
                          <a:srgbClr val="00B0F0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00B0F0"/>
                          </a:solidFill>
                        </a:rPr>
                        <a:t>P1 op.</a:t>
                      </a:r>
                      <a:endParaRPr lang="zh-CN" altLang="en-US" dirty="0">
                        <a:solidFill>
                          <a:srgbClr val="00B0F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00B0F0"/>
                          </a:solidFill>
                        </a:rPr>
                        <a:t>P2 op.</a:t>
                      </a:r>
                      <a:endParaRPr lang="zh-CN" altLang="en-US" dirty="0">
                        <a:solidFill>
                          <a:srgbClr val="00B0F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00B0F0"/>
                          </a:solidFill>
                        </a:rPr>
                        <a:t>State A in P1</a:t>
                      </a:r>
                      <a:endParaRPr lang="zh-CN" altLang="en-US" dirty="0">
                        <a:solidFill>
                          <a:srgbClr val="00B0F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00B0F0"/>
                          </a:solidFill>
                        </a:rPr>
                        <a:t>State B in P2</a:t>
                      </a:r>
                      <a:endParaRPr lang="zh-CN" altLang="en-US" dirty="0">
                        <a:solidFill>
                          <a:srgbClr val="00B0F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00B0F0"/>
                          </a:solidFill>
                        </a:rPr>
                        <a:t>Bus action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2689419"/>
                  </a:ext>
                </a:extLst>
              </a:tr>
              <a:tr h="360388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Arial Narrow" panose="020B0606020202030204" pitchFamily="34" charset="0"/>
                        </a:rPr>
                        <a:t>t0</a:t>
                      </a:r>
                      <a:endParaRPr lang="zh-CN" altLang="en-US" dirty="0">
                        <a:latin typeface="Arial Narrow" panose="020B060602020203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Arial Narrow" panose="020B0606020202030204" pitchFamily="34" charset="0"/>
                        </a:rPr>
                        <a:t>I</a:t>
                      </a:r>
                      <a:endParaRPr lang="zh-CN" altLang="en-US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Arial Narrow" panose="020B0606020202030204" pitchFamily="34" charset="0"/>
                        </a:rPr>
                        <a:t>I</a:t>
                      </a:r>
                      <a:endParaRPr lang="zh-CN" altLang="en-US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9255117"/>
                  </a:ext>
                </a:extLst>
              </a:tr>
              <a:tr h="36539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Arial Narrow" panose="020B0606020202030204" pitchFamily="34" charset="0"/>
                        </a:rPr>
                        <a:t>t1</a:t>
                      </a:r>
                      <a:endParaRPr lang="zh-CN" altLang="en-US" dirty="0">
                        <a:latin typeface="Arial Narrow" panose="020B060602020203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Arial Narrow" panose="020B0606020202030204" pitchFamily="34" charset="0"/>
                        </a:rPr>
                        <a:t>Read A</a:t>
                      </a:r>
                      <a:endParaRPr lang="zh-CN" altLang="en-US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Arial Narrow" panose="020B0606020202030204" pitchFamily="34" charset="0"/>
                        </a:rPr>
                        <a:t>S</a:t>
                      </a:r>
                      <a:endParaRPr lang="zh-CN" altLang="en-US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Arial Narrow" panose="020B0606020202030204" pitchFamily="34" charset="0"/>
                        </a:rPr>
                        <a:t>I</a:t>
                      </a:r>
                      <a:endParaRPr lang="zh-CN" altLang="en-US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Arial Narrow" panose="020B0606020202030204" pitchFamily="34" charset="0"/>
                        </a:rPr>
                        <a:t>Read miss A</a:t>
                      </a:r>
                      <a:endParaRPr lang="zh-CN" altLang="en-US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9564079"/>
                  </a:ext>
                </a:extLst>
              </a:tr>
              <a:tr h="36539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Arial Narrow" panose="020B0606020202030204" pitchFamily="34" charset="0"/>
                        </a:rPr>
                        <a:t>t2</a:t>
                      </a:r>
                      <a:endParaRPr lang="zh-CN" altLang="en-US" dirty="0">
                        <a:latin typeface="Arial Narrow" panose="020B060602020203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Arial Narrow" panose="020B0606020202030204" pitchFamily="34" charset="0"/>
                        </a:rPr>
                        <a:t>Write A</a:t>
                      </a:r>
                      <a:endParaRPr lang="zh-CN" altLang="en-US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M</a:t>
                      </a:r>
                      <a:endParaRPr lang="zh-CN" altLang="en-US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Arial Narrow" panose="020B0606020202030204" pitchFamily="34" charset="0"/>
                        </a:rPr>
                        <a:t>I</a:t>
                      </a:r>
                      <a:endParaRPr lang="zh-CN" altLang="en-US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Invalidate</a:t>
                      </a:r>
                      <a:endParaRPr lang="zh-CN" altLang="en-US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1308593"/>
                  </a:ext>
                </a:extLst>
              </a:tr>
              <a:tr h="36539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Arial Narrow" panose="020B0606020202030204" pitchFamily="34" charset="0"/>
                        </a:rPr>
                        <a:t>t3</a:t>
                      </a:r>
                      <a:endParaRPr lang="zh-CN" altLang="en-US" dirty="0">
                        <a:latin typeface="Arial Narrow" panose="020B060602020203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latin typeface="Arial Narrow" panose="020B0606020202030204" pitchFamily="34" charset="0"/>
                        </a:rPr>
                        <a:t>Read B</a:t>
                      </a:r>
                      <a:endParaRPr lang="zh-CN" altLang="en-US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Arial Narrow" panose="020B0606020202030204" pitchFamily="34" charset="0"/>
                        </a:rPr>
                        <a:t>M</a:t>
                      </a:r>
                      <a:endParaRPr lang="zh-CN" altLang="en-US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Arial Narrow" panose="020B0606020202030204" pitchFamily="34" charset="0"/>
                        </a:rPr>
                        <a:t>S</a:t>
                      </a:r>
                      <a:endParaRPr lang="zh-CN" altLang="en-US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latin typeface="Arial Narrow" panose="020B0606020202030204" pitchFamily="34" charset="0"/>
                        </a:rPr>
                        <a:t>Read miss B</a:t>
                      </a:r>
                      <a:endParaRPr lang="zh-CN" altLang="en-US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9757351"/>
                  </a:ext>
                </a:extLst>
              </a:tr>
              <a:tr h="36539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Arial Narrow" panose="020B0606020202030204" pitchFamily="34" charset="0"/>
                        </a:rPr>
                        <a:t>t4</a:t>
                      </a:r>
                      <a:endParaRPr lang="zh-CN" altLang="en-US" dirty="0">
                        <a:latin typeface="Arial Narrow" panose="020B060602020203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Arial Narrow" panose="020B0606020202030204" pitchFamily="34" charset="0"/>
                        </a:rPr>
                        <a:t>Write B</a:t>
                      </a:r>
                      <a:endParaRPr lang="zh-CN" altLang="en-US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Arial Narrow" panose="020B0606020202030204" pitchFamily="34" charset="0"/>
                        </a:rPr>
                        <a:t>M</a:t>
                      </a:r>
                      <a:endParaRPr lang="zh-CN" altLang="en-US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M</a:t>
                      </a:r>
                      <a:endParaRPr lang="zh-CN" altLang="en-US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Invalidate</a:t>
                      </a:r>
                      <a:endParaRPr lang="zh-CN" altLang="en-US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7182965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424541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Title 1"/>
          <p:cNvSpPr>
            <a:spLocks noGrp="1"/>
          </p:cNvSpPr>
          <p:nvPr>
            <p:ph type="title"/>
          </p:nvPr>
        </p:nvSpPr>
        <p:spPr>
          <a:xfrm>
            <a:off x="152400" y="197879"/>
            <a:ext cx="8953500" cy="697377"/>
          </a:xfrm>
        </p:spPr>
        <p:txBody>
          <a:bodyPr/>
          <a:lstStyle/>
          <a:p>
            <a:r>
              <a:rPr lang="en-US" altLang="en-US" dirty="0">
                <a:ea typeface="ＭＳ Ｐゴシック" charset="-128"/>
              </a:rPr>
              <a:t>Recall: MESI Protocol</a:t>
            </a:r>
          </a:p>
        </p:txBody>
      </p:sp>
      <p:sp>
        <p:nvSpPr>
          <p:cNvPr id="93186" name="Content Placeholder 2"/>
          <p:cNvSpPr>
            <a:spLocks noGrp="1"/>
          </p:cNvSpPr>
          <p:nvPr>
            <p:ph idx="1"/>
          </p:nvPr>
        </p:nvSpPr>
        <p:spPr>
          <a:xfrm>
            <a:off x="-38100" y="1048250"/>
            <a:ext cx="9220200" cy="2016746"/>
          </a:xfrm>
        </p:spPr>
        <p:txBody>
          <a:bodyPr/>
          <a:lstStyle/>
          <a:p>
            <a:r>
              <a:rPr lang="en-US" altLang="en-US" b="1" dirty="0">
                <a:ea typeface="ＭＳ Ｐゴシック" charset="-128"/>
              </a:rPr>
              <a:t>MESI </a:t>
            </a:r>
            <a:r>
              <a:rPr lang="en-US" altLang="zh-CN" b="1" dirty="0">
                <a:ea typeface="ＭＳ Ｐゴシック" charset="-128"/>
              </a:rPr>
              <a:t>Protocol</a:t>
            </a:r>
            <a:r>
              <a:rPr lang="en-US" altLang="en-US" dirty="0">
                <a:ea typeface="ＭＳ Ｐゴシック" charset="-128"/>
              </a:rPr>
              <a:t>: Illinois protocol (ISCA, 84) </a:t>
            </a:r>
          </a:p>
          <a:p>
            <a:pPr lvl="1"/>
            <a:r>
              <a:rPr lang="en-US" altLang="zh-CN" sz="2000" dirty="0">
                <a:solidFill>
                  <a:srgbClr val="0432FF"/>
                </a:solidFill>
                <a:ea typeface="ＭＳ Ｐゴシック" charset="-128"/>
              </a:rPr>
              <a:t>I</a:t>
            </a:r>
            <a:r>
              <a:rPr lang="en-US" altLang="zh-CN" sz="2000" dirty="0">
                <a:ea typeface="ＭＳ Ｐゴシック" charset="-128"/>
              </a:rPr>
              <a:t>(</a:t>
            </a:r>
            <a:r>
              <a:rPr lang="en-US" altLang="zh-CN" sz="2000" dirty="0" err="1">
                <a:ea typeface="ＭＳ Ｐゴシック" charset="-128"/>
              </a:rPr>
              <a:t>nvalid</a:t>
            </a:r>
            <a:r>
              <a:rPr lang="en-US" altLang="zh-CN" sz="2000" dirty="0">
                <a:ea typeface="ＭＳ Ｐゴシック" charset="-128"/>
              </a:rPr>
              <a:t>):</a:t>
            </a:r>
            <a:r>
              <a:rPr lang="en-US" altLang="en-US" sz="2000" dirty="0">
                <a:ea typeface="ＭＳ Ｐゴシック" charset="-128"/>
              </a:rPr>
              <a:t> block is not in cache, need to fetch from memory or other cache</a:t>
            </a:r>
          </a:p>
          <a:p>
            <a:pPr lvl="1"/>
            <a:r>
              <a:rPr lang="en-US" altLang="zh-CN" sz="2000" dirty="0">
                <a:solidFill>
                  <a:srgbClr val="0432FF"/>
                </a:solidFill>
                <a:ea typeface="ＭＳ Ｐゴシック" charset="-128"/>
              </a:rPr>
              <a:t>S</a:t>
            </a:r>
            <a:r>
              <a:rPr lang="en-US" altLang="zh-CN" sz="2000" dirty="0">
                <a:ea typeface="ＭＳ Ｐゴシック" charset="-128"/>
              </a:rPr>
              <a:t>(hared): in &gt;1 caches, clean, local cores directly reads it w/o bus action </a:t>
            </a:r>
          </a:p>
          <a:p>
            <a:pPr lvl="1"/>
            <a:r>
              <a:rPr lang="en-US" altLang="zh-CN" sz="2000" dirty="0">
                <a:solidFill>
                  <a:srgbClr val="0432FF"/>
                </a:solidFill>
                <a:ea typeface="ＭＳ Ｐゴシック" charset="-128"/>
              </a:rPr>
              <a:t>M</a:t>
            </a:r>
            <a:r>
              <a:rPr lang="en-US" altLang="zh-CN" sz="2000" dirty="0">
                <a:ea typeface="ＭＳ Ｐゴシック" charset="-128"/>
              </a:rPr>
              <a:t>(</a:t>
            </a:r>
            <a:r>
              <a:rPr lang="en-US" altLang="zh-CN" sz="2000" dirty="0" err="1">
                <a:ea typeface="ＭＳ Ｐゴシック" charset="-128"/>
              </a:rPr>
              <a:t>odified</a:t>
            </a:r>
            <a:r>
              <a:rPr lang="en-US" altLang="zh-CN" sz="2000" dirty="0">
                <a:ea typeface="ＭＳ Ｐゴシック" charset="-128"/>
              </a:rPr>
              <a:t>):</a:t>
            </a:r>
            <a:r>
              <a:rPr lang="en-US" altLang="en-US" sz="2000" dirty="0">
                <a:ea typeface="ＭＳ Ｐゴシック" charset="-128"/>
              </a:rPr>
              <a:t> in 1 cache, local core can read/write it </a:t>
            </a:r>
            <a:r>
              <a:rPr lang="en-US" altLang="zh-CN" sz="2000" dirty="0">
                <a:ea typeface="ＭＳ Ｐゴシック" charset="-128"/>
              </a:rPr>
              <a:t>w/o bus action</a:t>
            </a:r>
          </a:p>
          <a:p>
            <a:pPr lvl="1"/>
            <a:r>
              <a:rPr lang="en-US" altLang="zh-CN" sz="2000" dirty="0">
                <a:solidFill>
                  <a:srgbClr val="0432FF"/>
                </a:solidFill>
                <a:ea typeface="ＭＳ Ｐゴシック" charset="-128"/>
              </a:rPr>
              <a:t>E</a:t>
            </a:r>
            <a:r>
              <a:rPr lang="en-US" altLang="zh-CN" sz="2000" dirty="0">
                <a:ea typeface="ＭＳ Ｐゴシック" charset="-128"/>
              </a:rPr>
              <a:t>(</a:t>
            </a:r>
            <a:r>
              <a:rPr lang="en-US" altLang="zh-CN" sz="2000" dirty="0" err="1">
                <a:ea typeface="ＭＳ Ｐゴシック" charset="-128"/>
              </a:rPr>
              <a:t>xclusive</a:t>
            </a:r>
            <a:r>
              <a:rPr lang="en-US" altLang="zh-CN" sz="2000" dirty="0">
                <a:ea typeface="ＭＳ Ｐゴシック" charset="-128"/>
              </a:rPr>
              <a:t>): in 1 cache, clean, local core reads/writes it w/o bus action </a:t>
            </a:r>
          </a:p>
          <a:p>
            <a:pPr lvl="1"/>
            <a:endParaRPr lang="en-US" altLang="en-US" sz="2000" dirty="0">
              <a:ea typeface="ＭＳ Ｐゴシック" charset="-128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F4E066A-51BB-44CE-A634-A5F228BF2917}"/>
              </a:ext>
            </a:extLst>
          </p:cNvPr>
          <p:cNvSpPr/>
          <p:nvPr/>
        </p:nvSpPr>
        <p:spPr>
          <a:xfrm>
            <a:off x="152400" y="3429000"/>
            <a:ext cx="8878168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spcBef>
                <a:spcPct val="20000"/>
              </a:spcBef>
              <a:buClr>
                <a:srgbClr val="CC9900"/>
              </a:buClr>
              <a:buSzPct val="65000"/>
              <a:buFont typeface="Wingdings" charset="2"/>
              <a:buChar char="n"/>
            </a:pPr>
            <a:r>
              <a:rPr lang="en-US" altLang="en-US" sz="2400" b="1" kern="0" dirty="0">
                <a:solidFill>
                  <a:srgbClr val="000000"/>
                </a:solidFill>
                <a:latin typeface="Tahoma"/>
                <a:ea typeface="ＭＳ Ｐゴシック" charset="-128"/>
              </a:rPr>
              <a:t>Key Differences </a:t>
            </a:r>
            <a:r>
              <a:rPr lang="en-US" altLang="en-US" sz="2400" kern="0" dirty="0">
                <a:solidFill>
                  <a:srgbClr val="000000"/>
                </a:solidFill>
                <a:latin typeface="Tahoma"/>
                <a:ea typeface="ＭＳ Ｐゴシック" charset="-128"/>
              </a:rPr>
              <a:t>from MSI </a:t>
            </a:r>
            <a:r>
              <a:rPr lang="en-US" altLang="zh-CN" sz="2400" kern="0" dirty="0">
                <a:solidFill>
                  <a:srgbClr val="000000"/>
                </a:solidFill>
                <a:latin typeface="Tahoma"/>
                <a:ea typeface="ＭＳ Ｐゴシック" charset="-128"/>
              </a:rPr>
              <a:t>Protocol</a:t>
            </a:r>
            <a:r>
              <a:rPr lang="en-US" altLang="en-US" sz="2400" kern="0" dirty="0">
                <a:solidFill>
                  <a:srgbClr val="000000"/>
                </a:solidFill>
                <a:latin typeface="Tahoma"/>
                <a:ea typeface="ＭＳ Ｐゴシック" charset="-128"/>
              </a:rPr>
              <a:t>:</a:t>
            </a:r>
          </a:p>
          <a:p>
            <a:pPr marL="669925" lvl="1" indent="-325438">
              <a:spcBef>
                <a:spcPct val="20000"/>
              </a:spcBef>
              <a:buClr>
                <a:srgbClr val="3B812F"/>
              </a:buClr>
              <a:buSzPct val="60000"/>
              <a:buFont typeface="Wingdings" charset="2"/>
              <a:buChar char="q"/>
            </a:pPr>
            <a:r>
              <a:rPr lang="en-US" altLang="en-US" sz="2000" kern="0" dirty="0">
                <a:latin typeface="Tahoma"/>
                <a:ea typeface="ＭＳ Ｐゴシック" charset="-128"/>
              </a:rPr>
              <a:t>Local core reads block in </a:t>
            </a:r>
            <a:r>
              <a:rPr lang="en-US" altLang="en-US" sz="2000" kern="0" dirty="0">
                <a:latin typeface="Tahoma"/>
                <a:ea typeface="ＭＳ Ｐゴシック" charset="-128"/>
                <a:sym typeface="Wingdings" panose="05000000000000000000" pitchFamily="2" charset="2"/>
              </a:rPr>
              <a:t>state</a:t>
            </a:r>
            <a:r>
              <a:rPr lang="en-US" altLang="en-US" sz="2000" kern="0" dirty="0">
                <a:solidFill>
                  <a:srgbClr val="0432FF"/>
                </a:solidFill>
                <a:latin typeface="Tahoma"/>
                <a:ea typeface="ＭＳ Ｐゴシック" charset="-128"/>
              </a:rPr>
              <a:t> E</a:t>
            </a:r>
            <a:r>
              <a:rPr lang="en-US" altLang="en-US" sz="2000" kern="0" dirty="0">
                <a:latin typeface="Tahoma"/>
                <a:ea typeface="ＭＳ Ｐゴシック" charset="-128"/>
                <a:sym typeface="Wingdings" panose="05000000000000000000" pitchFamily="2" charset="2"/>
              </a:rPr>
              <a:t>, the state holds</a:t>
            </a:r>
          </a:p>
          <a:p>
            <a:pPr marL="669925" lvl="1" indent="-325438">
              <a:spcBef>
                <a:spcPct val="20000"/>
              </a:spcBef>
              <a:buClr>
                <a:srgbClr val="3B812F"/>
              </a:buClr>
              <a:buSzPct val="60000"/>
              <a:buFont typeface="Wingdings" charset="2"/>
              <a:buChar char="q"/>
            </a:pPr>
            <a:r>
              <a:rPr lang="en-US" altLang="en-US" sz="2000" kern="0" dirty="0">
                <a:latin typeface="Tahoma"/>
                <a:ea typeface="ＭＳ Ｐゴシック" charset="-128"/>
              </a:rPr>
              <a:t>Local core writes block in </a:t>
            </a:r>
            <a:r>
              <a:rPr lang="en-US" altLang="en-US" sz="2000" kern="0" dirty="0">
                <a:latin typeface="Tahoma"/>
                <a:ea typeface="ＭＳ Ｐゴシック" charset="-128"/>
                <a:sym typeface="Wingdings" panose="05000000000000000000" pitchFamily="2" charset="2"/>
              </a:rPr>
              <a:t>state</a:t>
            </a:r>
            <a:r>
              <a:rPr lang="en-US" altLang="en-US" sz="2000" kern="0" dirty="0">
                <a:solidFill>
                  <a:srgbClr val="0432FF"/>
                </a:solidFill>
                <a:latin typeface="Tahoma"/>
                <a:ea typeface="ＭＳ Ｐゴシック" charset="-128"/>
              </a:rPr>
              <a:t> E </a:t>
            </a:r>
            <a:r>
              <a:rPr lang="en-US" altLang="en-US" sz="2000" kern="0" dirty="0">
                <a:latin typeface="Tahoma"/>
                <a:ea typeface="ＭＳ Ｐゴシック" charset="-128"/>
                <a:sym typeface="Wingdings" panose="05000000000000000000" pitchFamily="2" charset="2"/>
              </a:rPr>
              <a:t> state </a:t>
            </a:r>
            <a:r>
              <a:rPr lang="en-US" altLang="en-US" sz="2000" kern="0" dirty="0">
                <a:solidFill>
                  <a:srgbClr val="0432FF"/>
                </a:solidFill>
                <a:latin typeface="Tahoma"/>
                <a:ea typeface="ＭＳ Ｐゴシック" charset="-128"/>
                <a:sym typeface="Wingdings" panose="05000000000000000000" pitchFamily="2" charset="2"/>
              </a:rPr>
              <a:t>M</a:t>
            </a:r>
            <a:r>
              <a:rPr lang="en-US" altLang="en-US" sz="2000" kern="0" dirty="0">
                <a:latin typeface="Tahoma"/>
                <a:ea typeface="ＭＳ Ｐゴシック" charset="-128"/>
                <a:sym typeface="Wingdings" panose="05000000000000000000" pitchFamily="2" charset="2"/>
              </a:rPr>
              <a:t>, without </a:t>
            </a:r>
            <a:r>
              <a:rPr lang="en-US" altLang="en-US" sz="2000" b="1" dirty="0">
                <a:solidFill>
                  <a:srgbClr val="92D050"/>
                </a:solidFill>
                <a:latin typeface="Arial Narrow" panose="020B0606020202030204" pitchFamily="34" charset="0"/>
                <a:sym typeface="Wingdings" panose="05000000000000000000" pitchFamily="2" charset="2"/>
              </a:rPr>
              <a:t>bus action</a:t>
            </a:r>
            <a:endParaRPr lang="en-US" altLang="en-US" sz="2000" b="1" dirty="0">
              <a:solidFill>
                <a:srgbClr val="92D050"/>
              </a:solidFill>
              <a:latin typeface="Arial Narrow" panose="020B0606020202030204" pitchFamily="34" charset="0"/>
            </a:endParaRPr>
          </a:p>
          <a:p>
            <a:pPr marL="669925" lvl="1" indent="-325438">
              <a:spcBef>
                <a:spcPct val="20000"/>
              </a:spcBef>
              <a:buClr>
                <a:srgbClr val="3B812F"/>
              </a:buClr>
              <a:buSzPct val="60000"/>
              <a:buFont typeface="Wingdings" charset="2"/>
              <a:buChar char="q"/>
            </a:pPr>
            <a:r>
              <a:rPr lang="en-US" altLang="en-US" sz="2000" kern="0" dirty="0">
                <a:latin typeface="Tahoma"/>
                <a:ea typeface="ＭＳ Ｐゴシック" charset="-128"/>
              </a:rPr>
              <a:t>Remote core reads, via </a:t>
            </a:r>
            <a:r>
              <a:rPr lang="en-US" altLang="en-US" sz="2000" b="1" dirty="0">
                <a:solidFill>
                  <a:srgbClr val="92D050"/>
                </a:solidFill>
                <a:latin typeface="Arial Narrow" panose="020B0606020202030204" pitchFamily="34" charset="0"/>
              </a:rPr>
              <a:t>read miss on bus</a:t>
            </a:r>
            <a:r>
              <a:rPr lang="en-US" altLang="en-US" sz="2000" kern="0" dirty="0">
                <a:latin typeface="Tahoma"/>
                <a:ea typeface="ＭＳ Ｐゴシック" charset="-128"/>
              </a:rPr>
              <a:t>, block in </a:t>
            </a:r>
            <a:r>
              <a:rPr lang="en-US" altLang="en-US" sz="2000" kern="0" dirty="0">
                <a:latin typeface="Tahoma"/>
                <a:ea typeface="ＭＳ Ｐゴシック" charset="-128"/>
                <a:sym typeface="Wingdings" panose="05000000000000000000" pitchFamily="2" charset="2"/>
              </a:rPr>
              <a:t>state</a:t>
            </a:r>
            <a:r>
              <a:rPr lang="en-US" altLang="en-US" sz="2000" kern="0" dirty="0">
                <a:latin typeface="Tahoma"/>
                <a:ea typeface="ＭＳ Ｐゴシック" charset="-128"/>
              </a:rPr>
              <a:t> </a:t>
            </a:r>
            <a:r>
              <a:rPr lang="en-US" altLang="en-US" sz="2000" kern="0" dirty="0">
                <a:solidFill>
                  <a:srgbClr val="0432FF"/>
                </a:solidFill>
                <a:latin typeface="Tahoma"/>
                <a:ea typeface="ＭＳ Ｐゴシック" charset="-128"/>
              </a:rPr>
              <a:t>E</a:t>
            </a:r>
            <a:r>
              <a:rPr lang="en-US" altLang="en-US" sz="2000" kern="0" dirty="0">
                <a:latin typeface="Tahoma"/>
                <a:ea typeface="ＭＳ Ｐゴシック" charset="-128"/>
              </a:rPr>
              <a:t> </a:t>
            </a:r>
            <a:r>
              <a:rPr lang="en-US" altLang="en-US" sz="2000" kern="0" dirty="0">
                <a:latin typeface="Tahoma"/>
                <a:ea typeface="ＭＳ Ｐゴシック" charset="-128"/>
                <a:sym typeface="Wingdings" panose="05000000000000000000" pitchFamily="2" charset="2"/>
              </a:rPr>
              <a:t> state</a:t>
            </a:r>
            <a:r>
              <a:rPr lang="en-US" altLang="en-US" sz="2000" kern="0" dirty="0">
                <a:solidFill>
                  <a:srgbClr val="0432FF"/>
                </a:solidFill>
                <a:latin typeface="Tahoma"/>
                <a:ea typeface="ＭＳ Ｐゴシック" charset="-128"/>
                <a:sym typeface="Wingdings" panose="05000000000000000000" pitchFamily="2" charset="2"/>
              </a:rPr>
              <a:t> S</a:t>
            </a:r>
            <a:endParaRPr lang="en-US" altLang="en-US" sz="2000" kern="0" dirty="0">
              <a:latin typeface="Tahoma"/>
              <a:ea typeface="ＭＳ Ｐゴシック" charset="-128"/>
            </a:endParaRPr>
          </a:p>
          <a:p>
            <a:pPr marL="669925" lvl="1" indent="-325438">
              <a:spcBef>
                <a:spcPct val="20000"/>
              </a:spcBef>
              <a:buClr>
                <a:srgbClr val="3B812F"/>
              </a:buClr>
              <a:buSzPct val="60000"/>
              <a:buFont typeface="Wingdings" charset="2"/>
              <a:buChar char="q"/>
            </a:pPr>
            <a:r>
              <a:rPr lang="en-US" altLang="en-US" sz="2000" kern="0" dirty="0">
                <a:latin typeface="Tahoma"/>
                <a:ea typeface="ＭＳ Ｐゴシック" charset="-128"/>
              </a:rPr>
              <a:t>Remote core writes, via </a:t>
            </a:r>
            <a:r>
              <a:rPr lang="en-US" altLang="en-US" sz="2000" b="1" dirty="0">
                <a:solidFill>
                  <a:srgbClr val="92D050"/>
                </a:solidFill>
                <a:latin typeface="Arial Narrow" panose="020B0606020202030204" pitchFamily="34" charset="0"/>
              </a:rPr>
              <a:t>write miss on bus</a:t>
            </a:r>
            <a:r>
              <a:rPr lang="en-US" altLang="en-US" sz="2000" kern="0" dirty="0">
                <a:latin typeface="Tahoma"/>
                <a:ea typeface="ＭＳ Ｐゴシック" charset="-128"/>
              </a:rPr>
              <a:t>, block in </a:t>
            </a:r>
            <a:r>
              <a:rPr lang="en-US" altLang="en-US" sz="2000" kern="0" dirty="0">
                <a:latin typeface="Tahoma"/>
                <a:ea typeface="ＭＳ Ｐゴシック" charset="-128"/>
                <a:sym typeface="Wingdings" panose="05000000000000000000" pitchFamily="2" charset="2"/>
              </a:rPr>
              <a:t>state</a:t>
            </a:r>
            <a:r>
              <a:rPr lang="en-US" altLang="en-US" sz="2000" kern="0" dirty="0">
                <a:latin typeface="Tahoma"/>
                <a:ea typeface="ＭＳ Ｐゴシック" charset="-128"/>
              </a:rPr>
              <a:t> </a:t>
            </a:r>
            <a:r>
              <a:rPr lang="en-US" altLang="en-US" sz="2000" kern="0" dirty="0">
                <a:solidFill>
                  <a:srgbClr val="0432FF"/>
                </a:solidFill>
                <a:latin typeface="Tahoma"/>
                <a:ea typeface="ＭＳ Ｐゴシック" charset="-128"/>
              </a:rPr>
              <a:t>E</a:t>
            </a:r>
            <a:r>
              <a:rPr lang="en-US" altLang="en-US" sz="2000" kern="0" dirty="0">
                <a:latin typeface="Tahoma"/>
                <a:ea typeface="ＭＳ Ｐゴシック" charset="-128"/>
              </a:rPr>
              <a:t> </a:t>
            </a:r>
            <a:r>
              <a:rPr lang="en-US" altLang="en-US" sz="2000" kern="0" dirty="0">
                <a:latin typeface="Tahoma"/>
                <a:ea typeface="ＭＳ Ｐゴシック" charset="-128"/>
                <a:sym typeface="Wingdings" panose="05000000000000000000" pitchFamily="2" charset="2"/>
              </a:rPr>
              <a:t> state </a:t>
            </a:r>
            <a:r>
              <a:rPr lang="en-US" altLang="en-US" sz="2000" kern="0" dirty="0">
                <a:solidFill>
                  <a:srgbClr val="0432FF"/>
                </a:solidFill>
                <a:latin typeface="Tahoma"/>
                <a:ea typeface="ＭＳ Ｐゴシック" charset="-128"/>
                <a:sym typeface="Wingdings" panose="05000000000000000000" pitchFamily="2" charset="2"/>
              </a:rPr>
              <a:t>I</a:t>
            </a:r>
            <a:endParaRPr lang="en-US" altLang="en-US" sz="2000" kern="0" dirty="0">
              <a:solidFill>
                <a:srgbClr val="000000"/>
              </a:solidFill>
              <a:latin typeface="Tahoma"/>
              <a:ea typeface="ＭＳ Ｐゴシック" charset="-128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BC79D9B-EE37-433B-B7FE-D0E4BAC65A68}"/>
              </a:ext>
            </a:extLst>
          </p:cNvPr>
          <p:cNvSpPr/>
          <p:nvPr/>
        </p:nvSpPr>
        <p:spPr>
          <a:xfrm>
            <a:off x="5809" y="6096000"/>
            <a:ext cx="91440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95325" lvl="2" indent="-342900"/>
            <a:r>
              <a:rPr lang="en-US" altLang="en-US" sz="1600" dirty="0" err="1">
                <a:latin typeface="Arial Narrow" panose="020B0606020202030204" pitchFamily="34" charset="0"/>
                <a:ea typeface="ＭＳ Ｐゴシック" charset="-128"/>
              </a:rPr>
              <a:t>Papamarcos</a:t>
            </a:r>
            <a:r>
              <a:rPr lang="en-US" altLang="en-US" sz="1600" dirty="0">
                <a:latin typeface="Arial Narrow" panose="020B0606020202030204" pitchFamily="34" charset="0"/>
                <a:ea typeface="ＭＳ Ｐゴシック" charset="-128"/>
              </a:rPr>
              <a:t>, “</a:t>
            </a:r>
            <a:r>
              <a:rPr lang="en-US" altLang="ja-JP" sz="1600" dirty="0">
                <a:latin typeface="Arial Narrow" panose="020B0606020202030204" pitchFamily="34" charset="0"/>
                <a:ea typeface="ＭＳ Ｐゴシック" charset="-128"/>
              </a:rPr>
              <a:t>A low-overhead coherence solution for multiprocessors with private cache memories,</a:t>
            </a:r>
            <a:r>
              <a:rPr lang="en-US" altLang="en-US" sz="1600" dirty="0">
                <a:latin typeface="Arial Narrow" panose="020B0606020202030204" pitchFamily="34" charset="0"/>
                <a:ea typeface="ＭＳ Ｐゴシック" charset="-128"/>
              </a:rPr>
              <a:t>”</a:t>
            </a:r>
            <a:r>
              <a:rPr lang="en-US" altLang="ja-JP" sz="1600" dirty="0">
                <a:latin typeface="Arial Narrow" panose="020B0606020202030204" pitchFamily="34" charset="0"/>
                <a:ea typeface="ＭＳ Ｐゴシック" charset="-128"/>
              </a:rPr>
              <a:t> ISCA 1984.</a:t>
            </a:r>
          </a:p>
        </p:txBody>
      </p:sp>
    </p:spTree>
    <p:extLst>
      <p:ext uri="{BB962C8B-B14F-4D97-AF65-F5344CB8AC3E}">
        <p14:creationId xmlns:p14="http://schemas.microsoft.com/office/powerpoint/2010/main" val="2018190955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ea typeface="ＭＳ Ｐゴシック" charset="-128"/>
              </a:rPr>
              <a:t>Recall: MESI over MSI</a:t>
            </a:r>
          </a:p>
        </p:txBody>
      </p:sp>
      <p:sp>
        <p:nvSpPr>
          <p:cNvPr id="94211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C64A9343-84D5-F142-83D4-511D05BF8A09}" type="slidenum">
              <a:rPr lang="en-US" altLang="en-US" sz="1600">
                <a:solidFill>
                  <a:srgbClr val="000000"/>
                </a:solidFill>
                <a:latin typeface="Garamond" charset="0"/>
              </a:rPr>
              <a:pPr eaLnBrk="1" hangingPunct="1"/>
              <a:t>21</a:t>
            </a:fld>
            <a:endParaRPr lang="en-US" altLang="en-US" sz="1600">
              <a:solidFill>
                <a:srgbClr val="000000"/>
              </a:solidFill>
              <a:latin typeface="Garamond" charset="0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BDBA8718-1950-4625-9B53-C27CC534CDFF}"/>
              </a:ext>
            </a:extLst>
          </p:cNvPr>
          <p:cNvGraphicFramePr>
            <a:graphicFrameLocks noGrp="1"/>
          </p:cNvGraphicFramePr>
          <p:nvPr/>
        </p:nvGraphicFramePr>
        <p:xfrm>
          <a:off x="1524000" y="1066800"/>
          <a:ext cx="6625983" cy="24688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913929">
                  <a:extLst>
                    <a:ext uri="{9D8B030D-6E8A-4147-A177-3AD203B41FA5}">
                      <a16:colId xmlns:a16="http://schemas.microsoft.com/office/drawing/2014/main" val="3840491383"/>
                    </a:ext>
                  </a:extLst>
                </a:gridCol>
                <a:gridCol w="1066250">
                  <a:extLst>
                    <a:ext uri="{9D8B030D-6E8A-4147-A177-3AD203B41FA5}">
                      <a16:colId xmlns:a16="http://schemas.microsoft.com/office/drawing/2014/main" val="3512029855"/>
                    </a:ext>
                  </a:extLst>
                </a:gridCol>
                <a:gridCol w="990089">
                  <a:extLst>
                    <a:ext uri="{9D8B030D-6E8A-4147-A177-3AD203B41FA5}">
                      <a16:colId xmlns:a16="http://schemas.microsoft.com/office/drawing/2014/main" val="2300775718"/>
                    </a:ext>
                  </a:extLst>
                </a:gridCol>
                <a:gridCol w="1142411">
                  <a:extLst>
                    <a:ext uri="{9D8B030D-6E8A-4147-A177-3AD203B41FA5}">
                      <a16:colId xmlns:a16="http://schemas.microsoft.com/office/drawing/2014/main" val="541588849"/>
                    </a:ext>
                  </a:extLst>
                </a:gridCol>
                <a:gridCol w="1066250">
                  <a:extLst>
                    <a:ext uri="{9D8B030D-6E8A-4147-A177-3AD203B41FA5}">
                      <a16:colId xmlns:a16="http://schemas.microsoft.com/office/drawing/2014/main" val="2187653967"/>
                    </a:ext>
                  </a:extLst>
                </a:gridCol>
                <a:gridCol w="1447054">
                  <a:extLst>
                    <a:ext uri="{9D8B030D-6E8A-4147-A177-3AD203B41FA5}">
                      <a16:colId xmlns:a16="http://schemas.microsoft.com/office/drawing/2014/main" val="2986282273"/>
                    </a:ext>
                  </a:extLst>
                </a:gridCol>
              </a:tblGrid>
              <a:tr h="630678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00B0F0"/>
                          </a:solidFill>
                        </a:rPr>
                        <a:t>Time</a:t>
                      </a:r>
                      <a:endParaRPr lang="zh-CN" altLang="en-US" dirty="0">
                        <a:solidFill>
                          <a:srgbClr val="00B0F0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00B0F0"/>
                          </a:solidFill>
                        </a:rPr>
                        <a:t>P1 op.</a:t>
                      </a:r>
                      <a:endParaRPr lang="zh-CN" altLang="en-US" dirty="0">
                        <a:solidFill>
                          <a:srgbClr val="00B0F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00B0F0"/>
                          </a:solidFill>
                        </a:rPr>
                        <a:t>P2 op.</a:t>
                      </a:r>
                      <a:endParaRPr lang="zh-CN" altLang="en-US" dirty="0">
                        <a:solidFill>
                          <a:srgbClr val="00B0F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00B0F0"/>
                          </a:solidFill>
                        </a:rPr>
                        <a:t>State A in P1</a:t>
                      </a:r>
                      <a:endParaRPr lang="zh-CN" altLang="en-US" dirty="0">
                        <a:solidFill>
                          <a:srgbClr val="00B0F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00B0F0"/>
                          </a:solidFill>
                        </a:rPr>
                        <a:t>State B in P2</a:t>
                      </a:r>
                      <a:endParaRPr lang="zh-CN" altLang="en-US" dirty="0">
                        <a:solidFill>
                          <a:srgbClr val="00B0F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00B0F0"/>
                          </a:solidFill>
                        </a:rPr>
                        <a:t>Bus action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2689419"/>
                  </a:ext>
                </a:extLst>
              </a:tr>
              <a:tr h="360388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Arial Narrow" panose="020B0606020202030204" pitchFamily="34" charset="0"/>
                        </a:rPr>
                        <a:t>t0</a:t>
                      </a:r>
                      <a:endParaRPr lang="zh-CN" altLang="en-US" dirty="0">
                        <a:latin typeface="Arial Narrow" panose="020B060602020203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Arial Narrow" panose="020B0606020202030204" pitchFamily="34" charset="0"/>
                        </a:rPr>
                        <a:t>I</a:t>
                      </a:r>
                      <a:endParaRPr lang="zh-CN" altLang="en-US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Arial Narrow" panose="020B0606020202030204" pitchFamily="34" charset="0"/>
                        </a:rPr>
                        <a:t>I</a:t>
                      </a:r>
                      <a:endParaRPr lang="zh-CN" altLang="en-US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9255117"/>
                  </a:ext>
                </a:extLst>
              </a:tr>
              <a:tr h="36539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Arial Narrow" panose="020B0606020202030204" pitchFamily="34" charset="0"/>
                        </a:rPr>
                        <a:t>t1</a:t>
                      </a:r>
                      <a:endParaRPr lang="zh-CN" altLang="en-US" dirty="0">
                        <a:latin typeface="Arial Narrow" panose="020B060602020203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Arial Narrow" panose="020B0606020202030204" pitchFamily="34" charset="0"/>
                        </a:rPr>
                        <a:t>Read A</a:t>
                      </a:r>
                      <a:endParaRPr lang="zh-CN" altLang="en-US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Arial Narrow" panose="020B0606020202030204" pitchFamily="34" charset="0"/>
                        </a:rPr>
                        <a:t>S</a:t>
                      </a:r>
                      <a:endParaRPr lang="zh-CN" altLang="en-US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Arial Narrow" panose="020B0606020202030204" pitchFamily="34" charset="0"/>
                        </a:rPr>
                        <a:t>I</a:t>
                      </a:r>
                      <a:endParaRPr lang="zh-CN" altLang="en-US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Arial Narrow" panose="020B0606020202030204" pitchFamily="34" charset="0"/>
                        </a:rPr>
                        <a:t>Read miss A</a:t>
                      </a:r>
                      <a:endParaRPr lang="zh-CN" altLang="en-US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9564079"/>
                  </a:ext>
                </a:extLst>
              </a:tr>
              <a:tr h="36539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Arial Narrow" panose="020B0606020202030204" pitchFamily="34" charset="0"/>
                        </a:rPr>
                        <a:t>t2</a:t>
                      </a:r>
                      <a:endParaRPr lang="zh-CN" altLang="en-US" dirty="0">
                        <a:latin typeface="Arial Narrow" panose="020B060602020203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Arial Narrow" panose="020B0606020202030204" pitchFamily="34" charset="0"/>
                        </a:rPr>
                        <a:t>Write A</a:t>
                      </a:r>
                      <a:endParaRPr lang="zh-CN" altLang="en-US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M</a:t>
                      </a:r>
                      <a:endParaRPr lang="zh-CN" altLang="en-US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Arial Narrow" panose="020B0606020202030204" pitchFamily="34" charset="0"/>
                        </a:rPr>
                        <a:t>I</a:t>
                      </a:r>
                      <a:endParaRPr lang="zh-CN" altLang="en-US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Invalidate</a:t>
                      </a:r>
                      <a:endParaRPr lang="zh-CN" altLang="en-US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1308593"/>
                  </a:ext>
                </a:extLst>
              </a:tr>
              <a:tr h="36539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Arial Narrow" panose="020B0606020202030204" pitchFamily="34" charset="0"/>
                        </a:rPr>
                        <a:t>t3</a:t>
                      </a:r>
                      <a:endParaRPr lang="zh-CN" altLang="en-US" dirty="0">
                        <a:latin typeface="Arial Narrow" panose="020B060602020203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latin typeface="Arial Narrow" panose="020B0606020202030204" pitchFamily="34" charset="0"/>
                        </a:rPr>
                        <a:t>Read B</a:t>
                      </a:r>
                      <a:endParaRPr lang="zh-CN" altLang="en-US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Arial Narrow" panose="020B0606020202030204" pitchFamily="34" charset="0"/>
                        </a:rPr>
                        <a:t>M</a:t>
                      </a:r>
                      <a:endParaRPr lang="zh-CN" altLang="en-US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Arial Narrow" panose="020B0606020202030204" pitchFamily="34" charset="0"/>
                        </a:rPr>
                        <a:t>S</a:t>
                      </a:r>
                      <a:endParaRPr lang="zh-CN" altLang="en-US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latin typeface="Arial Narrow" panose="020B0606020202030204" pitchFamily="34" charset="0"/>
                        </a:rPr>
                        <a:t>Read miss B</a:t>
                      </a:r>
                      <a:endParaRPr lang="zh-CN" altLang="en-US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9757351"/>
                  </a:ext>
                </a:extLst>
              </a:tr>
              <a:tr h="36539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Arial Narrow" panose="020B0606020202030204" pitchFamily="34" charset="0"/>
                        </a:rPr>
                        <a:t>t4</a:t>
                      </a:r>
                      <a:endParaRPr lang="zh-CN" altLang="en-US" dirty="0">
                        <a:latin typeface="Arial Narrow" panose="020B060602020203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Arial Narrow" panose="020B0606020202030204" pitchFamily="34" charset="0"/>
                        </a:rPr>
                        <a:t>Write B</a:t>
                      </a:r>
                      <a:endParaRPr lang="zh-CN" altLang="en-US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Arial Narrow" panose="020B0606020202030204" pitchFamily="34" charset="0"/>
                        </a:rPr>
                        <a:t>M</a:t>
                      </a:r>
                      <a:endParaRPr lang="zh-CN" altLang="en-US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M</a:t>
                      </a:r>
                      <a:endParaRPr lang="zh-CN" altLang="en-US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Invalidate</a:t>
                      </a:r>
                      <a:endParaRPr lang="zh-CN" altLang="en-US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718296590"/>
                  </a:ext>
                </a:extLst>
              </a:tr>
            </a:tbl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11705B81-E271-4D31-A407-9B3929FE6016}"/>
              </a:ext>
            </a:extLst>
          </p:cNvPr>
          <p:cNvSpPr/>
          <p:nvPr/>
        </p:nvSpPr>
        <p:spPr>
          <a:xfrm>
            <a:off x="381000" y="2057400"/>
            <a:ext cx="79541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2400" b="1" dirty="0">
                <a:ea typeface="ＭＳ Ｐゴシック" charset="-128"/>
              </a:rPr>
              <a:t>MSI</a:t>
            </a:r>
            <a:r>
              <a:rPr lang="en-US" altLang="en-US" dirty="0">
                <a:ea typeface="ＭＳ Ｐゴシック" charset="-128"/>
              </a:rPr>
              <a:t>:</a:t>
            </a:r>
            <a:endParaRPr lang="zh-CN" altLang="en-US" dirty="0"/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56FEFD82-B043-4304-90D3-3B16D527FB8C}"/>
              </a:ext>
            </a:extLst>
          </p:cNvPr>
          <p:cNvGraphicFramePr>
            <a:graphicFrameLocks noGrp="1"/>
          </p:cNvGraphicFramePr>
          <p:nvPr/>
        </p:nvGraphicFramePr>
        <p:xfrm>
          <a:off x="1524000" y="3886200"/>
          <a:ext cx="6625983" cy="24688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913929">
                  <a:extLst>
                    <a:ext uri="{9D8B030D-6E8A-4147-A177-3AD203B41FA5}">
                      <a16:colId xmlns:a16="http://schemas.microsoft.com/office/drawing/2014/main" val="3840491383"/>
                    </a:ext>
                  </a:extLst>
                </a:gridCol>
                <a:gridCol w="1066250">
                  <a:extLst>
                    <a:ext uri="{9D8B030D-6E8A-4147-A177-3AD203B41FA5}">
                      <a16:colId xmlns:a16="http://schemas.microsoft.com/office/drawing/2014/main" val="3512029855"/>
                    </a:ext>
                  </a:extLst>
                </a:gridCol>
                <a:gridCol w="990089">
                  <a:extLst>
                    <a:ext uri="{9D8B030D-6E8A-4147-A177-3AD203B41FA5}">
                      <a16:colId xmlns:a16="http://schemas.microsoft.com/office/drawing/2014/main" val="2300775718"/>
                    </a:ext>
                  </a:extLst>
                </a:gridCol>
                <a:gridCol w="1142411">
                  <a:extLst>
                    <a:ext uri="{9D8B030D-6E8A-4147-A177-3AD203B41FA5}">
                      <a16:colId xmlns:a16="http://schemas.microsoft.com/office/drawing/2014/main" val="541588849"/>
                    </a:ext>
                  </a:extLst>
                </a:gridCol>
                <a:gridCol w="1066250">
                  <a:extLst>
                    <a:ext uri="{9D8B030D-6E8A-4147-A177-3AD203B41FA5}">
                      <a16:colId xmlns:a16="http://schemas.microsoft.com/office/drawing/2014/main" val="2187653967"/>
                    </a:ext>
                  </a:extLst>
                </a:gridCol>
                <a:gridCol w="1447054">
                  <a:extLst>
                    <a:ext uri="{9D8B030D-6E8A-4147-A177-3AD203B41FA5}">
                      <a16:colId xmlns:a16="http://schemas.microsoft.com/office/drawing/2014/main" val="2986282273"/>
                    </a:ext>
                  </a:extLst>
                </a:gridCol>
              </a:tblGrid>
              <a:tr h="630678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00B0F0"/>
                          </a:solidFill>
                        </a:rPr>
                        <a:t>Time</a:t>
                      </a:r>
                      <a:endParaRPr lang="zh-CN" altLang="en-US" dirty="0">
                        <a:solidFill>
                          <a:srgbClr val="00B0F0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00B0F0"/>
                          </a:solidFill>
                        </a:rPr>
                        <a:t>P1 op.</a:t>
                      </a:r>
                      <a:endParaRPr lang="zh-CN" altLang="en-US" dirty="0">
                        <a:solidFill>
                          <a:srgbClr val="00B0F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00B0F0"/>
                          </a:solidFill>
                        </a:rPr>
                        <a:t>P2 op.</a:t>
                      </a:r>
                      <a:endParaRPr lang="zh-CN" altLang="en-US" dirty="0">
                        <a:solidFill>
                          <a:srgbClr val="00B0F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00B0F0"/>
                          </a:solidFill>
                        </a:rPr>
                        <a:t>State A in P1</a:t>
                      </a:r>
                      <a:endParaRPr lang="zh-CN" altLang="en-US" dirty="0">
                        <a:solidFill>
                          <a:srgbClr val="00B0F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00B0F0"/>
                          </a:solidFill>
                        </a:rPr>
                        <a:t>State B in P2</a:t>
                      </a:r>
                      <a:endParaRPr lang="zh-CN" altLang="en-US" dirty="0">
                        <a:solidFill>
                          <a:srgbClr val="00B0F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00B0F0"/>
                          </a:solidFill>
                        </a:rPr>
                        <a:t>Bus action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2689419"/>
                  </a:ext>
                </a:extLst>
              </a:tr>
              <a:tr h="360388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Arial Narrow" panose="020B0606020202030204" pitchFamily="34" charset="0"/>
                        </a:rPr>
                        <a:t>t0</a:t>
                      </a:r>
                      <a:endParaRPr lang="zh-CN" altLang="en-US" dirty="0">
                        <a:latin typeface="Arial Narrow" panose="020B060602020203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Arial Narrow" panose="020B0606020202030204" pitchFamily="34" charset="0"/>
                        </a:rPr>
                        <a:t>I</a:t>
                      </a:r>
                      <a:endParaRPr lang="zh-CN" altLang="en-US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Arial Narrow" panose="020B0606020202030204" pitchFamily="34" charset="0"/>
                        </a:rPr>
                        <a:t>I</a:t>
                      </a:r>
                      <a:endParaRPr lang="zh-CN" altLang="en-US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9255117"/>
                  </a:ext>
                </a:extLst>
              </a:tr>
              <a:tr h="36539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Arial Narrow" panose="020B0606020202030204" pitchFamily="34" charset="0"/>
                        </a:rPr>
                        <a:t>t1</a:t>
                      </a:r>
                      <a:endParaRPr lang="zh-CN" altLang="en-US" dirty="0">
                        <a:latin typeface="Arial Narrow" panose="020B060602020203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Arial Narrow" panose="020B0606020202030204" pitchFamily="34" charset="0"/>
                        </a:rPr>
                        <a:t>Read A</a:t>
                      </a:r>
                      <a:endParaRPr lang="zh-CN" altLang="en-US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Arial Narrow" panose="020B0606020202030204" pitchFamily="34" charset="0"/>
                        </a:rPr>
                        <a:t>E</a:t>
                      </a:r>
                      <a:endParaRPr lang="zh-CN" altLang="en-US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Arial Narrow" panose="020B0606020202030204" pitchFamily="34" charset="0"/>
                        </a:rPr>
                        <a:t>I</a:t>
                      </a:r>
                      <a:endParaRPr lang="zh-CN" altLang="en-US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Arial Narrow" panose="020B0606020202030204" pitchFamily="34" charset="0"/>
                        </a:rPr>
                        <a:t>Read miss A</a:t>
                      </a:r>
                      <a:endParaRPr lang="zh-CN" altLang="en-US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9564079"/>
                  </a:ext>
                </a:extLst>
              </a:tr>
              <a:tr h="36539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Arial Narrow" panose="020B0606020202030204" pitchFamily="34" charset="0"/>
                        </a:rPr>
                        <a:t>t2</a:t>
                      </a:r>
                      <a:endParaRPr lang="zh-CN" altLang="en-US" dirty="0">
                        <a:latin typeface="Arial Narrow" panose="020B060602020203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Arial Narrow" panose="020B0606020202030204" pitchFamily="34" charset="0"/>
                        </a:rPr>
                        <a:t>Write A</a:t>
                      </a:r>
                      <a:endParaRPr lang="zh-CN" altLang="en-US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M</a:t>
                      </a:r>
                      <a:endParaRPr lang="zh-CN" altLang="en-US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Arial Narrow" panose="020B0606020202030204" pitchFamily="34" charset="0"/>
                        </a:rPr>
                        <a:t>I</a:t>
                      </a:r>
                      <a:endParaRPr lang="zh-CN" altLang="en-US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1308593"/>
                  </a:ext>
                </a:extLst>
              </a:tr>
              <a:tr h="36539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Arial Narrow" panose="020B0606020202030204" pitchFamily="34" charset="0"/>
                        </a:rPr>
                        <a:t>t3</a:t>
                      </a:r>
                      <a:endParaRPr lang="zh-CN" altLang="en-US" dirty="0">
                        <a:latin typeface="Arial Narrow" panose="020B060602020203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latin typeface="Arial Narrow" panose="020B0606020202030204" pitchFamily="34" charset="0"/>
                        </a:rPr>
                        <a:t>Read B</a:t>
                      </a:r>
                      <a:endParaRPr lang="zh-CN" altLang="en-US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Arial Narrow" panose="020B0606020202030204" pitchFamily="34" charset="0"/>
                        </a:rPr>
                        <a:t>M</a:t>
                      </a:r>
                      <a:endParaRPr lang="zh-CN" altLang="en-US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Arial Narrow" panose="020B0606020202030204" pitchFamily="34" charset="0"/>
                        </a:rPr>
                        <a:t>E</a:t>
                      </a:r>
                      <a:endParaRPr lang="zh-CN" altLang="en-US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latin typeface="Arial Narrow" panose="020B0606020202030204" pitchFamily="34" charset="0"/>
                        </a:rPr>
                        <a:t>Read miss B</a:t>
                      </a:r>
                      <a:endParaRPr lang="zh-CN" altLang="en-US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9757351"/>
                  </a:ext>
                </a:extLst>
              </a:tr>
              <a:tr h="36539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Arial Narrow" panose="020B0606020202030204" pitchFamily="34" charset="0"/>
                        </a:rPr>
                        <a:t>t4</a:t>
                      </a:r>
                      <a:endParaRPr lang="zh-CN" altLang="en-US" dirty="0">
                        <a:latin typeface="Arial Narrow" panose="020B060602020203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Arial Narrow" panose="020B0606020202030204" pitchFamily="34" charset="0"/>
                        </a:rPr>
                        <a:t>Write B</a:t>
                      </a:r>
                      <a:endParaRPr lang="zh-CN" altLang="en-US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Arial Narrow" panose="020B0606020202030204" pitchFamily="34" charset="0"/>
                        </a:rPr>
                        <a:t>M</a:t>
                      </a:r>
                      <a:endParaRPr lang="zh-CN" altLang="en-US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M</a:t>
                      </a:r>
                      <a:endParaRPr lang="zh-CN" altLang="en-US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718296590"/>
                  </a:ext>
                </a:extLst>
              </a:tr>
            </a:tbl>
          </a:graphicData>
        </a:graphic>
      </p:graphicFrame>
      <p:sp>
        <p:nvSpPr>
          <p:cNvPr id="10" name="矩形 9">
            <a:extLst>
              <a:ext uri="{FF2B5EF4-FFF2-40B4-BE49-F238E27FC236}">
                <a16:creationId xmlns:a16="http://schemas.microsoft.com/office/drawing/2014/main" id="{21B8B5AF-1940-474D-8475-D9EC377EEFC0}"/>
              </a:ext>
            </a:extLst>
          </p:cNvPr>
          <p:cNvSpPr/>
          <p:nvPr/>
        </p:nvSpPr>
        <p:spPr>
          <a:xfrm>
            <a:off x="304800" y="4953000"/>
            <a:ext cx="100059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2400" b="1" dirty="0">
                <a:ea typeface="ＭＳ Ｐゴシック" charset="-128"/>
              </a:rPr>
              <a:t>MESI</a:t>
            </a:r>
            <a:r>
              <a:rPr lang="en-US" altLang="en-US" dirty="0">
                <a:ea typeface="ＭＳ Ｐゴシック" charset="-128"/>
              </a:rPr>
              <a:t>: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8764076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Title 1"/>
          <p:cNvSpPr>
            <a:spLocks noGrp="1"/>
          </p:cNvSpPr>
          <p:nvPr>
            <p:ph type="title"/>
          </p:nvPr>
        </p:nvSpPr>
        <p:spPr>
          <a:xfrm>
            <a:off x="38100" y="197879"/>
            <a:ext cx="9067800" cy="1066800"/>
          </a:xfrm>
        </p:spPr>
        <p:txBody>
          <a:bodyPr/>
          <a:lstStyle/>
          <a:p>
            <a:r>
              <a:rPr lang="en-US" altLang="en-US" dirty="0">
                <a:ea typeface="ＭＳ Ｐゴシック" charset="-128"/>
              </a:rPr>
              <a:t>Cache Coherence Protocols</a:t>
            </a:r>
          </a:p>
        </p:txBody>
      </p:sp>
      <p:sp>
        <p:nvSpPr>
          <p:cNvPr id="62" name="Oval 7">
            <a:extLst>
              <a:ext uri="{FF2B5EF4-FFF2-40B4-BE49-F238E27FC236}">
                <a16:creationId xmlns:a16="http://schemas.microsoft.com/office/drawing/2014/main" id="{C3FD745C-6FD2-49C8-8581-9947D0A017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2590800"/>
            <a:ext cx="749300" cy="7493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63" name="Line 9">
            <a:extLst>
              <a:ext uri="{FF2B5EF4-FFF2-40B4-BE49-F238E27FC236}">
                <a16:creationId xmlns:a16="http://schemas.microsoft.com/office/drawing/2014/main" id="{8D004B49-60EF-4C3B-B44D-B0F18B1C6733}"/>
              </a:ext>
            </a:extLst>
          </p:cNvPr>
          <p:cNvSpPr>
            <a:spLocks noChangeShapeType="1"/>
          </p:cNvSpPr>
          <p:nvPr/>
        </p:nvSpPr>
        <p:spPr bwMode="auto">
          <a:xfrm>
            <a:off x="6183312" y="3346531"/>
            <a:ext cx="0" cy="3111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64" name="Line 10">
            <a:extLst>
              <a:ext uri="{FF2B5EF4-FFF2-40B4-BE49-F238E27FC236}">
                <a16:creationId xmlns:a16="http://schemas.microsoft.com/office/drawing/2014/main" id="{78F93EC4-754D-4E17-9CA2-8EBF58ACABE6}"/>
              </a:ext>
            </a:extLst>
          </p:cNvPr>
          <p:cNvSpPr>
            <a:spLocks noChangeShapeType="1"/>
          </p:cNvSpPr>
          <p:nvPr/>
        </p:nvSpPr>
        <p:spPr bwMode="auto">
          <a:xfrm>
            <a:off x="6183312" y="4337131"/>
            <a:ext cx="0" cy="3683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65" name="Rectangle 11">
            <a:extLst>
              <a:ext uri="{FF2B5EF4-FFF2-40B4-BE49-F238E27FC236}">
                <a16:creationId xmlns:a16="http://schemas.microsoft.com/office/drawing/2014/main" id="{2FAB76D7-1805-492E-B58B-4C7C7D98E6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0551" y="5679907"/>
            <a:ext cx="2897184" cy="612843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66" name="Rectangle 13">
            <a:extLst>
              <a:ext uri="{FF2B5EF4-FFF2-40B4-BE49-F238E27FC236}">
                <a16:creationId xmlns:a16="http://schemas.microsoft.com/office/drawing/2014/main" id="{C81878FC-9DB1-4103-BDCF-371293ED4D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0048" y="2767806"/>
            <a:ext cx="593112" cy="366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</a:rPr>
              <a:t>Core</a:t>
            </a:r>
          </a:p>
        </p:txBody>
      </p:sp>
      <p:sp>
        <p:nvSpPr>
          <p:cNvPr id="67" name="AutoShape 16">
            <a:extLst>
              <a:ext uri="{FF2B5EF4-FFF2-40B4-BE49-F238E27FC236}">
                <a16:creationId xmlns:a16="http://schemas.microsoft.com/office/drawing/2014/main" id="{F44B164B-3365-4157-9B91-277598472F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5618" y="4718131"/>
            <a:ext cx="3067051" cy="596900"/>
          </a:xfrm>
          <a:prstGeom prst="roundRect">
            <a:avLst>
              <a:gd name="adj" fmla="val 12495"/>
            </a:avLst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68" name="Rectangle 17">
            <a:extLst>
              <a:ext uri="{FF2B5EF4-FFF2-40B4-BE49-F238E27FC236}">
                <a16:creationId xmlns:a16="http://schemas.microsoft.com/office/drawing/2014/main" id="{6726E8FF-1CC8-4E08-8810-8FE0E87D5E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7440" y="4845820"/>
            <a:ext cx="2212210" cy="366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  <a:cs typeface="+mn-cs"/>
              </a:rPr>
              <a:t>Bus (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65000"/>
                  </a:schemeClr>
                </a:solidFill>
                <a:effectLst/>
                <a:uLnTx/>
                <a:uFillTx/>
                <a:latin typeface="Arial Narrow" panose="020B0606020202030204" pitchFamily="34" charset="0"/>
              </a:rPr>
              <a:t>one </a:t>
            </a:r>
            <a:r>
              <a:rPr lang="en-US" altLang="en-US" sz="1800" dirty="0">
                <a:solidFill>
                  <a:schemeClr val="accent3">
                    <a:lumMod val="65000"/>
                  </a:schemeClr>
                </a:solidFill>
                <a:latin typeface="Arial Narrow" panose="020B0606020202030204" pitchFamily="34" charset="0"/>
              </a:rPr>
              <a:t>trans. A time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  <a:cs typeface="+mn-cs"/>
              </a:rPr>
              <a:t>)</a:t>
            </a:r>
          </a:p>
        </p:txBody>
      </p:sp>
      <p:sp>
        <p:nvSpPr>
          <p:cNvPr id="69" name="Line 18">
            <a:extLst>
              <a:ext uri="{FF2B5EF4-FFF2-40B4-BE49-F238E27FC236}">
                <a16:creationId xmlns:a16="http://schemas.microsoft.com/office/drawing/2014/main" id="{9C8E6EED-6D8A-40F4-8D07-AA9EC802D653}"/>
              </a:ext>
            </a:extLst>
          </p:cNvPr>
          <p:cNvSpPr>
            <a:spLocks noChangeShapeType="1"/>
          </p:cNvSpPr>
          <p:nvPr/>
        </p:nvSpPr>
        <p:spPr bwMode="auto">
          <a:xfrm>
            <a:off x="7109619" y="5315031"/>
            <a:ext cx="0" cy="3683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70" name="Rectangle 19">
            <a:extLst>
              <a:ext uri="{FF2B5EF4-FFF2-40B4-BE49-F238E27FC236}">
                <a16:creationId xmlns:a16="http://schemas.microsoft.com/office/drawing/2014/main" id="{A171447C-8908-4EFD-9151-3797598C34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6981" y="5785775"/>
            <a:ext cx="1565275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  <a:cs typeface="+mn-cs"/>
              </a:rPr>
              <a:t>Main Memory</a:t>
            </a:r>
          </a:p>
        </p:txBody>
      </p:sp>
      <p:sp>
        <p:nvSpPr>
          <p:cNvPr id="71" name="矩形: 圆角 70">
            <a:extLst>
              <a:ext uri="{FF2B5EF4-FFF2-40B4-BE49-F238E27FC236}">
                <a16:creationId xmlns:a16="http://schemas.microsoft.com/office/drawing/2014/main" id="{CD5547E4-1DDA-42DC-A2DC-DF8A6E33F02A}"/>
              </a:ext>
            </a:extLst>
          </p:cNvPr>
          <p:cNvSpPr/>
          <p:nvPr/>
        </p:nvSpPr>
        <p:spPr bwMode="auto">
          <a:xfrm>
            <a:off x="5491169" y="3657681"/>
            <a:ext cx="1371569" cy="679450"/>
          </a:xfrm>
          <a:prstGeom prst="roundRect">
            <a:avLst/>
          </a:prstGeom>
          <a:solidFill>
            <a:srgbClr val="CCEC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72" name="Oval 7">
            <a:extLst>
              <a:ext uri="{FF2B5EF4-FFF2-40B4-BE49-F238E27FC236}">
                <a16:creationId xmlns:a16="http://schemas.microsoft.com/office/drawing/2014/main" id="{41CD9E39-0BB2-4CF4-870E-CF5B9BDF28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43019" y="2599491"/>
            <a:ext cx="749300" cy="7493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73" name="Line 9">
            <a:extLst>
              <a:ext uri="{FF2B5EF4-FFF2-40B4-BE49-F238E27FC236}">
                <a16:creationId xmlns:a16="http://schemas.microsoft.com/office/drawing/2014/main" id="{3B5D5838-BED1-4543-85BF-E68725F7B89F}"/>
              </a:ext>
            </a:extLst>
          </p:cNvPr>
          <p:cNvSpPr>
            <a:spLocks noChangeShapeType="1"/>
          </p:cNvSpPr>
          <p:nvPr/>
        </p:nvSpPr>
        <p:spPr bwMode="auto">
          <a:xfrm>
            <a:off x="8035131" y="3355222"/>
            <a:ext cx="0" cy="3111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74" name="Line 10">
            <a:extLst>
              <a:ext uri="{FF2B5EF4-FFF2-40B4-BE49-F238E27FC236}">
                <a16:creationId xmlns:a16="http://schemas.microsoft.com/office/drawing/2014/main" id="{68570B5F-8237-4B27-8B33-6CB70A53B906}"/>
              </a:ext>
            </a:extLst>
          </p:cNvPr>
          <p:cNvSpPr>
            <a:spLocks noChangeShapeType="1"/>
          </p:cNvSpPr>
          <p:nvPr/>
        </p:nvSpPr>
        <p:spPr bwMode="auto">
          <a:xfrm>
            <a:off x="8035131" y="4345822"/>
            <a:ext cx="0" cy="3683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75" name="Rectangle 13">
            <a:extLst>
              <a:ext uri="{FF2B5EF4-FFF2-40B4-BE49-F238E27FC236}">
                <a16:creationId xmlns:a16="http://schemas.microsoft.com/office/drawing/2014/main" id="{7325B334-2C11-449E-9916-501898389F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3650" y="2767806"/>
            <a:ext cx="593112" cy="366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</a:rPr>
              <a:t>Core</a:t>
            </a: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9EDEF3E5-65FA-45F3-951F-3DAFB02C94A1}"/>
              </a:ext>
            </a:extLst>
          </p:cNvPr>
          <p:cNvSpPr/>
          <p:nvPr/>
        </p:nvSpPr>
        <p:spPr>
          <a:xfrm>
            <a:off x="6119020" y="3335506"/>
            <a:ext cx="106679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1400" b="1" dirty="0">
                <a:solidFill>
                  <a:schemeClr val="accent2"/>
                </a:solidFill>
                <a:latin typeface="Arial Narrow" panose="020B0606020202030204" pitchFamily="34" charset="0"/>
              </a:rPr>
              <a:t>CPU action</a:t>
            </a:r>
            <a:endParaRPr lang="zh-CN" altLang="en-US" sz="1400" dirty="0">
              <a:solidFill>
                <a:schemeClr val="accent2"/>
              </a:solidFill>
            </a:endParaRP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21E5251A-A363-461C-9DC6-C9CE986B96BD}"/>
              </a:ext>
            </a:extLst>
          </p:cNvPr>
          <p:cNvSpPr/>
          <p:nvPr/>
        </p:nvSpPr>
        <p:spPr>
          <a:xfrm>
            <a:off x="6119020" y="4386557"/>
            <a:ext cx="106679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1400" b="1" dirty="0">
                <a:solidFill>
                  <a:srgbClr val="92D050"/>
                </a:solidFill>
                <a:latin typeface="Arial Narrow" panose="020B0606020202030204" pitchFamily="34" charset="0"/>
              </a:rPr>
              <a:t>Bus action</a:t>
            </a:r>
            <a:endParaRPr lang="zh-CN" altLang="en-US" sz="1400" dirty="0">
              <a:solidFill>
                <a:srgbClr val="92D050"/>
              </a:solidFill>
            </a:endParaRP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B22C4E31-9354-45D4-923B-82884D9EC8E4}"/>
              </a:ext>
            </a:extLst>
          </p:cNvPr>
          <p:cNvSpPr/>
          <p:nvPr/>
        </p:nvSpPr>
        <p:spPr>
          <a:xfrm>
            <a:off x="7991662" y="3353693"/>
            <a:ext cx="106679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1400" b="1" dirty="0">
                <a:solidFill>
                  <a:schemeClr val="accent2"/>
                </a:solidFill>
                <a:latin typeface="Arial Narrow" panose="020B0606020202030204" pitchFamily="34" charset="0"/>
              </a:rPr>
              <a:t>CPU action</a:t>
            </a:r>
            <a:endParaRPr lang="zh-CN" altLang="en-US" sz="1400" dirty="0">
              <a:solidFill>
                <a:schemeClr val="accent2"/>
              </a:solidFill>
            </a:endParaRP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E6AC795D-FC33-4DBC-BDE3-0FEE466ED3C8}"/>
              </a:ext>
            </a:extLst>
          </p:cNvPr>
          <p:cNvSpPr/>
          <p:nvPr/>
        </p:nvSpPr>
        <p:spPr>
          <a:xfrm>
            <a:off x="7991663" y="4386557"/>
            <a:ext cx="106679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1400" b="1" dirty="0">
                <a:solidFill>
                  <a:srgbClr val="92D050"/>
                </a:solidFill>
                <a:latin typeface="Arial Narrow" panose="020B0606020202030204" pitchFamily="34" charset="0"/>
              </a:rPr>
              <a:t>Bus action</a:t>
            </a:r>
            <a:endParaRPr lang="zh-CN" altLang="en-US" sz="1400" dirty="0">
              <a:solidFill>
                <a:srgbClr val="92D050"/>
              </a:solidFill>
            </a:endParaRP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7CD3EA7F-7201-4C85-9E1D-B725A8499E94}"/>
              </a:ext>
            </a:extLst>
          </p:cNvPr>
          <p:cNvSpPr/>
          <p:nvPr/>
        </p:nvSpPr>
        <p:spPr>
          <a:xfrm>
            <a:off x="5535616" y="3742801"/>
            <a:ext cx="673100" cy="523220"/>
          </a:xfrm>
          <a:prstGeom prst="rect">
            <a:avLst/>
          </a:prstGeom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en-US" sz="1400" dirty="0">
                <a:solidFill>
                  <a:srgbClr val="000000"/>
                </a:solidFill>
                <a:latin typeface="Arial Narrow" panose="020B0606020202030204" pitchFamily="34" charset="0"/>
              </a:rPr>
              <a:t>Cache blocks</a:t>
            </a:r>
            <a:endParaRPr lang="zh-CN" altLang="en-US" sz="1400" dirty="0"/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C711DF37-BF5F-4939-A09F-D1D341A6DF4C}"/>
              </a:ext>
            </a:extLst>
          </p:cNvPr>
          <p:cNvSpPr/>
          <p:nvPr/>
        </p:nvSpPr>
        <p:spPr>
          <a:xfrm>
            <a:off x="6253163" y="3843517"/>
            <a:ext cx="533400" cy="307777"/>
          </a:xfrm>
          <a:prstGeom prst="rect">
            <a:avLst/>
          </a:prstGeom>
          <a:ln w="15875" cmpd="sng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en-US" sz="1400" dirty="0">
                <a:solidFill>
                  <a:srgbClr val="000000"/>
                </a:solidFill>
                <a:latin typeface="Arial Narrow" panose="020B0606020202030204" pitchFamily="34" charset="0"/>
              </a:rPr>
              <a:t>Tags</a:t>
            </a:r>
            <a:endParaRPr lang="zh-CN" altLang="en-US" sz="1400" dirty="0"/>
          </a:p>
        </p:txBody>
      </p:sp>
      <p:sp>
        <p:nvSpPr>
          <p:cNvPr id="82" name="矩形: 圆角 81">
            <a:extLst>
              <a:ext uri="{FF2B5EF4-FFF2-40B4-BE49-F238E27FC236}">
                <a16:creationId xmlns:a16="http://schemas.microsoft.com/office/drawing/2014/main" id="{E7267A33-DB8B-4A2C-8BF8-6EA265BBFEE2}"/>
              </a:ext>
            </a:extLst>
          </p:cNvPr>
          <p:cNvSpPr/>
          <p:nvPr/>
        </p:nvSpPr>
        <p:spPr bwMode="auto">
          <a:xfrm>
            <a:off x="7349346" y="3674170"/>
            <a:ext cx="1371569" cy="679450"/>
          </a:xfrm>
          <a:prstGeom prst="roundRect">
            <a:avLst/>
          </a:prstGeom>
          <a:solidFill>
            <a:srgbClr val="CCEC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0609948D-EC11-4A1B-9BEA-C1E4F1651B73}"/>
              </a:ext>
            </a:extLst>
          </p:cNvPr>
          <p:cNvSpPr/>
          <p:nvPr/>
        </p:nvSpPr>
        <p:spPr>
          <a:xfrm>
            <a:off x="7393793" y="3759290"/>
            <a:ext cx="673100" cy="523220"/>
          </a:xfrm>
          <a:prstGeom prst="rect">
            <a:avLst/>
          </a:prstGeom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en-US" sz="1400" dirty="0">
                <a:solidFill>
                  <a:srgbClr val="000000"/>
                </a:solidFill>
                <a:latin typeface="Arial Narrow" panose="020B0606020202030204" pitchFamily="34" charset="0"/>
              </a:rPr>
              <a:t>Cache blocks</a:t>
            </a:r>
            <a:endParaRPr lang="zh-CN" altLang="en-US" sz="1400" dirty="0"/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9A3CBBD7-FB7A-423C-A316-A0D6E9F019D6}"/>
              </a:ext>
            </a:extLst>
          </p:cNvPr>
          <p:cNvSpPr/>
          <p:nvPr/>
        </p:nvSpPr>
        <p:spPr>
          <a:xfrm>
            <a:off x="8111340" y="3860006"/>
            <a:ext cx="533400" cy="307777"/>
          </a:xfrm>
          <a:prstGeom prst="rect">
            <a:avLst/>
          </a:prstGeom>
          <a:ln w="15875" cmpd="sng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en-US" sz="1400" dirty="0">
                <a:solidFill>
                  <a:srgbClr val="000000"/>
                </a:solidFill>
                <a:latin typeface="Arial Narrow" panose="020B0606020202030204" pitchFamily="34" charset="0"/>
              </a:rPr>
              <a:t>Tags</a:t>
            </a:r>
            <a:endParaRPr lang="zh-CN" altLang="en-US" sz="1400" dirty="0"/>
          </a:p>
        </p:txBody>
      </p:sp>
      <p:sp>
        <p:nvSpPr>
          <p:cNvPr id="85" name="Rectangle">
            <a:extLst>
              <a:ext uri="{FF2B5EF4-FFF2-40B4-BE49-F238E27FC236}">
                <a16:creationId xmlns:a16="http://schemas.microsoft.com/office/drawing/2014/main" id="{34394321-B1A3-4469-BF59-FF03364058C9}"/>
              </a:ext>
            </a:extLst>
          </p:cNvPr>
          <p:cNvSpPr/>
          <p:nvPr/>
        </p:nvSpPr>
        <p:spPr>
          <a:xfrm>
            <a:off x="5437207" y="5527779"/>
            <a:ext cx="3401989" cy="862099"/>
          </a:xfrm>
          <a:prstGeom prst="rect">
            <a:avLst/>
          </a:prstGeom>
          <a:solidFill>
            <a:srgbClr val="FFFFFF">
              <a:alpha val="84174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86" name="Rectangle">
            <a:extLst>
              <a:ext uri="{FF2B5EF4-FFF2-40B4-BE49-F238E27FC236}">
                <a16:creationId xmlns:a16="http://schemas.microsoft.com/office/drawing/2014/main" id="{30E4483F-3015-4FCD-B19A-0578BA480F0A}"/>
              </a:ext>
            </a:extLst>
          </p:cNvPr>
          <p:cNvSpPr/>
          <p:nvPr/>
        </p:nvSpPr>
        <p:spPr>
          <a:xfrm>
            <a:off x="5437208" y="2500011"/>
            <a:ext cx="3554392" cy="1882538"/>
          </a:xfrm>
          <a:prstGeom prst="rect">
            <a:avLst/>
          </a:prstGeom>
          <a:solidFill>
            <a:srgbClr val="FFFFFF">
              <a:alpha val="84174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7824F0CD-2C0D-4F18-9DD9-D4393568B5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75532"/>
            <a:ext cx="5584031" cy="3275762"/>
          </a:xfrm>
        </p:spPr>
        <p:txBody>
          <a:bodyPr/>
          <a:lstStyle/>
          <a:p>
            <a:r>
              <a:rPr lang="en-US" altLang="en-US" b="1" dirty="0">
                <a:ea typeface="ＭＳ Ｐゴシック" charset="-128"/>
              </a:rPr>
              <a:t>Cache Coherence</a:t>
            </a:r>
            <a:r>
              <a:rPr lang="en-US" altLang="en-US" dirty="0">
                <a:ea typeface="ＭＳ Ｐゴシック" charset="-128"/>
              </a:rPr>
              <a:t> </a:t>
            </a:r>
          </a:p>
          <a:p>
            <a:pPr lvl="1"/>
            <a:r>
              <a:rPr lang="en-US" altLang="zh-CN" b="1" dirty="0">
                <a:ea typeface="ＭＳ Ｐゴシック" charset="-128"/>
              </a:rPr>
              <a:t>Snoop</a:t>
            </a:r>
            <a:r>
              <a:rPr lang="en-US" altLang="zh-CN" dirty="0">
                <a:ea typeface="ＭＳ Ｐゴシック" charset="-128"/>
              </a:rPr>
              <a:t>:</a:t>
            </a:r>
            <a:r>
              <a:rPr lang="en-US" altLang="en-US" dirty="0">
                <a:ea typeface="ＭＳ Ｐゴシック" charset="-128"/>
              </a:rPr>
              <a:t> </a:t>
            </a:r>
            <a:r>
              <a:rPr lang="en-US" altLang="en-US" sz="2000" dirty="0">
                <a:ea typeface="ＭＳ Ｐゴシック" charset="-128"/>
              </a:rPr>
              <a:t>[Goodman ISCA 1983]</a:t>
            </a:r>
            <a:endParaRPr lang="en-US" altLang="zh-CN" sz="2000" dirty="0">
              <a:ea typeface="ＭＳ Ｐゴシック" charset="-128"/>
            </a:endParaRPr>
          </a:p>
          <a:p>
            <a:pPr lvl="2"/>
            <a:r>
              <a:rPr lang="en-US" altLang="zh-CN" dirty="0">
                <a:ea typeface="ＭＳ Ｐゴシック" charset="-128"/>
              </a:rPr>
              <a:t>Bus-based, each bus action broadcasts on the bus, one action at a time</a:t>
            </a:r>
            <a:r>
              <a:rPr lang="en-US" altLang="ja-JP" dirty="0">
                <a:ea typeface="ＭＳ Ｐゴシック" charset="-128"/>
              </a:rPr>
              <a:t>.</a:t>
            </a:r>
            <a:r>
              <a:rPr lang="en-US" altLang="en-US" dirty="0">
                <a:solidFill>
                  <a:srgbClr val="0000FF"/>
                </a:solidFill>
                <a:ea typeface="ＭＳ Ｐゴシック" charset="-128"/>
              </a:rPr>
              <a:t> </a:t>
            </a:r>
          </a:p>
          <a:p>
            <a:pPr lvl="2"/>
            <a:r>
              <a:rPr lang="en-US" altLang="en-US" dirty="0">
                <a:solidFill>
                  <a:srgbClr val="0000FF"/>
                </a:solidFill>
                <a:ea typeface="ＭＳ Ｐゴシック" charset="-128"/>
              </a:rPr>
              <a:t>Each to implement</a:t>
            </a:r>
          </a:p>
          <a:p>
            <a:pPr lvl="2"/>
            <a:r>
              <a:rPr lang="en-US" altLang="en-US" dirty="0">
                <a:solidFill>
                  <a:srgbClr val="FF0000"/>
                </a:solidFill>
                <a:ea typeface="ＭＳ Ｐゴシック" charset="-128"/>
              </a:rPr>
              <a:t>Single point of serialization </a:t>
            </a:r>
            <a:r>
              <a:rPr lang="en-US" altLang="en-US" i="1" dirty="0">
                <a:solidFill>
                  <a:srgbClr val="FF0000"/>
                </a:solidFill>
                <a:ea typeface="ＭＳ Ｐゴシック" charset="-128"/>
              </a:rPr>
              <a:t>for all memory requests. </a:t>
            </a:r>
            <a:endParaRPr lang="en-US" altLang="zh-CN" dirty="0">
              <a:solidFill>
                <a:srgbClr val="FF0000"/>
              </a:solidFill>
              <a:ea typeface="ＭＳ Ｐゴシック" charset="-128"/>
            </a:endParaRPr>
          </a:p>
          <a:p>
            <a:pPr lvl="2"/>
            <a:endParaRPr lang="en-US" altLang="zh-CN" dirty="0">
              <a:ea typeface="ＭＳ Ｐゴシック" charset="-128"/>
            </a:endParaRPr>
          </a:p>
          <a:p>
            <a:pPr lvl="2"/>
            <a:endParaRPr lang="en-US" altLang="zh-CN" dirty="0"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82713527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1" name="Title 4"/>
          <p:cNvSpPr>
            <a:spLocks noGrp="1"/>
          </p:cNvSpPr>
          <p:nvPr>
            <p:ph type="ctrTitle"/>
          </p:nvPr>
        </p:nvSpPr>
        <p:spPr>
          <a:xfrm>
            <a:off x="647700" y="1800447"/>
            <a:ext cx="7924800" cy="1752600"/>
          </a:xfrm>
        </p:spPr>
        <p:txBody>
          <a:bodyPr/>
          <a:lstStyle/>
          <a:p>
            <a:r>
              <a:rPr lang="en-US" altLang="en-US" dirty="0">
                <a:ea typeface="ＭＳ Ｐゴシック" charset="-128"/>
              </a:rPr>
              <a:t>Snoop-Based Cache Coherence</a:t>
            </a:r>
          </a:p>
        </p:txBody>
      </p:sp>
      <p:sp>
        <p:nvSpPr>
          <p:cNvPr id="112642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buFont typeface="Wingdings" charset="2"/>
              <a:buNone/>
            </a:pPr>
            <a:endParaRPr lang="en-US" altLang="en-US">
              <a:ea typeface="ＭＳ Ｐゴシック" charset="-128"/>
            </a:endParaRPr>
          </a:p>
        </p:txBody>
      </p:sp>
      <p:sp>
        <p:nvSpPr>
          <p:cNvPr id="112643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A12566CE-D7C4-CE4F-8B7A-841558877604}" type="slidenum">
              <a:rPr lang="en-US" altLang="en-US" sz="1200">
                <a:solidFill>
                  <a:srgbClr val="000000"/>
                </a:solidFill>
                <a:latin typeface="Garamond" charset="0"/>
              </a:rPr>
              <a:pPr eaLnBrk="1" hangingPunct="1"/>
              <a:t>23</a:t>
            </a:fld>
            <a:endParaRPr lang="en-US" altLang="en-US" sz="1200">
              <a:solidFill>
                <a:srgbClr val="000000"/>
              </a:solidFill>
              <a:latin typeface="Garamon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1013673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Title 1"/>
          <p:cNvSpPr>
            <a:spLocks noGrp="1"/>
          </p:cNvSpPr>
          <p:nvPr>
            <p:ph type="title"/>
          </p:nvPr>
        </p:nvSpPr>
        <p:spPr>
          <a:xfrm>
            <a:off x="38100" y="197879"/>
            <a:ext cx="9067800" cy="1066800"/>
          </a:xfrm>
        </p:spPr>
        <p:txBody>
          <a:bodyPr/>
          <a:lstStyle/>
          <a:p>
            <a:r>
              <a:rPr lang="en-US" altLang="en-US" dirty="0">
                <a:ea typeface="ＭＳ Ｐゴシック" charset="-128"/>
              </a:rPr>
              <a:t>Cache Snoop Protocol</a:t>
            </a:r>
          </a:p>
        </p:txBody>
      </p:sp>
      <p:sp>
        <p:nvSpPr>
          <p:cNvPr id="62" name="Oval 7">
            <a:extLst>
              <a:ext uri="{FF2B5EF4-FFF2-40B4-BE49-F238E27FC236}">
                <a16:creationId xmlns:a16="http://schemas.microsoft.com/office/drawing/2014/main" id="{C3FD745C-6FD2-49C8-8581-9947D0A017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9592" y="1029372"/>
            <a:ext cx="749300" cy="7493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63" name="Line 9">
            <a:extLst>
              <a:ext uri="{FF2B5EF4-FFF2-40B4-BE49-F238E27FC236}">
                <a16:creationId xmlns:a16="http://schemas.microsoft.com/office/drawing/2014/main" id="{8D004B49-60EF-4C3B-B44D-B0F18B1C6733}"/>
              </a:ext>
            </a:extLst>
          </p:cNvPr>
          <p:cNvSpPr>
            <a:spLocks noChangeShapeType="1"/>
          </p:cNvSpPr>
          <p:nvPr/>
        </p:nvSpPr>
        <p:spPr bwMode="auto">
          <a:xfrm>
            <a:off x="3641704" y="1785103"/>
            <a:ext cx="0" cy="3111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64" name="Line 10">
            <a:extLst>
              <a:ext uri="{FF2B5EF4-FFF2-40B4-BE49-F238E27FC236}">
                <a16:creationId xmlns:a16="http://schemas.microsoft.com/office/drawing/2014/main" id="{78F93EC4-754D-4E17-9CA2-8EBF58ACABE6}"/>
              </a:ext>
            </a:extLst>
          </p:cNvPr>
          <p:cNvSpPr>
            <a:spLocks noChangeShapeType="1"/>
          </p:cNvSpPr>
          <p:nvPr/>
        </p:nvSpPr>
        <p:spPr bwMode="auto">
          <a:xfrm>
            <a:off x="3641704" y="2775703"/>
            <a:ext cx="0" cy="3683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65" name="Rectangle 11">
            <a:extLst>
              <a:ext uri="{FF2B5EF4-FFF2-40B4-BE49-F238E27FC236}">
                <a16:creationId xmlns:a16="http://schemas.microsoft.com/office/drawing/2014/main" id="{2FAB76D7-1805-492E-B58B-4C7C7D98E6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3345" y="4034963"/>
            <a:ext cx="2897184" cy="412172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66" name="Rectangle 13">
            <a:extLst>
              <a:ext uri="{FF2B5EF4-FFF2-40B4-BE49-F238E27FC236}">
                <a16:creationId xmlns:a16="http://schemas.microsoft.com/office/drawing/2014/main" id="{C81878FC-9DB1-4103-BDCF-371293ED4D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28440" y="1206378"/>
            <a:ext cx="593112" cy="366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</a:rPr>
              <a:t>Core</a:t>
            </a:r>
          </a:p>
        </p:txBody>
      </p:sp>
      <p:sp>
        <p:nvSpPr>
          <p:cNvPr id="67" name="AutoShape 16">
            <a:extLst>
              <a:ext uri="{FF2B5EF4-FFF2-40B4-BE49-F238E27FC236}">
                <a16:creationId xmlns:a16="http://schemas.microsoft.com/office/drawing/2014/main" id="{F44B164B-3365-4157-9B91-277598472F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4010" y="3156703"/>
            <a:ext cx="3067051" cy="596900"/>
          </a:xfrm>
          <a:prstGeom prst="roundRect">
            <a:avLst>
              <a:gd name="adj" fmla="val 12495"/>
            </a:avLst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68" name="Rectangle 17">
            <a:extLst>
              <a:ext uri="{FF2B5EF4-FFF2-40B4-BE49-F238E27FC236}">
                <a16:creationId xmlns:a16="http://schemas.microsoft.com/office/drawing/2014/main" id="{6726E8FF-1CC8-4E08-8810-8FE0E87D5E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5832" y="3284392"/>
            <a:ext cx="2522295" cy="397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  <a:cs typeface="+mn-cs"/>
              </a:rPr>
              <a:t>Bus (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</a:rPr>
              <a:t>O</a:t>
            </a:r>
            <a: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" panose="020B0606020202030204" pitchFamily="34" charset="0"/>
              </a:rPr>
              <a:t>ne </a:t>
            </a:r>
            <a:r>
              <a:rPr lang="en-US" altLang="en-US" sz="2000" b="1" dirty="0">
                <a:solidFill>
                  <a:srgbClr val="FF0000"/>
                </a:solidFill>
                <a:latin typeface="Arial Narrow" panose="020B0606020202030204" pitchFamily="34" charset="0"/>
              </a:rPr>
              <a:t>trans. a time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  <a:cs typeface="+mn-cs"/>
              </a:rPr>
              <a:t>)</a:t>
            </a:r>
          </a:p>
        </p:txBody>
      </p:sp>
      <p:sp>
        <p:nvSpPr>
          <p:cNvPr id="69" name="Line 18">
            <a:extLst>
              <a:ext uri="{FF2B5EF4-FFF2-40B4-BE49-F238E27FC236}">
                <a16:creationId xmlns:a16="http://schemas.microsoft.com/office/drawing/2014/main" id="{9C8E6EED-6D8A-40F4-8D07-AA9EC802D653}"/>
              </a:ext>
            </a:extLst>
          </p:cNvPr>
          <p:cNvSpPr>
            <a:spLocks noChangeShapeType="1"/>
          </p:cNvSpPr>
          <p:nvPr/>
        </p:nvSpPr>
        <p:spPr bwMode="auto">
          <a:xfrm>
            <a:off x="4568010" y="3753603"/>
            <a:ext cx="3989" cy="28136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70" name="Rectangle 19">
            <a:extLst>
              <a:ext uri="{FF2B5EF4-FFF2-40B4-BE49-F238E27FC236}">
                <a16:creationId xmlns:a16="http://schemas.microsoft.com/office/drawing/2014/main" id="{A171447C-8908-4EFD-9151-3797598C34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4897" y="4083598"/>
            <a:ext cx="1565275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  <a:cs typeface="+mn-cs"/>
              </a:rPr>
              <a:t>Main Memory</a:t>
            </a:r>
          </a:p>
        </p:txBody>
      </p:sp>
      <p:sp>
        <p:nvSpPr>
          <p:cNvPr id="71" name="矩形: 圆角 70">
            <a:extLst>
              <a:ext uri="{FF2B5EF4-FFF2-40B4-BE49-F238E27FC236}">
                <a16:creationId xmlns:a16="http://schemas.microsoft.com/office/drawing/2014/main" id="{CD5547E4-1DDA-42DC-A2DC-DF8A6E33F02A}"/>
              </a:ext>
            </a:extLst>
          </p:cNvPr>
          <p:cNvSpPr/>
          <p:nvPr/>
        </p:nvSpPr>
        <p:spPr bwMode="auto">
          <a:xfrm>
            <a:off x="2949561" y="2096253"/>
            <a:ext cx="1371569" cy="679450"/>
          </a:xfrm>
          <a:prstGeom prst="roundRect">
            <a:avLst/>
          </a:prstGeom>
          <a:solidFill>
            <a:srgbClr val="CCEC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72" name="Oval 7">
            <a:extLst>
              <a:ext uri="{FF2B5EF4-FFF2-40B4-BE49-F238E27FC236}">
                <a16:creationId xmlns:a16="http://schemas.microsoft.com/office/drawing/2014/main" id="{41CD9E39-0BB2-4CF4-870E-CF5B9BDF28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1411" y="1038063"/>
            <a:ext cx="749300" cy="7493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73" name="Line 9">
            <a:extLst>
              <a:ext uri="{FF2B5EF4-FFF2-40B4-BE49-F238E27FC236}">
                <a16:creationId xmlns:a16="http://schemas.microsoft.com/office/drawing/2014/main" id="{3B5D5838-BED1-4543-85BF-E68725F7B89F}"/>
              </a:ext>
            </a:extLst>
          </p:cNvPr>
          <p:cNvSpPr>
            <a:spLocks noChangeShapeType="1"/>
          </p:cNvSpPr>
          <p:nvPr/>
        </p:nvSpPr>
        <p:spPr bwMode="auto">
          <a:xfrm>
            <a:off x="5493523" y="1793794"/>
            <a:ext cx="0" cy="3111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74" name="Line 10">
            <a:extLst>
              <a:ext uri="{FF2B5EF4-FFF2-40B4-BE49-F238E27FC236}">
                <a16:creationId xmlns:a16="http://schemas.microsoft.com/office/drawing/2014/main" id="{68570B5F-8237-4B27-8B33-6CB70A53B906}"/>
              </a:ext>
            </a:extLst>
          </p:cNvPr>
          <p:cNvSpPr>
            <a:spLocks noChangeShapeType="1"/>
          </p:cNvSpPr>
          <p:nvPr/>
        </p:nvSpPr>
        <p:spPr bwMode="auto">
          <a:xfrm>
            <a:off x="5493523" y="2784394"/>
            <a:ext cx="0" cy="3683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75" name="Rectangle 13">
            <a:extLst>
              <a:ext uri="{FF2B5EF4-FFF2-40B4-BE49-F238E27FC236}">
                <a16:creationId xmlns:a16="http://schemas.microsoft.com/office/drawing/2014/main" id="{7325B334-2C11-449E-9916-501898389F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2042" y="1206378"/>
            <a:ext cx="593112" cy="366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</a:rPr>
              <a:t>Core</a:t>
            </a: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9EDEF3E5-65FA-45F3-951F-3DAFB02C94A1}"/>
              </a:ext>
            </a:extLst>
          </p:cNvPr>
          <p:cNvSpPr/>
          <p:nvPr/>
        </p:nvSpPr>
        <p:spPr>
          <a:xfrm>
            <a:off x="3577412" y="1774078"/>
            <a:ext cx="106679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1400" b="1" dirty="0">
                <a:solidFill>
                  <a:schemeClr val="accent2"/>
                </a:solidFill>
                <a:latin typeface="Arial Narrow" panose="020B0606020202030204" pitchFamily="34" charset="0"/>
              </a:rPr>
              <a:t>CPU action</a:t>
            </a:r>
            <a:endParaRPr lang="zh-CN" altLang="en-US" sz="1400" dirty="0">
              <a:solidFill>
                <a:schemeClr val="accent2"/>
              </a:solidFill>
            </a:endParaRP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21E5251A-A363-461C-9DC6-C9CE986B96BD}"/>
              </a:ext>
            </a:extLst>
          </p:cNvPr>
          <p:cNvSpPr/>
          <p:nvPr/>
        </p:nvSpPr>
        <p:spPr>
          <a:xfrm>
            <a:off x="3577412" y="2825129"/>
            <a:ext cx="106679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1400" b="1" dirty="0">
                <a:solidFill>
                  <a:srgbClr val="92D050"/>
                </a:solidFill>
                <a:latin typeface="Arial Narrow" panose="020B0606020202030204" pitchFamily="34" charset="0"/>
              </a:rPr>
              <a:t>Bus action</a:t>
            </a:r>
            <a:endParaRPr lang="zh-CN" altLang="en-US" sz="1400" dirty="0">
              <a:solidFill>
                <a:srgbClr val="92D050"/>
              </a:solidFill>
            </a:endParaRP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B22C4E31-9354-45D4-923B-82884D9EC8E4}"/>
              </a:ext>
            </a:extLst>
          </p:cNvPr>
          <p:cNvSpPr/>
          <p:nvPr/>
        </p:nvSpPr>
        <p:spPr>
          <a:xfrm>
            <a:off x="5450054" y="1792265"/>
            <a:ext cx="106679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1400" b="1" dirty="0">
                <a:solidFill>
                  <a:schemeClr val="accent2"/>
                </a:solidFill>
                <a:latin typeface="Arial Narrow" panose="020B0606020202030204" pitchFamily="34" charset="0"/>
              </a:rPr>
              <a:t>CPU action</a:t>
            </a:r>
            <a:endParaRPr lang="zh-CN" altLang="en-US" sz="1400" dirty="0">
              <a:solidFill>
                <a:schemeClr val="accent2"/>
              </a:solidFill>
            </a:endParaRP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E6AC795D-FC33-4DBC-BDE3-0FEE466ED3C8}"/>
              </a:ext>
            </a:extLst>
          </p:cNvPr>
          <p:cNvSpPr/>
          <p:nvPr/>
        </p:nvSpPr>
        <p:spPr>
          <a:xfrm>
            <a:off x="5450055" y="2825129"/>
            <a:ext cx="106679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1400" b="1" dirty="0">
                <a:solidFill>
                  <a:srgbClr val="92D050"/>
                </a:solidFill>
                <a:latin typeface="Arial Narrow" panose="020B0606020202030204" pitchFamily="34" charset="0"/>
              </a:rPr>
              <a:t>Bus action</a:t>
            </a:r>
            <a:endParaRPr lang="zh-CN" altLang="en-US" sz="1400" dirty="0">
              <a:solidFill>
                <a:srgbClr val="92D050"/>
              </a:solidFill>
            </a:endParaRP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7CD3EA7F-7201-4C85-9E1D-B725A8499E94}"/>
              </a:ext>
            </a:extLst>
          </p:cNvPr>
          <p:cNvSpPr/>
          <p:nvPr/>
        </p:nvSpPr>
        <p:spPr>
          <a:xfrm>
            <a:off x="2994008" y="2181373"/>
            <a:ext cx="673100" cy="523220"/>
          </a:xfrm>
          <a:prstGeom prst="rect">
            <a:avLst/>
          </a:prstGeom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en-US" sz="1400" dirty="0">
                <a:solidFill>
                  <a:srgbClr val="000000"/>
                </a:solidFill>
                <a:latin typeface="Arial Narrow" panose="020B0606020202030204" pitchFamily="34" charset="0"/>
              </a:rPr>
              <a:t>Cache blocks</a:t>
            </a:r>
            <a:endParaRPr lang="zh-CN" altLang="en-US" sz="1400" dirty="0"/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C711DF37-BF5F-4939-A09F-D1D341A6DF4C}"/>
              </a:ext>
            </a:extLst>
          </p:cNvPr>
          <p:cNvSpPr/>
          <p:nvPr/>
        </p:nvSpPr>
        <p:spPr>
          <a:xfrm>
            <a:off x="3711555" y="2282089"/>
            <a:ext cx="533400" cy="307777"/>
          </a:xfrm>
          <a:prstGeom prst="rect">
            <a:avLst/>
          </a:prstGeom>
          <a:ln w="15875" cmpd="sng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en-US" sz="1400" dirty="0">
                <a:solidFill>
                  <a:srgbClr val="000000"/>
                </a:solidFill>
                <a:latin typeface="Arial Narrow" panose="020B0606020202030204" pitchFamily="34" charset="0"/>
              </a:rPr>
              <a:t>Tags</a:t>
            </a:r>
            <a:endParaRPr lang="zh-CN" altLang="en-US" sz="1400" dirty="0"/>
          </a:p>
        </p:txBody>
      </p:sp>
      <p:sp>
        <p:nvSpPr>
          <p:cNvPr id="82" name="矩形: 圆角 81">
            <a:extLst>
              <a:ext uri="{FF2B5EF4-FFF2-40B4-BE49-F238E27FC236}">
                <a16:creationId xmlns:a16="http://schemas.microsoft.com/office/drawing/2014/main" id="{E7267A33-DB8B-4A2C-8BF8-6EA265BBFEE2}"/>
              </a:ext>
            </a:extLst>
          </p:cNvPr>
          <p:cNvSpPr/>
          <p:nvPr/>
        </p:nvSpPr>
        <p:spPr bwMode="auto">
          <a:xfrm>
            <a:off x="4807738" y="2112742"/>
            <a:ext cx="1371569" cy="679450"/>
          </a:xfrm>
          <a:prstGeom prst="roundRect">
            <a:avLst/>
          </a:prstGeom>
          <a:solidFill>
            <a:srgbClr val="CCEC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0609948D-EC11-4A1B-9BEA-C1E4F1651B73}"/>
              </a:ext>
            </a:extLst>
          </p:cNvPr>
          <p:cNvSpPr/>
          <p:nvPr/>
        </p:nvSpPr>
        <p:spPr>
          <a:xfrm>
            <a:off x="4852185" y="2197862"/>
            <a:ext cx="673100" cy="523220"/>
          </a:xfrm>
          <a:prstGeom prst="rect">
            <a:avLst/>
          </a:prstGeom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en-US" sz="1400" dirty="0">
                <a:solidFill>
                  <a:srgbClr val="000000"/>
                </a:solidFill>
                <a:latin typeface="Arial Narrow" panose="020B0606020202030204" pitchFamily="34" charset="0"/>
              </a:rPr>
              <a:t>Cache blocks</a:t>
            </a:r>
            <a:endParaRPr lang="zh-CN" altLang="en-US" sz="1400" dirty="0"/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9A3CBBD7-FB7A-423C-A316-A0D6E9F019D6}"/>
              </a:ext>
            </a:extLst>
          </p:cNvPr>
          <p:cNvSpPr/>
          <p:nvPr/>
        </p:nvSpPr>
        <p:spPr>
          <a:xfrm>
            <a:off x="5569732" y="2298578"/>
            <a:ext cx="533400" cy="307777"/>
          </a:xfrm>
          <a:prstGeom prst="rect">
            <a:avLst/>
          </a:prstGeom>
          <a:ln w="15875" cmpd="sng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en-US" sz="1400" dirty="0">
                <a:solidFill>
                  <a:srgbClr val="000000"/>
                </a:solidFill>
                <a:latin typeface="Arial Narrow" panose="020B0606020202030204" pitchFamily="34" charset="0"/>
              </a:rPr>
              <a:t>Tags</a:t>
            </a:r>
            <a:endParaRPr lang="zh-CN" altLang="en-US" sz="1400" dirty="0"/>
          </a:p>
        </p:txBody>
      </p: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7824F0CD-2C0D-4F18-9DD9-D4393568B5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587048"/>
            <a:ext cx="8392319" cy="1948704"/>
          </a:xfrm>
        </p:spPr>
        <p:txBody>
          <a:bodyPr/>
          <a:lstStyle/>
          <a:p>
            <a:r>
              <a:rPr lang="en-US" altLang="zh-CN" b="1" dirty="0">
                <a:ea typeface="ＭＳ Ｐゴシック" charset="-128"/>
              </a:rPr>
              <a:t>Snoop</a:t>
            </a:r>
            <a:r>
              <a:rPr lang="en-US" altLang="zh-CN" dirty="0">
                <a:ea typeface="ＭＳ Ｐゴシック" charset="-128"/>
              </a:rPr>
              <a:t>:</a:t>
            </a:r>
            <a:r>
              <a:rPr lang="en-US" altLang="en-US" dirty="0">
                <a:ea typeface="ＭＳ Ｐゴシック" charset="-128"/>
              </a:rPr>
              <a:t> </a:t>
            </a:r>
            <a:r>
              <a:rPr lang="en-US" altLang="en-US" sz="2000" dirty="0">
                <a:ea typeface="ＭＳ Ｐゴシック" charset="-128"/>
              </a:rPr>
              <a:t>[Goodman ISCA 1983]</a:t>
            </a:r>
            <a:endParaRPr lang="en-US" altLang="zh-CN" sz="2000" dirty="0">
              <a:ea typeface="ＭＳ Ｐゴシック" charset="-128"/>
            </a:endParaRPr>
          </a:p>
          <a:p>
            <a:pPr lvl="2"/>
            <a:r>
              <a:rPr lang="en-US" altLang="en-US" dirty="0">
                <a:ea typeface="ＭＳ Ｐゴシック" charset="-128"/>
              </a:rPr>
              <a:t>Single point of serialization </a:t>
            </a:r>
            <a:r>
              <a:rPr lang="en-US" altLang="en-US" i="1" dirty="0">
                <a:ea typeface="ＭＳ Ｐゴシック" charset="-128"/>
              </a:rPr>
              <a:t>for all memory requests</a:t>
            </a:r>
          </a:p>
          <a:p>
            <a:pPr lvl="2"/>
            <a:r>
              <a:rPr lang="en-US" altLang="zh-CN" dirty="0">
                <a:ea typeface="ＭＳ Ｐゴシック" charset="-128"/>
              </a:rPr>
              <a:t>One outstanding memory request per processor</a:t>
            </a:r>
          </a:p>
          <a:p>
            <a:pPr lvl="2"/>
            <a:r>
              <a:rPr lang="en-US" altLang="zh-CN" dirty="0">
                <a:ea typeface="ＭＳ Ｐゴシック" charset="-128"/>
              </a:rPr>
              <a:t>System interconnect is an atomic shared bus (one cache communicates at a time)</a:t>
            </a:r>
          </a:p>
          <a:p>
            <a:pPr lvl="2"/>
            <a:endParaRPr lang="en-US" altLang="zh-CN" dirty="0">
              <a:ea typeface="ＭＳ Ｐゴシック" charset="-128"/>
            </a:endParaRPr>
          </a:p>
          <a:p>
            <a:pPr lvl="2"/>
            <a:endParaRPr lang="en-US" altLang="zh-CN" dirty="0"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90295006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矩形: 圆角 77">
            <a:extLst>
              <a:ext uri="{FF2B5EF4-FFF2-40B4-BE49-F238E27FC236}">
                <a16:creationId xmlns:a16="http://schemas.microsoft.com/office/drawing/2014/main" id="{BF5F3C53-EE21-485E-897E-15C3CA3A11F4}"/>
              </a:ext>
            </a:extLst>
          </p:cNvPr>
          <p:cNvSpPr/>
          <p:nvPr/>
        </p:nvSpPr>
        <p:spPr bwMode="auto">
          <a:xfrm>
            <a:off x="4143177" y="2113550"/>
            <a:ext cx="1371569" cy="679450"/>
          </a:xfrm>
          <a:prstGeom prst="roundRect">
            <a:avLst/>
          </a:prstGeom>
          <a:solidFill>
            <a:srgbClr val="CCEC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118785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8763000" cy="685800"/>
          </a:xfrm>
        </p:spPr>
        <p:txBody>
          <a:bodyPr/>
          <a:lstStyle/>
          <a:p>
            <a:r>
              <a:rPr lang="en-US" altLang="en-US" dirty="0">
                <a:ea typeface="ＭＳ Ｐゴシック" charset="-128"/>
              </a:rPr>
              <a:t>Example: How Snoop/Direct Works? </a:t>
            </a:r>
          </a:p>
        </p:txBody>
      </p:sp>
      <p:sp>
        <p:nvSpPr>
          <p:cNvPr id="118787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AED358C2-D4E2-FB45-9976-71FB6B5F3BC4}" type="slidenum">
              <a:rPr lang="en-US" altLang="en-US" sz="1600">
                <a:solidFill>
                  <a:srgbClr val="000000"/>
                </a:solidFill>
                <a:latin typeface="Garamond" charset="0"/>
              </a:rPr>
              <a:pPr eaLnBrk="1" hangingPunct="1"/>
              <a:t>25</a:t>
            </a:fld>
            <a:endParaRPr lang="en-US" altLang="en-US" sz="1600">
              <a:solidFill>
                <a:srgbClr val="000000"/>
              </a:solidFill>
              <a:latin typeface="Garamond" charset="0"/>
            </a:endParaRPr>
          </a:p>
        </p:txBody>
      </p:sp>
      <p:sp>
        <p:nvSpPr>
          <p:cNvPr id="32" name="Oval 7">
            <a:extLst>
              <a:ext uri="{FF2B5EF4-FFF2-40B4-BE49-F238E27FC236}">
                <a16:creationId xmlns:a16="http://schemas.microsoft.com/office/drawing/2014/main" id="{DC67EC1F-A925-483F-9AC1-FA5E4B1AE7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1524" y="1064070"/>
            <a:ext cx="749300" cy="7493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33" name="Line 9">
            <a:extLst>
              <a:ext uri="{FF2B5EF4-FFF2-40B4-BE49-F238E27FC236}">
                <a16:creationId xmlns:a16="http://schemas.microsoft.com/office/drawing/2014/main" id="{44141B5B-E623-48B2-AC70-05F373557FC0}"/>
              </a:ext>
            </a:extLst>
          </p:cNvPr>
          <p:cNvSpPr>
            <a:spLocks noChangeShapeType="1"/>
          </p:cNvSpPr>
          <p:nvPr/>
        </p:nvSpPr>
        <p:spPr bwMode="auto">
          <a:xfrm>
            <a:off x="3243636" y="1819801"/>
            <a:ext cx="0" cy="3111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34" name="Line 10">
            <a:extLst>
              <a:ext uri="{FF2B5EF4-FFF2-40B4-BE49-F238E27FC236}">
                <a16:creationId xmlns:a16="http://schemas.microsoft.com/office/drawing/2014/main" id="{6FD3B2B8-B6DD-4AA4-928E-5055BBA9C4F3}"/>
              </a:ext>
            </a:extLst>
          </p:cNvPr>
          <p:cNvSpPr>
            <a:spLocks noChangeShapeType="1"/>
          </p:cNvSpPr>
          <p:nvPr/>
        </p:nvSpPr>
        <p:spPr bwMode="auto">
          <a:xfrm>
            <a:off x="3243636" y="2810401"/>
            <a:ext cx="0" cy="3683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36" name="Rectangle 13">
            <a:extLst>
              <a:ext uri="{FF2B5EF4-FFF2-40B4-BE49-F238E27FC236}">
                <a16:creationId xmlns:a16="http://schemas.microsoft.com/office/drawing/2014/main" id="{9F86BCEC-E973-45EF-A1A6-021FEC9307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4203" y="1241076"/>
            <a:ext cx="424797" cy="366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</a:rPr>
              <a:t>C2</a:t>
            </a:r>
          </a:p>
        </p:txBody>
      </p:sp>
      <p:sp>
        <p:nvSpPr>
          <p:cNvPr id="37" name="AutoShape 16">
            <a:extLst>
              <a:ext uri="{FF2B5EF4-FFF2-40B4-BE49-F238E27FC236}">
                <a16:creationId xmlns:a16="http://schemas.microsoft.com/office/drawing/2014/main" id="{48307579-98ED-4F1E-B2DE-637916F983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7620" y="3191401"/>
            <a:ext cx="6860781" cy="465118"/>
          </a:xfrm>
          <a:prstGeom prst="roundRect">
            <a:avLst>
              <a:gd name="adj" fmla="val 12495"/>
            </a:avLst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38" name="Rectangle 17">
            <a:extLst>
              <a:ext uri="{FF2B5EF4-FFF2-40B4-BE49-F238E27FC236}">
                <a16:creationId xmlns:a16="http://schemas.microsoft.com/office/drawing/2014/main" id="{8B1DA094-DA5F-4889-AAFF-32CDE92C7C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3515" y="3244339"/>
            <a:ext cx="1452322" cy="366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  <a:cs typeface="+mn-cs"/>
              </a:rPr>
              <a:t>Interconnect</a:t>
            </a: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5C3578BE-8AB4-4F32-942C-19DEB8DD1F10}"/>
              </a:ext>
            </a:extLst>
          </p:cNvPr>
          <p:cNvSpPr/>
          <p:nvPr/>
        </p:nvSpPr>
        <p:spPr bwMode="auto">
          <a:xfrm>
            <a:off x="2551493" y="2130951"/>
            <a:ext cx="1371569" cy="679450"/>
          </a:xfrm>
          <a:prstGeom prst="roundRect">
            <a:avLst/>
          </a:prstGeom>
          <a:solidFill>
            <a:srgbClr val="CCEC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64" name="Oval 7">
            <a:extLst>
              <a:ext uri="{FF2B5EF4-FFF2-40B4-BE49-F238E27FC236}">
                <a16:creationId xmlns:a16="http://schemas.microsoft.com/office/drawing/2014/main" id="{E9D3B7CC-CC0B-46B8-AED6-0E7F061225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7651" y="1051844"/>
            <a:ext cx="749300" cy="7493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65" name="Line 9">
            <a:extLst>
              <a:ext uri="{FF2B5EF4-FFF2-40B4-BE49-F238E27FC236}">
                <a16:creationId xmlns:a16="http://schemas.microsoft.com/office/drawing/2014/main" id="{761927B0-4D93-4D4E-B279-9BA3AC91676A}"/>
              </a:ext>
            </a:extLst>
          </p:cNvPr>
          <p:cNvSpPr>
            <a:spLocks noChangeShapeType="1"/>
          </p:cNvSpPr>
          <p:nvPr/>
        </p:nvSpPr>
        <p:spPr bwMode="auto">
          <a:xfrm>
            <a:off x="1669763" y="1807575"/>
            <a:ext cx="0" cy="3111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66" name="Line 10">
            <a:extLst>
              <a:ext uri="{FF2B5EF4-FFF2-40B4-BE49-F238E27FC236}">
                <a16:creationId xmlns:a16="http://schemas.microsoft.com/office/drawing/2014/main" id="{1A6863F4-F416-4AFD-B0C6-F81C3D8EEF49}"/>
              </a:ext>
            </a:extLst>
          </p:cNvPr>
          <p:cNvSpPr>
            <a:spLocks noChangeShapeType="1"/>
          </p:cNvSpPr>
          <p:nvPr/>
        </p:nvSpPr>
        <p:spPr bwMode="auto">
          <a:xfrm>
            <a:off x="1669763" y="2798175"/>
            <a:ext cx="0" cy="3683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67" name="Rectangle 13">
            <a:extLst>
              <a:ext uri="{FF2B5EF4-FFF2-40B4-BE49-F238E27FC236}">
                <a16:creationId xmlns:a16="http://schemas.microsoft.com/office/drawing/2014/main" id="{554EB754-274E-4EB4-8AD9-2DF11C63B4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0330" y="1228850"/>
            <a:ext cx="424797" cy="366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</a:rPr>
              <a:t>C1</a:t>
            </a:r>
          </a:p>
        </p:txBody>
      </p:sp>
      <p:sp>
        <p:nvSpPr>
          <p:cNvPr id="68" name="矩形: 圆角 67">
            <a:extLst>
              <a:ext uri="{FF2B5EF4-FFF2-40B4-BE49-F238E27FC236}">
                <a16:creationId xmlns:a16="http://schemas.microsoft.com/office/drawing/2014/main" id="{ED8DDC0F-AFA9-4718-9BDC-3B8F8B3DB64E}"/>
              </a:ext>
            </a:extLst>
          </p:cNvPr>
          <p:cNvSpPr/>
          <p:nvPr/>
        </p:nvSpPr>
        <p:spPr bwMode="auto">
          <a:xfrm>
            <a:off x="977620" y="2118725"/>
            <a:ext cx="1371569" cy="679450"/>
          </a:xfrm>
          <a:prstGeom prst="roundRect">
            <a:avLst/>
          </a:prstGeom>
          <a:solidFill>
            <a:srgbClr val="CCEC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69" name="Oval 7">
            <a:extLst>
              <a:ext uri="{FF2B5EF4-FFF2-40B4-BE49-F238E27FC236}">
                <a16:creationId xmlns:a16="http://schemas.microsoft.com/office/drawing/2014/main" id="{42E8885E-6C42-407C-80A3-FC01AC15B8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7081" y="1058895"/>
            <a:ext cx="749300" cy="7493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70" name="Line 9">
            <a:extLst>
              <a:ext uri="{FF2B5EF4-FFF2-40B4-BE49-F238E27FC236}">
                <a16:creationId xmlns:a16="http://schemas.microsoft.com/office/drawing/2014/main" id="{52CE6BCF-93B4-4BEC-8D07-1B322CECDA82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9193" y="1814626"/>
            <a:ext cx="0" cy="3111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71" name="Line 10">
            <a:extLst>
              <a:ext uri="{FF2B5EF4-FFF2-40B4-BE49-F238E27FC236}">
                <a16:creationId xmlns:a16="http://schemas.microsoft.com/office/drawing/2014/main" id="{1C584A1F-D17F-450E-942D-C8255A2CAAA3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9193" y="2805226"/>
            <a:ext cx="0" cy="3683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72" name="Rectangle 13">
            <a:extLst>
              <a:ext uri="{FF2B5EF4-FFF2-40B4-BE49-F238E27FC236}">
                <a16:creationId xmlns:a16="http://schemas.microsoft.com/office/drawing/2014/main" id="{299D76AA-CE99-4FCD-9455-5F04471FBB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9760" y="1235901"/>
            <a:ext cx="424797" cy="366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</a:rPr>
              <a:t>C4</a:t>
            </a:r>
          </a:p>
        </p:txBody>
      </p:sp>
      <p:sp>
        <p:nvSpPr>
          <p:cNvPr id="73" name="矩形: 圆角 72">
            <a:extLst>
              <a:ext uri="{FF2B5EF4-FFF2-40B4-BE49-F238E27FC236}">
                <a16:creationId xmlns:a16="http://schemas.microsoft.com/office/drawing/2014/main" id="{93057970-017A-4F4B-9BD6-2E395B9F653F}"/>
              </a:ext>
            </a:extLst>
          </p:cNvPr>
          <p:cNvSpPr/>
          <p:nvPr/>
        </p:nvSpPr>
        <p:spPr bwMode="auto">
          <a:xfrm>
            <a:off x="5717050" y="2125776"/>
            <a:ext cx="1371569" cy="679450"/>
          </a:xfrm>
          <a:prstGeom prst="roundRect">
            <a:avLst/>
          </a:prstGeom>
          <a:solidFill>
            <a:srgbClr val="CCEC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74" name="Oval 7">
            <a:extLst>
              <a:ext uri="{FF2B5EF4-FFF2-40B4-BE49-F238E27FC236}">
                <a16:creationId xmlns:a16="http://schemas.microsoft.com/office/drawing/2014/main" id="{92DA491D-7521-4779-9703-1921BEB295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3208" y="1046669"/>
            <a:ext cx="749300" cy="7493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75" name="Line 9">
            <a:extLst>
              <a:ext uri="{FF2B5EF4-FFF2-40B4-BE49-F238E27FC236}">
                <a16:creationId xmlns:a16="http://schemas.microsoft.com/office/drawing/2014/main" id="{EF65B723-32B4-495C-9F9C-549E4BDA9348}"/>
              </a:ext>
            </a:extLst>
          </p:cNvPr>
          <p:cNvSpPr>
            <a:spLocks noChangeShapeType="1"/>
          </p:cNvSpPr>
          <p:nvPr/>
        </p:nvSpPr>
        <p:spPr bwMode="auto">
          <a:xfrm>
            <a:off x="4835320" y="1802400"/>
            <a:ext cx="0" cy="3111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76" name="Line 10">
            <a:extLst>
              <a:ext uri="{FF2B5EF4-FFF2-40B4-BE49-F238E27FC236}">
                <a16:creationId xmlns:a16="http://schemas.microsoft.com/office/drawing/2014/main" id="{7F03F7D1-A57D-40E7-9D63-C68504CCEA5B}"/>
              </a:ext>
            </a:extLst>
          </p:cNvPr>
          <p:cNvSpPr>
            <a:spLocks noChangeShapeType="1"/>
          </p:cNvSpPr>
          <p:nvPr/>
        </p:nvSpPr>
        <p:spPr bwMode="auto">
          <a:xfrm>
            <a:off x="4835320" y="2793000"/>
            <a:ext cx="0" cy="3683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77" name="Rectangle 13">
            <a:extLst>
              <a:ext uri="{FF2B5EF4-FFF2-40B4-BE49-F238E27FC236}">
                <a16:creationId xmlns:a16="http://schemas.microsoft.com/office/drawing/2014/main" id="{C714C0FC-7261-4900-ABE0-2C7B08DDD7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95887" y="1223675"/>
            <a:ext cx="424797" cy="366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</a:rPr>
              <a:t>C3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121529A-1E0B-4A77-A91D-BCE05BB7FE35}"/>
              </a:ext>
            </a:extLst>
          </p:cNvPr>
          <p:cNvSpPr/>
          <p:nvPr/>
        </p:nvSpPr>
        <p:spPr>
          <a:xfrm>
            <a:off x="1108883" y="2285680"/>
            <a:ext cx="4026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tx2"/>
                </a:solidFill>
              </a:rPr>
              <a:t>X:</a:t>
            </a:r>
            <a:endParaRPr lang="zh-CN" altLang="en-US" dirty="0"/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999CF0D0-0C69-49D5-84EA-33E3FF2CF465}"/>
              </a:ext>
            </a:extLst>
          </p:cNvPr>
          <p:cNvSpPr/>
          <p:nvPr/>
        </p:nvSpPr>
        <p:spPr>
          <a:xfrm>
            <a:off x="2840051" y="1928311"/>
            <a:ext cx="1582484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dirty="0">
                <a:solidFill>
                  <a:schemeClr val="tx2"/>
                </a:solidFill>
              </a:rPr>
              <a:t> X: </a:t>
            </a:r>
            <a:r>
              <a:rPr lang="en-US" altLang="zh-CN" b="1" dirty="0">
                <a:solidFill>
                  <a:srgbClr val="FF0000"/>
                </a:solidFill>
              </a:rPr>
              <a:t>I</a:t>
            </a:r>
            <a:endParaRPr lang="zh-CN" altLang="en-US" sz="4400" b="1" dirty="0">
              <a:solidFill>
                <a:srgbClr val="FF0000"/>
              </a:solidFill>
            </a:endParaRPr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81FB116F-D60F-4434-9A12-7BCFBC83B737}"/>
              </a:ext>
            </a:extLst>
          </p:cNvPr>
          <p:cNvSpPr/>
          <p:nvPr/>
        </p:nvSpPr>
        <p:spPr>
          <a:xfrm>
            <a:off x="1419112" y="2293104"/>
            <a:ext cx="2792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Imprint MT Shadow" panose="04020605060303030202" pitchFamily="82" charset="0"/>
              </a:rPr>
              <a:t>I</a:t>
            </a:r>
            <a:endParaRPr lang="zh-CN" altLang="en-US" dirty="0"/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992E6463-374C-49BD-8DD7-A0BE0C1451D3}"/>
              </a:ext>
            </a:extLst>
          </p:cNvPr>
          <p:cNvSpPr/>
          <p:nvPr/>
        </p:nvSpPr>
        <p:spPr>
          <a:xfrm>
            <a:off x="4375927" y="2273784"/>
            <a:ext cx="6062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X: </a:t>
            </a:r>
            <a:r>
              <a:rPr lang="en-US" altLang="zh-CN" b="1" dirty="0">
                <a:solidFill>
                  <a:srgbClr val="FF0000"/>
                </a:solidFill>
                <a:latin typeface="Imprint MT Shadow" panose="04020605060303030202" pitchFamily="82" charset="0"/>
              </a:rPr>
              <a:t>S</a:t>
            </a:r>
            <a:endParaRPr lang="zh-CN" altLang="en-US" dirty="0"/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DD938820-1610-4DB9-9424-F2908483F74C}"/>
              </a:ext>
            </a:extLst>
          </p:cNvPr>
          <p:cNvSpPr/>
          <p:nvPr/>
        </p:nvSpPr>
        <p:spPr>
          <a:xfrm>
            <a:off x="6033185" y="2273784"/>
            <a:ext cx="6062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X: </a:t>
            </a:r>
            <a:r>
              <a:rPr lang="en-US" altLang="zh-CN" b="1" dirty="0">
                <a:solidFill>
                  <a:srgbClr val="FF0000"/>
                </a:solidFill>
                <a:latin typeface="Imprint MT Shadow" panose="04020605060303030202" pitchFamily="82" charset="0"/>
              </a:rPr>
              <a:t>S</a:t>
            </a:r>
            <a:endParaRPr lang="zh-CN" altLang="en-US" dirty="0"/>
          </a:p>
        </p:txBody>
      </p:sp>
      <p:sp>
        <p:nvSpPr>
          <p:cNvPr id="118788" name="矩形 118787">
            <a:extLst>
              <a:ext uri="{FF2B5EF4-FFF2-40B4-BE49-F238E27FC236}">
                <a16:creationId xmlns:a16="http://schemas.microsoft.com/office/drawing/2014/main" id="{2AF0D5B3-2E0C-4B11-8078-6E068D63A822}"/>
              </a:ext>
            </a:extLst>
          </p:cNvPr>
          <p:cNvSpPr/>
          <p:nvPr/>
        </p:nvSpPr>
        <p:spPr>
          <a:xfrm>
            <a:off x="7243375" y="1609670"/>
            <a:ext cx="59503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dirty="0"/>
              <a:t>…</a:t>
            </a:r>
            <a:endParaRPr lang="zh-CN" altLang="en-US" sz="3200" dirty="0"/>
          </a:p>
        </p:txBody>
      </p:sp>
      <p:sp>
        <p:nvSpPr>
          <p:cNvPr id="62" name="内容占位符 35">
            <a:extLst>
              <a:ext uri="{FF2B5EF4-FFF2-40B4-BE49-F238E27FC236}">
                <a16:creationId xmlns:a16="http://schemas.microsoft.com/office/drawing/2014/main" id="{E0BD2D30-74FB-44A5-8E1D-B205DBB725AF}"/>
              </a:ext>
            </a:extLst>
          </p:cNvPr>
          <p:cNvSpPr txBox="1">
            <a:spLocks/>
          </p:cNvSpPr>
          <p:nvPr/>
        </p:nvSpPr>
        <p:spPr bwMode="auto">
          <a:xfrm>
            <a:off x="538377" y="3912003"/>
            <a:ext cx="6550242" cy="23623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charset="2"/>
              <a:buChar char="n"/>
              <a:defRPr sz="2400">
                <a:solidFill>
                  <a:schemeClr val="tx1"/>
                </a:solidFill>
                <a:latin typeface="+mn-lt"/>
                <a:ea typeface="ＭＳ Ｐゴシック" pitchFamily="-107" charset="-128"/>
                <a:cs typeface="ＭＳ Ｐゴシック" pitchFamily="-107" charset="-128"/>
              </a:defRPr>
            </a:lvl1pPr>
            <a:lvl2pPr marL="669925" indent="-325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charset="2"/>
              <a:buChar char="q"/>
              <a:defRPr sz="2200">
                <a:solidFill>
                  <a:schemeClr val="tx1"/>
                </a:solidFill>
                <a:latin typeface="+mn-lt"/>
                <a:ea typeface="ＭＳ Ｐゴシック" pitchFamily="-107" charset="-128"/>
              </a:defRPr>
            </a:lvl2pPr>
            <a:lvl3pPr marL="1022350" indent="-350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charset="2"/>
              <a:buChar char="n"/>
              <a:defRPr sz="2000">
                <a:solidFill>
                  <a:schemeClr val="tx1"/>
                </a:solidFill>
                <a:latin typeface="+mn-lt"/>
                <a:ea typeface="ＭＳ Ｐゴシック" pitchFamily="-107" charset="-128"/>
              </a:defRPr>
            </a:lvl3pPr>
            <a:lvl4pPr marL="1339850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q"/>
              <a:defRPr>
                <a:solidFill>
                  <a:schemeClr val="tx1"/>
                </a:solidFill>
                <a:latin typeface="+mn-lt"/>
                <a:ea typeface="ＭＳ Ｐゴシック" pitchFamily="-107" charset="-128"/>
              </a:defRPr>
            </a:lvl4pPr>
            <a:lvl5pPr marL="16811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charset="2"/>
              <a:buChar char="§"/>
              <a:defRPr sz="1600">
                <a:solidFill>
                  <a:schemeClr val="tx1"/>
                </a:solidFill>
                <a:latin typeface="+mn-lt"/>
                <a:ea typeface="ＭＳ Ｐゴシック" pitchFamily="-107" charset="-128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altLang="zh-CN" b="1" kern="0" dirty="0"/>
              <a:t>Initial states</a:t>
            </a:r>
            <a:r>
              <a:rPr lang="en-US" altLang="zh-CN" kern="0" dirty="0"/>
              <a:t>:</a:t>
            </a:r>
          </a:p>
          <a:p>
            <a:pPr lvl="1"/>
            <a:r>
              <a:rPr lang="en-US" altLang="zh-CN" kern="0" dirty="0"/>
              <a:t>X is only shared by C3 and C4</a:t>
            </a:r>
            <a:endParaRPr lang="en-US" altLang="zh-CN" b="1" kern="0" dirty="0"/>
          </a:p>
          <a:p>
            <a:r>
              <a:rPr lang="en-US" altLang="zh-CN" b="1" kern="0" dirty="0"/>
              <a:t>Operations: </a:t>
            </a:r>
          </a:p>
          <a:p>
            <a:pPr lvl="1"/>
            <a:r>
              <a:rPr lang="en-US" altLang="zh-CN" sz="2000" kern="0" dirty="0">
                <a:cs typeface="+mn-cs"/>
              </a:rPr>
              <a:t>C1:X=888 </a:t>
            </a:r>
          </a:p>
          <a:p>
            <a:pPr lvl="1"/>
            <a:r>
              <a:rPr lang="en-US" altLang="zh-CN" sz="2000" kern="0" dirty="0">
                <a:cs typeface="+mn-cs"/>
              </a:rPr>
              <a:t>C3: reads X</a:t>
            </a:r>
          </a:p>
        </p:txBody>
      </p:sp>
    </p:spTree>
    <p:extLst>
      <p:ext uri="{BB962C8B-B14F-4D97-AF65-F5344CB8AC3E}">
        <p14:creationId xmlns:p14="http://schemas.microsoft.com/office/powerpoint/2010/main" val="2129049285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矩形: 圆角 77">
            <a:extLst>
              <a:ext uri="{FF2B5EF4-FFF2-40B4-BE49-F238E27FC236}">
                <a16:creationId xmlns:a16="http://schemas.microsoft.com/office/drawing/2014/main" id="{BF5F3C53-EE21-485E-897E-15C3CA3A11F4}"/>
              </a:ext>
            </a:extLst>
          </p:cNvPr>
          <p:cNvSpPr/>
          <p:nvPr/>
        </p:nvSpPr>
        <p:spPr bwMode="auto">
          <a:xfrm>
            <a:off x="4143177" y="2113550"/>
            <a:ext cx="1371569" cy="679450"/>
          </a:xfrm>
          <a:prstGeom prst="roundRect">
            <a:avLst/>
          </a:prstGeom>
          <a:solidFill>
            <a:srgbClr val="CCEC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118785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8458200" cy="685800"/>
          </a:xfrm>
        </p:spPr>
        <p:txBody>
          <a:bodyPr/>
          <a:lstStyle/>
          <a:p>
            <a:r>
              <a:rPr lang="en-US" altLang="en-US" dirty="0">
                <a:ea typeface="ＭＳ Ｐゴシック" charset="-128"/>
              </a:rPr>
              <a:t>How Snoop Works? (</a:t>
            </a:r>
            <a:r>
              <a:rPr lang="en-US" altLang="zh-CN" dirty="0">
                <a:ea typeface="ＭＳ Ｐゴシック" charset="-128"/>
              </a:rPr>
              <a:t>C1: </a:t>
            </a:r>
            <a:r>
              <a:rPr lang="en-US" altLang="en-US" dirty="0">
                <a:ea typeface="ＭＳ Ｐゴシック" charset="-128"/>
              </a:rPr>
              <a:t>X = </a:t>
            </a:r>
            <a:r>
              <a:rPr lang="en-US" altLang="zh-CN" sz="3600" b="1" dirty="0">
                <a:solidFill>
                  <a:srgbClr val="FF0000"/>
                </a:solidFill>
                <a:latin typeface="Imprint MT Shadow" panose="04020605060303030202" pitchFamily="82" charset="0"/>
              </a:rPr>
              <a:t>888</a:t>
            </a:r>
            <a:r>
              <a:rPr lang="en-US" altLang="en-US" dirty="0">
                <a:ea typeface="ＭＳ Ｐゴシック" charset="-128"/>
              </a:rPr>
              <a:t>)</a:t>
            </a:r>
          </a:p>
        </p:txBody>
      </p:sp>
      <p:sp>
        <p:nvSpPr>
          <p:cNvPr id="118787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AED358C2-D4E2-FB45-9976-71FB6B5F3BC4}" type="slidenum">
              <a:rPr lang="en-US" altLang="en-US" sz="1600">
                <a:solidFill>
                  <a:srgbClr val="000000"/>
                </a:solidFill>
                <a:latin typeface="Garamond" charset="0"/>
              </a:rPr>
              <a:pPr eaLnBrk="1" hangingPunct="1"/>
              <a:t>26</a:t>
            </a:fld>
            <a:endParaRPr lang="en-US" altLang="en-US" sz="1600">
              <a:solidFill>
                <a:srgbClr val="000000"/>
              </a:solidFill>
              <a:latin typeface="Garamond" charset="0"/>
            </a:endParaRPr>
          </a:p>
        </p:txBody>
      </p:sp>
      <p:sp>
        <p:nvSpPr>
          <p:cNvPr id="7" name="内容占位符 35">
            <a:extLst>
              <a:ext uri="{FF2B5EF4-FFF2-40B4-BE49-F238E27FC236}">
                <a16:creationId xmlns:a16="http://schemas.microsoft.com/office/drawing/2014/main" id="{0FF0F80D-6509-4C70-8AFB-6EDF0BE71F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4307" y="3886200"/>
            <a:ext cx="8728391" cy="571500"/>
          </a:xfrm>
        </p:spPr>
        <p:txBody>
          <a:bodyPr/>
          <a:lstStyle/>
          <a:p>
            <a:r>
              <a:rPr lang="en-US" altLang="zh-CN" sz="2400" dirty="0"/>
              <a:t>C1(local)            </a:t>
            </a:r>
            <a:r>
              <a:rPr lang="en-US" altLang="zh-CN" dirty="0">
                <a:solidFill>
                  <a:srgbClr val="0070C0"/>
                </a:solidFill>
              </a:rPr>
              <a:t>Bus</a:t>
            </a:r>
            <a:r>
              <a:rPr lang="en-US" altLang="zh-CN" sz="2400" dirty="0"/>
              <a:t>            C3(remote)       C4(remote)  …   </a:t>
            </a:r>
            <a:endParaRPr lang="zh-CN" altLang="en-US" sz="2400" dirty="0"/>
          </a:p>
        </p:txBody>
      </p:sp>
      <p:grpSp>
        <p:nvGrpSpPr>
          <p:cNvPr id="8" name="组合 72">
            <a:extLst>
              <a:ext uri="{FF2B5EF4-FFF2-40B4-BE49-F238E27FC236}">
                <a16:creationId xmlns:a16="http://schemas.microsoft.com/office/drawing/2014/main" id="{B905FDAB-85EA-43D7-B6CD-0608601A195D}"/>
              </a:ext>
            </a:extLst>
          </p:cNvPr>
          <p:cNvGrpSpPr>
            <a:grpSpLocks/>
          </p:cNvGrpSpPr>
          <p:nvPr/>
        </p:nvGrpSpPr>
        <p:grpSpPr bwMode="auto">
          <a:xfrm>
            <a:off x="1172845" y="4457700"/>
            <a:ext cx="6503987" cy="2001838"/>
            <a:chOff x="999306" y="4857760"/>
            <a:chExt cx="6503240" cy="2001034"/>
          </a:xfrm>
        </p:grpSpPr>
        <p:cxnSp>
          <p:nvCxnSpPr>
            <p:cNvPr id="9" name="直接连接符 37">
              <a:extLst>
                <a:ext uri="{FF2B5EF4-FFF2-40B4-BE49-F238E27FC236}">
                  <a16:creationId xmlns:a16="http://schemas.microsoft.com/office/drawing/2014/main" id="{4362EC90-7BFD-4FB8-8CF7-9E605148B5A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-20" y="5857880"/>
              <a:ext cx="2000240" cy="1588"/>
            </a:xfrm>
            <a:prstGeom prst="line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" name="直接连接符 38">
              <a:extLst>
                <a:ext uri="{FF2B5EF4-FFF2-40B4-BE49-F238E27FC236}">
                  <a16:creationId xmlns:a16="http://schemas.microsoft.com/office/drawing/2014/main" id="{D8A6DF2C-7C35-467D-969D-8F038EEE4B4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2072476" y="5857086"/>
              <a:ext cx="2000240" cy="1588"/>
            </a:xfrm>
            <a:prstGeom prst="line">
              <a:avLst/>
            </a:prstGeom>
            <a:noFill/>
            <a:ln w="38100" algn="ctr">
              <a:solidFill>
                <a:srgbClr val="00206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" name="直接连接符 39">
              <a:extLst>
                <a:ext uri="{FF2B5EF4-FFF2-40B4-BE49-F238E27FC236}">
                  <a16:creationId xmlns:a16="http://schemas.microsoft.com/office/drawing/2014/main" id="{92DE0F5F-1DBE-4E9C-9483-60065E25340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4358492" y="5857086"/>
              <a:ext cx="2000240" cy="1588"/>
            </a:xfrm>
            <a:prstGeom prst="line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" name="直接连接符 40">
              <a:extLst>
                <a:ext uri="{FF2B5EF4-FFF2-40B4-BE49-F238E27FC236}">
                  <a16:creationId xmlns:a16="http://schemas.microsoft.com/office/drawing/2014/main" id="{63EAF7E6-582C-4F16-A5C6-077DD159AB8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6501632" y="5857086"/>
              <a:ext cx="2000240" cy="1588"/>
            </a:xfrm>
            <a:prstGeom prst="line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3" name="组合 48">
            <a:extLst>
              <a:ext uri="{FF2B5EF4-FFF2-40B4-BE49-F238E27FC236}">
                <a16:creationId xmlns:a16="http://schemas.microsoft.com/office/drawing/2014/main" id="{5907580B-BDEC-4E79-9485-70DB6F9469E2}"/>
              </a:ext>
            </a:extLst>
          </p:cNvPr>
          <p:cNvGrpSpPr>
            <a:grpSpLocks/>
          </p:cNvGrpSpPr>
          <p:nvPr/>
        </p:nvGrpSpPr>
        <p:grpSpPr bwMode="auto">
          <a:xfrm>
            <a:off x="1174432" y="4342071"/>
            <a:ext cx="2071688" cy="369332"/>
            <a:chOff x="1000100" y="4742267"/>
            <a:chExt cx="2071702" cy="368225"/>
          </a:xfrm>
        </p:grpSpPr>
        <p:cxnSp>
          <p:nvCxnSpPr>
            <p:cNvPr id="14" name="直接箭头连接符 46">
              <a:extLst>
                <a:ext uri="{FF2B5EF4-FFF2-40B4-BE49-F238E27FC236}">
                  <a16:creationId xmlns:a16="http://schemas.microsoft.com/office/drawing/2014/main" id="{F845DB13-4A50-4D4E-A571-93AEA7DA846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000100" y="5072074"/>
              <a:ext cx="2071702" cy="1588"/>
            </a:xfrm>
            <a:prstGeom prst="straightConnector1">
              <a:avLst/>
            </a:prstGeom>
            <a:noFill/>
            <a:ln w="38100" algn="ctr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5" name="TextBox 47">
              <a:extLst>
                <a:ext uri="{FF2B5EF4-FFF2-40B4-BE49-F238E27FC236}">
                  <a16:creationId xmlns:a16="http://schemas.microsoft.com/office/drawing/2014/main" id="{6F47F1D2-7851-40A7-8376-43A0CBEF33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6173" y="4742267"/>
              <a:ext cx="1043883" cy="368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dirty="0" err="1">
                  <a:solidFill>
                    <a:schemeClr val="tx2"/>
                  </a:solidFill>
                  <a:latin typeface="Arial" panose="020B0604020202020204" pitchFamily="34" charset="0"/>
                </a:rPr>
                <a:t>GetEx</a:t>
              </a:r>
              <a:r>
                <a:rPr lang="en-US" altLang="zh-CN" sz="1800" dirty="0">
                  <a:solidFill>
                    <a:schemeClr val="tx2"/>
                  </a:solidFill>
                  <a:latin typeface="Arial" panose="020B0604020202020204" pitchFamily="34" charset="0"/>
                </a:rPr>
                <a:t> X</a:t>
              </a:r>
              <a:endParaRPr lang="zh-CN" altLang="en-US" sz="1800" dirty="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</p:grpSp>
      <p:cxnSp>
        <p:nvCxnSpPr>
          <p:cNvPr id="16" name="直接箭头连接符 50">
            <a:extLst>
              <a:ext uri="{FF2B5EF4-FFF2-40B4-BE49-F238E27FC236}">
                <a16:creationId xmlns:a16="http://schemas.microsoft.com/office/drawing/2014/main" id="{DA895F04-365D-459E-A7BB-F4D86255E50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888807" y="4600575"/>
            <a:ext cx="914400" cy="914400"/>
          </a:xfrm>
          <a:prstGeom prst="straightConnector1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 type="arrow" w="med" len="med"/>
              </a14:hiddenLine>
            </a:ext>
          </a:extLst>
        </p:spPr>
      </p:cxnSp>
      <p:grpSp>
        <p:nvGrpSpPr>
          <p:cNvPr id="17" name="组合 51">
            <a:extLst>
              <a:ext uri="{FF2B5EF4-FFF2-40B4-BE49-F238E27FC236}">
                <a16:creationId xmlns:a16="http://schemas.microsoft.com/office/drawing/2014/main" id="{7FB4E818-BC05-4F68-BF3A-F17D535C57C5}"/>
              </a:ext>
            </a:extLst>
          </p:cNvPr>
          <p:cNvGrpSpPr>
            <a:grpSpLocks/>
          </p:cNvGrpSpPr>
          <p:nvPr/>
        </p:nvGrpSpPr>
        <p:grpSpPr bwMode="auto">
          <a:xfrm>
            <a:off x="3246120" y="4616321"/>
            <a:ext cx="2286000" cy="369887"/>
            <a:chOff x="1000100" y="4730714"/>
            <a:chExt cx="2071702" cy="369332"/>
          </a:xfrm>
        </p:grpSpPr>
        <p:cxnSp>
          <p:nvCxnSpPr>
            <p:cNvPr id="18" name="直接箭头连接符 52">
              <a:extLst>
                <a:ext uri="{FF2B5EF4-FFF2-40B4-BE49-F238E27FC236}">
                  <a16:creationId xmlns:a16="http://schemas.microsoft.com/office/drawing/2014/main" id="{B466B862-1896-46A3-8F1E-E0E15921ADD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000100" y="5072074"/>
              <a:ext cx="2071702" cy="1588"/>
            </a:xfrm>
            <a:prstGeom prst="straightConnector1">
              <a:avLst/>
            </a:prstGeom>
            <a:noFill/>
            <a:ln w="38100" algn="ctr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9" name="TextBox 53">
              <a:extLst>
                <a:ext uri="{FF2B5EF4-FFF2-40B4-BE49-F238E27FC236}">
                  <a16:creationId xmlns:a16="http://schemas.microsoft.com/office/drawing/2014/main" id="{A51176F2-EF6D-408C-B905-9428B250B6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3524" y="4730714"/>
              <a:ext cx="137601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dirty="0">
                  <a:solidFill>
                    <a:schemeClr val="tx2"/>
                  </a:solidFill>
                  <a:latin typeface="Arial" panose="020B0604020202020204" pitchFamily="34" charset="0"/>
                </a:rPr>
                <a:t>Invalidate  X </a:t>
              </a:r>
              <a:endParaRPr lang="zh-CN" altLang="en-US" sz="1800" dirty="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20" name="组合 54">
            <a:extLst>
              <a:ext uri="{FF2B5EF4-FFF2-40B4-BE49-F238E27FC236}">
                <a16:creationId xmlns:a16="http://schemas.microsoft.com/office/drawing/2014/main" id="{1A9AE7A4-3FC2-4A86-8BC8-28C5AE0402C8}"/>
              </a:ext>
            </a:extLst>
          </p:cNvPr>
          <p:cNvGrpSpPr>
            <a:grpSpLocks/>
          </p:cNvGrpSpPr>
          <p:nvPr/>
        </p:nvGrpSpPr>
        <p:grpSpPr bwMode="auto">
          <a:xfrm>
            <a:off x="3246120" y="4942557"/>
            <a:ext cx="4429125" cy="369887"/>
            <a:chOff x="1000100" y="4773240"/>
            <a:chExt cx="2071702" cy="318239"/>
          </a:xfrm>
        </p:grpSpPr>
        <p:cxnSp>
          <p:nvCxnSpPr>
            <p:cNvPr id="21" name="直接箭头连接符 55">
              <a:extLst>
                <a:ext uri="{FF2B5EF4-FFF2-40B4-BE49-F238E27FC236}">
                  <a16:creationId xmlns:a16="http://schemas.microsoft.com/office/drawing/2014/main" id="{DE87EAA5-3158-4EC9-95B5-94545D5DEEF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000100" y="5072074"/>
              <a:ext cx="2071702" cy="1588"/>
            </a:xfrm>
            <a:prstGeom prst="straightConnector1">
              <a:avLst/>
            </a:prstGeom>
            <a:noFill/>
            <a:ln w="38100" algn="ctr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2" name="TextBox 56">
              <a:extLst>
                <a:ext uri="{FF2B5EF4-FFF2-40B4-BE49-F238E27FC236}">
                  <a16:creationId xmlns:a16="http://schemas.microsoft.com/office/drawing/2014/main" id="{0E7F8D1A-AA79-429D-A8AA-B164C6F13A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75397" y="4773240"/>
              <a:ext cx="1699928" cy="318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dirty="0">
                  <a:solidFill>
                    <a:schemeClr val="tx2"/>
                  </a:solidFill>
                  <a:latin typeface="Arial" panose="020B0604020202020204" pitchFamily="34" charset="0"/>
                </a:rPr>
                <a:t>                                 Invalidate  X </a:t>
              </a:r>
              <a:endParaRPr lang="zh-CN" altLang="en-US" sz="1800" dirty="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26" name="组合 63">
            <a:extLst>
              <a:ext uri="{FF2B5EF4-FFF2-40B4-BE49-F238E27FC236}">
                <a16:creationId xmlns:a16="http://schemas.microsoft.com/office/drawing/2014/main" id="{867DA59B-11D5-4EB1-987A-9F6164B89806}"/>
              </a:ext>
            </a:extLst>
          </p:cNvPr>
          <p:cNvGrpSpPr>
            <a:grpSpLocks/>
          </p:cNvGrpSpPr>
          <p:nvPr/>
        </p:nvGrpSpPr>
        <p:grpSpPr bwMode="auto">
          <a:xfrm>
            <a:off x="1172844" y="5418348"/>
            <a:ext cx="6502401" cy="400050"/>
            <a:chOff x="3071802" y="5864549"/>
            <a:chExt cx="2286016" cy="252736"/>
          </a:xfrm>
        </p:grpSpPr>
        <p:cxnSp>
          <p:nvCxnSpPr>
            <p:cNvPr id="27" name="直接箭头连接符 64">
              <a:extLst>
                <a:ext uri="{FF2B5EF4-FFF2-40B4-BE49-F238E27FC236}">
                  <a16:creationId xmlns:a16="http://schemas.microsoft.com/office/drawing/2014/main" id="{7F44E5CB-FC7C-4956-9BB2-06F912C057C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>
              <a:off x="3071802" y="6072206"/>
              <a:ext cx="2286016" cy="1588"/>
            </a:xfrm>
            <a:prstGeom prst="straightConnector1">
              <a:avLst/>
            </a:prstGeom>
            <a:noFill/>
            <a:ln w="9525" algn="ctr">
              <a:solidFill>
                <a:srgbClr val="00B05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8" name="TextBox 65">
              <a:extLst>
                <a:ext uri="{FF2B5EF4-FFF2-40B4-BE49-F238E27FC236}">
                  <a16:creationId xmlns:a16="http://schemas.microsoft.com/office/drawing/2014/main" id="{DB633870-D97F-40B0-8AFE-2D27E5C3D6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70800" y="5864549"/>
              <a:ext cx="414175" cy="2527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dirty="0">
                  <a:solidFill>
                    <a:schemeClr val="tx2"/>
                  </a:solidFill>
                  <a:latin typeface="Arial" panose="020B0604020202020204" pitchFamily="34" charset="0"/>
                </a:rPr>
                <a:t>Ack</a:t>
              </a:r>
              <a:endParaRPr lang="zh-CN" altLang="en-US" sz="2000" dirty="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29" name="组合 70">
            <a:extLst>
              <a:ext uri="{FF2B5EF4-FFF2-40B4-BE49-F238E27FC236}">
                <a16:creationId xmlns:a16="http://schemas.microsoft.com/office/drawing/2014/main" id="{8A446719-78A3-43B2-8E28-5B0D757FE6BE}"/>
              </a:ext>
            </a:extLst>
          </p:cNvPr>
          <p:cNvGrpSpPr>
            <a:grpSpLocks/>
          </p:cNvGrpSpPr>
          <p:nvPr/>
        </p:nvGrpSpPr>
        <p:grpSpPr bwMode="auto">
          <a:xfrm>
            <a:off x="1174432" y="5762216"/>
            <a:ext cx="4357426" cy="400110"/>
            <a:chOff x="1000100" y="6108429"/>
            <a:chExt cx="2071702" cy="295442"/>
          </a:xfrm>
        </p:grpSpPr>
        <p:cxnSp>
          <p:nvCxnSpPr>
            <p:cNvPr id="30" name="直接箭头连接符 68">
              <a:extLst>
                <a:ext uri="{FF2B5EF4-FFF2-40B4-BE49-F238E27FC236}">
                  <a16:creationId xmlns:a16="http://schemas.microsoft.com/office/drawing/2014/main" id="{2722A55E-94E9-4E1C-89E8-7F98AE0C82A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>
              <a:off x="1000100" y="6357958"/>
              <a:ext cx="2071702" cy="1588"/>
            </a:xfrm>
            <a:prstGeom prst="straightConnector1">
              <a:avLst/>
            </a:prstGeom>
            <a:noFill/>
            <a:ln w="9525" algn="ctr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1" name="TextBox 69">
              <a:extLst>
                <a:ext uri="{FF2B5EF4-FFF2-40B4-BE49-F238E27FC236}">
                  <a16:creationId xmlns:a16="http://schemas.microsoft.com/office/drawing/2014/main" id="{4F62C11B-3029-4B9F-9E67-C6447B4931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45564" y="6108429"/>
              <a:ext cx="407938" cy="295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dirty="0">
                  <a:solidFill>
                    <a:schemeClr val="tx2"/>
                  </a:solidFill>
                  <a:latin typeface="Arial" panose="020B0604020202020204" pitchFamily="34" charset="0"/>
                </a:rPr>
                <a:t>Ack</a:t>
              </a:r>
              <a:endParaRPr lang="zh-CN" altLang="en-US" sz="4400" dirty="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32" name="Oval 7">
            <a:extLst>
              <a:ext uri="{FF2B5EF4-FFF2-40B4-BE49-F238E27FC236}">
                <a16:creationId xmlns:a16="http://schemas.microsoft.com/office/drawing/2014/main" id="{DC67EC1F-A925-483F-9AC1-FA5E4B1AE7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1524" y="1064070"/>
            <a:ext cx="749300" cy="7493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33" name="Line 9">
            <a:extLst>
              <a:ext uri="{FF2B5EF4-FFF2-40B4-BE49-F238E27FC236}">
                <a16:creationId xmlns:a16="http://schemas.microsoft.com/office/drawing/2014/main" id="{44141B5B-E623-48B2-AC70-05F373557FC0}"/>
              </a:ext>
            </a:extLst>
          </p:cNvPr>
          <p:cNvSpPr>
            <a:spLocks noChangeShapeType="1"/>
          </p:cNvSpPr>
          <p:nvPr/>
        </p:nvSpPr>
        <p:spPr bwMode="auto">
          <a:xfrm>
            <a:off x="3243636" y="1819801"/>
            <a:ext cx="0" cy="3111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34" name="Line 10">
            <a:extLst>
              <a:ext uri="{FF2B5EF4-FFF2-40B4-BE49-F238E27FC236}">
                <a16:creationId xmlns:a16="http://schemas.microsoft.com/office/drawing/2014/main" id="{6FD3B2B8-B6DD-4AA4-928E-5055BBA9C4F3}"/>
              </a:ext>
            </a:extLst>
          </p:cNvPr>
          <p:cNvSpPr>
            <a:spLocks noChangeShapeType="1"/>
          </p:cNvSpPr>
          <p:nvPr/>
        </p:nvSpPr>
        <p:spPr bwMode="auto">
          <a:xfrm>
            <a:off x="3243636" y="2810401"/>
            <a:ext cx="0" cy="3683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36" name="Rectangle 13">
            <a:extLst>
              <a:ext uri="{FF2B5EF4-FFF2-40B4-BE49-F238E27FC236}">
                <a16:creationId xmlns:a16="http://schemas.microsoft.com/office/drawing/2014/main" id="{9F86BCEC-E973-45EF-A1A6-021FEC9307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4203" y="1241076"/>
            <a:ext cx="424797" cy="366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</a:rPr>
              <a:t>C2</a:t>
            </a:r>
          </a:p>
        </p:txBody>
      </p:sp>
      <p:sp>
        <p:nvSpPr>
          <p:cNvPr id="37" name="AutoShape 16">
            <a:extLst>
              <a:ext uri="{FF2B5EF4-FFF2-40B4-BE49-F238E27FC236}">
                <a16:creationId xmlns:a16="http://schemas.microsoft.com/office/drawing/2014/main" id="{48307579-98ED-4F1E-B2DE-637916F983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7620" y="3191401"/>
            <a:ext cx="6860781" cy="465118"/>
          </a:xfrm>
          <a:prstGeom prst="roundRect">
            <a:avLst>
              <a:gd name="adj" fmla="val 12495"/>
            </a:avLst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5C3578BE-8AB4-4F32-942C-19DEB8DD1F10}"/>
              </a:ext>
            </a:extLst>
          </p:cNvPr>
          <p:cNvSpPr/>
          <p:nvPr/>
        </p:nvSpPr>
        <p:spPr bwMode="auto">
          <a:xfrm>
            <a:off x="2551493" y="2130951"/>
            <a:ext cx="1371569" cy="679450"/>
          </a:xfrm>
          <a:prstGeom prst="roundRect">
            <a:avLst/>
          </a:prstGeom>
          <a:solidFill>
            <a:srgbClr val="CCEC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64" name="Oval 7">
            <a:extLst>
              <a:ext uri="{FF2B5EF4-FFF2-40B4-BE49-F238E27FC236}">
                <a16:creationId xmlns:a16="http://schemas.microsoft.com/office/drawing/2014/main" id="{E9D3B7CC-CC0B-46B8-AED6-0E7F061225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7651" y="1051844"/>
            <a:ext cx="749300" cy="7493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65" name="Line 9">
            <a:extLst>
              <a:ext uri="{FF2B5EF4-FFF2-40B4-BE49-F238E27FC236}">
                <a16:creationId xmlns:a16="http://schemas.microsoft.com/office/drawing/2014/main" id="{761927B0-4D93-4D4E-B279-9BA3AC91676A}"/>
              </a:ext>
            </a:extLst>
          </p:cNvPr>
          <p:cNvSpPr>
            <a:spLocks noChangeShapeType="1"/>
          </p:cNvSpPr>
          <p:nvPr/>
        </p:nvSpPr>
        <p:spPr bwMode="auto">
          <a:xfrm>
            <a:off x="1669763" y="1807575"/>
            <a:ext cx="0" cy="3111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66" name="Line 10">
            <a:extLst>
              <a:ext uri="{FF2B5EF4-FFF2-40B4-BE49-F238E27FC236}">
                <a16:creationId xmlns:a16="http://schemas.microsoft.com/office/drawing/2014/main" id="{1A6863F4-F416-4AFD-B0C6-F81C3D8EEF49}"/>
              </a:ext>
            </a:extLst>
          </p:cNvPr>
          <p:cNvSpPr>
            <a:spLocks noChangeShapeType="1"/>
          </p:cNvSpPr>
          <p:nvPr/>
        </p:nvSpPr>
        <p:spPr bwMode="auto">
          <a:xfrm>
            <a:off x="1669763" y="2798175"/>
            <a:ext cx="0" cy="3683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67" name="Rectangle 13">
            <a:extLst>
              <a:ext uri="{FF2B5EF4-FFF2-40B4-BE49-F238E27FC236}">
                <a16:creationId xmlns:a16="http://schemas.microsoft.com/office/drawing/2014/main" id="{554EB754-274E-4EB4-8AD9-2DF11C63B4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0330" y="1228850"/>
            <a:ext cx="424797" cy="366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</a:rPr>
              <a:t>C1</a:t>
            </a:r>
          </a:p>
        </p:txBody>
      </p:sp>
      <p:sp>
        <p:nvSpPr>
          <p:cNvPr id="68" name="矩形: 圆角 67">
            <a:extLst>
              <a:ext uri="{FF2B5EF4-FFF2-40B4-BE49-F238E27FC236}">
                <a16:creationId xmlns:a16="http://schemas.microsoft.com/office/drawing/2014/main" id="{ED8DDC0F-AFA9-4718-9BDC-3B8F8B3DB64E}"/>
              </a:ext>
            </a:extLst>
          </p:cNvPr>
          <p:cNvSpPr/>
          <p:nvPr/>
        </p:nvSpPr>
        <p:spPr bwMode="auto">
          <a:xfrm>
            <a:off x="977620" y="2118725"/>
            <a:ext cx="1371569" cy="679450"/>
          </a:xfrm>
          <a:prstGeom prst="roundRect">
            <a:avLst/>
          </a:prstGeom>
          <a:solidFill>
            <a:srgbClr val="CCEC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69" name="Oval 7">
            <a:extLst>
              <a:ext uri="{FF2B5EF4-FFF2-40B4-BE49-F238E27FC236}">
                <a16:creationId xmlns:a16="http://schemas.microsoft.com/office/drawing/2014/main" id="{42E8885E-6C42-407C-80A3-FC01AC15B8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7081" y="1058895"/>
            <a:ext cx="749300" cy="7493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70" name="Line 9">
            <a:extLst>
              <a:ext uri="{FF2B5EF4-FFF2-40B4-BE49-F238E27FC236}">
                <a16:creationId xmlns:a16="http://schemas.microsoft.com/office/drawing/2014/main" id="{52CE6BCF-93B4-4BEC-8D07-1B322CECDA82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9193" y="1814626"/>
            <a:ext cx="0" cy="3111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71" name="Line 10">
            <a:extLst>
              <a:ext uri="{FF2B5EF4-FFF2-40B4-BE49-F238E27FC236}">
                <a16:creationId xmlns:a16="http://schemas.microsoft.com/office/drawing/2014/main" id="{1C584A1F-D17F-450E-942D-C8255A2CAAA3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9193" y="2805226"/>
            <a:ext cx="0" cy="3683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72" name="Rectangle 13">
            <a:extLst>
              <a:ext uri="{FF2B5EF4-FFF2-40B4-BE49-F238E27FC236}">
                <a16:creationId xmlns:a16="http://schemas.microsoft.com/office/drawing/2014/main" id="{299D76AA-CE99-4FCD-9455-5F04471FBB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9760" y="1235901"/>
            <a:ext cx="424797" cy="366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</a:rPr>
              <a:t>C4</a:t>
            </a:r>
          </a:p>
        </p:txBody>
      </p:sp>
      <p:sp>
        <p:nvSpPr>
          <p:cNvPr id="73" name="矩形: 圆角 72">
            <a:extLst>
              <a:ext uri="{FF2B5EF4-FFF2-40B4-BE49-F238E27FC236}">
                <a16:creationId xmlns:a16="http://schemas.microsoft.com/office/drawing/2014/main" id="{93057970-017A-4F4B-9BD6-2E395B9F653F}"/>
              </a:ext>
            </a:extLst>
          </p:cNvPr>
          <p:cNvSpPr/>
          <p:nvPr/>
        </p:nvSpPr>
        <p:spPr bwMode="auto">
          <a:xfrm>
            <a:off x="5717050" y="2125776"/>
            <a:ext cx="1371569" cy="679450"/>
          </a:xfrm>
          <a:prstGeom prst="roundRect">
            <a:avLst/>
          </a:prstGeom>
          <a:solidFill>
            <a:srgbClr val="CCEC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74" name="Oval 7">
            <a:extLst>
              <a:ext uri="{FF2B5EF4-FFF2-40B4-BE49-F238E27FC236}">
                <a16:creationId xmlns:a16="http://schemas.microsoft.com/office/drawing/2014/main" id="{92DA491D-7521-4779-9703-1921BEB295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3208" y="1046669"/>
            <a:ext cx="749300" cy="7493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75" name="Line 9">
            <a:extLst>
              <a:ext uri="{FF2B5EF4-FFF2-40B4-BE49-F238E27FC236}">
                <a16:creationId xmlns:a16="http://schemas.microsoft.com/office/drawing/2014/main" id="{EF65B723-32B4-495C-9F9C-549E4BDA9348}"/>
              </a:ext>
            </a:extLst>
          </p:cNvPr>
          <p:cNvSpPr>
            <a:spLocks noChangeShapeType="1"/>
          </p:cNvSpPr>
          <p:nvPr/>
        </p:nvSpPr>
        <p:spPr bwMode="auto">
          <a:xfrm>
            <a:off x="4835320" y="1802400"/>
            <a:ext cx="0" cy="3111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76" name="Line 10">
            <a:extLst>
              <a:ext uri="{FF2B5EF4-FFF2-40B4-BE49-F238E27FC236}">
                <a16:creationId xmlns:a16="http://schemas.microsoft.com/office/drawing/2014/main" id="{7F03F7D1-A57D-40E7-9D63-C68504CCEA5B}"/>
              </a:ext>
            </a:extLst>
          </p:cNvPr>
          <p:cNvSpPr>
            <a:spLocks noChangeShapeType="1"/>
          </p:cNvSpPr>
          <p:nvPr/>
        </p:nvSpPr>
        <p:spPr bwMode="auto">
          <a:xfrm>
            <a:off x="4835320" y="2793000"/>
            <a:ext cx="0" cy="3683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77" name="Rectangle 13">
            <a:extLst>
              <a:ext uri="{FF2B5EF4-FFF2-40B4-BE49-F238E27FC236}">
                <a16:creationId xmlns:a16="http://schemas.microsoft.com/office/drawing/2014/main" id="{C714C0FC-7261-4900-ABE0-2C7B08DDD7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95887" y="1223675"/>
            <a:ext cx="424797" cy="366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</a:rPr>
              <a:t>C3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121529A-1E0B-4A77-A91D-BCE05BB7FE35}"/>
              </a:ext>
            </a:extLst>
          </p:cNvPr>
          <p:cNvSpPr/>
          <p:nvPr/>
        </p:nvSpPr>
        <p:spPr>
          <a:xfrm>
            <a:off x="1108883" y="2285680"/>
            <a:ext cx="4026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tx2"/>
                </a:solidFill>
              </a:rPr>
              <a:t>X: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76E3328-ECB4-4B26-A415-0875B0215C81}"/>
              </a:ext>
            </a:extLst>
          </p:cNvPr>
          <p:cNvSpPr/>
          <p:nvPr/>
        </p:nvSpPr>
        <p:spPr>
          <a:xfrm>
            <a:off x="4527599" y="2246465"/>
            <a:ext cx="67037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tx2"/>
                </a:solidFill>
              </a:rPr>
              <a:t>X:  </a:t>
            </a:r>
            <a:r>
              <a:rPr lang="en-US" altLang="zh-CN" b="1" dirty="0">
                <a:solidFill>
                  <a:srgbClr val="FF0000"/>
                </a:solidFill>
                <a:latin typeface="Imprint MT Shadow" panose="04020605060303030202" pitchFamily="82" charset="0"/>
              </a:rPr>
              <a:t>S</a:t>
            </a:r>
            <a:endParaRPr lang="zh-CN" altLang="en-US" dirty="0"/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999CF0D0-0C69-49D5-84EA-33E3FF2CF465}"/>
              </a:ext>
            </a:extLst>
          </p:cNvPr>
          <p:cNvSpPr/>
          <p:nvPr/>
        </p:nvSpPr>
        <p:spPr>
          <a:xfrm>
            <a:off x="2803207" y="1944775"/>
            <a:ext cx="1582484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dirty="0">
                <a:solidFill>
                  <a:schemeClr val="tx2"/>
                </a:solidFill>
              </a:rPr>
              <a:t> X: </a:t>
            </a:r>
            <a:r>
              <a:rPr lang="en-US" altLang="zh-CN" b="1" dirty="0">
                <a:solidFill>
                  <a:srgbClr val="FF0000"/>
                </a:solidFill>
              </a:rPr>
              <a:t>I</a:t>
            </a:r>
            <a:endParaRPr lang="zh-CN" altLang="en-US" sz="4400" b="1" dirty="0">
              <a:solidFill>
                <a:srgbClr val="FF0000"/>
              </a:solidFill>
            </a:endParaRP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E2A22AE4-52B5-44CD-AA39-AB40ECD94C8A}"/>
              </a:ext>
            </a:extLst>
          </p:cNvPr>
          <p:cNvSpPr/>
          <p:nvPr/>
        </p:nvSpPr>
        <p:spPr>
          <a:xfrm>
            <a:off x="6106662" y="2269668"/>
            <a:ext cx="6703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tx2"/>
                </a:solidFill>
              </a:rPr>
              <a:t>X:  </a:t>
            </a:r>
            <a:r>
              <a:rPr lang="en-US" altLang="zh-CN" b="1" dirty="0">
                <a:solidFill>
                  <a:srgbClr val="FF0000"/>
                </a:solidFill>
                <a:latin typeface="Imprint MT Shadow" panose="04020605060303030202" pitchFamily="82" charset="0"/>
              </a:rPr>
              <a:t>S</a:t>
            </a:r>
            <a:endParaRPr lang="zh-CN" altLang="en-US" dirty="0"/>
          </a:p>
        </p:txBody>
      </p:sp>
      <p:sp>
        <p:nvSpPr>
          <p:cNvPr id="118784" name="矩形 118783">
            <a:extLst>
              <a:ext uri="{FF2B5EF4-FFF2-40B4-BE49-F238E27FC236}">
                <a16:creationId xmlns:a16="http://schemas.microsoft.com/office/drawing/2014/main" id="{1DB99245-7C83-4FFA-99F0-79B940816186}"/>
              </a:ext>
            </a:extLst>
          </p:cNvPr>
          <p:cNvSpPr/>
          <p:nvPr/>
        </p:nvSpPr>
        <p:spPr>
          <a:xfrm>
            <a:off x="1417639" y="2288500"/>
            <a:ext cx="9220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Imprint MT Shadow" panose="04020605060303030202" pitchFamily="82" charset="0"/>
              </a:rPr>
              <a:t>M,  888</a:t>
            </a:r>
            <a:endParaRPr lang="zh-CN" altLang="en-US" dirty="0"/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81FB116F-D60F-4434-9A12-7BCFBC83B737}"/>
              </a:ext>
            </a:extLst>
          </p:cNvPr>
          <p:cNvSpPr/>
          <p:nvPr/>
        </p:nvSpPr>
        <p:spPr>
          <a:xfrm>
            <a:off x="1419112" y="2293104"/>
            <a:ext cx="2792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Imprint MT Shadow" panose="04020605060303030202" pitchFamily="82" charset="0"/>
              </a:rPr>
              <a:t>I</a:t>
            </a:r>
            <a:endParaRPr lang="zh-CN" altLang="en-US" dirty="0"/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992E6463-374C-49BD-8DD7-A0BE0C1451D3}"/>
              </a:ext>
            </a:extLst>
          </p:cNvPr>
          <p:cNvSpPr/>
          <p:nvPr/>
        </p:nvSpPr>
        <p:spPr>
          <a:xfrm>
            <a:off x="4527599" y="2246465"/>
            <a:ext cx="5613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X: </a:t>
            </a:r>
            <a:r>
              <a:rPr lang="en-US" altLang="zh-CN" b="1" dirty="0">
                <a:solidFill>
                  <a:srgbClr val="FF0000"/>
                </a:solidFill>
                <a:latin typeface="Imprint MT Shadow" panose="04020605060303030202" pitchFamily="82" charset="0"/>
              </a:rPr>
              <a:t>I</a:t>
            </a:r>
            <a:endParaRPr lang="zh-CN" altLang="en-US" dirty="0"/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DD938820-1610-4DB9-9424-F2908483F74C}"/>
              </a:ext>
            </a:extLst>
          </p:cNvPr>
          <p:cNvSpPr/>
          <p:nvPr/>
        </p:nvSpPr>
        <p:spPr>
          <a:xfrm>
            <a:off x="6098671" y="2267346"/>
            <a:ext cx="5613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X: </a:t>
            </a:r>
            <a:r>
              <a:rPr lang="en-US" altLang="zh-CN" b="1" dirty="0">
                <a:solidFill>
                  <a:srgbClr val="FF0000"/>
                </a:solidFill>
                <a:latin typeface="Imprint MT Shadow" panose="04020605060303030202" pitchFamily="82" charset="0"/>
              </a:rPr>
              <a:t>I</a:t>
            </a:r>
            <a:endParaRPr lang="zh-CN" altLang="en-US" dirty="0"/>
          </a:p>
        </p:txBody>
      </p:sp>
      <p:sp>
        <p:nvSpPr>
          <p:cNvPr id="118786" name="矩形 118785">
            <a:extLst>
              <a:ext uri="{FF2B5EF4-FFF2-40B4-BE49-F238E27FC236}">
                <a16:creationId xmlns:a16="http://schemas.microsoft.com/office/drawing/2014/main" id="{9C33AE76-35E3-46CB-9C6A-1E1F3D782489}"/>
              </a:ext>
            </a:extLst>
          </p:cNvPr>
          <p:cNvSpPr/>
          <p:nvPr/>
        </p:nvSpPr>
        <p:spPr>
          <a:xfrm>
            <a:off x="258812" y="6047403"/>
            <a:ext cx="9140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dirty="0">
                <a:ea typeface="ＭＳ Ｐゴシック" charset="-128"/>
              </a:rPr>
              <a:t>X = </a:t>
            </a:r>
            <a:r>
              <a:rPr lang="en-US" altLang="zh-CN" sz="1600" b="1" dirty="0">
                <a:solidFill>
                  <a:srgbClr val="FF0000"/>
                </a:solidFill>
                <a:latin typeface="Imprint MT Shadow" panose="04020605060303030202" pitchFamily="82" charset="0"/>
              </a:rPr>
              <a:t>888</a:t>
            </a:r>
            <a:endParaRPr lang="zh-CN" altLang="en-US" dirty="0"/>
          </a:p>
        </p:txBody>
      </p:sp>
      <p:sp>
        <p:nvSpPr>
          <p:cNvPr id="118788" name="矩形 118787">
            <a:extLst>
              <a:ext uri="{FF2B5EF4-FFF2-40B4-BE49-F238E27FC236}">
                <a16:creationId xmlns:a16="http://schemas.microsoft.com/office/drawing/2014/main" id="{2AF0D5B3-2E0C-4B11-8078-6E068D63A822}"/>
              </a:ext>
            </a:extLst>
          </p:cNvPr>
          <p:cNvSpPr/>
          <p:nvPr/>
        </p:nvSpPr>
        <p:spPr>
          <a:xfrm>
            <a:off x="7243375" y="1609670"/>
            <a:ext cx="59503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dirty="0"/>
              <a:t>…</a:t>
            </a:r>
            <a:endParaRPr lang="zh-CN" altLang="en-US" sz="3200" dirty="0"/>
          </a:p>
        </p:txBody>
      </p:sp>
      <p:sp>
        <p:nvSpPr>
          <p:cNvPr id="62" name="Rectangle 17">
            <a:extLst>
              <a:ext uri="{FF2B5EF4-FFF2-40B4-BE49-F238E27FC236}">
                <a16:creationId xmlns:a16="http://schemas.microsoft.com/office/drawing/2014/main" id="{7E809615-6E8C-4D96-8198-5164ADD71E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7214" y="3231578"/>
            <a:ext cx="3467297" cy="366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lvl="0" eaLnBrk="1" hangingPunct="1">
              <a:defRPr/>
            </a:pPr>
            <a:r>
              <a:rPr lang="en-US" altLang="en-US" sz="1800" dirty="0">
                <a:solidFill>
                  <a:srgbClr val="000000"/>
                </a:solidFill>
              </a:rPr>
              <a:t>Bus (</a:t>
            </a:r>
            <a:r>
              <a:rPr lang="en-US" altLang="zh-CN" sz="1800" dirty="0">
                <a:solidFill>
                  <a:schemeClr val="accent3">
                    <a:lumMod val="65000"/>
                  </a:schemeClr>
                </a:solidFill>
                <a:latin typeface="Arial Narrow" panose="020B0606020202030204" pitchFamily="34" charset="0"/>
              </a:rPr>
              <a:t>One transaction active at a time</a:t>
            </a:r>
            <a:r>
              <a:rPr lang="en-US" altLang="en-US" sz="1800" dirty="0">
                <a:solidFill>
                  <a:srgbClr val="000000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07531120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6" grpId="0"/>
      <p:bldP spid="82" grpId="0"/>
      <p:bldP spid="118784" grpId="0"/>
      <p:bldP spid="85" grpId="0"/>
      <p:bldP spid="86" grpId="0"/>
      <p:bldP spid="87" grpId="0"/>
      <p:bldP spid="11878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矩形: 圆角 77">
            <a:extLst>
              <a:ext uri="{FF2B5EF4-FFF2-40B4-BE49-F238E27FC236}">
                <a16:creationId xmlns:a16="http://schemas.microsoft.com/office/drawing/2014/main" id="{BF5F3C53-EE21-485E-897E-15C3CA3A11F4}"/>
              </a:ext>
            </a:extLst>
          </p:cNvPr>
          <p:cNvSpPr/>
          <p:nvPr/>
        </p:nvSpPr>
        <p:spPr bwMode="auto">
          <a:xfrm>
            <a:off x="4143177" y="2113550"/>
            <a:ext cx="1371569" cy="679450"/>
          </a:xfrm>
          <a:prstGeom prst="roundRect">
            <a:avLst/>
          </a:prstGeom>
          <a:solidFill>
            <a:srgbClr val="CCEC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118785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8458200" cy="685800"/>
          </a:xfrm>
        </p:spPr>
        <p:txBody>
          <a:bodyPr/>
          <a:lstStyle/>
          <a:p>
            <a:r>
              <a:rPr lang="en-US" altLang="en-US" dirty="0">
                <a:ea typeface="ＭＳ Ｐゴシック" charset="-128"/>
              </a:rPr>
              <a:t>How Bus Works? (</a:t>
            </a:r>
            <a:r>
              <a:rPr lang="en-US" altLang="zh-CN" dirty="0">
                <a:ea typeface="ＭＳ Ｐゴシック" charset="-128"/>
              </a:rPr>
              <a:t>C3 reads </a:t>
            </a:r>
            <a:r>
              <a:rPr lang="en-US" altLang="en-US" dirty="0">
                <a:ea typeface="ＭＳ Ｐゴシック" charset="-128"/>
              </a:rPr>
              <a:t>X)</a:t>
            </a:r>
          </a:p>
        </p:txBody>
      </p:sp>
      <p:sp>
        <p:nvSpPr>
          <p:cNvPr id="118787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AED358C2-D4E2-FB45-9976-71FB6B5F3BC4}" type="slidenum">
              <a:rPr lang="en-US" altLang="en-US" sz="1600">
                <a:solidFill>
                  <a:srgbClr val="000000"/>
                </a:solidFill>
                <a:latin typeface="Garamond" charset="0"/>
              </a:rPr>
              <a:pPr eaLnBrk="1" hangingPunct="1"/>
              <a:t>27</a:t>
            </a:fld>
            <a:endParaRPr lang="en-US" altLang="en-US" sz="1600">
              <a:solidFill>
                <a:srgbClr val="000000"/>
              </a:solidFill>
              <a:latin typeface="Garamond" charset="0"/>
            </a:endParaRPr>
          </a:p>
        </p:txBody>
      </p:sp>
      <p:grpSp>
        <p:nvGrpSpPr>
          <p:cNvPr id="8" name="组合 72">
            <a:extLst>
              <a:ext uri="{FF2B5EF4-FFF2-40B4-BE49-F238E27FC236}">
                <a16:creationId xmlns:a16="http://schemas.microsoft.com/office/drawing/2014/main" id="{B905FDAB-85EA-43D7-B6CD-0608601A195D}"/>
              </a:ext>
            </a:extLst>
          </p:cNvPr>
          <p:cNvGrpSpPr>
            <a:grpSpLocks/>
          </p:cNvGrpSpPr>
          <p:nvPr/>
        </p:nvGrpSpPr>
        <p:grpSpPr bwMode="auto">
          <a:xfrm>
            <a:off x="1172845" y="4457700"/>
            <a:ext cx="6503987" cy="2001838"/>
            <a:chOff x="999306" y="4857760"/>
            <a:chExt cx="6503240" cy="2001034"/>
          </a:xfrm>
        </p:grpSpPr>
        <p:cxnSp>
          <p:nvCxnSpPr>
            <p:cNvPr id="9" name="直接连接符 37">
              <a:extLst>
                <a:ext uri="{FF2B5EF4-FFF2-40B4-BE49-F238E27FC236}">
                  <a16:creationId xmlns:a16="http://schemas.microsoft.com/office/drawing/2014/main" id="{4362EC90-7BFD-4FB8-8CF7-9E605148B5A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-20" y="5857880"/>
              <a:ext cx="2000240" cy="1588"/>
            </a:xfrm>
            <a:prstGeom prst="line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" name="直接连接符 38">
              <a:extLst>
                <a:ext uri="{FF2B5EF4-FFF2-40B4-BE49-F238E27FC236}">
                  <a16:creationId xmlns:a16="http://schemas.microsoft.com/office/drawing/2014/main" id="{D8A6DF2C-7C35-467D-969D-8F038EEE4B4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2072476" y="5857086"/>
              <a:ext cx="2000240" cy="1588"/>
            </a:xfrm>
            <a:prstGeom prst="line">
              <a:avLst/>
            </a:prstGeom>
            <a:noFill/>
            <a:ln w="38100" algn="ctr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" name="直接连接符 39">
              <a:extLst>
                <a:ext uri="{FF2B5EF4-FFF2-40B4-BE49-F238E27FC236}">
                  <a16:creationId xmlns:a16="http://schemas.microsoft.com/office/drawing/2014/main" id="{92DE0F5F-1DBE-4E9C-9483-60065E25340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4358492" y="5857086"/>
              <a:ext cx="2000240" cy="1588"/>
            </a:xfrm>
            <a:prstGeom prst="line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" name="直接连接符 40">
              <a:extLst>
                <a:ext uri="{FF2B5EF4-FFF2-40B4-BE49-F238E27FC236}">
                  <a16:creationId xmlns:a16="http://schemas.microsoft.com/office/drawing/2014/main" id="{63EAF7E6-582C-4F16-A5C6-077DD159AB8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6501632" y="5857086"/>
              <a:ext cx="2000240" cy="1588"/>
            </a:xfrm>
            <a:prstGeom prst="line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3" name="组合 48">
            <a:extLst>
              <a:ext uri="{FF2B5EF4-FFF2-40B4-BE49-F238E27FC236}">
                <a16:creationId xmlns:a16="http://schemas.microsoft.com/office/drawing/2014/main" id="{5907580B-BDEC-4E79-9485-70DB6F9469E2}"/>
              </a:ext>
            </a:extLst>
          </p:cNvPr>
          <p:cNvGrpSpPr>
            <a:grpSpLocks/>
          </p:cNvGrpSpPr>
          <p:nvPr/>
        </p:nvGrpSpPr>
        <p:grpSpPr bwMode="auto">
          <a:xfrm>
            <a:off x="3263838" y="4362596"/>
            <a:ext cx="2250907" cy="338554"/>
            <a:chOff x="1000100" y="4740577"/>
            <a:chExt cx="2071702" cy="337539"/>
          </a:xfrm>
        </p:grpSpPr>
        <p:cxnSp>
          <p:nvCxnSpPr>
            <p:cNvPr id="14" name="直接箭头连接符 46">
              <a:extLst>
                <a:ext uri="{FF2B5EF4-FFF2-40B4-BE49-F238E27FC236}">
                  <a16:creationId xmlns:a16="http://schemas.microsoft.com/office/drawing/2014/main" id="{F845DB13-4A50-4D4E-A571-93AEA7DA846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000100" y="5072074"/>
              <a:ext cx="2071702" cy="1588"/>
            </a:xfrm>
            <a:prstGeom prst="straightConnector1">
              <a:avLst/>
            </a:prstGeom>
            <a:noFill/>
            <a:ln w="38100" algn="ctr">
              <a:solidFill>
                <a:srgbClr val="FF0000"/>
              </a:solidFill>
              <a:round/>
              <a:headEnd type="arrow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5" name="TextBox 47">
              <a:extLst>
                <a:ext uri="{FF2B5EF4-FFF2-40B4-BE49-F238E27FC236}">
                  <a16:creationId xmlns:a16="http://schemas.microsoft.com/office/drawing/2014/main" id="{6F47F1D2-7851-40A7-8376-43A0CBEF33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03901" y="4740577"/>
              <a:ext cx="779297" cy="3375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dirty="0" err="1">
                  <a:solidFill>
                    <a:schemeClr val="tx2"/>
                  </a:solidFill>
                  <a:latin typeface="Arial" panose="020B0604020202020204" pitchFamily="34" charset="0"/>
                </a:rPr>
                <a:t>GetS</a:t>
              </a:r>
              <a:r>
                <a:rPr lang="en-US" altLang="zh-CN" sz="1600" dirty="0">
                  <a:solidFill>
                    <a:schemeClr val="tx2"/>
                  </a:solidFill>
                  <a:latin typeface="Arial" panose="020B0604020202020204" pitchFamily="34" charset="0"/>
                </a:rPr>
                <a:t> X</a:t>
              </a:r>
              <a:endParaRPr lang="zh-CN" altLang="en-US" sz="1600" dirty="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</p:grpSp>
      <p:cxnSp>
        <p:nvCxnSpPr>
          <p:cNvPr id="16" name="直接箭头连接符 50">
            <a:extLst>
              <a:ext uri="{FF2B5EF4-FFF2-40B4-BE49-F238E27FC236}">
                <a16:creationId xmlns:a16="http://schemas.microsoft.com/office/drawing/2014/main" id="{DA895F04-365D-459E-A7BB-F4D86255E50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888807" y="4600575"/>
            <a:ext cx="914400" cy="914400"/>
          </a:xfrm>
          <a:prstGeom prst="straightConnector1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 type="arrow" w="med" len="med"/>
              </a14:hiddenLine>
            </a:ext>
          </a:extLst>
        </p:spPr>
      </p:cxnSp>
      <p:grpSp>
        <p:nvGrpSpPr>
          <p:cNvPr id="29" name="组合 70">
            <a:extLst>
              <a:ext uri="{FF2B5EF4-FFF2-40B4-BE49-F238E27FC236}">
                <a16:creationId xmlns:a16="http://schemas.microsoft.com/office/drawing/2014/main" id="{8A446719-78A3-43B2-8E28-5B0D757FE6BE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1187320" y="5634333"/>
            <a:ext cx="4344536" cy="338554"/>
            <a:chOff x="1000100" y="6034331"/>
            <a:chExt cx="2071702" cy="338604"/>
          </a:xfrm>
        </p:grpSpPr>
        <p:cxnSp>
          <p:nvCxnSpPr>
            <p:cNvPr id="30" name="直接箭头连接符 68">
              <a:extLst>
                <a:ext uri="{FF2B5EF4-FFF2-40B4-BE49-F238E27FC236}">
                  <a16:creationId xmlns:a16="http://schemas.microsoft.com/office/drawing/2014/main" id="{2722A55E-94E9-4E1C-89E8-7F98AE0C82A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>
              <a:off x="1000100" y="6357958"/>
              <a:ext cx="2071702" cy="1588"/>
            </a:xfrm>
            <a:prstGeom prst="straightConnector1">
              <a:avLst/>
            </a:prstGeom>
            <a:noFill/>
            <a:ln w="38100" algn="ctr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1" name="TextBox 69">
              <a:extLst>
                <a:ext uri="{FF2B5EF4-FFF2-40B4-BE49-F238E27FC236}">
                  <a16:creationId xmlns:a16="http://schemas.microsoft.com/office/drawing/2014/main" id="{4F62C11B-3029-4B9F-9E67-C6447B4931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1360" y="6034331"/>
              <a:ext cx="649890" cy="3386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dirty="0">
                  <a:solidFill>
                    <a:schemeClr val="tx2"/>
                  </a:solidFill>
                  <a:latin typeface="Arial" panose="020B0604020202020204" pitchFamily="34" charset="0"/>
                </a:rPr>
                <a:t>Reply X=888</a:t>
              </a:r>
              <a:endParaRPr lang="zh-CN" altLang="en-US" dirty="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32" name="Oval 7">
            <a:extLst>
              <a:ext uri="{FF2B5EF4-FFF2-40B4-BE49-F238E27FC236}">
                <a16:creationId xmlns:a16="http://schemas.microsoft.com/office/drawing/2014/main" id="{DC67EC1F-A925-483F-9AC1-FA5E4B1AE7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1524" y="1064070"/>
            <a:ext cx="749300" cy="7493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33" name="Line 9">
            <a:extLst>
              <a:ext uri="{FF2B5EF4-FFF2-40B4-BE49-F238E27FC236}">
                <a16:creationId xmlns:a16="http://schemas.microsoft.com/office/drawing/2014/main" id="{44141B5B-E623-48B2-AC70-05F373557FC0}"/>
              </a:ext>
            </a:extLst>
          </p:cNvPr>
          <p:cNvSpPr>
            <a:spLocks noChangeShapeType="1"/>
          </p:cNvSpPr>
          <p:nvPr/>
        </p:nvSpPr>
        <p:spPr bwMode="auto">
          <a:xfrm>
            <a:off x="3243636" y="1819801"/>
            <a:ext cx="0" cy="3111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34" name="Line 10">
            <a:extLst>
              <a:ext uri="{FF2B5EF4-FFF2-40B4-BE49-F238E27FC236}">
                <a16:creationId xmlns:a16="http://schemas.microsoft.com/office/drawing/2014/main" id="{6FD3B2B8-B6DD-4AA4-928E-5055BBA9C4F3}"/>
              </a:ext>
            </a:extLst>
          </p:cNvPr>
          <p:cNvSpPr>
            <a:spLocks noChangeShapeType="1"/>
          </p:cNvSpPr>
          <p:nvPr/>
        </p:nvSpPr>
        <p:spPr bwMode="auto">
          <a:xfrm>
            <a:off x="3243636" y="2810401"/>
            <a:ext cx="0" cy="3683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36" name="Rectangle 13">
            <a:extLst>
              <a:ext uri="{FF2B5EF4-FFF2-40B4-BE49-F238E27FC236}">
                <a16:creationId xmlns:a16="http://schemas.microsoft.com/office/drawing/2014/main" id="{9F86BCEC-E973-45EF-A1A6-021FEC9307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4203" y="1241076"/>
            <a:ext cx="424797" cy="366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</a:rPr>
              <a:t>C2</a:t>
            </a:r>
          </a:p>
        </p:txBody>
      </p:sp>
      <p:sp>
        <p:nvSpPr>
          <p:cNvPr id="37" name="AutoShape 16">
            <a:extLst>
              <a:ext uri="{FF2B5EF4-FFF2-40B4-BE49-F238E27FC236}">
                <a16:creationId xmlns:a16="http://schemas.microsoft.com/office/drawing/2014/main" id="{48307579-98ED-4F1E-B2DE-637916F983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7620" y="3191401"/>
            <a:ext cx="6860781" cy="465118"/>
          </a:xfrm>
          <a:prstGeom prst="roundRect">
            <a:avLst>
              <a:gd name="adj" fmla="val 12495"/>
            </a:avLst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38" name="Rectangle 17">
            <a:extLst>
              <a:ext uri="{FF2B5EF4-FFF2-40B4-BE49-F238E27FC236}">
                <a16:creationId xmlns:a16="http://schemas.microsoft.com/office/drawing/2014/main" id="{8B1DA094-DA5F-4889-AAFF-32CDE92C7C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7214" y="3231578"/>
            <a:ext cx="3467297" cy="366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lvl="0" eaLnBrk="1" hangingPunct="1">
              <a:defRPr/>
            </a:pPr>
            <a:r>
              <a:rPr lang="en-US" altLang="en-US" sz="1800" dirty="0">
                <a:solidFill>
                  <a:srgbClr val="000000"/>
                </a:solidFill>
              </a:rPr>
              <a:t>Bus (</a:t>
            </a:r>
            <a:r>
              <a:rPr lang="en-US" altLang="zh-CN" sz="1800" dirty="0">
                <a:solidFill>
                  <a:schemeClr val="accent3">
                    <a:lumMod val="65000"/>
                  </a:schemeClr>
                </a:solidFill>
                <a:latin typeface="Arial Narrow" panose="020B0606020202030204" pitchFamily="34" charset="0"/>
              </a:rPr>
              <a:t>One transaction active at a time</a:t>
            </a:r>
            <a:r>
              <a:rPr lang="en-US" altLang="en-US" sz="1800" dirty="0">
                <a:solidFill>
                  <a:srgbClr val="000000"/>
                </a:solidFill>
              </a:rPr>
              <a:t>)</a:t>
            </a: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5C3578BE-8AB4-4F32-942C-19DEB8DD1F10}"/>
              </a:ext>
            </a:extLst>
          </p:cNvPr>
          <p:cNvSpPr/>
          <p:nvPr/>
        </p:nvSpPr>
        <p:spPr bwMode="auto">
          <a:xfrm>
            <a:off x="2551493" y="2130951"/>
            <a:ext cx="1371569" cy="679450"/>
          </a:xfrm>
          <a:prstGeom prst="roundRect">
            <a:avLst/>
          </a:prstGeom>
          <a:solidFill>
            <a:srgbClr val="CCEC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64" name="Oval 7">
            <a:extLst>
              <a:ext uri="{FF2B5EF4-FFF2-40B4-BE49-F238E27FC236}">
                <a16:creationId xmlns:a16="http://schemas.microsoft.com/office/drawing/2014/main" id="{E9D3B7CC-CC0B-46B8-AED6-0E7F061225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7651" y="1051844"/>
            <a:ext cx="749300" cy="7493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65" name="Line 9">
            <a:extLst>
              <a:ext uri="{FF2B5EF4-FFF2-40B4-BE49-F238E27FC236}">
                <a16:creationId xmlns:a16="http://schemas.microsoft.com/office/drawing/2014/main" id="{761927B0-4D93-4D4E-B279-9BA3AC91676A}"/>
              </a:ext>
            </a:extLst>
          </p:cNvPr>
          <p:cNvSpPr>
            <a:spLocks noChangeShapeType="1"/>
          </p:cNvSpPr>
          <p:nvPr/>
        </p:nvSpPr>
        <p:spPr bwMode="auto">
          <a:xfrm>
            <a:off x="1669763" y="1807575"/>
            <a:ext cx="0" cy="3111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66" name="Line 10">
            <a:extLst>
              <a:ext uri="{FF2B5EF4-FFF2-40B4-BE49-F238E27FC236}">
                <a16:creationId xmlns:a16="http://schemas.microsoft.com/office/drawing/2014/main" id="{1A6863F4-F416-4AFD-B0C6-F81C3D8EEF49}"/>
              </a:ext>
            </a:extLst>
          </p:cNvPr>
          <p:cNvSpPr>
            <a:spLocks noChangeShapeType="1"/>
          </p:cNvSpPr>
          <p:nvPr/>
        </p:nvSpPr>
        <p:spPr bwMode="auto">
          <a:xfrm>
            <a:off x="1669763" y="2798175"/>
            <a:ext cx="0" cy="3683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67" name="Rectangle 13">
            <a:extLst>
              <a:ext uri="{FF2B5EF4-FFF2-40B4-BE49-F238E27FC236}">
                <a16:creationId xmlns:a16="http://schemas.microsoft.com/office/drawing/2014/main" id="{554EB754-274E-4EB4-8AD9-2DF11C63B4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0330" y="1228850"/>
            <a:ext cx="424797" cy="366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</a:rPr>
              <a:t>C1</a:t>
            </a:r>
          </a:p>
        </p:txBody>
      </p:sp>
      <p:sp>
        <p:nvSpPr>
          <p:cNvPr id="68" name="矩形: 圆角 67">
            <a:extLst>
              <a:ext uri="{FF2B5EF4-FFF2-40B4-BE49-F238E27FC236}">
                <a16:creationId xmlns:a16="http://schemas.microsoft.com/office/drawing/2014/main" id="{ED8DDC0F-AFA9-4718-9BDC-3B8F8B3DB64E}"/>
              </a:ext>
            </a:extLst>
          </p:cNvPr>
          <p:cNvSpPr/>
          <p:nvPr/>
        </p:nvSpPr>
        <p:spPr bwMode="auto">
          <a:xfrm>
            <a:off x="977620" y="2118725"/>
            <a:ext cx="1371569" cy="679450"/>
          </a:xfrm>
          <a:prstGeom prst="roundRect">
            <a:avLst/>
          </a:prstGeom>
          <a:solidFill>
            <a:srgbClr val="CCEC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69" name="Oval 7">
            <a:extLst>
              <a:ext uri="{FF2B5EF4-FFF2-40B4-BE49-F238E27FC236}">
                <a16:creationId xmlns:a16="http://schemas.microsoft.com/office/drawing/2014/main" id="{42E8885E-6C42-407C-80A3-FC01AC15B8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7081" y="1058895"/>
            <a:ext cx="749300" cy="7493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70" name="Line 9">
            <a:extLst>
              <a:ext uri="{FF2B5EF4-FFF2-40B4-BE49-F238E27FC236}">
                <a16:creationId xmlns:a16="http://schemas.microsoft.com/office/drawing/2014/main" id="{52CE6BCF-93B4-4BEC-8D07-1B322CECDA82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9193" y="1814626"/>
            <a:ext cx="0" cy="3111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71" name="Line 10">
            <a:extLst>
              <a:ext uri="{FF2B5EF4-FFF2-40B4-BE49-F238E27FC236}">
                <a16:creationId xmlns:a16="http://schemas.microsoft.com/office/drawing/2014/main" id="{1C584A1F-D17F-450E-942D-C8255A2CAAA3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9193" y="2805226"/>
            <a:ext cx="0" cy="3683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72" name="Rectangle 13">
            <a:extLst>
              <a:ext uri="{FF2B5EF4-FFF2-40B4-BE49-F238E27FC236}">
                <a16:creationId xmlns:a16="http://schemas.microsoft.com/office/drawing/2014/main" id="{299D76AA-CE99-4FCD-9455-5F04471FBB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9760" y="1235901"/>
            <a:ext cx="424797" cy="366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</a:rPr>
              <a:t>C4</a:t>
            </a:r>
          </a:p>
        </p:txBody>
      </p:sp>
      <p:sp>
        <p:nvSpPr>
          <p:cNvPr id="73" name="矩形: 圆角 72">
            <a:extLst>
              <a:ext uri="{FF2B5EF4-FFF2-40B4-BE49-F238E27FC236}">
                <a16:creationId xmlns:a16="http://schemas.microsoft.com/office/drawing/2014/main" id="{93057970-017A-4F4B-9BD6-2E395B9F653F}"/>
              </a:ext>
            </a:extLst>
          </p:cNvPr>
          <p:cNvSpPr/>
          <p:nvPr/>
        </p:nvSpPr>
        <p:spPr bwMode="auto">
          <a:xfrm>
            <a:off x="5717050" y="2125776"/>
            <a:ext cx="1371569" cy="679450"/>
          </a:xfrm>
          <a:prstGeom prst="roundRect">
            <a:avLst/>
          </a:prstGeom>
          <a:solidFill>
            <a:srgbClr val="CCEC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74" name="Oval 7">
            <a:extLst>
              <a:ext uri="{FF2B5EF4-FFF2-40B4-BE49-F238E27FC236}">
                <a16:creationId xmlns:a16="http://schemas.microsoft.com/office/drawing/2014/main" id="{92DA491D-7521-4779-9703-1921BEB295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3208" y="1046669"/>
            <a:ext cx="749300" cy="7493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75" name="Line 9">
            <a:extLst>
              <a:ext uri="{FF2B5EF4-FFF2-40B4-BE49-F238E27FC236}">
                <a16:creationId xmlns:a16="http://schemas.microsoft.com/office/drawing/2014/main" id="{EF65B723-32B4-495C-9F9C-549E4BDA9348}"/>
              </a:ext>
            </a:extLst>
          </p:cNvPr>
          <p:cNvSpPr>
            <a:spLocks noChangeShapeType="1"/>
          </p:cNvSpPr>
          <p:nvPr/>
        </p:nvSpPr>
        <p:spPr bwMode="auto">
          <a:xfrm>
            <a:off x="4835320" y="1802400"/>
            <a:ext cx="0" cy="3111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76" name="Line 10">
            <a:extLst>
              <a:ext uri="{FF2B5EF4-FFF2-40B4-BE49-F238E27FC236}">
                <a16:creationId xmlns:a16="http://schemas.microsoft.com/office/drawing/2014/main" id="{7F03F7D1-A57D-40E7-9D63-C68504CCEA5B}"/>
              </a:ext>
            </a:extLst>
          </p:cNvPr>
          <p:cNvSpPr>
            <a:spLocks noChangeShapeType="1"/>
          </p:cNvSpPr>
          <p:nvPr/>
        </p:nvSpPr>
        <p:spPr bwMode="auto">
          <a:xfrm>
            <a:off x="4835320" y="2793000"/>
            <a:ext cx="0" cy="3683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77" name="Rectangle 13">
            <a:extLst>
              <a:ext uri="{FF2B5EF4-FFF2-40B4-BE49-F238E27FC236}">
                <a16:creationId xmlns:a16="http://schemas.microsoft.com/office/drawing/2014/main" id="{C714C0FC-7261-4900-ABE0-2C7B08DDD7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95887" y="1223675"/>
            <a:ext cx="424797" cy="366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</a:rPr>
              <a:t>C3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121529A-1E0B-4A77-A91D-BCE05BB7FE35}"/>
              </a:ext>
            </a:extLst>
          </p:cNvPr>
          <p:cNvSpPr/>
          <p:nvPr/>
        </p:nvSpPr>
        <p:spPr>
          <a:xfrm>
            <a:off x="1108883" y="2285680"/>
            <a:ext cx="4026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tx2"/>
                </a:solidFill>
              </a:rPr>
              <a:t>X: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76E3328-ECB4-4B26-A415-0875B0215C81}"/>
              </a:ext>
            </a:extLst>
          </p:cNvPr>
          <p:cNvSpPr/>
          <p:nvPr/>
        </p:nvSpPr>
        <p:spPr>
          <a:xfrm>
            <a:off x="4469603" y="2279999"/>
            <a:ext cx="67037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tx2"/>
                </a:solidFill>
              </a:rPr>
              <a:t>X: </a:t>
            </a:r>
            <a:r>
              <a:rPr lang="en-US" altLang="zh-CN" b="1" dirty="0">
                <a:solidFill>
                  <a:srgbClr val="FF0000"/>
                </a:solidFill>
                <a:latin typeface="Imprint MT Shadow" panose="04020605060303030202" pitchFamily="82" charset="0"/>
              </a:rPr>
              <a:t>S</a:t>
            </a:r>
            <a:endParaRPr lang="zh-CN" altLang="en-US" dirty="0"/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999CF0D0-0C69-49D5-84EA-33E3FF2CF465}"/>
              </a:ext>
            </a:extLst>
          </p:cNvPr>
          <p:cNvSpPr/>
          <p:nvPr/>
        </p:nvSpPr>
        <p:spPr>
          <a:xfrm>
            <a:off x="2847884" y="1961012"/>
            <a:ext cx="109298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dirty="0">
                <a:solidFill>
                  <a:schemeClr val="tx2"/>
                </a:solidFill>
              </a:rPr>
              <a:t> X: </a:t>
            </a:r>
            <a:r>
              <a:rPr lang="en-US" altLang="zh-CN" b="1" dirty="0">
                <a:solidFill>
                  <a:srgbClr val="FF0000"/>
                </a:solidFill>
              </a:rPr>
              <a:t>I</a:t>
            </a:r>
            <a:endParaRPr lang="zh-CN" altLang="en-US" sz="4400" b="1" dirty="0">
              <a:solidFill>
                <a:srgbClr val="FF0000"/>
              </a:solidFill>
            </a:endParaRPr>
          </a:p>
        </p:txBody>
      </p:sp>
      <p:sp>
        <p:nvSpPr>
          <p:cNvPr id="118784" name="矩形 118783">
            <a:extLst>
              <a:ext uri="{FF2B5EF4-FFF2-40B4-BE49-F238E27FC236}">
                <a16:creationId xmlns:a16="http://schemas.microsoft.com/office/drawing/2014/main" id="{1DB99245-7C83-4FFA-99F0-79B940816186}"/>
              </a:ext>
            </a:extLst>
          </p:cNvPr>
          <p:cNvSpPr/>
          <p:nvPr/>
        </p:nvSpPr>
        <p:spPr>
          <a:xfrm>
            <a:off x="1344328" y="2293110"/>
            <a:ext cx="127288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Imprint MT Shadow" panose="04020605060303030202" pitchFamily="82" charset="0"/>
              </a:rPr>
              <a:t>M, 888</a:t>
            </a:r>
            <a:endParaRPr lang="zh-CN" altLang="en-US" dirty="0"/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81FB116F-D60F-4434-9A12-7BCFBC83B737}"/>
              </a:ext>
            </a:extLst>
          </p:cNvPr>
          <p:cNvSpPr/>
          <p:nvPr/>
        </p:nvSpPr>
        <p:spPr>
          <a:xfrm>
            <a:off x="1408431" y="2287143"/>
            <a:ext cx="7889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Imprint MT Shadow" panose="04020605060303030202" pitchFamily="82" charset="0"/>
              </a:rPr>
              <a:t>S, 888</a:t>
            </a:r>
            <a:endParaRPr lang="zh-CN" altLang="en-US" dirty="0"/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992E6463-374C-49BD-8DD7-A0BE0C1451D3}"/>
              </a:ext>
            </a:extLst>
          </p:cNvPr>
          <p:cNvSpPr/>
          <p:nvPr/>
        </p:nvSpPr>
        <p:spPr>
          <a:xfrm>
            <a:off x="4471705" y="2280793"/>
            <a:ext cx="5613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X: </a:t>
            </a:r>
            <a:r>
              <a:rPr lang="en-US" altLang="zh-CN" b="1" dirty="0">
                <a:solidFill>
                  <a:srgbClr val="FF0000"/>
                </a:solidFill>
                <a:latin typeface="Imprint MT Shadow" panose="04020605060303030202" pitchFamily="82" charset="0"/>
              </a:rPr>
              <a:t>I</a:t>
            </a:r>
            <a:endParaRPr lang="zh-CN" altLang="en-US" dirty="0"/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DD938820-1610-4DB9-9424-F2908483F74C}"/>
              </a:ext>
            </a:extLst>
          </p:cNvPr>
          <p:cNvSpPr/>
          <p:nvPr/>
        </p:nvSpPr>
        <p:spPr>
          <a:xfrm>
            <a:off x="6053816" y="2277273"/>
            <a:ext cx="5613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X: </a:t>
            </a:r>
            <a:r>
              <a:rPr lang="en-US" altLang="zh-CN" b="1" dirty="0">
                <a:solidFill>
                  <a:srgbClr val="FF0000"/>
                </a:solidFill>
                <a:latin typeface="Imprint MT Shadow" panose="04020605060303030202" pitchFamily="82" charset="0"/>
              </a:rPr>
              <a:t>I</a:t>
            </a:r>
            <a:endParaRPr lang="zh-CN" altLang="en-US" dirty="0"/>
          </a:p>
        </p:txBody>
      </p:sp>
      <p:sp>
        <p:nvSpPr>
          <p:cNvPr id="118788" name="矩形 118787">
            <a:extLst>
              <a:ext uri="{FF2B5EF4-FFF2-40B4-BE49-F238E27FC236}">
                <a16:creationId xmlns:a16="http://schemas.microsoft.com/office/drawing/2014/main" id="{2AF0D5B3-2E0C-4B11-8078-6E068D63A822}"/>
              </a:ext>
            </a:extLst>
          </p:cNvPr>
          <p:cNvSpPr/>
          <p:nvPr/>
        </p:nvSpPr>
        <p:spPr>
          <a:xfrm>
            <a:off x="7243375" y="1609670"/>
            <a:ext cx="59503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dirty="0"/>
              <a:t>…</a:t>
            </a:r>
            <a:endParaRPr lang="zh-CN" altLang="en-US" sz="3200" dirty="0"/>
          </a:p>
        </p:txBody>
      </p:sp>
      <p:grpSp>
        <p:nvGrpSpPr>
          <p:cNvPr id="62" name="组合 48">
            <a:extLst>
              <a:ext uri="{FF2B5EF4-FFF2-40B4-BE49-F238E27FC236}">
                <a16:creationId xmlns:a16="http://schemas.microsoft.com/office/drawing/2014/main" id="{F760FAAE-8A2B-4757-A4D1-317527FB2A7F}"/>
              </a:ext>
            </a:extLst>
          </p:cNvPr>
          <p:cNvGrpSpPr>
            <a:grpSpLocks/>
          </p:cNvGrpSpPr>
          <p:nvPr/>
        </p:nvGrpSpPr>
        <p:grpSpPr bwMode="auto">
          <a:xfrm>
            <a:off x="1159958" y="4736352"/>
            <a:ext cx="2071688" cy="340941"/>
            <a:chOff x="1000100" y="4733743"/>
            <a:chExt cx="2071702" cy="339919"/>
          </a:xfrm>
        </p:grpSpPr>
        <p:cxnSp>
          <p:nvCxnSpPr>
            <p:cNvPr id="63" name="直接箭头连接符 46">
              <a:extLst>
                <a:ext uri="{FF2B5EF4-FFF2-40B4-BE49-F238E27FC236}">
                  <a16:creationId xmlns:a16="http://schemas.microsoft.com/office/drawing/2014/main" id="{9E1291EA-1F35-4B16-AA5E-963CD52AA76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000100" y="5072074"/>
              <a:ext cx="2071702" cy="1588"/>
            </a:xfrm>
            <a:prstGeom prst="straightConnector1">
              <a:avLst/>
            </a:prstGeom>
            <a:noFill/>
            <a:ln w="38100" algn="ctr">
              <a:solidFill>
                <a:srgbClr val="FF0000"/>
              </a:solidFill>
              <a:round/>
              <a:headEnd type="arrow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9" name="TextBox 47">
              <a:extLst>
                <a:ext uri="{FF2B5EF4-FFF2-40B4-BE49-F238E27FC236}">
                  <a16:creationId xmlns:a16="http://schemas.microsoft.com/office/drawing/2014/main" id="{9B64AE65-F059-4763-9489-23F240D4C3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62124" y="4733743"/>
              <a:ext cx="846713" cy="3375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dirty="0" err="1">
                  <a:solidFill>
                    <a:schemeClr val="tx2"/>
                  </a:solidFill>
                  <a:latin typeface="Arial" panose="020B0604020202020204" pitchFamily="34" charset="0"/>
                </a:rPr>
                <a:t>GetS</a:t>
              </a:r>
              <a:r>
                <a:rPr lang="en-US" altLang="zh-CN" sz="1600" dirty="0">
                  <a:solidFill>
                    <a:schemeClr val="tx2"/>
                  </a:solidFill>
                  <a:latin typeface="Arial" panose="020B0604020202020204" pitchFamily="34" charset="0"/>
                </a:rPr>
                <a:t> X</a:t>
              </a:r>
              <a:endParaRPr lang="zh-CN" altLang="en-US" sz="1600" dirty="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80" name="内容占位符 35">
            <a:extLst>
              <a:ext uri="{FF2B5EF4-FFF2-40B4-BE49-F238E27FC236}">
                <a16:creationId xmlns:a16="http://schemas.microsoft.com/office/drawing/2014/main" id="{8F90A657-9261-42D0-BE1E-0EE77ABE95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4307" y="3886200"/>
            <a:ext cx="8964613" cy="571500"/>
          </a:xfrm>
        </p:spPr>
        <p:txBody>
          <a:bodyPr/>
          <a:lstStyle/>
          <a:p>
            <a:r>
              <a:rPr lang="en-US" altLang="zh-CN" dirty="0"/>
              <a:t> C1</a:t>
            </a:r>
            <a:r>
              <a:rPr lang="en-US" altLang="zh-CN" sz="2400" dirty="0"/>
              <a:t>(M)               </a:t>
            </a:r>
            <a:r>
              <a:rPr lang="en-US" altLang="zh-CN" sz="2400" dirty="0">
                <a:solidFill>
                  <a:srgbClr val="0070C0"/>
                </a:solidFill>
              </a:rPr>
              <a:t>Bus</a:t>
            </a:r>
            <a:r>
              <a:rPr lang="en-US" altLang="zh-CN" sz="2400" dirty="0"/>
              <a:t>   </a:t>
            </a:r>
            <a:r>
              <a:rPr lang="zh-CN" altLang="en-US" sz="2400" dirty="0"/>
              <a:t>           </a:t>
            </a:r>
            <a:r>
              <a:rPr lang="en-US" altLang="zh-CN" sz="2400" dirty="0"/>
              <a:t>C3(local)  </a:t>
            </a:r>
            <a:r>
              <a:rPr lang="zh-CN" altLang="en-US" sz="2400" dirty="0"/>
              <a:t>      </a:t>
            </a:r>
            <a:r>
              <a:rPr lang="en-US" altLang="zh-CN" sz="2400" dirty="0"/>
              <a:t>C4(remote)    </a:t>
            </a:r>
            <a:endParaRPr lang="zh-CN" altLang="en-US" sz="2400" dirty="0"/>
          </a:p>
        </p:txBody>
      </p:sp>
      <p:sp>
        <p:nvSpPr>
          <p:cNvPr id="83" name="TextBox 47">
            <a:extLst>
              <a:ext uri="{FF2B5EF4-FFF2-40B4-BE49-F238E27FC236}">
                <a16:creationId xmlns:a16="http://schemas.microsoft.com/office/drawing/2014/main" id="{6F934540-B0EE-4A3F-9BA5-8C10109EC7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1" y="5438423"/>
            <a:ext cx="107838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chemeClr val="tx2"/>
                </a:solidFill>
                <a:latin typeface="Arial" panose="020B0604020202020204" pitchFamily="34" charset="0"/>
              </a:rPr>
              <a:t>Write X to memory</a:t>
            </a:r>
            <a:endParaRPr lang="zh-CN" altLang="en-US" sz="1600" dirty="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grpSp>
        <p:nvGrpSpPr>
          <p:cNvPr id="55" name="组合 48">
            <a:extLst>
              <a:ext uri="{FF2B5EF4-FFF2-40B4-BE49-F238E27FC236}">
                <a16:creationId xmlns:a16="http://schemas.microsoft.com/office/drawing/2014/main" id="{CF6133D7-F1C2-44E5-AF9A-CBDF01E373D8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3243636" y="4888752"/>
            <a:ext cx="4423658" cy="340941"/>
            <a:chOff x="1000100" y="4733743"/>
            <a:chExt cx="2071702" cy="339919"/>
          </a:xfrm>
        </p:grpSpPr>
        <p:cxnSp>
          <p:nvCxnSpPr>
            <p:cNvPr id="56" name="直接箭头连接符 46">
              <a:extLst>
                <a:ext uri="{FF2B5EF4-FFF2-40B4-BE49-F238E27FC236}">
                  <a16:creationId xmlns:a16="http://schemas.microsoft.com/office/drawing/2014/main" id="{F2ACEE13-FCC7-4003-8CE4-3D37D474D43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000100" y="5072074"/>
              <a:ext cx="2071702" cy="1588"/>
            </a:xfrm>
            <a:prstGeom prst="straightConnector1">
              <a:avLst/>
            </a:prstGeom>
            <a:noFill/>
            <a:ln w="38100" algn="ctr">
              <a:solidFill>
                <a:srgbClr val="FF0000"/>
              </a:solidFill>
              <a:round/>
              <a:headEnd type="arrow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7" name="TextBox 47">
              <a:extLst>
                <a:ext uri="{FF2B5EF4-FFF2-40B4-BE49-F238E27FC236}">
                  <a16:creationId xmlns:a16="http://schemas.microsoft.com/office/drawing/2014/main" id="{689FA797-5A6C-4989-9C99-DFF06230B3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62124" y="4733743"/>
              <a:ext cx="846713" cy="3375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dirty="0" err="1">
                  <a:solidFill>
                    <a:schemeClr val="tx2"/>
                  </a:solidFill>
                  <a:latin typeface="Arial" panose="020B0604020202020204" pitchFamily="34" charset="0"/>
                </a:rPr>
                <a:t>GetS</a:t>
              </a:r>
              <a:r>
                <a:rPr lang="en-US" altLang="zh-CN" sz="1600" dirty="0">
                  <a:solidFill>
                    <a:schemeClr val="tx2"/>
                  </a:solidFill>
                  <a:latin typeface="Arial" panose="020B0604020202020204" pitchFamily="34" charset="0"/>
                </a:rPr>
                <a:t> X</a:t>
              </a:r>
              <a:endParaRPr lang="zh-CN" altLang="en-US" sz="1600" dirty="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58" name="组合 61">
            <a:extLst>
              <a:ext uri="{FF2B5EF4-FFF2-40B4-BE49-F238E27FC236}">
                <a16:creationId xmlns:a16="http://schemas.microsoft.com/office/drawing/2014/main" id="{526CB47F-42DD-4D81-BF98-76B4ACBE9EDF}"/>
              </a:ext>
            </a:extLst>
          </p:cNvPr>
          <p:cNvGrpSpPr>
            <a:grpSpLocks/>
          </p:cNvGrpSpPr>
          <p:nvPr/>
        </p:nvGrpSpPr>
        <p:grpSpPr bwMode="auto">
          <a:xfrm>
            <a:off x="5512357" y="5360873"/>
            <a:ext cx="2123540" cy="338554"/>
            <a:chOff x="3071802" y="5751406"/>
            <a:chExt cx="2286016" cy="338604"/>
          </a:xfrm>
        </p:grpSpPr>
        <p:cxnSp>
          <p:nvCxnSpPr>
            <p:cNvPr id="59" name="直接箭头连接符 58">
              <a:extLst>
                <a:ext uri="{FF2B5EF4-FFF2-40B4-BE49-F238E27FC236}">
                  <a16:creationId xmlns:a16="http://schemas.microsoft.com/office/drawing/2014/main" id="{972B4A08-FD61-4092-A607-69DD54C590E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>
              <a:off x="3071802" y="6072206"/>
              <a:ext cx="2286016" cy="1588"/>
            </a:xfrm>
            <a:prstGeom prst="straightConnector1">
              <a:avLst/>
            </a:prstGeom>
            <a:noFill/>
            <a:ln w="9525" algn="ctr">
              <a:solidFill>
                <a:srgbClr val="00B05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C44818F5-0707-4237-ADB5-2723B807A9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67584" y="5751406"/>
              <a:ext cx="1143008" cy="3386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dirty="0">
                  <a:solidFill>
                    <a:schemeClr val="tx2"/>
                  </a:solidFill>
                  <a:latin typeface="Arial" panose="020B0604020202020204" pitchFamily="34" charset="0"/>
                </a:rPr>
                <a:t>   Ack</a:t>
              </a:r>
              <a:endParaRPr lang="zh-CN" altLang="en-US" sz="1600" dirty="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0294587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18784" grpId="0"/>
      <p:bldP spid="85" grpId="0"/>
      <p:bldP spid="86" grpId="0"/>
      <p:bldP spid="8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ea typeface="ＭＳ Ｐゴシック" charset="-128"/>
              </a:rPr>
              <a:t>Why Needing a Bus?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96950"/>
            <a:ext cx="8610600" cy="4184650"/>
          </a:xfrm>
        </p:spPr>
        <p:txBody>
          <a:bodyPr/>
          <a:lstStyle/>
          <a:p>
            <a:r>
              <a:rPr lang="en-US" altLang="zh-CN" b="1" dirty="0">
                <a:ea typeface="ＭＳ Ｐゴシック" charset="-128"/>
              </a:rPr>
              <a:t>Ordering</a:t>
            </a:r>
            <a:endParaRPr lang="en-US" altLang="zh-CN" dirty="0">
              <a:ea typeface="ＭＳ Ｐゴシック" charset="-128"/>
            </a:endParaRPr>
          </a:p>
          <a:p>
            <a:pPr lvl="1"/>
            <a:r>
              <a:rPr lang="en-US" altLang="zh-CN" dirty="0">
                <a:ea typeface="ＭＳ Ｐゴシック" charset="-128"/>
              </a:rPr>
              <a:t>Bus serializes requests, ordering some before others.</a:t>
            </a:r>
          </a:p>
          <a:p>
            <a:pPr lvl="1"/>
            <a:r>
              <a:rPr lang="en-US" altLang="en-US" dirty="0">
                <a:ea typeface="ＭＳ Ｐゴシック" charset="-128"/>
              </a:rPr>
              <a:t>However: </a:t>
            </a:r>
            <a:r>
              <a:rPr lang="en-US" altLang="zh-CN" dirty="0">
                <a:ea typeface="ＭＳ Ｐゴシック" charset="-128"/>
              </a:rPr>
              <a:t>coherence does not require ordering of requests to different address.</a:t>
            </a:r>
          </a:p>
          <a:p>
            <a:endParaRPr lang="en-US" altLang="en-US" dirty="0">
              <a:ea typeface="ＭＳ Ｐゴシック" charset="-128"/>
            </a:endParaRPr>
          </a:p>
          <a:p>
            <a:r>
              <a:rPr lang="en-US" altLang="en-US" b="1" dirty="0">
                <a:ea typeface="ＭＳ Ｐゴシック" charset="-128"/>
              </a:rPr>
              <a:t>Communication</a:t>
            </a:r>
            <a:endParaRPr lang="en-US" altLang="en-US" dirty="0">
              <a:ea typeface="ＭＳ Ｐゴシック" charset="-128"/>
            </a:endParaRPr>
          </a:p>
          <a:p>
            <a:pPr lvl="1"/>
            <a:r>
              <a:rPr lang="en-US" altLang="en-US" dirty="0">
                <a:ea typeface="ＭＳ Ｐゴシック" charset="-128"/>
              </a:rPr>
              <a:t>Simple, fast broadcast medium</a:t>
            </a:r>
          </a:p>
          <a:p>
            <a:pPr lvl="1"/>
            <a:r>
              <a:rPr lang="en-US" altLang="en-US" dirty="0">
                <a:ea typeface="ＭＳ Ｐゴシック" charset="-128"/>
              </a:rPr>
              <a:t>However: coherence does not require broadcast</a:t>
            </a:r>
          </a:p>
          <a:p>
            <a:pPr lvl="2"/>
            <a:r>
              <a:rPr lang="en-US" altLang="en-US" dirty="0">
                <a:ea typeface="ＭＳ Ｐゴシック" charset="-128"/>
              </a:rPr>
              <a:t>Only need to communicate with sharers</a:t>
            </a:r>
          </a:p>
          <a:p>
            <a:pPr lvl="2"/>
            <a:r>
              <a:rPr lang="en-US" altLang="en-US" dirty="0">
                <a:ea typeface="ＭＳ Ｐゴシック" charset="-128"/>
              </a:rPr>
              <a:t>Observation: most data is not shared by every cache. </a:t>
            </a:r>
          </a:p>
          <a:p>
            <a:endParaRPr lang="en-US" altLang="en-US" dirty="0">
              <a:ea typeface="ＭＳ Ｐゴシック" charset="-128"/>
            </a:endParaRPr>
          </a:p>
        </p:txBody>
      </p:sp>
      <p:sp>
        <p:nvSpPr>
          <p:cNvPr id="113667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DF1DBEA2-46FD-AF41-AEC4-D2A7B7B98B2D}" type="slidenum">
              <a:rPr lang="en-US" altLang="en-US" sz="1600">
                <a:solidFill>
                  <a:srgbClr val="000000"/>
                </a:solidFill>
                <a:latin typeface="Garamond" charset="0"/>
              </a:rPr>
              <a:pPr eaLnBrk="1" hangingPunct="1"/>
              <a:t>28</a:t>
            </a:fld>
            <a:endParaRPr lang="en-US" altLang="en-US" sz="1600">
              <a:solidFill>
                <a:srgbClr val="000000"/>
              </a:solidFill>
              <a:latin typeface="Garamon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816952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Title 1"/>
          <p:cNvSpPr>
            <a:spLocks noGrp="1"/>
          </p:cNvSpPr>
          <p:nvPr>
            <p:ph type="title"/>
          </p:nvPr>
        </p:nvSpPr>
        <p:spPr>
          <a:xfrm>
            <a:off x="38100" y="197879"/>
            <a:ext cx="9067800" cy="1066800"/>
          </a:xfrm>
        </p:spPr>
        <p:txBody>
          <a:bodyPr/>
          <a:lstStyle/>
          <a:p>
            <a:r>
              <a:rPr lang="en-US" altLang="en-US" dirty="0">
                <a:ea typeface="ＭＳ Ｐゴシック" charset="-128"/>
              </a:rPr>
              <a:t>Cache Coherence Protocols</a:t>
            </a:r>
          </a:p>
        </p:txBody>
      </p:sp>
      <p:sp>
        <p:nvSpPr>
          <p:cNvPr id="93186" name="Content Placeholder 2"/>
          <p:cNvSpPr>
            <a:spLocks noGrp="1"/>
          </p:cNvSpPr>
          <p:nvPr>
            <p:ph idx="1"/>
          </p:nvPr>
        </p:nvSpPr>
        <p:spPr>
          <a:xfrm>
            <a:off x="0" y="951732"/>
            <a:ext cx="5584031" cy="6058668"/>
          </a:xfrm>
        </p:spPr>
        <p:txBody>
          <a:bodyPr/>
          <a:lstStyle/>
          <a:p>
            <a:r>
              <a:rPr lang="en-US" altLang="en-US" b="1" dirty="0">
                <a:ea typeface="ＭＳ Ｐゴシック" charset="-128"/>
              </a:rPr>
              <a:t>Cache Coherence</a:t>
            </a:r>
            <a:r>
              <a:rPr lang="en-US" altLang="en-US" dirty="0">
                <a:ea typeface="ＭＳ Ｐゴシック" charset="-128"/>
              </a:rPr>
              <a:t> </a:t>
            </a:r>
          </a:p>
          <a:p>
            <a:pPr lvl="1"/>
            <a:r>
              <a:rPr lang="en-US" altLang="zh-CN" b="1" dirty="0">
                <a:ea typeface="ＭＳ Ｐゴシック" charset="-128"/>
              </a:rPr>
              <a:t>Snoop</a:t>
            </a:r>
            <a:r>
              <a:rPr lang="en-US" altLang="zh-CN" dirty="0">
                <a:ea typeface="ＭＳ Ｐゴシック" charset="-128"/>
              </a:rPr>
              <a:t>:</a:t>
            </a:r>
            <a:r>
              <a:rPr lang="en-US" altLang="en-US" dirty="0">
                <a:ea typeface="ＭＳ Ｐゴシック" charset="-128"/>
              </a:rPr>
              <a:t> </a:t>
            </a:r>
            <a:r>
              <a:rPr lang="en-US" altLang="en-US" sz="2000" dirty="0">
                <a:ea typeface="ＭＳ Ｐゴシック" charset="-128"/>
              </a:rPr>
              <a:t>[Goodman ISCA 1983]</a:t>
            </a:r>
            <a:endParaRPr lang="en-US" altLang="zh-CN" sz="2000" dirty="0">
              <a:ea typeface="ＭＳ Ｐゴシック" charset="-128"/>
            </a:endParaRPr>
          </a:p>
          <a:p>
            <a:pPr lvl="2"/>
            <a:r>
              <a:rPr lang="en-US" altLang="zh-CN" dirty="0">
                <a:ea typeface="ＭＳ Ｐゴシック" charset="-128"/>
              </a:rPr>
              <a:t>Bus-based, each bus action broadcasts on the bus, one action at a time</a:t>
            </a:r>
            <a:r>
              <a:rPr lang="en-US" altLang="ja-JP" dirty="0">
                <a:ea typeface="ＭＳ Ｐゴシック" charset="-128"/>
              </a:rPr>
              <a:t>.</a:t>
            </a:r>
            <a:r>
              <a:rPr lang="en-US" altLang="en-US" dirty="0">
                <a:solidFill>
                  <a:srgbClr val="0000FF"/>
                </a:solidFill>
                <a:ea typeface="ＭＳ Ｐゴシック" charset="-128"/>
              </a:rPr>
              <a:t> </a:t>
            </a:r>
          </a:p>
          <a:p>
            <a:pPr lvl="2"/>
            <a:r>
              <a:rPr lang="en-US" altLang="en-US" dirty="0">
                <a:ea typeface="ＭＳ Ｐゴシック" charset="-128"/>
              </a:rPr>
              <a:t>Single point of serialization </a:t>
            </a:r>
            <a:r>
              <a:rPr lang="en-US" altLang="en-US" i="1" dirty="0">
                <a:ea typeface="ＭＳ Ｐゴシック" charset="-128"/>
              </a:rPr>
              <a:t>for all memory requests. </a:t>
            </a:r>
            <a:endParaRPr lang="en-US" altLang="zh-CN" dirty="0">
              <a:ea typeface="ＭＳ Ｐゴシック" charset="-128"/>
            </a:endParaRPr>
          </a:p>
          <a:p>
            <a:pPr lvl="1"/>
            <a:r>
              <a:rPr lang="en-US" altLang="zh-CN" b="1" dirty="0">
                <a:ea typeface="ＭＳ Ｐゴシック" charset="-128"/>
              </a:rPr>
              <a:t>Directory</a:t>
            </a:r>
            <a:r>
              <a:rPr lang="en-US" altLang="zh-CN" dirty="0">
                <a:ea typeface="ＭＳ Ｐゴシック" charset="-128"/>
              </a:rPr>
              <a:t>:</a:t>
            </a:r>
            <a:r>
              <a:rPr lang="en-US" altLang="zh-CN" sz="2000" dirty="0">
                <a:ea typeface="ＭＳ Ｐゴシック" charset="-128"/>
              </a:rPr>
              <a:t>[</a:t>
            </a:r>
            <a:r>
              <a:rPr lang="en-US" altLang="zh-CN" sz="2000" dirty="0" err="1">
                <a:ea typeface="ＭＳ Ｐゴシック" charset="-128"/>
              </a:rPr>
              <a:t>Censier</a:t>
            </a:r>
            <a:r>
              <a:rPr lang="en-US" altLang="zh-CN" sz="2000" dirty="0">
                <a:ea typeface="ＭＳ Ｐゴシック" charset="-128"/>
              </a:rPr>
              <a:t>, </a:t>
            </a:r>
            <a:r>
              <a:rPr lang="en-US" altLang="zh-CN" sz="2000" dirty="0" err="1">
                <a:ea typeface="ＭＳ Ｐゴシック" charset="-128"/>
              </a:rPr>
              <a:t>ToC</a:t>
            </a:r>
            <a:r>
              <a:rPr lang="en-US" altLang="zh-CN" sz="2000" dirty="0">
                <a:ea typeface="ＭＳ Ｐゴシック" charset="-128"/>
              </a:rPr>
              <a:t> 1978]</a:t>
            </a:r>
          </a:p>
          <a:p>
            <a:pPr lvl="2"/>
            <a:r>
              <a:rPr lang="en-US" altLang="en-US" dirty="0">
                <a:ea typeface="ＭＳ Ｐゴシック" charset="-128"/>
              </a:rPr>
              <a:t>Cores make explicit requests for blocks</a:t>
            </a:r>
          </a:p>
          <a:p>
            <a:pPr lvl="2"/>
            <a:r>
              <a:rPr lang="en-US" altLang="en-US" b="1" dirty="0">
                <a:ea typeface="ＭＳ Ｐゴシック" charset="-128"/>
              </a:rPr>
              <a:t>Directory</a:t>
            </a:r>
            <a:r>
              <a:rPr lang="en-US" altLang="en-US" dirty="0">
                <a:ea typeface="ＭＳ Ｐゴシック" charset="-128"/>
              </a:rPr>
              <a:t> tracks which caches have each block</a:t>
            </a:r>
          </a:p>
          <a:p>
            <a:pPr lvl="2"/>
            <a:r>
              <a:rPr lang="en-US" altLang="en-US" b="1" dirty="0">
                <a:ea typeface="ＭＳ Ｐゴシック" charset="-128"/>
              </a:rPr>
              <a:t>Directory</a:t>
            </a:r>
            <a:r>
              <a:rPr lang="en-US" altLang="en-US" dirty="0">
                <a:ea typeface="ＭＳ Ｐゴシック" charset="-128"/>
              </a:rPr>
              <a:t> coordinates invalidation and updates</a:t>
            </a:r>
          </a:p>
          <a:p>
            <a:pPr lvl="2"/>
            <a:r>
              <a:rPr lang="en-US" altLang="en-US" dirty="0">
                <a:solidFill>
                  <a:srgbClr val="0432FF"/>
                </a:solidFill>
                <a:ea typeface="ＭＳ Ｐゴシック" charset="-128"/>
              </a:rPr>
              <a:t>Single point of serialization </a:t>
            </a:r>
            <a:r>
              <a:rPr lang="en-US" altLang="en-US" i="1" dirty="0">
                <a:solidFill>
                  <a:srgbClr val="0432FF"/>
                </a:solidFill>
                <a:ea typeface="ＭＳ Ｐゴシック" charset="-128"/>
              </a:rPr>
              <a:t>per block</a:t>
            </a:r>
            <a:r>
              <a:rPr lang="en-US" altLang="en-US" dirty="0">
                <a:solidFill>
                  <a:srgbClr val="0432FF"/>
                </a:solidFill>
                <a:ea typeface="ＭＳ Ｐゴシック" charset="-128"/>
              </a:rPr>
              <a:t>, distributed among nodes</a:t>
            </a:r>
          </a:p>
          <a:p>
            <a:pPr lvl="2"/>
            <a:r>
              <a:rPr lang="en-US" altLang="en-US" dirty="0">
                <a:solidFill>
                  <a:srgbClr val="FF0000"/>
                </a:solidFill>
                <a:ea typeface="ＭＳ Ｐゴシック" charset="-128"/>
              </a:rPr>
              <a:t>Long processing latency</a:t>
            </a:r>
          </a:p>
          <a:p>
            <a:pPr lvl="2"/>
            <a:endParaRPr lang="en-US" altLang="zh-CN" dirty="0">
              <a:ea typeface="ＭＳ Ｐゴシック" charset="-128"/>
            </a:endParaRPr>
          </a:p>
          <a:p>
            <a:pPr lvl="2"/>
            <a:endParaRPr lang="en-US" altLang="zh-CN" dirty="0">
              <a:ea typeface="ＭＳ Ｐゴシック" charset="-128"/>
            </a:endParaRPr>
          </a:p>
        </p:txBody>
      </p:sp>
      <p:sp>
        <p:nvSpPr>
          <p:cNvPr id="62" name="Oval 7">
            <a:extLst>
              <a:ext uri="{FF2B5EF4-FFF2-40B4-BE49-F238E27FC236}">
                <a16:creationId xmlns:a16="http://schemas.microsoft.com/office/drawing/2014/main" id="{C3FD745C-6FD2-49C8-8581-9947D0A017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2793" y="2590800"/>
            <a:ext cx="749300" cy="7493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63" name="Line 9">
            <a:extLst>
              <a:ext uri="{FF2B5EF4-FFF2-40B4-BE49-F238E27FC236}">
                <a16:creationId xmlns:a16="http://schemas.microsoft.com/office/drawing/2014/main" id="{8D004B49-60EF-4C3B-B44D-B0F18B1C6733}"/>
              </a:ext>
            </a:extLst>
          </p:cNvPr>
          <p:cNvSpPr>
            <a:spLocks noChangeShapeType="1"/>
          </p:cNvSpPr>
          <p:nvPr/>
        </p:nvSpPr>
        <p:spPr bwMode="auto">
          <a:xfrm>
            <a:off x="6384905" y="3346531"/>
            <a:ext cx="0" cy="3111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64" name="Line 10">
            <a:extLst>
              <a:ext uri="{FF2B5EF4-FFF2-40B4-BE49-F238E27FC236}">
                <a16:creationId xmlns:a16="http://schemas.microsoft.com/office/drawing/2014/main" id="{78F93EC4-754D-4E17-9CA2-8EBF58ACABE6}"/>
              </a:ext>
            </a:extLst>
          </p:cNvPr>
          <p:cNvSpPr>
            <a:spLocks noChangeShapeType="1"/>
          </p:cNvSpPr>
          <p:nvPr/>
        </p:nvSpPr>
        <p:spPr bwMode="auto">
          <a:xfrm>
            <a:off x="6384905" y="4337131"/>
            <a:ext cx="0" cy="3683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65" name="Rectangle 11">
            <a:extLst>
              <a:ext uri="{FF2B5EF4-FFF2-40B4-BE49-F238E27FC236}">
                <a16:creationId xmlns:a16="http://schemas.microsoft.com/office/drawing/2014/main" id="{2FAB76D7-1805-492E-B58B-4C7C7D98E6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2144" y="5679907"/>
            <a:ext cx="2897184" cy="612843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66" name="Rectangle 13">
            <a:extLst>
              <a:ext uri="{FF2B5EF4-FFF2-40B4-BE49-F238E27FC236}">
                <a16:creationId xmlns:a16="http://schemas.microsoft.com/office/drawing/2014/main" id="{C81878FC-9DB1-4103-BDCF-371293ED4D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1641" y="2767806"/>
            <a:ext cx="593112" cy="366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</a:rPr>
              <a:t>Core</a:t>
            </a:r>
          </a:p>
        </p:txBody>
      </p:sp>
      <p:sp>
        <p:nvSpPr>
          <p:cNvPr id="67" name="AutoShape 16">
            <a:extLst>
              <a:ext uri="{FF2B5EF4-FFF2-40B4-BE49-F238E27FC236}">
                <a16:creationId xmlns:a16="http://schemas.microsoft.com/office/drawing/2014/main" id="{F44B164B-3365-4157-9B91-277598472F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7211" y="4718131"/>
            <a:ext cx="3067051" cy="596900"/>
          </a:xfrm>
          <a:prstGeom prst="roundRect">
            <a:avLst>
              <a:gd name="adj" fmla="val 12495"/>
            </a:avLst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68" name="Rectangle 17">
            <a:extLst>
              <a:ext uri="{FF2B5EF4-FFF2-40B4-BE49-F238E27FC236}">
                <a16:creationId xmlns:a16="http://schemas.microsoft.com/office/drawing/2014/main" id="{6726E8FF-1CC8-4E08-8810-8FE0E87D5E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9033" y="4845820"/>
            <a:ext cx="2104744" cy="366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  <a:cs typeface="+mn-cs"/>
              </a:rPr>
              <a:t>Switch (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65000"/>
                  </a:schemeClr>
                </a:solidFill>
                <a:effectLst/>
                <a:uLnTx/>
                <a:uFillTx/>
                <a:latin typeface="Arial Narrow" panose="020B0606020202030204" pitchFamily="34" charset="0"/>
              </a:rPr>
              <a:t>peer to peer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  <a:cs typeface="+mn-cs"/>
              </a:rPr>
              <a:t>)</a:t>
            </a:r>
          </a:p>
        </p:txBody>
      </p:sp>
      <p:sp>
        <p:nvSpPr>
          <p:cNvPr id="69" name="Line 18">
            <a:extLst>
              <a:ext uri="{FF2B5EF4-FFF2-40B4-BE49-F238E27FC236}">
                <a16:creationId xmlns:a16="http://schemas.microsoft.com/office/drawing/2014/main" id="{9C8E6EED-6D8A-40F4-8D07-AA9EC802D653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212" y="5315031"/>
            <a:ext cx="0" cy="3683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70" name="Rectangle 19">
            <a:extLst>
              <a:ext uri="{FF2B5EF4-FFF2-40B4-BE49-F238E27FC236}">
                <a16:creationId xmlns:a16="http://schemas.microsoft.com/office/drawing/2014/main" id="{A171447C-8908-4EFD-9151-3797598C34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8574" y="5785775"/>
            <a:ext cx="1565275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  <a:cs typeface="+mn-cs"/>
              </a:rPr>
              <a:t>Main Memory</a:t>
            </a:r>
          </a:p>
        </p:txBody>
      </p:sp>
      <p:sp>
        <p:nvSpPr>
          <p:cNvPr id="71" name="矩形: 圆角 70">
            <a:extLst>
              <a:ext uri="{FF2B5EF4-FFF2-40B4-BE49-F238E27FC236}">
                <a16:creationId xmlns:a16="http://schemas.microsoft.com/office/drawing/2014/main" id="{CD5547E4-1DDA-42DC-A2DC-DF8A6E33F02A}"/>
              </a:ext>
            </a:extLst>
          </p:cNvPr>
          <p:cNvSpPr/>
          <p:nvPr/>
        </p:nvSpPr>
        <p:spPr bwMode="auto">
          <a:xfrm>
            <a:off x="5692762" y="3657681"/>
            <a:ext cx="1371569" cy="679450"/>
          </a:xfrm>
          <a:prstGeom prst="roundRect">
            <a:avLst/>
          </a:prstGeom>
          <a:solidFill>
            <a:srgbClr val="CCEC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72" name="Oval 7">
            <a:extLst>
              <a:ext uri="{FF2B5EF4-FFF2-40B4-BE49-F238E27FC236}">
                <a16:creationId xmlns:a16="http://schemas.microsoft.com/office/drawing/2014/main" id="{41CD9E39-0BB2-4CF4-870E-CF5B9BDF28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4612" y="2599491"/>
            <a:ext cx="749300" cy="7493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73" name="Line 9">
            <a:extLst>
              <a:ext uri="{FF2B5EF4-FFF2-40B4-BE49-F238E27FC236}">
                <a16:creationId xmlns:a16="http://schemas.microsoft.com/office/drawing/2014/main" id="{3B5D5838-BED1-4543-85BF-E68725F7B89F}"/>
              </a:ext>
            </a:extLst>
          </p:cNvPr>
          <p:cNvSpPr>
            <a:spLocks noChangeShapeType="1"/>
          </p:cNvSpPr>
          <p:nvPr/>
        </p:nvSpPr>
        <p:spPr bwMode="auto">
          <a:xfrm>
            <a:off x="8236724" y="3355222"/>
            <a:ext cx="0" cy="3111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74" name="Line 10">
            <a:extLst>
              <a:ext uri="{FF2B5EF4-FFF2-40B4-BE49-F238E27FC236}">
                <a16:creationId xmlns:a16="http://schemas.microsoft.com/office/drawing/2014/main" id="{68570B5F-8237-4B27-8B33-6CB70A53B906}"/>
              </a:ext>
            </a:extLst>
          </p:cNvPr>
          <p:cNvSpPr>
            <a:spLocks noChangeShapeType="1"/>
          </p:cNvSpPr>
          <p:nvPr/>
        </p:nvSpPr>
        <p:spPr bwMode="auto">
          <a:xfrm>
            <a:off x="8236724" y="4345822"/>
            <a:ext cx="0" cy="3683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75" name="Rectangle 13">
            <a:extLst>
              <a:ext uri="{FF2B5EF4-FFF2-40B4-BE49-F238E27FC236}">
                <a16:creationId xmlns:a16="http://schemas.microsoft.com/office/drawing/2014/main" id="{7325B334-2C11-449E-9916-501898389F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05243" y="2767806"/>
            <a:ext cx="593112" cy="366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</a:rPr>
              <a:t>Core</a:t>
            </a: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9EDEF3E5-65FA-45F3-951F-3DAFB02C94A1}"/>
              </a:ext>
            </a:extLst>
          </p:cNvPr>
          <p:cNvSpPr/>
          <p:nvPr/>
        </p:nvSpPr>
        <p:spPr>
          <a:xfrm>
            <a:off x="6320613" y="3335506"/>
            <a:ext cx="106679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1400" b="1" dirty="0">
                <a:solidFill>
                  <a:schemeClr val="accent2"/>
                </a:solidFill>
                <a:latin typeface="Arial Narrow" panose="020B0606020202030204" pitchFamily="34" charset="0"/>
              </a:rPr>
              <a:t>CPU action</a:t>
            </a:r>
            <a:endParaRPr lang="zh-CN" altLang="en-US" sz="1400" dirty="0">
              <a:solidFill>
                <a:schemeClr val="accent2"/>
              </a:solidFill>
            </a:endParaRP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21E5251A-A363-461C-9DC6-C9CE986B96BD}"/>
              </a:ext>
            </a:extLst>
          </p:cNvPr>
          <p:cNvSpPr/>
          <p:nvPr/>
        </p:nvSpPr>
        <p:spPr>
          <a:xfrm>
            <a:off x="6320613" y="4386557"/>
            <a:ext cx="96758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1400" b="1" dirty="0">
                <a:solidFill>
                  <a:srgbClr val="92D050"/>
                </a:solidFill>
                <a:latin typeface="Arial Narrow" panose="020B0606020202030204" pitchFamily="34" charset="0"/>
              </a:rPr>
              <a:t>Bus action</a:t>
            </a:r>
            <a:endParaRPr lang="zh-CN" altLang="en-US" sz="1400" dirty="0">
              <a:solidFill>
                <a:srgbClr val="92D050"/>
              </a:solidFill>
            </a:endParaRP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B22C4E31-9354-45D4-923B-82884D9EC8E4}"/>
              </a:ext>
            </a:extLst>
          </p:cNvPr>
          <p:cNvSpPr/>
          <p:nvPr/>
        </p:nvSpPr>
        <p:spPr>
          <a:xfrm>
            <a:off x="8193255" y="3353693"/>
            <a:ext cx="106679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1400" b="1" dirty="0">
                <a:solidFill>
                  <a:schemeClr val="accent2"/>
                </a:solidFill>
                <a:latin typeface="Arial Narrow" panose="020B0606020202030204" pitchFamily="34" charset="0"/>
              </a:rPr>
              <a:t>CPU action</a:t>
            </a:r>
            <a:endParaRPr lang="zh-CN" altLang="en-US" sz="1400" dirty="0">
              <a:solidFill>
                <a:schemeClr val="accent2"/>
              </a:solidFill>
            </a:endParaRP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E6AC795D-FC33-4DBC-BDE3-0FEE466ED3C8}"/>
              </a:ext>
            </a:extLst>
          </p:cNvPr>
          <p:cNvSpPr/>
          <p:nvPr/>
        </p:nvSpPr>
        <p:spPr>
          <a:xfrm>
            <a:off x="8182322" y="4386557"/>
            <a:ext cx="106679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1400" b="1" dirty="0">
                <a:solidFill>
                  <a:srgbClr val="92D050"/>
                </a:solidFill>
                <a:latin typeface="Arial Narrow" panose="020B0606020202030204" pitchFamily="34" charset="0"/>
              </a:rPr>
              <a:t>Bus action</a:t>
            </a:r>
            <a:endParaRPr lang="zh-CN" altLang="en-US" sz="1400" dirty="0">
              <a:solidFill>
                <a:srgbClr val="92D050"/>
              </a:solidFill>
            </a:endParaRP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7CD3EA7F-7201-4C85-9E1D-B725A8499E94}"/>
              </a:ext>
            </a:extLst>
          </p:cNvPr>
          <p:cNvSpPr/>
          <p:nvPr/>
        </p:nvSpPr>
        <p:spPr>
          <a:xfrm>
            <a:off x="5737209" y="3742801"/>
            <a:ext cx="673100" cy="523220"/>
          </a:xfrm>
          <a:prstGeom prst="rect">
            <a:avLst/>
          </a:prstGeom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en-US" sz="1400" dirty="0">
                <a:solidFill>
                  <a:srgbClr val="000000"/>
                </a:solidFill>
                <a:latin typeface="Arial Narrow" panose="020B0606020202030204" pitchFamily="34" charset="0"/>
              </a:rPr>
              <a:t>Cache blocks</a:t>
            </a:r>
            <a:endParaRPr lang="zh-CN" altLang="en-US" sz="1400" dirty="0"/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C711DF37-BF5F-4939-A09F-D1D341A6DF4C}"/>
              </a:ext>
            </a:extLst>
          </p:cNvPr>
          <p:cNvSpPr/>
          <p:nvPr/>
        </p:nvSpPr>
        <p:spPr>
          <a:xfrm>
            <a:off x="6463105" y="3690106"/>
            <a:ext cx="533400" cy="307777"/>
          </a:xfrm>
          <a:prstGeom prst="rect">
            <a:avLst/>
          </a:prstGeom>
          <a:ln w="15875" cmpd="sng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en-US" sz="1400" dirty="0">
                <a:solidFill>
                  <a:srgbClr val="000000"/>
                </a:solidFill>
                <a:latin typeface="Arial Narrow" panose="020B0606020202030204" pitchFamily="34" charset="0"/>
              </a:rPr>
              <a:t>Tags</a:t>
            </a:r>
            <a:endParaRPr lang="zh-CN" altLang="en-US" sz="1400" dirty="0"/>
          </a:p>
        </p:txBody>
      </p:sp>
      <p:sp>
        <p:nvSpPr>
          <p:cNvPr id="82" name="矩形: 圆角 81">
            <a:extLst>
              <a:ext uri="{FF2B5EF4-FFF2-40B4-BE49-F238E27FC236}">
                <a16:creationId xmlns:a16="http://schemas.microsoft.com/office/drawing/2014/main" id="{E7267A33-DB8B-4A2C-8BF8-6EA265BBFEE2}"/>
              </a:ext>
            </a:extLst>
          </p:cNvPr>
          <p:cNvSpPr/>
          <p:nvPr/>
        </p:nvSpPr>
        <p:spPr bwMode="auto">
          <a:xfrm>
            <a:off x="7550939" y="3674170"/>
            <a:ext cx="1371569" cy="679450"/>
          </a:xfrm>
          <a:prstGeom prst="roundRect">
            <a:avLst/>
          </a:prstGeom>
          <a:solidFill>
            <a:srgbClr val="CCEC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0609948D-EC11-4A1B-9BEA-C1E4F1651B73}"/>
              </a:ext>
            </a:extLst>
          </p:cNvPr>
          <p:cNvSpPr/>
          <p:nvPr/>
        </p:nvSpPr>
        <p:spPr>
          <a:xfrm>
            <a:off x="7595386" y="3759290"/>
            <a:ext cx="673100" cy="523220"/>
          </a:xfrm>
          <a:prstGeom prst="rect">
            <a:avLst/>
          </a:prstGeom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en-US" sz="1400" dirty="0">
                <a:solidFill>
                  <a:srgbClr val="000000"/>
                </a:solidFill>
                <a:latin typeface="Arial Narrow" panose="020B0606020202030204" pitchFamily="34" charset="0"/>
              </a:rPr>
              <a:t>Cache blocks</a:t>
            </a:r>
            <a:endParaRPr lang="zh-CN" altLang="en-US" sz="1400" dirty="0"/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9A3CBBD7-FB7A-423C-A316-A0D6E9F019D6}"/>
              </a:ext>
            </a:extLst>
          </p:cNvPr>
          <p:cNvSpPr/>
          <p:nvPr/>
        </p:nvSpPr>
        <p:spPr>
          <a:xfrm>
            <a:off x="8313996" y="3710327"/>
            <a:ext cx="533400" cy="307777"/>
          </a:xfrm>
          <a:prstGeom prst="rect">
            <a:avLst/>
          </a:prstGeom>
          <a:ln w="15875" cmpd="sng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en-US" sz="1400" dirty="0">
                <a:solidFill>
                  <a:srgbClr val="000000"/>
                </a:solidFill>
                <a:latin typeface="Arial Narrow" panose="020B0606020202030204" pitchFamily="34" charset="0"/>
              </a:rPr>
              <a:t>Tags</a:t>
            </a:r>
            <a:endParaRPr lang="zh-CN" altLang="en-US" sz="1400" dirty="0"/>
          </a:p>
        </p:txBody>
      </p:sp>
      <p:sp>
        <p:nvSpPr>
          <p:cNvPr id="85" name="Rectangle">
            <a:extLst>
              <a:ext uri="{FF2B5EF4-FFF2-40B4-BE49-F238E27FC236}">
                <a16:creationId xmlns:a16="http://schemas.microsoft.com/office/drawing/2014/main" id="{34394321-B1A3-4469-BF59-FF03364058C9}"/>
              </a:ext>
            </a:extLst>
          </p:cNvPr>
          <p:cNvSpPr/>
          <p:nvPr/>
        </p:nvSpPr>
        <p:spPr>
          <a:xfrm>
            <a:off x="5638800" y="5527779"/>
            <a:ext cx="3401989" cy="862099"/>
          </a:xfrm>
          <a:prstGeom prst="rect">
            <a:avLst/>
          </a:prstGeom>
          <a:solidFill>
            <a:srgbClr val="FFFFFF">
              <a:alpha val="84174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86" name="Rectangle">
            <a:extLst>
              <a:ext uri="{FF2B5EF4-FFF2-40B4-BE49-F238E27FC236}">
                <a16:creationId xmlns:a16="http://schemas.microsoft.com/office/drawing/2014/main" id="{30E4483F-3015-4FCD-B19A-0578BA480F0A}"/>
              </a:ext>
            </a:extLst>
          </p:cNvPr>
          <p:cNvSpPr/>
          <p:nvPr/>
        </p:nvSpPr>
        <p:spPr>
          <a:xfrm>
            <a:off x="5638801" y="2500012"/>
            <a:ext cx="3554392" cy="869428"/>
          </a:xfrm>
          <a:prstGeom prst="rect">
            <a:avLst/>
          </a:prstGeom>
          <a:solidFill>
            <a:srgbClr val="FFFFFF">
              <a:alpha val="84174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B5662464-2202-439C-B304-234FB256F5D8}"/>
              </a:ext>
            </a:extLst>
          </p:cNvPr>
          <p:cNvSpPr/>
          <p:nvPr/>
        </p:nvSpPr>
        <p:spPr>
          <a:xfrm>
            <a:off x="6463105" y="3994837"/>
            <a:ext cx="533400" cy="307777"/>
          </a:xfrm>
          <a:prstGeom prst="rect">
            <a:avLst/>
          </a:prstGeom>
          <a:ln w="15875" cmpd="sng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en-US" sz="1400" dirty="0">
                <a:solidFill>
                  <a:srgbClr val="000000"/>
                </a:solidFill>
                <a:latin typeface="Arial Narrow" panose="020B0606020202030204" pitchFamily="34" charset="0"/>
              </a:rPr>
              <a:t>Dict.</a:t>
            </a:r>
            <a:endParaRPr lang="zh-CN" altLang="en-US" sz="1400" dirty="0"/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9B6057E2-E669-4F7B-8D10-02EEA2ACF49C}"/>
              </a:ext>
            </a:extLst>
          </p:cNvPr>
          <p:cNvSpPr/>
          <p:nvPr/>
        </p:nvSpPr>
        <p:spPr>
          <a:xfrm>
            <a:off x="8319169" y="4021206"/>
            <a:ext cx="533400" cy="307777"/>
          </a:xfrm>
          <a:prstGeom prst="rect">
            <a:avLst/>
          </a:prstGeom>
          <a:ln w="15875" cmpd="sng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en-US" sz="1400" dirty="0">
                <a:solidFill>
                  <a:srgbClr val="000000"/>
                </a:solidFill>
                <a:latin typeface="Arial Narrow" panose="020B0606020202030204" pitchFamily="34" charset="0"/>
              </a:rPr>
              <a:t>Dict.</a:t>
            </a:r>
            <a:endParaRPr lang="zh-CN" altLang="en-US" sz="1400" dirty="0"/>
          </a:p>
        </p:txBody>
      </p:sp>
      <p:sp>
        <p:nvSpPr>
          <p:cNvPr id="31" name="Rectangle">
            <a:extLst>
              <a:ext uri="{FF2B5EF4-FFF2-40B4-BE49-F238E27FC236}">
                <a16:creationId xmlns:a16="http://schemas.microsoft.com/office/drawing/2014/main" id="{6DD5702B-49ED-47B7-8AB7-1F0EDA517D31}"/>
              </a:ext>
            </a:extLst>
          </p:cNvPr>
          <p:cNvSpPr/>
          <p:nvPr/>
        </p:nvSpPr>
        <p:spPr>
          <a:xfrm>
            <a:off x="304800" y="1349800"/>
            <a:ext cx="5230816" cy="1850600"/>
          </a:xfrm>
          <a:prstGeom prst="rect">
            <a:avLst/>
          </a:prstGeom>
          <a:solidFill>
            <a:srgbClr val="FFFFFF">
              <a:alpha val="84174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9344424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1" name="Title 4"/>
          <p:cNvSpPr>
            <a:spLocks noGrp="1"/>
          </p:cNvSpPr>
          <p:nvPr>
            <p:ph type="ctrTitle"/>
          </p:nvPr>
        </p:nvSpPr>
        <p:spPr>
          <a:xfrm>
            <a:off x="685800" y="1447800"/>
            <a:ext cx="7924800" cy="1752600"/>
          </a:xfrm>
        </p:spPr>
        <p:txBody>
          <a:bodyPr/>
          <a:lstStyle/>
          <a:p>
            <a:r>
              <a:rPr lang="en-US" altLang="en-US" dirty="0">
                <a:ea typeface="ＭＳ Ｐゴシック" charset="-128"/>
              </a:rPr>
              <a:t>Directory-Based Cache Coherence</a:t>
            </a:r>
          </a:p>
        </p:txBody>
      </p:sp>
      <p:sp>
        <p:nvSpPr>
          <p:cNvPr id="112642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buFont typeface="Wingdings" charset="2"/>
              <a:buNone/>
            </a:pPr>
            <a:endParaRPr lang="en-US" altLang="en-US">
              <a:ea typeface="ＭＳ Ｐゴシック" charset="-128"/>
            </a:endParaRPr>
          </a:p>
        </p:txBody>
      </p:sp>
      <p:sp>
        <p:nvSpPr>
          <p:cNvPr id="112643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A12566CE-D7C4-CE4F-8B7A-841558877604}" type="slidenum">
              <a:rPr lang="en-US" altLang="en-US" sz="1200">
                <a:solidFill>
                  <a:srgbClr val="000000"/>
                </a:solidFill>
                <a:latin typeface="Garamond" charset="0"/>
              </a:rPr>
              <a:pPr eaLnBrk="1" hangingPunct="1"/>
              <a:t>30</a:t>
            </a:fld>
            <a:endParaRPr lang="en-US" altLang="en-US" sz="1200">
              <a:solidFill>
                <a:srgbClr val="000000"/>
              </a:solidFill>
              <a:latin typeface="Garamon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4304239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5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8839200" cy="1066800"/>
          </a:xfrm>
        </p:spPr>
        <p:txBody>
          <a:bodyPr/>
          <a:lstStyle/>
          <a:p>
            <a:r>
              <a:rPr lang="en-US" altLang="en-US" dirty="0">
                <a:ea typeface="ＭＳ Ｐゴシック" charset="-128"/>
              </a:rPr>
              <a:t>Directory Based Coherence: Goal and Idea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96950"/>
            <a:ext cx="8610600" cy="5194300"/>
          </a:xfrm>
        </p:spPr>
        <p:txBody>
          <a:bodyPr/>
          <a:lstStyle/>
          <a:p>
            <a:r>
              <a:rPr lang="en-US" altLang="zh-CN" b="1" dirty="0">
                <a:ea typeface="ＭＳ Ｐゴシック" charset="-128"/>
              </a:rPr>
              <a:t>Goal</a:t>
            </a:r>
            <a:r>
              <a:rPr lang="en-US" altLang="zh-CN" dirty="0">
                <a:ea typeface="ＭＳ Ｐゴシック" charset="-128"/>
              </a:rPr>
              <a:t>: address the lack of scalability of snooping protocols.</a:t>
            </a:r>
          </a:p>
          <a:p>
            <a:pPr lvl="1"/>
            <a:r>
              <a:rPr lang="en-US" altLang="zh-CN" dirty="0">
                <a:solidFill>
                  <a:srgbClr val="FF0000"/>
                </a:solidFill>
                <a:ea typeface="ＭＳ Ｐゴシック" charset="-128"/>
              </a:rPr>
              <a:t>All-to-all broadcast will not scale</a:t>
            </a:r>
          </a:p>
          <a:p>
            <a:endParaRPr lang="en-US" altLang="en-US" dirty="0">
              <a:ea typeface="ＭＳ Ｐゴシック" charset="-128"/>
            </a:endParaRPr>
          </a:p>
          <a:p>
            <a:r>
              <a:rPr lang="en-US" altLang="en-US" b="1" dirty="0">
                <a:ea typeface="ＭＳ Ｐゴシック" charset="-128"/>
              </a:rPr>
              <a:t>Idea</a:t>
            </a:r>
            <a:r>
              <a:rPr lang="en-US" altLang="en-US" dirty="0">
                <a:ea typeface="ＭＳ Ｐゴシック" charset="-128"/>
              </a:rPr>
              <a:t>: A logically-central </a:t>
            </a:r>
            <a:r>
              <a:rPr lang="en-US" altLang="en-US" dirty="0">
                <a:solidFill>
                  <a:srgbClr val="0432FF"/>
                </a:solidFill>
                <a:ea typeface="ＭＳ Ｐゴシック" charset="-128"/>
              </a:rPr>
              <a:t>directory</a:t>
            </a:r>
            <a:r>
              <a:rPr lang="en-US" altLang="en-US" dirty="0">
                <a:ea typeface="ＭＳ Ｐゴシック" charset="-128"/>
              </a:rPr>
              <a:t> keeps track of where the copies of each cache block reside. Caches consult this </a:t>
            </a:r>
            <a:r>
              <a:rPr lang="en-US" altLang="en-US" dirty="0">
                <a:solidFill>
                  <a:srgbClr val="0432FF"/>
                </a:solidFill>
                <a:ea typeface="ＭＳ Ｐゴシック" charset="-128"/>
              </a:rPr>
              <a:t>directory</a:t>
            </a:r>
            <a:r>
              <a:rPr lang="en-US" altLang="en-US" dirty="0">
                <a:ea typeface="ＭＳ Ｐゴシック" charset="-128"/>
              </a:rPr>
              <a:t> to ensure coherence. </a:t>
            </a:r>
          </a:p>
          <a:p>
            <a:pPr lvl="1"/>
            <a:r>
              <a:rPr lang="en-US" altLang="en-US" dirty="0">
                <a:solidFill>
                  <a:srgbClr val="0000FF"/>
                </a:solidFill>
                <a:ea typeface="ＭＳ Ｐゴシック" charset="-128"/>
              </a:rPr>
              <a:t>Coherence still requires single point of serialization </a:t>
            </a:r>
            <a:r>
              <a:rPr lang="en-US" altLang="en-US" dirty="0">
                <a:ea typeface="ＭＳ Ｐゴシック" charset="-128"/>
              </a:rPr>
              <a:t>(for write serialization)</a:t>
            </a:r>
          </a:p>
          <a:p>
            <a:pPr lvl="1"/>
            <a:r>
              <a:rPr lang="en-US" altLang="en-US" dirty="0">
                <a:solidFill>
                  <a:srgbClr val="0000FF"/>
                </a:solidFill>
                <a:ea typeface="ＭＳ Ｐゴシック" charset="-128"/>
              </a:rPr>
              <a:t>Serialization location can be different for every block </a:t>
            </a:r>
            <a:r>
              <a:rPr lang="en-US" altLang="en-US" dirty="0">
                <a:ea typeface="ＭＳ Ｐゴシック" charset="-128"/>
              </a:rPr>
              <a:t>(striped across nodes/memory-controllers)</a:t>
            </a:r>
          </a:p>
          <a:p>
            <a:endParaRPr lang="en-US" altLang="en-US" dirty="0">
              <a:ea typeface="ＭＳ Ｐゴシック" charset="-128"/>
            </a:endParaRPr>
          </a:p>
        </p:txBody>
      </p:sp>
      <p:sp>
        <p:nvSpPr>
          <p:cNvPr id="113667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DF1DBEA2-46FD-AF41-AEC4-D2A7B7B98B2D}" type="slidenum">
              <a:rPr lang="en-US" altLang="en-US" sz="1600">
                <a:solidFill>
                  <a:srgbClr val="000000"/>
                </a:solidFill>
                <a:latin typeface="Garamond" charset="0"/>
              </a:rPr>
              <a:pPr eaLnBrk="1" hangingPunct="1"/>
              <a:t>31</a:t>
            </a:fld>
            <a:endParaRPr lang="en-US" altLang="en-US" sz="1600">
              <a:solidFill>
                <a:srgbClr val="000000"/>
              </a:solidFill>
              <a:latin typeface="Garamon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655430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矩形: 圆角 77">
            <a:extLst>
              <a:ext uri="{FF2B5EF4-FFF2-40B4-BE49-F238E27FC236}">
                <a16:creationId xmlns:a16="http://schemas.microsoft.com/office/drawing/2014/main" id="{BF5F3C53-EE21-485E-897E-15C3CA3A11F4}"/>
              </a:ext>
            </a:extLst>
          </p:cNvPr>
          <p:cNvSpPr/>
          <p:nvPr/>
        </p:nvSpPr>
        <p:spPr bwMode="auto">
          <a:xfrm>
            <a:off x="4143177" y="2113550"/>
            <a:ext cx="1371569" cy="679450"/>
          </a:xfrm>
          <a:prstGeom prst="roundRect">
            <a:avLst/>
          </a:prstGeom>
          <a:solidFill>
            <a:srgbClr val="CCEC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zh-CN" dirty="0">
                <a:latin typeface="Arial Narrow" panose="020B0606020202030204" pitchFamily="34" charset="0"/>
              </a:rPr>
              <a:t>Cache</a:t>
            </a: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118785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8458200" cy="685800"/>
          </a:xfrm>
        </p:spPr>
        <p:txBody>
          <a:bodyPr/>
          <a:lstStyle/>
          <a:p>
            <a:r>
              <a:rPr lang="en-US" altLang="en-US" dirty="0">
                <a:ea typeface="ＭＳ Ｐゴシック" charset="-128"/>
              </a:rPr>
              <a:t>Directory: Node Definition</a:t>
            </a:r>
          </a:p>
        </p:txBody>
      </p:sp>
      <p:sp>
        <p:nvSpPr>
          <p:cNvPr id="118787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8240716" y="6318250"/>
            <a:ext cx="669922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AED358C2-D4E2-FB45-9976-71FB6B5F3BC4}" type="slidenum">
              <a:rPr lang="en-US" altLang="en-US" sz="1600">
                <a:solidFill>
                  <a:srgbClr val="000000"/>
                </a:solidFill>
                <a:latin typeface="Garamond" charset="0"/>
              </a:rPr>
              <a:pPr eaLnBrk="1" hangingPunct="1"/>
              <a:t>32</a:t>
            </a:fld>
            <a:endParaRPr lang="en-US" altLang="en-US" sz="1600">
              <a:solidFill>
                <a:srgbClr val="000000"/>
              </a:solidFill>
              <a:latin typeface="Garamond" charset="0"/>
            </a:endParaRPr>
          </a:p>
        </p:txBody>
      </p:sp>
      <p:sp>
        <p:nvSpPr>
          <p:cNvPr id="7" name="内容占位符 35">
            <a:extLst>
              <a:ext uri="{FF2B5EF4-FFF2-40B4-BE49-F238E27FC236}">
                <a16:creationId xmlns:a16="http://schemas.microsoft.com/office/drawing/2014/main" id="{0FF0F80D-6509-4C70-8AFB-6EDF0BE71F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4307" y="3886200"/>
            <a:ext cx="8964613" cy="2514600"/>
          </a:xfrm>
        </p:spPr>
        <p:txBody>
          <a:bodyPr/>
          <a:lstStyle/>
          <a:p>
            <a:r>
              <a:rPr lang="en-US" altLang="zh-CN" dirty="0"/>
              <a:t>Regarding a cache block:</a:t>
            </a:r>
            <a:endParaRPr lang="en-US" altLang="zh-CN" sz="2400" dirty="0"/>
          </a:p>
          <a:p>
            <a:pPr lvl="1"/>
            <a:r>
              <a:rPr lang="en-US" altLang="zh-CN" dirty="0">
                <a:solidFill>
                  <a:srgbClr val="0432FF"/>
                </a:solidFill>
              </a:rPr>
              <a:t>Home Node</a:t>
            </a:r>
            <a:r>
              <a:rPr lang="en-US" altLang="zh-CN" dirty="0"/>
              <a:t>: the node owns the corresponding directory, each</a:t>
            </a:r>
            <a:r>
              <a:rPr lang="zh-CN" altLang="en-US" dirty="0"/>
              <a:t> </a:t>
            </a:r>
            <a:r>
              <a:rPr lang="en-US" altLang="zh-CN" dirty="0"/>
              <a:t>cache block can have different home node.       </a:t>
            </a:r>
          </a:p>
          <a:p>
            <a:pPr lvl="1"/>
            <a:r>
              <a:rPr lang="en-US" altLang="zh-CN" dirty="0">
                <a:solidFill>
                  <a:srgbClr val="0432FF"/>
                </a:solidFill>
              </a:rPr>
              <a:t>Local Node</a:t>
            </a:r>
            <a:r>
              <a:rPr lang="en-US" altLang="zh-CN" dirty="0"/>
              <a:t>: the node initiates the cache read/write requests</a:t>
            </a:r>
          </a:p>
          <a:p>
            <a:pPr lvl="1"/>
            <a:r>
              <a:rPr lang="en-US" altLang="zh-CN" dirty="0">
                <a:solidFill>
                  <a:srgbClr val="0432FF"/>
                </a:solidFill>
              </a:rPr>
              <a:t>Remote Node</a:t>
            </a:r>
            <a:r>
              <a:rPr lang="en-US" altLang="zh-CN" dirty="0"/>
              <a:t>: the node passively responses to the action from the home node</a:t>
            </a:r>
            <a:endParaRPr lang="zh-CN" altLang="en-US" dirty="0"/>
          </a:p>
        </p:txBody>
      </p:sp>
      <p:sp>
        <p:nvSpPr>
          <p:cNvPr id="32" name="Oval 7">
            <a:extLst>
              <a:ext uri="{FF2B5EF4-FFF2-40B4-BE49-F238E27FC236}">
                <a16:creationId xmlns:a16="http://schemas.microsoft.com/office/drawing/2014/main" id="{DC67EC1F-A925-483F-9AC1-FA5E4B1AE7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1524" y="1064070"/>
            <a:ext cx="749300" cy="7493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33" name="Line 9">
            <a:extLst>
              <a:ext uri="{FF2B5EF4-FFF2-40B4-BE49-F238E27FC236}">
                <a16:creationId xmlns:a16="http://schemas.microsoft.com/office/drawing/2014/main" id="{44141B5B-E623-48B2-AC70-05F373557FC0}"/>
              </a:ext>
            </a:extLst>
          </p:cNvPr>
          <p:cNvSpPr>
            <a:spLocks noChangeShapeType="1"/>
          </p:cNvSpPr>
          <p:nvPr/>
        </p:nvSpPr>
        <p:spPr bwMode="auto">
          <a:xfrm>
            <a:off x="3243636" y="1819801"/>
            <a:ext cx="0" cy="3111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34" name="Line 10">
            <a:extLst>
              <a:ext uri="{FF2B5EF4-FFF2-40B4-BE49-F238E27FC236}">
                <a16:creationId xmlns:a16="http://schemas.microsoft.com/office/drawing/2014/main" id="{6FD3B2B8-B6DD-4AA4-928E-5055BBA9C4F3}"/>
              </a:ext>
            </a:extLst>
          </p:cNvPr>
          <p:cNvSpPr>
            <a:spLocks noChangeShapeType="1"/>
          </p:cNvSpPr>
          <p:nvPr/>
        </p:nvSpPr>
        <p:spPr bwMode="auto">
          <a:xfrm>
            <a:off x="3243636" y="2810401"/>
            <a:ext cx="0" cy="3683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36" name="Rectangle 13">
            <a:extLst>
              <a:ext uri="{FF2B5EF4-FFF2-40B4-BE49-F238E27FC236}">
                <a16:creationId xmlns:a16="http://schemas.microsoft.com/office/drawing/2014/main" id="{9F86BCEC-E973-45EF-A1A6-021FEC9307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4203" y="1241076"/>
            <a:ext cx="424797" cy="366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</a:rPr>
              <a:t>C2</a:t>
            </a:r>
          </a:p>
        </p:txBody>
      </p:sp>
      <p:sp>
        <p:nvSpPr>
          <p:cNvPr id="37" name="AutoShape 16">
            <a:extLst>
              <a:ext uri="{FF2B5EF4-FFF2-40B4-BE49-F238E27FC236}">
                <a16:creationId xmlns:a16="http://schemas.microsoft.com/office/drawing/2014/main" id="{48307579-98ED-4F1E-B2DE-637916F983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7620" y="3191401"/>
            <a:ext cx="6860781" cy="465118"/>
          </a:xfrm>
          <a:prstGeom prst="roundRect">
            <a:avLst>
              <a:gd name="adj" fmla="val 12495"/>
            </a:avLst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38" name="Rectangle 17">
            <a:extLst>
              <a:ext uri="{FF2B5EF4-FFF2-40B4-BE49-F238E27FC236}">
                <a16:creationId xmlns:a16="http://schemas.microsoft.com/office/drawing/2014/main" id="{8B1DA094-DA5F-4889-AAFF-32CDE92C7C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3515" y="3244339"/>
            <a:ext cx="2104744" cy="366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  <a:cs typeface="+mn-cs"/>
              </a:rPr>
              <a:t>Switch (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65000"/>
                  </a:schemeClr>
                </a:solidFill>
                <a:effectLst/>
                <a:uLnTx/>
                <a:uFillTx/>
                <a:latin typeface="Arial Narrow" panose="020B0606020202030204" pitchFamily="34" charset="0"/>
              </a:rPr>
              <a:t>peer to peer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  <a:cs typeface="+mn-cs"/>
              </a:rPr>
              <a:t>)</a:t>
            </a: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5C3578BE-8AB4-4F32-942C-19DEB8DD1F10}"/>
              </a:ext>
            </a:extLst>
          </p:cNvPr>
          <p:cNvSpPr/>
          <p:nvPr/>
        </p:nvSpPr>
        <p:spPr bwMode="auto">
          <a:xfrm>
            <a:off x="2551493" y="2130951"/>
            <a:ext cx="1371569" cy="679450"/>
          </a:xfrm>
          <a:prstGeom prst="roundRect">
            <a:avLst/>
          </a:prstGeom>
          <a:solidFill>
            <a:srgbClr val="CCEC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zh-CN" dirty="0">
                <a:latin typeface="Arial Narrow" panose="020B0606020202030204" pitchFamily="34" charset="0"/>
              </a:rPr>
              <a:t>Cache</a:t>
            </a: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64" name="Oval 7">
            <a:extLst>
              <a:ext uri="{FF2B5EF4-FFF2-40B4-BE49-F238E27FC236}">
                <a16:creationId xmlns:a16="http://schemas.microsoft.com/office/drawing/2014/main" id="{E9D3B7CC-CC0B-46B8-AED6-0E7F061225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7651" y="1051844"/>
            <a:ext cx="749300" cy="7493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65" name="Line 9">
            <a:extLst>
              <a:ext uri="{FF2B5EF4-FFF2-40B4-BE49-F238E27FC236}">
                <a16:creationId xmlns:a16="http://schemas.microsoft.com/office/drawing/2014/main" id="{761927B0-4D93-4D4E-B279-9BA3AC91676A}"/>
              </a:ext>
            </a:extLst>
          </p:cNvPr>
          <p:cNvSpPr>
            <a:spLocks noChangeShapeType="1"/>
          </p:cNvSpPr>
          <p:nvPr/>
        </p:nvSpPr>
        <p:spPr bwMode="auto">
          <a:xfrm>
            <a:off x="1669763" y="1807575"/>
            <a:ext cx="0" cy="3111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66" name="Line 10">
            <a:extLst>
              <a:ext uri="{FF2B5EF4-FFF2-40B4-BE49-F238E27FC236}">
                <a16:creationId xmlns:a16="http://schemas.microsoft.com/office/drawing/2014/main" id="{1A6863F4-F416-4AFD-B0C6-F81C3D8EEF49}"/>
              </a:ext>
            </a:extLst>
          </p:cNvPr>
          <p:cNvSpPr>
            <a:spLocks noChangeShapeType="1"/>
          </p:cNvSpPr>
          <p:nvPr/>
        </p:nvSpPr>
        <p:spPr bwMode="auto">
          <a:xfrm>
            <a:off x="1669763" y="2798175"/>
            <a:ext cx="0" cy="3683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67" name="Rectangle 13">
            <a:extLst>
              <a:ext uri="{FF2B5EF4-FFF2-40B4-BE49-F238E27FC236}">
                <a16:creationId xmlns:a16="http://schemas.microsoft.com/office/drawing/2014/main" id="{554EB754-274E-4EB4-8AD9-2DF11C63B4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0330" y="1228850"/>
            <a:ext cx="424797" cy="366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</a:rPr>
              <a:t>C1</a:t>
            </a:r>
          </a:p>
        </p:txBody>
      </p:sp>
      <p:sp>
        <p:nvSpPr>
          <p:cNvPr id="68" name="矩形: 圆角 67">
            <a:extLst>
              <a:ext uri="{FF2B5EF4-FFF2-40B4-BE49-F238E27FC236}">
                <a16:creationId xmlns:a16="http://schemas.microsoft.com/office/drawing/2014/main" id="{ED8DDC0F-AFA9-4718-9BDC-3B8F8B3DB64E}"/>
              </a:ext>
            </a:extLst>
          </p:cNvPr>
          <p:cNvSpPr/>
          <p:nvPr/>
        </p:nvSpPr>
        <p:spPr bwMode="auto">
          <a:xfrm>
            <a:off x="977620" y="2118725"/>
            <a:ext cx="1371569" cy="679450"/>
          </a:xfrm>
          <a:prstGeom prst="roundRect">
            <a:avLst/>
          </a:prstGeom>
          <a:solidFill>
            <a:srgbClr val="CCEC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Cache</a:t>
            </a: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69" name="Oval 7">
            <a:extLst>
              <a:ext uri="{FF2B5EF4-FFF2-40B4-BE49-F238E27FC236}">
                <a16:creationId xmlns:a16="http://schemas.microsoft.com/office/drawing/2014/main" id="{42E8885E-6C42-407C-80A3-FC01AC15B8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7081" y="1058895"/>
            <a:ext cx="749300" cy="7493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70" name="Line 9">
            <a:extLst>
              <a:ext uri="{FF2B5EF4-FFF2-40B4-BE49-F238E27FC236}">
                <a16:creationId xmlns:a16="http://schemas.microsoft.com/office/drawing/2014/main" id="{52CE6BCF-93B4-4BEC-8D07-1B322CECDA82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9193" y="1814626"/>
            <a:ext cx="0" cy="3111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71" name="Line 10">
            <a:extLst>
              <a:ext uri="{FF2B5EF4-FFF2-40B4-BE49-F238E27FC236}">
                <a16:creationId xmlns:a16="http://schemas.microsoft.com/office/drawing/2014/main" id="{1C584A1F-D17F-450E-942D-C8255A2CAAA3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9193" y="2805226"/>
            <a:ext cx="0" cy="3683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72" name="Rectangle 13">
            <a:extLst>
              <a:ext uri="{FF2B5EF4-FFF2-40B4-BE49-F238E27FC236}">
                <a16:creationId xmlns:a16="http://schemas.microsoft.com/office/drawing/2014/main" id="{299D76AA-CE99-4FCD-9455-5F04471FBB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9760" y="1235901"/>
            <a:ext cx="424797" cy="366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</a:rPr>
              <a:t>C4</a:t>
            </a:r>
          </a:p>
        </p:txBody>
      </p:sp>
      <p:sp>
        <p:nvSpPr>
          <p:cNvPr id="73" name="矩形: 圆角 72">
            <a:extLst>
              <a:ext uri="{FF2B5EF4-FFF2-40B4-BE49-F238E27FC236}">
                <a16:creationId xmlns:a16="http://schemas.microsoft.com/office/drawing/2014/main" id="{93057970-017A-4F4B-9BD6-2E395B9F653F}"/>
              </a:ext>
            </a:extLst>
          </p:cNvPr>
          <p:cNvSpPr/>
          <p:nvPr/>
        </p:nvSpPr>
        <p:spPr bwMode="auto">
          <a:xfrm>
            <a:off x="5717050" y="2125776"/>
            <a:ext cx="1371569" cy="679450"/>
          </a:xfrm>
          <a:prstGeom prst="roundRect">
            <a:avLst/>
          </a:prstGeom>
          <a:solidFill>
            <a:srgbClr val="CCEC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zh-CN" dirty="0">
                <a:latin typeface="Arial Narrow" panose="020B0606020202030204" pitchFamily="34" charset="0"/>
              </a:rPr>
              <a:t>Cache</a:t>
            </a: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74" name="Oval 7">
            <a:extLst>
              <a:ext uri="{FF2B5EF4-FFF2-40B4-BE49-F238E27FC236}">
                <a16:creationId xmlns:a16="http://schemas.microsoft.com/office/drawing/2014/main" id="{92DA491D-7521-4779-9703-1921BEB295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3208" y="1046669"/>
            <a:ext cx="749300" cy="7493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75" name="Line 9">
            <a:extLst>
              <a:ext uri="{FF2B5EF4-FFF2-40B4-BE49-F238E27FC236}">
                <a16:creationId xmlns:a16="http://schemas.microsoft.com/office/drawing/2014/main" id="{EF65B723-32B4-495C-9F9C-549E4BDA9348}"/>
              </a:ext>
            </a:extLst>
          </p:cNvPr>
          <p:cNvSpPr>
            <a:spLocks noChangeShapeType="1"/>
          </p:cNvSpPr>
          <p:nvPr/>
        </p:nvSpPr>
        <p:spPr bwMode="auto">
          <a:xfrm>
            <a:off x="4835320" y="1802400"/>
            <a:ext cx="0" cy="3111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76" name="Line 10">
            <a:extLst>
              <a:ext uri="{FF2B5EF4-FFF2-40B4-BE49-F238E27FC236}">
                <a16:creationId xmlns:a16="http://schemas.microsoft.com/office/drawing/2014/main" id="{7F03F7D1-A57D-40E7-9D63-C68504CCEA5B}"/>
              </a:ext>
            </a:extLst>
          </p:cNvPr>
          <p:cNvSpPr>
            <a:spLocks noChangeShapeType="1"/>
          </p:cNvSpPr>
          <p:nvPr/>
        </p:nvSpPr>
        <p:spPr bwMode="auto">
          <a:xfrm>
            <a:off x="4835320" y="2793000"/>
            <a:ext cx="0" cy="3683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77" name="Rectangle 13">
            <a:extLst>
              <a:ext uri="{FF2B5EF4-FFF2-40B4-BE49-F238E27FC236}">
                <a16:creationId xmlns:a16="http://schemas.microsoft.com/office/drawing/2014/main" id="{C714C0FC-7261-4900-ABE0-2C7B08DDD7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95887" y="1223675"/>
            <a:ext cx="424797" cy="366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</a:rPr>
              <a:t>C3</a:t>
            </a:r>
          </a:p>
        </p:txBody>
      </p:sp>
      <p:sp>
        <p:nvSpPr>
          <p:cNvPr id="118788" name="矩形 118787">
            <a:extLst>
              <a:ext uri="{FF2B5EF4-FFF2-40B4-BE49-F238E27FC236}">
                <a16:creationId xmlns:a16="http://schemas.microsoft.com/office/drawing/2014/main" id="{2AF0D5B3-2E0C-4B11-8078-6E068D63A822}"/>
              </a:ext>
            </a:extLst>
          </p:cNvPr>
          <p:cNvSpPr/>
          <p:nvPr/>
        </p:nvSpPr>
        <p:spPr>
          <a:xfrm>
            <a:off x="7243375" y="1609670"/>
            <a:ext cx="59503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dirty="0"/>
              <a:t>…</a:t>
            </a:r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4213052938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charset="-128"/>
              </a:rPr>
              <a:t>Directory: Basic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96950"/>
            <a:ext cx="8610600" cy="5099050"/>
          </a:xfrm>
        </p:spPr>
        <p:txBody>
          <a:bodyPr/>
          <a:lstStyle/>
          <a:p>
            <a:r>
              <a:rPr lang="en-US" altLang="en-US" b="1" dirty="0">
                <a:ea typeface="ＭＳ Ｐゴシック" charset="-128"/>
              </a:rPr>
              <a:t>Local node</a:t>
            </a:r>
            <a:r>
              <a:rPr lang="en-US" altLang="en-US" dirty="0">
                <a:ea typeface="ＭＳ Ｐゴシック" charset="-128"/>
              </a:rPr>
              <a:t>: </a:t>
            </a:r>
          </a:p>
          <a:p>
            <a:pPr lvl="1"/>
            <a:r>
              <a:rPr lang="en-US" altLang="en-US" b="1" dirty="0">
                <a:ea typeface="ＭＳ Ｐゴシック" charset="-128"/>
              </a:rPr>
              <a:t>On a bus read</a:t>
            </a:r>
            <a:r>
              <a:rPr lang="en-US" altLang="en-US" dirty="0">
                <a:ea typeface="ＭＳ Ｐゴシック" charset="-128"/>
              </a:rPr>
              <a:t>: send out </a:t>
            </a:r>
            <a:r>
              <a:rPr lang="en-US" altLang="en-US" i="1" dirty="0" err="1">
                <a:ea typeface="ＭＳ Ｐゴシック" charset="-128"/>
              </a:rPr>
              <a:t>getS</a:t>
            </a:r>
            <a:r>
              <a:rPr lang="en-US" altLang="en-US" dirty="0">
                <a:ea typeface="ＭＳ Ｐゴシック" charset="-128"/>
              </a:rPr>
              <a:t> request to home node, after receiving the data, set the cache’s bit.</a:t>
            </a:r>
          </a:p>
          <a:p>
            <a:pPr lvl="1"/>
            <a:r>
              <a:rPr lang="en-US" altLang="en-US" b="1" dirty="0">
                <a:ea typeface="ＭＳ Ｐゴシック" charset="-128"/>
              </a:rPr>
              <a:t>On a bus write</a:t>
            </a:r>
            <a:r>
              <a:rPr lang="en-US" altLang="en-US" dirty="0">
                <a:ea typeface="ＭＳ Ｐゴシック" charset="-128"/>
              </a:rPr>
              <a:t>: send out </a:t>
            </a:r>
            <a:r>
              <a:rPr lang="en-US" altLang="zh-CN" i="1" dirty="0" err="1">
                <a:ea typeface="ＭＳ Ｐゴシック" charset="-128"/>
              </a:rPr>
              <a:t>getEx</a:t>
            </a:r>
            <a:r>
              <a:rPr lang="en-US" altLang="zh-CN" i="1" dirty="0">
                <a:ea typeface="ＭＳ Ｐゴシック" charset="-128"/>
              </a:rPr>
              <a:t> </a:t>
            </a:r>
            <a:r>
              <a:rPr lang="en-US" altLang="en-US" dirty="0">
                <a:ea typeface="ＭＳ Ｐゴシック" charset="-128"/>
              </a:rPr>
              <a:t>request to home node</a:t>
            </a:r>
            <a:endParaRPr lang="en-US" altLang="en-US" i="1" dirty="0">
              <a:ea typeface="ＭＳ Ｐゴシック" charset="-128"/>
            </a:endParaRPr>
          </a:p>
          <a:p>
            <a:pPr lvl="2"/>
            <a:r>
              <a:rPr lang="en-US" altLang="en-US" dirty="0">
                <a:ea typeface="ＭＳ Ｐゴシック" charset="-128"/>
              </a:rPr>
              <a:t>invalidate all caches that have the block and reset their bits</a:t>
            </a:r>
          </a:p>
          <a:p>
            <a:pPr lvl="2"/>
            <a:r>
              <a:rPr lang="en-US" altLang="en-US" dirty="0">
                <a:ea typeface="ＭＳ Ｐゴシック" charset="-128"/>
              </a:rPr>
              <a:t>Have an “exclusive bit” associated with each block in each cache</a:t>
            </a:r>
          </a:p>
          <a:p>
            <a:pPr lvl="1"/>
            <a:endParaRPr lang="en-US" altLang="en-US" dirty="0">
              <a:ea typeface="ＭＳ Ｐゴシック" charset="-128"/>
            </a:endParaRPr>
          </a:p>
          <a:p>
            <a:r>
              <a:rPr lang="en-US" altLang="en-US" b="1" dirty="0">
                <a:ea typeface="ＭＳ Ｐゴシック" charset="-128"/>
              </a:rPr>
              <a:t>Directory </a:t>
            </a:r>
            <a:r>
              <a:rPr lang="en-US" altLang="zh-CN" b="1" dirty="0">
                <a:ea typeface="ＭＳ Ｐゴシック" charset="-128"/>
              </a:rPr>
              <a:t>node</a:t>
            </a:r>
            <a:r>
              <a:rPr lang="en-US" altLang="en-US" dirty="0">
                <a:ea typeface="ＭＳ Ｐゴシック" charset="-128"/>
              </a:rPr>
              <a:t>: </a:t>
            </a:r>
          </a:p>
          <a:p>
            <a:pPr lvl="1"/>
            <a:r>
              <a:rPr lang="en-US" altLang="en-US" dirty="0">
                <a:ea typeface="ＭＳ Ｐゴシック" charset="-128"/>
              </a:rPr>
              <a:t>1, Receives </a:t>
            </a:r>
            <a:r>
              <a:rPr lang="en-US" altLang="en-US" i="1" dirty="0" err="1">
                <a:ea typeface="ＭＳ Ｐゴシック" charset="-128"/>
              </a:rPr>
              <a:t>getS</a:t>
            </a:r>
            <a:r>
              <a:rPr lang="en-US" altLang="en-US" i="1" dirty="0">
                <a:ea typeface="ＭＳ Ｐゴシック" charset="-128"/>
              </a:rPr>
              <a:t>, </a:t>
            </a:r>
            <a:r>
              <a:rPr lang="en-US" altLang="en-US" i="1" dirty="0" err="1">
                <a:ea typeface="ＭＳ Ｐゴシック" charset="-128"/>
              </a:rPr>
              <a:t>getEx</a:t>
            </a:r>
            <a:r>
              <a:rPr lang="en-US" altLang="en-US" i="1" dirty="0">
                <a:ea typeface="ＭＳ Ｐゴシック" charset="-128"/>
              </a:rPr>
              <a:t> </a:t>
            </a:r>
            <a:r>
              <a:rPr lang="en-US" altLang="en-US" dirty="0">
                <a:ea typeface="ＭＳ Ｐゴシック" charset="-128"/>
              </a:rPr>
              <a:t>requests from nodes </a:t>
            </a:r>
          </a:p>
          <a:p>
            <a:pPr lvl="1"/>
            <a:r>
              <a:rPr lang="en-US" altLang="en-US" dirty="0">
                <a:ea typeface="ＭＳ Ｐゴシック" charset="-128"/>
              </a:rPr>
              <a:t>2, Based on different cache states: </a:t>
            </a:r>
          </a:p>
          <a:p>
            <a:pPr lvl="2"/>
            <a:r>
              <a:rPr lang="en-US" altLang="en-US" dirty="0">
                <a:ea typeface="ＭＳ Ｐゴシック" charset="-128"/>
              </a:rPr>
              <a:t>2a, Sends </a:t>
            </a:r>
            <a:r>
              <a:rPr lang="en-US" altLang="en-US" i="1" dirty="0">
                <a:ea typeface="ＭＳ Ｐゴシック" charset="-128"/>
              </a:rPr>
              <a:t>Invalidate </a:t>
            </a:r>
            <a:r>
              <a:rPr lang="en-US" altLang="en-US" dirty="0">
                <a:ea typeface="ＭＳ Ｐゴシック" charset="-128"/>
              </a:rPr>
              <a:t>messages to sharers if “Shared”</a:t>
            </a:r>
          </a:p>
          <a:p>
            <a:pPr lvl="2"/>
            <a:r>
              <a:rPr lang="en-US" altLang="en-US" dirty="0">
                <a:ea typeface="ＭＳ Ｐゴシック" charset="-128"/>
              </a:rPr>
              <a:t>2b, Forwards request to memory if “Not valid” </a:t>
            </a:r>
          </a:p>
          <a:p>
            <a:pPr lvl="1"/>
            <a:r>
              <a:rPr lang="en-US" altLang="en-US" dirty="0">
                <a:ea typeface="ＭＳ Ｐゴシック" charset="-128"/>
              </a:rPr>
              <a:t>3, Replies to requestor and updates sharing states </a:t>
            </a:r>
          </a:p>
        </p:txBody>
      </p:sp>
      <p:sp>
        <p:nvSpPr>
          <p:cNvPr id="118787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AED358C2-D4E2-FB45-9976-71FB6B5F3BC4}" type="slidenum">
              <a:rPr lang="en-US" altLang="en-US" sz="1600">
                <a:solidFill>
                  <a:srgbClr val="000000"/>
                </a:solidFill>
                <a:latin typeface="Garamond" charset="0"/>
              </a:rPr>
              <a:pPr eaLnBrk="1" hangingPunct="1"/>
              <a:t>33</a:t>
            </a:fld>
            <a:endParaRPr lang="en-US" altLang="en-US" sz="1600">
              <a:solidFill>
                <a:srgbClr val="000000"/>
              </a:solidFill>
              <a:latin typeface="Garamon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926679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ea typeface="ＭＳ Ｐゴシック" charset="-128"/>
              </a:rPr>
              <a:t>Directory </a:t>
            </a:r>
            <a:r>
              <a:rPr lang="en-US" altLang="zh-CN" dirty="0">
                <a:ea typeface="ＭＳ Ｐゴシック" charset="-128"/>
              </a:rPr>
              <a:t>for Each Cache Line</a:t>
            </a:r>
            <a:endParaRPr lang="en-US" altLang="en-US" dirty="0">
              <a:ea typeface="ＭＳ Ｐゴシック" charset="-12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5056" y="2721372"/>
            <a:ext cx="8610600" cy="3527028"/>
          </a:xfrm>
        </p:spPr>
        <p:txBody>
          <a:bodyPr/>
          <a:lstStyle/>
          <a:p>
            <a:r>
              <a:rPr lang="en-US" altLang="en-US" b="1" dirty="0">
                <a:ea typeface="ＭＳ Ｐゴシック" charset="-128"/>
              </a:rPr>
              <a:t>Detailed directory for each cache line</a:t>
            </a:r>
            <a:r>
              <a:rPr lang="en-US" altLang="en-US" dirty="0">
                <a:ea typeface="ＭＳ Ｐゴシック" charset="-128"/>
              </a:rPr>
              <a:t>:</a:t>
            </a:r>
          </a:p>
          <a:p>
            <a:pPr lvl="1"/>
            <a:r>
              <a:rPr lang="en-US" altLang="en-US" dirty="0">
                <a:ea typeface="ＭＳ Ｐゴシック" charset="-128"/>
              </a:rPr>
              <a:t>Each cache block needs </a:t>
            </a:r>
            <a:r>
              <a:rPr lang="en-US" altLang="en-US" dirty="0">
                <a:solidFill>
                  <a:srgbClr val="0432FF"/>
                </a:solidFill>
                <a:ea typeface="ＭＳ Ｐゴシック" charset="-128"/>
              </a:rPr>
              <a:t>N+log</a:t>
            </a:r>
            <a:r>
              <a:rPr lang="en-US" altLang="en-US" sz="1100" dirty="0">
                <a:solidFill>
                  <a:srgbClr val="0432FF"/>
                </a:solidFill>
                <a:ea typeface="ＭＳ Ｐゴシック" charset="-128"/>
              </a:rPr>
              <a:t>2</a:t>
            </a:r>
            <a:r>
              <a:rPr lang="en-US" altLang="en-US" dirty="0">
                <a:solidFill>
                  <a:srgbClr val="0432FF"/>
                </a:solidFill>
                <a:ea typeface="ＭＳ Ｐゴシック" charset="-128"/>
              </a:rPr>
              <a:t>N + 2 </a:t>
            </a:r>
            <a:r>
              <a:rPr lang="en-US" altLang="en-US" dirty="0">
                <a:ea typeface="ＭＳ Ｐゴシック" charset="-128"/>
              </a:rPr>
              <a:t>bits for its directory, which resides at the home node.</a:t>
            </a:r>
          </a:p>
          <a:p>
            <a:pPr lvl="2"/>
            <a:r>
              <a:rPr lang="en-US" altLang="en-US" dirty="0">
                <a:solidFill>
                  <a:srgbClr val="0432FF"/>
                </a:solidFill>
                <a:ea typeface="ＭＳ Ｐゴシック" charset="-128"/>
              </a:rPr>
              <a:t>2-bit cache states</a:t>
            </a:r>
            <a:r>
              <a:rPr lang="en-US" altLang="en-US" dirty="0">
                <a:ea typeface="ＭＳ Ｐゴシック" charset="-128"/>
              </a:rPr>
              <a:t>: a block is owned by the directory unless the block is in a cache in state M. State M means a node writes to it.</a:t>
            </a:r>
          </a:p>
          <a:p>
            <a:pPr lvl="2"/>
            <a:r>
              <a:rPr lang="en-US" altLang="en-US" dirty="0">
                <a:solidFill>
                  <a:srgbClr val="0432FF"/>
                </a:solidFill>
                <a:ea typeface="ＭＳ Ｐゴシック" charset="-128"/>
              </a:rPr>
              <a:t>One shared bit for each cache</a:t>
            </a:r>
            <a:r>
              <a:rPr lang="en-US" altLang="en-US" dirty="0">
                <a:ea typeface="ＭＳ Ｐゴシック" charset="-128"/>
              </a:rPr>
              <a:t>: indicating whether the block is shared in a cache</a:t>
            </a:r>
          </a:p>
          <a:p>
            <a:pPr lvl="2"/>
            <a:r>
              <a:rPr lang="en-US" altLang="en-US" dirty="0">
                <a:solidFill>
                  <a:srgbClr val="0432FF"/>
                </a:solidFill>
                <a:ea typeface="ＭＳ Ｐゴシック" charset="-128"/>
              </a:rPr>
              <a:t>log</a:t>
            </a:r>
            <a:r>
              <a:rPr lang="en-US" altLang="en-US" sz="1050" dirty="0">
                <a:solidFill>
                  <a:srgbClr val="0432FF"/>
                </a:solidFill>
                <a:ea typeface="ＭＳ Ｐゴシック" charset="-128"/>
              </a:rPr>
              <a:t>2</a:t>
            </a:r>
            <a:r>
              <a:rPr lang="en-US" altLang="en-US" dirty="0">
                <a:solidFill>
                  <a:srgbClr val="0432FF"/>
                </a:solidFill>
                <a:ea typeface="ＭＳ Ｐゴシック" charset="-128"/>
              </a:rPr>
              <a:t>N </a:t>
            </a:r>
            <a:r>
              <a:rPr lang="en-US" altLang="zh-CN" dirty="0">
                <a:solidFill>
                  <a:srgbClr val="0432FF"/>
                </a:solidFill>
                <a:ea typeface="ＭＳ Ｐゴシック" charset="-128"/>
              </a:rPr>
              <a:t>owner</a:t>
            </a:r>
            <a:r>
              <a:rPr lang="en-US" altLang="en-US" dirty="0">
                <a:solidFill>
                  <a:srgbClr val="0432FF"/>
                </a:solidFill>
                <a:ea typeface="ＭＳ Ｐゴシック" charset="-128"/>
              </a:rPr>
              <a:t> bit</a:t>
            </a:r>
            <a:r>
              <a:rPr lang="en-US" altLang="en-US" dirty="0">
                <a:ea typeface="ＭＳ Ｐゴシック" charset="-128"/>
              </a:rPr>
              <a:t>: indicates that the cache that has the only copy of the block and can update it without notifying others</a:t>
            </a:r>
          </a:p>
        </p:txBody>
      </p:sp>
      <p:sp>
        <p:nvSpPr>
          <p:cNvPr id="113667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DF1DBEA2-46FD-AF41-AEC4-D2A7B7B98B2D}" type="slidenum">
              <a:rPr lang="en-US" altLang="en-US" sz="1600">
                <a:solidFill>
                  <a:srgbClr val="000000"/>
                </a:solidFill>
                <a:latin typeface="Garamond" charset="0"/>
              </a:rPr>
              <a:pPr eaLnBrk="1" hangingPunct="1"/>
              <a:t>34</a:t>
            </a:fld>
            <a:endParaRPr lang="en-US" altLang="en-US" sz="1600">
              <a:solidFill>
                <a:srgbClr val="000000"/>
              </a:solidFill>
              <a:latin typeface="Garamond" charset="0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1A9FE8A8-289C-4352-B944-1AC832557A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8915772"/>
              </p:ext>
            </p:extLst>
          </p:nvPr>
        </p:nvGraphicFramePr>
        <p:xfrm>
          <a:off x="1600200" y="1818362"/>
          <a:ext cx="6096000" cy="3708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149994169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754506692"/>
                    </a:ext>
                  </a:extLst>
                </a:gridCol>
                <a:gridCol w="3124200">
                  <a:extLst>
                    <a:ext uri="{9D8B030D-6E8A-4147-A177-3AD203B41FA5}">
                      <a16:colId xmlns:a16="http://schemas.microsoft.com/office/drawing/2014/main" val="39639652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 states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Owner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Sharer list (one-hot bit vector)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51164563"/>
                  </a:ext>
                </a:extLst>
              </a:tr>
            </a:tbl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63FD892F-9341-45E6-A43F-EDAD4A3860FC}"/>
              </a:ext>
            </a:extLst>
          </p:cNvPr>
          <p:cNvSpPr/>
          <p:nvPr/>
        </p:nvSpPr>
        <p:spPr>
          <a:xfrm>
            <a:off x="1981200" y="1427202"/>
            <a:ext cx="5181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dirty="0">
                <a:solidFill>
                  <a:schemeClr val="bg2">
                    <a:lumMod val="60000"/>
                    <a:lumOff val="40000"/>
                  </a:schemeClr>
                </a:solidFill>
                <a:ea typeface="ＭＳ Ｐゴシック" charset="-128"/>
              </a:rPr>
              <a:t>2-bit</a:t>
            </a:r>
            <a:r>
              <a:rPr lang="en-US" altLang="en-US" dirty="0">
                <a:ea typeface="ＭＳ Ｐゴシック" charset="-128"/>
              </a:rPr>
              <a:t>            </a:t>
            </a:r>
            <a:r>
              <a:rPr lang="en-US" altLang="en-US" dirty="0">
                <a:solidFill>
                  <a:schemeClr val="bg2">
                    <a:lumMod val="60000"/>
                    <a:lumOff val="40000"/>
                  </a:schemeClr>
                </a:solidFill>
                <a:ea typeface="ＭＳ Ｐゴシック" charset="-128"/>
              </a:rPr>
              <a:t>log</a:t>
            </a:r>
            <a:r>
              <a:rPr lang="en-US" altLang="en-US" sz="1050" dirty="0">
                <a:solidFill>
                  <a:schemeClr val="bg2">
                    <a:lumMod val="60000"/>
                    <a:lumOff val="40000"/>
                  </a:schemeClr>
                </a:solidFill>
                <a:ea typeface="ＭＳ Ｐゴシック" charset="-128"/>
              </a:rPr>
              <a:t>2</a:t>
            </a:r>
            <a:r>
              <a:rPr lang="en-US" altLang="en-US" dirty="0">
                <a:solidFill>
                  <a:schemeClr val="bg2">
                    <a:lumMod val="60000"/>
                    <a:lumOff val="40000"/>
                  </a:schemeClr>
                </a:solidFill>
                <a:ea typeface="ＭＳ Ｐゴシック" charset="-128"/>
              </a:rPr>
              <a:t>N-bit                        N-bit</a:t>
            </a:r>
            <a:r>
              <a:rPr lang="en-US" altLang="en-US" dirty="0">
                <a:ea typeface="ＭＳ Ｐゴシック" charset="-128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078002524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矩形: 圆角 77">
            <a:extLst>
              <a:ext uri="{FF2B5EF4-FFF2-40B4-BE49-F238E27FC236}">
                <a16:creationId xmlns:a16="http://schemas.microsoft.com/office/drawing/2014/main" id="{BF5F3C53-EE21-485E-897E-15C3CA3A11F4}"/>
              </a:ext>
            </a:extLst>
          </p:cNvPr>
          <p:cNvSpPr/>
          <p:nvPr/>
        </p:nvSpPr>
        <p:spPr bwMode="auto">
          <a:xfrm>
            <a:off x="4143177" y="2113550"/>
            <a:ext cx="1371569" cy="679450"/>
          </a:xfrm>
          <a:prstGeom prst="roundRect">
            <a:avLst/>
          </a:prstGeom>
          <a:solidFill>
            <a:srgbClr val="CCEC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118785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8458200" cy="685800"/>
          </a:xfrm>
        </p:spPr>
        <p:txBody>
          <a:bodyPr/>
          <a:lstStyle/>
          <a:p>
            <a:r>
              <a:rPr lang="en-US" altLang="en-US" dirty="0">
                <a:ea typeface="ＭＳ Ｐゴシック" charset="-128"/>
              </a:rPr>
              <a:t>How </a:t>
            </a:r>
            <a:r>
              <a:rPr lang="en-US" altLang="zh-CN" dirty="0"/>
              <a:t>Directory</a:t>
            </a:r>
            <a:r>
              <a:rPr lang="en-US" altLang="en-US" dirty="0">
                <a:ea typeface="ＭＳ Ｐゴシック" charset="-128"/>
              </a:rPr>
              <a:t> Works? </a:t>
            </a:r>
          </a:p>
        </p:txBody>
      </p:sp>
      <p:sp>
        <p:nvSpPr>
          <p:cNvPr id="118787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AED358C2-D4E2-FB45-9976-71FB6B5F3BC4}" type="slidenum">
              <a:rPr lang="en-US" altLang="en-US" sz="1600">
                <a:solidFill>
                  <a:srgbClr val="000000"/>
                </a:solidFill>
                <a:latin typeface="Garamond" charset="0"/>
              </a:rPr>
              <a:pPr eaLnBrk="1" hangingPunct="1"/>
              <a:t>35</a:t>
            </a:fld>
            <a:endParaRPr lang="en-US" altLang="en-US" sz="1600">
              <a:solidFill>
                <a:srgbClr val="000000"/>
              </a:solidFill>
              <a:latin typeface="Garamond" charset="0"/>
            </a:endParaRPr>
          </a:p>
        </p:txBody>
      </p:sp>
      <p:sp>
        <p:nvSpPr>
          <p:cNvPr id="32" name="Oval 7">
            <a:extLst>
              <a:ext uri="{FF2B5EF4-FFF2-40B4-BE49-F238E27FC236}">
                <a16:creationId xmlns:a16="http://schemas.microsoft.com/office/drawing/2014/main" id="{DC67EC1F-A925-483F-9AC1-FA5E4B1AE7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1524" y="1064070"/>
            <a:ext cx="749300" cy="7493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33" name="Line 9">
            <a:extLst>
              <a:ext uri="{FF2B5EF4-FFF2-40B4-BE49-F238E27FC236}">
                <a16:creationId xmlns:a16="http://schemas.microsoft.com/office/drawing/2014/main" id="{44141B5B-E623-48B2-AC70-05F373557FC0}"/>
              </a:ext>
            </a:extLst>
          </p:cNvPr>
          <p:cNvSpPr>
            <a:spLocks noChangeShapeType="1"/>
          </p:cNvSpPr>
          <p:nvPr/>
        </p:nvSpPr>
        <p:spPr bwMode="auto">
          <a:xfrm>
            <a:off x="3243636" y="1819801"/>
            <a:ext cx="0" cy="3111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34" name="Line 10">
            <a:extLst>
              <a:ext uri="{FF2B5EF4-FFF2-40B4-BE49-F238E27FC236}">
                <a16:creationId xmlns:a16="http://schemas.microsoft.com/office/drawing/2014/main" id="{6FD3B2B8-B6DD-4AA4-928E-5055BBA9C4F3}"/>
              </a:ext>
            </a:extLst>
          </p:cNvPr>
          <p:cNvSpPr>
            <a:spLocks noChangeShapeType="1"/>
          </p:cNvSpPr>
          <p:nvPr/>
        </p:nvSpPr>
        <p:spPr bwMode="auto">
          <a:xfrm>
            <a:off x="3243636" y="2810401"/>
            <a:ext cx="0" cy="3683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36" name="Rectangle 13">
            <a:extLst>
              <a:ext uri="{FF2B5EF4-FFF2-40B4-BE49-F238E27FC236}">
                <a16:creationId xmlns:a16="http://schemas.microsoft.com/office/drawing/2014/main" id="{9F86BCEC-E973-45EF-A1A6-021FEC9307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4203" y="1241076"/>
            <a:ext cx="424797" cy="366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</a:rPr>
              <a:t>C2</a:t>
            </a:r>
          </a:p>
        </p:txBody>
      </p:sp>
      <p:sp>
        <p:nvSpPr>
          <p:cNvPr id="37" name="AutoShape 16">
            <a:extLst>
              <a:ext uri="{FF2B5EF4-FFF2-40B4-BE49-F238E27FC236}">
                <a16:creationId xmlns:a16="http://schemas.microsoft.com/office/drawing/2014/main" id="{48307579-98ED-4F1E-B2DE-637916F983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7620" y="3191401"/>
            <a:ext cx="6860781" cy="465118"/>
          </a:xfrm>
          <a:prstGeom prst="roundRect">
            <a:avLst>
              <a:gd name="adj" fmla="val 12495"/>
            </a:avLst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38" name="Rectangle 17">
            <a:extLst>
              <a:ext uri="{FF2B5EF4-FFF2-40B4-BE49-F238E27FC236}">
                <a16:creationId xmlns:a16="http://schemas.microsoft.com/office/drawing/2014/main" id="{8B1DA094-DA5F-4889-AAFF-32CDE92C7C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3515" y="3244339"/>
            <a:ext cx="2104744" cy="366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  <a:cs typeface="+mn-cs"/>
              </a:rPr>
              <a:t>Switch (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65000"/>
                  </a:schemeClr>
                </a:solidFill>
                <a:effectLst/>
                <a:uLnTx/>
                <a:uFillTx/>
                <a:latin typeface="Arial Narrow" panose="020B0606020202030204" pitchFamily="34" charset="0"/>
              </a:rPr>
              <a:t>peer to peer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  <a:cs typeface="+mn-cs"/>
              </a:rPr>
              <a:t>)</a:t>
            </a: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5C3578BE-8AB4-4F32-942C-19DEB8DD1F10}"/>
              </a:ext>
            </a:extLst>
          </p:cNvPr>
          <p:cNvSpPr/>
          <p:nvPr/>
        </p:nvSpPr>
        <p:spPr bwMode="auto">
          <a:xfrm>
            <a:off x="2551493" y="2130951"/>
            <a:ext cx="1371569" cy="679450"/>
          </a:xfrm>
          <a:prstGeom prst="roundRect">
            <a:avLst/>
          </a:prstGeom>
          <a:solidFill>
            <a:srgbClr val="CCEC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64" name="Oval 7">
            <a:extLst>
              <a:ext uri="{FF2B5EF4-FFF2-40B4-BE49-F238E27FC236}">
                <a16:creationId xmlns:a16="http://schemas.microsoft.com/office/drawing/2014/main" id="{E9D3B7CC-CC0B-46B8-AED6-0E7F061225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7651" y="1051844"/>
            <a:ext cx="749300" cy="7493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65" name="Line 9">
            <a:extLst>
              <a:ext uri="{FF2B5EF4-FFF2-40B4-BE49-F238E27FC236}">
                <a16:creationId xmlns:a16="http://schemas.microsoft.com/office/drawing/2014/main" id="{761927B0-4D93-4D4E-B279-9BA3AC91676A}"/>
              </a:ext>
            </a:extLst>
          </p:cNvPr>
          <p:cNvSpPr>
            <a:spLocks noChangeShapeType="1"/>
          </p:cNvSpPr>
          <p:nvPr/>
        </p:nvSpPr>
        <p:spPr bwMode="auto">
          <a:xfrm>
            <a:off x="1669763" y="1807575"/>
            <a:ext cx="0" cy="3111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66" name="Line 10">
            <a:extLst>
              <a:ext uri="{FF2B5EF4-FFF2-40B4-BE49-F238E27FC236}">
                <a16:creationId xmlns:a16="http://schemas.microsoft.com/office/drawing/2014/main" id="{1A6863F4-F416-4AFD-B0C6-F81C3D8EEF49}"/>
              </a:ext>
            </a:extLst>
          </p:cNvPr>
          <p:cNvSpPr>
            <a:spLocks noChangeShapeType="1"/>
          </p:cNvSpPr>
          <p:nvPr/>
        </p:nvSpPr>
        <p:spPr bwMode="auto">
          <a:xfrm>
            <a:off x="1669763" y="2798175"/>
            <a:ext cx="0" cy="3683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67" name="Rectangle 13">
            <a:extLst>
              <a:ext uri="{FF2B5EF4-FFF2-40B4-BE49-F238E27FC236}">
                <a16:creationId xmlns:a16="http://schemas.microsoft.com/office/drawing/2014/main" id="{554EB754-274E-4EB4-8AD9-2DF11C63B4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0330" y="1228850"/>
            <a:ext cx="424797" cy="366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</a:rPr>
              <a:t>C1</a:t>
            </a:r>
          </a:p>
        </p:txBody>
      </p:sp>
      <p:sp>
        <p:nvSpPr>
          <p:cNvPr id="68" name="矩形: 圆角 67">
            <a:extLst>
              <a:ext uri="{FF2B5EF4-FFF2-40B4-BE49-F238E27FC236}">
                <a16:creationId xmlns:a16="http://schemas.microsoft.com/office/drawing/2014/main" id="{ED8DDC0F-AFA9-4718-9BDC-3B8F8B3DB64E}"/>
              </a:ext>
            </a:extLst>
          </p:cNvPr>
          <p:cNvSpPr/>
          <p:nvPr/>
        </p:nvSpPr>
        <p:spPr bwMode="auto">
          <a:xfrm>
            <a:off x="977620" y="2118725"/>
            <a:ext cx="1371569" cy="679450"/>
          </a:xfrm>
          <a:prstGeom prst="roundRect">
            <a:avLst/>
          </a:prstGeom>
          <a:solidFill>
            <a:srgbClr val="CCEC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69" name="Oval 7">
            <a:extLst>
              <a:ext uri="{FF2B5EF4-FFF2-40B4-BE49-F238E27FC236}">
                <a16:creationId xmlns:a16="http://schemas.microsoft.com/office/drawing/2014/main" id="{42E8885E-6C42-407C-80A3-FC01AC15B8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7081" y="1058895"/>
            <a:ext cx="749300" cy="7493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70" name="Line 9">
            <a:extLst>
              <a:ext uri="{FF2B5EF4-FFF2-40B4-BE49-F238E27FC236}">
                <a16:creationId xmlns:a16="http://schemas.microsoft.com/office/drawing/2014/main" id="{52CE6BCF-93B4-4BEC-8D07-1B322CECDA82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9193" y="1814626"/>
            <a:ext cx="0" cy="3111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71" name="Line 10">
            <a:extLst>
              <a:ext uri="{FF2B5EF4-FFF2-40B4-BE49-F238E27FC236}">
                <a16:creationId xmlns:a16="http://schemas.microsoft.com/office/drawing/2014/main" id="{1C584A1F-D17F-450E-942D-C8255A2CAAA3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9193" y="2805226"/>
            <a:ext cx="0" cy="3683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72" name="Rectangle 13">
            <a:extLst>
              <a:ext uri="{FF2B5EF4-FFF2-40B4-BE49-F238E27FC236}">
                <a16:creationId xmlns:a16="http://schemas.microsoft.com/office/drawing/2014/main" id="{299D76AA-CE99-4FCD-9455-5F04471FBB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9760" y="1235901"/>
            <a:ext cx="424797" cy="366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</a:rPr>
              <a:t>C4</a:t>
            </a:r>
          </a:p>
        </p:txBody>
      </p:sp>
      <p:sp>
        <p:nvSpPr>
          <p:cNvPr id="73" name="矩形: 圆角 72">
            <a:extLst>
              <a:ext uri="{FF2B5EF4-FFF2-40B4-BE49-F238E27FC236}">
                <a16:creationId xmlns:a16="http://schemas.microsoft.com/office/drawing/2014/main" id="{93057970-017A-4F4B-9BD6-2E395B9F653F}"/>
              </a:ext>
            </a:extLst>
          </p:cNvPr>
          <p:cNvSpPr/>
          <p:nvPr/>
        </p:nvSpPr>
        <p:spPr bwMode="auto">
          <a:xfrm>
            <a:off x="5717050" y="2125776"/>
            <a:ext cx="1371569" cy="679450"/>
          </a:xfrm>
          <a:prstGeom prst="roundRect">
            <a:avLst/>
          </a:prstGeom>
          <a:solidFill>
            <a:srgbClr val="CCEC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74" name="Oval 7">
            <a:extLst>
              <a:ext uri="{FF2B5EF4-FFF2-40B4-BE49-F238E27FC236}">
                <a16:creationId xmlns:a16="http://schemas.microsoft.com/office/drawing/2014/main" id="{92DA491D-7521-4779-9703-1921BEB295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3208" y="1046669"/>
            <a:ext cx="749300" cy="7493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75" name="Line 9">
            <a:extLst>
              <a:ext uri="{FF2B5EF4-FFF2-40B4-BE49-F238E27FC236}">
                <a16:creationId xmlns:a16="http://schemas.microsoft.com/office/drawing/2014/main" id="{EF65B723-32B4-495C-9F9C-549E4BDA9348}"/>
              </a:ext>
            </a:extLst>
          </p:cNvPr>
          <p:cNvSpPr>
            <a:spLocks noChangeShapeType="1"/>
          </p:cNvSpPr>
          <p:nvPr/>
        </p:nvSpPr>
        <p:spPr bwMode="auto">
          <a:xfrm>
            <a:off x="4835320" y="1802400"/>
            <a:ext cx="0" cy="3111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76" name="Line 10">
            <a:extLst>
              <a:ext uri="{FF2B5EF4-FFF2-40B4-BE49-F238E27FC236}">
                <a16:creationId xmlns:a16="http://schemas.microsoft.com/office/drawing/2014/main" id="{7F03F7D1-A57D-40E7-9D63-C68504CCEA5B}"/>
              </a:ext>
            </a:extLst>
          </p:cNvPr>
          <p:cNvSpPr>
            <a:spLocks noChangeShapeType="1"/>
          </p:cNvSpPr>
          <p:nvPr/>
        </p:nvSpPr>
        <p:spPr bwMode="auto">
          <a:xfrm>
            <a:off x="4835320" y="2793000"/>
            <a:ext cx="0" cy="3683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77" name="Rectangle 13">
            <a:extLst>
              <a:ext uri="{FF2B5EF4-FFF2-40B4-BE49-F238E27FC236}">
                <a16:creationId xmlns:a16="http://schemas.microsoft.com/office/drawing/2014/main" id="{C714C0FC-7261-4900-ABE0-2C7B08DDD7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95887" y="1223675"/>
            <a:ext cx="424797" cy="366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</a:rPr>
              <a:t>C3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121529A-1E0B-4A77-A91D-BCE05BB7FE35}"/>
              </a:ext>
            </a:extLst>
          </p:cNvPr>
          <p:cNvSpPr/>
          <p:nvPr/>
        </p:nvSpPr>
        <p:spPr>
          <a:xfrm>
            <a:off x="1108883" y="2285680"/>
            <a:ext cx="4026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tx2"/>
                </a:solidFill>
              </a:rPr>
              <a:t>X:</a:t>
            </a:r>
            <a:endParaRPr lang="zh-CN" altLang="en-US" dirty="0"/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999CF0D0-0C69-49D5-84EA-33E3FF2CF465}"/>
              </a:ext>
            </a:extLst>
          </p:cNvPr>
          <p:cNvSpPr/>
          <p:nvPr/>
        </p:nvSpPr>
        <p:spPr>
          <a:xfrm>
            <a:off x="2480452" y="1946062"/>
            <a:ext cx="1582484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dirty="0">
                <a:solidFill>
                  <a:schemeClr val="tx2"/>
                </a:solidFill>
              </a:rPr>
              <a:t> X: </a:t>
            </a:r>
            <a:r>
              <a:rPr lang="en-US" altLang="zh-CN" b="1" dirty="0">
                <a:solidFill>
                  <a:srgbClr val="FF0000"/>
                </a:solidFill>
              </a:rPr>
              <a:t>S{C3, C4}</a:t>
            </a:r>
            <a:endParaRPr lang="zh-CN" altLang="en-US" sz="4400" b="1" dirty="0">
              <a:solidFill>
                <a:srgbClr val="FF0000"/>
              </a:solidFill>
            </a:endParaRPr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81FB116F-D60F-4434-9A12-7BCFBC83B737}"/>
              </a:ext>
            </a:extLst>
          </p:cNvPr>
          <p:cNvSpPr/>
          <p:nvPr/>
        </p:nvSpPr>
        <p:spPr>
          <a:xfrm>
            <a:off x="1419112" y="2293104"/>
            <a:ext cx="2792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Imprint MT Shadow" panose="04020605060303030202" pitchFamily="82" charset="0"/>
              </a:rPr>
              <a:t>I</a:t>
            </a:r>
            <a:endParaRPr lang="zh-CN" altLang="en-US" dirty="0"/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992E6463-374C-49BD-8DD7-A0BE0C1451D3}"/>
              </a:ext>
            </a:extLst>
          </p:cNvPr>
          <p:cNvSpPr/>
          <p:nvPr/>
        </p:nvSpPr>
        <p:spPr>
          <a:xfrm>
            <a:off x="4375927" y="2273784"/>
            <a:ext cx="6062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X: </a:t>
            </a:r>
            <a:r>
              <a:rPr lang="en-US" altLang="zh-CN" b="1" dirty="0">
                <a:solidFill>
                  <a:srgbClr val="FF0000"/>
                </a:solidFill>
                <a:latin typeface="Imprint MT Shadow" panose="04020605060303030202" pitchFamily="82" charset="0"/>
              </a:rPr>
              <a:t>S</a:t>
            </a:r>
            <a:endParaRPr lang="zh-CN" altLang="en-US" dirty="0"/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DD938820-1610-4DB9-9424-F2908483F74C}"/>
              </a:ext>
            </a:extLst>
          </p:cNvPr>
          <p:cNvSpPr/>
          <p:nvPr/>
        </p:nvSpPr>
        <p:spPr>
          <a:xfrm>
            <a:off x="6033185" y="2273784"/>
            <a:ext cx="6062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X: </a:t>
            </a:r>
            <a:r>
              <a:rPr lang="en-US" altLang="zh-CN" b="1" dirty="0">
                <a:solidFill>
                  <a:srgbClr val="FF0000"/>
                </a:solidFill>
                <a:latin typeface="Imprint MT Shadow" panose="04020605060303030202" pitchFamily="82" charset="0"/>
              </a:rPr>
              <a:t>S</a:t>
            </a:r>
            <a:endParaRPr lang="zh-CN" altLang="en-US" dirty="0"/>
          </a:p>
        </p:txBody>
      </p:sp>
      <p:sp>
        <p:nvSpPr>
          <p:cNvPr id="118788" name="矩形 118787">
            <a:extLst>
              <a:ext uri="{FF2B5EF4-FFF2-40B4-BE49-F238E27FC236}">
                <a16:creationId xmlns:a16="http://schemas.microsoft.com/office/drawing/2014/main" id="{2AF0D5B3-2E0C-4B11-8078-6E068D63A822}"/>
              </a:ext>
            </a:extLst>
          </p:cNvPr>
          <p:cNvSpPr/>
          <p:nvPr/>
        </p:nvSpPr>
        <p:spPr>
          <a:xfrm>
            <a:off x="7243375" y="1609670"/>
            <a:ext cx="59503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dirty="0"/>
              <a:t>…</a:t>
            </a:r>
            <a:endParaRPr lang="zh-CN" altLang="en-US" sz="3200" dirty="0"/>
          </a:p>
        </p:txBody>
      </p:sp>
      <p:sp>
        <p:nvSpPr>
          <p:cNvPr id="62" name="内容占位符 35">
            <a:extLst>
              <a:ext uri="{FF2B5EF4-FFF2-40B4-BE49-F238E27FC236}">
                <a16:creationId xmlns:a16="http://schemas.microsoft.com/office/drawing/2014/main" id="{E0BD2D30-74FB-44A5-8E1D-B205DBB725AF}"/>
              </a:ext>
            </a:extLst>
          </p:cNvPr>
          <p:cNvSpPr txBox="1">
            <a:spLocks/>
          </p:cNvSpPr>
          <p:nvPr/>
        </p:nvSpPr>
        <p:spPr bwMode="auto">
          <a:xfrm>
            <a:off x="538377" y="3912003"/>
            <a:ext cx="6550242" cy="23623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charset="2"/>
              <a:buChar char="n"/>
              <a:defRPr sz="2400">
                <a:solidFill>
                  <a:schemeClr val="tx1"/>
                </a:solidFill>
                <a:latin typeface="+mn-lt"/>
                <a:ea typeface="ＭＳ Ｐゴシック" pitchFamily="-107" charset="-128"/>
                <a:cs typeface="ＭＳ Ｐゴシック" pitchFamily="-107" charset="-128"/>
              </a:defRPr>
            </a:lvl1pPr>
            <a:lvl2pPr marL="669925" indent="-325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charset="2"/>
              <a:buChar char="q"/>
              <a:defRPr sz="2200">
                <a:solidFill>
                  <a:schemeClr val="tx1"/>
                </a:solidFill>
                <a:latin typeface="+mn-lt"/>
                <a:ea typeface="ＭＳ Ｐゴシック" pitchFamily="-107" charset="-128"/>
              </a:defRPr>
            </a:lvl2pPr>
            <a:lvl3pPr marL="1022350" indent="-350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charset="2"/>
              <a:buChar char="n"/>
              <a:defRPr sz="2000">
                <a:solidFill>
                  <a:schemeClr val="tx1"/>
                </a:solidFill>
                <a:latin typeface="+mn-lt"/>
                <a:ea typeface="ＭＳ Ｐゴシック" pitchFamily="-107" charset="-128"/>
              </a:defRPr>
            </a:lvl3pPr>
            <a:lvl4pPr marL="1339850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q"/>
              <a:defRPr>
                <a:solidFill>
                  <a:schemeClr val="tx1"/>
                </a:solidFill>
                <a:latin typeface="+mn-lt"/>
                <a:ea typeface="ＭＳ Ｐゴシック" pitchFamily="-107" charset="-128"/>
              </a:defRPr>
            </a:lvl4pPr>
            <a:lvl5pPr marL="16811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charset="2"/>
              <a:buChar char="§"/>
              <a:defRPr sz="1600">
                <a:solidFill>
                  <a:schemeClr val="tx1"/>
                </a:solidFill>
                <a:latin typeface="+mn-lt"/>
                <a:ea typeface="ＭＳ Ｐゴシック" pitchFamily="-107" charset="-128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altLang="zh-CN" b="1" kern="0" dirty="0"/>
              <a:t>Initial states</a:t>
            </a:r>
            <a:r>
              <a:rPr lang="en-US" altLang="zh-CN" kern="0" dirty="0"/>
              <a:t>:</a:t>
            </a:r>
          </a:p>
          <a:p>
            <a:pPr lvl="1"/>
            <a:r>
              <a:rPr lang="en-US" altLang="zh-CN" kern="0" dirty="0"/>
              <a:t>Directory stays in C2</a:t>
            </a:r>
          </a:p>
          <a:p>
            <a:pPr lvl="1"/>
            <a:r>
              <a:rPr lang="en-US" altLang="zh-CN" kern="0" dirty="0"/>
              <a:t>X is only shared by C3 and C4</a:t>
            </a:r>
            <a:endParaRPr lang="en-US" altLang="zh-CN" b="1" kern="0" dirty="0"/>
          </a:p>
          <a:p>
            <a:r>
              <a:rPr lang="en-US" altLang="zh-CN" b="1" kern="0" dirty="0"/>
              <a:t>Operations: </a:t>
            </a:r>
          </a:p>
          <a:p>
            <a:pPr lvl="1"/>
            <a:r>
              <a:rPr lang="en-US" altLang="zh-CN" sz="2000" kern="0" dirty="0"/>
              <a:t>C1:X=888 </a:t>
            </a:r>
          </a:p>
          <a:p>
            <a:pPr lvl="1"/>
            <a:r>
              <a:rPr lang="en-US" altLang="zh-CN" sz="2000" kern="0" dirty="0"/>
              <a:t>C3: reads X</a:t>
            </a:r>
          </a:p>
          <a:p>
            <a:pPr marL="0" indent="0">
              <a:buNone/>
            </a:pPr>
            <a:endParaRPr lang="en-US" altLang="zh-CN" b="1" kern="0" dirty="0"/>
          </a:p>
        </p:txBody>
      </p:sp>
    </p:spTree>
    <p:extLst>
      <p:ext uri="{BB962C8B-B14F-4D97-AF65-F5344CB8AC3E}">
        <p14:creationId xmlns:p14="http://schemas.microsoft.com/office/powerpoint/2010/main" val="4245015679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矩形: 圆角 77">
            <a:extLst>
              <a:ext uri="{FF2B5EF4-FFF2-40B4-BE49-F238E27FC236}">
                <a16:creationId xmlns:a16="http://schemas.microsoft.com/office/drawing/2014/main" id="{BF5F3C53-EE21-485E-897E-15C3CA3A11F4}"/>
              </a:ext>
            </a:extLst>
          </p:cNvPr>
          <p:cNvSpPr/>
          <p:nvPr/>
        </p:nvSpPr>
        <p:spPr bwMode="auto">
          <a:xfrm>
            <a:off x="4143177" y="2113550"/>
            <a:ext cx="1371569" cy="679450"/>
          </a:xfrm>
          <a:prstGeom prst="roundRect">
            <a:avLst/>
          </a:prstGeom>
          <a:solidFill>
            <a:srgbClr val="CCEC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118785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8458200" cy="685800"/>
          </a:xfrm>
        </p:spPr>
        <p:txBody>
          <a:bodyPr/>
          <a:lstStyle/>
          <a:p>
            <a:r>
              <a:rPr lang="en-US" altLang="en-US" dirty="0">
                <a:ea typeface="ＭＳ Ｐゴシック" charset="-128"/>
              </a:rPr>
              <a:t>How </a:t>
            </a:r>
            <a:r>
              <a:rPr lang="en-US" altLang="zh-CN" dirty="0"/>
              <a:t>Directory</a:t>
            </a:r>
            <a:r>
              <a:rPr lang="en-US" altLang="en-US" dirty="0">
                <a:ea typeface="ＭＳ Ｐゴシック" charset="-128"/>
              </a:rPr>
              <a:t> Works? (</a:t>
            </a:r>
            <a:r>
              <a:rPr lang="en-US" altLang="zh-CN" dirty="0">
                <a:ea typeface="ＭＳ Ｐゴシック" charset="-128"/>
              </a:rPr>
              <a:t>C1: </a:t>
            </a:r>
            <a:r>
              <a:rPr lang="en-US" altLang="en-US" dirty="0">
                <a:ea typeface="ＭＳ Ｐゴシック" charset="-128"/>
              </a:rPr>
              <a:t>X = </a:t>
            </a:r>
            <a:r>
              <a:rPr lang="en-US" altLang="zh-CN" sz="3600" b="1" dirty="0">
                <a:solidFill>
                  <a:srgbClr val="FF0000"/>
                </a:solidFill>
                <a:latin typeface="Imprint MT Shadow" panose="04020605060303030202" pitchFamily="82" charset="0"/>
              </a:rPr>
              <a:t>888</a:t>
            </a:r>
            <a:r>
              <a:rPr lang="en-US" altLang="en-US" dirty="0">
                <a:ea typeface="ＭＳ Ｐゴシック" charset="-128"/>
              </a:rPr>
              <a:t>)</a:t>
            </a:r>
          </a:p>
        </p:txBody>
      </p:sp>
      <p:sp>
        <p:nvSpPr>
          <p:cNvPr id="118787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AED358C2-D4E2-FB45-9976-71FB6B5F3BC4}" type="slidenum">
              <a:rPr lang="en-US" altLang="en-US" sz="1600">
                <a:solidFill>
                  <a:srgbClr val="000000"/>
                </a:solidFill>
                <a:latin typeface="Garamond" charset="0"/>
              </a:rPr>
              <a:pPr eaLnBrk="1" hangingPunct="1"/>
              <a:t>36</a:t>
            </a:fld>
            <a:endParaRPr lang="en-US" altLang="en-US" sz="1600">
              <a:solidFill>
                <a:srgbClr val="000000"/>
              </a:solidFill>
              <a:latin typeface="Garamond" charset="0"/>
            </a:endParaRPr>
          </a:p>
        </p:txBody>
      </p:sp>
      <p:sp>
        <p:nvSpPr>
          <p:cNvPr id="7" name="内容占位符 35">
            <a:extLst>
              <a:ext uri="{FF2B5EF4-FFF2-40B4-BE49-F238E27FC236}">
                <a16:creationId xmlns:a16="http://schemas.microsoft.com/office/drawing/2014/main" id="{0FF0F80D-6509-4C70-8AFB-6EDF0BE71F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4307" y="3886200"/>
            <a:ext cx="8964613" cy="571500"/>
          </a:xfrm>
        </p:spPr>
        <p:txBody>
          <a:bodyPr/>
          <a:lstStyle/>
          <a:p>
            <a:r>
              <a:rPr lang="en-US" altLang="zh-CN" sz="2400" dirty="0"/>
              <a:t>C1(local)          </a:t>
            </a:r>
            <a:r>
              <a:rPr lang="en-US" altLang="zh-CN" dirty="0"/>
              <a:t>C</a:t>
            </a:r>
            <a:r>
              <a:rPr lang="en-US" altLang="zh-CN" sz="2400" dirty="0"/>
              <a:t>2(home)       C3(remote)       C4(remote)    </a:t>
            </a:r>
            <a:endParaRPr lang="zh-CN" altLang="en-US" sz="2400" dirty="0"/>
          </a:p>
        </p:txBody>
      </p:sp>
      <p:grpSp>
        <p:nvGrpSpPr>
          <p:cNvPr id="8" name="组合 72">
            <a:extLst>
              <a:ext uri="{FF2B5EF4-FFF2-40B4-BE49-F238E27FC236}">
                <a16:creationId xmlns:a16="http://schemas.microsoft.com/office/drawing/2014/main" id="{B905FDAB-85EA-43D7-B6CD-0608601A195D}"/>
              </a:ext>
            </a:extLst>
          </p:cNvPr>
          <p:cNvGrpSpPr>
            <a:grpSpLocks/>
          </p:cNvGrpSpPr>
          <p:nvPr/>
        </p:nvGrpSpPr>
        <p:grpSpPr bwMode="auto">
          <a:xfrm>
            <a:off x="1172845" y="4457700"/>
            <a:ext cx="6503987" cy="2001838"/>
            <a:chOff x="999306" y="4857760"/>
            <a:chExt cx="6503240" cy="2001034"/>
          </a:xfrm>
        </p:grpSpPr>
        <p:cxnSp>
          <p:nvCxnSpPr>
            <p:cNvPr id="9" name="直接连接符 37">
              <a:extLst>
                <a:ext uri="{FF2B5EF4-FFF2-40B4-BE49-F238E27FC236}">
                  <a16:creationId xmlns:a16="http://schemas.microsoft.com/office/drawing/2014/main" id="{4362EC90-7BFD-4FB8-8CF7-9E605148B5A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-20" y="5857880"/>
              <a:ext cx="2000240" cy="1588"/>
            </a:xfrm>
            <a:prstGeom prst="line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" name="直接连接符 38">
              <a:extLst>
                <a:ext uri="{FF2B5EF4-FFF2-40B4-BE49-F238E27FC236}">
                  <a16:creationId xmlns:a16="http://schemas.microsoft.com/office/drawing/2014/main" id="{D8A6DF2C-7C35-467D-969D-8F038EEE4B4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2072476" y="5857086"/>
              <a:ext cx="2000240" cy="1588"/>
            </a:xfrm>
            <a:prstGeom prst="line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" name="直接连接符 39">
              <a:extLst>
                <a:ext uri="{FF2B5EF4-FFF2-40B4-BE49-F238E27FC236}">
                  <a16:creationId xmlns:a16="http://schemas.microsoft.com/office/drawing/2014/main" id="{92DE0F5F-1DBE-4E9C-9483-60065E25340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4358492" y="5857086"/>
              <a:ext cx="2000240" cy="1588"/>
            </a:xfrm>
            <a:prstGeom prst="line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" name="直接连接符 40">
              <a:extLst>
                <a:ext uri="{FF2B5EF4-FFF2-40B4-BE49-F238E27FC236}">
                  <a16:creationId xmlns:a16="http://schemas.microsoft.com/office/drawing/2014/main" id="{63EAF7E6-582C-4F16-A5C6-077DD159AB8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6501632" y="5857086"/>
              <a:ext cx="2000240" cy="1588"/>
            </a:xfrm>
            <a:prstGeom prst="line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3" name="组合 48">
            <a:extLst>
              <a:ext uri="{FF2B5EF4-FFF2-40B4-BE49-F238E27FC236}">
                <a16:creationId xmlns:a16="http://schemas.microsoft.com/office/drawing/2014/main" id="{5907580B-BDEC-4E79-9485-70DB6F9469E2}"/>
              </a:ext>
            </a:extLst>
          </p:cNvPr>
          <p:cNvGrpSpPr>
            <a:grpSpLocks/>
          </p:cNvGrpSpPr>
          <p:nvPr/>
        </p:nvGrpSpPr>
        <p:grpSpPr bwMode="auto">
          <a:xfrm>
            <a:off x="1174432" y="4337994"/>
            <a:ext cx="2071688" cy="369332"/>
            <a:chOff x="1000100" y="4738202"/>
            <a:chExt cx="2071702" cy="368225"/>
          </a:xfrm>
        </p:grpSpPr>
        <p:cxnSp>
          <p:nvCxnSpPr>
            <p:cNvPr id="14" name="直接箭头连接符 46">
              <a:extLst>
                <a:ext uri="{FF2B5EF4-FFF2-40B4-BE49-F238E27FC236}">
                  <a16:creationId xmlns:a16="http://schemas.microsoft.com/office/drawing/2014/main" id="{F845DB13-4A50-4D4E-A571-93AEA7DA846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000100" y="5072074"/>
              <a:ext cx="2071702" cy="1588"/>
            </a:xfrm>
            <a:prstGeom prst="straightConnector1">
              <a:avLst/>
            </a:prstGeom>
            <a:noFill/>
            <a:ln w="38100" algn="ctr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5" name="TextBox 47">
              <a:extLst>
                <a:ext uri="{FF2B5EF4-FFF2-40B4-BE49-F238E27FC236}">
                  <a16:creationId xmlns:a16="http://schemas.microsoft.com/office/drawing/2014/main" id="{6F47F1D2-7851-40A7-8376-43A0CBEF33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06967" y="4738202"/>
              <a:ext cx="1043883" cy="368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dirty="0" err="1">
                  <a:solidFill>
                    <a:schemeClr val="tx2"/>
                  </a:solidFill>
                  <a:latin typeface="Arial" panose="020B0604020202020204" pitchFamily="34" charset="0"/>
                </a:rPr>
                <a:t>GetEx</a:t>
              </a:r>
              <a:r>
                <a:rPr lang="en-US" altLang="zh-CN" sz="1800" dirty="0">
                  <a:solidFill>
                    <a:schemeClr val="tx2"/>
                  </a:solidFill>
                  <a:latin typeface="Arial" panose="020B0604020202020204" pitchFamily="34" charset="0"/>
                </a:rPr>
                <a:t> X</a:t>
              </a:r>
              <a:endParaRPr lang="zh-CN" altLang="en-US" sz="1800" dirty="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</p:grpSp>
      <p:cxnSp>
        <p:nvCxnSpPr>
          <p:cNvPr id="16" name="直接箭头连接符 50">
            <a:extLst>
              <a:ext uri="{FF2B5EF4-FFF2-40B4-BE49-F238E27FC236}">
                <a16:creationId xmlns:a16="http://schemas.microsoft.com/office/drawing/2014/main" id="{DA895F04-365D-459E-A7BB-F4D86255E50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888807" y="4600575"/>
            <a:ext cx="914400" cy="914400"/>
          </a:xfrm>
          <a:prstGeom prst="straightConnector1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 type="arrow" w="med" len="med"/>
              </a14:hiddenLine>
            </a:ext>
          </a:extLst>
        </p:spPr>
      </p:cxnSp>
      <p:grpSp>
        <p:nvGrpSpPr>
          <p:cNvPr id="17" name="组合 51">
            <a:extLst>
              <a:ext uri="{FF2B5EF4-FFF2-40B4-BE49-F238E27FC236}">
                <a16:creationId xmlns:a16="http://schemas.microsoft.com/office/drawing/2014/main" id="{7FB4E818-BC05-4F68-BF3A-F17D535C57C5}"/>
              </a:ext>
            </a:extLst>
          </p:cNvPr>
          <p:cNvGrpSpPr>
            <a:grpSpLocks/>
          </p:cNvGrpSpPr>
          <p:nvPr/>
        </p:nvGrpSpPr>
        <p:grpSpPr bwMode="auto">
          <a:xfrm>
            <a:off x="3246120" y="4616321"/>
            <a:ext cx="2286000" cy="369887"/>
            <a:chOff x="1000100" y="4730714"/>
            <a:chExt cx="2071702" cy="369332"/>
          </a:xfrm>
        </p:grpSpPr>
        <p:cxnSp>
          <p:nvCxnSpPr>
            <p:cNvPr id="18" name="直接箭头连接符 52">
              <a:extLst>
                <a:ext uri="{FF2B5EF4-FFF2-40B4-BE49-F238E27FC236}">
                  <a16:creationId xmlns:a16="http://schemas.microsoft.com/office/drawing/2014/main" id="{B466B862-1896-46A3-8F1E-E0E15921ADD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000100" y="5072074"/>
              <a:ext cx="2071702" cy="1588"/>
            </a:xfrm>
            <a:prstGeom prst="straightConnector1">
              <a:avLst/>
            </a:prstGeom>
            <a:noFill/>
            <a:ln w="38100" algn="ctr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9" name="TextBox 53">
              <a:extLst>
                <a:ext uri="{FF2B5EF4-FFF2-40B4-BE49-F238E27FC236}">
                  <a16:creationId xmlns:a16="http://schemas.microsoft.com/office/drawing/2014/main" id="{A51176F2-EF6D-408C-B905-9428B250B6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3524" y="4730714"/>
              <a:ext cx="137601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dirty="0">
                  <a:solidFill>
                    <a:schemeClr val="tx2"/>
                  </a:solidFill>
                  <a:latin typeface="Arial" panose="020B0604020202020204" pitchFamily="34" charset="0"/>
                </a:rPr>
                <a:t>Invalidate  X </a:t>
              </a:r>
              <a:endParaRPr lang="zh-CN" altLang="en-US" sz="1800" dirty="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20" name="组合 54">
            <a:extLst>
              <a:ext uri="{FF2B5EF4-FFF2-40B4-BE49-F238E27FC236}">
                <a16:creationId xmlns:a16="http://schemas.microsoft.com/office/drawing/2014/main" id="{1A9AE7A4-3FC2-4A86-8BC8-28C5AE0402C8}"/>
              </a:ext>
            </a:extLst>
          </p:cNvPr>
          <p:cNvGrpSpPr>
            <a:grpSpLocks/>
          </p:cNvGrpSpPr>
          <p:nvPr/>
        </p:nvGrpSpPr>
        <p:grpSpPr bwMode="auto">
          <a:xfrm>
            <a:off x="3246120" y="4942557"/>
            <a:ext cx="4429125" cy="369887"/>
            <a:chOff x="1000100" y="4773240"/>
            <a:chExt cx="2071702" cy="318239"/>
          </a:xfrm>
        </p:grpSpPr>
        <p:cxnSp>
          <p:nvCxnSpPr>
            <p:cNvPr id="21" name="直接箭头连接符 55">
              <a:extLst>
                <a:ext uri="{FF2B5EF4-FFF2-40B4-BE49-F238E27FC236}">
                  <a16:creationId xmlns:a16="http://schemas.microsoft.com/office/drawing/2014/main" id="{DE87EAA5-3158-4EC9-95B5-94545D5DEEF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000100" y="5072074"/>
              <a:ext cx="2071702" cy="1588"/>
            </a:xfrm>
            <a:prstGeom prst="straightConnector1">
              <a:avLst/>
            </a:prstGeom>
            <a:noFill/>
            <a:ln w="38100" algn="ctr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2" name="TextBox 56">
              <a:extLst>
                <a:ext uri="{FF2B5EF4-FFF2-40B4-BE49-F238E27FC236}">
                  <a16:creationId xmlns:a16="http://schemas.microsoft.com/office/drawing/2014/main" id="{0E7F8D1A-AA79-429D-A8AA-B164C6F13A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75397" y="4773240"/>
              <a:ext cx="1699928" cy="318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dirty="0">
                  <a:solidFill>
                    <a:schemeClr val="tx2"/>
                  </a:solidFill>
                  <a:latin typeface="Arial" panose="020B0604020202020204" pitchFamily="34" charset="0"/>
                </a:rPr>
                <a:t>                                 Invalidate  X </a:t>
              </a:r>
              <a:endParaRPr lang="zh-CN" altLang="en-US" sz="1800" dirty="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23" name="组合 61">
            <a:extLst>
              <a:ext uri="{FF2B5EF4-FFF2-40B4-BE49-F238E27FC236}">
                <a16:creationId xmlns:a16="http://schemas.microsoft.com/office/drawing/2014/main" id="{4DEB8A4A-FED0-4549-A28A-1235E8779A4E}"/>
              </a:ext>
            </a:extLst>
          </p:cNvPr>
          <p:cNvGrpSpPr>
            <a:grpSpLocks/>
          </p:cNvGrpSpPr>
          <p:nvPr/>
        </p:nvGrpSpPr>
        <p:grpSpPr bwMode="auto">
          <a:xfrm>
            <a:off x="3246120" y="5187273"/>
            <a:ext cx="2286000" cy="400050"/>
            <a:chOff x="3071802" y="5730216"/>
            <a:chExt cx="2286016" cy="400110"/>
          </a:xfrm>
        </p:grpSpPr>
        <p:cxnSp>
          <p:nvCxnSpPr>
            <p:cNvPr id="24" name="直接箭头连接符 58">
              <a:extLst>
                <a:ext uri="{FF2B5EF4-FFF2-40B4-BE49-F238E27FC236}">
                  <a16:creationId xmlns:a16="http://schemas.microsoft.com/office/drawing/2014/main" id="{8309F93C-BE31-452F-85C1-B19102A5A11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>
              <a:off x="3071802" y="6072206"/>
              <a:ext cx="2286016" cy="1588"/>
            </a:xfrm>
            <a:prstGeom prst="straightConnector1">
              <a:avLst/>
            </a:prstGeom>
            <a:noFill/>
            <a:ln w="9525" algn="ctr">
              <a:solidFill>
                <a:srgbClr val="00B05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5" name="TextBox 59">
              <a:extLst>
                <a:ext uri="{FF2B5EF4-FFF2-40B4-BE49-F238E27FC236}">
                  <a16:creationId xmlns:a16="http://schemas.microsoft.com/office/drawing/2014/main" id="{9E65E935-571B-4299-8103-0EF081A13A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4948" y="5730216"/>
              <a:ext cx="114300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dirty="0">
                  <a:solidFill>
                    <a:schemeClr val="tx2"/>
                  </a:solidFill>
                  <a:latin typeface="Arial" panose="020B0604020202020204" pitchFamily="34" charset="0"/>
                </a:rPr>
                <a:t>Ack</a:t>
              </a:r>
              <a:endParaRPr lang="zh-CN" altLang="en-US" sz="2000" dirty="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26" name="组合 63">
            <a:extLst>
              <a:ext uri="{FF2B5EF4-FFF2-40B4-BE49-F238E27FC236}">
                <a16:creationId xmlns:a16="http://schemas.microsoft.com/office/drawing/2014/main" id="{867DA59B-11D5-4EB1-987A-9F6164B89806}"/>
              </a:ext>
            </a:extLst>
          </p:cNvPr>
          <p:cNvGrpSpPr>
            <a:grpSpLocks/>
          </p:cNvGrpSpPr>
          <p:nvPr/>
        </p:nvGrpSpPr>
        <p:grpSpPr bwMode="auto">
          <a:xfrm>
            <a:off x="3246120" y="5386388"/>
            <a:ext cx="4429125" cy="400050"/>
            <a:chOff x="3071802" y="5844358"/>
            <a:chExt cx="2286016" cy="252736"/>
          </a:xfrm>
        </p:grpSpPr>
        <p:cxnSp>
          <p:nvCxnSpPr>
            <p:cNvPr id="27" name="直接箭头连接符 64">
              <a:extLst>
                <a:ext uri="{FF2B5EF4-FFF2-40B4-BE49-F238E27FC236}">
                  <a16:creationId xmlns:a16="http://schemas.microsoft.com/office/drawing/2014/main" id="{7F44E5CB-FC7C-4956-9BB2-06F912C057C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>
              <a:off x="3071802" y="6072206"/>
              <a:ext cx="2286016" cy="1588"/>
            </a:xfrm>
            <a:prstGeom prst="straightConnector1">
              <a:avLst/>
            </a:prstGeom>
            <a:noFill/>
            <a:ln w="9525" algn="ctr">
              <a:solidFill>
                <a:srgbClr val="00B05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8" name="TextBox 65">
              <a:extLst>
                <a:ext uri="{FF2B5EF4-FFF2-40B4-BE49-F238E27FC236}">
                  <a16:creationId xmlns:a16="http://schemas.microsoft.com/office/drawing/2014/main" id="{DB633870-D97F-40B0-8AFE-2D27E5C3D6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72908" y="5844358"/>
              <a:ext cx="414175" cy="2527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dirty="0">
                  <a:solidFill>
                    <a:schemeClr val="tx2"/>
                  </a:solidFill>
                  <a:latin typeface="Arial" panose="020B0604020202020204" pitchFamily="34" charset="0"/>
                </a:rPr>
                <a:t>Ack</a:t>
              </a:r>
              <a:endParaRPr lang="zh-CN" altLang="en-US" sz="2000" dirty="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29" name="组合 70">
            <a:extLst>
              <a:ext uri="{FF2B5EF4-FFF2-40B4-BE49-F238E27FC236}">
                <a16:creationId xmlns:a16="http://schemas.microsoft.com/office/drawing/2014/main" id="{8A446719-78A3-43B2-8E28-5B0D757FE6BE}"/>
              </a:ext>
            </a:extLst>
          </p:cNvPr>
          <p:cNvGrpSpPr>
            <a:grpSpLocks/>
          </p:cNvGrpSpPr>
          <p:nvPr/>
        </p:nvGrpSpPr>
        <p:grpSpPr bwMode="auto">
          <a:xfrm>
            <a:off x="1174432" y="5556621"/>
            <a:ext cx="2071688" cy="402871"/>
            <a:chOff x="1000100" y="5956615"/>
            <a:chExt cx="2071702" cy="402931"/>
          </a:xfrm>
        </p:grpSpPr>
        <p:cxnSp>
          <p:nvCxnSpPr>
            <p:cNvPr id="30" name="直接箭头连接符 68">
              <a:extLst>
                <a:ext uri="{FF2B5EF4-FFF2-40B4-BE49-F238E27FC236}">
                  <a16:creationId xmlns:a16="http://schemas.microsoft.com/office/drawing/2014/main" id="{2722A55E-94E9-4E1C-89E8-7F98AE0C82A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>
              <a:off x="1000100" y="6357958"/>
              <a:ext cx="2071702" cy="1588"/>
            </a:xfrm>
            <a:prstGeom prst="straightConnector1">
              <a:avLst/>
            </a:prstGeom>
            <a:noFill/>
            <a:ln w="38100" algn="ctr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1" name="TextBox 69">
              <a:extLst>
                <a:ext uri="{FF2B5EF4-FFF2-40B4-BE49-F238E27FC236}">
                  <a16:creationId xmlns:a16="http://schemas.microsoft.com/office/drawing/2014/main" id="{4F62C11B-3029-4B9F-9E67-C6447B4931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34666" y="5956615"/>
              <a:ext cx="162294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dirty="0">
                  <a:solidFill>
                    <a:schemeClr val="tx2"/>
                  </a:solidFill>
                  <a:latin typeface="Arial" panose="020B0604020202020204" pitchFamily="34" charset="0"/>
                </a:rPr>
                <a:t>Reply X=111</a:t>
              </a:r>
              <a:endParaRPr lang="zh-CN" altLang="en-US" sz="4400" dirty="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32" name="Oval 7">
            <a:extLst>
              <a:ext uri="{FF2B5EF4-FFF2-40B4-BE49-F238E27FC236}">
                <a16:creationId xmlns:a16="http://schemas.microsoft.com/office/drawing/2014/main" id="{DC67EC1F-A925-483F-9AC1-FA5E4B1AE7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1524" y="1064070"/>
            <a:ext cx="749300" cy="7493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33" name="Line 9">
            <a:extLst>
              <a:ext uri="{FF2B5EF4-FFF2-40B4-BE49-F238E27FC236}">
                <a16:creationId xmlns:a16="http://schemas.microsoft.com/office/drawing/2014/main" id="{44141B5B-E623-48B2-AC70-05F373557FC0}"/>
              </a:ext>
            </a:extLst>
          </p:cNvPr>
          <p:cNvSpPr>
            <a:spLocks noChangeShapeType="1"/>
          </p:cNvSpPr>
          <p:nvPr/>
        </p:nvSpPr>
        <p:spPr bwMode="auto">
          <a:xfrm>
            <a:off x="3243636" y="1819801"/>
            <a:ext cx="0" cy="3111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34" name="Line 10">
            <a:extLst>
              <a:ext uri="{FF2B5EF4-FFF2-40B4-BE49-F238E27FC236}">
                <a16:creationId xmlns:a16="http://schemas.microsoft.com/office/drawing/2014/main" id="{6FD3B2B8-B6DD-4AA4-928E-5055BBA9C4F3}"/>
              </a:ext>
            </a:extLst>
          </p:cNvPr>
          <p:cNvSpPr>
            <a:spLocks noChangeShapeType="1"/>
          </p:cNvSpPr>
          <p:nvPr/>
        </p:nvSpPr>
        <p:spPr bwMode="auto">
          <a:xfrm>
            <a:off x="3243636" y="2810401"/>
            <a:ext cx="0" cy="3683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36" name="Rectangle 13">
            <a:extLst>
              <a:ext uri="{FF2B5EF4-FFF2-40B4-BE49-F238E27FC236}">
                <a16:creationId xmlns:a16="http://schemas.microsoft.com/office/drawing/2014/main" id="{9F86BCEC-E973-45EF-A1A6-021FEC9307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4203" y="1241076"/>
            <a:ext cx="424797" cy="366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</a:rPr>
              <a:t>C2</a:t>
            </a:r>
          </a:p>
        </p:txBody>
      </p:sp>
      <p:sp>
        <p:nvSpPr>
          <p:cNvPr id="37" name="AutoShape 16">
            <a:extLst>
              <a:ext uri="{FF2B5EF4-FFF2-40B4-BE49-F238E27FC236}">
                <a16:creationId xmlns:a16="http://schemas.microsoft.com/office/drawing/2014/main" id="{48307579-98ED-4F1E-B2DE-637916F983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7620" y="3191401"/>
            <a:ext cx="6860781" cy="465118"/>
          </a:xfrm>
          <a:prstGeom prst="roundRect">
            <a:avLst>
              <a:gd name="adj" fmla="val 12495"/>
            </a:avLst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38" name="Rectangle 17">
            <a:extLst>
              <a:ext uri="{FF2B5EF4-FFF2-40B4-BE49-F238E27FC236}">
                <a16:creationId xmlns:a16="http://schemas.microsoft.com/office/drawing/2014/main" id="{8B1DA094-DA5F-4889-AAFF-32CDE92C7C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3515" y="3244339"/>
            <a:ext cx="2104744" cy="366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  <a:cs typeface="+mn-cs"/>
              </a:rPr>
              <a:t>Switch (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65000"/>
                  </a:schemeClr>
                </a:solidFill>
                <a:effectLst/>
                <a:uLnTx/>
                <a:uFillTx/>
                <a:latin typeface="Arial Narrow" panose="020B0606020202030204" pitchFamily="34" charset="0"/>
              </a:rPr>
              <a:t>peer to peer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  <a:cs typeface="+mn-cs"/>
              </a:rPr>
              <a:t>)</a:t>
            </a: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5C3578BE-8AB4-4F32-942C-19DEB8DD1F10}"/>
              </a:ext>
            </a:extLst>
          </p:cNvPr>
          <p:cNvSpPr/>
          <p:nvPr/>
        </p:nvSpPr>
        <p:spPr bwMode="auto">
          <a:xfrm>
            <a:off x="2551493" y="2130951"/>
            <a:ext cx="1371569" cy="679450"/>
          </a:xfrm>
          <a:prstGeom prst="roundRect">
            <a:avLst/>
          </a:prstGeom>
          <a:solidFill>
            <a:srgbClr val="CCEC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64" name="Oval 7">
            <a:extLst>
              <a:ext uri="{FF2B5EF4-FFF2-40B4-BE49-F238E27FC236}">
                <a16:creationId xmlns:a16="http://schemas.microsoft.com/office/drawing/2014/main" id="{E9D3B7CC-CC0B-46B8-AED6-0E7F061225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7651" y="1051844"/>
            <a:ext cx="749300" cy="7493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65" name="Line 9">
            <a:extLst>
              <a:ext uri="{FF2B5EF4-FFF2-40B4-BE49-F238E27FC236}">
                <a16:creationId xmlns:a16="http://schemas.microsoft.com/office/drawing/2014/main" id="{761927B0-4D93-4D4E-B279-9BA3AC91676A}"/>
              </a:ext>
            </a:extLst>
          </p:cNvPr>
          <p:cNvSpPr>
            <a:spLocks noChangeShapeType="1"/>
          </p:cNvSpPr>
          <p:nvPr/>
        </p:nvSpPr>
        <p:spPr bwMode="auto">
          <a:xfrm>
            <a:off x="1669763" y="1807575"/>
            <a:ext cx="0" cy="3111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66" name="Line 10">
            <a:extLst>
              <a:ext uri="{FF2B5EF4-FFF2-40B4-BE49-F238E27FC236}">
                <a16:creationId xmlns:a16="http://schemas.microsoft.com/office/drawing/2014/main" id="{1A6863F4-F416-4AFD-B0C6-F81C3D8EEF49}"/>
              </a:ext>
            </a:extLst>
          </p:cNvPr>
          <p:cNvSpPr>
            <a:spLocks noChangeShapeType="1"/>
          </p:cNvSpPr>
          <p:nvPr/>
        </p:nvSpPr>
        <p:spPr bwMode="auto">
          <a:xfrm>
            <a:off x="1669763" y="2798175"/>
            <a:ext cx="0" cy="3683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67" name="Rectangle 13">
            <a:extLst>
              <a:ext uri="{FF2B5EF4-FFF2-40B4-BE49-F238E27FC236}">
                <a16:creationId xmlns:a16="http://schemas.microsoft.com/office/drawing/2014/main" id="{554EB754-274E-4EB4-8AD9-2DF11C63B4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0330" y="1228850"/>
            <a:ext cx="424797" cy="366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</a:rPr>
              <a:t>C1</a:t>
            </a:r>
          </a:p>
        </p:txBody>
      </p:sp>
      <p:sp>
        <p:nvSpPr>
          <p:cNvPr id="68" name="矩形: 圆角 67">
            <a:extLst>
              <a:ext uri="{FF2B5EF4-FFF2-40B4-BE49-F238E27FC236}">
                <a16:creationId xmlns:a16="http://schemas.microsoft.com/office/drawing/2014/main" id="{ED8DDC0F-AFA9-4718-9BDC-3B8F8B3DB64E}"/>
              </a:ext>
            </a:extLst>
          </p:cNvPr>
          <p:cNvSpPr/>
          <p:nvPr/>
        </p:nvSpPr>
        <p:spPr bwMode="auto">
          <a:xfrm>
            <a:off x="977620" y="2118725"/>
            <a:ext cx="1371569" cy="679450"/>
          </a:xfrm>
          <a:prstGeom prst="roundRect">
            <a:avLst/>
          </a:prstGeom>
          <a:solidFill>
            <a:srgbClr val="CCEC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69" name="Oval 7">
            <a:extLst>
              <a:ext uri="{FF2B5EF4-FFF2-40B4-BE49-F238E27FC236}">
                <a16:creationId xmlns:a16="http://schemas.microsoft.com/office/drawing/2014/main" id="{42E8885E-6C42-407C-80A3-FC01AC15B8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7081" y="1058895"/>
            <a:ext cx="749300" cy="7493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70" name="Line 9">
            <a:extLst>
              <a:ext uri="{FF2B5EF4-FFF2-40B4-BE49-F238E27FC236}">
                <a16:creationId xmlns:a16="http://schemas.microsoft.com/office/drawing/2014/main" id="{52CE6BCF-93B4-4BEC-8D07-1B322CECDA82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9193" y="1814626"/>
            <a:ext cx="0" cy="3111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71" name="Line 10">
            <a:extLst>
              <a:ext uri="{FF2B5EF4-FFF2-40B4-BE49-F238E27FC236}">
                <a16:creationId xmlns:a16="http://schemas.microsoft.com/office/drawing/2014/main" id="{1C584A1F-D17F-450E-942D-C8255A2CAAA3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9193" y="2805226"/>
            <a:ext cx="0" cy="3683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72" name="Rectangle 13">
            <a:extLst>
              <a:ext uri="{FF2B5EF4-FFF2-40B4-BE49-F238E27FC236}">
                <a16:creationId xmlns:a16="http://schemas.microsoft.com/office/drawing/2014/main" id="{299D76AA-CE99-4FCD-9455-5F04471FBB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9760" y="1235901"/>
            <a:ext cx="424797" cy="366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</a:rPr>
              <a:t>C4</a:t>
            </a:r>
          </a:p>
        </p:txBody>
      </p:sp>
      <p:sp>
        <p:nvSpPr>
          <p:cNvPr id="73" name="矩形: 圆角 72">
            <a:extLst>
              <a:ext uri="{FF2B5EF4-FFF2-40B4-BE49-F238E27FC236}">
                <a16:creationId xmlns:a16="http://schemas.microsoft.com/office/drawing/2014/main" id="{93057970-017A-4F4B-9BD6-2E395B9F653F}"/>
              </a:ext>
            </a:extLst>
          </p:cNvPr>
          <p:cNvSpPr/>
          <p:nvPr/>
        </p:nvSpPr>
        <p:spPr bwMode="auto">
          <a:xfrm>
            <a:off x="5717050" y="2125776"/>
            <a:ext cx="1371569" cy="679450"/>
          </a:xfrm>
          <a:prstGeom prst="roundRect">
            <a:avLst/>
          </a:prstGeom>
          <a:solidFill>
            <a:srgbClr val="CCEC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74" name="Oval 7">
            <a:extLst>
              <a:ext uri="{FF2B5EF4-FFF2-40B4-BE49-F238E27FC236}">
                <a16:creationId xmlns:a16="http://schemas.microsoft.com/office/drawing/2014/main" id="{92DA491D-7521-4779-9703-1921BEB295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3208" y="1046669"/>
            <a:ext cx="749300" cy="7493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75" name="Line 9">
            <a:extLst>
              <a:ext uri="{FF2B5EF4-FFF2-40B4-BE49-F238E27FC236}">
                <a16:creationId xmlns:a16="http://schemas.microsoft.com/office/drawing/2014/main" id="{EF65B723-32B4-495C-9F9C-549E4BDA9348}"/>
              </a:ext>
            </a:extLst>
          </p:cNvPr>
          <p:cNvSpPr>
            <a:spLocks noChangeShapeType="1"/>
          </p:cNvSpPr>
          <p:nvPr/>
        </p:nvSpPr>
        <p:spPr bwMode="auto">
          <a:xfrm>
            <a:off x="4835320" y="1802400"/>
            <a:ext cx="0" cy="3111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76" name="Line 10">
            <a:extLst>
              <a:ext uri="{FF2B5EF4-FFF2-40B4-BE49-F238E27FC236}">
                <a16:creationId xmlns:a16="http://schemas.microsoft.com/office/drawing/2014/main" id="{7F03F7D1-A57D-40E7-9D63-C68504CCEA5B}"/>
              </a:ext>
            </a:extLst>
          </p:cNvPr>
          <p:cNvSpPr>
            <a:spLocks noChangeShapeType="1"/>
          </p:cNvSpPr>
          <p:nvPr/>
        </p:nvSpPr>
        <p:spPr bwMode="auto">
          <a:xfrm>
            <a:off x="4835320" y="2793000"/>
            <a:ext cx="0" cy="3683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77" name="Rectangle 13">
            <a:extLst>
              <a:ext uri="{FF2B5EF4-FFF2-40B4-BE49-F238E27FC236}">
                <a16:creationId xmlns:a16="http://schemas.microsoft.com/office/drawing/2014/main" id="{C714C0FC-7261-4900-ABE0-2C7B08DDD7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95887" y="1223675"/>
            <a:ext cx="424797" cy="366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</a:rPr>
              <a:t>C3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121529A-1E0B-4A77-A91D-BCE05BB7FE35}"/>
              </a:ext>
            </a:extLst>
          </p:cNvPr>
          <p:cNvSpPr/>
          <p:nvPr/>
        </p:nvSpPr>
        <p:spPr>
          <a:xfrm>
            <a:off x="1108883" y="2285680"/>
            <a:ext cx="4026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tx2"/>
                </a:solidFill>
              </a:rPr>
              <a:t>X: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76E3328-ECB4-4B26-A415-0875B0215C81}"/>
              </a:ext>
            </a:extLst>
          </p:cNvPr>
          <p:cNvSpPr/>
          <p:nvPr/>
        </p:nvSpPr>
        <p:spPr>
          <a:xfrm>
            <a:off x="4527599" y="2246465"/>
            <a:ext cx="67037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tx2"/>
                </a:solidFill>
              </a:rPr>
              <a:t>X:  </a:t>
            </a:r>
            <a:r>
              <a:rPr lang="en-US" altLang="zh-CN" b="1" dirty="0">
                <a:solidFill>
                  <a:srgbClr val="FF0000"/>
                </a:solidFill>
                <a:latin typeface="Imprint MT Shadow" panose="04020605060303030202" pitchFamily="82" charset="0"/>
              </a:rPr>
              <a:t>S</a:t>
            </a:r>
            <a:endParaRPr lang="zh-CN" altLang="en-US" dirty="0"/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999CF0D0-0C69-49D5-84EA-33E3FF2CF465}"/>
              </a:ext>
            </a:extLst>
          </p:cNvPr>
          <p:cNvSpPr/>
          <p:nvPr/>
        </p:nvSpPr>
        <p:spPr>
          <a:xfrm>
            <a:off x="2480452" y="1946062"/>
            <a:ext cx="1582484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dirty="0">
                <a:solidFill>
                  <a:schemeClr val="tx2"/>
                </a:solidFill>
              </a:rPr>
              <a:t> X: </a:t>
            </a:r>
            <a:r>
              <a:rPr lang="en-US" altLang="zh-CN" b="1" dirty="0">
                <a:solidFill>
                  <a:srgbClr val="FF0000"/>
                </a:solidFill>
              </a:rPr>
              <a:t>S{C3, C4}</a:t>
            </a:r>
            <a:endParaRPr lang="zh-CN" altLang="en-US" sz="4400" b="1" dirty="0">
              <a:solidFill>
                <a:srgbClr val="FF0000"/>
              </a:solidFill>
            </a:endParaRP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E2A22AE4-52B5-44CD-AA39-AB40ECD94C8A}"/>
              </a:ext>
            </a:extLst>
          </p:cNvPr>
          <p:cNvSpPr/>
          <p:nvPr/>
        </p:nvSpPr>
        <p:spPr>
          <a:xfrm>
            <a:off x="6106662" y="2269668"/>
            <a:ext cx="6703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tx2"/>
                </a:solidFill>
              </a:rPr>
              <a:t>X:  </a:t>
            </a:r>
            <a:r>
              <a:rPr lang="en-US" altLang="zh-CN" b="1" dirty="0">
                <a:solidFill>
                  <a:srgbClr val="FF0000"/>
                </a:solidFill>
                <a:latin typeface="Imprint MT Shadow" panose="04020605060303030202" pitchFamily="82" charset="0"/>
              </a:rPr>
              <a:t>S</a:t>
            </a:r>
            <a:endParaRPr lang="zh-CN" altLang="en-US" dirty="0"/>
          </a:p>
        </p:txBody>
      </p:sp>
      <p:sp>
        <p:nvSpPr>
          <p:cNvPr id="118784" name="矩形 118783">
            <a:extLst>
              <a:ext uri="{FF2B5EF4-FFF2-40B4-BE49-F238E27FC236}">
                <a16:creationId xmlns:a16="http://schemas.microsoft.com/office/drawing/2014/main" id="{1DB99245-7C83-4FFA-99F0-79B940816186}"/>
              </a:ext>
            </a:extLst>
          </p:cNvPr>
          <p:cNvSpPr/>
          <p:nvPr/>
        </p:nvSpPr>
        <p:spPr>
          <a:xfrm>
            <a:off x="1417639" y="2288500"/>
            <a:ext cx="9220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Imprint MT Shadow" panose="04020605060303030202" pitchFamily="82" charset="0"/>
              </a:rPr>
              <a:t>M,  888</a:t>
            </a:r>
            <a:endParaRPr lang="zh-CN" altLang="en-US" dirty="0"/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81FB116F-D60F-4434-9A12-7BCFBC83B737}"/>
              </a:ext>
            </a:extLst>
          </p:cNvPr>
          <p:cNvSpPr/>
          <p:nvPr/>
        </p:nvSpPr>
        <p:spPr>
          <a:xfrm>
            <a:off x="1419112" y="2293104"/>
            <a:ext cx="2792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Imprint MT Shadow" panose="04020605060303030202" pitchFamily="82" charset="0"/>
              </a:rPr>
              <a:t>I</a:t>
            </a:r>
            <a:endParaRPr lang="zh-CN" altLang="en-US" dirty="0"/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992E6463-374C-49BD-8DD7-A0BE0C1451D3}"/>
              </a:ext>
            </a:extLst>
          </p:cNvPr>
          <p:cNvSpPr/>
          <p:nvPr/>
        </p:nvSpPr>
        <p:spPr>
          <a:xfrm>
            <a:off x="4527599" y="2246465"/>
            <a:ext cx="5613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X: </a:t>
            </a:r>
            <a:r>
              <a:rPr lang="en-US" altLang="zh-CN" b="1" dirty="0">
                <a:solidFill>
                  <a:srgbClr val="FF0000"/>
                </a:solidFill>
                <a:latin typeface="Imprint MT Shadow" panose="04020605060303030202" pitchFamily="82" charset="0"/>
              </a:rPr>
              <a:t>I</a:t>
            </a:r>
            <a:endParaRPr lang="zh-CN" altLang="en-US" dirty="0"/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DD938820-1610-4DB9-9424-F2908483F74C}"/>
              </a:ext>
            </a:extLst>
          </p:cNvPr>
          <p:cNvSpPr/>
          <p:nvPr/>
        </p:nvSpPr>
        <p:spPr>
          <a:xfrm>
            <a:off x="6098671" y="2267346"/>
            <a:ext cx="5613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X: </a:t>
            </a:r>
            <a:r>
              <a:rPr lang="en-US" altLang="zh-CN" b="1" dirty="0">
                <a:solidFill>
                  <a:srgbClr val="FF0000"/>
                </a:solidFill>
                <a:latin typeface="Imprint MT Shadow" panose="04020605060303030202" pitchFamily="82" charset="0"/>
              </a:rPr>
              <a:t>I</a:t>
            </a:r>
            <a:endParaRPr lang="zh-CN" altLang="en-US" dirty="0"/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727947B9-EC5F-4C02-90F9-BC6BE0568E88}"/>
              </a:ext>
            </a:extLst>
          </p:cNvPr>
          <p:cNvSpPr/>
          <p:nvPr/>
        </p:nvSpPr>
        <p:spPr>
          <a:xfrm>
            <a:off x="2543151" y="1947295"/>
            <a:ext cx="1582484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dirty="0"/>
              <a:t>X: </a:t>
            </a:r>
            <a:r>
              <a:rPr lang="en-US" altLang="zh-CN" b="1" dirty="0">
                <a:solidFill>
                  <a:srgbClr val="FF0000"/>
                </a:solidFill>
              </a:rPr>
              <a:t>E{C1}</a:t>
            </a:r>
            <a:endParaRPr lang="zh-CN" altLang="en-US" sz="4400" b="1" dirty="0">
              <a:solidFill>
                <a:srgbClr val="FF0000"/>
              </a:solidFill>
            </a:endParaRPr>
          </a:p>
        </p:txBody>
      </p:sp>
      <p:sp>
        <p:nvSpPr>
          <p:cNvPr id="118786" name="矩形 118785">
            <a:extLst>
              <a:ext uri="{FF2B5EF4-FFF2-40B4-BE49-F238E27FC236}">
                <a16:creationId xmlns:a16="http://schemas.microsoft.com/office/drawing/2014/main" id="{9C33AE76-35E3-46CB-9C6A-1E1F3D782489}"/>
              </a:ext>
            </a:extLst>
          </p:cNvPr>
          <p:cNvSpPr/>
          <p:nvPr/>
        </p:nvSpPr>
        <p:spPr>
          <a:xfrm>
            <a:off x="258812" y="6047403"/>
            <a:ext cx="9140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dirty="0">
                <a:ea typeface="ＭＳ Ｐゴシック" charset="-128"/>
              </a:rPr>
              <a:t>X = </a:t>
            </a:r>
            <a:r>
              <a:rPr lang="en-US" altLang="zh-CN" sz="1600" b="1" dirty="0">
                <a:solidFill>
                  <a:srgbClr val="FF0000"/>
                </a:solidFill>
                <a:latin typeface="Imprint MT Shadow" panose="04020605060303030202" pitchFamily="82" charset="0"/>
              </a:rPr>
              <a:t>888</a:t>
            </a:r>
            <a:endParaRPr lang="zh-CN" altLang="en-US" dirty="0"/>
          </a:p>
        </p:txBody>
      </p:sp>
      <p:sp>
        <p:nvSpPr>
          <p:cNvPr id="118788" name="矩形 118787">
            <a:extLst>
              <a:ext uri="{FF2B5EF4-FFF2-40B4-BE49-F238E27FC236}">
                <a16:creationId xmlns:a16="http://schemas.microsoft.com/office/drawing/2014/main" id="{2AF0D5B3-2E0C-4B11-8078-6E068D63A822}"/>
              </a:ext>
            </a:extLst>
          </p:cNvPr>
          <p:cNvSpPr/>
          <p:nvPr/>
        </p:nvSpPr>
        <p:spPr>
          <a:xfrm>
            <a:off x="7243375" y="1609670"/>
            <a:ext cx="59503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dirty="0"/>
              <a:t>…</a:t>
            </a:r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17159005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6" grpId="0"/>
      <p:bldP spid="81" grpId="0"/>
      <p:bldP spid="82" grpId="0"/>
      <p:bldP spid="118784" grpId="0"/>
      <p:bldP spid="85" grpId="0"/>
      <p:bldP spid="86" grpId="0"/>
      <p:bldP spid="87" grpId="0"/>
      <p:bldP spid="88" grpId="0"/>
      <p:bldP spid="118786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矩形: 圆角 77">
            <a:extLst>
              <a:ext uri="{FF2B5EF4-FFF2-40B4-BE49-F238E27FC236}">
                <a16:creationId xmlns:a16="http://schemas.microsoft.com/office/drawing/2014/main" id="{BF5F3C53-EE21-485E-897E-15C3CA3A11F4}"/>
              </a:ext>
            </a:extLst>
          </p:cNvPr>
          <p:cNvSpPr/>
          <p:nvPr/>
        </p:nvSpPr>
        <p:spPr bwMode="auto">
          <a:xfrm>
            <a:off x="4143177" y="2113550"/>
            <a:ext cx="1371569" cy="679450"/>
          </a:xfrm>
          <a:prstGeom prst="roundRect">
            <a:avLst/>
          </a:prstGeom>
          <a:solidFill>
            <a:srgbClr val="CCEC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118785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8458200" cy="685800"/>
          </a:xfrm>
        </p:spPr>
        <p:txBody>
          <a:bodyPr/>
          <a:lstStyle/>
          <a:p>
            <a:r>
              <a:rPr lang="en-US" altLang="en-US" dirty="0">
                <a:ea typeface="ＭＳ Ｐゴシック" charset="-128"/>
              </a:rPr>
              <a:t>How </a:t>
            </a:r>
            <a:r>
              <a:rPr lang="en-US" altLang="zh-CN" dirty="0"/>
              <a:t>Directory</a:t>
            </a:r>
            <a:r>
              <a:rPr lang="en-US" altLang="en-US" dirty="0">
                <a:ea typeface="ＭＳ Ｐゴシック" charset="-128"/>
              </a:rPr>
              <a:t> Works? (</a:t>
            </a:r>
            <a:r>
              <a:rPr lang="en-US" altLang="zh-CN" dirty="0">
                <a:ea typeface="ＭＳ Ｐゴシック" charset="-128"/>
              </a:rPr>
              <a:t>C3 reads </a:t>
            </a:r>
            <a:r>
              <a:rPr lang="en-US" altLang="en-US" dirty="0">
                <a:ea typeface="ＭＳ Ｐゴシック" charset="-128"/>
              </a:rPr>
              <a:t>X)</a:t>
            </a:r>
          </a:p>
        </p:txBody>
      </p:sp>
      <p:sp>
        <p:nvSpPr>
          <p:cNvPr id="118787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AED358C2-D4E2-FB45-9976-71FB6B5F3BC4}" type="slidenum">
              <a:rPr lang="en-US" altLang="en-US" sz="1600">
                <a:solidFill>
                  <a:srgbClr val="000000"/>
                </a:solidFill>
                <a:latin typeface="Garamond" charset="0"/>
              </a:rPr>
              <a:pPr eaLnBrk="1" hangingPunct="1"/>
              <a:t>37</a:t>
            </a:fld>
            <a:endParaRPr lang="en-US" altLang="en-US" sz="1600">
              <a:solidFill>
                <a:srgbClr val="000000"/>
              </a:solidFill>
              <a:latin typeface="Garamond" charset="0"/>
            </a:endParaRPr>
          </a:p>
        </p:txBody>
      </p:sp>
      <p:grpSp>
        <p:nvGrpSpPr>
          <p:cNvPr id="8" name="组合 72">
            <a:extLst>
              <a:ext uri="{FF2B5EF4-FFF2-40B4-BE49-F238E27FC236}">
                <a16:creationId xmlns:a16="http://schemas.microsoft.com/office/drawing/2014/main" id="{B905FDAB-85EA-43D7-B6CD-0608601A195D}"/>
              </a:ext>
            </a:extLst>
          </p:cNvPr>
          <p:cNvGrpSpPr>
            <a:grpSpLocks/>
          </p:cNvGrpSpPr>
          <p:nvPr/>
        </p:nvGrpSpPr>
        <p:grpSpPr bwMode="auto">
          <a:xfrm>
            <a:off x="1172845" y="4457700"/>
            <a:ext cx="6503987" cy="2001838"/>
            <a:chOff x="999306" y="4857760"/>
            <a:chExt cx="6503240" cy="2001034"/>
          </a:xfrm>
        </p:grpSpPr>
        <p:cxnSp>
          <p:nvCxnSpPr>
            <p:cNvPr id="9" name="直接连接符 37">
              <a:extLst>
                <a:ext uri="{FF2B5EF4-FFF2-40B4-BE49-F238E27FC236}">
                  <a16:creationId xmlns:a16="http://schemas.microsoft.com/office/drawing/2014/main" id="{4362EC90-7BFD-4FB8-8CF7-9E605148B5A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-20" y="5857880"/>
              <a:ext cx="2000240" cy="1588"/>
            </a:xfrm>
            <a:prstGeom prst="line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" name="直接连接符 38">
              <a:extLst>
                <a:ext uri="{FF2B5EF4-FFF2-40B4-BE49-F238E27FC236}">
                  <a16:creationId xmlns:a16="http://schemas.microsoft.com/office/drawing/2014/main" id="{D8A6DF2C-7C35-467D-969D-8F038EEE4B4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2072476" y="5857086"/>
              <a:ext cx="2000240" cy="1588"/>
            </a:xfrm>
            <a:prstGeom prst="line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" name="直接连接符 39">
              <a:extLst>
                <a:ext uri="{FF2B5EF4-FFF2-40B4-BE49-F238E27FC236}">
                  <a16:creationId xmlns:a16="http://schemas.microsoft.com/office/drawing/2014/main" id="{92DE0F5F-1DBE-4E9C-9483-60065E25340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4358492" y="5857086"/>
              <a:ext cx="2000240" cy="1588"/>
            </a:xfrm>
            <a:prstGeom prst="line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" name="直接连接符 40">
              <a:extLst>
                <a:ext uri="{FF2B5EF4-FFF2-40B4-BE49-F238E27FC236}">
                  <a16:creationId xmlns:a16="http://schemas.microsoft.com/office/drawing/2014/main" id="{63EAF7E6-582C-4F16-A5C6-077DD159AB8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6501632" y="5857086"/>
              <a:ext cx="2000240" cy="1588"/>
            </a:xfrm>
            <a:prstGeom prst="line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3" name="组合 48">
            <a:extLst>
              <a:ext uri="{FF2B5EF4-FFF2-40B4-BE49-F238E27FC236}">
                <a16:creationId xmlns:a16="http://schemas.microsoft.com/office/drawing/2014/main" id="{5907580B-BDEC-4E79-9485-70DB6F9469E2}"/>
              </a:ext>
            </a:extLst>
          </p:cNvPr>
          <p:cNvGrpSpPr>
            <a:grpSpLocks/>
          </p:cNvGrpSpPr>
          <p:nvPr/>
        </p:nvGrpSpPr>
        <p:grpSpPr bwMode="auto">
          <a:xfrm>
            <a:off x="3263838" y="4362596"/>
            <a:ext cx="2250907" cy="338554"/>
            <a:chOff x="1000100" y="4740577"/>
            <a:chExt cx="2071702" cy="337539"/>
          </a:xfrm>
        </p:grpSpPr>
        <p:cxnSp>
          <p:nvCxnSpPr>
            <p:cNvPr id="14" name="直接箭头连接符 46">
              <a:extLst>
                <a:ext uri="{FF2B5EF4-FFF2-40B4-BE49-F238E27FC236}">
                  <a16:creationId xmlns:a16="http://schemas.microsoft.com/office/drawing/2014/main" id="{F845DB13-4A50-4D4E-A571-93AEA7DA846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000100" y="5072074"/>
              <a:ext cx="2071702" cy="1588"/>
            </a:xfrm>
            <a:prstGeom prst="straightConnector1">
              <a:avLst/>
            </a:prstGeom>
            <a:noFill/>
            <a:ln w="38100" algn="ctr">
              <a:solidFill>
                <a:srgbClr val="FF0000"/>
              </a:solidFill>
              <a:round/>
              <a:headEnd type="arrow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5" name="TextBox 47">
              <a:extLst>
                <a:ext uri="{FF2B5EF4-FFF2-40B4-BE49-F238E27FC236}">
                  <a16:creationId xmlns:a16="http://schemas.microsoft.com/office/drawing/2014/main" id="{6F47F1D2-7851-40A7-8376-43A0CBEF33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03901" y="4740577"/>
              <a:ext cx="779297" cy="3375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dirty="0" err="1">
                  <a:solidFill>
                    <a:schemeClr val="tx2"/>
                  </a:solidFill>
                  <a:latin typeface="Arial" panose="020B0604020202020204" pitchFamily="34" charset="0"/>
                </a:rPr>
                <a:t>GetS</a:t>
              </a:r>
              <a:r>
                <a:rPr lang="en-US" altLang="zh-CN" sz="1600" dirty="0">
                  <a:solidFill>
                    <a:schemeClr val="tx2"/>
                  </a:solidFill>
                  <a:latin typeface="Arial" panose="020B0604020202020204" pitchFamily="34" charset="0"/>
                </a:rPr>
                <a:t> X</a:t>
              </a:r>
              <a:endParaRPr lang="zh-CN" altLang="en-US" sz="1600" dirty="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</p:grpSp>
      <p:cxnSp>
        <p:nvCxnSpPr>
          <p:cNvPr id="16" name="直接箭头连接符 50">
            <a:extLst>
              <a:ext uri="{FF2B5EF4-FFF2-40B4-BE49-F238E27FC236}">
                <a16:creationId xmlns:a16="http://schemas.microsoft.com/office/drawing/2014/main" id="{DA895F04-365D-459E-A7BB-F4D86255E50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888807" y="4600575"/>
            <a:ext cx="914400" cy="914400"/>
          </a:xfrm>
          <a:prstGeom prst="straightConnector1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 type="arrow" w="med" len="med"/>
              </a14:hiddenLine>
            </a:ext>
          </a:extLst>
        </p:spPr>
      </p:cxnSp>
      <p:grpSp>
        <p:nvGrpSpPr>
          <p:cNvPr id="23" name="组合 61">
            <a:extLst>
              <a:ext uri="{FF2B5EF4-FFF2-40B4-BE49-F238E27FC236}">
                <a16:creationId xmlns:a16="http://schemas.microsoft.com/office/drawing/2014/main" id="{4DEB8A4A-FED0-4549-A28A-1235E8779A4E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1172844" y="5208473"/>
            <a:ext cx="2073276" cy="338554"/>
            <a:chOff x="3071802" y="5751406"/>
            <a:chExt cx="2286016" cy="338604"/>
          </a:xfrm>
        </p:grpSpPr>
        <p:cxnSp>
          <p:nvCxnSpPr>
            <p:cNvPr id="24" name="直接箭头连接符 58">
              <a:extLst>
                <a:ext uri="{FF2B5EF4-FFF2-40B4-BE49-F238E27FC236}">
                  <a16:creationId xmlns:a16="http://schemas.microsoft.com/office/drawing/2014/main" id="{8309F93C-BE31-452F-85C1-B19102A5A11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>
              <a:off x="3071802" y="6072206"/>
              <a:ext cx="2286016" cy="1588"/>
            </a:xfrm>
            <a:prstGeom prst="straightConnector1">
              <a:avLst/>
            </a:prstGeom>
            <a:noFill/>
            <a:ln w="9525" algn="ctr">
              <a:solidFill>
                <a:srgbClr val="00B05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5" name="TextBox 59">
              <a:extLst>
                <a:ext uri="{FF2B5EF4-FFF2-40B4-BE49-F238E27FC236}">
                  <a16:creationId xmlns:a16="http://schemas.microsoft.com/office/drawing/2014/main" id="{9E65E935-571B-4299-8103-0EF081A13A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67584" y="5751406"/>
              <a:ext cx="1143008" cy="3386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dirty="0">
                  <a:solidFill>
                    <a:schemeClr val="tx2"/>
                  </a:solidFill>
                  <a:latin typeface="Arial" panose="020B0604020202020204" pitchFamily="34" charset="0"/>
                </a:rPr>
                <a:t>   Ack</a:t>
              </a:r>
              <a:endParaRPr lang="zh-CN" altLang="en-US" sz="1600" dirty="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29" name="组合 70">
            <a:extLst>
              <a:ext uri="{FF2B5EF4-FFF2-40B4-BE49-F238E27FC236}">
                <a16:creationId xmlns:a16="http://schemas.microsoft.com/office/drawing/2014/main" id="{8A446719-78A3-43B2-8E28-5B0D757FE6BE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1187320" y="5634333"/>
            <a:ext cx="4344536" cy="338554"/>
            <a:chOff x="1000100" y="6034331"/>
            <a:chExt cx="2071702" cy="338604"/>
          </a:xfrm>
        </p:grpSpPr>
        <p:cxnSp>
          <p:nvCxnSpPr>
            <p:cNvPr id="30" name="直接箭头连接符 68">
              <a:extLst>
                <a:ext uri="{FF2B5EF4-FFF2-40B4-BE49-F238E27FC236}">
                  <a16:creationId xmlns:a16="http://schemas.microsoft.com/office/drawing/2014/main" id="{2722A55E-94E9-4E1C-89E8-7F98AE0C82A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>
              <a:off x="1000100" y="6357958"/>
              <a:ext cx="2071702" cy="1588"/>
            </a:xfrm>
            <a:prstGeom prst="straightConnector1">
              <a:avLst/>
            </a:prstGeom>
            <a:noFill/>
            <a:ln w="38100" algn="ctr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1" name="TextBox 69">
              <a:extLst>
                <a:ext uri="{FF2B5EF4-FFF2-40B4-BE49-F238E27FC236}">
                  <a16:creationId xmlns:a16="http://schemas.microsoft.com/office/drawing/2014/main" id="{4F62C11B-3029-4B9F-9E67-C6447B4931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1360" y="6034331"/>
              <a:ext cx="649890" cy="3386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dirty="0">
                  <a:solidFill>
                    <a:schemeClr val="tx2"/>
                  </a:solidFill>
                  <a:latin typeface="Arial" panose="020B0604020202020204" pitchFamily="34" charset="0"/>
                </a:rPr>
                <a:t>Reply X=888</a:t>
              </a:r>
              <a:endParaRPr lang="zh-CN" altLang="en-US" dirty="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32" name="Oval 7">
            <a:extLst>
              <a:ext uri="{FF2B5EF4-FFF2-40B4-BE49-F238E27FC236}">
                <a16:creationId xmlns:a16="http://schemas.microsoft.com/office/drawing/2014/main" id="{DC67EC1F-A925-483F-9AC1-FA5E4B1AE7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1524" y="1064070"/>
            <a:ext cx="749300" cy="7493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33" name="Line 9">
            <a:extLst>
              <a:ext uri="{FF2B5EF4-FFF2-40B4-BE49-F238E27FC236}">
                <a16:creationId xmlns:a16="http://schemas.microsoft.com/office/drawing/2014/main" id="{44141B5B-E623-48B2-AC70-05F373557FC0}"/>
              </a:ext>
            </a:extLst>
          </p:cNvPr>
          <p:cNvSpPr>
            <a:spLocks noChangeShapeType="1"/>
          </p:cNvSpPr>
          <p:nvPr/>
        </p:nvSpPr>
        <p:spPr bwMode="auto">
          <a:xfrm>
            <a:off x="3243636" y="1819801"/>
            <a:ext cx="0" cy="3111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34" name="Line 10">
            <a:extLst>
              <a:ext uri="{FF2B5EF4-FFF2-40B4-BE49-F238E27FC236}">
                <a16:creationId xmlns:a16="http://schemas.microsoft.com/office/drawing/2014/main" id="{6FD3B2B8-B6DD-4AA4-928E-5055BBA9C4F3}"/>
              </a:ext>
            </a:extLst>
          </p:cNvPr>
          <p:cNvSpPr>
            <a:spLocks noChangeShapeType="1"/>
          </p:cNvSpPr>
          <p:nvPr/>
        </p:nvSpPr>
        <p:spPr bwMode="auto">
          <a:xfrm>
            <a:off x="3243636" y="2810401"/>
            <a:ext cx="0" cy="3683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36" name="Rectangle 13">
            <a:extLst>
              <a:ext uri="{FF2B5EF4-FFF2-40B4-BE49-F238E27FC236}">
                <a16:creationId xmlns:a16="http://schemas.microsoft.com/office/drawing/2014/main" id="{9F86BCEC-E973-45EF-A1A6-021FEC9307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4203" y="1241076"/>
            <a:ext cx="424797" cy="366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</a:rPr>
              <a:t>C2</a:t>
            </a:r>
          </a:p>
        </p:txBody>
      </p:sp>
      <p:sp>
        <p:nvSpPr>
          <p:cNvPr id="37" name="AutoShape 16">
            <a:extLst>
              <a:ext uri="{FF2B5EF4-FFF2-40B4-BE49-F238E27FC236}">
                <a16:creationId xmlns:a16="http://schemas.microsoft.com/office/drawing/2014/main" id="{48307579-98ED-4F1E-B2DE-637916F983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7620" y="3191401"/>
            <a:ext cx="6860781" cy="465118"/>
          </a:xfrm>
          <a:prstGeom prst="roundRect">
            <a:avLst>
              <a:gd name="adj" fmla="val 12495"/>
            </a:avLst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38" name="Rectangle 17">
            <a:extLst>
              <a:ext uri="{FF2B5EF4-FFF2-40B4-BE49-F238E27FC236}">
                <a16:creationId xmlns:a16="http://schemas.microsoft.com/office/drawing/2014/main" id="{8B1DA094-DA5F-4889-AAFF-32CDE92C7C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3515" y="3244339"/>
            <a:ext cx="2104744" cy="366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  <a:cs typeface="+mn-cs"/>
              </a:rPr>
              <a:t>Switch (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65000"/>
                  </a:schemeClr>
                </a:solidFill>
                <a:effectLst/>
                <a:uLnTx/>
                <a:uFillTx/>
                <a:latin typeface="Arial Narrow" panose="020B0606020202030204" pitchFamily="34" charset="0"/>
              </a:rPr>
              <a:t>peer to peer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  <a:cs typeface="+mn-cs"/>
              </a:rPr>
              <a:t>)</a:t>
            </a: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5C3578BE-8AB4-4F32-942C-19DEB8DD1F10}"/>
              </a:ext>
            </a:extLst>
          </p:cNvPr>
          <p:cNvSpPr/>
          <p:nvPr/>
        </p:nvSpPr>
        <p:spPr bwMode="auto">
          <a:xfrm>
            <a:off x="2551493" y="2130951"/>
            <a:ext cx="1371569" cy="679450"/>
          </a:xfrm>
          <a:prstGeom prst="roundRect">
            <a:avLst/>
          </a:prstGeom>
          <a:solidFill>
            <a:srgbClr val="CCEC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64" name="Oval 7">
            <a:extLst>
              <a:ext uri="{FF2B5EF4-FFF2-40B4-BE49-F238E27FC236}">
                <a16:creationId xmlns:a16="http://schemas.microsoft.com/office/drawing/2014/main" id="{E9D3B7CC-CC0B-46B8-AED6-0E7F061225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7651" y="1051844"/>
            <a:ext cx="749300" cy="7493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65" name="Line 9">
            <a:extLst>
              <a:ext uri="{FF2B5EF4-FFF2-40B4-BE49-F238E27FC236}">
                <a16:creationId xmlns:a16="http://schemas.microsoft.com/office/drawing/2014/main" id="{761927B0-4D93-4D4E-B279-9BA3AC91676A}"/>
              </a:ext>
            </a:extLst>
          </p:cNvPr>
          <p:cNvSpPr>
            <a:spLocks noChangeShapeType="1"/>
          </p:cNvSpPr>
          <p:nvPr/>
        </p:nvSpPr>
        <p:spPr bwMode="auto">
          <a:xfrm>
            <a:off x="1669763" y="1807575"/>
            <a:ext cx="0" cy="3111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66" name="Line 10">
            <a:extLst>
              <a:ext uri="{FF2B5EF4-FFF2-40B4-BE49-F238E27FC236}">
                <a16:creationId xmlns:a16="http://schemas.microsoft.com/office/drawing/2014/main" id="{1A6863F4-F416-4AFD-B0C6-F81C3D8EEF49}"/>
              </a:ext>
            </a:extLst>
          </p:cNvPr>
          <p:cNvSpPr>
            <a:spLocks noChangeShapeType="1"/>
          </p:cNvSpPr>
          <p:nvPr/>
        </p:nvSpPr>
        <p:spPr bwMode="auto">
          <a:xfrm>
            <a:off x="1669763" y="2798175"/>
            <a:ext cx="0" cy="3683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67" name="Rectangle 13">
            <a:extLst>
              <a:ext uri="{FF2B5EF4-FFF2-40B4-BE49-F238E27FC236}">
                <a16:creationId xmlns:a16="http://schemas.microsoft.com/office/drawing/2014/main" id="{554EB754-274E-4EB4-8AD9-2DF11C63B4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0330" y="1228850"/>
            <a:ext cx="424797" cy="366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</a:rPr>
              <a:t>C1</a:t>
            </a:r>
          </a:p>
        </p:txBody>
      </p:sp>
      <p:sp>
        <p:nvSpPr>
          <p:cNvPr id="68" name="矩形: 圆角 67">
            <a:extLst>
              <a:ext uri="{FF2B5EF4-FFF2-40B4-BE49-F238E27FC236}">
                <a16:creationId xmlns:a16="http://schemas.microsoft.com/office/drawing/2014/main" id="{ED8DDC0F-AFA9-4718-9BDC-3B8F8B3DB64E}"/>
              </a:ext>
            </a:extLst>
          </p:cNvPr>
          <p:cNvSpPr/>
          <p:nvPr/>
        </p:nvSpPr>
        <p:spPr bwMode="auto">
          <a:xfrm>
            <a:off x="977620" y="2118725"/>
            <a:ext cx="1371569" cy="679450"/>
          </a:xfrm>
          <a:prstGeom prst="roundRect">
            <a:avLst/>
          </a:prstGeom>
          <a:solidFill>
            <a:srgbClr val="CCEC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69" name="Oval 7">
            <a:extLst>
              <a:ext uri="{FF2B5EF4-FFF2-40B4-BE49-F238E27FC236}">
                <a16:creationId xmlns:a16="http://schemas.microsoft.com/office/drawing/2014/main" id="{42E8885E-6C42-407C-80A3-FC01AC15B8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7081" y="1058895"/>
            <a:ext cx="749300" cy="7493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70" name="Line 9">
            <a:extLst>
              <a:ext uri="{FF2B5EF4-FFF2-40B4-BE49-F238E27FC236}">
                <a16:creationId xmlns:a16="http://schemas.microsoft.com/office/drawing/2014/main" id="{52CE6BCF-93B4-4BEC-8D07-1B322CECDA82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9193" y="1814626"/>
            <a:ext cx="0" cy="3111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71" name="Line 10">
            <a:extLst>
              <a:ext uri="{FF2B5EF4-FFF2-40B4-BE49-F238E27FC236}">
                <a16:creationId xmlns:a16="http://schemas.microsoft.com/office/drawing/2014/main" id="{1C584A1F-D17F-450E-942D-C8255A2CAAA3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9193" y="2805226"/>
            <a:ext cx="0" cy="3683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72" name="Rectangle 13">
            <a:extLst>
              <a:ext uri="{FF2B5EF4-FFF2-40B4-BE49-F238E27FC236}">
                <a16:creationId xmlns:a16="http://schemas.microsoft.com/office/drawing/2014/main" id="{299D76AA-CE99-4FCD-9455-5F04471FBB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9760" y="1235901"/>
            <a:ext cx="424797" cy="366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</a:rPr>
              <a:t>C4</a:t>
            </a:r>
          </a:p>
        </p:txBody>
      </p:sp>
      <p:sp>
        <p:nvSpPr>
          <p:cNvPr id="73" name="矩形: 圆角 72">
            <a:extLst>
              <a:ext uri="{FF2B5EF4-FFF2-40B4-BE49-F238E27FC236}">
                <a16:creationId xmlns:a16="http://schemas.microsoft.com/office/drawing/2014/main" id="{93057970-017A-4F4B-9BD6-2E395B9F653F}"/>
              </a:ext>
            </a:extLst>
          </p:cNvPr>
          <p:cNvSpPr/>
          <p:nvPr/>
        </p:nvSpPr>
        <p:spPr bwMode="auto">
          <a:xfrm>
            <a:off x="5717050" y="2125776"/>
            <a:ext cx="1371569" cy="679450"/>
          </a:xfrm>
          <a:prstGeom prst="roundRect">
            <a:avLst/>
          </a:prstGeom>
          <a:solidFill>
            <a:srgbClr val="CCEC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74" name="Oval 7">
            <a:extLst>
              <a:ext uri="{FF2B5EF4-FFF2-40B4-BE49-F238E27FC236}">
                <a16:creationId xmlns:a16="http://schemas.microsoft.com/office/drawing/2014/main" id="{92DA491D-7521-4779-9703-1921BEB295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3208" y="1046669"/>
            <a:ext cx="749300" cy="7493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75" name="Line 9">
            <a:extLst>
              <a:ext uri="{FF2B5EF4-FFF2-40B4-BE49-F238E27FC236}">
                <a16:creationId xmlns:a16="http://schemas.microsoft.com/office/drawing/2014/main" id="{EF65B723-32B4-495C-9F9C-549E4BDA9348}"/>
              </a:ext>
            </a:extLst>
          </p:cNvPr>
          <p:cNvSpPr>
            <a:spLocks noChangeShapeType="1"/>
          </p:cNvSpPr>
          <p:nvPr/>
        </p:nvSpPr>
        <p:spPr bwMode="auto">
          <a:xfrm>
            <a:off x="4835320" y="1802400"/>
            <a:ext cx="0" cy="3111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76" name="Line 10">
            <a:extLst>
              <a:ext uri="{FF2B5EF4-FFF2-40B4-BE49-F238E27FC236}">
                <a16:creationId xmlns:a16="http://schemas.microsoft.com/office/drawing/2014/main" id="{7F03F7D1-A57D-40E7-9D63-C68504CCEA5B}"/>
              </a:ext>
            </a:extLst>
          </p:cNvPr>
          <p:cNvSpPr>
            <a:spLocks noChangeShapeType="1"/>
          </p:cNvSpPr>
          <p:nvPr/>
        </p:nvSpPr>
        <p:spPr bwMode="auto">
          <a:xfrm>
            <a:off x="4835320" y="2793000"/>
            <a:ext cx="0" cy="3683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77" name="Rectangle 13">
            <a:extLst>
              <a:ext uri="{FF2B5EF4-FFF2-40B4-BE49-F238E27FC236}">
                <a16:creationId xmlns:a16="http://schemas.microsoft.com/office/drawing/2014/main" id="{C714C0FC-7261-4900-ABE0-2C7B08DDD7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95887" y="1223675"/>
            <a:ext cx="424797" cy="366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</a:rPr>
              <a:t>C3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121529A-1E0B-4A77-A91D-BCE05BB7FE35}"/>
              </a:ext>
            </a:extLst>
          </p:cNvPr>
          <p:cNvSpPr/>
          <p:nvPr/>
        </p:nvSpPr>
        <p:spPr>
          <a:xfrm>
            <a:off x="1108883" y="2285680"/>
            <a:ext cx="4026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tx2"/>
                </a:solidFill>
              </a:rPr>
              <a:t>X: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76E3328-ECB4-4B26-A415-0875B0215C81}"/>
              </a:ext>
            </a:extLst>
          </p:cNvPr>
          <p:cNvSpPr/>
          <p:nvPr/>
        </p:nvSpPr>
        <p:spPr>
          <a:xfrm>
            <a:off x="4469603" y="2279999"/>
            <a:ext cx="67037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tx2"/>
                </a:solidFill>
              </a:rPr>
              <a:t>X: </a:t>
            </a:r>
            <a:r>
              <a:rPr lang="en-US" altLang="zh-CN" b="1" dirty="0">
                <a:solidFill>
                  <a:srgbClr val="FF0000"/>
                </a:solidFill>
                <a:latin typeface="Imprint MT Shadow" panose="04020605060303030202" pitchFamily="82" charset="0"/>
              </a:rPr>
              <a:t>S</a:t>
            </a:r>
            <a:endParaRPr lang="zh-CN" altLang="en-US" dirty="0"/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999CF0D0-0C69-49D5-84EA-33E3FF2CF465}"/>
              </a:ext>
            </a:extLst>
          </p:cNvPr>
          <p:cNvSpPr/>
          <p:nvPr/>
        </p:nvSpPr>
        <p:spPr>
          <a:xfrm>
            <a:off x="2427266" y="1945759"/>
            <a:ext cx="1582484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dirty="0">
                <a:solidFill>
                  <a:schemeClr val="tx2"/>
                </a:solidFill>
              </a:rPr>
              <a:t> X: </a:t>
            </a:r>
            <a:r>
              <a:rPr lang="en-US" altLang="zh-CN" b="1" dirty="0">
                <a:solidFill>
                  <a:srgbClr val="FF0000"/>
                </a:solidFill>
              </a:rPr>
              <a:t>S{C1, C3}</a:t>
            </a:r>
            <a:endParaRPr lang="zh-CN" altLang="en-US" sz="4400" b="1" dirty="0">
              <a:solidFill>
                <a:srgbClr val="FF0000"/>
              </a:solidFill>
            </a:endParaRPr>
          </a:p>
        </p:txBody>
      </p:sp>
      <p:sp>
        <p:nvSpPr>
          <p:cNvPr id="118784" name="矩形 118783">
            <a:extLst>
              <a:ext uri="{FF2B5EF4-FFF2-40B4-BE49-F238E27FC236}">
                <a16:creationId xmlns:a16="http://schemas.microsoft.com/office/drawing/2014/main" id="{1DB99245-7C83-4FFA-99F0-79B940816186}"/>
              </a:ext>
            </a:extLst>
          </p:cNvPr>
          <p:cNvSpPr/>
          <p:nvPr/>
        </p:nvSpPr>
        <p:spPr>
          <a:xfrm>
            <a:off x="1344328" y="2293110"/>
            <a:ext cx="127288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Imprint MT Shadow" panose="04020605060303030202" pitchFamily="82" charset="0"/>
              </a:rPr>
              <a:t>M, 888</a:t>
            </a:r>
            <a:endParaRPr lang="zh-CN" altLang="en-US" dirty="0"/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81FB116F-D60F-4434-9A12-7BCFBC83B737}"/>
              </a:ext>
            </a:extLst>
          </p:cNvPr>
          <p:cNvSpPr/>
          <p:nvPr/>
        </p:nvSpPr>
        <p:spPr>
          <a:xfrm>
            <a:off x="1408431" y="2287143"/>
            <a:ext cx="7889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Imprint MT Shadow" panose="04020605060303030202" pitchFamily="82" charset="0"/>
              </a:rPr>
              <a:t>S, 888</a:t>
            </a:r>
            <a:endParaRPr lang="zh-CN" altLang="en-US" dirty="0"/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992E6463-374C-49BD-8DD7-A0BE0C1451D3}"/>
              </a:ext>
            </a:extLst>
          </p:cNvPr>
          <p:cNvSpPr/>
          <p:nvPr/>
        </p:nvSpPr>
        <p:spPr>
          <a:xfrm>
            <a:off x="4471705" y="2280793"/>
            <a:ext cx="5613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X: </a:t>
            </a:r>
            <a:r>
              <a:rPr lang="en-US" altLang="zh-CN" b="1" dirty="0">
                <a:solidFill>
                  <a:srgbClr val="FF0000"/>
                </a:solidFill>
                <a:latin typeface="Imprint MT Shadow" panose="04020605060303030202" pitchFamily="82" charset="0"/>
              </a:rPr>
              <a:t>I</a:t>
            </a:r>
            <a:endParaRPr lang="zh-CN" altLang="en-US" dirty="0"/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DD938820-1610-4DB9-9424-F2908483F74C}"/>
              </a:ext>
            </a:extLst>
          </p:cNvPr>
          <p:cNvSpPr/>
          <p:nvPr/>
        </p:nvSpPr>
        <p:spPr>
          <a:xfrm>
            <a:off x="6053816" y="2277273"/>
            <a:ext cx="5613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X: </a:t>
            </a:r>
            <a:r>
              <a:rPr lang="en-US" altLang="zh-CN" b="1" dirty="0">
                <a:solidFill>
                  <a:srgbClr val="FF0000"/>
                </a:solidFill>
                <a:latin typeface="Imprint MT Shadow" panose="04020605060303030202" pitchFamily="82" charset="0"/>
              </a:rPr>
              <a:t>I</a:t>
            </a:r>
            <a:endParaRPr lang="zh-CN" altLang="en-US" dirty="0"/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727947B9-EC5F-4C02-90F9-BC6BE0568E88}"/>
              </a:ext>
            </a:extLst>
          </p:cNvPr>
          <p:cNvSpPr/>
          <p:nvPr/>
        </p:nvSpPr>
        <p:spPr>
          <a:xfrm>
            <a:off x="2493980" y="1952109"/>
            <a:ext cx="1582484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dirty="0"/>
              <a:t>X: </a:t>
            </a:r>
            <a:r>
              <a:rPr lang="en-US" altLang="zh-CN" b="1" dirty="0">
                <a:solidFill>
                  <a:srgbClr val="FF0000"/>
                </a:solidFill>
              </a:rPr>
              <a:t>E{C1}</a:t>
            </a:r>
            <a:endParaRPr lang="zh-CN" altLang="en-US" sz="4400" b="1" dirty="0">
              <a:solidFill>
                <a:srgbClr val="FF0000"/>
              </a:solidFill>
            </a:endParaRPr>
          </a:p>
        </p:txBody>
      </p:sp>
      <p:sp>
        <p:nvSpPr>
          <p:cNvPr id="118788" name="矩形 118787">
            <a:extLst>
              <a:ext uri="{FF2B5EF4-FFF2-40B4-BE49-F238E27FC236}">
                <a16:creationId xmlns:a16="http://schemas.microsoft.com/office/drawing/2014/main" id="{2AF0D5B3-2E0C-4B11-8078-6E068D63A822}"/>
              </a:ext>
            </a:extLst>
          </p:cNvPr>
          <p:cNvSpPr/>
          <p:nvPr/>
        </p:nvSpPr>
        <p:spPr>
          <a:xfrm>
            <a:off x="7243375" y="1609670"/>
            <a:ext cx="59503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dirty="0"/>
              <a:t>…</a:t>
            </a:r>
            <a:endParaRPr lang="zh-CN" altLang="en-US" sz="3200" dirty="0"/>
          </a:p>
        </p:txBody>
      </p:sp>
      <p:grpSp>
        <p:nvGrpSpPr>
          <p:cNvPr id="62" name="组合 48">
            <a:extLst>
              <a:ext uri="{FF2B5EF4-FFF2-40B4-BE49-F238E27FC236}">
                <a16:creationId xmlns:a16="http://schemas.microsoft.com/office/drawing/2014/main" id="{F760FAAE-8A2B-4757-A4D1-317527FB2A7F}"/>
              </a:ext>
            </a:extLst>
          </p:cNvPr>
          <p:cNvGrpSpPr>
            <a:grpSpLocks/>
          </p:cNvGrpSpPr>
          <p:nvPr/>
        </p:nvGrpSpPr>
        <p:grpSpPr bwMode="auto">
          <a:xfrm>
            <a:off x="1159958" y="4716697"/>
            <a:ext cx="2071688" cy="360597"/>
            <a:chOff x="1000100" y="4714146"/>
            <a:chExt cx="2071702" cy="359516"/>
          </a:xfrm>
        </p:grpSpPr>
        <p:cxnSp>
          <p:nvCxnSpPr>
            <p:cNvPr id="63" name="直接箭头连接符 46">
              <a:extLst>
                <a:ext uri="{FF2B5EF4-FFF2-40B4-BE49-F238E27FC236}">
                  <a16:creationId xmlns:a16="http://schemas.microsoft.com/office/drawing/2014/main" id="{9E1291EA-1F35-4B16-AA5E-963CD52AA76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000100" y="5072074"/>
              <a:ext cx="2071702" cy="1588"/>
            </a:xfrm>
            <a:prstGeom prst="straightConnector1">
              <a:avLst/>
            </a:prstGeom>
            <a:noFill/>
            <a:ln w="38100" algn="ctr">
              <a:solidFill>
                <a:srgbClr val="FF0000"/>
              </a:solidFill>
              <a:round/>
              <a:headEnd type="arrow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9" name="TextBox 47">
              <a:extLst>
                <a:ext uri="{FF2B5EF4-FFF2-40B4-BE49-F238E27FC236}">
                  <a16:creationId xmlns:a16="http://schemas.microsoft.com/office/drawing/2014/main" id="{9B64AE65-F059-4763-9489-23F240D4C3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92225" y="4714146"/>
              <a:ext cx="1850199" cy="3375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3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dirty="0" err="1">
                  <a:solidFill>
                    <a:schemeClr val="tx2"/>
                  </a:solidFill>
                  <a:latin typeface="Arial" panose="020B0604020202020204" pitchFamily="34" charset="0"/>
                </a:rPr>
                <a:t>Fwd-GetS</a:t>
              </a:r>
              <a:r>
                <a:rPr lang="en-US" altLang="zh-CN" sz="1600" dirty="0">
                  <a:solidFill>
                    <a:schemeClr val="tx2"/>
                  </a:solidFill>
                  <a:latin typeface="Arial" panose="020B0604020202020204" pitchFamily="34" charset="0"/>
                </a:rPr>
                <a:t> X to C1</a:t>
              </a:r>
              <a:endParaRPr lang="zh-CN" altLang="en-US" sz="1600" dirty="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80" name="内容占位符 35">
            <a:extLst>
              <a:ext uri="{FF2B5EF4-FFF2-40B4-BE49-F238E27FC236}">
                <a16:creationId xmlns:a16="http://schemas.microsoft.com/office/drawing/2014/main" id="{8F90A657-9261-42D0-BE1E-0EE77ABE95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4307" y="3886200"/>
            <a:ext cx="8964613" cy="571500"/>
          </a:xfrm>
        </p:spPr>
        <p:txBody>
          <a:bodyPr/>
          <a:lstStyle/>
          <a:p>
            <a:r>
              <a:rPr lang="en-US" altLang="zh-CN" dirty="0"/>
              <a:t> C1</a:t>
            </a:r>
            <a:r>
              <a:rPr lang="en-US" altLang="zh-CN" sz="2400" dirty="0"/>
              <a:t>(owned)     C2(home)   </a:t>
            </a:r>
            <a:r>
              <a:rPr lang="zh-CN" altLang="en-US" sz="2400" dirty="0"/>
              <a:t>     </a:t>
            </a:r>
            <a:r>
              <a:rPr lang="en-US" altLang="zh-CN" sz="2400" dirty="0"/>
              <a:t>C3(local)  </a:t>
            </a:r>
            <a:r>
              <a:rPr lang="zh-CN" altLang="en-US" sz="2400" dirty="0"/>
              <a:t>      </a:t>
            </a:r>
            <a:r>
              <a:rPr lang="en-US" altLang="zh-CN" sz="2400" dirty="0"/>
              <a:t>C4(remote)    </a:t>
            </a:r>
            <a:endParaRPr lang="zh-CN" altLang="en-US" sz="2400" dirty="0"/>
          </a:p>
        </p:txBody>
      </p:sp>
      <p:sp>
        <p:nvSpPr>
          <p:cNvPr id="83" name="TextBox 47">
            <a:extLst>
              <a:ext uri="{FF2B5EF4-FFF2-40B4-BE49-F238E27FC236}">
                <a16:creationId xmlns:a16="http://schemas.microsoft.com/office/drawing/2014/main" id="{6F934540-B0EE-4A3F-9BA5-8C10109EC7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1" y="5438423"/>
            <a:ext cx="107838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3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dirty="0">
                <a:solidFill>
                  <a:schemeClr val="tx2"/>
                </a:solidFill>
                <a:latin typeface="Arial" panose="020B0604020202020204" pitchFamily="34" charset="0"/>
              </a:rPr>
              <a:t>Write X to memory</a:t>
            </a:r>
            <a:endParaRPr lang="zh-CN" altLang="en-US" sz="1600" dirty="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640607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1" grpId="0"/>
      <p:bldP spid="118784" grpId="0"/>
      <p:bldP spid="85" grpId="0"/>
      <p:bldP spid="86" grpId="0"/>
      <p:bldP spid="88" grpId="0"/>
      <p:bldP spid="83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ea typeface="ＭＳ Ｐゴシック" charset="-128"/>
              </a:rPr>
              <a:t>Memory Consistency vs. Cache Coherence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143000"/>
            <a:ext cx="8610600" cy="3510136"/>
          </a:xfrm>
        </p:spPr>
        <p:txBody>
          <a:bodyPr/>
          <a:lstStyle/>
          <a:p>
            <a:r>
              <a:rPr lang="en-US" altLang="en-US" b="1" dirty="0">
                <a:ea typeface="ＭＳ Ｐゴシック" charset="-128"/>
              </a:rPr>
              <a:t>Coherence</a:t>
            </a:r>
            <a:r>
              <a:rPr lang="en-US" altLang="en-US" dirty="0">
                <a:ea typeface="ＭＳ Ｐゴシック" charset="-128"/>
              </a:rPr>
              <a:t> is about ordering of operations from different processors </a:t>
            </a:r>
            <a:r>
              <a:rPr lang="en-US" altLang="en-US" dirty="0">
                <a:solidFill>
                  <a:srgbClr val="0000FF"/>
                </a:solidFill>
                <a:ea typeface="ＭＳ Ｐゴシック" charset="-128"/>
              </a:rPr>
              <a:t>to</a:t>
            </a:r>
            <a:r>
              <a:rPr lang="en-US" altLang="en-US" dirty="0">
                <a:ea typeface="ＭＳ Ｐゴシック" charset="-128"/>
              </a:rPr>
              <a:t> </a:t>
            </a:r>
            <a:r>
              <a:rPr lang="en-US" altLang="en-US" dirty="0">
                <a:solidFill>
                  <a:srgbClr val="0000FF"/>
                </a:solidFill>
                <a:ea typeface="ＭＳ Ｐゴシック" charset="-128"/>
              </a:rPr>
              <a:t>the same memory location</a:t>
            </a:r>
          </a:p>
          <a:p>
            <a:pPr lvl="1"/>
            <a:r>
              <a:rPr lang="en-US" altLang="en-US" dirty="0">
                <a:ea typeface="ＭＳ Ｐゴシック" charset="-128"/>
              </a:rPr>
              <a:t>Local ordering of accesses to </a:t>
            </a:r>
            <a:r>
              <a:rPr lang="en-US" altLang="en-US" i="1" dirty="0">
                <a:ea typeface="ＭＳ Ｐゴシック" charset="-128"/>
              </a:rPr>
              <a:t>each</a:t>
            </a:r>
            <a:r>
              <a:rPr lang="en-US" altLang="en-US" dirty="0">
                <a:ea typeface="ＭＳ Ｐゴシック" charset="-128"/>
              </a:rPr>
              <a:t> cache </a:t>
            </a:r>
            <a:r>
              <a:rPr lang="en-US" altLang="en-US" i="1" dirty="0">
                <a:ea typeface="ＭＳ Ｐゴシック" charset="-128"/>
              </a:rPr>
              <a:t>block</a:t>
            </a:r>
          </a:p>
          <a:p>
            <a:pPr lvl="1"/>
            <a:r>
              <a:rPr lang="en-US" altLang="en-US" i="1" dirty="0">
                <a:ea typeface="ＭＳ Ｐゴシック" charset="-128"/>
              </a:rPr>
              <a:t>Write serialization</a:t>
            </a:r>
            <a:r>
              <a:rPr lang="en-US" altLang="en-US" dirty="0">
                <a:ea typeface="ＭＳ Ｐゴシック" charset="-128"/>
              </a:rPr>
              <a:t>: all cores see the same write ordering</a:t>
            </a:r>
          </a:p>
          <a:p>
            <a:pPr lvl="1"/>
            <a:endParaRPr lang="en-US" altLang="en-US" i="1" dirty="0">
              <a:ea typeface="ＭＳ Ｐゴシック" charset="-128"/>
            </a:endParaRPr>
          </a:p>
          <a:p>
            <a:r>
              <a:rPr lang="en-US" altLang="en-US" b="1" dirty="0">
                <a:ea typeface="ＭＳ Ｐゴシック" charset="-128"/>
              </a:rPr>
              <a:t>Consistency</a:t>
            </a:r>
            <a:r>
              <a:rPr lang="en-US" altLang="en-US" dirty="0">
                <a:ea typeface="ＭＳ Ｐゴシック" charset="-128"/>
              </a:rPr>
              <a:t> is about ordering of </a:t>
            </a:r>
            <a:r>
              <a:rPr lang="en-US" altLang="en-US" dirty="0">
                <a:solidFill>
                  <a:srgbClr val="0000FF"/>
                </a:solidFill>
                <a:ea typeface="ＭＳ Ｐゴシック" charset="-128"/>
              </a:rPr>
              <a:t>all memory operations </a:t>
            </a:r>
            <a:r>
              <a:rPr lang="en-US" altLang="en-US" dirty="0">
                <a:ea typeface="ＭＳ Ｐゴシック" charset="-128"/>
              </a:rPr>
              <a:t>from different processors (i.e., to different memory locations). </a:t>
            </a:r>
          </a:p>
          <a:p>
            <a:pPr lvl="1"/>
            <a:r>
              <a:rPr lang="en-US" altLang="en-US" dirty="0">
                <a:ea typeface="ＭＳ Ｐゴシック" charset="-128"/>
              </a:rPr>
              <a:t>Global ordering of accesses to </a:t>
            </a:r>
            <a:r>
              <a:rPr lang="en-US" altLang="en-US" i="1" dirty="0">
                <a:ea typeface="ＭＳ Ｐゴシック" charset="-128"/>
              </a:rPr>
              <a:t>all</a:t>
            </a:r>
            <a:r>
              <a:rPr lang="en-US" altLang="en-US" dirty="0">
                <a:ea typeface="ＭＳ Ｐゴシック" charset="-128"/>
              </a:rPr>
              <a:t> memory </a:t>
            </a:r>
            <a:r>
              <a:rPr lang="en-US" altLang="en-US" i="1" dirty="0">
                <a:ea typeface="ＭＳ Ｐゴシック" charset="-128"/>
              </a:rPr>
              <a:t>locations</a:t>
            </a:r>
          </a:p>
          <a:p>
            <a:pPr lvl="1"/>
            <a:endParaRPr lang="en-US" altLang="en-US" dirty="0">
              <a:ea typeface="ＭＳ Ｐゴシック" charset="-128"/>
            </a:endParaRPr>
          </a:p>
        </p:txBody>
      </p:sp>
      <p:sp>
        <p:nvSpPr>
          <p:cNvPr id="62467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7E70BB5-019B-AB4A-8562-E21B04001561}" type="slidenum"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charset="0"/>
                <a:ea typeface="ＭＳ Ｐゴシック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charset="0"/>
              <a:ea typeface="ＭＳ Ｐゴシック" charset="-128"/>
              <a:cs typeface="+mn-cs"/>
            </a:endParaRPr>
          </a:p>
        </p:txBody>
      </p:sp>
      <p:sp>
        <p:nvSpPr>
          <p:cNvPr id="5" name="Rectangle 36">
            <a:extLst>
              <a:ext uri="{FF2B5EF4-FFF2-40B4-BE49-F238E27FC236}">
                <a16:creationId xmlns:a16="http://schemas.microsoft.com/office/drawing/2014/main" id="{9417525A-A012-4B59-8CE4-C552CF2533FE}"/>
              </a:ext>
            </a:extLst>
          </p:cNvPr>
          <p:cNvSpPr/>
          <p:nvPr/>
        </p:nvSpPr>
        <p:spPr>
          <a:xfrm flipV="1">
            <a:off x="190500" y="3124200"/>
            <a:ext cx="8305800" cy="17526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838527"/>
      </p:ext>
    </p:extLst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Title 4"/>
          <p:cNvSpPr>
            <a:spLocks noGrp="1"/>
          </p:cNvSpPr>
          <p:nvPr>
            <p:ph type="ctrTitle"/>
          </p:nvPr>
        </p:nvSpPr>
        <p:spPr>
          <a:xfrm>
            <a:off x="457200" y="1143000"/>
            <a:ext cx="8229600" cy="2209800"/>
          </a:xfrm>
        </p:spPr>
        <p:txBody>
          <a:bodyPr anchor="ctr"/>
          <a:lstStyle/>
          <a:p>
            <a:pPr algn="ctr"/>
            <a:r>
              <a:rPr lang="en-US" altLang="en-US" sz="4400" dirty="0">
                <a:ea typeface="ＭＳ Ｐゴシック" charset="-128"/>
              </a:rPr>
              <a:t>Cache Consistency</a:t>
            </a:r>
          </a:p>
        </p:txBody>
      </p:sp>
    </p:spTree>
    <p:extLst>
      <p:ext uri="{BB962C8B-B14F-4D97-AF65-F5344CB8AC3E}">
        <p14:creationId xmlns:p14="http://schemas.microsoft.com/office/powerpoint/2010/main" val="1270573811"/>
      </p:ext>
    </p:extLst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charset="-128"/>
              </a:rPr>
              <a:t>Ordering of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96950"/>
            <a:ext cx="8915400" cy="4718050"/>
          </a:xfrm>
        </p:spPr>
        <p:txBody>
          <a:bodyPr/>
          <a:lstStyle/>
          <a:p>
            <a:r>
              <a:rPr lang="en-US" altLang="en-US" dirty="0">
                <a:ea typeface="ＭＳ Ｐゴシック" charset="-128"/>
              </a:rPr>
              <a:t>Operations: A, B, C, D</a:t>
            </a:r>
          </a:p>
          <a:p>
            <a:pPr lvl="1"/>
            <a:r>
              <a:rPr lang="en-US" altLang="en-US" dirty="0">
                <a:ea typeface="ＭＳ Ｐゴシック" charset="-128"/>
              </a:rPr>
              <a:t>In what order should the hardware execute (and report the results of) these operations?</a:t>
            </a:r>
          </a:p>
          <a:p>
            <a:endParaRPr lang="en-US" altLang="en-US" sz="1600" dirty="0">
              <a:ea typeface="ＭＳ Ｐゴシック" charset="-128"/>
            </a:endParaRPr>
          </a:p>
          <a:p>
            <a:r>
              <a:rPr lang="en-US" altLang="zh-CN" b="1" dirty="0">
                <a:ea typeface="ＭＳ Ｐゴシック" charset="-128"/>
              </a:rPr>
              <a:t>Consistency</a:t>
            </a:r>
            <a:r>
              <a:rPr lang="zh-CN" altLang="en-US" dirty="0">
                <a:ea typeface="ＭＳ Ｐゴシック" charset="-128"/>
              </a:rPr>
              <a:t>： </a:t>
            </a:r>
            <a:r>
              <a:rPr lang="en-US" altLang="en-US" dirty="0">
                <a:ea typeface="ＭＳ Ｐゴシック" charset="-128"/>
              </a:rPr>
              <a:t>A contract between programmer and </a:t>
            </a:r>
            <a:r>
              <a:rPr lang="en-US" altLang="en-US" dirty="0" err="1">
                <a:ea typeface="ＭＳ Ｐゴシック" charset="-128"/>
              </a:rPr>
              <a:t>microarchitect</a:t>
            </a:r>
            <a:r>
              <a:rPr lang="en-US" altLang="en-US" dirty="0">
                <a:ea typeface="ＭＳ Ｐゴシック" charset="-128"/>
              </a:rPr>
              <a:t>. </a:t>
            </a:r>
            <a:endParaRPr lang="en-US" altLang="en-US" sz="1600" dirty="0">
              <a:ea typeface="ＭＳ Ｐゴシック" charset="-128"/>
            </a:endParaRPr>
          </a:p>
          <a:p>
            <a:pPr lvl="1"/>
            <a:r>
              <a:rPr lang="en-US" altLang="en-US" dirty="0">
                <a:solidFill>
                  <a:srgbClr val="0432FF"/>
                </a:solidFill>
                <a:ea typeface="ＭＳ Ｐゴシック" charset="-128"/>
              </a:rPr>
              <a:t>Preserving an “expected” (more accurately, “agreed upon”) order simplifies programmer’s life</a:t>
            </a:r>
          </a:p>
          <a:p>
            <a:pPr lvl="2"/>
            <a:r>
              <a:rPr lang="en-US" altLang="en-US" sz="1600" dirty="0">
                <a:ea typeface="ＭＳ Ｐゴシック" charset="-128"/>
              </a:rPr>
              <a:t>Ease of debugging; ease of state recovery, exception handling</a:t>
            </a:r>
          </a:p>
          <a:p>
            <a:pPr lvl="1"/>
            <a:r>
              <a:rPr lang="en-US" altLang="en-US" dirty="0">
                <a:solidFill>
                  <a:srgbClr val="FF0000"/>
                </a:solidFill>
                <a:ea typeface="ＭＳ Ｐゴシック" charset="-128"/>
              </a:rPr>
              <a:t>Preserving an “expected” order usually makes the hardware designer’s life difficult</a:t>
            </a:r>
          </a:p>
          <a:p>
            <a:pPr lvl="2"/>
            <a:r>
              <a:rPr lang="en-US" altLang="en-US" sz="1600" dirty="0">
                <a:ea typeface="ＭＳ Ｐゴシック" charset="-128"/>
              </a:rPr>
              <a:t>Especially if the goal is to design a high performance processor: Recall load-store queues in out of order execution and their complexity</a:t>
            </a:r>
          </a:p>
          <a:p>
            <a:endParaRPr lang="en-US" altLang="en-US" dirty="0">
              <a:ea typeface="ＭＳ Ｐゴシック" charset="-128"/>
            </a:endParaRPr>
          </a:p>
        </p:txBody>
      </p:sp>
      <p:sp>
        <p:nvSpPr>
          <p:cNvPr id="64515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D2C48AD6-E1AC-E041-A3BD-333E0F20253C}" type="slidenum">
              <a:rPr lang="en-US" altLang="en-US" sz="1600">
                <a:solidFill>
                  <a:srgbClr val="000000"/>
                </a:solidFill>
                <a:latin typeface="Garamond" charset="0"/>
              </a:rPr>
              <a:pPr eaLnBrk="1" hangingPunct="1"/>
              <a:t>40</a:t>
            </a:fld>
            <a:endParaRPr lang="en-US" altLang="en-US" sz="1600">
              <a:solidFill>
                <a:srgbClr val="000000"/>
              </a:solidFill>
              <a:latin typeface="Garamon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178372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charset="-128"/>
              </a:rPr>
              <a:t>Memory Ordering in a Single Processor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610600" cy="5480050"/>
          </a:xfrm>
        </p:spPr>
        <p:txBody>
          <a:bodyPr/>
          <a:lstStyle/>
          <a:p>
            <a:r>
              <a:rPr lang="en-US" altLang="en-US" dirty="0">
                <a:ea typeface="ＭＳ Ｐゴシック" charset="-128"/>
              </a:rPr>
              <a:t>Specified by the von Neumann model</a:t>
            </a:r>
            <a:endParaRPr lang="en-US" altLang="en-US" sz="1600" dirty="0">
              <a:ea typeface="ＭＳ Ｐゴシック" charset="-128"/>
            </a:endParaRPr>
          </a:p>
          <a:p>
            <a:r>
              <a:rPr lang="en-US" altLang="en-US" b="1" dirty="0">
                <a:ea typeface="ＭＳ Ｐゴシック" charset="-128"/>
              </a:rPr>
              <a:t>Sequential order</a:t>
            </a:r>
          </a:p>
          <a:p>
            <a:pPr lvl="1"/>
            <a:r>
              <a:rPr lang="en-US" altLang="en-US" dirty="0">
                <a:ea typeface="ＭＳ Ｐゴシック" charset="-128"/>
              </a:rPr>
              <a:t>Hardware </a:t>
            </a:r>
            <a:r>
              <a:rPr lang="en-US" altLang="en-US" dirty="0">
                <a:solidFill>
                  <a:srgbClr val="0432FF"/>
                </a:solidFill>
                <a:ea typeface="ＭＳ Ｐゴシック" charset="-128"/>
              </a:rPr>
              <a:t>executes</a:t>
            </a:r>
            <a:r>
              <a:rPr lang="en-US" altLang="en-US" dirty="0">
                <a:ea typeface="ＭＳ Ｐゴシック" charset="-128"/>
              </a:rPr>
              <a:t> the load and store operations in the order specified by the sequential program</a:t>
            </a:r>
          </a:p>
          <a:p>
            <a:pPr lvl="1"/>
            <a:endParaRPr lang="en-US" altLang="en-US" sz="1200" dirty="0">
              <a:ea typeface="ＭＳ Ｐゴシック" charset="-128"/>
            </a:endParaRPr>
          </a:p>
          <a:p>
            <a:r>
              <a:rPr lang="en-US" altLang="en-US" dirty="0">
                <a:ea typeface="ＭＳ Ｐゴシック" charset="-128"/>
              </a:rPr>
              <a:t>Out-of-order execution does not change the semantics</a:t>
            </a:r>
          </a:p>
          <a:p>
            <a:pPr lvl="1"/>
            <a:r>
              <a:rPr lang="en-US" altLang="en-US" dirty="0">
                <a:ea typeface="ＭＳ Ｐゴシック" charset="-128"/>
              </a:rPr>
              <a:t>Hardware retires (reports to software the results of) the load and store operations </a:t>
            </a:r>
            <a:r>
              <a:rPr lang="en-US" altLang="en-US" dirty="0">
                <a:solidFill>
                  <a:srgbClr val="0000FF"/>
                </a:solidFill>
                <a:ea typeface="ＭＳ Ｐゴシック" charset="-128"/>
              </a:rPr>
              <a:t>in the order specified by the sequential program</a:t>
            </a:r>
          </a:p>
          <a:p>
            <a:pPr lvl="1"/>
            <a:endParaRPr lang="en-US" altLang="en-US" sz="1600" dirty="0">
              <a:solidFill>
                <a:srgbClr val="0000FF"/>
              </a:solidFill>
              <a:ea typeface="ＭＳ Ｐゴシック" charset="-128"/>
            </a:endParaRPr>
          </a:p>
          <a:p>
            <a:r>
              <a:rPr lang="en-US" altLang="en-US" dirty="0">
                <a:solidFill>
                  <a:srgbClr val="0432FF"/>
                </a:solidFill>
                <a:ea typeface="ＭＳ Ｐゴシック" charset="-128"/>
              </a:rPr>
              <a:t>Advantages</a:t>
            </a:r>
            <a:r>
              <a:rPr lang="en-US" altLang="en-US" dirty="0">
                <a:ea typeface="ＭＳ Ｐゴシック" charset="-128"/>
              </a:rPr>
              <a:t>: </a:t>
            </a:r>
            <a:r>
              <a:rPr lang="en-US" altLang="en-US" sz="2000" dirty="0">
                <a:ea typeface="ＭＳ Ｐゴシック" charset="-128"/>
              </a:rPr>
              <a:t>1) Architectural state is precise within an execution.    2) Architectural state is consistent across different runs of the program </a:t>
            </a:r>
            <a:r>
              <a:rPr lang="en-US" altLang="en-US" sz="2000" dirty="0">
                <a:ea typeface="ＭＳ Ｐゴシック" charset="-128"/>
                <a:sym typeface="Wingdings" charset="2"/>
              </a:rPr>
              <a:t> Easier to debug programs.</a:t>
            </a:r>
            <a:endParaRPr lang="en-US" altLang="en-US" sz="2000" dirty="0">
              <a:ea typeface="ＭＳ Ｐゴシック" charset="-128"/>
            </a:endParaRPr>
          </a:p>
          <a:p>
            <a:r>
              <a:rPr lang="en-US" altLang="en-US" dirty="0">
                <a:solidFill>
                  <a:srgbClr val="FF0000"/>
                </a:solidFill>
                <a:ea typeface="ＭＳ Ｐゴシック" charset="-128"/>
              </a:rPr>
              <a:t>Disadvantage</a:t>
            </a:r>
            <a:r>
              <a:rPr lang="en-US" altLang="en-US" dirty="0">
                <a:ea typeface="ＭＳ Ｐゴシック" charset="-128"/>
              </a:rPr>
              <a:t>: </a:t>
            </a:r>
            <a:r>
              <a:rPr lang="en-US" altLang="en-US" sz="2200" dirty="0">
                <a:ea typeface="ＭＳ Ｐゴシック" charset="-128"/>
              </a:rPr>
              <a:t>Preserving order adds overhead, reduces performance, increases complexity, reduces scalability</a:t>
            </a:r>
          </a:p>
          <a:p>
            <a:endParaRPr lang="en-US" altLang="en-US" dirty="0">
              <a:ea typeface="ＭＳ Ｐゴシック" charset="-128"/>
            </a:endParaRPr>
          </a:p>
          <a:p>
            <a:endParaRPr lang="en-US" altLang="en-US" dirty="0">
              <a:ea typeface="ＭＳ Ｐゴシック" charset="-128"/>
            </a:endParaRPr>
          </a:p>
        </p:txBody>
      </p:sp>
      <p:sp>
        <p:nvSpPr>
          <p:cNvPr id="65539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39472F9F-F16C-E844-A139-A2739FA0042C}" type="slidenum">
              <a:rPr lang="en-US" altLang="en-US" sz="1600">
                <a:solidFill>
                  <a:srgbClr val="000000"/>
                </a:solidFill>
                <a:latin typeface="Garamond" charset="0"/>
              </a:rPr>
              <a:pPr eaLnBrk="1" hangingPunct="1"/>
              <a:t>41</a:t>
            </a:fld>
            <a:endParaRPr lang="en-US" altLang="en-US" sz="1600">
              <a:solidFill>
                <a:srgbClr val="000000"/>
              </a:solidFill>
              <a:latin typeface="Garamon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603694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charset="-128"/>
              </a:rPr>
              <a:t>Memory Ordering in a MIMD Processor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96950"/>
            <a:ext cx="8915400" cy="5194300"/>
          </a:xfrm>
        </p:spPr>
        <p:txBody>
          <a:bodyPr/>
          <a:lstStyle/>
          <a:p>
            <a:r>
              <a:rPr lang="en-US" altLang="en-US" dirty="0">
                <a:ea typeface="ＭＳ Ｐゴシック" charset="-128"/>
              </a:rPr>
              <a:t>Each processor’s memory operations are in sequential order with respect to the “thread” running on that processor (assume each processor obeys the von Neumann model)</a:t>
            </a:r>
          </a:p>
          <a:p>
            <a:endParaRPr lang="en-US" altLang="en-US" dirty="0">
              <a:ea typeface="ＭＳ Ｐゴシック" charset="-128"/>
            </a:endParaRPr>
          </a:p>
          <a:p>
            <a:r>
              <a:rPr lang="en-US" altLang="en-US" dirty="0">
                <a:ea typeface="ＭＳ Ｐゴシック" charset="-128"/>
              </a:rPr>
              <a:t>Multiple processors execute memory operations concurrently</a:t>
            </a:r>
          </a:p>
          <a:p>
            <a:pPr lvl="1"/>
            <a:r>
              <a:rPr lang="en-US" altLang="en-US" dirty="0">
                <a:ea typeface="ＭＳ Ｐゴシック" charset="-128"/>
              </a:rPr>
              <a:t>How does the memory see the order of operations from all processors? </a:t>
            </a:r>
          </a:p>
          <a:p>
            <a:pPr lvl="1"/>
            <a:r>
              <a:rPr lang="en-US" altLang="en-US" dirty="0">
                <a:ea typeface="ＭＳ Ｐゴシック" charset="-128"/>
              </a:rPr>
              <a:t>In other words, </a:t>
            </a:r>
            <a:r>
              <a:rPr lang="en-US" altLang="en-US" dirty="0">
                <a:solidFill>
                  <a:srgbClr val="FF0000"/>
                </a:solidFill>
                <a:ea typeface="ＭＳ Ｐゴシック" charset="-128"/>
              </a:rPr>
              <a:t>what is the ordering of operations across different processors</a:t>
            </a:r>
            <a:r>
              <a:rPr lang="en-US" altLang="en-US" dirty="0">
                <a:ea typeface="ＭＳ Ｐゴシック" charset="-128"/>
              </a:rPr>
              <a:t>?</a:t>
            </a:r>
          </a:p>
          <a:p>
            <a:pPr lvl="1"/>
            <a:endParaRPr lang="en-US" altLang="en-US" dirty="0">
              <a:ea typeface="ＭＳ Ｐゴシック" charset="-128"/>
            </a:endParaRPr>
          </a:p>
          <a:p>
            <a:endParaRPr lang="en-US" altLang="en-US" dirty="0">
              <a:ea typeface="ＭＳ Ｐゴシック" charset="-128"/>
            </a:endParaRPr>
          </a:p>
          <a:p>
            <a:endParaRPr lang="en-US" altLang="en-US" dirty="0">
              <a:ea typeface="ＭＳ Ｐゴシック" charset="-128"/>
            </a:endParaRPr>
          </a:p>
        </p:txBody>
      </p:sp>
      <p:sp>
        <p:nvSpPr>
          <p:cNvPr id="67587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05ED8F80-802B-0043-814C-28387FC40CDA}" type="slidenum">
              <a:rPr lang="en-US" altLang="en-US" sz="1600">
                <a:solidFill>
                  <a:srgbClr val="000000"/>
                </a:solidFill>
                <a:latin typeface="Garamond" charset="0"/>
              </a:rPr>
              <a:pPr eaLnBrk="1" hangingPunct="1"/>
              <a:t>42</a:t>
            </a:fld>
            <a:endParaRPr lang="en-US" altLang="en-US" sz="1600">
              <a:solidFill>
                <a:srgbClr val="000000"/>
              </a:solidFill>
              <a:latin typeface="Garamon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732971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charset="-128"/>
              </a:rPr>
              <a:t>Example of Multi-threaded Program</a:t>
            </a:r>
            <a:endParaRPr lang="en-US" altLang="en-US" dirty="0">
              <a:ea typeface="ＭＳ Ｐゴシック" charset="-128"/>
            </a:endParaRPr>
          </a:p>
        </p:txBody>
      </p:sp>
      <p:sp>
        <p:nvSpPr>
          <p:cNvPr id="67587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05ED8F80-802B-0043-814C-28387FC40CDA}" type="slidenum">
              <a:rPr lang="en-US" altLang="en-US" sz="1600">
                <a:solidFill>
                  <a:srgbClr val="000000"/>
                </a:solidFill>
                <a:latin typeface="Garamond" charset="0"/>
              </a:rPr>
              <a:pPr eaLnBrk="1" hangingPunct="1"/>
              <a:t>43</a:t>
            </a:fld>
            <a:endParaRPr lang="en-US" altLang="en-US" sz="1600">
              <a:solidFill>
                <a:srgbClr val="000000"/>
              </a:solidFill>
              <a:latin typeface="Garamond" charset="0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FC12B3A-6B07-4FB7-A6AF-FB508D130BF6}"/>
              </a:ext>
            </a:extLst>
          </p:cNvPr>
          <p:cNvSpPr txBox="1">
            <a:spLocks/>
          </p:cNvSpPr>
          <p:nvPr/>
        </p:nvSpPr>
        <p:spPr bwMode="auto">
          <a:xfrm>
            <a:off x="152400" y="4648200"/>
            <a:ext cx="86106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charset="2"/>
              <a:buChar char="n"/>
              <a:defRPr sz="2400">
                <a:solidFill>
                  <a:schemeClr val="tx1"/>
                </a:solidFill>
                <a:latin typeface="+mn-lt"/>
                <a:ea typeface="ＭＳ Ｐゴシック" pitchFamily="-107" charset="-128"/>
                <a:cs typeface="ＭＳ Ｐゴシック" pitchFamily="-107" charset="-128"/>
              </a:defRPr>
            </a:lvl1pPr>
            <a:lvl2pPr marL="669925" indent="-325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charset="2"/>
              <a:buChar char="q"/>
              <a:defRPr sz="2200">
                <a:solidFill>
                  <a:schemeClr val="tx1"/>
                </a:solidFill>
                <a:latin typeface="+mn-lt"/>
                <a:ea typeface="ＭＳ Ｐゴシック" pitchFamily="-107" charset="-128"/>
              </a:defRPr>
            </a:lvl2pPr>
            <a:lvl3pPr marL="1022350" indent="-350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charset="2"/>
              <a:buChar char="n"/>
              <a:defRPr sz="2000">
                <a:solidFill>
                  <a:schemeClr val="tx1"/>
                </a:solidFill>
                <a:latin typeface="+mn-lt"/>
                <a:ea typeface="ＭＳ Ｐゴシック" pitchFamily="-107" charset="-128"/>
              </a:defRPr>
            </a:lvl3pPr>
            <a:lvl4pPr marL="1339850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q"/>
              <a:defRPr>
                <a:solidFill>
                  <a:schemeClr val="tx1"/>
                </a:solidFill>
                <a:latin typeface="+mn-lt"/>
                <a:ea typeface="ＭＳ Ｐゴシック" pitchFamily="-107" charset="-128"/>
              </a:defRPr>
            </a:lvl4pPr>
            <a:lvl5pPr marL="16811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charset="2"/>
              <a:buChar char="§"/>
              <a:defRPr sz="1600">
                <a:solidFill>
                  <a:schemeClr val="tx1"/>
                </a:solidFill>
                <a:latin typeface="+mn-lt"/>
                <a:ea typeface="ＭＳ Ｐゴシック" pitchFamily="-107" charset="-128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altLang="en-US" kern="0" dirty="0">
                <a:ea typeface="ＭＳ Ｐゴシック" charset="-128"/>
              </a:rPr>
              <a:t>Is it possible for both cores to enter critical section and to print “Hello” and “ZJU” on real hardware?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3EEBD39-CC7D-4463-83BD-611DD06D92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5433" y="914400"/>
            <a:ext cx="8610600" cy="609600"/>
          </a:xfrm>
        </p:spPr>
        <p:txBody>
          <a:bodyPr/>
          <a:lstStyle/>
          <a:p>
            <a:r>
              <a:rPr lang="en-US" altLang="en-US" dirty="0">
                <a:solidFill>
                  <a:srgbClr val="0070C0"/>
                </a:solidFill>
                <a:latin typeface="Arial Narrow" panose="020B0606020202030204" pitchFamily="34" charset="0"/>
                <a:ea typeface="ＭＳ Ｐゴシック" charset="-128"/>
              </a:rPr>
              <a:t>A</a:t>
            </a:r>
            <a:r>
              <a:rPr lang="en-US" altLang="zh-CN" dirty="0">
                <a:ea typeface="ＭＳ Ｐゴシック" charset="-128"/>
              </a:rPr>
              <a:t> = </a:t>
            </a:r>
            <a:r>
              <a:rPr lang="en-US" altLang="zh-CN" dirty="0">
                <a:solidFill>
                  <a:srgbClr val="FF0000"/>
                </a:solidFill>
                <a:ea typeface="ＭＳ Ｐゴシック" charset="-128"/>
              </a:rPr>
              <a:t>B</a:t>
            </a:r>
            <a:r>
              <a:rPr lang="en-US" altLang="zh-CN" dirty="0">
                <a:ea typeface="ＭＳ Ｐゴシック" charset="-128"/>
              </a:rPr>
              <a:t> = 0 initially.</a:t>
            </a:r>
            <a:endParaRPr lang="en-US" altLang="en-US" dirty="0">
              <a:ea typeface="ＭＳ Ｐゴシック" charset="-128"/>
            </a:endParaRPr>
          </a:p>
          <a:p>
            <a:endParaRPr lang="en-US" altLang="en-US" dirty="0">
              <a:ea typeface="ＭＳ Ｐゴシック" charset="-128"/>
            </a:endParaRPr>
          </a:p>
          <a:p>
            <a:endParaRPr lang="en-US" altLang="en-US" dirty="0">
              <a:ea typeface="ＭＳ Ｐゴシック" charset="-128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BB145A7-BF60-4B3A-A04D-6722591F6B0A}"/>
              </a:ext>
            </a:extLst>
          </p:cNvPr>
          <p:cNvSpPr txBox="1">
            <a:spLocks/>
          </p:cNvSpPr>
          <p:nvPr/>
        </p:nvSpPr>
        <p:spPr bwMode="auto">
          <a:xfrm>
            <a:off x="304800" y="1404408"/>
            <a:ext cx="46482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charset="2"/>
              <a:buChar char="n"/>
              <a:defRPr sz="2400">
                <a:solidFill>
                  <a:schemeClr val="tx1"/>
                </a:solidFill>
                <a:latin typeface="+mn-lt"/>
                <a:ea typeface="ＭＳ Ｐゴシック" pitchFamily="-107" charset="-128"/>
                <a:cs typeface="ＭＳ Ｐゴシック" pitchFamily="-107" charset="-128"/>
              </a:defRPr>
            </a:lvl1pPr>
            <a:lvl2pPr marL="669925" indent="-325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charset="2"/>
              <a:buChar char="q"/>
              <a:defRPr sz="2200">
                <a:solidFill>
                  <a:schemeClr val="tx1"/>
                </a:solidFill>
                <a:latin typeface="+mn-lt"/>
                <a:ea typeface="ＭＳ Ｐゴシック" pitchFamily="-107" charset="-128"/>
              </a:defRPr>
            </a:lvl2pPr>
            <a:lvl3pPr marL="1022350" indent="-350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charset="2"/>
              <a:buChar char="n"/>
              <a:defRPr sz="2000">
                <a:solidFill>
                  <a:schemeClr val="tx1"/>
                </a:solidFill>
                <a:latin typeface="+mn-lt"/>
                <a:ea typeface="ＭＳ Ｐゴシック" pitchFamily="-107" charset="-128"/>
              </a:defRPr>
            </a:lvl3pPr>
            <a:lvl4pPr marL="1339850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q"/>
              <a:defRPr>
                <a:solidFill>
                  <a:schemeClr val="tx1"/>
                </a:solidFill>
                <a:latin typeface="+mn-lt"/>
                <a:ea typeface="ＭＳ Ｐゴシック" pitchFamily="-107" charset="-128"/>
              </a:defRPr>
            </a:lvl4pPr>
            <a:lvl5pPr marL="16811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charset="2"/>
              <a:buChar char="§"/>
              <a:defRPr sz="1600">
                <a:solidFill>
                  <a:schemeClr val="tx1"/>
                </a:solidFill>
                <a:latin typeface="+mn-lt"/>
                <a:ea typeface="ＭＳ Ｐゴシック" pitchFamily="-107" charset="-128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altLang="en-US" kern="0" dirty="0">
                <a:ea typeface="ＭＳ Ｐゴシック" charset="-128"/>
              </a:rPr>
              <a:t>          </a:t>
            </a:r>
            <a:r>
              <a:rPr lang="en-US" altLang="en-US" b="1" kern="0" dirty="0">
                <a:latin typeface="Arial Narrow" panose="020B0606020202030204" pitchFamily="34" charset="0"/>
                <a:ea typeface="ＭＳ Ｐゴシック" charset="-128"/>
              </a:rPr>
              <a:t>Core 1</a:t>
            </a: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</a:rPr>
              <a:t>:</a:t>
            </a:r>
          </a:p>
          <a:p>
            <a:pPr marL="0" indent="0">
              <a:buNone/>
            </a:pP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</a:rPr>
              <a:t> </a:t>
            </a:r>
            <a:r>
              <a:rPr lang="en-US" altLang="en-US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  <a:ea typeface="ＭＳ Ｐゴシック" charset="-128"/>
              </a:rPr>
              <a:t>(1)</a:t>
            </a: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</a:rPr>
              <a:t>       </a:t>
            </a:r>
            <a:r>
              <a:rPr lang="en-US" altLang="en-US" kern="0" dirty="0">
                <a:solidFill>
                  <a:srgbClr val="0070C0"/>
                </a:solidFill>
                <a:latin typeface="Arial Narrow" panose="020B0606020202030204" pitchFamily="34" charset="0"/>
                <a:ea typeface="ＭＳ Ｐゴシック" charset="-128"/>
              </a:rPr>
              <a:t>A</a:t>
            </a: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</a:rPr>
              <a:t>  = 1</a:t>
            </a:r>
          </a:p>
          <a:p>
            <a:pPr marL="0" indent="0">
              <a:buNone/>
            </a:pP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</a:rPr>
              <a:t>            if (</a:t>
            </a:r>
            <a:r>
              <a:rPr lang="en-US" altLang="en-US" kern="0" dirty="0">
                <a:solidFill>
                  <a:srgbClr val="FF0000"/>
                </a:solidFill>
                <a:latin typeface="Arial Narrow" panose="020B0606020202030204" pitchFamily="34" charset="0"/>
                <a:ea typeface="ＭＳ Ｐゴシック" charset="-128"/>
              </a:rPr>
              <a:t>B</a:t>
            </a: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</a:rPr>
              <a:t> == 0)</a:t>
            </a:r>
          </a:p>
          <a:p>
            <a:pPr marL="0" indent="0">
              <a:buNone/>
            </a:pPr>
            <a:r>
              <a:rPr lang="zh-CN" altLang="en-US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  <a:ea typeface="ＭＳ Ｐゴシック" charset="-128"/>
              </a:rPr>
              <a:t>（</a:t>
            </a:r>
            <a:r>
              <a:rPr lang="en-US" altLang="zh-CN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  <a:ea typeface="ＭＳ Ｐゴシック" charset="-128"/>
              </a:rPr>
              <a:t>2</a:t>
            </a:r>
            <a:r>
              <a:rPr lang="zh-CN" altLang="en-US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  <a:ea typeface="ＭＳ Ｐゴシック" charset="-128"/>
              </a:rPr>
              <a:t>）</a:t>
            </a:r>
            <a:r>
              <a:rPr lang="en-US" altLang="en-US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  <a:ea typeface="ＭＳ Ｐゴシック" charset="-128"/>
              </a:rPr>
              <a:t>          </a:t>
            </a: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</a:rPr>
              <a:t>print “Hello”: </a:t>
            </a:r>
            <a:r>
              <a:rPr lang="en-US" altLang="zh-CN" sz="1800" dirty="0">
                <a:solidFill>
                  <a:srgbClr val="FF0000"/>
                </a:solidFill>
                <a:latin typeface="Arial Narrow" panose="020B0606020202030204" pitchFamily="34" charset="0"/>
              </a:rPr>
              <a:t>&lt;critical section&gt;</a:t>
            </a:r>
            <a:endParaRPr lang="zh-CN" altLang="en-US" sz="1800" dirty="0">
              <a:solidFill>
                <a:srgbClr val="FF0000"/>
              </a:solidFill>
              <a:latin typeface="Arial Narrow" panose="020B0606020202030204" pitchFamily="34" charset="0"/>
            </a:endParaRPr>
          </a:p>
          <a:p>
            <a:pPr marL="0" indent="0">
              <a:buNone/>
            </a:pP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</a:rPr>
              <a:t> </a:t>
            </a:r>
          </a:p>
          <a:p>
            <a:endParaRPr lang="en-US" altLang="en-US" kern="0" dirty="0">
              <a:ea typeface="ＭＳ Ｐゴシック" charset="-128"/>
            </a:endParaRPr>
          </a:p>
          <a:p>
            <a:endParaRPr lang="en-US" altLang="en-US" kern="0" dirty="0">
              <a:ea typeface="ＭＳ Ｐゴシック" charset="-128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6CB52BAA-174A-4AC6-B09B-1FA04543BE6D}"/>
              </a:ext>
            </a:extLst>
          </p:cNvPr>
          <p:cNvSpPr txBox="1">
            <a:spLocks/>
          </p:cNvSpPr>
          <p:nvPr/>
        </p:nvSpPr>
        <p:spPr bwMode="auto">
          <a:xfrm>
            <a:off x="4919133" y="1404408"/>
            <a:ext cx="4377267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charset="2"/>
              <a:buChar char="n"/>
              <a:defRPr sz="2400">
                <a:solidFill>
                  <a:schemeClr val="tx1"/>
                </a:solidFill>
                <a:latin typeface="+mn-lt"/>
                <a:ea typeface="ＭＳ Ｐゴシック" pitchFamily="-107" charset="-128"/>
                <a:cs typeface="ＭＳ Ｐゴシック" pitchFamily="-107" charset="-128"/>
              </a:defRPr>
            </a:lvl1pPr>
            <a:lvl2pPr marL="669925" indent="-325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charset="2"/>
              <a:buChar char="q"/>
              <a:defRPr sz="2200">
                <a:solidFill>
                  <a:schemeClr val="tx1"/>
                </a:solidFill>
                <a:latin typeface="+mn-lt"/>
                <a:ea typeface="ＭＳ Ｐゴシック" pitchFamily="-107" charset="-128"/>
              </a:defRPr>
            </a:lvl2pPr>
            <a:lvl3pPr marL="1022350" indent="-350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charset="2"/>
              <a:buChar char="n"/>
              <a:defRPr sz="2000">
                <a:solidFill>
                  <a:schemeClr val="tx1"/>
                </a:solidFill>
                <a:latin typeface="+mn-lt"/>
                <a:ea typeface="ＭＳ Ｐゴシック" pitchFamily="-107" charset="-128"/>
              </a:defRPr>
            </a:lvl3pPr>
            <a:lvl4pPr marL="1339850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q"/>
              <a:defRPr>
                <a:solidFill>
                  <a:schemeClr val="tx1"/>
                </a:solidFill>
                <a:latin typeface="+mn-lt"/>
                <a:ea typeface="ＭＳ Ｐゴシック" pitchFamily="-107" charset="-128"/>
              </a:defRPr>
            </a:lvl4pPr>
            <a:lvl5pPr marL="16811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charset="2"/>
              <a:buChar char="§"/>
              <a:defRPr sz="1600">
                <a:solidFill>
                  <a:schemeClr val="tx1"/>
                </a:solidFill>
                <a:latin typeface="+mn-lt"/>
                <a:ea typeface="ＭＳ Ｐゴシック" pitchFamily="-107" charset="-128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altLang="en-US" kern="0" dirty="0">
                <a:ea typeface="ＭＳ Ｐゴシック" charset="-128"/>
              </a:rPr>
              <a:t>          </a:t>
            </a:r>
            <a:r>
              <a:rPr lang="en-US" altLang="en-US" b="1" kern="0" dirty="0">
                <a:latin typeface="Arial Narrow" panose="020B0606020202030204" pitchFamily="34" charset="0"/>
                <a:ea typeface="ＭＳ Ｐゴシック" charset="-128"/>
              </a:rPr>
              <a:t>Core 2</a:t>
            </a: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</a:rPr>
              <a:t>:</a:t>
            </a:r>
          </a:p>
          <a:p>
            <a:pPr marL="0" indent="0">
              <a:buNone/>
            </a:pP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</a:rPr>
              <a:t> </a:t>
            </a:r>
            <a:r>
              <a:rPr lang="en-US" altLang="en-US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  <a:ea typeface="ＭＳ Ｐゴシック" charset="-128"/>
              </a:rPr>
              <a:t>(3)</a:t>
            </a: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</a:rPr>
              <a:t>        </a:t>
            </a:r>
            <a:r>
              <a:rPr lang="en-US" altLang="en-US" kern="0" dirty="0">
                <a:solidFill>
                  <a:srgbClr val="FF0000"/>
                </a:solidFill>
                <a:latin typeface="Arial Narrow" panose="020B0606020202030204" pitchFamily="34" charset="0"/>
                <a:ea typeface="ＭＳ Ｐゴシック" charset="-128"/>
              </a:rPr>
              <a:t>B</a:t>
            </a: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</a:rPr>
              <a:t>  = 1</a:t>
            </a:r>
          </a:p>
          <a:p>
            <a:pPr marL="0" indent="0">
              <a:buNone/>
            </a:pP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</a:rPr>
              <a:t>              if (</a:t>
            </a:r>
            <a:r>
              <a:rPr lang="en-US" altLang="en-US" kern="0" dirty="0">
                <a:solidFill>
                  <a:srgbClr val="0070C0"/>
                </a:solidFill>
                <a:latin typeface="Arial Narrow" panose="020B0606020202030204" pitchFamily="34" charset="0"/>
                <a:ea typeface="ＭＳ Ｐゴシック" charset="-128"/>
              </a:rPr>
              <a:t>A</a:t>
            </a: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</a:rPr>
              <a:t> == 0)</a:t>
            </a:r>
          </a:p>
          <a:p>
            <a:pPr marL="0" indent="0">
              <a:buNone/>
            </a:pP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</a:rPr>
              <a:t> </a:t>
            </a:r>
            <a:r>
              <a:rPr lang="en-US" altLang="en-US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  <a:ea typeface="ＭＳ Ｐゴシック" charset="-128"/>
              </a:rPr>
              <a:t>(4)</a:t>
            </a: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</a:rPr>
              <a:t>             print “ZJU” : </a:t>
            </a:r>
            <a:r>
              <a:rPr lang="en-US" altLang="zh-CN" sz="1800" dirty="0">
                <a:solidFill>
                  <a:srgbClr val="FF0000"/>
                </a:solidFill>
                <a:latin typeface="Arial Narrow" panose="020B0606020202030204" pitchFamily="34" charset="0"/>
              </a:rPr>
              <a:t>&lt;critical section&gt;</a:t>
            </a:r>
            <a:endParaRPr lang="zh-CN" altLang="en-US" sz="1800" dirty="0">
              <a:solidFill>
                <a:srgbClr val="FF0000"/>
              </a:solidFill>
              <a:latin typeface="Arial Narrow" panose="020B0606020202030204" pitchFamily="34" charset="0"/>
            </a:endParaRPr>
          </a:p>
          <a:p>
            <a:pPr marL="0" indent="0">
              <a:buNone/>
            </a:pPr>
            <a:endParaRPr lang="en-US" altLang="en-US" kern="0" dirty="0">
              <a:latin typeface="Arial Narrow" panose="020B0606020202030204" pitchFamily="34" charset="0"/>
              <a:ea typeface="ＭＳ Ｐゴシック" charset="-128"/>
            </a:endParaRPr>
          </a:p>
          <a:p>
            <a:endParaRPr lang="en-US" altLang="en-US" kern="0" dirty="0">
              <a:ea typeface="ＭＳ Ｐゴシック" charset="-128"/>
            </a:endParaRPr>
          </a:p>
          <a:p>
            <a:endParaRPr lang="en-US" altLang="en-US" kern="0" dirty="0"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0485919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8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ea typeface="ＭＳ Ｐゴシック" charset="-128"/>
              </a:rPr>
              <a:t>The </a:t>
            </a:r>
            <a:r>
              <a:rPr lang="en-US" altLang="zh-CN" dirty="0">
                <a:ea typeface="ＭＳ Ｐゴシック" charset="-128"/>
              </a:rPr>
              <a:t>Challenge</a:t>
            </a:r>
            <a:endParaRPr lang="en-US" altLang="en-US" dirty="0">
              <a:ea typeface="ＭＳ Ｐゴシック" charset="-12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96950"/>
            <a:ext cx="8610600" cy="5194300"/>
          </a:xfrm>
        </p:spPr>
        <p:txBody>
          <a:bodyPr/>
          <a:lstStyle/>
          <a:p>
            <a:r>
              <a:rPr lang="en-US" altLang="zh-CN" b="1" dirty="0">
                <a:solidFill>
                  <a:srgbClr val="FF0000"/>
                </a:solidFill>
                <a:ea typeface="ＭＳ Ｐゴシック" charset="-128"/>
              </a:rPr>
              <a:t>Challenge</a:t>
            </a:r>
            <a:r>
              <a:rPr lang="en-US" altLang="zh-CN" dirty="0">
                <a:solidFill>
                  <a:srgbClr val="FF0000"/>
                </a:solidFill>
                <a:ea typeface="ＭＳ Ｐゴシック" charset="-128"/>
              </a:rPr>
              <a:t>: </a:t>
            </a:r>
            <a:r>
              <a:rPr lang="en-US" altLang="en-US" dirty="0">
                <a:solidFill>
                  <a:srgbClr val="FF0000"/>
                </a:solidFill>
                <a:ea typeface="ＭＳ Ｐゴシック" charset="-128"/>
              </a:rPr>
              <a:t>The two processors did </a:t>
            </a:r>
            <a:r>
              <a:rPr lang="en-US" altLang="en-US" b="1" dirty="0">
                <a:solidFill>
                  <a:srgbClr val="FF0000"/>
                </a:solidFill>
                <a:ea typeface="ＭＳ Ｐゴシック" charset="-128"/>
              </a:rPr>
              <a:t>NOT</a:t>
            </a:r>
            <a:r>
              <a:rPr lang="en-US" altLang="en-US" dirty="0">
                <a:solidFill>
                  <a:srgbClr val="FF0000"/>
                </a:solidFill>
                <a:ea typeface="ＭＳ Ｐゴシック" charset="-128"/>
              </a:rPr>
              <a:t> see the same order of operations to memory</a:t>
            </a:r>
          </a:p>
          <a:p>
            <a:endParaRPr lang="en-US" altLang="en-US" dirty="0">
              <a:solidFill>
                <a:srgbClr val="0000FF"/>
              </a:solidFill>
              <a:ea typeface="ＭＳ Ｐゴシック" charset="-128"/>
            </a:endParaRPr>
          </a:p>
          <a:p>
            <a:r>
              <a:rPr lang="en-US" altLang="en-US" dirty="0">
                <a:ea typeface="ＭＳ Ｐゴシック" charset="-128"/>
              </a:rPr>
              <a:t>The “happened before” relationship between multiple updates to memory was inconsistent between the two processors’ points of view</a:t>
            </a:r>
          </a:p>
          <a:p>
            <a:endParaRPr lang="en-US" altLang="en-US" dirty="0">
              <a:solidFill>
                <a:srgbClr val="0000FF"/>
              </a:solidFill>
              <a:ea typeface="ＭＳ Ｐゴシック" charset="-128"/>
            </a:endParaRPr>
          </a:p>
          <a:p>
            <a:r>
              <a:rPr lang="en-US" altLang="en-US" dirty="0">
                <a:solidFill>
                  <a:srgbClr val="000000"/>
                </a:solidFill>
                <a:ea typeface="ＭＳ Ｐゴシック" charset="-128"/>
              </a:rPr>
              <a:t>As a result, each processor thought the other was </a:t>
            </a:r>
            <a:r>
              <a:rPr lang="en-US" altLang="en-US" b="1" dirty="0">
                <a:solidFill>
                  <a:srgbClr val="000000"/>
                </a:solidFill>
                <a:ea typeface="ＭＳ Ｐゴシック" charset="-128"/>
              </a:rPr>
              <a:t>not</a:t>
            </a:r>
            <a:r>
              <a:rPr lang="en-US" altLang="en-US" dirty="0">
                <a:solidFill>
                  <a:srgbClr val="000000"/>
                </a:solidFill>
                <a:ea typeface="ＭＳ Ｐゴシック" charset="-128"/>
              </a:rPr>
              <a:t> in the critical section</a:t>
            </a:r>
          </a:p>
          <a:p>
            <a:endParaRPr lang="en-US" altLang="en-US" dirty="0">
              <a:solidFill>
                <a:srgbClr val="0000FF"/>
              </a:solidFill>
              <a:ea typeface="ＭＳ Ｐゴシック" charset="-128"/>
            </a:endParaRPr>
          </a:p>
        </p:txBody>
      </p:sp>
      <p:sp>
        <p:nvSpPr>
          <p:cNvPr id="140291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1B4FA016-E35A-7A49-BDC2-750DA9C34DBB}" type="slidenum">
              <a:rPr lang="en-US" altLang="en-US" sz="1600">
                <a:solidFill>
                  <a:srgbClr val="000000"/>
                </a:solidFill>
                <a:latin typeface="Garamond" charset="0"/>
              </a:rPr>
              <a:pPr eaLnBrk="1" hangingPunct="1"/>
              <a:t>44</a:t>
            </a:fld>
            <a:endParaRPr lang="en-US" altLang="en-US" sz="1600">
              <a:solidFill>
                <a:srgbClr val="000000"/>
              </a:solidFill>
              <a:latin typeface="Garamon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29656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charset="-128"/>
              </a:rPr>
              <a:t>Four Types of Memory Barrier</a:t>
            </a:r>
            <a:endParaRPr lang="en-US" altLang="en-US" dirty="0">
              <a:ea typeface="ＭＳ Ｐゴシック" charset="-12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066800"/>
            <a:ext cx="8610600" cy="5194300"/>
          </a:xfrm>
        </p:spPr>
        <p:txBody>
          <a:bodyPr/>
          <a:lstStyle/>
          <a:p>
            <a:r>
              <a:rPr lang="en-US" altLang="en-US" sz="2000" dirty="0">
                <a:solidFill>
                  <a:srgbClr val="0432FF"/>
                </a:solidFill>
                <a:ea typeface="ＭＳ Ｐゴシック" charset="-128"/>
              </a:rPr>
              <a:t>Load-Load</a:t>
            </a:r>
            <a:r>
              <a:rPr lang="en-US" altLang="en-US" sz="2000" dirty="0">
                <a:ea typeface="ＭＳ Ｐゴシック" charset="-128"/>
              </a:rPr>
              <a:t>:</a:t>
            </a:r>
          </a:p>
          <a:p>
            <a:pPr lvl="1"/>
            <a:r>
              <a:rPr lang="en-US" altLang="en-US" sz="2000" dirty="0">
                <a:ea typeface="ＭＳ Ｐゴシック" charset="-128"/>
              </a:rPr>
              <a:t>Effectively prevents ordering of loads performed before the barrier with loads performed after the barrier</a:t>
            </a:r>
          </a:p>
          <a:p>
            <a:endParaRPr lang="en-US" altLang="en-US" sz="1400" dirty="0">
              <a:ea typeface="ＭＳ Ｐゴシック" charset="-128"/>
            </a:endParaRPr>
          </a:p>
          <a:p>
            <a:r>
              <a:rPr lang="en-US" altLang="en-US" sz="2000" dirty="0">
                <a:solidFill>
                  <a:srgbClr val="0432FF"/>
                </a:solidFill>
                <a:ea typeface="ＭＳ Ｐゴシック" charset="-128"/>
              </a:rPr>
              <a:t>Load-Store</a:t>
            </a:r>
            <a:r>
              <a:rPr lang="en-US" altLang="en-US" sz="2000" dirty="0">
                <a:ea typeface="ＭＳ Ｐゴシック" charset="-128"/>
              </a:rPr>
              <a:t>:</a:t>
            </a:r>
          </a:p>
          <a:p>
            <a:pPr lvl="1"/>
            <a:r>
              <a:rPr lang="en-US" altLang="en-US" sz="2000" dirty="0">
                <a:ea typeface="ＭＳ Ｐゴシック" charset="-128"/>
              </a:rPr>
              <a:t>Effectively prevents ordering of loads performed before the barrier with writes performed after the barrier</a:t>
            </a:r>
          </a:p>
          <a:p>
            <a:endParaRPr lang="en-US" altLang="en-US" sz="1400" dirty="0">
              <a:ea typeface="ＭＳ Ｐゴシック" charset="-128"/>
            </a:endParaRPr>
          </a:p>
          <a:p>
            <a:r>
              <a:rPr lang="en-US" altLang="en-US" sz="2000" dirty="0">
                <a:solidFill>
                  <a:srgbClr val="0432FF"/>
                </a:solidFill>
                <a:ea typeface="ＭＳ Ｐゴシック" charset="-128"/>
              </a:rPr>
              <a:t>Store-Store</a:t>
            </a:r>
            <a:r>
              <a:rPr lang="en-US" altLang="en-US" sz="2000" dirty="0">
                <a:ea typeface="ＭＳ Ｐゴシック" charset="-128"/>
              </a:rPr>
              <a:t>:</a:t>
            </a:r>
          </a:p>
          <a:p>
            <a:pPr lvl="1"/>
            <a:r>
              <a:rPr lang="en-US" altLang="en-US" sz="2000" dirty="0">
                <a:ea typeface="ＭＳ Ｐゴシック" charset="-128"/>
              </a:rPr>
              <a:t>Effectively prevents ordering of stores performed before the barrier with stores performed after the barrier</a:t>
            </a:r>
          </a:p>
          <a:p>
            <a:endParaRPr lang="en-US" altLang="en-US" sz="2000" dirty="0">
              <a:ea typeface="ＭＳ Ｐゴシック" charset="-128"/>
            </a:endParaRPr>
          </a:p>
          <a:p>
            <a:r>
              <a:rPr lang="en-US" altLang="en-US" sz="2000" dirty="0">
                <a:solidFill>
                  <a:srgbClr val="0432FF"/>
                </a:solidFill>
                <a:ea typeface="ＭＳ Ｐゴシック" charset="-128"/>
              </a:rPr>
              <a:t>Store-Load</a:t>
            </a:r>
            <a:r>
              <a:rPr lang="en-US" altLang="en-US" sz="2000" dirty="0">
                <a:ea typeface="ＭＳ Ｐゴシック" charset="-128"/>
              </a:rPr>
              <a:t>:</a:t>
            </a:r>
          </a:p>
          <a:p>
            <a:pPr lvl="1"/>
            <a:r>
              <a:rPr lang="en-US" altLang="en-US" sz="2000" dirty="0">
                <a:ea typeface="ＭＳ Ｐゴシック" charset="-128"/>
              </a:rPr>
              <a:t>Effectively prevents ordering of stores performed before the barrier with loads performed after the barrier</a:t>
            </a:r>
          </a:p>
          <a:p>
            <a:pPr lvl="1"/>
            <a:endParaRPr lang="en-US" altLang="en-US" sz="2000" dirty="0">
              <a:ea typeface="ＭＳ Ｐゴシック" charset="-128"/>
            </a:endParaRPr>
          </a:p>
        </p:txBody>
      </p:sp>
      <p:sp>
        <p:nvSpPr>
          <p:cNvPr id="64515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D2C48AD6-E1AC-E041-A3BD-333E0F20253C}" type="slidenum">
              <a:rPr lang="en-US" altLang="en-US" sz="1600">
                <a:solidFill>
                  <a:srgbClr val="000000"/>
                </a:solidFill>
                <a:latin typeface="Garamond" charset="0"/>
              </a:rPr>
              <a:pPr eaLnBrk="1" hangingPunct="1"/>
              <a:t>45</a:t>
            </a:fld>
            <a:endParaRPr lang="en-US" altLang="en-US" sz="1600">
              <a:solidFill>
                <a:srgbClr val="000000"/>
              </a:solidFill>
              <a:latin typeface="Garamon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8624828"/>
      </p:ext>
    </p:extLst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Title 1"/>
          <p:cNvSpPr>
            <a:spLocks noGrp="1"/>
          </p:cNvSpPr>
          <p:nvPr>
            <p:ph type="title"/>
          </p:nvPr>
        </p:nvSpPr>
        <p:spPr>
          <a:xfrm>
            <a:off x="0" y="152400"/>
            <a:ext cx="9220200" cy="1066800"/>
          </a:xfrm>
        </p:spPr>
        <p:txBody>
          <a:bodyPr/>
          <a:lstStyle/>
          <a:p>
            <a:r>
              <a:rPr lang="en-US" altLang="zh-CN" dirty="0">
                <a:ea typeface="ＭＳ Ｐゴシック" charset="-128"/>
              </a:rPr>
              <a:t>Four Memory Barriers vs. Consistence Model</a:t>
            </a:r>
            <a:endParaRPr lang="en-US" altLang="en-US" dirty="0">
              <a:ea typeface="ＭＳ Ｐゴシック" charset="-12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9346" y="3881859"/>
            <a:ext cx="8610600" cy="2137941"/>
          </a:xfrm>
        </p:spPr>
        <p:txBody>
          <a:bodyPr/>
          <a:lstStyle/>
          <a:p>
            <a:r>
              <a:rPr lang="en-US" altLang="en-US" sz="2000" b="1" dirty="0">
                <a:ea typeface="ＭＳ Ｐゴシック" charset="-128"/>
              </a:rPr>
              <a:t>Comparison of memory models</a:t>
            </a:r>
            <a:r>
              <a:rPr lang="en-US" altLang="en-US" sz="2000" dirty="0">
                <a:ea typeface="ＭＳ Ｐゴシック" charset="-128"/>
              </a:rPr>
              <a:t>:</a:t>
            </a:r>
          </a:p>
          <a:p>
            <a:pPr lvl="1"/>
            <a:r>
              <a:rPr lang="en-US" altLang="en-US" sz="2000" dirty="0">
                <a:ea typeface="ＭＳ Ｐゴシック" charset="-128"/>
              </a:rPr>
              <a:t>The stronger memory model leads to lower performance/higher overhead</a:t>
            </a:r>
          </a:p>
          <a:p>
            <a:pPr lvl="1"/>
            <a:r>
              <a:rPr lang="en-US" altLang="en-US" sz="2000" dirty="0">
                <a:ea typeface="ＭＳ Ｐゴシック" charset="-128"/>
              </a:rPr>
              <a:t>The stronger memory model makes programmers’ life easier</a:t>
            </a:r>
          </a:p>
          <a:p>
            <a:pPr marL="344487" lvl="1" indent="0">
              <a:buNone/>
            </a:pPr>
            <a:endParaRPr lang="en-US" altLang="en-US" sz="2000" dirty="0">
              <a:ea typeface="ＭＳ Ｐゴシック" charset="-128"/>
            </a:endParaRPr>
          </a:p>
        </p:txBody>
      </p:sp>
      <p:sp>
        <p:nvSpPr>
          <p:cNvPr id="64515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D2C48AD6-E1AC-E041-A3BD-333E0F20253C}" type="slidenum">
              <a:rPr lang="en-US" altLang="en-US" sz="1600">
                <a:solidFill>
                  <a:srgbClr val="000000"/>
                </a:solidFill>
                <a:latin typeface="Garamond" charset="0"/>
              </a:rPr>
              <a:pPr eaLnBrk="1" hangingPunct="1"/>
              <a:t>46</a:t>
            </a:fld>
            <a:endParaRPr lang="en-US" altLang="en-US" sz="1600">
              <a:solidFill>
                <a:srgbClr val="000000"/>
              </a:solidFill>
              <a:latin typeface="Garamond" charset="0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6E358E44-262F-4018-A5FC-437711AC66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1556178"/>
              </p:ext>
            </p:extLst>
          </p:nvPr>
        </p:nvGraphicFramePr>
        <p:xfrm>
          <a:off x="309032" y="965614"/>
          <a:ext cx="8225370" cy="26622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7904">
                  <a:extLst>
                    <a:ext uri="{9D8B030D-6E8A-4147-A177-3AD203B41FA5}">
                      <a16:colId xmlns:a16="http://schemas.microsoft.com/office/drawing/2014/main" val="1236519423"/>
                    </a:ext>
                  </a:extLst>
                </a:gridCol>
                <a:gridCol w="1242216">
                  <a:extLst>
                    <a:ext uri="{9D8B030D-6E8A-4147-A177-3AD203B41FA5}">
                      <a16:colId xmlns:a16="http://schemas.microsoft.com/office/drawing/2014/main" val="103700403"/>
                    </a:ext>
                  </a:extLst>
                </a:gridCol>
                <a:gridCol w="1242216">
                  <a:extLst>
                    <a:ext uri="{9D8B030D-6E8A-4147-A177-3AD203B41FA5}">
                      <a16:colId xmlns:a16="http://schemas.microsoft.com/office/drawing/2014/main" val="3204525941"/>
                    </a:ext>
                  </a:extLst>
                </a:gridCol>
                <a:gridCol w="1242216">
                  <a:extLst>
                    <a:ext uri="{9D8B030D-6E8A-4147-A177-3AD203B41FA5}">
                      <a16:colId xmlns:a16="http://schemas.microsoft.com/office/drawing/2014/main" val="2740849358"/>
                    </a:ext>
                  </a:extLst>
                </a:gridCol>
                <a:gridCol w="2117816">
                  <a:extLst>
                    <a:ext uri="{9D8B030D-6E8A-4147-A177-3AD203B41FA5}">
                      <a16:colId xmlns:a16="http://schemas.microsoft.com/office/drawing/2014/main" val="2338608995"/>
                    </a:ext>
                  </a:extLst>
                </a:gridCol>
                <a:gridCol w="1143002">
                  <a:extLst>
                    <a:ext uri="{9D8B030D-6E8A-4147-A177-3AD203B41FA5}">
                      <a16:colId xmlns:a16="http://schemas.microsoft.com/office/drawing/2014/main" val="2793339135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Load-Load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Load-Store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Store-Store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Store-Load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Consistence Model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CPU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7066902"/>
                  </a:ext>
                </a:extLst>
              </a:tr>
              <a:tr h="4962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√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dirty="0">
                          <a:latin typeface="Arial Narrow" panose="020B0606020202030204" pitchFamily="34" charset="0"/>
                        </a:rPr>
                        <a:t>√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dirty="0">
                          <a:latin typeface="Arial Narrow" panose="020B0606020202030204" pitchFamily="34" charset="0"/>
                        </a:rPr>
                        <a:t>√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dirty="0">
                          <a:latin typeface="Arial Narrow" panose="020B0606020202030204" pitchFamily="34" charset="0"/>
                        </a:rPr>
                        <a:t>√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Arial Narrow" panose="020B0606020202030204" pitchFamily="34" charset="0"/>
                        </a:rPr>
                        <a:t>Sequential Consistency</a:t>
                      </a:r>
                      <a:endParaRPr lang="zh-CN" altLang="en-US" dirty="0"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Arial Narrow" panose="020B0606020202030204" pitchFamily="34" charset="0"/>
                        </a:rPr>
                        <a:t>Dual 386</a:t>
                      </a:r>
                      <a:endParaRPr lang="zh-CN" altLang="en-US" dirty="0"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6436216"/>
                  </a:ext>
                </a:extLst>
              </a:tr>
              <a:tr h="4962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√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dirty="0">
                          <a:latin typeface="Arial Narrow" panose="020B0606020202030204" pitchFamily="34" charset="0"/>
                        </a:rPr>
                        <a:t>√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dirty="0">
                          <a:latin typeface="Arial Narrow" panose="020B0606020202030204" pitchFamily="34" charset="0"/>
                        </a:rPr>
                        <a:t>√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Arial Narrow" panose="020B0606020202030204" pitchFamily="34" charset="0"/>
                        </a:rPr>
                        <a:t>Total Store</a:t>
                      </a:r>
                      <a:r>
                        <a:rPr lang="zh-CN" altLang="en-US" dirty="0"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en-US" altLang="zh-CN" dirty="0">
                          <a:latin typeface="Arial Narrow" panose="020B0606020202030204" pitchFamily="34" charset="0"/>
                        </a:rPr>
                        <a:t>Order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Arial Narrow" panose="020B0606020202030204" pitchFamily="34" charset="0"/>
                        </a:rPr>
                        <a:t>X86/64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3624706"/>
                  </a:ext>
                </a:extLst>
              </a:tr>
              <a:tr h="4962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√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dirty="0">
                          <a:latin typeface="Arial Narrow" panose="020B0606020202030204" pitchFamily="34" charset="0"/>
                        </a:rPr>
                        <a:t>√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Arial Narrow" panose="020B0606020202030204" pitchFamily="34" charset="0"/>
                        </a:rPr>
                        <a:t>Partial Store Order</a:t>
                      </a:r>
                      <a:endParaRPr lang="zh-CN" altLang="en-US" dirty="0"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Arial Narrow" panose="020B0606020202030204" pitchFamily="34" charset="0"/>
                        </a:rPr>
                        <a:t>Arm</a:t>
                      </a:r>
                      <a:endParaRPr lang="zh-CN" altLang="en-US" dirty="0"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8422283"/>
                  </a:ext>
                </a:extLst>
              </a:tr>
              <a:tr h="496255">
                <a:tc>
                  <a:txBody>
                    <a:bodyPr/>
                    <a:lstStyle/>
                    <a:p>
                      <a:pPr algn="ctr"/>
                      <a:endParaRPr lang="zh-CN" altLang="en-US"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Arial Narrow" panose="020B0606020202030204" pitchFamily="34" charset="0"/>
                        </a:rPr>
                        <a:t>Really weak memory model</a:t>
                      </a:r>
                      <a:endParaRPr lang="zh-CN" altLang="en-US" sz="1400" dirty="0"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Arial Narrow" panose="020B0606020202030204" pitchFamily="34" charset="0"/>
                        </a:rPr>
                        <a:t>DEC Alpha</a:t>
                      </a:r>
                      <a:endParaRPr lang="zh-CN" altLang="en-US" dirty="0"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8620590"/>
                  </a:ext>
                </a:extLst>
              </a:tr>
            </a:tbl>
          </a:graphicData>
        </a:graphic>
      </p:graphicFrame>
      <p:sp>
        <p:nvSpPr>
          <p:cNvPr id="6" name="Rectangle 36">
            <a:extLst>
              <a:ext uri="{FF2B5EF4-FFF2-40B4-BE49-F238E27FC236}">
                <a16:creationId xmlns:a16="http://schemas.microsoft.com/office/drawing/2014/main" id="{8AD9E7D2-4795-4EC8-A733-F18634A60049}"/>
              </a:ext>
            </a:extLst>
          </p:cNvPr>
          <p:cNvSpPr/>
          <p:nvPr/>
        </p:nvSpPr>
        <p:spPr>
          <a:xfrm flipV="1">
            <a:off x="268817" y="1498600"/>
            <a:ext cx="8305800" cy="6858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8877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charset="-128"/>
              </a:rPr>
              <a:t>Sequential Consistency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90600"/>
            <a:ext cx="8682038" cy="5194300"/>
          </a:xfrm>
        </p:spPr>
        <p:txBody>
          <a:bodyPr/>
          <a:lstStyle/>
          <a:p>
            <a:r>
              <a:rPr lang="en-US" altLang="zh-CN" b="1" dirty="0">
                <a:ea typeface="ＭＳ Ｐゴシック" charset="-128"/>
              </a:rPr>
              <a:t>Sequential Consistency:</a:t>
            </a:r>
          </a:p>
          <a:p>
            <a:pPr lvl="1"/>
            <a:r>
              <a:rPr lang="en-US" altLang="zh-CN" sz="2000" dirty="0">
                <a:ea typeface="ＭＳ Ｐゴシック" charset="-128"/>
              </a:rPr>
              <a:t>Load-Load</a:t>
            </a:r>
          </a:p>
          <a:p>
            <a:pPr lvl="1"/>
            <a:r>
              <a:rPr lang="en-US" altLang="zh-CN" sz="2000" dirty="0">
                <a:ea typeface="ＭＳ Ｐゴシック" charset="-128"/>
              </a:rPr>
              <a:t>Load-Store</a:t>
            </a:r>
          </a:p>
          <a:p>
            <a:pPr lvl="1"/>
            <a:r>
              <a:rPr lang="en-US" altLang="zh-CN" sz="2000" dirty="0">
                <a:ea typeface="ＭＳ Ｐゴシック" charset="-128"/>
              </a:rPr>
              <a:t>Store-Store</a:t>
            </a:r>
          </a:p>
          <a:p>
            <a:pPr lvl="1"/>
            <a:r>
              <a:rPr lang="en-US" altLang="zh-CN" sz="2000" dirty="0">
                <a:ea typeface="ＭＳ Ｐゴシック" charset="-128"/>
              </a:rPr>
              <a:t>Store-Load</a:t>
            </a:r>
          </a:p>
          <a:p>
            <a:endParaRPr lang="en-US" altLang="zh-CN" b="1" dirty="0">
              <a:ea typeface="ＭＳ Ｐゴシック" charset="-128"/>
            </a:endParaRPr>
          </a:p>
          <a:p>
            <a:r>
              <a:rPr lang="en-US" altLang="zh-CN" b="1" dirty="0">
                <a:ea typeface="ＭＳ Ｐゴシック" charset="-128"/>
              </a:rPr>
              <a:t>Sequential Consistency </a:t>
            </a:r>
            <a:r>
              <a:rPr lang="en-US" altLang="zh-CN" dirty="0">
                <a:ea typeface="ＭＳ Ｐゴシック" charset="-128"/>
              </a:rPr>
              <a:t>in a</a:t>
            </a:r>
            <a:r>
              <a:rPr lang="en-US" altLang="en-US" dirty="0">
                <a:ea typeface="ＭＳ Ｐゴシック" charset="-128"/>
              </a:rPr>
              <a:t> multiprocessor system if:</a:t>
            </a:r>
          </a:p>
          <a:p>
            <a:pPr marL="695325" lvl="2" indent="-342900"/>
            <a:r>
              <a:rPr lang="en-US" altLang="en-US" b="1" dirty="0">
                <a:ea typeface="ＭＳ Ｐゴシック" charset="-128"/>
              </a:rPr>
              <a:t>In uniprocessor</a:t>
            </a:r>
            <a:r>
              <a:rPr lang="en-US" altLang="en-US" dirty="0">
                <a:ea typeface="ＭＳ Ｐゴシック" charset="-128"/>
              </a:rPr>
              <a:t>: the operations of each individual processor appear in this sequence in the order specified by its program</a:t>
            </a:r>
          </a:p>
          <a:p>
            <a:pPr marL="352425" lvl="2" indent="0">
              <a:buNone/>
            </a:pPr>
            <a:r>
              <a:rPr lang="en-US" altLang="en-US" dirty="0">
                <a:ea typeface="ＭＳ Ｐゴシック" charset="-128"/>
              </a:rPr>
              <a:t>AND</a:t>
            </a:r>
          </a:p>
          <a:p>
            <a:pPr marL="695325" lvl="2" indent="-342900"/>
            <a:r>
              <a:rPr lang="en-US" altLang="en-US" b="1" dirty="0">
                <a:ea typeface="ＭＳ Ｐゴシック" charset="-128"/>
              </a:rPr>
              <a:t>In multiprocessor</a:t>
            </a:r>
            <a:r>
              <a:rPr lang="en-US" altLang="en-US" dirty="0">
                <a:ea typeface="ＭＳ Ｐゴシック" charset="-128"/>
              </a:rPr>
              <a:t>: the result of any execution is the same as if the operations of all the processors were executed in some sequential order, as if they were manipulating a single shared memory</a:t>
            </a:r>
          </a:p>
          <a:p>
            <a:pPr marL="342900" lvl="1" indent="-342900"/>
            <a:endParaRPr lang="en-US" altLang="en-US" dirty="0">
              <a:ea typeface="ＭＳ Ｐゴシック" charset="-128"/>
            </a:endParaRPr>
          </a:p>
          <a:p>
            <a:pPr marL="342900" lvl="1" indent="-342900"/>
            <a:r>
              <a:rPr lang="en-US" altLang="en-US" sz="1800" dirty="0" err="1">
                <a:ea typeface="ＭＳ Ｐゴシック" charset="-128"/>
              </a:rPr>
              <a:t>Lamport</a:t>
            </a:r>
            <a:r>
              <a:rPr lang="en-US" altLang="en-US" sz="1800" dirty="0">
                <a:ea typeface="ＭＳ Ｐゴシック" charset="-128"/>
              </a:rPr>
              <a:t>, “</a:t>
            </a:r>
            <a:r>
              <a:rPr lang="en-US" altLang="ja-JP" sz="1800" dirty="0">
                <a:ea typeface="ＭＳ Ｐゴシック" charset="-128"/>
              </a:rPr>
              <a:t>How to Make a Multiprocessor Computer That Correctly Executes </a:t>
            </a:r>
            <a:r>
              <a:rPr lang="en-US" altLang="ja-JP" sz="1800" dirty="0" err="1">
                <a:ea typeface="ＭＳ Ｐゴシック" charset="-128"/>
              </a:rPr>
              <a:t>Multiprocess</a:t>
            </a:r>
            <a:r>
              <a:rPr lang="en-US" altLang="ja-JP" sz="1800" dirty="0">
                <a:ea typeface="ＭＳ Ｐゴシック" charset="-128"/>
              </a:rPr>
              <a:t> Programs,</a:t>
            </a:r>
            <a:r>
              <a:rPr lang="en-US" altLang="en-US" sz="1800" dirty="0">
                <a:ea typeface="ＭＳ Ｐゴシック" charset="-128"/>
              </a:rPr>
              <a:t>”</a:t>
            </a:r>
            <a:r>
              <a:rPr lang="en-US" altLang="ja-JP" sz="1800" dirty="0">
                <a:ea typeface="ＭＳ Ｐゴシック" charset="-128"/>
              </a:rPr>
              <a:t> IEEE Transactions on Computers, 1979</a:t>
            </a:r>
          </a:p>
          <a:p>
            <a:pPr marL="342900" lvl="1" indent="-342900"/>
            <a:endParaRPr lang="en-US" altLang="en-US" dirty="0">
              <a:ea typeface="ＭＳ Ｐゴシック" charset="-128"/>
            </a:endParaRPr>
          </a:p>
          <a:p>
            <a:pPr lvl="1"/>
            <a:endParaRPr lang="en-US" altLang="en-US" sz="2000" dirty="0">
              <a:ea typeface="ＭＳ Ｐゴシック" charset="-128"/>
            </a:endParaRPr>
          </a:p>
        </p:txBody>
      </p:sp>
      <p:sp>
        <p:nvSpPr>
          <p:cNvPr id="64515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D2C48AD6-E1AC-E041-A3BD-333E0F20253C}" type="slidenum">
              <a:rPr lang="en-US" altLang="en-US" sz="1600">
                <a:solidFill>
                  <a:srgbClr val="000000"/>
                </a:solidFill>
                <a:latin typeface="Garamond" charset="0"/>
              </a:rPr>
              <a:pPr eaLnBrk="1" hangingPunct="1"/>
              <a:t>47</a:t>
            </a:fld>
            <a:endParaRPr lang="en-US" altLang="en-US" sz="1600">
              <a:solidFill>
                <a:srgbClr val="000000"/>
              </a:solidFill>
              <a:latin typeface="Garamon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0935611"/>
      </p:ext>
    </p:extLst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charset="-128"/>
              </a:rPr>
              <a:t>Sequential Consistency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3886200"/>
            <a:ext cx="8610600" cy="2514600"/>
          </a:xfrm>
        </p:spPr>
        <p:txBody>
          <a:bodyPr/>
          <a:lstStyle/>
          <a:p>
            <a:r>
              <a:rPr lang="en-US" altLang="zh-CN" b="1" dirty="0">
                <a:ea typeface="ＭＳ Ｐゴシック" charset="-128"/>
              </a:rPr>
              <a:t>Sequential Consistency</a:t>
            </a:r>
            <a:r>
              <a:rPr lang="en-US" altLang="zh-CN" dirty="0">
                <a:ea typeface="ＭＳ Ｐゴシック" charset="-128"/>
              </a:rPr>
              <a:t>: </a:t>
            </a:r>
            <a:r>
              <a:rPr lang="en-US" altLang="en-US" dirty="0">
                <a:solidFill>
                  <a:srgbClr val="0000FF"/>
                </a:solidFill>
                <a:ea typeface="ＭＳ Ｐゴシック" charset="-128"/>
              </a:rPr>
              <a:t>Memory is a switch that services one load or store at a time from any processor</a:t>
            </a:r>
          </a:p>
          <a:p>
            <a:pPr lvl="1"/>
            <a:r>
              <a:rPr lang="en-US" altLang="en-US" dirty="0">
                <a:ea typeface="ＭＳ Ｐゴシック" charset="-128"/>
              </a:rPr>
              <a:t>All processors see the currently serviced load or store at the same time</a:t>
            </a:r>
          </a:p>
          <a:p>
            <a:pPr lvl="1"/>
            <a:r>
              <a:rPr lang="en-US" altLang="en-US" dirty="0">
                <a:ea typeface="ＭＳ Ｐゴシック" charset="-128"/>
              </a:rPr>
              <a:t>Each processor’s operations are serviced in program order</a:t>
            </a:r>
          </a:p>
          <a:p>
            <a:pPr marL="342900" lvl="1" indent="-342900"/>
            <a:endParaRPr lang="en-US" altLang="en-US" dirty="0">
              <a:ea typeface="ＭＳ Ｐゴシック" charset="-128"/>
            </a:endParaRPr>
          </a:p>
          <a:p>
            <a:pPr marL="342900" lvl="1" indent="-342900"/>
            <a:endParaRPr lang="en-US" altLang="en-US" dirty="0">
              <a:ea typeface="ＭＳ Ｐゴシック" charset="-128"/>
            </a:endParaRPr>
          </a:p>
          <a:p>
            <a:pPr marL="342900" lvl="1" indent="-342900"/>
            <a:endParaRPr lang="en-US" altLang="en-US" dirty="0">
              <a:ea typeface="ＭＳ Ｐゴシック" charset="-128"/>
            </a:endParaRPr>
          </a:p>
          <a:p>
            <a:pPr marL="342900" lvl="1" indent="-342900"/>
            <a:endParaRPr lang="en-US" altLang="en-US" dirty="0">
              <a:ea typeface="ＭＳ Ｐゴシック" charset="-128"/>
            </a:endParaRPr>
          </a:p>
          <a:p>
            <a:pPr marL="342900" lvl="1" indent="-342900"/>
            <a:endParaRPr lang="en-US" altLang="en-US" dirty="0">
              <a:ea typeface="ＭＳ Ｐゴシック" charset="-128"/>
            </a:endParaRPr>
          </a:p>
          <a:p>
            <a:pPr lvl="1"/>
            <a:endParaRPr lang="en-US" altLang="en-US" sz="2000" dirty="0">
              <a:ea typeface="ＭＳ Ｐゴシック" charset="-128"/>
            </a:endParaRPr>
          </a:p>
        </p:txBody>
      </p:sp>
      <p:sp>
        <p:nvSpPr>
          <p:cNvPr id="64515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D2C48AD6-E1AC-E041-A3BD-333E0F20253C}" type="slidenum">
              <a:rPr lang="en-US" altLang="en-US" sz="1600">
                <a:solidFill>
                  <a:srgbClr val="000000"/>
                </a:solidFill>
                <a:latin typeface="Garamond" charset="0"/>
              </a:rPr>
              <a:pPr eaLnBrk="1" hangingPunct="1"/>
              <a:t>48</a:t>
            </a:fld>
            <a:endParaRPr lang="en-US" altLang="en-US" sz="1600">
              <a:solidFill>
                <a:srgbClr val="000000"/>
              </a:solidFill>
              <a:latin typeface="Garamond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8B6932D-27BC-41D3-9084-23BC1680DE5E}"/>
              </a:ext>
            </a:extLst>
          </p:cNvPr>
          <p:cNvGrpSpPr>
            <a:grpSpLocks/>
          </p:cNvGrpSpPr>
          <p:nvPr/>
        </p:nvGrpSpPr>
        <p:grpSpPr bwMode="auto">
          <a:xfrm>
            <a:off x="2286000" y="1066800"/>
            <a:ext cx="4495800" cy="2667000"/>
            <a:chOff x="720" y="912"/>
            <a:chExt cx="4560" cy="2688"/>
          </a:xfrm>
        </p:grpSpPr>
        <p:sp>
          <p:nvSpPr>
            <p:cNvPr id="6" name="Text Box 5">
              <a:extLst>
                <a:ext uri="{FF2B5EF4-FFF2-40B4-BE49-F238E27FC236}">
                  <a16:creationId xmlns:a16="http://schemas.microsoft.com/office/drawing/2014/main" id="{C5ECB7A7-9916-4F1B-95B7-9B3AA0687D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4" y="2986"/>
              <a:ext cx="1578" cy="4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  <a:defRPr/>
              </a:pPr>
              <a:r>
                <a:rPr lang="en-US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rPr>
                <a:t>MEMORY</a:t>
              </a:r>
              <a:endParaRPr lang="en-US">
                <a:solidFill>
                  <a:srgbClr val="000000"/>
                </a:solidFill>
                <a:latin typeface="Times New Roman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4F4832B-4C0C-42C0-A47D-97AFA5D9AA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6" y="2880"/>
              <a:ext cx="1344" cy="72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8" name="AutoShape 7">
              <a:extLst>
                <a:ext uri="{FF2B5EF4-FFF2-40B4-BE49-F238E27FC236}">
                  <a16:creationId xmlns:a16="http://schemas.microsoft.com/office/drawing/2014/main" id="{11C424F3-874B-47AE-91BB-F7948FD99C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3" y="912"/>
              <a:ext cx="673" cy="624"/>
            </a:xfrm>
            <a:prstGeom prst="flowChartConnector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9" name="AutoShape 8">
              <a:extLst>
                <a:ext uri="{FF2B5EF4-FFF2-40B4-BE49-F238E27FC236}">
                  <a16:creationId xmlns:a16="http://schemas.microsoft.com/office/drawing/2014/main" id="{890DD10E-F885-4833-AD56-0B27EC4FCF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912"/>
              <a:ext cx="671" cy="624"/>
            </a:xfrm>
            <a:prstGeom prst="flowChartConnector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0" name="AutoShape 9">
              <a:extLst>
                <a:ext uri="{FF2B5EF4-FFF2-40B4-BE49-F238E27FC236}">
                  <a16:creationId xmlns:a16="http://schemas.microsoft.com/office/drawing/2014/main" id="{3306D43F-E005-4C1C-9856-3764794CA7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7" y="912"/>
              <a:ext cx="673" cy="624"/>
            </a:xfrm>
            <a:prstGeom prst="flowChartConnector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1" name="AutoShape 10">
              <a:extLst>
                <a:ext uri="{FF2B5EF4-FFF2-40B4-BE49-F238E27FC236}">
                  <a16:creationId xmlns:a16="http://schemas.microsoft.com/office/drawing/2014/main" id="{B164DC24-B22E-4B1F-BE69-37168F91D0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912"/>
              <a:ext cx="671" cy="624"/>
            </a:xfrm>
            <a:prstGeom prst="flowChartConnector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1A429218-21E1-4B2E-99E0-7E17A8F41BF6}"/>
                </a:ext>
              </a:extLst>
            </p:cNvPr>
            <p:cNvSpPr>
              <a:spLocks/>
            </p:cNvSpPr>
            <p:nvPr/>
          </p:nvSpPr>
          <p:spPr bwMode="auto">
            <a:xfrm>
              <a:off x="720" y="2112"/>
              <a:ext cx="4560" cy="480"/>
            </a:xfrm>
            <a:custGeom>
              <a:avLst/>
              <a:gdLst>
                <a:gd name="T0" fmla="*/ 0 w 4560"/>
                <a:gd name="T1" fmla="*/ 480 h 480"/>
                <a:gd name="T2" fmla="*/ 2208 w 4560"/>
                <a:gd name="T3" fmla="*/ 0 h 480"/>
                <a:gd name="T4" fmla="*/ 4560 w 4560"/>
                <a:gd name="T5" fmla="*/ 480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560" h="480">
                  <a:moveTo>
                    <a:pt x="0" y="480"/>
                  </a:moveTo>
                  <a:cubicBezTo>
                    <a:pt x="724" y="240"/>
                    <a:pt x="1448" y="0"/>
                    <a:pt x="2208" y="0"/>
                  </a:cubicBezTo>
                  <a:cubicBezTo>
                    <a:pt x="2968" y="0"/>
                    <a:pt x="3764" y="240"/>
                    <a:pt x="4560" y="480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cxnSp>
          <p:nvCxnSpPr>
            <p:cNvPr id="13" name="AutoShape 12">
              <a:extLst>
                <a:ext uri="{FF2B5EF4-FFF2-40B4-BE49-F238E27FC236}">
                  <a16:creationId xmlns:a16="http://schemas.microsoft.com/office/drawing/2014/main" id="{617F9622-11BE-4CD5-BD74-8DC6C6D20D08}"/>
                </a:ext>
              </a:extLst>
            </p:cNvPr>
            <p:cNvCxnSpPr>
              <a:cxnSpLocks noChangeShapeType="1"/>
              <a:stCxn id="8" idx="4"/>
            </p:cNvCxnSpPr>
            <p:nvPr/>
          </p:nvCxnSpPr>
          <p:spPr bwMode="auto">
            <a:xfrm>
              <a:off x="1200" y="1536"/>
              <a:ext cx="0" cy="43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</p:cxnSp>
        <p:cxnSp>
          <p:nvCxnSpPr>
            <p:cNvPr id="14" name="AutoShape 13">
              <a:extLst>
                <a:ext uri="{FF2B5EF4-FFF2-40B4-BE49-F238E27FC236}">
                  <a16:creationId xmlns:a16="http://schemas.microsoft.com/office/drawing/2014/main" id="{FA12A1F9-A66F-4BF3-9F21-030743A293CC}"/>
                </a:ext>
              </a:extLst>
            </p:cNvPr>
            <p:cNvCxnSpPr>
              <a:cxnSpLocks noChangeShapeType="1"/>
              <a:stCxn id="11" idx="4"/>
            </p:cNvCxnSpPr>
            <p:nvPr/>
          </p:nvCxnSpPr>
          <p:spPr bwMode="auto">
            <a:xfrm>
              <a:off x="4655" y="1536"/>
              <a:ext cx="2" cy="43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</p:cxnSp>
        <p:sp>
          <p:nvSpPr>
            <p:cNvPr id="15" name="Line 14">
              <a:extLst>
                <a:ext uri="{FF2B5EF4-FFF2-40B4-BE49-F238E27FC236}">
                  <a16:creationId xmlns:a16="http://schemas.microsoft.com/office/drawing/2014/main" id="{419B2C6F-F2A6-4AA2-87D2-3F9CC8AECE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0" y="1968"/>
              <a:ext cx="337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6" name="Line 15">
              <a:extLst>
                <a:ext uri="{FF2B5EF4-FFF2-40B4-BE49-F238E27FC236}">
                  <a16:creationId xmlns:a16="http://schemas.microsoft.com/office/drawing/2014/main" id="{300094C5-EE29-4FDF-AEBB-7415C54831B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15" y="1968"/>
              <a:ext cx="24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7" name="Line 16">
              <a:extLst>
                <a:ext uri="{FF2B5EF4-FFF2-40B4-BE49-F238E27FC236}">
                  <a16:creationId xmlns:a16="http://schemas.microsoft.com/office/drawing/2014/main" id="{EE70FD4A-8DDC-4BC1-8F0B-A02214BBE2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3" y="1536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8" name="Line 17">
              <a:extLst>
                <a:ext uri="{FF2B5EF4-FFF2-40B4-BE49-F238E27FC236}">
                  <a16:creationId xmlns:a16="http://schemas.microsoft.com/office/drawing/2014/main" id="{3C575D13-8B05-49D1-99C1-19A137F6CE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04" y="1536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9" name="Line 18">
              <a:extLst>
                <a:ext uri="{FF2B5EF4-FFF2-40B4-BE49-F238E27FC236}">
                  <a16:creationId xmlns:a16="http://schemas.microsoft.com/office/drawing/2014/main" id="{06C0DC66-A038-4A5E-99C4-DF6DA9FFE1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353" y="2160"/>
              <a:ext cx="575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20" name="Line 19">
              <a:extLst>
                <a:ext uri="{FF2B5EF4-FFF2-40B4-BE49-F238E27FC236}">
                  <a16:creationId xmlns:a16="http://schemas.microsoft.com/office/drawing/2014/main" id="{C3EA6B0C-9DE5-486A-8AC6-4DC4789A25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2640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21" name="Text Box 20">
              <a:extLst>
                <a:ext uri="{FF2B5EF4-FFF2-40B4-BE49-F238E27FC236}">
                  <a16:creationId xmlns:a16="http://schemas.microsoft.com/office/drawing/2014/main" id="{9802EAF8-3D94-435F-9F6F-FCA1EA0C79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0" y="970"/>
              <a:ext cx="565" cy="4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rPr>
                <a:t>P1</a:t>
              </a:r>
              <a:endParaRPr lang="en-US">
                <a:solidFill>
                  <a:srgbClr val="000000"/>
                </a:solidFill>
                <a:latin typeface="Times New Roman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22" name="Text Box 21">
              <a:extLst>
                <a:ext uri="{FF2B5EF4-FFF2-40B4-BE49-F238E27FC236}">
                  <a16:creationId xmlns:a16="http://schemas.microsoft.com/office/drawing/2014/main" id="{EB7A7240-B989-4BE4-BAB4-20EE3CECEE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4" y="970"/>
              <a:ext cx="565" cy="4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rPr>
                <a:t>P3</a:t>
              </a:r>
              <a:endParaRPr lang="en-US">
                <a:solidFill>
                  <a:srgbClr val="000000"/>
                </a:solidFill>
                <a:latin typeface="Times New Roman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23" name="Text Box 22">
              <a:extLst>
                <a:ext uri="{FF2B5EF4-FFF2-40B4-BE49-F238E27FC236}">
                  <a16:creationId xmlns:a16="http://schemas.microsoft.com/office/drawing/2014/main" id="{C7F964B3-E28F-45A8-8AC6-A3D9DDFD80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53" y="970"/>
              <a:ext cx="565" cy="4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rPr>
                <a:t>P2</a:t>
              </a:r>
              <a:endParaRPr lang="en-US">
                <a:solidFill>
                  <a:srgbClr val="000000"/>
                </a:solidFill>
                <a:latin typeface="Times New Roman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24" name="Text Box 23">
              <a:extLst>
                <a:ext uri="{FF2B5EF4-FFF2-40B4-BE49-F238E27FC236}">
                  <a16:creationId xmlns:a16="http://schemas.microsoft.com/office/drawing/2014/main" id="{3E3F5522-F9D7-49D7-A953-73879B8931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57" y="970"/>
              <a:ext cx="565" cy="4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rPr>
                <a:t>Pn</a:t>
              </a:r>
              <a:endParaRPr lang="en-US">
                <a:solidFill>
                  <a:srgbClr val="000000"/>
                </a:solidFill>
                <a:latin typeface="Times New Roman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804A256A-DDB3-4BA1-B84C-26CB2DB03A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1200"/>
              <a:ext cx="48" cy="4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10E3D7D-00D8-4864-9446-4ECF52A284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200"/>
              <a:ext cx="48" cy="4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9EE26B90-43F8-4354-B5B8-57FF5B2A5D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0" y="1200"/>
              <a:ext cx="48" cy="4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EDDA5C29-9A8D-4F3B-A86A-0521B3C3078F}"/>
                </a:ext>
              </a:extLst>
            </p:cNvPr>
            <p:cNvSpPr>
              <a:spLocks/>
            </p:cNvSpPr>
            <p:nvPr/>
          </p:nvSpPr>
          <p:spPr bwMode="auto">
            <a:xfrm rot="5331729">
              <a:off x="2752" y="2192"/>
              <a:ext cx="112" cy="240"/>
            </a:xfrm>
            <a:custGeom>
              <a:avLst/>
              <a:gdLst>
                <a:gd name="T0" fmla="*/ 112 w 112"/>
                <a:gd name="T1" fmla="*/ 0 h 240"/>
                <a:gd name="T2" fmla="*/ 16 w 112"/>
                <a:gd name="T3" fmla="*/ 96 h 240"/>
                <a:gd name="T4" fmla="*/ 16 w 112"/>
                <a:gd name="T5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2" h="240">
                  <a:moveTo>
                    <a:pt x="112" y="0"/>
                  </a:moveTo>
                  <a:cubicBezTo>
                    <a:pt x="72" y="28"/>
                    <a:pt x="32" y="56"/>
                    <a:pt x="16" y="96"/>
                  </a:cubicBezTo>
                  <a:cubicBezTo>
                    <a:pt x="0" y="136"/>
                    <a:pt x="8" y="188"/>
                    <a:pt x="16" y="240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37ABA389-32FA-41BF-BA86-BF51DAE85AA2}"/>
                </a:ext>
              </a:extLst>
            </p:cNvPr>
            <p:cNvSpPr>
              <a:spLocks/>
            </p:cNvSpPr>
            <p:nvPr/>
          </p:nvSpPr>
          <p:spPr bwMode="auto">
            <a:xfrm rot="13491826" flipH="1">
              <a:off x="2367" y="2384"/>
              <a:ext cx="113" cy="240"/>
            </a:xfrm>
            <a:custGeom>
              <a:avLst/>
              <a:gdLst>
                <a:gd name="T0" fmla="*/ 112 w 112"/>
                <a:gd name="T1" fmla="*/ 0 h 240"/>
                <a:gd name="T2" fmla="*/ 16 w 112"/>
                <a:gd name="T3" fmla="*/ 96 h 240"/>
                <a:gd name="T4" fmla="*/ 16 w 112"/>
                <a:gd name="T5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2" h="240">
                  <a:moveTo>
                    <a:pt x="112" y="0"/>
                  </a:moveTo>
                  <a:cubicBezTo>
                    <a:pt x="72" y="28"/>
                    <a:pt x="32" y="56"/>
                    <a:pt x="16" y="96"/>
                  </a:cubicBezTo>
                  <a:cubicBezTo>
                    <a:pt x="0" y="136"/>
                    <a:pt x="8" y="188"/>
                    <a:pt x="16" y="240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96056579"/>
      </p:ext>
    </p:extLst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charset="-128"/>
              </a:rPr>
              <a:t>Example under Sequential Consistency</a:t>
            </a:r>
            <a:endParaRPr lang="en-US" altLang="en-US" dirty="0">
              <a:ea typeface="ＭＳ Ｐゴシック" charset="-128"/>
            </a:endParaRPr>
          </a:p>
        </p:txBody>
      </p:sp>
      <p:sp>
        <p:nvSpPr>
          <p:cNvPr id="67587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05ED8F80-802B-0043-814C-28387FC40CDA}" type="slidenum">
              <a:rPr lang="en-US" altLang="en-US" sz="1600">
                <a:solidFill>
                  <a:srgbClr val="000000"/>
                </a:solidFill>
                <a:latin typeface="Garamond" charset="0"/>
              </a:rPr>
              <a:pPr eaLnBrk="1" hangingPunct="1"/>
              <a:t>49</a:t>
            </a:fld>
            <a:endParaRPr lang="en-US" altLang="en-US" sz="1600">
              <a:solidFill>
                <a:srgbClr val="000000"/>
              </a:solidFill>
              <a:latin typeface="Garamond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C4F4127-C8F2-4133-A779-1F08D09660D0}"/>
              </a:ext>
            </a:extLst>
          </p:cNvPr>
          <p:cNvSpPr txBox="1">
            <a:spLocks/>
          </p:cNvSpPr>
          <p:nvPr/>
        </p:nvSpPr>
        <p:spPr bwMode="auto">
          <a:xfrm>
            <a:off x="381000" y="3581400"/>
            <a:ext cx="7010400" cy="212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charset="2"/>
              <a:buChar char="n"/>
              <a:defRPr sz="2400">
                <a:solidFill>
                  <a:schemeClr val="tx1"/>
                </a:solidFill>
                <a:latin typeface="+mn-lt"/>
                <a:ea typeface="ＭＳ Ｐゴシック" pitchFamily="-107" charset="-128"/>
                <a:cs typeface="ＭＳ Ｐゴシック" pitchFamily="-107" charset="-128"/>
              </a:defRPr>
            </a:lvl1pPr>
            <a:lvl2pPr marL="669925" indent="-325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charset="2"/>
              <a:buChar char="q"/>
              <a:defRPr sz="2200">
                <a:solidFill>
                  <a:schemeClr val="tx1"/>
                </a:solidFill>
                <a:latin typeface="+mn-lt"/>
                <a:ea typeface="ＭＳ Ｐゴシック" pitchFamily="-107" charset="-128"/>
              </a:defRPr>
            </a:lvl2pPr>
            <a:lvl3pPr marL="1022350" indent="-350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charset="2"/>
              <a:buChar char="n"/>
              <a:defRPr sz="2000">
                <a:solidFill>
                  <a:schemeClr val="tx1"/>
                </a:solidFill>
                <a:latin typeface="+mn-lt"/>
                <a:ea typeface="ＭＳ Ｐゴシック" pitchFamily="-107" charset="-128"/>
              </a:defRPr>
            </a:lvl3pPr>
            <a:lvl4pPr marL="1339850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q"/>
              <a:defRPr>
                <a:solidFill>
                  <a:schemeClr val="tx1"/>
                </a:solidFill>
                <a:latin typeface="+mn-lt"/>
                <a:ea typeface="ＭＳ Ｐゴシック" pitchFamily="-107" charset="-128"/>
              </a:defRPr>
            </a:lvl4pPr>
            <a:lvl5pPr marL="16811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charset="2"/>
              <a:buChar char="§"/>
              <a:defRPr sz="1600">
                <a:solidFill>
                  <a:schemeClr val="tx1"/>
                </a:solidFill>
                <a:latin typeface="+mn-lt"/>
                <a:ea typeface="ＭＳ Ｐゴシック" pitchFamily="-107" charset="-128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altLang="en-US" kern="0" dirty="0">
                <a:ea typeface="ＭＳ Ｐゴシック" charset="-128"/>
              </a:rPr>
              <a:t>What is the reasonable execution order?</a:t>
            </a:r>
          </a:p>
          <a:p>
            <a:pPr lvl="1"/>
            <a:r>
              <a:rPr lang="en-US" altLang="en-US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  <a:ea typeface="ＭＳ Ｐゴシック" charset="-128"/>
              </a:rPr>
              <a:t>(1) </a:t>
            </a: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</a:t>
            </a:r>
            <a:r>
              <a:rPr lang="en-US" altLang="en-US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 (2) </a:t>
            </a: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</a:t>
            </a:r>
            <a:r>
              <a:rPr lang="en-US" altLang="en-US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 (3) </a:t>
            </a: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</a:t>
            </a:r>
            <a:r>
              <a:rPr lang="en-US" altLang="en-US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 (4)      </a:t>
            </a:r>
            <a:r>
              <a:rPr lang="en-US" altLang="en-US" kern="0" dirty="0">
                <a:ea typeface="ＭＳ Ｐゴシック" charset="-128"/>
              </a:rPr>
              <a:t>“Hello”</a:t>
            </a:r>
            <a:endParaRPr lang="en-US" altLang="en-US" kern="0" dirty="0">
              <a:solidFill>
                <a:schemeClr val="tx2">
                  <a:lumMod val="60000"/>
                  <a:lumOff val="40000"/>
                </a:schemeClr>
              </a:solidFill>
              <a:latin typeface="Arial Narrow" panose="020B0606020202030204" pitchFamily="34" charset="0"/>
              <a:ea typeface="ＭＳ Ｐゴシック" charset="-128"/>
              <a:sym typeface="Wingdings" panose="05000000000000000000" pitchFamily="2" charset="2"/>
            </a:endParaRPr>
          </a:p>
          <a:p>
            <a:pPr lvl="1"/>
            <a:r>
              <a:rPr lang="en-US" altLang="en-US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  <a:ea typeface="ＭＳ Ｐゴシック" charset="-128"/>
              </a:rPr>
              <a:t>(3) </a:t>
            </a: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</a:t>
            </a:r>
            <a:r>
              <a:rPr lang="en-US" altLang="en-US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 (4) </a:t>
            </a: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</a:t>
            </a:r>
            <a:r>
              <a:rPr lang="en-US" altLang="en-US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 (1) </a:t>
            </a: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</a:t>
            </a:r>
            <a:r>
              <a:rPr lang="en-US" altLang="en-US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 (2)      </a:t>
            </a:r>
            <a:r>
              <a:rPr lang="en-US" altLang="en-US" kern="0" dirty="0">
                <a:ea typeface="ＭＳ Ｐゴシック" charset="-128"/>
              </a:rPr>
              <a:t>“</a:t>
            </a: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</a:rPr>
              <a:t>ZJU</a:t>
            </a:r>
            <a:r>
              <a:rPr lang="en-US" altLang="en-US" kern="0" dirty="0">
                <a:ea typeface="ＭＳ Ｐゴシック" charset="-128"/>
              </a:rPr>
              <a:t>”</a:t>
            </a:r>
            <a:endParaRPr lang="en-US" altLang="en-US" kern="0" dirty="0">
              <a:solidFill>
                <a:schemeClr val="tx2">
                  <a:lumMod val="60000"/>
                  <a:lumOff val="40000"/>
                </a:schemeClr>
              </a:solidFill>
              <a:latin typeface="Arial Narrow" panose="020B0606020202030204" pitchFamily="34" charset="0"/>
              <a:ea typeface="ＭＳ Ｐゴシック" charset="-128"/>
              <a:sym typeface="Wingdings" panose="05000000000000000000" pitchFamily="2" charset="2"/>
            </a:endParaRPr>
          </a:p>
          <a:p>
            <a:pPr lvl="1"/>
            <a:r>
              <a:rPr lang="en-US" altLang="en-US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  <a:ea typeface="ＭＳ Ｐゴシック" charset="-128"/>
              </a:rPr>
              <a:t>(1) </a:t>
            </a: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</a:t>
            </a:r>
            <a:r>
              <a:rPr lang="en-US" altLang="en-US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 (3) </a:t>
            </a: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</a:t>
            </a:r>
            <a:r>
              <a:rPr lang="en-US" altLang="en-US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 (2) </a:t>
            </a: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</a:t>
            </a:r>
            <a:r>
              <a:rPr lang="en-US" altLang="en-US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 (4) </a:t>
            </a: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or</a:t>
            </a:r>
            <a:r>
              <a:rPr lang="en-US" altLang="en-US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 </a:t>
            </a:r>
            <a:r>
              <a:rPr lang="en-US" altLang="en-US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  <a:ea typeface="ＭＳ Ｐゴシック" charset="-128"/>
              </a:rPr>
              <a:t>(1) </a:t>
            </a: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</a:t>
            </a:r>
            <a:r>
              <a:rPr lang="en-US" altLang="en-US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 (3) </a:t>
            </a: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</a:t>
            </a:r>
            <a:r>
              <a:rPr lang="en-US" altLang="en-US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 (4) </a:t>
            </a: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</a:t>
            </a:r>
            <a:r>
              <a:rPr lang="en-US" altLang="en-US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 (2) </a:t>
            </a:r>
          </a:p>
          <a:p>
            <a:pPr lvl="1"/>
            <a:r>
              <a:rPr lang="en-US" altLang="en-US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  <a:ea typeface="ＭＳ Ｐゴシック" charset="-128"/>
              </a:rPr>
              <a:t>(3) </a:t>
            </a: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</a:t>
            </a:r>
            <a:r>
              <a:rPr lang="en-US" altLang="en-US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 (1) </a:t>
            </a: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</a:t>
            </a:r>
            <a:r>
              <a:rPr lang="en-US" altLang="en-US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 (2) </a:t>
            </a: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</a:t>
            </a:r>
            <a:r>
              <a:rPr lang="en-US" altLang="en-US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 (4) </a:t>
            </a: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or</a:t>
            </a:r>
            <a:r>
              <a:rPr lang="en-US" altLang="en-US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 </a:t>
            </a:r>
            <a:r>
              <a:rPr lang="en-US" altLang="en-US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  <a:ea typeface="ＭＳ Ｐゴシック" charset="-128"/>
              </a:rPr>
              <a:t>(3) </a:t>
            </a: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</a:t>
            </a:r>
            <a:r>
              <a:rPr lang="en-US" altLang="en-US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 (1) </a:t>
            </a: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</a:t>
            </a:r>
            <a:r>
              <a:rPr lang="en-US" altLang="en-US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 (4) </a:t>
            </a: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</a:t>
            </a:r>
            <a:r>
              <a:rPr lang="en-US" altLang="en-US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 (2) </a:t>
            </a:r>
            <a:endParaRPr lang="en-US" altLang="en-US" kern="0" dirty="0">
              <a:ea typeface="ＭＳ Ｐゴシック" charset="-128"/>
            </a:endParaRPr>
          </a:p>
          <a:p>
            <a:endParaRPr lang="en-US" altLang="en-US" kern="0" dirty="0">
              <a:ea typeface="ＭＳ Ｐゴシック" charset="-128"/>
            </a:endParaRPr>
          </a:p>
          <a:p>
            <a:endParaRPr lang="en-US" altLang="en-US" kern="0" dirty="0">
              <a:ea typeface="ＭＳ Ｐゴシック" charset="-128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FC12B3A-6B07-4FB7-A6AF-FB508D130BF6}"/>
              </a:ext>
            </a:extLst>
          </p:cNvPr>
          <p:cNvSpPr txBox="1">
            <a:spLocks/>
          </p:cNvSpPr>
          <p:nvPr/>
        </p:nvSpPr>
        <p:spPr bwMode="auto">
          <a:xfrm>
            <a:off x="76200" y="5867399"/>
            <a:ext cx="8610600" cy="533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charset="2"/>
              <a:buChar char="n"/>
              <a:defRPr sz="2400">
                <a:solidFill>
                  <a:schemeClr val="tx1"/>
                </a:solidFill>
                <a:latin typeface="+mn-lt"/>
                <a:ea typeface="ＭＳ Ｐゴシック" pitchFamily="-107" charset="-128"/>
                <a:cs typeface="ＭＳ Ｐゴシック" pitchFamily="-107" charset="-128"/>
              </a:defRPr>
            </a:lvl1pPr>
            <a:lvl2pPr marL="669925" indent="-325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charset="2"/>
              <a:buChar char="q"/>
              <a:defRPr sz="2200">
                <a:solidFill>
                  <a:schemeClr val="tx1"/>
                </a:solidFill>
                <a:latin typeface="+mn-lt"/>
                <a:ea typeface="ＭＳ Ｐゴシック" pitchFamily="-107" charset="-128"/>
              </a:defRPr>
            </a:lvl2pPr>
            <a:lvl3pPr marL="1022350" indent="-350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charset="2"/>
              <a:buChar char="n"/>
              <a:defRPr sz="2000">
                <a:solidFill>
                  <a:schemeClr val="tx1"/>
                </a:solidFill>
                <a:latin typeface="+mn-lt"/>
                <a:ea typeface="ＭＳ Ｐゴシック" pitchFamily="-107" charset="-128"/>
              </a:defRPr>
            </a:lvl3pPr>
            <a:lvl4pPr marL="1339850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q"/>
              <a:defRPr>
                <a:solidFill>
                  <a:schemeClr val="tx1"/>
                </a:solidFill>
                <a:latin typeface="+mn-lt"/>
                <a:ea typeface="ＭＳ Ｐゴシック" pitchFamily="-107" charset="-128"/>
              </a:defRPr>
            </a:lvl4pPr>
            <a:lvl5pPr marL="16811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charset="2"/>
              <a:buChar char="§"/>
              <a:defRPr sz="1600">
                <a:solidFill>
                  <a:schemeClr val="tx1"/>
                </a:solidFill>
                <a:latin typeface="+mn-lt"/>
                <a:ea typeface="ＭＳ Ｐゴシック" pitchFamily="-107" charset="-128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altLang="en-US" kern="0" dirty="0">
                <a:ea typeface="ＭＳ Ｐゴシック" charset="-128"/>
              </a:rPr>
              <a:t>Is it possible to print “Hello” and “ZJU” on real hardware?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88F3FBB2-F58E-4493-AC44-B884AEDA4F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5433" y="914400"/>
            <a:ext cx="8610600" cy="609600"/>
          </a:xfrm>
        </p:spPr>
        <p:txBody>
          <a:bodyPr/>
          <a:lstStyle/>
          <a:p>
            <a:r>
              <a:rPr lang="en-US" altLang="en-US" dirty="0">
                <a:solidFill>
                  <a:srgbClr val="0070C0"/>
                </a:solidFill>
                <a:latin typeface="Arial Narrow" panose="020B0606020202030204" pitchFamily="34" charset="0"/>
                <a:ea typeface="ＭＳ Ｐゴシック" charset="-128"/>
              </a:rPr>
              <a:t>A</a:t>
            </a:r>
            <a:r>
              <a:rPr lang="en-US" altLang="zh-CN" dirty="0">
                <a:ea typeface="ＭＳ Ｐゴシック" charset="-128"/>
              </a:rPr>
              <a:t> = </a:t>
            </a:r>
            <a:r>
              <a:rPr lang="en-US" altLang="zh-CN" dirty="0">
                <a:solidFill>
                  <a:srgbClr val="FF0000"/>
                </a:solidFill>
                <a:ea typeface="ＭＳ Ｐゴシック" charset="-128"/>
              </a:rPr>
              <a:t>B</a:t>
            </a:r>
            <a:r>
              <a:rPr lang="en-US" altLang="zh-CN" dirty="0">
                <a:ea typeface="ＭＳ Ｐゴシック" charset="-128"/>
              </a:rPr>
              <a:t> = 0 initially.</a:t>
            </a:r>
            <a:endParaRPr lang="en-US" altLang="en-US" dirty="0">
              <a:ea typeface="ＭＳ Ｐゴシック" charset="-128"/>
            </a:endParaRPr>
          </a:p>
          <a:p>
            <a:endParaRPr lang="en-US" altLang="en-US" dirty="0">
              <a:ea typeface="ＭＳ Ｐゴシック" charset="-128"/>
            </a:endParaRPr>
          </a:p>
          <a:p>
            <a:endParaRPr lang="en-US" altLang="en-US" dirty="0">
              <a:ea typeface="ＭＳ Ｐゴシック" charset="-128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E7AC282B-902D-4510-90B5-CFC03D6E94FF}"/>
              </a:ext>
            </a:extLst>
          </p:cNvPr>
          <p:cNvSpPr txBox="1">
            <a:spLocks/>
          </p:cNvSpPr>
          <p:nvPr/>
        </p:nvSpPr>
        <p:spPr bwMode="auto">
          <a:xfrm>
            <a:off x="304800" y="1404408"/>
            <a:ext cx="46482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charset="2"/>
              <a:buChar char="n"/>
              <a:defRPr sz="2400">
                <a:solidFill>
                  <a:schemeClr val="tx1"/>
                </a:solidFill>
                <a:latin typeface="+mn-lt"/>
                <a:ea typeface="ＭＳ Ｐゴシック" pitchFamily="-107" charset="-128"/>
                <a:cs typeface="ＭＳ Ｐゴシック" pitchFamily="-107" charset="-128"/>
              </a:defRPr>
            </a:lvl1pPr>
            <a:lvl2pPr marL="669925" indent="-325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charset="2"/>
              <a:buChar char="q"/>
              <a:defRPr sz="2200">
                <a:solidFill>
                  <a:schemeClr val="tx1"/>
                </a:solidFill>
                <a:latin typeface="+mn-lt"/>
                <a:ea typeface="ＭＳ Ｐゴシック" pitchFamily="-107" charset="-128"/>
              </a:defRPr>
            </a:lvl2pPr>
            <a:lvl3pPr marL="1022350" indent="-350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charset="2"/>
              <a:buChar char="n"/>
              <a:defRPr sz="2000">
                <a:solidFill>
                  <a:schemeClr val="tx1"/>
                </a:solidFill>
                <a:latin typeface="+mn-lt"/>
                <a:ea typeface="ＭＳ Ｐゴシック" pitchFamily="-107" charset="-128"/>
              </a:defRPr>
            </a:lvl3pPr>
            <a:lvl4pPr marL="1339850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q"/>
              <a:defRPr>
                <a:solidFill>
                  <a:schemeClr val="tx1"/>
                </a:solidFill>
                <a:latin typeface="+mn-lt"/>
                <a:ea typeface="ＭＳ Ｐゴシック" pitchFamily="-107" charset="-128"/>
              </a:defRPr>
            </a:lvl4pPr>
            <a:lvl5pPr marL="16811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charset="2"/>
              <a:buChar char="§"/>
              <a:defRPr sz="1600">
                <a:solidFill>
                  <a:schemeClr val="tx1"/>
                </a:solidFill>
                <a:latin typeface="+mn-lt"/>
                <a:ea typeface="ＭＳ Ｐゴシック" pitchFamily="-107" charset="-128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altLang="en-US" kern="0" dirty="0">
                <a:ea typeface="ＭＳ Ｐゴシック" charset="-128"/>
              </a:rPr>
              <a:t>          </a:t>
            </a:r>
            <a:r>
              <a:rPr lang="en-US" altLang="en-US" b="1" kern="0" dirty="0">
                <a:latin typeface="Arial Narrow" panose="020B0606020202030204" pitchFamily="34" charset="0"/>
                <a:ea typeface="ＭＳ Ｐゴシック" charset="-128"/>
              </a:rPr>
              <a:t>Core 1</a:t>
            </a: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</a:rPr>
              <a:t>:</a:t>
            </a:r>
          </a:p>
          <a:p>
            <a:pPr marL="0" indent="0">
              <a:buNone/>
            </a:pP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</a:rPr>
              <a:t> </a:t>
            </a:r>
            <a:r>
              <a:rPr lang="en-US" altLang="en-US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  <a:ea typeface="ＭＳ Ｐゴシック" charset="-128"/>
              </a:rPr>
              <a:t>(1)</a:t>
            </a: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</a:rPr>
              <a:t>       </a:t>
            </a:r>
            <a:r>
              <a:rPr lang="en-US" altLang="en-US" kern="0" dirty="0">
                <a:solidFill>
                  <a:srgbClr val="0070C0"/>
                </a:solidFill>
                <a:latin typeface="Arial Narrow" panose="020B0606020202030204" pitchFamily="34" charset="0"/>
                <a:ea typeface="ＭＳ Ｐゴシック" charset="-128"/>
              </a:rPr>
              <a:t>A</a:t>
            </a: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</a:rPr>
              <a:t>  = 1</a:t>
            </a:r>
          </a:p>
          <a:p>
            <a:pPr marL="0" indent="0">
              <a:buNone/>
            </a:pP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</a:rPr>
              <a:t>            if (</a:t>
            </a:r>
            <a:r>
              <a:rPr lang="en-US" altLang="en-US" kern="0" dirty="0">
                <a:solidFill>
                  <a:srgbClr val="FF0000"/>
                </a:solidFill>
                <a:latin typeface="Arial Narrow" panose="020B0606020202030204" pitchFamily="34" charset="0"/>
                <a:ea typeface="ＭＳ Ｐゴシック" charset="-128"/>
              </a:rPr>
              <a:t>B</a:t>
            </a: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</a:rPr>
              <a:t> == 0)</a:t>
            </a:r>
          </a:p>
          <a:p>
            <a:pPr marL="0" indent="0">
              <a:buNone/>
            </a:pPr>
            <a:r>
              <a:rPr lang="zh-CN" altLang="en-US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  <a:ea typeface="ＭＳ Ｐゴシック" charset="-128"/>
              </a:rPr>
              <a:t>（</a:t>
            </a:r>
            <a:r>
              <a:rPr lang="en-US" altLang="zh-CN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  <a:ea typeface="ＭＳ Ｐゴシック" charset="-128"/>
              </a:rPr>
              <a:t>2</a:t>
            </a:r>
            <a:r>
              <a:rPr lang="zh-CN" altLang="en-US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  <a:ea typeface="ＭＳ Ｐゴシック" charset="-128"/>
              </a:rPr>
              <a:t>）</a:t>
            </a:r>
            <a:r>
              <a:rPr lang="en-US" altLang="en-US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  <a:ea typeface="ＭＳ Ｐゴシック" charset="-128"/>
              </a:rPr>
              <a:t>          </a:t>
            </a: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</a:rPr>
              <a:t>print “Hello”: </a:t>
            </a:r>
            <a:r>
              <a:rPr lang="en-US" altLang="zh-CN" sz="1800" dirty="0">
                <a:solidFill>
                  <a:srgbClr val="FF0000"/>
                </a:solidFill>
                <a:latin typeface="Arial Narrow" panose="020B0606020202030204" pitchFamily="34" charset="0"/>
              </a:rPr>
              <a:t>&lt;critical section&gt;</a:t>
            </a:r>
            <a:endParaRPr lang="zh-CN" altLang="en-US" sz="1800" dirty="0">
              <a:solidFill>
                <a:srgbClr val="FF0000"/>
              </a:solidFill>
              <a:latin typeface="Arial Narrow" panose="020B0606020202030204" pitchFamily="34" charset="0"/>
            </a:endParaRPr>
          </a:p>
          <a:p>
            <a:pPr marL="0" indent="0">
              <a:buNone/>
            </a:pP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</a:rPr>
              <a:t> </a:t>
            </a:r>
          </a:p>
          <a:p>
            <a:endParaRPr lang="en-US" altLang="en-US" kern="0" dirty="0">
              <a:ea typeface="ＭＳ Ｐゴシック" charset="-128"/>
            </a:endParaRPr>
          </a:p>
          <a:p>
            <a:endParaRPr lang="en-US" altLang="en-US" kern="0" dirty="0">
              <a:ea typeface="ＭＳ Ｐゴシック" charset="-128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BA36715-E452-4ADA-BF27-0F787580A160}"/>
              </a:ext>
            </a:extLst>
          </p:cNvPr>
          <p:cNvSpPr txBox="1">
            <a:spLocks/>
          </p:cNvSpPr>
          <p:nvPr/>
        </p:nvSpPr>
        <p:spPr bwMode="auto">
          <a:xfrm>
            <a:off x="4919133" y="1404408"/>
            <a:ext cx="4377267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charset="2"/>
              <a:buChar char="n"/>
              <a:defRPr sz="2400">
                <a:solidFill>
                  <a:schemeClr val="tx1"/>
                </a:solidFill>
                <a:latin typeface="+mn-lt"/>
                <a:ea typeface="ＭＳ Ｐゴシック" pitchFamily="-107" charset="-128"/>
                <a:cs typeface="ＭＳ Ｐゴシック" pitchFamily="-107" charset="-128"/>
              </a:defRPr>
            </a:lvl1pPr>
            <a:lvl2pPr marL="669925" indent="-325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charset="2"/>
              <a:buChar char="q"/>
              <a:defRPr sz="2200">
                <a:solidFill>
                  <a:schemeClr val="tx1"/>
                </a:solidFill>
                <a:latin typeface="+mn-lt"/>
                <a:ea typeface="ＭＳ Ｐゴシック" pitchFamily="-107" charset="-128"/>
              </a:defRPr>
            </a:lvl2pPr>
            <a:lvl3pPr marL="1022350" indent="-350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charset="2"/>
              <a:buChar char="n"/>
              <a:defRPr sz="2000">
                <a:solidFill>
                  <a:schemeClr val="tx1"/>
                </a:solidFill>
                <a:latin typeface="+mn-lt"/>
                <a:ea typeface="ＭＳ Ｐゴシック" pitchFamily="-107" charset="-128"/>
              </a:defRPr>
            </a:lvl3pPr>
            <a:lvl4pPr marL="1339850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q"/>
              <a:defRPr>
                <a:solidFill>
                  <a:schemeClr val="tx1"/>
                </a:solidFill>
                <a:latin typeface="+mn-lt"/>
                <a:ea typeface="ＭＳ Ｐゴシック" pitchFamily="-107" charset="-128"/>
              </a:defRPr>
            </a:lvl4pPr>
            <a:lvl5pPr marL="16811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charset="2"/>
              <a:buChar char="§"/>
              <a:defRPr sz="1600">
                <a:solidFill>
                  <a:schemeClr val="tx1"/>
                </a:solidFill>
                <a:latin typeface="+mn-lt"/>
                <a:ea typeface="ＭＳ Ｐゴシック" pitchFamily="-107" charset="-128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altLang="en-US" kern="0" dirty="0">
                <a:ea typeface="ＭＳ Ｐゴシック" charset="-128"/>
              </a:rPr>
              <a:t>          </a:t>
            </a:r>
            <a:r>
              <a:rPr lang="en-US" altLang="en-US" b="1" kern="0" dirty="0">
                <a:latin typeface="Arial Narrow" panose="020B0606020202030204" pitchFamily="34" charset="0"/>
                <a:ea typeface="ＭＳ Ｐゴシック" charset="-128"/>
              </a:rPr>
              <a:t>Core 2</a:t>
            </a: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</a:rPr>
              <a:t>:</a:t>
            </a:r>
          </a:p>
          <a:p>
            <a:pPr marL="0" indent="0">
              <a:buNone/>
            </a:pP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</a:rPr>
              <a:t> </a:t>
            </a:r>
            <a:r>
              <a:rPr lang="en-US" altLang="en-US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  <a:ea typeface="ＭＳ Ｐゴシック" charset="-128"/>
              </a:rPr>
              <a:t>(3)</a:t>
            </a: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</a:rPr>
              <a:t>        </a:t>
            </a:r>
            <a:r>
              <a:rPr lang="en-US" altLang="en-US" kern="0" dirty="0">
                <a:solidFill>
                  <a:srgbClr val="FF0000"/>
                </a:solidFill>
                <a:latin typeface="Arial Narrow" panose="020B0606020202030204" pitchFamily="34" charset="0"/>
                <a:ea typeface="ＭＳ Ｐゴシック" charset="-128"/>
              </a:rPr>
              <a:t>B</a:t>
            </a: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</a:rPr>
              <a:t>  = 1</a:t>
            </a:r>
          </a:p>
          <a:p>
            <a:pPr marL="0" indent="0">
              <a:buNone/>
            </a:pP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</a:rPr>
              <a:t>              if (</a:t>
            </a:r>
            <a:r>
              <a:rPr lang="en-US" altLang="en-US" kern="0" dirty="0">
                <a:solidFill>
                  <a:srgbClr val="0070C0"/>
                </a:solidFill>
                <a:latin typeface="Arial Narrow" panose="020B0606020202030204" pitchFamily="34" charset="0"/>
                <a:ea typeface="ＭＳ Ｐゴシック" charset="-128"/>
              </a:rPr>
              <a:t>A</a:t>
            </a: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</a:rPr>
              <a:t> == 0)</a:t>
            </a:r>
          </a:p>
          <a:p>
            <a:pPr marL="0" indent="0">
              <a:buNone/>
            </a:pP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</a:rPr>
              <a:t> </a:t>
            </a:r>
            <a:r>
              <a:rPr lang="en-US" altLang="en-US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  <a:ea typeface="ＭＳ Ｐゴシック" charset="-128"/>
              </a:rPr>
              <a:t>(4)</a:t>
            </a: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</a:rPr>
              <a:t>             print “ZJU” : </a:t>
            </a:r>
            <a:r>
              <a:rPr lang="en-US" altLang="zh-CN" sz="1800" dirty="0">
                <a:solidFill>
                  <a:srgbClr val="FF0000"/>
                </a:solidFill>
                <a:latin typeface="Arial Narrow" panose="020B0606020202030204" pitchFamily="34" charset="0"/>
              </a:rPr>
              <a:t>&lt;critical section&gt;</a:t>
            </a:r>
            <a:endParaRPr lang="zh-CN" altLang="en-US" sz="1800" dirty="0">
              <a:solidFill>
                <a:srgbClr val="FF0000"/>
              </a:solidFill>
              <a:latin typeface="Arial Narrow" panose="020B0606020202030204" pitchFamily="34" charset="0"/>
            </a:endParaRPr>
          </a:p>
          <a:p>
            <a:pPr marL="0" indent="0">
              <a:buNone/>
            </a:pPr>
            <a:endParaRPr lang="en-US" altLang="en-US" kern="0" dirty="0">
              <a:latin typeface="Arial Narrow" panose="020B0606020202030204" pitchFamily="34" charset="0"/>
              <a:ea typeface="ＭＳ Ｐゴシック" charset="-128"/>
            </a:endParaRPr>
          </a:p>
          <a:p>
            <a:endParaRPr lang="en-US" altLang="en-US" kern="0" dirty="0">
              <a:ea typeface="ＭＳ Ｐゴシック" charset="-128"/>
            </a:endParaRPr>
          </a:p>
          <a:p>
            <a:endParaRPr lang="en-US" altLang="en-US" kern="0" dirty="0"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2236936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charset="-128"/>
              </a:rPr>
              <a:t>Problem of Sequential Consistency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4191000"/>
            <a:ext cx="8610600" cy="2514600"/>
          </a:xfrm>
        </p:spPr>
        <p:txBody>
          <a:bodyPr/>
          <a:lstStyle/>
          <a:p>
            <a:r>
              <a:rPr lang="en-US" altLang="zh-CN" b="1" dirty="0">
                <a:ea typeface="ＭＳ Ｐゴシック" charset="-128"/>
              </a:rPr>
              <a:t>Problem of Sequential Consistency</a:t>
            </a:r>
            <a:r>
              <a:rPr lang="en-US" altLang="zh-CN" dirty="0">
                <a:ea typeface="ＭＳ Ｐゴシック" charset="-128"/>
              </a:rPr>
              <a:t>: low performance</a:t>
            </a:r>
          </a:p>
          <a:p>
            <a:pPr lvl="1"/>
            <a:r>
              <a:rPr lang="en-US" altLang="en-US" dirty="0">
                <a:solidFill>
                  <a:srgbClr val="FF0000"/>
                </a:solidFill>
                <a:ea typeface="ＭＳ Ｐゴシック" charset="-128"/>
              </a:rPr>
              <a:t>Two instructions do not conflict, but the second instruction still needs have to wait for the first one to finish before executing.</a:t>
            </a:r>
          </a:p>
          <a:p>
            <a:pPr lvl="1"/>
            <a:r>
              <a:rPr lang="en-US" altLang="en-US" dirty="0">
                <a:solidFill>
                  <a:srgbClr val="FF0000"/>
                </a:solidFill>
                <a:ea typeface="ＭＳ Ｐゴシック" charset="-128"/>
              </a:rPr>
              <a:t>Writing to memory is really slow, e.g., 100 cycles</a:t>
            </a:r>
          </a:p>
          <a:p>
            <a:pPr marL="342900" lvl="1" indent="-342900"/>
            <a:endParaRPr lang="en-US" altLang="en-US" dirty="0">
              <a:ea typeface="ＭＳ Ｐゴシック" charset="-128"/>
            </a:endParaRPr>
          </a:p>
          <a:p>
            <a:pPr marL="342900" lvl="1" indent="-342900"/>
            <a:endParaRPr lang="en-US" altLang="en-US" dirty="0">
              <a:ea typeface="ＭＳ Ｐゴシック" charset="-128"/>
            </a:endParaRPr>
          </a:p>
          <a:p>
            <a:pPr marL="342900" lvl="1" indent="-342900"/>
            <a:endParaRPr lang="en-US" altLang="en-US" dirty="0">
              <a:ea typeface="ＭＳ Ｐゴシック" charset="-128"/>
            </a:endParaRPr>
          </a:p>
          <a:p>
            <a:pPr marL="342900" lvl="1" indent="-342900"/>
            <a:endParaRPr lang="en-US" altLang="en-US" dirty="0">
              <a:ea typeface="ＭＳ Ｐゴシック" charset="-128"/>
            </a:endParaRPr>
          </a:p>
          <a:p>
            <a:pPr marL="342900" lvl="1" indent="-342900"/>
            <a:endParaRPr lang="en-US" altLang="en-US" dirty="0">
              <a:ea typeface="ＭＳ Ｐゴシック" charset="-128"/>
            </a:endParaRPr>
          </a:p>
          <a:p>
            <a:pPr lvl="1"/>
            <a:endParaRPr lang="en-US" altLang="en-US" sz="2000" dirty="0">
              <a:ea typeface="ＭＳ Ｐゴシック" charset="-128"/>
            </a:endParaRPr>
          </a:p>
        </p:txBody>
      </p:sp>
      <p:sp>
        <p:nvSpPr>
          <p:cNvPr id="64515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D2C48AD6-E1AC-E041-A3BD-333E0F20253C}" type="slidenum">
              <a:rPr lang="en-US" altLang="en-US" sz="1600">
                <a:solidFill>
                  <a:srgbClr val="000000"/>
                </a:solidFill>
                <a:latin typeface="Garamond" charset="0"/>
              </a:rPr>
              <a:pPr eaLnBrk="1" hangingPunct="1"/>
              <a:t>50</a:t>
            </a:fld>
            <a:endParaRPr lang="en-US" altLang="en-US" sz="1600">
              <a:solidFill>
                <a:srgbClr val="000000"/>
              </a:solidFill>
              <a:latin typeface="Garamond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8B6932D-27BC-41D3-9084-23BC1680DE5E}"/>
              </a:ext>
            </a:extLst>
          </p:cNvPr>
          <p:cNvGrpSpPr>
            <a:grpSpLocks/>
          </p:cNvGrpSpPr>
          <p:nvPr/>
        </p:nvGrpSpPr>
        <p:grpSpPr bwMode="auto">
          <a:xfrm>
            <a:off x="2286000" y="1066800"/>
            <a:ext cx="4495800" cy="2667000"/>
            <a:chOff x="720" y="912"/>
            <a:chExt cx="4560" cy="2688"/>
          </a:xfrm>
        </p:grpSpPr>
        <p:sp>
          <p:nvSpPr>
            <p:cNvPr id="6" name="Text Box 5">
              <a:extLst>
                <a:ext uri="{FF2B5EF4-FFF2-40B4-BE49-F238E27FC236}">
                  <a16:creationId xmlns:a16="http://schemas.microsoft.com/office/drawing/2014/main" id="{C5ECB7A7-9916-4F1B-95B7-9B3AA0687D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4" y="2986"/>
              <a:ext cx="1578" cy="4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>
              <a:spAutoFit/>
            </a:bodyPr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  <a:defRPr/>
              </a:pPr>
              <a:r>
                <a:rPr lang="en-US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rPr>
                <a:t>MEMORY</a:t>
              </a:r>
              <a:endParaRPr lang="en-US">
                <a:solidFill>
                  <a:srgbClr val="000000"/>
                </a:solidFill>
                <a:latin typeface="Times New Roman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4F4832B-4C0C-42C0-A47D-97AFA5D9AA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6" y="2880"/>
              <a:ext cx="1344" cy="72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8" name="AutoShape 7">
              <a:extLst>
                <a:ext uri="{FF2B5EF4-FFF2-40B4-BE49-F238E27FC236}">
                  <a16:creationId xmlns:a16="http://schemas.microsoft.com/office/drawing/2014/main" id="{11C424F3-874B-47AE-91BB-F7948FD99C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3" y="912"/>
              <a:ext cx="673" cy="624"/>
            </a:xfrm>
            <a:prstGeom prst="flowChartConnector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9" name="AutoShape 8">
              <a:extLst>
                <a:ext uri="{FF2B5EF4-FFF2-40B4-BE49-F238E27FC236}">
                  <a16:creationId xmlns:a16="http://schemas.microsoft.com/office/drawing/2014/main" id="{890DD10E-F885-4833-AD56-0B27EC4FCF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912"/>
              <a:ext cx="671" cy="624"/>
            </a:xfrm>
            <a:prstGeom prst="flowChartConnector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0" name="AutoShape 9">
              <a:extLst>
                <a:ext uri="{FF2B5EF4-FFF2-40B4-BE49-F238E27FC236}">
                  <a16:creationId xmlns:a16="http://schemas.microsoft.com/office/drawing/2014/main" id="{3306D43F-E005-4C1C-9856-3764794CA7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7" y="912"/>
              <a:ext cx="673" cy="624"/>
            </a:xfrm>
            <a:prstGeom prst="flowChartConnector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1" name="AutoShape 10">
              <a:extLst>
                <a:ext uri="{FF2B5EF4-FFF2-40B4-BE49-F238E27FC236}">
                  <a16:creationId xmlns:a16="http://schemas.microsoft.com/office/drawing/2014/main" id="{B164DC24-B22E-4B1F-BE69-37168F91D0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912"/>
              <a:ext cx="671" cy="624"/>
            </a:xfrm>
            <a:prstGeom prst="flowChartConnector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1A429218-21E1-4B2E-99E0-7E17A8F41BF6}"/>
                </a:ext>
              </a:extLst>
            </p:cNvPr>
            <p:cNvSpPr>
              <a:spLocks/>
            </p:cNvSpPr>
            <p:nvPr/>
          </p:nvSpPr>
          <p:spPr bwMode="auto">
            <a:xfrm>
              <a:off x="720" y="2112"/>
              <a:ext cx="4560" cy="480"/>
            </a:xfrm>
            <a:custGeom>
              <a:avLst/>
              <a:gdLst>
                <a:gd name="T0" fmla="*/ 0 w 4560"/>
                <a:gd name="T1" fmla="*/ 480 h 480"/>
                <a:gd name="T2" fmla="*/ 2208 w 4560"/>
                <a:gd name="T3" fmla="*/ 0 h 480"/>
                <a:gd name="T4" fmla="*/ 4560 w 4560"/>
                <a:gd name="T5" fmla="*/ 480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560" h="480">
                  <a:moveTo>
                    <a:pt x="0" y="480"/>
                  </a:moveTo>
                  <a:cubicBezTo>
                    <a:pt x="724" y="240"/>
                    <a:pt x="1448" y="0"/>
                    <a:pt x="2208" y="0"/>
                  </a:cubicBezTo>
                  <a:cubicBezTo>
                    <a:pt x="2968" y="0"/>
                    <a:pt x="3764" y="240"/>
                    <a:pt x="4560" y="480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cxnSp>
          <p:nvCxnSpPr>
            <p:cNvPr id="13" name="AutoShape 12">
              <a:extLst>
                <a:ext uri="{FF2B5EF4-FFF2-40B4-BE49-F238E27FC236}">
                  <a16:creationId xmlns:a16="http://schemas.microsoft.com/office/drawing/2014/main" id="{617F9622-11BE-4CD5-BD74-8DC6C6D20D08}"/>
                </a:ext>
              </a:extLst>
            </p:cNvPr>
            <p:cNvCxnSpPr>
              <a:cxnSpLocks noChangeShapeType="1"/>
              <a:stCxn id="8" idx="4"/>
            </p:cNvCxnSpPr>
            <p:nvPr/>
          </p:nvCxnSpPr>
          <p:spPr bwMode="auto">
            <a:xfrm>
              <a:off x="1200" y="1536"/>
              <a:ext cx="0" cy="43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</p:cxnSp>
        <p:cxnSp>
          <p:nvCxnSpPr>
            <p:cNvPr id="14" name="AutoShape 13">
              <a:extLst>
                <a:ext uri="{FF2B5EF4-FFF2-40B4-BE49-F238E27FC236}">
                  <a16:creationId xmlns:a16="http://schemas.microsoft.com/office/drawing/2014/main" id="{FA12A1F9-A66F-4BF3-9F21-030743A293CC}"/>
                </a:ext>
              </a:extLst>
            </p:cNvPr>
            <p:cNvCxnSpPr>
              <a:cxnSpLocks noChangeShapeType="1"/>
              <a:stCxn id="11" idx="4"/>
            </p:cNvCxnSpPr>
            <p:nvPr/>
          </p:nvCxnSpPr>
          <p:spPr bwMode="auto">
            <a:xfrm>
              <a:off x="4655" y="1536"/>
              <a:ext cx="2" cy="43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</p:cxnSp>
        <p:sp>
          <p:nvSpPr>
            <p:cNvPr id="15" name="Line 14">
              <a:extLst>
                <a:ext uri="{FF2B5EF4-FFF2-40B4-BE49-F238E27FC236}">
                  <a16:creationId xmlns:a16="http://schemas.microsoft.com/office/drawing/2014/main" id="{419B2C6F-F2A6-4AA2-87D2-3F9CC8AECE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0" y="1968"/>
              <a:ext cx="337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6" name="Line 15">
              <a:extLst>
                <a:ext uri="{FF2B5EF4-FFF2-40B4-BE49-F238E27FC236}">
                  <a16:creationId xmlns:a16="http://schemas.microsoft.com/office/drawing/2014/main" id="{300094C5-EE29-4FDF-AEBB-7415C54831B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15" y="1968"/>
              <a:ext cx="24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7" name="Line 16">
              <a:extLst>
                <a:ext uri="{FF2B5EF4-FFF2-40B4-BE49-F238E27FC236}">
                  <a16:creationId xmlns:a16="http://schemas.microsoft.com/office/drawing/2014/main" id="{EE70FD4A-8DDC-4BC1-8F0B-A02214BBE2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3" y="1536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8" name="Line 17">
              <a:extLst>
                <a:ext uri="{FF2B5EF4-FFF2-40B4-BE49-F238E27FC236}">
                  <a16:creationId xmlns:a16="http://schemas.microsoft.com/office/drawing/2014/main" id="{3C575D13-8B05-49D1-99C1-19A137F6CE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04" y="1536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9" name="Line 18">
              <a:extLst>
                <a:ext uri="{FF2B5EF4-FFF2-40B4-BE49-F238E27FC236}">
                  <a16:creationId xmlns:a16="http://schemas.microsoft.com/office/drawing/2014/main" id="{06C0DC66-A038-4A5E-99C4-DF6DA9FFE1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353" y="2160"/>
              <a:ext cx="575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20" name="Line 19">
              <a:extLst>
                <a:ext uri="{FF2B5EF4-FFF2-40B4-BE49-F238E27FC236}">
                  <a16:creationId xmlns:a16="http://schemas.microsoft.com/office/drawing/2014/main" id="{C3EA6B0C-9DE5-486A-8AC6-4DC4789A25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2640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21" name="Text Box 20">
              <a:extLst>
                <a:ext uri="{FF2B5EF4-FFF2-40B4-BE49-F238E27FC236}">
                  <a16:creationId xmlns:a16="http://schemas.microsoft.com/office/drawing/2014/main" id="{9802EAF8-3D94-435F-9F6F-FCA1EA0C79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0" y="970"/>
              <a:ext cx="565" cy="4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rPr>
                <a:t>P1</a:t>
              </a:r>
              <a:endParaRPr lang="en-US" dirty="0">
                <a:solidFill>
                  <a:srgbClr val="000000"/>
                </a:solidFill>
                <a:latin typeface="Times New Roman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22" name="Text Box 21">
              <a:extLst>
                <a:ext uri="{FF2B5EF4-FFF2-40B4-BE49-F238E27FC236}">
                  <a16:creationId xmlns:a16="http://schemas.microsoft.com/office/drawing/2014/main" id="{EB7A7240-B989-4BE4-BAB4-20EE3CECEE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4" y="970"/>
              <a:ext cx="565" cy="4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rPr>
                <a:t>P3</a:t>
              </a:r>
              <a:endParaRPr lang="en-US">
                <a:solidFill>
                  <a:srgbClr val="000000"/>
                </a:solidFill>
                <a:latin typeface="Times New Roman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23" name="Text Box 22">
              <a:extLst>
                <a:ext uri="{FF2B5EF4-FFF2-40B4-BE49-F238E27FC236}">
                  <a16:creationId xmlns:a16="http://schemas.microsoft.com/office/drawing/2014/main" id="{C7F964B3-E28F-45A8-8AC6-A3D9DDFD80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53" y="970"/>
              <a:ext cx="565" cy="4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rPr>
                <a:t>P2</a:t>
              </a:r>
              <a:endParaRPr lang="en-US">
                <a:solidFill>
                  <a:srgbClr val="000000"/>
                </a:solidFill>
                <a:latin typeface="Times New Roman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24" name="Text Box 23">
              <a:extLst>
                <a:ext uri="{FF2B5EF4-FFF2-40B4-BE49-F238E27FC236}">
                  <a16:creationId xmlns:a16="http://schemas.microsoft.com/office/drawing/2014/main" id="{3E3F5522-F9D7-49D7-A953-73879B8931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57" y="970"/>
              <a:ext cx="565" cy="4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>
                  <a:solidFill>
                    <a:srgbClr val="000000"/>
                  </a:solidFill>
                  <a:latin typeface="Arial" charset="0"/>
                  <a:ea typeface="ＭＳ Ｐゴシック" charset="0"/>
                  <a:cs typeface="ＭＳ Ｐゴシック" charset="0"/>
                </a:rPr>
                <a:t>Pn</a:t>
              </a:r>
              <a:endParaRPr lang="en-US">
                <a:solidFill>
                  <a:srgbClr val="000000"/>
                </a:solidFill>
                <a:latin typeface="Times New Roman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804A256A-DDB3-4BA1-B84C-26CB2DB03A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1200"/>
              <a:ext cx="48" cy="4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10E3D7D-00D8-4864-9446-4ECF52A284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200"/>
              <a:ext cx="48" cy="4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9EE26B90-43F8-4354-B5B8-57FF5B2A5D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0" y="1200"/>
              <a:ext cx="48" cy="4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EDDA5C29-9A8D-4F3B-A86A-0521B3C3078F}"/>
                </a:ext>
              </a:extLst>
            </p:cNvPr>
            <p:cNvSpPr>
              <a:spLocks/>
            </p:cNvSpPr>
            <p:nvPr/>
          </p:nvSpPr>
          <p:spPr bwMode="auto">
            <a:xfrm rot="5331729">
              <a:off x="2752" y="2192"/>
              <a:ext cx="112" cy="240"/>
            </a:xfrm>
            <a:custGeom>
              <a:avLst/>
              <a:gdLst>
                <a:gd name="T0" fmla="*/ 112 w 112"/>
                <a:gd name="T1" fmla="*/ 0 h 240"/>
                <a:gd name="T2" fmla="*/ 16 w 112"/>
                <a:gd name="T3" fmla="*/ 96 h 240"/>
                <a:gd name="T4" fmla="*/ 16 w 112"/>
                <a:gd name="T5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2" h="240">
                  <a:moveTo>
                    <a:pt x="112" y="0"/>
                  </a:moveTo>
                  <a:cubicBezTo>
                    <a:pt x="72" y="28"/>
                    <a:pt x="32" y="56"/>
                    <a:pt x="16" y="96"/>
                  </a:cubicBezTo>
                  <a:cubicBezTo>
                    <a:pt x="0" y="136"/>
                    <a:pt x="8" y="188"/>
                    <a:pt x="16" y="240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37ABA389-32FA-41BF-BA86-BF51DAE85AA2}"/>
                </a:ext>
              </a:extLst>
            </p:cNvPr>
            <p:cNvSpPr>
              <a:spLocks/>
            </p:cNvSpPr>
            <p:nvPr/>
          </p:nvSpPr>
          <p:spPr bwMode="auto">
            <a:xfrm rot="13491826" flipH="1">
              <a:off x="2367" y="2384"/>
              <a:ext cx="113" cy="240"/>
            </a:xfrm>
            <a:custGeom>
              <a:avLst/>
              <a:gdLst>
                <a:gd name="T0" fmla="*/ 112 w 112"/>
                <a:gd name="T1" fmla="*/ 0 h 240"/>
                <a:gd name="T2" fmla="*/ 16 w 112"/>
                <a:gd name="T3" fmla="*/ 96 h 240"/>
                <a:gd name="T4" fmla="*/ 16 w 112"/>
                <a:gd name="T5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2" h="240">
                  <a:moveTo>
                    <a:pt x="112" y="0"/>
                  </a:moveTo>
                  <a:cubicBezTo>
                    <a:pt x="72" y="28"/>
                    <a:pt x="32" y="56"/>
                    <a:pt x="16" y="96"/>
                  </a:cubicBezTo>
                  <a:cubicBezTo>
                    <a:pt x="0" y="136"/>
                    <a:pt x="8" y="188"/>
                    <a:pt x="16" y="240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57862314"/>
      </p:ext>
    </p:extLst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Title 1"/>
          <p:cNvSpPr>
            <a:spLocks noGrp="1"/>
          </p:cNvSpPr>
          <p:nvPr>
            <p:ph type="title"/>
          </p:nvPr>
        </p:nvSpPr>
        <p:spPr>
          <a:xfrm>
            <a:off x="0" y="152400"/>
            <a:ext cx="9220200" cy="1066800"/>
          </a:xfrm>
        </p:spPr>
        <p:txBody>
          <a:bodyPr/>
          <a:lstStyle/>
          <a:p>
            <a:r>
              <a:rPr lang="en-US" altLang="zh-CN" dirty="0">
                <a:ea typeface="ＭＳ Ｐゴシック" charset="-128"/>
              </a:rPr>
              <a:t>Four Memory Barriers vs. Consistence Model</a:t>
            </a:r>
            <a:endParaRPr lang="en-US" altLang="en-US" dirty="0">
              <a:ea typeface="ＭＳ Ｐゴシック" charset="-12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9346" y="3881859"/>
            <a:ext cx="8610600" cy="2214141"/>
          </a:xfrm>
        </p:spPr>
        <p:txBody>
          <a:bodyPr/>
          <a:lstStyle/>
          <a:p>
            <a:r>
              <a:rPr lang="en-US" altLang="en-US" sz="2000" b="1" dirty="0">
                <a:ea typeface="ＭＳ Ｐゴシック" charset="-128"/>
              </a:rPr>
              <a:t>Comparison of memory models</a:t>
            </a:r>
            <a:r>
              <a:rPr lang="en-US" altLang="en-US" sz="2000" dirty="0">
                <a:ea typeface="ＭＳ Ｐゴシック" charset="-128"/>
              </a:rPr>
              <a:t>:</a:t>
            </a:r>
          </a:p>
          <a:p>
            <a:pPr lvl="1"/>
            <a:r>
              <a:rPr lang="en-US" altLang="en-US" sz="2000" dirty="0">
                <a:ea typeface="ＭＳ Ｐゴシック" charset="-128"/>
              </a:rPr>
              <a:t>The stronger memory model leads to lower performance/higher overhead</a:t>
            </a:r>
          </a:p>
          <a:p>
            <a:pPr lvl="1"/>
            <a:r>
              <a:rPr lang="en-US" altLang="en-US" sz="2000" dirty="0">
                <a:ea typeface="ＭＳ Ｐゴシック" charset="-128"/>
              </a:rPr>
              <a:t>The stronger memory model makes programmers’ life easier</a:t>
            </a:r>
          </a:p>
          <a:p>
            <a:pPr marL="344487" lvl="1" indent="0">
              <a:buNone/>
            </a:pPr>
            <a:endParaRPr lang="en-US" altLang="en-US" sz="2000" dirty="0">
              <a:ea typeface="ＭＳ Ｐゴシック" charset="-128"/>
            </a:endParaRPr>
          </a:p>
        </p:txBody>
      </p:sp>
      <p:sp>
        <p:nvSpPr>
          <p:cNvPr id="64515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D2C48AD6-E1AC-E041-A3BD-333E0F20253C}" type="slidenum">
              <a:rPr lang="en-US" altLang="en-US" sz="1600">
                <a:solidFill>
                  <a:srgbClr val="000000"/>
                </a:solidFill>
                <a:latin typeface="Garamond" charset="0"/>
              </a:rPr>
              <a:pPr eaLnBrk="1" hangingPunct="1"/>
              <a:t>51</a:t>
            </a:fld>
            <a:endParaRPr lang="en-US" altLang="en-US" sz="1600">
              <a:solidFill>
                <a:srgbClr val="000000"/>
              </a:solidFill>
              <a:latin typeface="Garamond" charset="0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6E358E44-262F-4018-A5FC-437711AC6639}"/>
              </a:ext>
            </a:extLst>
          </p:cNvPr>
          <p:cNvGraphicFramePr>
            <a:graphicFrameLocks noGrp="1"/>
          </p:cNvGraphicFramePr>
          <p:nvPr/>
        </p:nvGraphicFramePr>
        <p:xfrm>
          <a:off x="309032" y="965614"/>
          <a:ext cx="8225370" cy="26622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7904">
                  <a:extLst>
                    <a:ext uri="{9D8B030D-6E8A-4147-A177-3AD203B41FA5}">
                      <a16:colId xmlns:a16="http://schemas.microsoft.com/office/drawing/2014/main" val="1236519423"/>
                    </a:ext>
                  </a:extLst>
                </a:gridCol>
                <a:gridCol w="1242216">
                  <a:extLst>
                    <a:ext uri="{9D8B030D-6E8A-4147-A177-3AD203B41FA5}">
                      <a16:colId xmlns:a16="http://schemas.microsoft.com/office/drawing/2014/main" val="103700403"/>
                    </a:ext>
                  </a:extLst>
                </a:gridCol>
                <a:gridCol w="1242216">
                  <a:extLst>
                    <a:ext uri="{9D8B030D-6E8A-4147-A177-3AD203B41FA5}">
                      <a16:colId xmlns:a16="http://schemas.microsoft.com/office/drawing/2014/main" val="3204525941"/>
                    </a:ext>
                  </a:extLst>
                </a:gridCol>
                <a:gridCol w="1242216">
                  <a:extLst>
                    <a:ext uri="{9D8B030D-6E8A-4147-A177-3AD203B41FA5}">
                      <a16:colId xmlns:a16="http://schemas.microsoft.com/office/drawing/2014/main" val="2740849358"/>
                    </a:ext>
                  </a:extLst>
                </a:gridCol>
                <a:gridCol w="2117816">
                  <a:extLst>
                    <a:ext uri="{9D8B030D-6E8A-4147-A177-3AD203B41FA5}">
                      <a16:colId xmlns:a16="http://schemas.microsoft.com/office/drawing/2014/main" val="2338608995"/>
                    </a:ext>
                  </a:extLst>
                </a:gridCol>
                <a:gridCol w="1143002">
                  <a:extLst>
                    <a:ext uri="{9D8B030D-6E8A-4147-A177-3AD203B41FA5}">
                      <a16:colId xmlns:a16="http://schemas.microsoft.com/office/drawing/2014/main" val="2793339135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Load-Load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Load-Store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Store-Store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Store-Load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Consistence Model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CPU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7066902"/>
                  </a:ext>
                </a:extLst>
              </a:tr>
              <a:tr h="4962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√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dirty="0">
                          <a:latin typeface="Arial Narrow" panose="020B0606020202030204" pitchFamily="34" charset="0"/>
                        </a:rPr>
                        <a:t>√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dirty="0">
                          <a:latin typeface="Arial Narrow" panose="020B0606020202030204" pitchFamily="34" charset="0"/>
                        </a:rPr>
                        <a:t>√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dirty="0">
                          <a:latin typeface="Arial Narrow" panose="020B0606020202030204" pitchFamily="34" charset="0"/>
                        </a:rPr>
                        <a:t>√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Arial Narrow" panose="020B0606020202030204" pitchFamily="34" charset="0"/>
                        </a:rPr>
                        <a:t>Sequential Consistency</a:t>
                      </a:r>
                      <a:endParaRPr lang="zh-CN" altLang="en-US" dirty="0"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Arial Narrow" panose="020B0606020202030204" pitchFamily="34" charset="0"/>
                        </a:rPr>
                        <a:t>Dual 386</a:t>
                      </a:r>
                      <a:endParaRPr lang="zh-CN" altLang="en-US" dirty="0"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6436216"/>
                  </a:ext>
                </a:extLst>
              </a:tr>
              <a:tr h="4962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√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dirty="0">
                          <a:latin typeface="Arial Narrow" panose="020B0606020202030204" pitchFamily="34" charset="0"/>
                        </a:rPr>
                        <a:t>√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dirty="0">
                          <a:latin typeface="Arial Narrow" panose="020B0606020202030204" pitchFamily="34" charset="0"/>
                        </a:rPr>
                        <a:t>√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Arial Narrow" panose="020B0606020202030204" pitchFamily="34" charset="0"/>
                        </a:rPr>
                        <a:t>Total Store</a:t>
                      </a:r>
                      <a:r>
                        <a:rPr lang="zh-CN" altLang="en-US" dirty="0"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en-US" altLang="zh-CN" dirty="0">
                          <a:latin typeface="Arial Narrow" panose="020B0606020202030204" pitchFamily="34" charset="0"/>
                        </a:rPr>
                        <a:t>Order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Arial Narrow" panose="020B0606020202030204" pitchFamily="34" charset="0"/>
                        </a:rPr>
                        <a:t>X86/64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3624706"/>
                  </a:ext>
                </a:extLst>
              </a:tr>
              <a:tr h="4962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√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dirty="0">
                          <a:latin typeface="Arial Narrow" panose="020B0606020202030204" pitchFamily="34" charset="0"/>
                        </a:rPr>
                        <a:t>√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Arial Narrow" panose="020B0606020202030204" pitchFamily="34" charset="0"/>
                        </a:rPr>
                        <a:t>Partial Store Order</a:t>
                      </a:r>
                      <a:endParaRPr lang="zh-CN" altLang="en-US" dirty="0"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Arial Narrow" panose="020B0606020202030204" pitchFamily="34" charset="0"/>
                        </a:rPr>
                        <a:t>Arm</a:t>
                      </a:r>
                      <a:endParaRPr lang="zh-CN" altLang="en-US" dirty="0"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8422283"/>
                  </a:ext>
                </a:extLst>
              </a:tr>
              <a:tr h="496255">
                <a:tc>
                  <a:txBody>
                    <a:bodyPr/>
                    <a:lstStyle/>
                    <a:p>
                      <a:pPr algn="ctr"/>
                      <a:endParaRPr lang="zh-CN" altLang="en-US"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Arial Narrow" panose="020B0606020202030204" pitchFamily="34" charset="0"/>
                        </a:rPr>
                        <a:t>Really weak memory model</a:t>
                      </a:r>
                      <a:endParaRPr lang="zh-CN" altLang="en-US" sz="1400" dirty="0"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Arial Narrow" panose="020B0606020202030204" pitchFamily="34" charset="0"/>
                        </a:rPr>
                        <a:t>DEC Alpha</a:t>
                      </a:r>
                      <a:endParaRPr lang="zh-CN" altLang="en-US" dirty="0"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8620590"/>
                  </a:ext>
                </a:extLst>
              </a:tr>
            </a:tbl>
          </a:graphicData>
        </a:graphic>
      </p:graphicFrame>
      <p:sp>
        <p:nvSpPr>
          <p:cNvPr id="6" name="Rectangle 36">
            <a:extLst>
              <a:ext uri="{FF2B5EF4-FFF2-40B4-BE49-F238E27FC236}">
                <a16:creationId xmlns:a16="http://schemas.microsoft.com/office/drawing/2014/main" id="{8AD9E7D2-4795-4EC8-A733-F18634A60049}"/>
              </a:ext>
            </a:extLst>
          </p:cNvPr>
          <p:cNvSpPr/>
          <p:nvPr/>
        </p:nvSpPr>
        <p:spPr>
          <a:xfrm flipV="1">
            <a:off x="269346" y="2062047"/>
            <a:ext cx="8305800" cy="6858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580514"/>
      </p:ext>
    </p:extLst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charset="-128"/>
              </a:rPr>
              <a:t>Total Store Order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90600"/>
            <a:ext cx="8610600" cy="5194300"/>
          </a:xfrm>
        </p:spPr>
        <p:txBody>
          <a:bodyPr/>
          <a:lstStyle/>
          <a:p>
            <a:pPr marL="342900" lvl="1" indent="-342900"/>
            <a:r>
              <a:rPr lang="en-US" altLang="zh-CN" b="1" dirty="0">
                <a:ea typeface="ＭＳ Ｐゴシック" charset="-128"/>
              </a:rPr>
              <a:t>Total Store Order:</a:t>
            </a:r>
            <a:endParaRPr lang="en-US" altLang="en-US" dirty="0">
              <a:ea typeface="ＭＳ Ｐゴシック" charset="-128"/>
            </a:endParaRPr>
          </a:p>
          <a:p>
            <a:pPr marL="695325" lvl="2" indent="-342900"/>
            <a:r>
              <a:rPr lang="en-US" altLang="en-US" dirty="0">
                <a:ea typeface="ＭＳ Ｐゴシック" charset="-128"/>
              </a:rPr>
              <a:t>Load-Load</a:t>
            </a:r>
          </a:p>
          <a:p>
            <a:pPr marL="695325" lvl="2" indent="-342900"/>
            <a:r>
              <a:rPr lang="en-US" altLang="en-US" dirty="0">
                <a:ea typeface="ＭＳ Ｐゴシック" charset="-128"/>
              </a:rPr>
              <a:t>Load-Store</a:t>
            </a:r>
          </a:p>
          <a:p>
            <a:pPr marL="695325" lvl="2" indent="-342900"/>
            <a:r>
              <a:rPr lang="en-US" altLang="en-US" dirty="0">
                <a:ea typeface="ＭＳ Ｐゴシック" charset="-128"/>
              </a:rPr>
              <a:t>Store-Store</a:t>
            </a:r>
          </a:p>
          <a:p>
            <a:pPr marL="695325" lvl="2" indent="-342900"/>
            <a:endParaRPr lang="en-US" altLang="en-US" dirty="0">
              <a:ea typeface="ＭＳ Ｐゴシック" charset="-128"/>
            </a:endParaRPr>
          </a:p>
          <a:p>
            <a:r>
              <a:rPr lang="en-US" altLang="zh-CN" b="1" dirty="0">
                <a:ea typeface="ＭＳ Ｐゴシック" charset="-128"/>
              </a:rPr>
              <a:t>Total Store Order == SC + Store buffer</a:t>
            </a:r>
          </a:p>
          <a:p>
            <a:pPr marL="695325" lvl="2" indent="-342900"/>
            <a:r>
              <a:rPr lang="en-US" altLang="en-US" dirty="0">
                <a:ea typeface="ＭＳ Ｐゴシック" charset="-128"/>
              </a:rPr>
              <a:t>Committing a store instruction means the data is stored in </a:t>
            </a:r>
            <a:r>
              <a:rPr lang="en-US" altLang="en-US" i="1" dirty="0">
                <a:ea typeface="ＭＳ Ｐゴシック" charset="-128"/>
              </a:rPr>
              <a:t>store buffer</a:t>
            </a:r>
            <a:r>
              <a:rPr lang="en-US" altLang="en-US" dirty="0">
                <a:ea typeface="ＭＳ Ｐゴシック" charset="-128"/>
              </a:rPr>
              <a:t>, rather than cache hierarchy. </a:t>
            </a:r>
          </a:p>
          <a:p>
            <a:pPr marL="695325" lvl="2" indent="-342900"/>
            <a:r>
              <a:rPr lang="en-US" altLang="en-US" dirty="0">
                <a:ea typeface="ＭＳ Ｐゴシック" charset="-128"/>
              </a:rPr>
              <a:t>The store instruction writes in a local </a:t>
            </a:r>
            <a:r>
              <a:rPr lang="en-US" altLang="en-US" i="1" dirty="0">
                <a:ea typeface="ＭＳ Ｐゴシック" charset="-128"/>
              </a:rPr>
              <a:t>store buffer </a:t>
            </a:r>
            <a:r>
              <a:rPr lang="en-US" altLang="en-US" dirty="0">
                <a:ea typeface="ＭＳ Ｐゴシック" charset="-128"/>
              </a:rPr>
              <a:t>and then proceed to next instruction (e.g., load) immediately. </a:t>
            </a:r>
          </a:p>
          <a:p>
            <a:pPr marL="695325" lvl="2" indent="-342900"/>
            <a:r>
              <a:rPr lang="en-US" altLang="en-US" dirty="0">
                <a:ea typeface="ＭＳ Ｐゴシック" charset="-128"/>
              </a:rPr>
              <a:t>The cache will pull writes out of the store buffer when ready.</a:t>
            </a:r>
          </a:p>
          <a:p>
            <a:pPr marL="695325" lvl="2" indent="-342900"/>
            <a:r>
              <a:rPr lang="en-US" altLang="en-US" dirty="0">
                <a:solidFill>
                  <a:srgbClr val="FF0000"/>
                </a:solidFill>
                <a:ea typeface="ＭＳ Ｐゴシック" charset="-128"/>
              </a:rPr>
              <a:t>Store-load order is not preserved.</a:t>
            </a:r>
          </a:p>
          <a:p>
            <a:pPr marL="342900" lvl="1" indent="-342900"/>
            <a:endParaRPr lang="en-US" altLang="en-US" dirty="0">
              <a:ea typeface="ＭＳ Ｐゴシック" charset="-128"/>
            </a:endParaRPr>
          </a:p>
          <a:p>
            <a:pPr lvl="1"/>
            <a:endParaRPr lang="en-US" altLang="en-US" sz="2000" dirty="0">
              <a:ea typeface="ＭＳ Ｐゴシック" charset="-128"/>
            </a:endParaRPr>
          </a:p>
        </p:txBody>
      </p:sp>
      <p:sp>
        <p:nvSpPr>
          <p:cNvPr id="64515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D2C48AD6-E1AC-E041-A3BD-333E0F20253C}" type="slidenum">
              <a:rPr lang="en-US" altLang="en-US" sz="1600">
                <a:solidFill>
                  <a:srgbClr val="000000"/>
                </a:solidFill>
                <a:latin typeface="Garamond" charset="0"/>
              </a:rPr>
              <a:pPr eaLnBrk="1" hangingPunct="1"/>
              <a:t>52</a:t>
            </a:fld>
            <a:endParaRPr lang="en-US" altLang="en-US" sz="1600">
              <a:solidFill>
                <a:srgbClr val="000000"/>
              </a:solidFill>
              <a:latin typeface="Garamond" charset="0"/>
            </a:endParaRPr>
          </a:p>
        </p:txBody>
      </p:sp>
      <p:sp>
        <p:nvSpPr>
          <p:cNvPr id="5" name="Oval 7">
            <a:extLst>
              <a:ext uri="{FF2B5EF4-FFF2-40B4-BE49-F238E27FC236}">
                <a16:creationId xmlns:a16="http://schemas.microsoft.com/office/drawing/2014/main" id="{32C8671E-2742-444E-BB66-7FEACE3351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51800" y="1308100"/>
            <a:ext cx="749300" cy="7493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6" name="Line 9">
            <a:extLst>
              <a:ext uri="{FF2B5EF4-FFF2-40B4-BE49-F238E27FC236}">
                <a16:creationId xmlns:a16="http://schemas.microsoft.com/office/drawing/2014/main" id="{241DB5CD-33BB-4AC5-AEAA-BC4EE210E5D0}"/>
              </a:ext>
            </a:extLst>
          </p:cNvPr>
          <p:cNvSpPr>
            <a:spLocks noChangeShapeType="1"/>
          </p:cNvSpPr>
          <p:nvPr/>
        </p:nvSpPr>
        <p:spPr bwMode="auto">
          <a:xfrm>
            <a:off x="8243912" y="2063831"/>
            <a:ext cx="0" cy="3111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D3307EC0-8902-458D-BE1E-22AF98E4B9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4479" y="1485106"/>
            <a:ext cx="424797" cy="366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</a:rPr>
              <a:t>C1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24B0B155-07D9-4461-82C7-83B70D6A85E0}"/>
              </a:ext>
            </a:extLst>
          </p:cNvPr>
          <p:cNvSpPr/>
          <p:nvPr/>
        </p:nvSpPr>
        <p:spPr bwMode="auto">
          <a:xfrm>
            <a:off x="7551769" y="2374981"/>
            <a:ext cx="1371569" cy="679450"/>
          </a:xfrm>
          <a:prstGeom prst="roundRect">
            <a:avLst/>
          </a:prstGeom>
          <a:solidFill>
            <a:srgbClr val="CCEC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A8C2398-317E-4FD4-92EE-D9D7EEE574B5}"/>
              </a:ext>
            </a:extLst>
          </p:cNvPr>
          <p:cNvSpPr/>
          <p:nvPr/>
        </p:nvSpPr>
        <p:spPr>
          <a:xfrm>
            <a:off x="7683032" y="2541936"/>
            <a:ext cx="4026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tx2"/>
                </a:solidFill>
              </a:rPr>
              <a:t>X:</a:t>
            </a:r>
            <a:endParaRPr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C267A4C-4F84-424F-B505-E6E3E5DFD8EC}"/>
              </a:ext>
            </a:extLst>
          </p:cNvPr>
          <p:cNvSpPr/>
          <p:nvPr/>
        </p:nvSpPr>
        <p:spPr>
          <a:xfrm>
            <a:off x="7993261" y="2549360"/>
            <a:ext cx="2792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Imprint MT Shadow" panose="04020605060303030202" pitchFamily="82" charset="0"/>
              </a:rPr>
              <a:t>I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5674643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charset="-128"/>
              </a:rPr>
              <a:t>Store Buffer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9338" y="4137011"/>
            <a:ext cx="8610600" cy="2209800"/>
          </a:xfrm>
        </p:spPr>
        <p:txBody>
          <a:bodyPr/>
          <a:lstStyle/>
          <a:p>
            <a:r>
              <a:rPr lang="en-US" altLang="zh-CN" b="1" dirty="0">
                <a:ea typeface="ＭＳ Ｐゴシック" charset="-128"/>
              </a:rPr>
              <a:t>Idea of store buffer</a:t>
            </a:r>
          </a:p>
          <a:p>
            <a:pPr marL="695325" lvl="2" indent="-342900"/>
            <a:r>
              <a:rPr lang="en-US" altLang="zh-CN" dirty="0">
                <a:ea typeface="ＭＳ Ｐゴシック" charset="-128"/>
              </a:rPr>
              <a:t>Overlap memory accesses with other accesses and computation</a:t>
            </a:r>
            <a:r>
              <a:rPr lang="en-US" altLang="en-US" dirty="0">
                <a:ea typeface="ＭＳ Ｐゴシック" charset="-128"/>
              </a:rPr>
              <a:t>. </a:t>
            </a:r>
          </a:p>
          <a:p>
            <a:pPr marL="695325" lvl="2" indent="-342900"/>
            <a:r>
              <a:rPr lang="en-US" altLang="zh-CN" dirty="0">
                <a:ea typeface="ＭＳ Ｐゴシック" charset="-128"/>
              </a:rPr>
              <a:t>Hide long write latency in the core</a:t>
            </a:r>
          </a:p>
          <a:p>
            <a:pPr marL="695325" lvl="2" indent="-342900"/>
            <a:r>
              <a:rPr lang="en-US" altLang="en-US" dirty="0">
                <a:ea typeface="ＭＳ Ｐゴシック" charset="-128"/>
              </a:rPr>
              <a:t>Reordering read before store</a:t>
            </a:r>
          </a:p>
          <a:p>
            <a:pPr lvl="1"/>
            <a:endParaRPr lang="en-US" altLang="en-US" sz="2000" dirty="0">
              <a:ea typeface="ＭＳ Ｐゴシック" charset="-128"/>
            </a:endParaRPr>
          </a:p>
        </p:txBody>
      </p:sp>
      <p:sp>
        <p:nvSpPr>
          <p:cNvPr id="64515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D2C48AD6-E1AC-E041-A3BD-333E0F20253C}" type="slidenum">
              <a:rPr lang="en-US" altLang="en-US" sz="1600">
                <a:solidFill>
                  <a:srgbClr val="000000"/>
                </a:solidFill>
                <a:latin typeface="Garamond" charset="0"/>
              </a:rPr>
              <a:pPr eaLnBrk="1" hangingPunct="1"/>
              <a:t>53</a:t>
            </a:fld>
            <a:endParaRPr lang="en-US" altLang="en-US" sz="1600" dirty="0">
              <a:solidFill>
                <a:srgbClr val="000000"/>
              </a:solidFill>
              <a:latin typeface="Garamond" charset="0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4496D65-259C-4E8F-809B-7CC4AF3C9EBE}"/>
              </a:ext>
            </a:extLst>
          </p:cNvPr>
          <p:cNvGrpSpPr/>
          <p:nvPr/>
        </p:nvGrpSpPr>
        <p:grpSpPr>
          <a:xfrm>
            <a:off x="3505200" y="990600"/>
            <a:ext cx="2598880" cy="2676524"/>
            <a:chOff x="4227338" y="3615382"/>
            <a:chExt cx="2598880" cy="2676524"/>
          </a:xfrm>
        </p:grpSpPr>
        <p:sp>
          <p:nvSpPr>
            <p:cNvPr id="5" name="Oval 7">
              <a:extLst>
                <a:ext uri="{FF2B5EF4-FFF2-40B4-BE49-F238E27FC236}">
                  <a16:creationId xmlns:a16="http://schemas.microsoft.com/office/drawing/2014/main" id="{32C8671E-2742-444E-BB66-7FEACE3351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7033" y="3615382"/>
              <a:ext cx="749300" cy="7493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  <a:cs typeface="+mn-cs"/>
              </a:endParaRPr>
            </a:p>
          </p:txBody>
        </p:sp>
        <p:sp>
          <p:nvSpPr>
            <p:cNvPr id="6" name="Line 9">
              <a:extLst>
                <a:ext uri="{FF2B5EF4-FFF2-40B4-BE49-F238E27FC236}">
                  <a16:creationId xmlns:a16="http://schemas.microsoft.com/office/drawing/2014/main" id="{241DB5CD-33BB-4AC5-AEAA-BC4EE210E5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81682" y="4364682"/>
              <a:ext cx="0" cy="3111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  <a:cs typeface="+mn-cs"/>
              </a:endParaRPr>
            </a:p>
          </p:txBody>
        </p:sp>
        <p:sp>
          <p:nvSpPr>
            <p:cNvPr id="7" name="Rectangle 13">
              <a:extLst>
                <a:ext uri="{FF2B5EF4-FFF2-40B4-BE49-F238E27FC236}">
                  <a16:creationId xmlns:a16="http://schemas.microsoft.com/office/drawing/2014/main" id="{D3307EC0-8902-458D-BE1E-22AF98E4B9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69284" y="3838176"/>
              <a:ext cx="424797" cy="3667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</a:rPr>
                <a:t>C1</a:t>
              </a:r>
            </a:p>
          </p:txBody>
        </p:sp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24B0B155-07D9-4461-82C7-83B70D6A85E0}"/>
                </a:ext>
              </a:extLst>
            </p:cNvPr>
            <p:cNvSpPr/>
            <p:nvPr/>
          </p:nvSpPr>
          <p:spPr bwMode="auto">
            <a:xfrm>
              <a:off x="4373537" y="5714999"/>
              <a:ext cx="1371569" cy="576907"/>
            </a:xfrm>
            <a:prstGeom prst="roundRect">
              <a:avLst/>
            </a:prstGeom>
            <a:solidFill>
              <a:srgbClr val="CCEC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anose="020B0606020202030204" pitchFamily="34" charset="0"/>
                </a:rPr>
                <a:t>Cache</a:t>
              </a:r>
              <a:endPara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endParaRPr>
            </a:p>
          </p:txBody>
        </p:sp>
        <p:sp>
          <p:nvSpPr>
            <p:cNvPr id="11" name="Line 9">
              <a:extLst>
                <a:ext uri="{FF2B5EF4-FFF2-40B4-BE49-F238E27FC236}">
                  <a16:creationId xmlns:a16="http://schemas.microsoft.com/office/drawing/2014/main" id="{C19C16CC-3DF8-49ED-808F-ADF39D3968A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43031" y="4675832"/>
              <a:ext cx="67730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  <a:cs typeface="+mn-cs"/>
              </a:endParaRPr>
            </a:p>
          </p:txBody>
        </p:sp>
        <p:sp>
          <p:nvSpPr>
            <p:cNvPr id="12" name="Line 9">
              <a:extLst>
                <a:ext uri="{FF2B5EF4-FFF2-40B4-BE49-F238E27FC236}">
                  <a16:creationId xmlns:a16="http://schemas.microsoft.com/office/drawing/2014/main" id="{64EE435C-F056-4C5C-9F86-1A295B8E4F4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57411" y="4675831"/>
              <a:ext cx="2" cy="103916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  <a:cs typeface="+mn-cs"/>
              </a:endParaRPr>
            </a:p>
          </p:txBody>
        </p:sp>
        <p:sp>
          <p:nvSpPr>
            <p:cNvPr id="13" name="Line 9">
              <a:extLst>
                <a:ext uri="{FF2B5EF4-FFF2-40B4-BE49-F238E27FC236}">
                  <a16:creationId xmlns:a16="http://schemas.microsoft.com/office/drawing/2014/main" id="{692CEE07-01C4-4E96-BC82-C09F87D5F09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406777" y="4687613"/>
              <a:ext cx="0" cy="3415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  <a:cs typeface="+mn-cs"/>
              </a:endParaRPr>
            </a:p>
          </p:txBody>
        </p:sp>
        <p:sp>
          <p:nvSpPr>
            <p:cNvPr id="2" name="矩形: 圆角 1">
              <a:extLst>
                <a:ext uri="{FF2B5EF4-FFF2-40B4-BE49-F238E27FC236}">
                  <a16:creationId xmlns:a16="http://schemas.microsoft.com/office/drawing/2014/main" id="{1E405B23-9DCA-4FD7-8446-6465346E1FE3}"/>
                </a:ext>
              </a:extLst>
            </p:cNvPr>
            <p:cNvSpPr/>
            <p:nvPr/>
          </p:nvSpPr>
          <p:spPr bwMode="auto">
            <a:xfrm>
              <a:off x="5229836" y="5040981"/>
              <a:ext cx="380994" cy="304791"/>
            </a:xfrm>
            <a:prstGeom prst="roundRect">
              <a:avLst/>
            </a:prstGeom>
            <a:solidFill>
              <a:srgbClr val="C0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15" name="Line 9">
              <a:extLst>
                <a:ext uri="{FF2B5EF4-FFF2-40B4-BE49-F238E27FC236}">
                  <a16:creationId xmlns:a16="http://schemas.microsoft.com/office/drawing/2014/main" id="{EAAA91B5-A1D8-4A96-AD1A-FD908F782D4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216285" y="5268641"/>
              <a:ext cx="380983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  <a:cs typeface="+mn-cs"/>
              </a:endParaRPr>
            </a:p>
          </p:txBody>
        </p:sp>
        <p:sp>
          <p:nvSpPr>
            <p:cNvPr id="16" name="Line 9">
              <a:extLst>
                <a:ext uri="{FF2B5EF4-FFF2-40B4-BE49-F238E27FC236}">
                  <a16:creationId xmlns:a16="http://schemas.microsoft.com/office/drawing/2014/main" id="{FA8FA398-6D0A-43F2-A51B-F063A7ABEEC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233208" y="5193373"/>
              <a:ext cx="380983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  <a:cs typeface="+mn-cs"/>
              </a:endParaRPr>
            </a:p>
          </p:txBody>
        </p:sp>
        <p:sp>
          <p:nvSpPr>
            <p:cNvPr id="17" name="Line 9">
              <a:extLst>
                <a:ext uri="{FF2B5EF4-FFF2-40B4-BE49-F238E27FC236}">
                  <a16:creationId xmlns:a16="http://schemas.microsoft.com/office/drawing/2014/main" id="{7E0C46BF-D671-48CC-8EC0-238025FA988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222182" y="5116245"/>
              <a:ext cx="380983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  <a:cs typeface="+mn-cs"/>
              </a:endParaRPr>
            </a:p>
          </p:txBody>
        </p:sp>
        <p:sp>
          <p:nvSpPr>
            <p:cNvPr id="18" name="Line 9">
              <a:extLst>
                <a:ext uri="{FF2B5EF4-FFF2-40B4-BE49-F238E27FC236}">
                  <a16:creationId xmlns:a16="http://schemas.microsoft.com/office/drawing/2014/main" id="{CA53EA9D-B001-4935-A4F2-1460EE3EC9E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406777" y="5352133"/>
              <a:ext cx="414" cy="36286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-128"/>
                <a:cs typeface="+mn-cs"/>
              </a:endParaRPr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1F37544A-D98F-4BBA-9481-90C93B766EBA}"/>
                </a:ext>
              </a:extLst>
            </p:cNvPr>
            <p:cNvSpPr/>
            <p:nvPr/>
          </p:nvSpPr>
          <p:spPr>
            <a:xfrm>
              <a:off x="5604922" y="5007218"/>
              <a:ext cx="122129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ea typeface="ＭＳ Ｐゴシック" charset="-128"/>
                </a:rPr>
                <a:t>store buffer</a:t>
              </a:r>
              <a:endParaRPr lang="zh-CN" altLang="en-US" sz="1600" dirty="0"/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6C8EF65C-6519-402A-B50B-EC487E2DFA5E}"/>
                </a:ext>
              </a:extLst>
            </p:cNvPr>
            <p:cNvSpPr/>
            <p:nvPr/>
          </p:nvSpPr>
          <p:spPr>
            <a:xfrm>
              <a:off x="5298719" y="4333723"/>
              <a:ext cx="762838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ea typeface="ＭＳ Ｐゴシック" charset="-128"/>
                </a:rPr>
                <a:t>Writes</a:t>
              </a:r>
              <a:endParaRPr lang="zh-CN" altLang="en-US" sz="1600" dirty="0"/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8C2C11FE-4183-4F50-B299-85E9C3E5B335}"/>
                </a:ext>
              </a:extLst>
            </p:cNvPr>
            <p:cNvSpPr/>
            <p:nvPr/>
          </p:nvSpPr>
          <p:spPr>
            <a:xfrm>
              <a:off x="4227338" y="4332070"/>
              <a:ext cx="776175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ea typeface="ＭＳ Ｐゴシック" charset="-128"/>
                </a:rPr>
                <a:t>Reads</a:t>
              </a:r>
              <a:endParaRPr lang="zh-CN" altLang="en-US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305929679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charset="-128"/>
              </a:rPr>
              <a:t>Example under Total Store Order</a:t>
            </a:r>
            <a:endParaRPr lang="en-US" altLang="en-US" dirty="0">
              <a:ea typeface="ＭＳ Ｐゴシック" charset="-12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5433" y="914400"/>
            <a:ext cx="8610600" cy="609600"/>
          </a:xfrm>
        </p:spPr>
        <p:txBody>
          <a:bodyPr/>
          <a:lstStyle/>
          <a:p>
            <a:r>
              <a:rPr lang="en-US" altLang="en-US" dirty="0">
                <a:solidFill>
                  <a:srgbClr val="0070C0"/>
                </a:solidFill>
                <a:latin typeface="Arial Narrow" panose="020B0606020202030204" pitchFamily="34" charset="0"/>
                <a:ea typeface="ＭＳ Ｐゴシック" charset="-128"/>
              </a:rPr>
              <a:t>A</a:t>
            </a:r>
            <a:r>
              <a:rPr lang="en-US" altLang="zh-CN" dirty="0">
                <a:ea typeface="ＭＳ Ｐゴシック" charset="-128"/>
              </a:rPr>
              <a:t> = </a:t>
            </a:r>
            <a:r>
              <a:rPr lang="en-US" altLang="zh-CN" dirty="0">
                <a:solidFill>
                  <a:srgbClr val="FF0000"/>
                </a:solidFill>
                <a:ea typeface="ＭＳ Ｐゴシック" charset="-128"/>
              </a:rPr>
              <a:t>B</a:t>
            </a:r>
            <a:r>
              <a:rPr lang="en-US" altLang="zh-CN" dirty="0">
                <a:ea typeface="ＭＳ Ｐゴシック" charset="-128"/>
              </a:rPr>
              <a:t> = 0 initially.</a:t>
            </a:r>
            <a:endParaRPr lang="en-US" altLang="en-US" dirty="0">
              <a:ea typeface="ＭＳ Ｐゴシック" charset="-128"/>
            </a:endParaRPr>
          </a:p>
          <a:p>
            <a:endParaRPr lang="en-US" altLang="en-US" dirty="0">
              <a:ea typeface="ＭＳ Ｐゴシック" charset="-128"/>
            </a:endParaRPr>
          </a:p>
          <a:p>
            <a:endParaRPr lang="en-US" altLang="en-US" dirty="0">
              <a:ea typeface="ＭＳ Ｐゴシック" charset="-128"/>
            </a:endParaRPr>
          </a:p>
        </p:txBody>
      </p:sp>
      <p:sp>
        <p:nvSpPr>
          <p:cNvPr id="67587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05ED8F80-802B-0043-814C-28387FC40CDA}" type="slidenum">
              <a:rPr lang="en-US" altLang="en-US" sz="1600">
                <a:solidFill>
                  <a:srgbClr val="000000"/>
                </a:solidFill>
                <a:latin typeface="Garamond" charset="0"/>
              </a:rPr>
              <a:pPr eaLnBrk="1" hangingPunct="1"/>
              <a:t>54</a:t>
            </a:fld>
            <a:endParaRPr lang="en-US" altLang="en-US" sz="1600">
              <a:solidFill>
                <a:srgbClr val="000000"/>
              </a:solidFill>
              <a:latin typeface="Garamond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84BA098-CFE8-47C7-8019-B3D8C8F769C2}"/>
              </a:ext>
            </a:extLst>
          </p:cNvPr>
          <p:cNvSpPr txBox="1">
            <a:spLocks/>
          </p:cNvSpPr>
          <p:nvPr/>
        </p:nvSpPr>
        <p:spPr bwMode="auto">
          <a:xfrm>
            <a:off x="304800" y="1404408"/>
            <a:ext cx="46482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charset="2"/>
              <a:buChar char="n"/>
              <a:defRPr sz="2400">
                <a:solidFill>
                  <a:schemeClr val="tx1"/>
                </a:solidFill>
                <a:latin typeface="+mn-lt"/>
                <a:ea typeface="ＭＳ Ｐゴシック" pitchFamily="-107" charset="-128"/>
                <a:cs typeface="ＭＳ Ｐゴシック" pitchFamily="-107" charset="-128"/>
              </a:defRPr>
            </a:lvl1pPr>
            <a:lvl2pPr marL="669925" indent="-325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charset="2"/>
              <a:buChar char="q"/>
              <a:defRPr sz="2200">
                <a:solidFill>
                  <a:schemeClr val="tx1"/>
                </a:solidFill>
                <a:latin typeface="+mn-lt"/>
                <a:ea typeface="ＭＳ Ｐゴシック" pitchFamily="-107" charset="-128"/>
              </a:defRPr>
            </a:lvl2pPr>
            <a:lvl3pPr marL="1022350" indent="-350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charset="2"/>
              <a:buChar char="n"/>
              <a:defRPr sz="2000">
                <a:solidFill>
                  <a:schemeClr val="tx1"/>
                </a:solidFill>
                <a:latin typeface="+mn-lt"/>
                <a:ea typeface="ＭＳ Ｐゴシック" pitchFamily="-107" charset="-128"/>
              </a:defRPr>
            </a:lvl3pPr>
            <a:lvl4pPr marL="1339850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q"/>
              <a:defRPr>
                <a:solidFill>
                  <a:schemeClr val="tx1"/>
                </a:solidFill>
                <a:latin typeface="+mn-lt"/>
                <a:ea typeface="ＭＳ Ｐゴシック" pitchFamily="-107" charset="-128"/>
              </a:defRPr>
            </a:lvl4pPr>
            <a:lvl5pPr marL="16811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charset="2"/>
              <a:buChar char="§"/>
              <a:defRPr sz="1600">
                <a:solidFill>
                  <a:schemeClr val="tx1"/>
                </a:solidFill>
                <a:latin typeface="+mn-lt"/>
                <a:ea typeface="ＭＳ Ｐゴシック" pitchFamily="-107" charset="-128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altLang="en-US" kern="0" dirty="0">
                <a:ea typeface="ＭＳ Ｐゴシック" charset="-128"/>
              </a:rPr>
              <a:t>          </a:t>
            </a:r>
            <a:r>
              <a:rPr lang="en-US" altLang="en-US" b="1" kern="0" dirty="0">
                <a:latin typeface="Arial Narrow" panose="020B0606020202030204" pitchFamily="34" charset="0"/>
                <a:ea typeface="ＭＳ Ｐゴシック" charset="-128"/>
              </a:rPr>
              <a:t>Core 1</a:t>
            </a: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</a:rPr>
              <a:t>:</a:t>
            </a:r>
          </a:p>
          <a:p>
            <a:pPr marL="0" indent="0">
              <a:buNone/>
            </a:pP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</a:rPr>
              <a:t> </a:t>
            </a:r>
            <a:r>
              <a:rPr lang="en-US" altLang="en-US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  <a:ea typeface="ＭＳ Ｐゴシック" charset="-128"/>
              </a:rPr>
              <a:t>(1)</a:t>
            </a: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</a:rPr>
              <a:t>       </a:t>
            </a:r>
            <a:r>
              <a:rPr lang="en-US" altLang="en-US" kern="0" dirty="0">
                <a:solidFill>
                  <a:srgbClr val="0070C0"/>
                </a:solidFill>
                <a:latin typeface="Arial Narrow" panose="020B0606020202030204" pitchFamily="34" charset="0"/>
                <a:ea typeface="ＭＳ Ｐゴシック" charset="-128"/>
              </a:rPr>
              <a:t>A</a:t>
            </a: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</a:rPr>
              <a:t>  = 1</a:t>
            </a:r>
          </a:p>
          <a:p>
            <a:pPr marL="0" indent="0">
              <a:buNone/>
            </a:pP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</a:rPr>
              <a:t>            if (</a:t>
            </a:r>
            <a:r>
              <a:rPr lang="en-US" altLang="en-US" kern="0" dirty="0">
                <a:solidFill>
                  <a:srgbClr val="FF0000"/>
                </a:solidFill>
                <a:latin typeface="Arial Narrow" panose="020B0606020202030204" pitchFamily="34" charset="0"/>
                <a:ea typeface="ＭＳ Ｐゴシック" charset="-128"/>
              </a:rPr>
              <a:t>B</a:t>
            </a: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</a:rPr>
              <a:t> == 0)</a:t>
            </a:r>
          </a:p>
          <a:p>
            <a:pPr marL="0" indent="0">
              <a:buNone/>
            </a:pPr>
            <a:r>
              <a:rPr lang="zh-CN" altLang="en-US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  <a:ea typeface="ＭＳ Ｐゴシック" charset="-128"/>
              </a:rPr>
              <a:t>（</a:t>
            </a:r>
            <a:r>
              <a:rPr lang="en-US" altLang="zh-CN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  <a:ea typeface="ＭＳ Ｐゴシック" charset="-128"/>
              </a:rPr>
              <a:t>2</a:t>
            </a:r>
            <a:r>
              <a:rPr lang="zh-CN" altLang="en-US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  <a:ea typeface="ＭＳ Ｐゴシック" charset="-128"/>
              </a:rPr>
              <a:t>）</a:t>
            </a:r>
            <a:r>
              <a:rPr lang="en-US" altLang="en-US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  <a:ea typeface="ＭＳ Ｐゴシック" charset="-128"/>
              </a:rPr>
              <a:t>          </a:t>
            </a: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</a:rPr>
              <a:t>print “Hello”: </a:t>
            </a:r>
            <a:r>
              <a:rPr lang="en-US" altLang="zh-CN" sz="1800" dirty="0">
                <a:solidFill>
                  <a:srgbClr val="FF0000"/>
                </a:solidFill>
                <a:latin typeface="Arial Narrow" panose="020B0606020202030204" pitchFamily="34" charset="0"/>
              </a:rPr>
              <a:t>&lt;critical section&gt;</a:t>
            </a:r>
            <a:endParaRPr lang="zh-CN" altLang="en-US" sz="1800" dirty="0">
              <a:solidFill>
                <a:srgbClr val="FF0000"/>
              </a:solidFill>
              <a:latin typeface="Arial Narrow" panose="020B0606020202030204" pitchFamily="34" charset="0"/>
            </a:endParaRPr>
          </a:p>
          <a:p>
            <a:pPr marL="0" indent="0">
              <a:buNone/>
            </a:pP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</a:rPr>
              <a:t> </a:t>
            </a:r>
          </a:p>
          <a:p>
            <a:endParaRPr lang="en-US" altLang="en-US" kern="0" dirty="0">
              <a:ea typeface="ＭＳ Ｐゴシック" charset="-128"/>
            </a:endParaRPr>
          </a:p>
          <a:p>
            <a:endParaRPr lang="en-US" altLang="en-US" kern="0" dirty="0">
              <a:ea typeface="ＭＳ Ｐゴシック" charset="-128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FF4F00F-3022-4F50-BAD2-132C832425FD}"/>
              </a:ext>
            </a:extLst>
          </p:cNvPr>
          <p:cNvSpPr txBox="1">
            <a:spLocks/>
          </p:cNvSpPr>
          <p:nvPr/>
        </p:nvSpPr>
        <p:spPr bwMode="auto">
          <a:xfrm>
            <a:off x="4919133" y="1404408"/>
            <a:ext cx="4377267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charset="2"/>
              <a:buChar char="n"/>
              <a:defRPr sz="2400">
                <a:solidFill>
                  <a:schemeClr val="tx1"/>
                </a:solidFill>
                <a:latin typeface="+mn-lt"/>
                <a:ea typeface="ＭＳ Ｐゴシック" pitchFamily="-107" charset="-128"/>
                <a:cs typeface="ＭＳ Ｐゴシック" pitchFamily="-107" charset="-128"/>
              </a:defRPr>
            </a:lvl1pPr>
            <a:lvl2pPr marL="669925" indent="-325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charset="2"/>
              <a:buChar char="q"/>
              <a:defRPr sz="2200">
                <a:solidFill>
                  <a:schemeClr val="tx1"/>
                </a:solidFill>
                <a:latin typeface="+mn-lt"/>
                <a:ea typeface="ＭＳ Ｐゴシック" pitchFamily="-107" charset="-128"/>
              </a:defRPr>
            </a:lvl2pPr>
            <a:lvl3pPr marL="1022350" indent="-350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charset="2"/>
              <a:buChar char="n"/>
              <a:defRPr sz="2000">
                <a:solidFill>
                  <a:schemeClr val="tx1"/>
                </a:solidFill>
                <a:latin typeface="+mn-lt"/>
                <a:ea typeface="ＭＳ Ｐゴシック" pitchFamily="-107" charset="-128"/>
              </a:defRPr>
            </a:lvl3pPr>
            <a:lvl4pPr marL="1339850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q"/>
              <a:defRPr>
                <a:solidFill>
                  <a:schemeClr val="tx1"/>
                </a:solidFill>
                <a:latin typeface="+mn-lt"/>
                <a:ea typeface="ＭＳ Ｐゴシック" pitchFamily="-107" charset="-128"/>
              </a:defRPr>
            </a:lvl4pPr>
            <a:lvl5pPr marL="16811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charset="2"/>
              <a:buChar char="§"/>
              <a:defRPr sz="1600">
                <a:solidFill>
                  <a:schemeClr val="tx1"/>
                </a:solidFill>
                <a:latin typeface="+mn-lt"/>
                <a:ea typeface="ＭＳ Ｐゴシック" pitchFamily="-107" charset="-128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altLang="en-US" kern="0" dirty="0">
                <a:ea typeface="ＭＳ Ｐゴシック" charset="-128"/>
              </a:rPr>
              <a:t>          </a:t>
            </a:r>
            <a:r>
              <a:rPr lang="en-US" altLang="en-US" b="1" kern="0" dirty="0">
                <a:latin typeface="Arial Narrow" panose="020B0606020202030204" pitchFamily="34" charset="0"/>
                <a:ea typeface="ＭＳ Ｐゴシック" charset="-128"/>
              </a:rPr>
              <a:t>Core 2</a:t>
            </a: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</a:rPr>
              <a:t>:</a:t>
            </a:r>
          </a:p>
          <a:p>
            <a:pPr marL="0" indent="0">
              <a:buNone/>
            </a:pP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</a:rPr>
              <a:t> </a:t>
            </a:r>
            <a:r>
              <a:rPr lang="en-US" altLang="en-US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  <a:ea typeface="ＭＳ Ｐゴシック" charset="-128"/>
              </a:rPr>
              <a:t>(3)</a:t>
            </a: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</a:rPr>
              <a:t>        </a:t>
            </a:r>
            <a:r>
              <a:rPr lang="en-US" altLang="en-US" kern="0" dirty="0">
                <a:solidFill>
                  <a:srgbClr val="FF0000"/>
                </a:solidFill>
                <a:latin typeface="Arial Narrow" panose="020B0606020202030204" pitchFamily="34" charset="0"/>
                <a:ea typeface="ＭＳ Ｐゴシック" charset="-128"/>
              </a:rPr>
              <a:t>B</a:t>
            </a: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</a:rPr>
              <a:t>  = 1</a:t>
            </a:r>
          </a:p>
          <a:p>
            <a:pPr marL="0" indent="0">
              <a:buNone/>
            </a:pP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</a:rPr>
              <a:t>              if (</a:t>
            </a:r>
            <a:r>
              <a:rPr lang="en-US" altLang="en-US" kern="0" dirty="0">
                <a:solidFill>
                  <a:srgbClr val="0070C0"/>
                </a:solidFill>
                <a:latin typeface="Arial Narrow" panose="020B0606020202030204" pitchFamily="34" charset="0"/>
                <a:ea typeface="ＭＳ Ｐゴシック" charset="-128"/>
              </a:rPr>
              <a:t>A</a:t>
            </a: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</a:rPr>
              <a:t> == 0)</a:t>
            </a:r>
          </a:p>
          <a:p>
            <a:pPr marL="0" indent="0">
              <a:buNone/>
            </a:pP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</a:rPr>
              <a:t> </a:t>
            </a:r>
            <a:r>
              <a:rPr lang="en-US" altLang="en-US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  <a:ea typeface="ＭＳ Ｐゴシック" charset="-128"/>
              </a:rPr>
              <a:t>(4)</a:t>
            </a: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</a:rPr>
              <a:t>             print “ZJU” : </a:t>
            </a:r>
            <a:r>
              <a:rPr lang="en-US" altLang="zh-CN" sz="1800" dirty="0">
                <a:solidFill>
                  <a:srgbClr val="FF0000"/>
                </a:solidFill>
                <a:latin typeface="Arial Narrow" panose="020B0606020202030204" pitchFamily="34" charset="0"/>
              </a:rPr>
              <a:t>&lt;critical section&gt;</a:t>
            </a:r>
            <a:endParaRPr lang="zh-CN" altLang="en-US" sz="1800" dirty="0">
              <a:solidFill>
                <a:srgbClr val="FF0000"/>
              </a:solidFill>
              <a:latin typeface="Arial Narrow" panose="020B0606020202030204" pitchFamily="34" charset="0"/>
            </a:endParaRPr>
          </a:p>
          <a:p>
            <a:pPr marL="0" indent="0">
              <a:buNone/>
            </a:pPr>
            <a:endParaRPr lang="en-US" altLang="en-US" kern="0" dirty="0">
              <a:latin typeface="Arial Narrow" panose="020B0606020202030204" pitchFamily="34" charset="0"/>
              <a:ea typeface="ＭＳ Ｐゴシック" charset="-128"/>
            </a:endParaRPr>
          </a:p>
          <a:p>
            <a:endParaRPr lang="en-US" altLang="en-US" kern="0" dirty="0">
              <a:ea typeface="ＭＳ Ｐゴシック" charset="-128"/>
            </a:endParaRPr>
          </a:p>
          <a:p>
            <a:endParaRPr lang="en-US" altLang="en-US" kern="0" dirty="0">
              <a:ea typeface="ＭＳ Ｐゴシック" charset="-128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C4F4127-C8F2-4133-A779-1F08D09660D0}"/>
              </a:ext>
            </a:extLst>
          </p:cNvPr>
          <p:cNvSpPr txBox="1">
            <a:spLocks/>
          </p:cNvSpPr>
          <p:nvPr/>
        </p:nvSpPr>
        <p:spPr bwMode="auto">
          <a:xfrm>
            <a:off x="381000" y="3326342"/>
            <a:ext cx="8610600" cy="212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charset="2"/>
              <a:buChar char="n"/>
              <a:defRPr sz="2400">
                <a:solidFill>
                  <a:schemeClr val="tx1"/>
                </a:solidFill>
                <a:latin typeface="+mn-lt"/>
                <a:ea typeface="ＭＳ Ｐゴシック" pitchFamily="-107" charset="-128"/>
                <a:cs typeface="ＭＳ Ｐゴシック" pitchFamily="-107" charset="-128"/>
              </a:defRPr>
            </a:lvl1pPr>
            <a:lvl2pPr marL="669925" indent="-325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charset="2"/>
              <a:buChar char="q"/>
              <a:defRPr sz="2200">
                <a:solidFill>
                  <a:schemeClr val="tx1"/>
                </a:solidFill>
                <a:latin typeface="+mn-lt"/>
                <a:ea typeface="ＭＳ Ｐゴシック" pitchFamily="-107" charset="-128"/>
              </a:defRPr>
            </a:lvl2pPr>
            <a:lvl3pPr marL="1022350" indent="-350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charset="2"/>
              <a:buChar char="n"/>
              <a:defRPr sz="2000">
                <a:solidFill>
                  <a:schemeClr val="tx1"/>
                </a:solidFill>
                <a:latin typeface="+mn-lt"/>
                <a:ea typeface="ＭＳ Ｐゴシック" pitchFamily="-107" charset="-128"/>
              </a:defRPr>
            </a:lvl3pPr>
            <a:lvl4pPr marL="1339850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q"/>
              <a:defRPr>
                <a:solidFill>
                  <a:schemeClr val="tx1"/>
                </a:solidFill>
                <a:latin typeface="+mn-lt"/>
                <a:ea typeface="ＭＳ Ｐゴシック" pitchFamily="-107" charset="-128"/>
              </a:defRPr>
            </a:lvl4pPr>
            <a:lvl5pPr marL="16811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charset="2"/>
              <a:buChar char="§"/>
              <a:defRPr sz="1600">
                <a:solidFill>
                  <a:schemeClr val="tx1"/>
                </a:solidFill>
                <a:latin typeface="+mn-lt"/>
                <a:ea typeface="ＭＳ Ｐゴシック" pitchFamily="-107" charset="-128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altLang="en-US" kern="0" dirty="0">
                <a:ea typeface="ＭＳ Ｐゴシック" charset="-128"/>
              </a:rPr>
              <a:t>What is the reasonable execution order?</a:t>
            </a:r>
          </a:p>
          <a:p>
            <a:pPr lvl="1"/>
            <a:r>
              <a:rPr lang="en-US" altLang="en-US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  <a:ea typeface="ＭＳ Ｐゴシック" charset="-128"/>
              </a:rPr>
              <a:t>(1) </a:t>
            </a: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</a:t>
            </a:r>
            <a:r>
              <a:rPr lang="en-US" altLang="en-US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 (2) </a:t>
            </a: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</a:t>
            </a:r>
            <a:r>
              <a:rPr lang="en-US" altLang="en-US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 (3) </a:t>
            </a: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</a:t>
            </a:r>
            <a:r>
              <a:rPr lang="en-US" altLang="en-US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 (4)      </a:t>
            </a:r>
            <a:r>
              <a:rPr lang="en-US" altLang="en-US" kern="0" dirty="0">
                <a:ea typeface="ＭＳ Ｐゴシック" charset="-128"/>
              </a:rPr>
              <a:t>“Hello”</a:t>
            </a:r>
            <a:endParaRPr lang="en-US" altLang="en-US" kern="0" dirty="0">
              <a:solidFill>
                <a:schemeClr val="tx2">
                  <a:lumMod val="60000"/>
                  <a:lumOff val="40000"/>
                </a:schemeClr>
              </a:solidFill>
              <a:latin typeface="Arial Narrow" panose="020B0606020202030204" pitchFamily="34" charset="0"/>
              <a:ea typeface="ＭＳ Ｐゴシック" charset="-128"/>
              <a:sym typeface="Wingdings" panose="05000000000000000000" pitchFamily="2" charset="2"/>
            </a:endParaRPr>
          </a:p>
          <a:p>
            <a:pPr lvl="1"/>
            <a:r>
              <a:rPr lang="en-US" altLang="en-US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  <a:ea typeface="ＭＳ Ｐゴシック" charset="-128"/>
              </a:rPr>
              <a:t>(3) </a:t>
            </a: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</a:t>
            </a:r>
            <a:r>
              <a:rPr lang="en-US" altLang="en-US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 (4) </a:t>
            </a: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</a:t>
            </a:r>
            <a:r>
              <a:rPr lang="en-US" altLang="en-US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 (1) </a:t>
            </a: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</a:t>
            </a:r>
            <a:r>
              <a:rPr lang="en-US" altLang="en-US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 (2)      </a:t>
            </a:r>
            <a:r>
              <a:rPr lang="en-US" altLang="en-US" kern="0" dirty="0">
                <a:ea typeface="ＭＳ Ｐゴシック" charset="-128"/>
              </a:rPr>
              <a:t>“</a:t>
            </a: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</a:rPr>
              <a:t>ZJU</a:t>
            </a:r>
            <a:r>
              <a:rPr lang="en-US" altLang="en-US" kern="0" dirty="0">
                <a:ea typeface="ＭＳ Ｐゴシック" charset="-128"/>
              </a:rPr>
              <a:t>”</a:t>
            </a:r>
            <a:endParaRPr lang="en-US" altLang="en-US" kern="0" dirty="0">
              <a:solidFill>
                <a:schemeClr val="tx2">
                  <a:lumMod val="60000"/>
                  <a:lumOff val="40000"/>
                </a:schemeClr>
              </a:solidFill>
              <a:latin typeface="Arial Narrow" panose="020B0606020202030204" pitchFamily="34" charset="0"/>
              <a:ea typeface="ＭＳ Ｐゴシック" charset="-128"/>
              <a:sym typeface="Wingdings" panose="05000000000000000000" pitchFamily="2" charset="2"/>
            </a:endParaRPr>
          </a:p>
          <a:p>
            <a:pPr lvl="1"/>
            <a:r>
              <a:rPr lang="en-US" altLang="en-US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  <a:ea typeface="ＭＳ Ｐゴシック" charset="-128"/>
              </a:rPr>
              <a:t>(1) </a:t>
            </a: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</a:t>
            </a:r>
            <a:r>
              <a:rPr lang="en-US" altLang="en-US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 (3) </a:t>
            </a: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</a:t>
            </a:r>
            <a:r>
              <a:rPr lang="en-US" altLang="en-US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 (2) </a:t>
            </a: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</a:t>
            </a:r>
            <a:r>
              <a:rPr lang="en-US" altLang="en-US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 (4) </a:t>
            </a: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or</a:t>
            </a:r>
            <a:r>
              <a:rPr lang="en-US" altLang="en-US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 </a:t>
            </a:r>
            <a:r>
              <a:rPr lang="en-US" altLang="en-US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  <a:ea typeface="ＭＳ Ｐゴシック" charset="-128"/>
              </a:rPr>
              <a:t>(1) </a:t>
            </a: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</a:t>
            </a:r>
            <a:r>
              <a:rPr lang="en-US" altLang="en-US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 (3) </a:t>
            </a: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</a:t>
            </a:r>
            <a:r>
              <a:rPr lang="en-US" altLang="en-US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 (4) </a:t>
            </a: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</a:t>
            </a:r>
            <a:r>
              <a:rPr lang="en-US" altLang="en-US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 (2) </a:t>
            </a:r>
          </a:p>
          <a:p>
            <a:pPr lvl="1"/>
            <a:r>
              <a:rPr lang="en-US" altLang="en-US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  <a:ea typeface="ＭＳ Ｐゴシック" charset="-128"/>
              </a:rPr>
              <a:t>(3) </a:t>
            </a: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</a:t>
            </a:r>
            <a:r>
              <a:rPr lang="en-US" altLang="en-US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 (1) </a:t>
            </a: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</a:t>
            </a:r>
            <a:r>
              <a:rPr lang="en-US" altLang="en-US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 (2) </a:t>
            </a: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</a:t>
            </a:r>
            <a:r>
              <a:rPr lang="en-US" altLang="en-US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 (4) </a:t>
            </a: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or</a:t>
            </a:r>
            <a:r>
              <a:rPr lang="en-US" altLang="en-US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 </a:t>
            </a:r>
            <a:r>
              <a:rPr lang="en-US" altLang="en-US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  <a:ea typeface="ＭＳ Ｐゴシック" charset="-128"/>
              </a:rPr>
              <a:t>(3) </a:t>
            </a: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</a:t>
            </a:r>
            <a:r>
              <a:rPr lang="en-US" altLang="en-US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 (1) </a:t>
            </a: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</a:t>
            </a:r>
            <a:r>
              <a:rPr lang="en-US" altLang="en-US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 (4) </a:t>
            </a: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</a:t>
            </a:r>
            <a:r>
              <a:rPr lang="en-US" altLang="en-US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 (2) </a:t>
            </a:r>
            <a:endParaRPr lang="en-US" altLang="en-US" kern="0" dirty="0">
              <a:ea typeface="ＭＳ Ｐゴシック" charset="-128"/>
            </a:endParaRPr>
          </a:p>
          <a:p>
            <a:endParaRPr lang="en-US" altLang="en-US" kern="0" dirty="0">
              <a:ea typeface="ＭＳ Ｐゴシック" charset="-128"/>
            </a:endParaRPr>
          </a:p>
          <a:p>
            <a:endParaRPr lang="en-US" altLang="en-US" kern="0" dirty="0">
              <a:ea typeface="ＭＳ Ｐゴシック" charset="-128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FC12B3A-6B07-4FB7-A6AF-FB508D130BF6}"/>
              </a:ext>
            </a:extLst>
          </p:cNvPr>
          <p:cNvSpPr txBox="1">
            <a:spLocks/>
          </p:cNvSpPr>
          <p:nvPr/>
        </p:nvSpPr>
        <p:spPr bwMode="auto">
          <a:xfrm>
            <a:off x="381000" y="5500158"/>
            <a:ext cx="8610600" cy="8868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charset="2"/>
              <a:buChar char="n"/>
              <a:defRPr sz="2400">
                <a:solidFill>
                  <a:schemeClr val="tx1"/>
                </a:solidFill>
                <a:latin typeface="+mn-lt"/>
                <a:ea typeface="ＭＳ Ｐゴシック" pitchFamily="-107" charset="-128"/>
                <a:cs typeface="ＭＳ Ｐゴシック" pitchFamily="-107" charset="-128"/>
              </a:defRPr>
            </a:lvl1pPr>
            <a:lvl2pPr marL="669925" indent="-325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charset="2"/>
              <a:buChar char="q"/>
              <a:defRPr sz="2200">
                <a:solidFill>
                  <a:schemeClr val="tx1"/>
                </a:solidFill>
                <a:latin typeface="+mn-lt"/>
                <a:ea typeface="ＭＳ Ｐゴシック" pitchFamily="-107" charset="-128"/>
              </a:defRPr>
            </a:lvl2pPr>
            <a:lvl3pPr marL="1022350" indent="-350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charset="2"/>
              <a:buChar char="n"/>
              <a:defRPr sz="2000">
                <a:solidFill>
                  <a:schemeClr val="tx1"/>
                </a:solidFill>
                <a:latin typeface="+mn-lt"/>
                <a:ea typeface="ＭＳ Ｐゴシック" pitchFamily="-107" charset="-128"/>
              </a:defRPr>
            </a:lvl3pPr>
            <a:lvl4pPr marL="1339850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q"/>
              <a:defRPr>
                <a:solidFill>
                  <a:schemeClr val="tx1"/>
                </a:solidFill>
                <a:latin typeface="+mn-lt"/>
                <a:ea typeface="ＭＳ Ｐゴシック" pitchFamily="-107" charset="-128"/>
              </a:defRPr>
            </a:lvl4pPr>
            <a:lvl5pPr marL="16811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charset="2"/>
              <a:buChar char="§"/>
              <a:defRPr sz="1600">
                <a:solidFill>
                  <a:schemeClr val="tx1"/>
                </a:solidFill>
                <a:latin typeface="+mn-lt"/>
                <a:ea typeface="ＭＳ Ｐゴシック" pitchFamily="-107" charset="-128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altLang="en-US" kern="0" dirty="0">
                <a:ea typeface="ＭＳ Ｐゴシック" charset="-128"/>
              </a:rPr>
              <a:t>Is it possible to print “Hello” and “ZJU” on real hardware?</a:t>
            </a:r>
          </a:p>
          <a:p>
            <a:pPr lvl="1"/>
            <a:r>
              <a:rPr lang="en-US" altLang="en-US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(2) </a:t>
            </a: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</a:t>
            </a:r>
            <a:r>
              <a:rPr lang="en-US" altLang="en-US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 (4)</a:t>
            </a: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 </a:t>
            </a:r>
            <a:r>
              <a:rPr lang="en-US" altLang="en-US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 </a:t>
            </a:r>
            <a:r>
              <a:rPr lang="en-US" altLang="en-US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  <a:ea typeface="ＭＳ Ｐゴシック" charset="-128"/>
              </a:rPr>
              <a:t>(3) </a:t>
            </a: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</a:t>
            </a:r>
            <a:r>
              <a:rPr lang="en-US" altLang="en-US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 (1) </a:t>
            </a: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or</a:t>
            </a:r>
            <a:r>
              <a:rPr lang="en-US" altLang="en-US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 (2) </a:t>
            </a: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</a:t>
            </a:r>
            <a:r>
              <a:rPr lang="en-US" altLang="en-US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 (4)</a:t>
            </a: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 </a:t>
            </a:r>
            <a:r>
              <a:rPr lang="en-US" altLang="en-US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 </a:t>
            </a:r>
            <a:r>
              <a:rPr lang="en-US" altLang="en-US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  <a:ea typeface="ＭＳ Ｐゴシック" charset="-128"/>
              </a:rPr>
              <a:t>(1) </a:t>
            </a: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</a:t>
            </a:r>
            <a:r>
              <a:rPr lang="en-US" altLang="en-US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 (3) </a:t>
            </a:r>
            <a:endParaRPr lang="en-US" altLang="en-US" kern="0" dirty="0">
              <a:ea typeface="ＭＳ Ｐゴシック" charset="-128"/>
            </a:endParaRPr>
          </a:p>
          <a:p>
            <a:pPr lvl="1"/>
            <a:endParaRPr lang="en-US" altLang="en-US" kern="0" dirty="0"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2513338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Title 1"/>
          <p:cNvSpPr>
            <a:spLocks noGrp="1"/>
          </p:cNvSpPr>
          <p:nvPr>
            <p:ph type="title"/>
          </p:nvPr>
        </p:nvSpPr>
        <p:spPr>
          <a:xfrm>
            <a:off x="0" y="152400"/>
            <a:ext cx="9220200" cy="1066800"/>
          </a:xfrm>
        </p:spPr>
        <p:txBody>
          <a:bodyPr/>
          <a:lstStyle/>
          <a:p>
            <a:r>
              <a:rPr lang="en-US" altLang="zh-CN" dirty="0">
                <a:ea typeface="ＭＳ Ｐゴシック" charset="-128"/>
              </a:rPr>
              <a:t>Four Memory Barriers vs. Consistence Model</a:t>
            </a:r>
            <a:endParaRPr lang="en-US" altLang="en-US" dirty="0">
              <a:ea typeface="ＭＳ Ｐゴシック" charset="-12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9346" y="3881859"/>
            <a:ext cx="8610600" cy="4127500"/>
          </a:xfrm>
        </p:spPr>
        <p:txBody>
          <a:bodyPr/>
          <a:lstStyle/>
          <a:p>
            <a:r>
              <a:rPr lang="en-US" altLang="en-US" sz="2000" dirty="0">
                <a:solidFill>
                  <a:srgbClr val="0432FF"/>
                </a:solidFill>
                <a:ea typeface="ＭＳ Ｐゴシック" charset="-128"/>
              </a:rPr>
              <a:t>Comparison of memory models</a:t>
            </a:r>
            <a:r>
              <a:rPr lang="en-US" altLang="en-US" sz="2000" dirty="0">
                <a:ea typeface="ＭＳ Ｐゴシック" charset="-128"/>
              </a:rPr>
              <a:t>:</a:t>
            </a:r>
          </a:p>
          <a:p>
            <a:pPr lvl="1"/>
            <a:r>
              <a:rPr lang="en-US" altLang="en-US" sz="2000" dirty="0">
                <a:ea typeface="ＭＳ Ｐゴシック" charset="-128"/>
              </a:rPr>
              <a:t>The stronger memory model leads to lower performance/higher overhead</a:t>
            </a:r>
          </a:p>
          <a:p>
            <a:pPr lvl="1"/>
            <a:r>
              <a:rPr lang="en-US" altLang="en-US" sz="2000" dirty="0">
                <a:ea typeface="ＭＳ Ｐゴシック" charset="-128"/>
              </a:rPr>
              <a:t>The stronger memory model makes programmers’ life easier</a:t>
            </a:r>
          </a:p>
          <a:p>
            <a:pPr marL="344487" lvl="1" indent="0">
              <a:buNone/>
            </a:pPr>
            <a:endParaRPr lang="en-US" altLang="en-US" sz="2000" dirty="0">
              <a:ea typeface="ＭＳ Ｐゴシック" charset="-128"/>
            </a:endParaRPr>
          </a:p>
        </p:txBody>
      </p:sp>
      <p:sp>
        <p:nvSpPr>
          <p:cNvPr id="64515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D2C48AD6-E1AC-E041-A3BD-333E0F20253C}" type="slidenum">
              <a:rPr lang="en-US" altLang="en-US" sz="1600">
                <a:solidFill>
                  <a:srgbClr val="000000"/>
                </a:solidFill>
                <a:latin typeface="Garamond" charset="0"/>
              </a:rPr>
              <a:pPr eaLnBrk="1" hangingPunct="1"/>
              <a:t>55</a:t>
            </a:fld>
            <a:endParaRPr lang="en-US" altLang="en-US" sz="1600">
              <a:solidFill>
                <a:srgbClr val="000000"/>
              </a:solidFill>
              <a:latin typeface="Garamond" charset="0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6E358E44-262F-4018-A5FC-437711AC6639}"/>
              </a:ext>
            </a:extLst>
          </p:cNvPr>
          <p:cNvGraphicFramePr>
            <a:graphicFrameLocks noGrp="1"/>
          </p:cNvGraphicFramePr>
          <p:nvPr/>
        </p:nvGraphicFramePr>
        <p:xfrm>
          <a:off x="309032" y="965614"/>
          <a:ext cx="8225370" cy="26622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7904">
                  <a:extLst>
                    <a:ext uri="{9D8B030D-6E8A-4147-A177-3AD203B41FA5}">
                      <a16:colId xmlns:a16="http://schemas.microsoft.com/office/drawing/2014/main" val="1236519423"/>
                    </a:ext>
                  </a:extLst>
                </a:gridCol>
                <a:gridCol w="1242216">
                  <a:extLst>
                    <a:ext uri="{9D8B030D-6E8A-4147-A177-3AD203B41FA5}">
                      <a16:colId xmlns:a16="http://schemas.microsoft.com/office/drawing/2014/main" val="103700403"/>
                    </a:ext>
                  </a:extLst>
                </a:gridCol>
                <a:gridCol w="1242216">
                  <a:extLst>
                    <a:ext uri="{9D8B030D-6E8A-4147-A177-3AD203B41FA5}">
                      <a16:colId xmlns:a16="http://schemas.microsoft.com/office/drawing/2014/main" val="3204525941"/>
                    </a:ext>
                  </a:extLst>
                </a:gridCol>
                <a:gridCol w="1242216">
                  <a:extLst>
                    <a:ext uri="{9D8B030D-6E8A-4147-A177-3AD203B41FA5}">
                      <a16:colId xmlns:a16="http://schemas.microsoft.com/office/drawing/2014/main" val="2740849358"/>
                    </a:ext>
                  </a:extLst>
                </a:gridCol>
                <a:gridCol w="2117816">
                  <a:extLst>
                    <a:ext uri="{9D8B030D-6E8A-4147-A177-3AD203B41FA5}">
                      <a16:colId xmlns:a16="http://schemas.microsoft.com/office/drawing/2014/main" val="2338608995"/>
                    </a:ext>
                  </a:extLst>
                </a:gridCol>
                <a:gridCol w="1143002">
                  <a:extLst>
                    <a:ext uri="{9D8B030D-6E8A-4147-A177-3AD203B41FA5}">
                      <a16:colId xmlns:a16="http://schemas.microsoft.com/office/drawing/2014/main" val="2793339135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Load-Load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Load-Store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Store-Store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Store-Load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Consistence Model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CPU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7066902"/>
                  </a:ext>
                </a:extLst>
              </a:tr>
              <a:tr h="4962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√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dirty="0">
                          <a:latin typeface="Arial Narrow" panose="020B0606020202030204" pitchFamily="34" charset="0"/>
                        </a:rPr>
                        <a:t>√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dirty="0">
                          <a:latin typeface="Arial Narrow" panose="020B0606020202030204" pitchFamily="34" charset="0"/>
                        </a:rPr>
                        <a:t>√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dirty="0">
                          <a:latin typeface="Arial Narrow" panose="020B0606020202030204" pitchFamily="34" charset="0"/>
                        </a:rPr>
                        <a:t>√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Arial Narrow" panose="020B0606020202030204" pitchFamily="34" charset="0"/>
                        </a:rPr>
                        <a:t>Sequential Consistency</a:t>
                      </a:r>
                      <a:endParaRPr lang="zh-CN" altLang="en-US" dirty="0"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Arial Narrow" panose="020B0606020202030204" pitchFamily="34" charset="0"/>
                        </a:rPr>
                        <a:t>Dual 386</a:t>
                      </a:r>
                      <a:endParaRPr lang="zh-CN" altLang="en-US" dirty="0"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6436216"/>
                  </a:ext>
                </a:extLst>
              </a:tr>
              <a:tr h="4962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√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dirty="0">
                          <a:latin typeface="Arial Narrow" panose="020B0606020202030204" pitchFamily="34" charset="0"/>
                        </a:rPr>
                        <a:t>√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dirty="0">
                          <a:latin typeface="Arial Narrow" panose="020B0606020202030204" pitchFamily="34" charset="0"/>
                        </a:rPr>
                        <a:t>√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Arial Narrow" panose="020B0606020202030204" pitchFamily="34" charset="0"/>
                        </a:rPr>
                        <a:t>Total Store</a:t>
                      </a:r>
                      <a:r>
                        <a:rPr lang="zh-CN" altLang="en-US" dirty="0"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en-US" altLang="zh-CN" dirty="0">
                          <a:latin typeface="Arial Narrow" panose="020B0606020202030204" pitchFamily="34" charset="0"/>
                        </a:rPr>
                        <a:t>Order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Arial Narrow" panose="020B0606020202030204" pitchFamily="34" charset="0"/>
                        </a:rPr>
                        <a:t>X86/64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3624706"/>
                  </a:ext>
                </a:extLst>
              </a:tr>
              <a:tr h="4962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√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dirty="0">
                          <a:latin typeface="Arial Narrow" panose="020B0606020202030204" pitchFamily="34" charset="0"/>
                        </a:rPr>
                        <a:t>√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Arial Narrow" panose="020B0606020202030204" pitchFamily="34" charset="0"/>
                        </a:rPr>
                        <a:t>Partial Store Order</a:t>
                      </a:r>
                      <a:endParaRPr lang="zh-CN" altLang="en-US" dirty="0"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Arial Narrow" panose="020B0606020202030204" pitchFamily="34" charset="0"/>
                        </a:rPr>
                        <a:t>Arm</a:t>
                      </a:r>
                      <a:endParaRPr lang="zh-CN" altLang="en-US" dirty="0"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8422283"/>
                  </a:ext>
                </a:extLst>
              </a:tr>
              <a:tr h="496255">
                <a:tc>
                  <a:txBody>
                    <a:bodyPr/>
                    <a:lstStyle/>
                    <a:p>
                      <a:pPr algn="ctr"/>
                      <a:endParaRPr lang="zh-CN" altLang="en-US"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Arial Narrow" panose="020B0606020202030204" pitchFamily="34" charset="0"/>
                        </a:rPr>
                        <a:t>Really weak memory model</a:t>
                      </a:r>
                      <a:endParaRPr lang="zh-CN" altLang="en-US" sz="1400" dirty="0"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Arial Narrow" panose="020B0606020202030204" pitchFamily="34" charset="0"/>
                        </a:rPr>
                        <a:t>DEC Alpha</a:t>
                      </a:r>
                      <a:endParaRPr lang="zh-CN" altLang="en-US" dirty="0">
                        <a:latin typeface="Arial Narrow" panose="020B0606020202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8620590"/>
                  </a:ext>
                </a:extLst>
              </a:tr>
            </a:tbl>
          </a:graphicData>
        </a:graphic>
      </p:graphicFrame>
      <p:sp>
        <p:nvSpPr>
          <p:cNvPr id="6" name="Rectangle 36">
            <a:extLst>
              <a:ext uri="{FF2B5EF4-FFF2-40B4-BE49-F238E27FC236}">
                <a16:creationId xmlns:a16="http://schemas.microsoft.com/office/drawing/2014/main" id="{8AD9E7D2-4795-4EC8-A733-F18634A60049}"/>
              </a:ext>
            </a:extLst>
          </p:cNvPr>
          <p:cNvSpPr/>
          <p:nvPr/>
        </p:nvSpPr>
        <p:spPr>
          <a:xfrm flipV="1">
            <a:off x="269346" y="2590800"/>
            <a:ext cx="8305800" cy="6096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338376"/>
      </p:ext>
    </p:extLst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8610600" cy="762000"/>
          </a:xfrm>
        </p:spPr>
        <p:txBody>
          <a:bodyPr/>
          <a:lstStyle/>
          <a:p>
            <a:r>
              <a:rPr lang="en-US" altLang="zh-CN" dirty="0">
                <a:ea typeface="ＭＳ Ｐゴシック" charset="-128"/>
              </a:rPr>
              <a:t>Partial Store Order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990600"/>
            <a:ext cx="8686800" cy="5194300"/>
          </a:xfrm>
        </p:spPr>
        <p:txBody>
          <a:bodyPr/>
          <a:lstStyle/>
          <a:p>
            <a:pPr marL="342900" lvl="1" indent="-342900"/>
            <a:r>
              <a:rPr lang="en-US" altLang="zh-CN" b="1" dirty="0">
                <a:ea typeface="ＭＳ Ｐゴシック" charset="-128"/>
              </a:rPr>
              <a:t>Total Store Order:</a:t>
            </a:r>
            <a:endParaRPr lang="en-US" altLang="en-US" dirty="0">
              <a:ea typeface="ＭＳ Ｐゴシック" charset="-128"/>
            </a:endParaRPr>
          </a:p>
          <a:p>
            <a:pPr marL="695325" lvl="2" indent="-342900"/>
            <a:r>
              <a:rPr lang="en-US" altLang="en-US" dirty="0">
                <a:ea typeface="ＭＳ Ｐゴシック" charset="-128"/>
              </a:rPr>
              <a:t>Load-Load</a:t>
            </a:r>
          </a:p>
          <a:p>
            <a:pPr marL="695325" lvl="2" indent="-342900"/>
            <a:r>
              <a:rPr lang="en-US" altLang="en-US" dirty="0">
                <a:ea typeface="ＭＳ Ｐゴシック" charset="-128"/>
              </a:rPr>
              <a:t>Load-Store</a:t>
            </a:r>
          </a:p>
          <a:p>
            <a:pPr marL="695325" lvl="2" indent="-342900"/>
            <a:endParaRPr lang="en-US" altLang="en-US" dirty="0">
              <a:ea typeface="ＭＳ Ｐゴシック" charset="-128"/>
            </a:endParaRPr>
          </a:p>
          <a:p>
            <a:r>
              <a:rPr lang="en-US" altLang="zh-CN" b="1" dirty="0">
                <a:ea typeface="ＭＳ Ｐゴシック" charset="-128"/>
              </a:rPr>
              <a:t>Partial Store Order == Total Store Order + Write coalescing</a:t>
            </a:r>
          </a:p>
          <a:p>
            <a:pPr marL="695325" lvl="2" indent="-342900"/>
            <a:r>
              <a:rPr lang="en-US" altLang="en-US" dirty="0">
                <a:solidFill>
                  <a:srgbClr val="0432FF"/>
                </a:solidFill>
                <a:ea typeface="ＭＳ Ｐゴシック" charset="-128"/>
              </a:rPr>
              <a:t>Write coalescing</a:t>
            </a:r>
            <a:r>
              <a:rPr lang="en-US" altLang="en-US" dirty="0">
                <a:ea typeface="ＭＳ Ｐゴシック" charset="-128"/>
              </a:rPr>
              <a:t>: merge writes to the same cache line inside the write buffer to save memory bandwidth</a:t>
            </a:r>
          </a:p>
          <a:p>
            <a:pPr marL="695325" lvl="2" indent="-342900"/>
            <a:r>
              <a:rPr lang="en-US" altLang="en-US" dirty="0">
                <a:solidFill>
                  <a:srgbClr val="FF0000"/>
                </a:solidFill>
                <a:ea typeface="ＭＳ Ｐゴシック" charset="-128"/>
              </a:rPr>
              <a:t>Store-store order is not preserved.</a:t>
            </a:r>
            <a:r>
              <a:rPr lang="en-US" altLang="en-US" dirty="0">
                <a:ea typeface="ＭＳ Ｐゴシック" charset="-128"/>
              </a:rPr>
              <a:t> </a:t>
            </a:r>
            <a:endParaRPr lang="en-US" altLang="en-US" dirty="0">
              <a:solidFill>
                <a:srgbClr val="FF0000"/>
              </a:solidFill>
              <a:ea typeface="ＭＳ Ｐゴシック" charset="-128"/>
            </a:endParaRPr>
          </a:p>
        </p:txBody>
      </p:sp>
      <p:sp>
        <p:nvSpPr>
          <p:cNvPr id="64515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D2C48AD6-E1AC-E041-A3BD-333E0F20253C}" type="slidenum">
              <a:rPr lang="en-US" altLang="en-US" sz="1600">
                <a:solidFill>
                  <a:srgbClr val="000000"/>
                </a:solidFill>
                <a:latin typeface="Garamond" charset="0"/>
              </a:rPr>
              <a:pPr eaLnBrk="1" hangingPunct="1"/>
              <a:t>56</a:t>
            </a:fld>
            <a:endParaRPr lang="en-US" altLang="en-US" sz="1600">
              <a:solidFill>
                <a:srgbClr val="000000"/>
              </a:solidFill>
              <a:latin typeface="Garamon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10051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8610600" cy="762000"/>
          </a:xfrm>
        </p:spPr>
        <p:txBody>
          <a:bodyPr/>
          <a:lstStyle/>
          <a:p>
            <a:r>
              <a:rPr lang="en-US" altLang="zh-CN" dirty="0">
                <a:ea typeface="ＭＳ Ｐゴシック" charset="-128"/>
              </a:rPr>
              <a:t>Intuitive Example of Write Coalescing</a:t>
            </a:r>
          </a:p>
        </p:txBody>
      </p:sp>
      <p:sp>
        <p:nvSpPr>
          <p:cNvPr id="64515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D2C48AD6-E1AC-E041-A3BD-333E0F20253C}" type="slidenum">
              <a:rPr lang="en-US" altLang="en-US" sz="1600">
                <a:solidFill>
                  <a:srgbClr val="000000"/>
                </a:solidFill>
                <a:latin typeface="Garamond" charset="0"/>
              </a:rPr>
              <a:pPr eaLnBrk="1" hangingPunct="1"/>
              <a:t>57</a:t>
            </a:fld>
            <a:endParaRPr lang="en-US" altLang="en-US" sz="1600">
              <a:solidFill>
                <a:srgbClr val="000000"/>
              </a:solidFill>
              <a:latin typeface="Garamond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A6C880B-C640-49A3-949D-6671ECCDADC3}"/>
              </a:ext>
            </a:extLst>
          </p:cNvPr>
          <p:cNvSpPr txBox="1">
            <a:spLocks/>
          </p:cNvSpPr>
          <p:nvPr/>
        </p:nvSpPr>
        <p:spPr bwMode="auto">
          <a:xfrm>
            <a:off x="-304801" y="1104900"/>
            <a:ext cx="2398701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charset="2"/>
              <a:buChar char="n"/>
              <a:defRPr sz="2400">
                <a:solidFill>
                  <a:schemeClr val="tx1"/>
                </a:solidFill>
                <a:latin typeface="+mn-lt"/>
                <a:ea typeface="ＭＳ Ｐゴシック" pitchFamily="-107" charset="-128"/>
                <a:cs typeface="ＭＳ Ｐゴシック" pitchFamily="-107" charset="-128"/>
              </a:defRPr>
            </a:lvl1pPr>
            <a:lvl2pPr marL="669925" indent="-325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charset="2"/>
              <a:buChar char="q"/>
              <a:defRPr sz="2200">
                <a:solidFill>
                  <a:schemeClr val="tx1"/>
                </a:solidFill>
                <a:latin typeface="+mn-lt"/>
                <a:ea typeface="ＭＳ Ｐゴシック" pitchFamily="-107" charset="-128"/>
              </a:defRPr>
            </a:lvl2pPr>
            <a:lvl3pPr marL="1022350" indent="-350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charset="2"/>
              <a:buChar char="n"/>
              <a:defRPr sz="2000">
                <a:solidFill>
                  <a:schemeClr val="tx1"/>
                </a:solidFill>
                <a:latin typeface="+mn-lt"/>
                <a:ea typeface="ＭＳ Ｐゴシック" pitchFamily="-107" charset="-128"/>
              </a:defRPr>
            </a:lvl3pPr>
            <a:lvl4pPr marL="1339850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q"/>
              <a:defRPr>
                <a:solidFill>
                  <a:schemeClr val="tx1"/>
                </a:solidFill>
                <a:latin typeface="+mn-lt"/>
                <a:ea typeface="ＭＳ Ｐゴシック" pitchFamily="-107" charset="-128"/>
              </a:defRPr>
            </a:lvl4pPr>
            <a:lvl5pPr marL="16811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charset="2"/>
              <a:buChar char="§"/>
              <a:defRPr sz="1600">
                <a:solidFill>
                  <a:schemeClr val="tx1"/>
                </a:solidFill>
                <a:latin typeface="+mn-lt"/>
                <a:ea typeface="ＭＳ Ｐゴシック" pitchFamily="-107" charset="-128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altLang="en-US" kern="0" dirty="0">
                <a:ea typeface="ＭＳ Ｐゴシック" charset="-128"/>
              </a:rPr>
              <a:t>            </a:t>
            </a:r>
            <a:r>
              <a:rPr lang="en-US" altLang="en-US" b="1" kern="0" dirty="0">
                <a:latin typeface="Arial Narrow" panose="020B0606020202030204" pitchFamily="34" charset="0"/>
                <a:ea typeface="ＭＳ Ｐゴシック" charset="-128"/>
              </a:rPr>
              <a:t>Code</a:t>
            </a: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</a:rPr>
              <a:t>:</a:t>
            </a:r>
          </a:p>
          <a:p>
            <a:pPr marL="0" indent="0">
              <a:buNone/>
            </a:pP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</a:rPr>
              <a:t>              </a:t>
            </a:r>
            <a:r>
              <a:rPr lang="en-US" altLang="en-US" kern="0" dirty="0">
                <a:solidFill>
                  <a:srgbClr val="0070C0"/>
                </a:solidFill>
                <a:latin typeface="Arial Narrow" panose="020B0606020202030204" pitchFamily="34" charset="0"/>
                <a:ea typeface="ＭＳ Ｐゴシック" charset="-128"/>
              </a:rPr>
              <a:t>A[0]</a:t>
            </a: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</a:rPr>
              <a:t>   = 8</a:t>
            </a:r>
          </a:p>
          <a:p>
            <a:pPr marL="0" indent="0">
              <a:buNone/>
            </a:pP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</a:rPr>
              <a:t>              A[5]   = 8</a:t>
            </a:r>
          </a:p>
          <a:p>
            <a:pPr marL="0" indent="0">
              <a:buNone/>
            </a:pP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</a:rPr>
              <a:t>              </a:t>
            </a:r>
            <a:r>
              <a:rPr lang="en-US" altLang="en-US" kern="0" dirty="0">
                <a:solidFill>
                  <a:srgbClr val="C00000"/>
                </a:solidFill>
                <a:latin typeface="Arial Narrow" panose="020B0606020202030204" pitchFamily="34" charset="0"/>
                <a:ea typeface="ＭＳ Ｐゴシック" charset="-128"/>
              </a:rPr>
              <a:t>A[11] </a:t>
            </a: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</a:rPr>
              <a:t>= 8</a:t>
            </a:r>
          </a:p>
          <a:p>
            <a:pPr marL="0" indent="0">
              <a:buNone/>
            </a:pPr>
            <a:endParaRPr lang="en-US" altLang="en-US" kern="0" dirty="0">
              <a:ea typeface="ＭＳ Ｐゴシック" charset="-128"/>
            </a:endParaRPr>
          </a:p>
          <a:p>
            <a:endParaRPr lang="en-US" altLang="en-US" kern="0" dirty="0">
              <a:ea typeface="ＭＳ Ｐゴシック" charset="-128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F9FDCA27-98B7-49D0-A3FD-AAB7EAD040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0307147"/>
              </p:ext>
            </p:extLst>
          </p:nvPr>
        </p:nvGraphicFramePr>
        <p:xfrm>
          <a:off x="2254386" y="1598996"/>
          <a:ext cx="4522652" cy="10972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30663">
                  <a:extLst>
                    <a:ext uri="{9D8B030D-6E8A-4147-A177-3AD203B41FA5}">
                      <a16:colId xmlns:a16="http://schemas.microsoft.com/office/drawing/2014/main" val="2745326453"/>
                    </a:ext>
                  </a:extLst>
                </a:gridCol>
                <a:gridCol w="1130663">
                  <a:extLst>
                    <a:ext uri="{9D8B030D-6E8A-4147-A177-3AD203B41FA5}">
                      <a16:colId xmlns:a16="http://schemas.microsoft.com/office/drawing/2014/main" val="309705083"/>
                    </a:ext>
                  </a:extLst>
                </a:gridCol>
                <a:gridCol w="1130663">
                  <a:extLst>
                    <a:ext uri="{9D8B030D-6E8A-4147-A177-3AD203B41FA5}">
                      <a16:colId xmlns:a16="http://schemas.microsoft.com/office/drawing/2014/main" val="592042806"/>
                    </a:ext>
                  </a:extLst>
                </a:gridCol>
                <a:gridCol w="1130663">
                  <a:extLst>
                    <a:ext uri="{9D8B030D-6E8A-4147-A177-3AD203B41FA5}">
                      <a16:colId xmlns:a16="http://schemas.microsoft.com/office/drawing/2014/main" val="2706972426"/>
                    </a:ext>
                  </a:extLst>
                </a:gridCol>
              </a:tblGrid>
              <a:tr h="362938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9843998"/>
                  </a:ext>
                </a:extLst>
              </a:tr>
              <a:tr h="362938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1106251"/>
                  </a:ext>
                </a:extLst>
              </a:tr>
              <a:tr h="362938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0032743"/>
                  </a:ext>
                </a:extLst>
              </a:tr>
            </a:tbl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32996C51-AD15-40F6-A630-85296D7716A0}"/>
              </a:ext>
            </a:extLst>
          </p:cNvPr>
          <p:cNvSpPr/>
          <p:nvPr/>
        </p:nvSpPr>
        <p:spPr>
          <a:xfrm>
            <a:off x="4114800" y="1138767"/>
            <a:ext cx="13083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b="1" kern="0" dirty="0">
                <a:latin typeface="Arial Narrow" panose="020B0606020202030204" pitchFamily="34" charset="0"/>
                <a:ea typeface="ＭＳ Ｐゴシック" charset="-128"/>
              </a:rPr>
              <a:t>Write buffer: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D22669B-CC2C-411F-8D6F-8A8FC916C37A}"/>
              </a:ext>
            </a:extLst>
          </p:cNvPr>
          <p:cNvSpPr/>
          <p:nvPr/>
        </p:nvSpPr>
        <p:spPr>
          <a:xfrm>
            <a:off x="2482986" y="1607464"/>
            <a:ext cx="9509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>
              <a:buNone/>
            </a:pPr>
            <a:r>
              <a:rPr lang="en-US" altLang="en-US" kern="0" dirty="0">
                <a:solidFill>
                  <a:srgbClr val="0070C0"/>
                </a:solidFill>
                <a:latin typeface="Arial Narrow" panose="020B0606020202030204" pitchFamily="34" charset="0"/>
                <a:ea typeface="ＭＳ Ｐゴシック" charset="-128"/>
              </a:rPr>
              <a:t>A[0]</a:t>
            </a: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</a:rPr>
              <a:t>   = 8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27E7B2F-D703-4A2F-99CB-04CBC406C55A}"/>
              </a:ext>
            </a:extLst>
          </p:cNvPr>
          <p:cNvSpPr/>
          <p:nvPr/>
        </p:nvSpPr>
        <p:spPr>
          <a:xfrm>
            <a:off x="3517710" y="1976796"/>
            <a:ext cx="9509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</a:rPr>
              <a:t>A[5]   = 8</a:t>
            </a:r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F0823B1-BC5C-4808-91BC-337671D16DE7}"/>
              </a:ext>
            </a:extLst>
          </p:cNvPr>
          <p:cNvSpPr/>
          <p:nvPr/>
        </p:nvSpPr>
        <p:spPr>
          <a:xfrm>
            <a:off x="5715000" y="2326944"/>
            <a:ext cx="9509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>
              <a:buNone/>
            </a:pPr>
            <a:r>
              <a:rPr lang="en-US" altLang="en-US" kern="0" dirty="0">
                <a:solidFill>
                  <a:srgbClr val="C00000"/>
                </a:solidFill>
                <a:latin typeface="Arial Narrow" panose="020B0606020202030204" pitchFamily="34" charset="0"/>
                <a:ea typeface="ＭＳ Ｐゴシック" charset="-128"/>
              </a:rPr>
              <a:t>A[11] </a:t>
            </a: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</a:rPr>
              <a:t>= 8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27D1B54-3AB7-445E-86DA-8724DD0CB795}"/>
              </a:ext>
            </a:extLst>
          </p:cNvPr>
          <p:cNvSpPr/>
          <p:nvPr/>
        </p:nvSpPr>
        <p:spPr>
          <a:xfrm>
            <a:off x="7550267" y="1132628"/>
            <a:ext cx="10903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b="1" kern="0" dirty="0">
                <a:latin typeface="Arial Narrow" panose="020B0606020202030204" pitchFamily="34" charset="0"/>
                <a:ea typeface="ＭＳ Ｐゴシック" charset="-128"/>
              </a:rPr>
              <a:t>Executed:</a:t>
            </a:r>
            <a:endParaRPr lang="zh-CN" altLang="en-US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BD351F9-8727-4BBA-AFCF-15079F9E1DBD}"/>
              </a:ext>
            </a:extLst>
          </p:cNvPr>
          <p:cNvSpPr/>
          <p:nvPr/>
        </p:nvSpPr>
        <p:spPr>
          <a:xfrm>
            <a:off x="7620000" y="1516592"/>
            <a:ext cx="9509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>
              <a:buNone/>
            </a:pPr>
            <a:r>
              <a:rPr lang="en-US" altLang="en-US" kern="0" dirty="0">
                <a:solidFill>
                  <a:srgbClr val="0070C0"/>
                </a:solidFill>
                <a:latin typeface="Arial Narrow" panose="020B0606020202030204" pitchFamily="34" charset="0"/>
                <a:ea typeface="ＭＳ Ｐゴシック" charset="-128"/>
              </a:rPr>
              <a:t>A[0]</a:t>
            </a: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</a:rPr>
              <a:t>   = 8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7E68F0A-34F8-43F0-98A6-672AD3FAE88C}"/>
              </a:ext>
            </a:extLst>
          </p:cNvPr>
          <p:cNvSpPr/>
          <p:nvPr/>
        </p:nvSpPr>
        <p:spPr>
          <a:xfrm>
            <a:off x="7624233" y="1940507"/>
            <a:ext cx="9509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</a:rPr>
              <a:t>A[5]   = 8</a:t>
            </a:r>
            <a:endParaRPr lang="zh-CN" altLang="en-US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FA68349-7959-46EE-AF24-BF579527349C}"/>
              </a:ext>
            </a:extLst>
          </p:cNvPr>
          <p:cNvSpPr/>
          <p:nvPr/>
        </p:nvSpPr>
        <p:spPr>
          <a:xfrm>
            <a:off x="7619999" y="2326944"/>
            <a:ext cx="9509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>
              <a:buNone/>
            </a:pPr>
            <a:r>
              <a:rPr lang="en-US" altLang="en-US" kern="0" dirty="0">
                <a:solidFill>
                  <a:srgbClr val="C00000"/>
                </a:solidFill>
                <a:latin typeface="Arial Narrow" panose="020B0606020202030204" pitchFamily="34" charset="0"/>
                <a:ea typeface="ＭＳ Ｐゴシック" charset="-128"/>
              </a:rPr>
              <a:t>A[11] </a:t>
            </a: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</a:rPr>
              <a:t>= 8</a:t>
            </a:r>
          </a:p>
        </p:txBody>
      </p:sp>
      <p:sp>
        <p:nvSpPr>
          <p:cNvPr id="10" name="内容占位符 9">
            <a:extLst>
              <a:ext uri="{FF2B5EF4-FFF2-40B4-BE49-F238E27FC236}">
                <a16:creationId xmlns:a16="http://schemas.microsoft.com/office/drawing/2014/main" id="{CC595379-1B19-423B-9FF1-D57EDEB01C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7800" y="5719233"/>
            <a:ext cx="7391400" cy="689889"/>
          </a:xfrm>
        </p:spPr>
        <p:txBody>
          <a:bodyPr/>
          <a:lstStyle/>
          <a:p>
            <a:r>
              <a:rPr lang="en-US" altLang="zh-CN" dirty="0">
                <a:solidFill>
                  <a:srgbClr val="C00000"/>
                </a:solidFill>
              </a:rPr>
              <a:t>Writing to A[3] and </a:t>
            </a:r>
            <a:r>
              <a:rPr lang="en-US" altLang="en-US" dirty="0">
                <a:solidFill>
                  <a:srgbClr val="C00000"/>
                </a:solidFill>
              </a:rPr>
              <a:t>A[5] is re-ordered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01EE1C6B-40F2-408D-9071-88B2F59B726E}"/>
              </a:ext>
            </a:extLst>
          </p:cNvPr>
          <p:cNvSpPr txBox="1">
            <a:spLocks/>
          </p:cNvSpPr>
          <p:nvPr/>
        </p:nvSpPr>
        <p:spPr bwMode="auto">
          <a:xfrm>
            <a:off x="-304800" y="3658614"/>
            <a:ext cx="2438400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charset="2"/>
              <a:buChar char="n"/>
              <a:defRPr sz="2400">
                <a:solidFill>
                  <a:schemeClr val="tx1"/>
                </a:solidFill>
                <a:latin typeface="+mn-lt"/>
                <a:ea typeface="ＭＳ Ｐゴシック" pitchFamily="-107" charset="-128"/>
                <a:cs typeface="ＭＳ Ｐゴシック" pitchFamily="-107" charset="-128"/>
              </a:defRPr>
            </a:lvl1pPr>
            <a:lvl2pPr marL="669925" indent="-325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charset="2"/>
              <a:buChar char="q"/>
              <a:defRPr sz="2200">
                <a:solidFill>
                  <a:schemeClr val="tx1"/>
                </a:solidFill>
                <a:latin typeface="+mn-lt"/>
                <a:ea typeface="ＭＳ Ｐゴシック" pitchFamily="-107" charset="-128"/>
              </a:defRPr>
            </a:lvl2pPr>
            <a:lvl3pPr marL="1022350" indent="-350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charset="2"/>
              <a:buChar char="n"/>
              <a:defRPr sz="2000">
                <a:solidFill>
                  <a:schemeClr val="tx1"/>
                </a:solidFill>
                <a:latin typeface="+mn-lt"/>
                <a:ea typeface="ＭＳ Ｐゴシック" pitchFamily="-107" charset="-128"/>
              </a:defRPr>
            </a:lvl3pPr>
            <a:lvl4pPr marL="1339850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q"/>
              <a:defRPr>
                <a:solidFill>
                  <a:schemeClr val="tx1"/>
                </a:solidFill>
                <a:latin typeface="+mn-lt"/>
                <a:ea typeface="ＭＳ Ｐゴシック" pitchFamily="-107" charset="-128"/>
              </a:defRPr>
            </a:lvl4pPr>
            <a:lvl5pPr marL="16811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charset="2"/>
              <a:buChar char="§"/>
              <a:defRPr sz="1600">
                <a:solidFill>
                  <a:schemeClr val="tx1"/>
                </a:solidFill>
                <a:latin typeface="+mn-lt"/>
                <a:ea typeface="ＭＳ Ｐゴシック" pitchFamily="-107" charset="-128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altLang="en-US" kern="0" dirty="0">
                <a:ea typeface="ＭＳ Ｐゴシック" charset="-128"/>
              </a:rPr>
              <a:t>            </a:t>
            </a:r>
            <a:r>
              <a:rPr lang="en-US" altLang="en-US" b="1" kern="0" dirty="0">
                <a:latin typeface="Arial Narrow" panose="020B0606020202030204" pitchFamily="34" charset="0"/>
                <a:ea typeface="ＭＳ Ｐゴシック" charset="-128"/>
              </a:rPr>
              <a:t>Code</a:t>
            </a: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</a:rPr>
              <a:t>:</a:t>
            </a:r>
          </a:p>
          <a:p>
            <a:pPr marL="0" indent="0">
              <a:buNone/>
            </a:pP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</a:rPr>
              <a:t>              </a:t>
            </a:r>
            <a:r>
              <a:rPr lang="en-US" altLang="en-US" kern="0" dirty="0">
                <a:solidFill>
                  <a:srgbClr val="0070C0"/>
                </a:solidFill>
                <a:latin typeface="Arial Narrow" panose="020B0606020202030204" pitchFamily="34" charset="0"/>
                <a:ea typeface="ＭＳ Ｐゴシック" charset="-128"/>
              </a:rPr>
              <a:t>A[0]</a:t>
            </a: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</a:rPr>
              <a:t>  = 8</a:t>
            </a:r>
          </a:p>
          <a:p>
            <a:pPr marL="0" indent="0">
              <a:buNone/>
            </a:pP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</a:rPr>
              <a:t>              A[5]  = 8</a:t>
            </a:r>
          </a:p>
          <a:p>
            <a:pPr marL="0" indent="0">
              <a:buNone/>
            </a:pP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</a:rPr>
              <a:t>              </a:t>
            </a:r>
            <a:r>
              <a:rPr lang="en-US" altLang="en-US" kern="0" dirty="0">
                <a:solidFill>
                  <a:srgbClr val="C00000"/>
                </a:solidFill>
                <a:latin typeface="Arial Narrow" panose="020B0606020202030204" pitchFamily="34" charset="0"/>
                <a:ea typeface="ＭＳ Ｐゴシック" charset="-128"/>
              </a:rPr>
              <a:t>A[3]  </a:t>
            </a: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</a:rPr>
              <a:t>= 8</a:t>
            </a:r>
          </a:p>
          <a:p>
            <a:pPr marL="0" indent="0">
              <a:buNone/>
            </a:pPr>
            <a:endParaRPr lang="en-US" altLang="en-US" kern="0" dirty="0">
              <a:ea typeface="ＭＳ Ｐゴシック" charset="-128"/>
            </a:endParaRPr>
          </a:p>
          <a:p>
            <a:endParaRPr lang="en-US" altLang="en-US" kern="0" dirty="0">
              <a:ea typeface="ＭＳ Ｐゴシック" charset="-128"/>
            </a:endParaRPr>
          </a:p>
        </p:txBody>
      </p:sp>
      <p:graphicFrame>
        <p:nvGraphicFramePr>
          <p:cNvPr id="23" name="表格 22">
            <a:extLst>
              <a:ext uri="{FF2B5EF4-FFF2-40B4-BE49-F238E27FC236}">
                <a16:creationId xmlns:a16="http://schemas.microsoft.com/office/drawing/2014/main" id="{E11FC093-DB58-44F6-AEF4-4DBFA21112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3911382"/>
              </p:ext>
            </p:extLst>
          </p:nvPr>
        </p:nvGraphicFramePr>
        <p:xfrm>
          <a:off x="2294085" y="4152710"/>
          <a:ext cx="4522652" cy="10972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30663">
                  <a:extLst>
                    <a:ext uri="{9D8B030D-6E8A-4147-A177-3AD203B41FA5}">
                      <a16:colId xmlns:a16="http://schemas.microsoft.com/office/drawing/2014/main" val="2745326453"/>
                    </a:ext>
                  </a:extLst>
                </a:gridCol>
                <a:gridCol w="1130663">
                  <a:extLst>
                    <a:ext uri="{9D8B030D-6E8A-4147-A177-3AD203B41FA5}">
                      <a16:colId xmlns:a16="http://schemas.microsoft.com/office/drawing/2014/main" val="309705083"/>
                    </a:ext>
                  </a:extLst>
                </a:gridCol>
                <a:gridCol w="1130663">
                  <a:extLst>
                    <a:ext uri="{9D8B030D-6E8A-4147-A177-3AD203B41FA5}">
                      <a16:colId xmlns:a16="http://schemas.microsoft.com/office/drawing/2014/main" val="592042806"/>
                    </a:ext>
                  </a:extLst>
                </a:gridCol>
                <a:gridCol w="1130663">
                  <a:extLst>
                    <a:ext uri="{9D8B030D-6E8A-4147-A177-3AD203B41FA5}">
                      <a16:colId xmlns:a16="http://schemas.microsoft.com/office/drawing/2014/main" val="2706972426"/>
                    </a:ext>
                  </a:extLst>
                </a:gridCol>
              </a:tblGrid>
              <a:tr h="362938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9843998"/>
                  </a:ext>
                </a:extLst>
              </a:tr>
              <a:tr h="362938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1106251"/>
                  </a:ext>
                </a:extLst>
              </a:tr>
              <a:tr h="362938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0032743"/>
                  </a:ext>
                </a:extLst>
              </a:tr>
            </a:tbl>
          </a:graphicData>
        </a:graphic>
      </p:graphicFrame>
      <p:sp>
        <p:nvSpPr>
          <p:cNvPr id="24" name="矩形 23">
            <a:extLst>
              <a:ext uri="{FF2B5EF4-FFF2-40B4-BE49-F238E27FC236}">
                <a16:creationId xmlns:a16="http://schemas.microsoft.com/office/drawing/2014/main" id="{A8F2E396-7453-4BF6-AA31-89160F05F7DF}"/>
              </a:ext>
            </a:extLst>
          </p:cNvPr>
          <p:cNvSpPr/>
          <p:nvPr/>
        </p:nvSpPr>
        <p:spPr>
          <a:xfrm>
            <a:off x="4154499" y="3692481"/>
            <a:ext cx="13083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b="1" kern="0" dirty="0">
                <a:latin typeface="Arial Narrow" panose="020B0606020202030204" pitchFamily="34" charset="0"/>
                <a:ea typeface="ＭＳ Ｐゴシック" charset="-128"/>
              </a:rPr>
              <a:t>Write buffer:</a:t>
            </a:r>
            <a:endParaRPr lang="zh-CN" altLang="en-US" dirty="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6307A69-6BCA-475F-9B3D-BCF4CFCE67F4}"/>
              </a:ext>
            </a:extLst>
          </p:cNvPr>
          <p:cNvSpPr/>
          <p:nvPr/>
        </p:nvSpPr>
        <p:spPr>
          <a:xfrm>
            <a:off x="2522685" y="4161178"/>
            <a:ext cx="9509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>
              <a:buNone/>
            </a:pPr>
            <a:r>
              <a:rPr lang="en-US" altLang="en-US" kern="0" dirty="0">
                <a:solidFill>
                  <a:srgbClr val="0070C0"/>
                </a:solidFill>
                <a:latin typeface="Arial Narrow" panose="020B0606020202030204" pitchFamily="34" charset="0"/>
                <a:ea typeface="ＭＳ Ｐゴシック" charset="-128"/>
              </a:rPr>
              <a:t>A[0]</a:t>
            </a: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</a:rPr>
              <a:t>   = 8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D979A73-22D3-4241-A96D-BE39DF821E7A}"/>
              </a:ext>
            </a:extLst>
          </p:cNvPr>
          <p:cNvSpPr/>
          <p:nvPr/>
        </p:nvSpPr>
        <p:spPr>
          <a:xfrm>
            <a:off x="3557409" y="4530510"/>
            <a:ext cx="9509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</a:rPr>
              <a:t>A[5]   = 8</a:t>
            </a:r>
            <a:endParaRPr lang="zh-CN" altLang="en-US" dirty="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6D69CA8-04A6-4B0F-BECE-FB3054B9E042}"/>
              </a:ext>
            </a:extLst>
          </p:cNvPr>
          <p:cNvSpPr/>
          <p:nvPr/>
        </p:nvSpPr>
        <p:spPr>
          <a:xfrm>
            <a:off x="5746234" y="4165410"/>
            <a:ext cx="8451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>
              <a:buNone/>
            </a:pPr>
            <a:r>
              <a:rPr lang="en-US" altLang="en-US" kern="0" dirty="0">
                <a:solidFill>
                  <a:srgbClr val="C00000"/>
                </a:solidFill>
                <a:latin typeface="Arial Narrow" panose="020B0606020202030204" pitchFamily="34" charset="0"/>
                <a:ea typeface="ＭＳ Ｐゴシック" charset="-128"/>
              </a:rPr>
              <a:t>A[3] </a:t>
            </a: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</a:rPr>
              <a:t>= 8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5C2BAB6-F6B9-4107-9326-AD8D0140E84F}"/>
              </a:ext>
            </a:extLst>
          </p:cNvPr>
          <p:cNvSpPr/>
          <p:nvPr/>
        </p:nvSpPr>
        <p:spPr>
          <a:xfrm>
            <a:off x="7589966" y="3686342"/>
            <a:ext cx="10903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b="1" kern="0" dirty="0">
                <a:latin typeface="Arial Narrow" panose="020B0606020202030204" pitchFamily="34" charset="0"/>
                <a:ea typeface="ＭＳ Ｐゴシック" charset="-128"/>
              </a:rPr>
              <a:t>Executed:</a:t>
            </a:r>
            <a:endParaRPr lang="zh-CN" altLang="en-US" dirty="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30F1EC93-02C0-42E2-BB77-A8A2E2F2FD2D}"/>
              </a:ext>
            </a:extLst>
          </p:cNvPr>
          <p:cNvSpPr/>
          <p:nvPr/>
        </p:nvSpPr>
        <p:spPr>
          <a:xfrm>
            <a:off x="7659699" y="4070306"/>
            <a:ext cx="8451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>
              <a:buNone/>
            </a:pPr>
            <a:r>
              <a:rPr lang="en-US" altLang="en-US" kern="0" dirty="0">
                <a:solidFill>
                  <a:srgbClr val="0070C0"/>
                </a:solidFill>
                <a:latin typeface="Arial Narrow" panose="020B0606020202030204" pitchFamily="34" charset="0"/>
                <a:ea typeface="ＭＳ Ｐゴシック" charset="-128"/>
              </a:rPr>
              <a:t>A[0]</a:t>
            </a: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</a:rPr>
              <a:t> = 8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5383EC1-480E-4936-98AD-1864A314086C}"/>
              </a:ext>
            </a:extLst>
          </p:cNvPr>
          <p:cNvSpPr/>
          <p:nvPr/>
        </p:nvSpPr>
        <p:spPr>
          <a:xfrm>
            <a:off x="7689729" y="4932006"/>
            <a:ext cx="8451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</a:rPr>
              <a:t>A[5] = 8</a:t>
            </a:r>
            <a:endParaRPr lang="zh-CN" altLang="en-US" dirty="0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41EB7398-413C-4548-A3CC-D89260789709}"/>
              </a:ext>
            </a:extLst>
          </p:cNvPr>
          <p:cNvSpPr/>
          <p:nvPr/>
        </p:nvSpPr>
        <p:spPr>
          <a:xfrm>
            <a:off x="7672896" y="4493840"/>
            <a:ext cx="8451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>
              <a:buNone/>
            </a:pPr>
            <a:r>
              <a:rPr lang="en-US" altLang="en-US" kern="0" dirty="0">
                <a:solidFill>
                  <a:srgbClr val="C00000"/>
                </a:solidFill>
                <a:latin typeface="Arial Narrow" panose="020B0606020202030204" pitchFamily="34" charset="0"/>
                <a:ea typeface="ＭＳ Ｐゴシック" charset="-128"/>
              </a:rPr>
              <a:t>A[3] </a:t>
            </a: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</a:rPr>
              <a:t>= 8</a:t>
            </a:r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4DA677EE-289D-44C9-AC9E-1701D25DA657}"/>
              </a:ext>
            </a:extLst>
          </p:cNvPr>
          <p:cNvCxnSpPr/>
          <p:nvPr/>
        </p:nvCxnSpPr>
        <p:spPr bwMode="auto">
          <a:xfrm>
            <a:off x="127290" y="3276600"/>
            <a:ext cx="8756495" cy="0"/>
          </a:xfrm>
          <a:prstGeom prst="line">
            <a:avLst/>
          </a:prstGeom>
          <a:solidFill>
            <a:srgbClr val="C0C0C0"/>
          </a:solidFill>
          <a:ln w="19050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53179599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17" grpId="0"/>
      <p:bldP spid="18" grpId="0"/>
      <p:bldP spid="19" grpId="0"/>
      <p:bldP spid="25" grpId="0"/>
      <p:bldP spid="26" grpId="0"/>
      <p:bldP spid="27" grpId="0"/>
      <p:bldP spid="29" grpId="0"/>
      <p:bldP spid="30" grpId="0"/>
      <p:bldP spid="31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charset="-128"/>
              </a:rPr>
              <a:t>Example under Partial Store Order</a:t>
            </a:r>
            <a:endParaRPr lang="en-US" altLang="en-US" dirty="0">
              <a:ea typeface="ＭＳ Ｐゴシック" charset="-128"/>
            </a:endParaRPr>
          </a:p>
        </p:txBody>
      </p:sp>
      <p:sp>
        <p:nvSpPr>
          <p:cNvPr id="67587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05ED8F80-802B-0043-814C-28387FC40CDA}" type="slidenum">
              <a:rPr lang="en-US" altLang="en-US" sz="1600">
                <a:solidFill>
                  <a:srgbClr val="000000"/>
                </a:solidFill>
                <a:latin typeface="Garamond" charset="0"/>
              </a:rPr>
              <a:pPr eaLnBrk="1" hangingPunct="1"/>
              <a:t>58</a:t>
            </a:fld>
            <a:endParaRPr lang="en-US" altLang="en-US" sz="1600">
              <a:solidFill>
                <a:srgbClr val="000000"/>
              </a:solidFill>
              <a:latin typeface="Garamond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C4F4127-C8F2-4133-A779-1F08D09660D0}"/>
              </a:ext>
            </a:extLst>
          </p:cNvPr>
          <p:cNvSpPr txBox="1">
            <a:spLocks/>
          </p:cNvSpPr>
          <p:nvPr/>
        </p:nvSpPr>
        <p:spPr bwMode="auto">
          <a:xfrm>
            <a:off x="381000" y="3326342"/>
            <a:ext cx="8610600" cy="212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charset="2"/>
              <a:buChar char="n"/>
              <a:defRPr sz="2400">
                <a:solidFill>
                  <a:schemeClr val="tx1"/>
                </a:solidFill>
                <a:latin typeface="+mn-lt"/>
                <a:ea typeface="ＭＳ Ｐゴシック" pitchFamily="-107" charset="-128"/>
                <a:cs typeface="ＭＳ Ｐゴシック" pitchFamily="-107" charset="-128"/>
              </a:defRPr>
            </a:lvl1pPr>
            <a:lvl2pPr marL="669925" indent="-325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charset="2"/>
              <a:buChar char="q"/>
              <a:defRPr sz="2200">
                <a:solidFill>
                  <a:schemeClr val="tx1"/>
                </a:solidFill>
                <a:latin typeface="+mn-lt"/>
                <a:ea typeface="ＭＳ Ｐゴシック" pitchFamily="-107" charset="-128"/>
              </a:defRPr>
            </a:lvl2pPr>
            <a:lvl3pPr marL="1022350" indent="-350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charset="2"/>
              <a:buChar char="n"/>
              <a:defRPr sz="2000">
                <a:solidFill>
                  <a:schemeClr val="tx1"/>
                </a:solidFill>
                <a:latin typeface="+mn-lt"/>
                <a:ea typeface="ＭＳ Ｐゴシック" pitchFamily="-107" charset="-128"/>
              </a:defRPr>
            </a:lvl3pPr>
            <a:lvl4pPr marL="1339850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q"/>
              <a:defRPr>
                <a:solidFill>
                  <a:schemeClr val="tx1"/>
                </a:solidFill>
                <a:latin typeface="+mn-lt"/>
                <a:ea typeface="ＭＳ Ｐゴシック" pitchFamily="-107" charset="-128"/>
              </a:defRPr>
            </a:lvl4pPr>
            <a:lvl5pPr marL="16811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charset="2"/>
              <a:buChar char="§"/>
              <a:defRPr sz="1600">
                <a:solidFill>
                  <a:schemeClr val="tx1"/>
                </a:solidFill>
                <a:latin typeface="+mn-lt"/>
                <a:ea typeface="ＭＳ Ｐゴシック" pitchFamily="-107" charset="-128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altLang="en-US" kern="0" dirty="0">
                <a:ea typeface="ＭＳ Ｐゴシック" charset="-128"/>
              </a:rPr>
              <a:t>What is the reasonable execution order?</a:t>
            </a:r>
          </a:p>
          <a:p>
            <a:pPr lvl="1"/>
            <a:r>
              <a:rPr lang="en-US" altLang="en-US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  <a:ea typeface="ＭＳ Ｐゴシック" charset="-128"/>
              </a:rPr>
              <a:t>(1) </a:t>
            </a: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</a:t>
            </a:r>
            <a:r>
              <a:rPr lang="en-US" altLang="en-US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 (2) </a:t>
            </a: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</a:t>
            </a:r>
            <a:r>
              <a:rPr lang="en-US" altLang="en-US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 (3) </a:t>
            </a: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</a:t>
            </a:r>
            <a:r>
              <a:rPr lang="en-US" altLang="en-US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 (4)      </a:t>
            </a:r>
            <a:r>
              <a:rPr lang="en-US" altLang="en-US" kern="0" dirty="0">
                <a:ea typeface="ＭＳ Ｐゴシック" charset="-128"/>
              </a:rPr>
              <a:t>“Hello”</a:t>
            </a:r>
            <a:endParaRPr lang="en-US" altLang="en-US" kern="0" dirty="0">
              <a:solidFill>
                <a:schemeClr val="tx2">
                  <a:lumMod val="60000"/>
                  <a:lumOff val="40000"/>
                </a:schemeClr>
              </a:solidFill>
              <a:latin typeface="Arial Narrow" panose="020B0606020202030204" pitchFamily="34" charset="0"/>
              <a:ea typeface="ＭＳ Ｐゴシック" charset="-128"/>
              <a:sym typeface="Wingdings" panose="05000000000000000000" pitchFamily="2" charset="2"/>
            </a:endParaRPr>
          </a:p>
          <a:p>
            <a:pPr lvl="1"/>
            <a:r>
              <a:rPr lang="en-US" altLang="en-US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  <a:ea typeface="ＭＳ Ｐゴシック" charset="-128"/>
              </a:rPr>
              <a:t>(3) </a:t>
            </a: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</a:t>
            </a:r>
            <a:r>
              <a:rPr lang="en-US" altLang="en-US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 (4) </a:t>
            </a: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</a:t>
            </a:r>
            <a:r>
              <a:rPr lang="en-US" altLang="en-US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 (1) </a:t>
            </a: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</a:t>
            </a:r>
            <a:r>
              <a:rPr lang="en-US" altLang="en-US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 (2)      </a:t>
            </a:r>
            <a:r>
              <a:rPr lang="en-US" altLang="en-US" kern="0" dirty="0">
                <a:ea typeface="ＭＳ Ｐゴシック" charset="-128"/>
              </a:rPr>
              <a:t>“</a:t>
            </a: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</a:rPr>
              <a:t>ZJU</a:t>
            </a:r>
            <a:r>
              <a:rPr lang="en-US" altLang="en-US" kern="0" dirty="0">
                <a:ea typeface="ＭＳ Ｐゴシック" charset="-128"/>
              </a:rPr>
              <a:t>”</a:t>
            </a:r>
            <a:endParaRPr lang="en-US" altLang="en-US" kern="0" dirty="0">
              <a:solidFill>
                <a:schemeClr val="tx2">
                  <a:lumMod val="60000"/>
                  <a:lumOff val="40000"/>
                </a:schemeClr>
              </a:solidFill>
              <a:latin typeface="Arial Narrow" panose="020B0606020202030204" pitchFamily="34" charset="0"/>
              <a:ea typeface="ＭＳ Ｐゴシック" charset="-128"/>
              <a:sym typeface="Wingdings" panose="05000000000000000000" pitchFamily="2" charset="2"/>
            </a:endParaRPr>
          </a:p>
          <a:p>
            <a:pPr lvl="1"/>
            <a:r>
              <a:rPr lang="en-US" altLang="en-US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  <a:ea typeface="ＭＳ Ｐゴシック" charset="-128"/>
              </a:rPr>
              <a:t>(1) </a:t>
            </a: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</a:t>
            </a:r>
            <a:r>
              <a:rPr lang="en-US" altLang="en-US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 (3) </a:t>
            </a: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</a:t>
            </a:r>
            <a:r>
              <a:rPr lang="en-US" altLang="en-US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 (2) </a:t>
            </a: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</a:t>
            </a:r>
            <a:r>
              <a:rPr lang="en-US" altLang="en-US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 (4) </a:t>
            </a: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or</a:t>
            </a:r>
            <a:r>
              <a:rPr lang="en-US" altLang="en-US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 </a:t>
            </a:r>
            <a:r>
              <a:rPr lang="en-US" altLang="en-US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  <a:ea typeface="ＭＳ Ｐゴシック" charset="-128"/>
              </a:rPr>
              <a:t>(1) </a:t>
            </a: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</a:t>
            </a:r>
            <a:r>
              <a:rPr lang="en-US" altLang="en-US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 (3) </a:t>
            </a: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</a:t>
            </a:r>
            <a:r>
              <a:rPr lang="en-US" altLang="en-US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 (4) </a:t>
            </a: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</a:t>
            </a:r>
            <a:r>
              <a:rPr lang="en-US" altLang="en-US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 (2) </a:t>
            </a:r>
          </a:p>
          <a:p>
            <a:pPr lvl="1"/>
            <a:r>
              <a:rPr lang="en-US" altLang="en-US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  <a:ea typeface="ＭＳ Ｐゴシック" charset="-128"/>
              </a:rPr>
              <a:t>(3) </a:t>
            </a: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</a:t>
            </a:r>
            <a:r>
              <a:rPr lang="en-US" altLang="en-US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 (1) </a:t>
            </a: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</a:t>
            </a:r>
            <a:r>
              <a:rPr lang="en-US" altLang="en-US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 (2) </a:t>
            </a: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</a:t>
            </a:r>
            <a:r>
              <a:rPr lang="en-US" altLang="en-US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 (4) </a:t>
            </a: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or</a:t>
            </a:r>
            <a:r>
              <a:rPr lang="en-US" altLang="en-US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 </a:t>
            </a:r>
            <a:r>
              <a:rPr lang="en-US" altLang="en-US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  <a:ea typeface="ＭＳ Ｐゴシック" charset="-128"/>
              </a:rPr>
              <a:t>(3) </a:t>
            </a: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</a:t>
            </a:r>
            <a:r>
              <a:rPr lang="en-US" altLang="en-US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 (1) </a:t>
            </a: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</a:t>
            </a:r>
            <a:r>
              <a:rPr lang="en-US" altLang="en-US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 (4) </a:t>
            </a: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</a:t>
            </a:r>
            <a:r>
              <a:rPr lang="en-US" altLang="en-US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 (2) </a:t>
            </a:r>
            <a:endParaRPr lang="en-US" altLang="en-US" kern="0" dirty="0">
              <a:ea typeface="ＭＳ Ｐゴシック" charset="-128"/>
            </a:endParaRPr>
          </a:p>
          <a:p>
            <a:endParaRPr lang="en-US" altLang="en-US" kern="0" dirty="0">
              <a:ea typeface="ＭＳ Ｐゴシック" charset="-128"/>
            </a:endParaRPr>
          </a:p>
          <a:p>
            <a:endParaRPr lang="en-US" altLang="en-US" kern="0" dirty="0">
              <a:ea typeface="ＭＳ Ｐゴシック" charset="-128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FC12B3A-6B07-4FB7-A6AF-FB508D130BF6}"/>
              </a:ext>
            </a:extLst>
          </p:cNvPr>
          <p:cNvSpPr txBox="1">
            <a:spLocks/>
          </p:cNvSpPr>
          <p:nvPr/>
        </p:nvSpPr>
        <p:spPr bwMode="auto">
          <a:xfrm>
            <a:off x="381000" y="5500158"/>
            <a:ext cx="8610600" cy="8868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charset="2"/>
              <a:buChar char="n"/>
              <a:defRPr sz="2400">
                <a:solidFill>
                  <a:schemeClr val="tx1"/>
                </a:solidFill>
                <a:latin typeface="+mn-lt"/>
                <a:ea typeface="ＭＳ Ｐゴシック" pitchFamily="-107" charset="-128"/>
                <a:cs typeface="ＭＳ Ｐゴシック" pitchFamily="-107" charset="-128"/>
              </a:defRPr>
            </a:lvl1pPr>
            <a:lvl2pPr marL="669925" indent="-325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charset="2"/>
              <a:buChar char="q"/>
              <a:defRPr sz="2200">
                <a:solidFill>
                  <a:schemeClr val="tx1"/>
                </a:solidFill>
                <a:latin typeface="+mn-lt"/>
                <a:ea typeface="ＭＳ Ｐゴシック" pitchFamily="-107" charset="-128"/>
              </a:defRPr>
            </a:lvl2pPr>
            <a:lvl3pPr marL="1022350" indent="-350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charset="2"/>
              <a:buChar char="n"/>
              <a:defRPr sz="2000">
                <a:solidFill>
                  <a:schemeClr val="tx1"/>
                </a:solidFill>
                <a:latin typeface="+mn-lt"/>
                <a:ea typeface="ＭＳ Ｐゴシック" pitchFamily="-107" charset="-128"/>
              </a:defRPr>
            </a:lvl3pPr>
            <a:lvl4pPr marL="1339850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q"/>
              <a:defRPr>
                <a:solidFill>
                  <a:schemeClr val="tx1"/>
                </a:solidFill>
                <a:latin typeface="+mn-lt"/>
                <a:ea typeface="ＭＳ Ｐゴシック" pitchFamily="-107" charset="-128"/>
              </a:defRPr>
            </a:lvl4pPr>
            <a:lvl5pPr marL="16811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charset="2"/>
              <a:buChar char="§"/>
              <a:defRPr sz="1600">
                <a:solidFill>
                  <a:schemeClr val="tx1"/>
                </a:solidFill>
                <a:latin typeface="+mn-lt"/>
                <a:ea typeface="ＭＳ Ｐゴシック" pitchFamily="-107" charset="-128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altLang="en-US" kern="0" dirty="0">
                <a:ea typeface="ＭＳ Ｐゴシック" charset="-128"/>
              </a:rPr>
              <a:t>Is it possible to print “Hello” and “ZJU” on real hardware?</a:t>
            </a:r>
          </a:p>
          <a:p>
            <a:pPr lvl="1"/>
            <a:r>
              <a:rPr lang="en-US" altLang="en-US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(2) </a:t>
            </a: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</a:t>
            </a:r>
            <a:r>
              <a:rPr lang="en-US" altLang="en-US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 (4)</a:t>
            </a: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 </a:t>
            </a:r>
            <a:r>
              <a:rPr lang="en-US" altLang="en-US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 </a:t>
            </a:r>
            <a:r>
              <a:rPr lang="en-US" altLang="en-US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  <a:ea typeface="ＭＳ Ｐゴシック" charset="-128"/>
              </a:rPr>
              <a:t>(3) </a:t>
            </a: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</a:t>
            </a:r>
            <a:r>
              <a:rPr lang="en-US" altLang="en-US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 (1) </a:t>
            </a: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or</a:t>
            </a:r>
            <a:r>
              <a:rPr lang="en-US" altLang="en-US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 (2) </a:t>
            </a: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</a:t>
            </a:r>
            <a:r>
              <a:rPr lang="en-US" altLang="en-US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 (4)</a:t>
            </a: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 </a:t>
            </a:r>
            <a:r>
              <a:rPr lang="en-US" altLang="en-US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 </a:t>
            </a:r>
            <a:r>
              <a:rPr lang="en-US" altLang="en-US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  <a:ea typeface="ＭＳ Ｐゴシック" charset="-128"/>
              </a:rPr>
              <a:t>(1) </a:t>
            </a: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</a:t>
            </a:r>
            <a:r>
              <a:rPr lang="en-US" altLang="en-US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  <a:ea typeface="ＭＳ Ｐゴシック" charset="-128"/>
                <a:sym typeface="Wingdings" panose="05000000000000000000" pitchFamily="2" charset="2"/>
              </a:rPr>
              <a:t> (3) </a:t>
            </a:r>
            <a:endParaRPr lang="en-US" altLang="en-US" kern="0" dirty="0">
              <a:ea typeface="ＭＳ Ｐゴシック" charset="-128"/>
            </a:endParaRPr>
          </a:p>
          <a:p>
            <a:pPr lvl="1"/>
            <a:endParaRPr lang="en-US" altLang="en-US" kern="0" dirty="0">
              <a:ea typeface="ＭＳ Ｐゴシック" charset="-128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FDCDF32-F384-4387-A7D3-FA0C1A0DD1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5433" y="914400"/>
            <a:ext cx="8610600" cy="609600"/>
          </a:xfrm>
        </p:spPr>
        <p:txBody>
          <a:bodyPr/>
          <a:lstStyle/>
          <a:p>
            <a:r>
              <a:rPr lang="en-US" altLang="en-US" dirty="0">
                <a:solidFill>
                  <a:srgbClr val="0070C0"/>
                </a:solidFill>
                <a:latin typeface="Arial Narrow" panose="020B0606020202030204" pitchFamily="34" charset="0"/>
                <a:ea typeface="ＭＳ Ｐゴシック" charset="-128"/>
              </a:rPr>
              <a:t>A</a:t>
            </a:r>
            <a:r>
              <a:rPr lang="en-US" altLang="zh-CN" dirty="0">
                <a:ea typeface="ＭＳ Ｐゴシック" charset="-128"/>
              </a:rPr>
              <a:t> = </a:t>
            </a:r>
            <a:r>
              <a:rPr lang="en-US" altLang="zh-CN" dirty="0">
                <a:solidFill>
                  <a:srgbClr val="FF0000"/>
                </a:solidFill>
                <a:ea typeface="ＭＳ Ｐゴシック" charset="-128"/>
              </a:rPr>
              <a:t>B</a:t>
            </a:r>
            <a:r>
              <a:rPr lang="en-US" altLang="zh-CN" dirty="0">
                <a:ea typeface="ＭＳ Ｐゴシック" charset="-128"/>
              </a:rPr>
              <a:t> = 0 initially.</a:t>
            </a:r>
            <a:endParaRPr lang="en-US" altLang="en-US" dirty="0">
              <a:ea typeface="ＭＳ Ｐゴシック" charset="-128"/>
            </a:endParaRPr>
          </a:p>
          <a:p>
            <a:endParaRPr lang="en-US" altLang="en-US" dirty="0">
              <a:ea typeface="ＭＳ Ｐゴシック" charset="-128"/>
            </a:endParaRPr>
          </a:p>
          <a:p>
            <a:endParaRPr lang="en-US" altLang="en-US" dirty="0">
              <a:ea typeface="ＭＳ Ｐゴシック" charset="-128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48E2C9EC-5E2B-4B12-81CC-DCAF902483BD}"/>
              </a:ext>
            </a:extLst>
          </p:cNvPr>
          <p:cNvSpPr txBox="1">
            <a:spLocks/>
          </p:cNvSpPr>
          <p:nvPr/>
        </p:nvSpPr>
        <p:spPr bwMode="auto">
          <a:xfrm>
            <a:off x="304800" y="1404408"/>
            <a:ext cx="46482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charset="2"/>
              <a:buChar char="n"/>
              <a:defRPr sz="2400">
                <a:solidFill>
                  <a:schemeClr val="tx1"/>
                </a:solidFill>
                <a:latin typeface="+mn-lt"/>
                <a:ea typeface="ＭＳ Ｐゴシック" pitchFamily="-107" charset="-128"/>
                <a:cs typeface="ＭＳ Ｐゴシック" pitchFamily="-107" charset="-128"/>
              </a:defRPr>
            </a:lvl1pPr>
            <a:lvl2pPr marL="669925" indent="-325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charset="2"/>
              <a:buChar char="q"/>
              <a:defRPr sz="2200">
                <a:solidFill>
                  <a:schemeClr val="tx1"/>
                </a:solidFill>
                <a:latin typeface="+mn-lt"/>
                <a:ea typeface="ＭＳ Ｐゴシック" pitchFamily="-107" charset="-128"/>
              </a:defRPr>
            </a:lvl2pPr>
            <a:lvl3pPr marL="1022350" indent="-350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charset="2"/>
              <a:buChar char="n"/>
              <a:defRPr sz="2000">
                <a:solidFill>
                  <a:schemeClr val="tx1"/>
                </a:solidFill>
                <a:latin typeface="+mn-lt"/>
                <a:ea typeface="ＭＳ Ｐゴシック" pitchFamily="-107" charset="-128"/>
              </a:defRPr>
            </a:lvl3pPr>
            <a:lvl4pPr marL="1339850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q"/>
              <a:defRPr>
                <a:solidFill>
                  <a:schemeClr val="tx1"/>
                </a:solidFill>
                <a:latin typeface="+mn-lt"/>
                <a:ea typeface="ＭＳ Ｐゴシック" pitchFamily="-107" charset="-128"/>
              </a:defRPr>
            </a:lvl4pPr>
            <a:lvl5pPr marL="16811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charset="2"/>
              <a:buChar char="§"/>
              <a:defRPr sz="1600">
                <a:solidFill>
                  <a:schemeClr val="tx1"/>
                </a:solidFill>
                <a:latin typeface="+mn-lt"/>
                <a:ea typeface="ＭＳ Ｐゴシック" pitchFamily="-107" charset="-128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altLang="en-US" kern="0" dirty="0">
                <a:ea typeface="ＭＳ Ｐゴシック" charset="-128"/>
              </a:rPr>
              <a:t>          </a:t>
            </a:r>
            <a:r>
              <a:rPr lang="en-US" altLang="en-US" b="1" kern="0" dirty="0">
                <a:latin typeface="Arial Narrow" panose="020B0606020202030204" pitchFamily="34" charset="0"/>
                <a:ea typeface="ＭＳ Ｐゴシック" charset="-128"/>
              </a:rPr>
              <a:t>Core 1</a:t>
            </a: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</a:rPr>
              <a:t>:</a:t>
            </a:r>
          </a:p>
          <a:p>
            <a:pPr marL="0" indent="0">
              <a:buNone/>
            </a:pP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</a:rPr>
              <a:t> </a:t>
            </a:r>
            <a:r>
              <a:rPr lang="en-US" altLang="en-US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  <a:ea typeface="ＭＳ Ｐゴシック" charset="-128"/>
              </a:rPr>
              <a:t>(1)</a:t>
            </a: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</a:rPr>
              <a:t>       </a:t>
            </a:r>
            <a:r>
              <a:rPr lang="en-US" altLang="en-US" kern="0" dirty="0">
                <a:solidFill>
                  <a:srgbClr val="0070C0"/>
                </a:solidFill>
                <a:latin typeface="Arial Narrow" panose="020B0606020202030204" pitchFamily="34" charset="0"/>
                <a:ea typeface="ＭＳ Ｐゴシック" charset="-128"/>
              </a:rPr>
              <a:t>A</a:t>
            </a: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</a:rPr>
              <a:t>  = 1</a:t>
            </a:r>
          </a:p>
          <a:p>
            <a:pPr marL="0" indent="0">
              <a:buNone/>
            </a:pP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</a:rPr>
              <a:t>            if (</a:t>
            </a:r>
            <a:r>
              <a:rPr lang="en-US" altLang="en-US" kern="0" dirty="0">
                <a:solidFill>
                  <a:srgbClr val="FF0000"/>
                </a:solidFill>
                <a:latin typeface="Arial Narrow" panose="020B0606020202030204" pitchFamily="34" charset="0"/>
                <a:ea typeface="ＭＳ Ｐゴシック" charset="-128"/>
              </a:rPr>
              <a:t>B</a:t>
            </a: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</a:rPr>
              <a:t> == 0)</a:t>
            </a:r>
          </a:p>
          <a:p>
            <a:pPr marL="0" indent="0">
              <a:buNone/>
            </a:pPr>
            <a:r>
              <a:rPr lang="zh-CN" altLang="en-US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  <a:ea typeface="ＭＳ Ｐゴシック" charset="-128"/>
              </a:rPr>
              <a:t>（</a:t>
            </a:r>
            <a:r>
              <a:rPr lang="en-US" altLang="zh-CN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  <a:ea typeface="ＭＳ Ｐゴシック" charset="-128"/>
              </a:rPr>
              <a:t>2</a:t>
            </a:r>
            <a:r>
              <a:rPr lang="zh-CN" altLang="en-US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  <a:ea typeface="ＭＳ Ｐゴシック" charset="-128"/>
              </a:rPr>
              <a:t>）</a:t>
            </a:r>
            <a:r>
              <a:rPr lang="en-US" altLang="en-US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  <a:ea typeface="ＭＳ Ｐゴシック" charset="-128"/>
              </a:rPr>
              <a:t>          </a:t>
            </a: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</a:rPr>
              <a:t>print “Hello”: </a:t>
            </a:r>
            <a:r>
              <a:rPr lang="en-US" altLang="zh-CN" sz="1800" dirty="0">
                <a:solidFill>
                  <a:srgbClr val="FF0000"/>
                </a:solidFill>
                <a:latin typeface="Arial Narrow" panose="020B0606020202030204" pitchFamily="34" charset="0"/>
              </a:rPr>
              <a:t>&lt;critical section&gt;</a:t>
            </a:r>
            <a:endParaRPr lang="zh-CN" altLang="en-US" sz="1800" dirty="0">
              <a:solidFill>
                <a:srgbClr val="FF0000"/>
              </a:solidFill>
              <a:latin typeface="Arial Narrow" panose="020B0606020202030204" pitchFamily="34" charset="0"/>
            </a:endParaRPr>
          </a:p>
          <a:p>
            <a:pPr marL="0" indent="0">
              <a:buNone/>
            </a:pP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</a:rPr>
              <a:t> </a:t>
            </a:r>
          </a:p>
          <a:p>
            <a:endParaRPr lang="en-US" altLang="en-US" kern="0" dirty="0">
              <a:ea typeface="ＭＳ Ｐゴシック" charset="-128"/>
            </a:endParaRPr>
          </a:p>
          <a:p>
            <a:endParaRPr lang="en-US" altLang="en-US" kern="0" dirty="0">
              <a:ea typeface="ＭＳ Ｐゴシック" charset="-128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B8E0A03-8A1B-44BF-815C-1F53ABFFFA93}"/>
              </a:ext>
            </a:extLst>
          </p:cNvPr>
          <p:cNvSpPr txBox="1">
            <a:spLocks/>
          </p:cNvSpPr>
          <p:nvPr/>
        </p:nvSpPr>
        <p:spPr bwMode="auto">
          <a:xfrm>
            <a:off x="4919133" y="1404408"/>
            <a:ext cx="4377267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charset="2"/>
              <a:buChar char="n"/>
              <a:defRPr sz="2400">
                <a:solidFill>
                  <a:schemeClr val="tx1"/>
                </a:solidFill>
                <a:latin typeface="+mn-lt"/>
                <a:ea typeface="ＭＳ Ｐゴシック" pitchFamily="-107" charset="-128"/>
                <a:cs typeface="ＭＳ Ｐゴシック" pitchFamily="-107" charset="-128"/>
              </a:defRPr>
            </a:lvl1pPr>
            <a:lvl2pPr marL="669925" indent="-325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charset="2"/>
              <a:buChar char="q"/>
              <a:defRPr sz="2200">
                <a:solidFill>
                  <a:schemeClr val="tx1"/>
                </a:solidFill>
                <a:latin typeface="+mn-lt"/>
                <a:ea typeface="ＭＳ Ｐゴシック" pitchFamily="-107" charset="-128"/>
              </a:defRPr>
            </a:lvl2pPr>
            <a:lvl3pPr marL="1022350" indent="-350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charset="2"/>
              <a:buChar char="n"/>
              <a:defRPr sz="2000">
                <a:solidFill>
                  <a:schemeClr val="tx1"/>
                </a:solidFill>
                <a:latin typeface="+mn-lt"/>
                <a:ea typeface="ＭＳ Ｐゴシック" pitchFamily="-107" charset="-128"/>
              </a:defRPr>
            </a:lvl3pPr>
            <a:lvl4pPr marL="1339850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q"/>
              <a:defRPr>
                <a:solidFill>
                  <a:schemeClr val="tx1"/>
                </a:solidFill>
                <a:latin typeface="+mn-lt"/>
                <a:ea typeface="ＭＳ Ｐゴシック" pitchFamily="-107" charset="-128"/>
              </a:defRPr>
            </a:lvl4pPr>
            <a:lvl5pPr marL="16811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charset="2"/>
              <a:buChar char="§"/>
              <a:defRPr sz="1600">
                <a:solidFill>
                  <a:schemeClr val="tx1"/>
                </a:solidFill>
                <a:latin typeface="+mn-lt"/>
                <a:ea typeface="ＭＳ Ｐゴシック" pitchFamily="-107" charset="-128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altLang="en-US" kern="0" dirty="0">
                <a:ea typeface="ＭＳ Ｐゴシック" charset="-128"/>
              </a:rPr>
              <a:t>          </a:t>
            </a:r>
            <a:r>
              <a:rPr lang="en-US" altLang="en-US" b="1" kern="0" dirty="0">
                <a:latin typeface="Arial Narrow" panose="020B0606020202030204" pitchFamily="34" charset="0"/>
                <a:ea typeface="ＭＳ Ｐゴシック" charset="-128"/>
              </a:rPr>
              <a:t>Core 2</a:t>
            </a: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</a:rPr>
              <a:t>:</a:t>
            </a:r>
          </a:p>
          <a:p>
            <a:pPr marL="0" indent="0">
              <a:buNone/>
            </a:pP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</a:rPr>
              <a:t> </a:t>
            </a:r>
            <a:r>
              <a:rPr lang="en-US" altLang="en-US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  <a:ea typeface="ＭＳ Ｐゴシック" charset="-128"/>
              </a:rPr>
              <a:t>(3)</a:t>
            </a: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</a:rPr>
              <a:t>        </a:t>
            </a:r>
            <a:r>
              <a:rPr lang="en-US" altLang="en-US" kern="0" dirty="0">
                <a:solidFill>
                  <a:srgbClr val="FF0000"/>
                </a:solidFill>
                <a:latin typeface="Arial Narrow" panose="020B0606020202030204" pitchFamily="34" charset="0"/>
                <a:ea typeface="ＭＳ Ｐゴシック" charset="-128"/>
              </a:rPr>
              <a:t>B</a:t>
            </a: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</a:rPr>
              <a:t>  = 1</a:t>
            </a:r>
          </a:p>
          <a:p>
            <a:pPr marL="0" indent="0">
              <a:buNone/>
            </a:pP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</a:rPr>
              <a:t>              if (</a:t>
            </a:r>
            <a:r>
              <a:rPr lang="en-US" altLang="en-US" kern="0" dirty="0">
                <a:solidFill>
                  <a:srgbClr val="0070C0"/>
                </a:solidFill>
                <a:latin typeface="Arial Narrow" panose="020B0606020202030204" pitchFamily="34" charset="0"/>
                <a:ea typeface="ＭＳ Ｐゴシック" charset="-128"/>
              </a:rPr>
              <a:t>A</a:t>
            </a: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</a:rPr>
              <a:t> == 0)</a:t>
            </a:r>
          </a:p>
          <a:p>
            <a:pPr marL="0" indent="0">
              <a:buNone/>
            </a:pP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</a:rPr>
              <a:t> </a:t>
            </a:r>
            <a:r>
              <a:rPr lang="en-US" altLang="en-US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 Narrow" panose="020B0606020202030204" pitchFamily="34" charset="0"/>
                <a:ea typeface="ＭＳ Ｐゴシック" charset="-128"/>
              </a:rPr>
              <a:t>(4)</a:t>
            </a:r>
            <a:r>
              <a:rPr lang="en-US" altLang="en-US" kern="0" dirty="0">
                <a:latin typeface="Arial Narrow" panose="020B0606020202030204" pitchFamily="34" charset="0"/>
                <a:ea typeface="ＭＳ Ｐゴシック" charset="-128"/>
              </a:rPr>
              <a:t>             print “ZJU” : </a:t>
            </a:r>
            <a:r>
              <a:rPr lang="en-US" altLang="zh-CN" sz="1800" dirty="0">
                <a:solidFill>
                  <a:srgbClr val="FF0000"/>
                </a:solidFill>
                <a:latin typeface="Arial Narrow" panose="020B0606020202030204" pitchFamily="34" charset="0"/>
              </a:rPr>
              <a:t>&lt;critical section&gt;</a:t>
            </a:r>
            <a:endParaRPr lang="zh-CN" altLang="en-US" sz="1800" dirty="0">
              <a:solidFill>
                <a:srgbClr val="FF0000"/>
              </a:solidFill>
              <a:latin typeface="Arial Narrow" panose="020B0606020202030204" pitchFamily="34" charset="0"/>
            </a:endParaRPr>
          </a:p>
          <a:p>
            <a:pPr marL="0" indent="0">
              <a:buNone/>
            </a:pPr>
            <a:endParaRPr lang="en-US" altLang="en-US" kern="0" dirty="0">
              <a:latin typeface="Arial Narrow" panose="020B0606020202030204" pitchFamily="34" charset="0"/>
              <a:ea typeface="ＭＳ Ｐゴシック" charset="-128"/>
            </a:endParaRPr>
          </a:p>
          <a:p>
            <a:endParaRPr lang="en-US" altLang="en-US" kern="0" dirty="0">
              <a:ea typeface="ＭＳ Ｐゴシック" charset="-128"/>
            </a:endParaRPr>
          </a:p>
          <a:p>
            <a:endParaRPr lang="en-US" altLang="en-US" kern="0" dirty="0"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1494619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ea typeface="ＭＳ Ｐゴシック" charset="-128"/>
              </a:rPr>
              <a:t>Why Cache </a:t>
            </a:r>
            <a:r>
              <a:rPr lang="en-US" altLang="zh-CN" dirty="0">
                <a:ea typeface="ＭＳ Ｐゴシック" charset="-128"/>
              </a:rPr>
              <a:t>Consistency</a:t>
            </a:r>
            <a:r>
              <a:rPr lang="en-US" altLang="en-US" dirty="0">
                <a:ea typeface="ＭＳ Ｐゴシック" charset="-128"/>
              </a:rPr>
              <a:t> Even Matter?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96950"/>
            <a:ext cx="8610600" cy="5194300"/>
          </a:xfrm>
        </p:spPr>
        <p:txBody>
          <a:bodyPr/>
          <a:lstStyle/>
          <a:p>
            <a:r>
              <a:rPr lang="en-US" altLang="en-US" dirty="0">
                <a:ea typeface="ＭＳ Ｐゴシック" charset="-128"/>
              </a:rPr>
              <a:t>Ease of debugging</a:t>
            </a:r>
          </a:p>
          <a:p>
            <a:pPr lvl="1"/>
            <a:r>
              <a:rPr lang="en-US" altLang="en-US" dirty="0">
                <a:ea typeface="ＭＳ Ｐゴシック" charset="-128"/>
              </a:rPr>
              <a:t>It is nice to have the same execution done at different times to have the same order of execution </a:t>
            </a:r>
            <a:r>
              <a:rPr lang="en-US" altLang="en-US" dirty="0">
                <a:ea typeface="ＭＳ Ｐゴシック" charset="-128"/>
                <a:sym typeface="Wingdings" charset="2"/>
              </a:rPr>
              <a:t> Repeatability</a:t>
            </a:r>
            <a:endParaRPr lang="en-US" altLang="en-US" dirty="0">
              <a:ea typeface="ＭＳ Ｐゴシック" charset="-128"/>
            </a:endParaRPr>
          </a:p>
          <a:p>
            <a:pPr lvl="1"/>
            <a:endParaRPr lang="en-US" altLang="en-US" dirty="0">
              <a:ea typeface="ＭＳ Ｐゴシック" charset="-128"/>
            </a:endParaRPr>
          </a:p>
          <a:p>
            <a:r>
              <a:rPr lang="en-US" altLang="en-US" dirty="0">
                <a:ea typeface="ＭＳ Ｐゴシック" charset="-128"/>
              </a:rPr>
              <a:t>Correctness</a:t>
            </a:r>
          </a:p>
          <a:p>
            <a:pPr lvl="1"/>
            <a:r>
              <a:rPr lang="en-US" altLang="en-US" dirty="0">
                <a:ea typeface="ＭＳ Ｐゴシック" charset="-128"/>
              </a:rPr>
              <a:t>Can we have incorrect execution if the order of memory operations is different from the point of view of different processors?</a:t>
            </a:r>
          </a:p>
          <a:p>
            <a:pPr lvl="1"/>
            <a:endParaRPr lang="en-US" altLang="en-US" dirty="0">
              <a:ea typeface="ＭＳ Ｐゴシック" charset="-128"/>
            </a:endParaRPr>
          </a:p>
          <a:p>
            <a:r>
              <a:rPr lang="en-US" altLang="en-US" dirty="0">
                <a:ea typeface="ＭＳ Ｐゴシック" charset="-128"/>
              </a:rPr>
              <a:t>Performance and overhead</a:t>
            </a:r>
          </a:p>
          <a:p>
            <a:pPr lvl="1"/>
            <a:r>
              <a:rPr lang="en-US" altLang="en-US" dirty="0">
                <a:ea typeface="ＭＳ Ｐゴシック" charset="-128"/>
              </a:rPr>
              <a:t>Enforcing a strict “sequential ordering” can make life harder for the hardware designer in implementing performance enhancement techniques (e.g., </a:t>
            </a:r>
            <a:r>
              <a:rPr lang="en-US" altLang="en-US" dirty="0" err="1">
                <a:ea typeface="ＭＳ Ｐゴシック" charset="-128"/>
              </a:rPr>
              <a:t>OoO</a:t>
            </a:r>
            <a:r>
              <a:rPr lang="en-US" altLang="en-US" dirty="0">
                <a:ea typeface="ＭＳ Ｐゴシック" charset="-128"/>
              </a:rPr>
              <a:t> execution, caches)</a:t>
            </a:r>
          </a:p>
        </p:txBody>
      </p:sp>
      <p:sp>
        <p:nvSpPr>
          <p:cNvPr id="68611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D6442EEC-504C-2041-A7F9-3F7321F6BE17}" type="slidenum">
              <a:rPr lang="en-US" altLang="en-US" sz="1600">
                <a:solidFill>
                  <a:srgbClr val="000000"/>
                </a:solidFill>
                <a:latin typeface="Garamond" charset="0"/>
              </a:rPr>
              <a:pPr eaLnBrk="1" hangingPunct="1"/>
              <a:t>59</a:t>
            </a:fld>
            <a:endParaRPr lang="en-US" altLang="en-US" sz="1600">
              <a:solidFill>
                <a:srgbClr val="000000"/>
              </a:solidFill>
              <a:latin typeface="Garamon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776608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charset="-128"/>
              </a:rPr>
              <a:t>When Could Order Affect Correctness?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96950"/>
            <a:ext cx="8610600" cy="5194300"/>
          </a:xfrm>
        </p:spPr>
        <p:txBody>
          <a:bodyPr/>
          <a:lstStyle/>
          <a:p>
            <a:r>
              <a:rPr lang="en-US" altLang="en-US">
                <a:ea typeface="ＭＳ Ｐゴシック" charset="-128"/>
              </a:rPr>
              <a:t>When protecting shared data</a:t>
            </a:r>
          </a:p>
        </p:txBody>
      </p:sp>
      <p:sp>
        <p:nvSpPr>
          <p:cNvPr id="69635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8FD25A0E-BF0E-C748-B495-74C1F6FEC5D8}" type="slidenum">
              <a:rPr lang="en-US" altLang="en-US" sz="1600">
                <a:solidFill>
                  <a:srgbClr val="000000"/>
                </a:solidFill>
                <a:latin typeface="Garamond" charset="0"/>
              </a:rPr>
              <a:pPr eaLnBrk="1" hangingPunct="1"/>
              <a:t>60</a:t>
            </a:fld>
            <a:endParaRPr lang="en-US" altLang="en-US" sz="1600">
              <a:solidFill>
                <a:srgbClr val="000000"/>
              </a:solidFill>
              <a:latin typeface="Garamon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632671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charset="-128"/>
              </a:rPr>
              <a:t>Protecting Shared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610600" cy="5194300"/>
          </a:xfrm>
        </p:spPr>
        <p:txBody>
          <a:bodyPr/>
          <a:lstStyle/>
          <a:p>
            <a:r>
              <a:rPr lang="en-US" altLang="en-US" dirty="0">
                <a:ea typeface="ＭＳ Ｐゴシック" charset="-128"/>
              </a:rPr>
              <a:t>Threads are not allowed to update shared data concurrently</a:t>
            </a:r>
          </a:p>
          <a:p>
            <a:pPr lvl="1"/>
            <a:r>
              <a:rPr lang="en-US" altLang="en-US" dirty="0">
                <a:ea typeface="ＭＳ Ｐゴシック" charset="-128"/>
              </a:rPr>
              <a:t>For correctness purposes</a:t>
            </a:r>
          </a:p>
          <a:p>
            <a:pPr lvl="1"/>
            <a:endParaRPr lang="en-US" altLang="en-US" dirty="0">
              <a:ea typeface="ＭＳ Ｐゴシック" charset="-128"/>
            </a:endParaRPr>
          </a:p>
          <a:p>
            <a:r>
              <a:rPr lang="en-US" altLang="en-US" dirty="0">
                <a:ea typeface="ＭＳ Ｐゴシック" charset="-128"/>
              </a:rPr>
              <a:t>Accesses to shared data are encapsulated inside </a:t>
            </a:r>
            <a:br>
              <a:rPr lang="en-US" altLang="en-US" dirty="0">
                <a:ea typeface="ＭＳ Ｐゴシック" charset="-128"/>
              </a:rPr>
            </a:br>
            <a:r>
              <a:rPr lang="en-US" altLang="en-US" i="1" dirty="0">
                <a:solidFill>
                  <a:srgbClr val="0000FF"/>
                </a:solidFill>
                <a:ea typeface="ＭＳ Ｐゴシック" charset="-128"/>
              </a:rPr>
              <a:t>critical sections </a:t>
            </a:r>
            <a:r>
              <a:rPr lang="en-US" altLang="en-US" i="1" dirty="0">
                <a:ea typeface="ＭＳ Ｐゴシック" charset="-128"/>
              </a:rPr>
              <a:t>or protected via </a:t>
            </a:r>
            <a:r>
              <a:rPr lang="en-US" altLang="en-US" i="1" dirty="0">
                <a:solidFill>
                  <a:srgbClr val="0000FF"/>
                </a:solidFill>
                <a:ea typeface="ＭＳ Ｐゴシック" charset="-128"/>
              </a:rPr>
              <a:t>synchronization constructs (locks, semaphores, condition variables)</a:t>
            </a:r>
          </a:p>
          <a:p>
            <a:pPr lvl="1"/>
            <a:endParaRPr lang="en-US" altLang="en-US" sz="2000" dirty="0">
              <a:ea typeface="ＭＳ Ｐゴシック" charset="-128"/>
            </a:endParaRPr>
          </a:p>
          <a:p>
            <a:r>
              <a:rPr lang="en-US" altLang="en-US" dirty="0">
                <a:solidFill>
                  <a:srgbClr val="0000FF"/>
                </a:solidFill>
                <a:ea typeface="ＭＳ Ｐゴシック" charset="-128"/>
              </a:rPr>
              <a:t>Mutual exclusion principle: </a:t>
            </a:r>
            <a:r>
              <a:rPr lang="en-US" altLang="en-US" dirty="0">
                <a:ea typeface="ＭＳ Ｐゴシック" charset="-128"/>
              </a:rPr>
              <a:t>Only one</a:t>
            </a:r>
            <a:r>
              <a:rPr lang="en-US" altLang="en-US" b="1" dirty="0">
                <a:ea typeface="ＭＳ Ｐゴシック" charset="-128"/>
              </a:rPr>
              <a:t> </a:t>
            </a:r>
            <a:r>
              <a:rPr lang="en-US" altLang="en-US" dirty="0">
                <a:ea typeface="ＭＳ Ｐゴシック" charset="-128"/>
              </a:rPr>
              <a:t>thread can execute a critical section at a given time.</a:t>
            </a:r>
          </a:p>
          <a:p>
            <a:pPr lvl="1"/>
            <a:endParaRPr lang="en-US" altLang="en-US" dirty="0">
              <a:ea typeface="ＭＳ Ｐゴシック" charset="-128"/>
            </a:endParaRPr>
          </a:p>
          <a:p>
            <a:r>
              <a:rPr lang="en-US" altLang="en-US" dirty="0">
                <a:ea typeface="ＭＳ Ｐゴシック" charset="-128"/>
              </a:rPr>
              <a:t>A multiprocessor should provide the </a:t>
            </a:r>
            <a:r>
              <a:rPr lang="en-US" altLang="en-US" i="1" dirty="0">
                <a:ea typeface="ＭＳ Ｐゴシック" charset="-128"/>
              </a:rPr>
              <a:t>correct</a:t>
            </a:r>
            <a:r>
              <a:rPr lang="en-US" altLang="en-US" dirty="0">
                <a:ea typeface="ＭＳ Ｐゴシック" charset="-128"/>
              </a:rPr>
              <a:t> execution of synchronization primitives to enable the programmer to protect shared data</a:t>
            </a:r>
          </a:p>
        </p:txBody>
      </p:sp>
      <p:sp>
        <p:nvSpPr>
          <p:cNvPr id="70659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EB7F73A6-03EF-8042-B9F2-5528E6F5B673}" type="slidenum">
              <a:rPr lang="en-US" altLang="en-US" sz="1600">
                <a:solidFill>
                  <a:srgbClr val="000000"/>
                </a:solidFill>
                <a:latin typeface="Garamond" charset="0"/>
              </a:rPr>
              <a:pPr eaLnBrk="1" hangingPunct="1"/>
              <a:t>61</a:t>
            </a:fld>
            <a:endParaRPr lang="en-US" altLang="en-US" sz="1600">
              <a:solidFill>
                <a:srgbClr val="000000"/>
              </a:solidFill>
              <a:latin typeface="Garamon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351404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charset="-128"/>
              </a:rPr>
              <a:t>Supporting Mutual Exclusion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862013"/>
            <a:ext cx="8915400" cy="4700587"/>
          </a:xfrm>
        </p:spPr>
        <p:txBody>
          <a:bodyPr/>
          <a:lstStyle/>
          <a:p>
            <a:pPr lvl="1"/>
            <a:endParaRPr lang="en-US" altLang="en-US" dirty="0">
              <a:ea typeface="ＭＳ Ｐゴシック" charset="-128"/>
            </a:endParaRPr>
          </a:p>
          <a:p>
            <a:r>
              <a:rPr lang="en-US" altLang="en-US" sz="2300" dirty="0">
                <a:ea typeface="ＭＳ Ｐゴシック" charset="-128"/>
              </a:rPr>
              <a:t>Programmer relies on </a:t>
            </a:r>
            <a:r>
              <a:rPr lang="en-US" altLang="en-US" sz="2300" dirty="0">
                <a:solidFill>
                  <a:srgbClr val="0432FF"/>
                </a:solidFill>
                <a:ea typeface="ＭＳ Ｐゴシック" charset="-128"/>
              </a:rPr>
              <a:t>hardware primitives </a:t>
            </a:r>
            <a:r>
              <a:rPr lang="en-US" altLang="en-US" sz="2300" dirty="0">
                <a:ea typeface="ＭＳ Ｐゴシック" charset="-128"/>
              </a:rPr>
              <a:t>to support correct synchronization</a:t>
            </a:r>
          </a:p>
          <a:p>
            <a:pPr lvl="1"/>
            <a:r>
              <a:rPr lang="en-US" altLang="en-US" sz="2100" dirty="0">
                <a:ea typeface="ＭＳ Ｐゴシック" charset="-128"/>
              </a:rPr>
              <a:t>If hardware primitives are not correct (or unpredictable), programmer’s life is tough</a:t>
            </a:r>
          </a:p>
          <a:p>
            <a:pPr lvl="1"/>
            <a:r>
              <a:rPr lang="en-US" altLang="en-US" sz="2100" dirty="0">
                <a:ea typeface="ＭＳ Ｐゴシック" charset="-128"/>
              </a:rPr>
              <a:t>If hardware primitives are correct but not easy to reason about or use, programmer’s life is still tough</a:t>
            </a:r>
          </a:p>
          <a:p>
            <a:endParaRPr lang="en-US" altLang="en-US" sz="2300" dirty="0">
              <a:ea typeface="ＭＳ Ｐゴシック" charset="-128"/>
            </a:endParaRPr>
          </a:p>
          <a:p>
            <a:r>
              <a:rPr lang="en-US" altLang="en-US" sz="2300" dirty="0">
                <a:ea typeface="ＭＳ Ｐゴシック" charset="-128"/>
              </a:rPr>
              <a:t>Programmer needs to make sure mutual exclusion (synchronization) is correctly implemented</a:t>
            </a:r>
          </a:p>
          <a:p>
            <a:pPr lvl="1"/>
            <a:r>
              <a:rPr lang="en-US" altLang="en-US" sz="2000" dirty="0">
                <a:ea typeface="ＭＳ Ｐゴシック" charset="-128"/>
              </a:rPr>
              <a:t>But, correct parallel programming is an important topic</a:t>
            </a:r>
          </a:p>
          <a:p>
            <a:pPr lvl="1"/>
            <a:r>
              <a:rPr lang="en-US" altLang="en-US" sz="2000" b="1" dirty="0">
                <a:ea typeface="ＭＳ Ｐゴシック" charset="-128"/>
              </a:rPr>
              <a:t>Coherence</a:t>
            </a:r>
            <a:r>
              <a:rPr lang="en-US" altLang="en-US" sz="2000" dirty="0">
                <a:ea typeface="ＭＳ Ｐゴシック" charset="-128"/>
              </a:rPr>
              <a:t> is cheaper than </a:t>
            </a:r>
            <a:r>
              <a:rPr lang="en-US" altLang="en-US" sz="2000" b="1" dirty="0">
                <a:ea typeface="ＭＳ Ｐゴシック" charset="-128"/>
              </a:rPr>
              <a:t>OS-level barrier</a:t>
            </a:r>
            <a:endParaRPr lang="en-US" altLang="en-US" sz="2300" dirty="0">
              <a:ea typeface="ＭＳ Ｐゴシック" charset="-128"/>
            </a:endParaRPr>
          </a:p>
          <a:p>
            <a:endParaRPr lang="en-US" altLang="en-US" dirty="0">
              <a:ea typeface="ＭＳ Ｐゴシック" charset="-128"/>
            </a:endParaRPr>
          </a:p>
        </p:txBody>
      </p:sp>
      <p:sp>
        <p:nvSpPr>
          <p:cNvPr id="71683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fld id="{D6988D6E-4F1B-8A4F-B797-97E7D2797BE0}" type="slidenum">
              <a:rPr lang="en-US" altLang="en-US" sz="1600">
                <a:solidFill>
                  <a:srgbClr val="000000"/>
                </a:solidFill>
                <a:latin typeface="Garamond" charset="0"/>
              </a:rPr>
              <a:pPr eaLnBrk="1" hangingPunct="1"/>
              <a:t>62</a:t>
            </a:fld>
            <a:endParaRPr lang="en-US" altLang="en-US" sz="1600">
              <a:solidFill>
                <a:srgbClr val="000000"/>
              </a:solidFill>
              <a:latin typeface="Garamon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526611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Title 1">
            <a:extLst>
              <a:ext uri="{FF2B5EF4-FFF2-40B4-BE49-F238E27FC236}">
                <a16:creationId xmlns:a16="http://schemas.microsoft.com/office/drawing/2014/main" id="{37341F1E-EEC5-5E40-B8E1-F001AF083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Memory Model  in the GPU Architecture</a:t>
            </a:r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FC5739B9-63E5-1E41-8390-7E8804EBCA8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777038" y="6318250"/>
            <a:ext cx="21336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B31A252-A455-7E4D-8859-45EB22A1C421}" type="slidenum"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63</a:t>
            </a:fld>
            <a:endParaRPr kumimoji="0" lang="en-US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82" name="TextBox 8">
            <a:extLst>
              <a:ext uri="{FF2B5EF4-FFF2-40B4-BE49-F238E27FC236}">
                <a16:creationId xmlns:a16="http://schemas.microsoft.com/office/drawing/2014/main" id="{9B6461DD-DB21-AC41-9D23-C2997A61866D}"/>
              </a:ext>
            </a:extLst>
          </p:cNvPr>
          <p:cNvSpPr txBox="1"/>
          <p:nvPr/>
        </p:nvSpPr>
        <p:spPr>
          <a:xfrm>
            <a:off x="5825404" y="1766256"/>
            <a:ext cx="426364" cy="5150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276F10E9-5D35-C047-9389-5743472286EE}"/>
              </a:ext>
            </a:extLst>
          </p:cNvPr>
          <p:cNvSpPr/>
          <p:nvPr/>
        </p:nvSpPr>
        <p:spPr>
          <a:xfrm>
            <a:off x="1259632" y="991435"/>
            <a:ext cx="1979133" cy="2432174"/>
          </a:xfrm>
          <a:prstGeom prst="rect">
            <a:avLst/>
          </a:prstGeom>
          <a:solidFill>
            <a:srgbClr val="9DC3E6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SM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A9252F14-ED24-A44E-AE4B-2FA08A12D044}"/>
              </a:ext>
            </a:extLst>
          </p:cNvPr>
          <p:cNvSpPr/>
          <p:nvPr/>
        </p:nvSpPr>
        <p:spPr>
          <a:xfrm>
            <a:off x="1342482" y="1794634"/>
            <a:ext cx="392637" cy="39263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Core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1E6141C9-64F2-E147-84F7-633ACB5BDBAD}"/>
              </a:ext>
            </a:extLst>
          </p:cNvPr>
          <p:cNvSpPr/>
          <p:nvPr/>
        </p:nvSpPr>
        <p:spPr>
          <a:xfrm>
            <a:off x="1800558" y="1794634"/>
            <a:ext cx="392637" cy="39263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Core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4228492C-83A0-4647-A270-788F43A78BE2}"/>
              </a:ext>
            </a:extLst>
          </p:cNvPr>
          <p:cNvSpPr/>
          <p:nvPr/>
        </p:nvSpPr>
        <p:spPr>
          <a:xfrm>
            <a:off x="1342482" y="2271601"/>
            <a:ext cx="392637" cy="39263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Core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36E8CECF-E44C-3B41-81A4-E8BB527DD0EC}"/>
              </a:ext>
            </a:extLst>
          </p:cNvPr>
          <p:cNvSpPr/>
          <p:nvPr/>
        </p:nvSpPr>
        <p:spPr>
          <a:xfrm>
            <a:off x="1800558" y="2271601"/>
            <a:ext cx="392637" cy="39263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Core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CBB399AC-5271-0547-B4DA-7E31FFD6E600}"/>
              </a:ext>
            </a:extLst>
          </p:cNvPr>
          <p:cNvSpPr/>
          <p:nvPr/>
        </p:nvSpPr>
        <p:spPr>
          <a:xfrm>
            <a:off x="2276045" y="1794634"/>
            <a:ext cx="392637" cy="39263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Core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EA2CC834-1C86-A94E-8BED-E36D3646CAFE}"/>
              </a:ext>
            </a:extLst>
          </p:cNvPr>
          <p:cNvSpPr/>
          <p:nvPr/>
        </p:nvSpPr>
        <p:spPr>
          <a:xfrm>
            <a:off x="2734121" y="1794634"/>
            <a:ext cx="392637" cy="39263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Core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948F5E5D-EDE9-5E44-B22F-F550402F88BC}"/>
              </a:ext>
            </a:extLst>
          </p:cNvPr>
          <p:cNvSpPr/>
          <p:nvPr/>
        </p:nvSpPr>
        <p:spPr>
          <a:xfrm>
            <a:off x="2276045" y="2271601"/>
            <a:ext cx="392637" cy="39263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Core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B79CC606-64F2-4342-ACF7-7D83EE7C99C9}"/>
              </a:ext>
            </a:extLst>
          </p:cNvPr>
          <p:cNvSpPr/>
          <p:nvPr/>
        </p:nvSpPr>
        <p:spPr>
          <a:xfrm>
            <a:off x="2734121" y="2271601"/>
            <a:ext cx="392637" cy="39263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Core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DD66953F-B35D-E040-851C-E3C567972493}"/>
              </a:ext>
            </a:extLst>
          </p:cNvPr>
          <p:cNvSpPr/>
          <p:nvPr/>
        </p:nvSpPr>
        <p:spPr>
          <a:xfrm>
            <a:off x="1256758" y="3675520"/>
            <a:ext cx="7163998" cy="45937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L2 Cache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A88796A-D381-194A-BE32-B2D70843F2D9}"/>
              </a:ext>
            </a:extLst>
          </p:cNvPr>
          <p:cNvSpPr/>
          <p:nvPr/>
        </p:nvSpPr>
        <p:spPr>
          <a:xfrm>
            <a:off x="1178211" y="4306882"/>
            <a:ext cx="7242546" cy="45937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Global Memory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97111E92-112A-9749-9269-9CD6EE367E89}"/>
              </a:ext>
            </a:extLst>
          </p:cNvPr>
          <p:cNvSpPr/>
          <p:nvPr/>
        </p:nvSpPr>
        <p:spPr>
          <a:xfrm>
            <a:off x="1342481" y="1393601"/>
            <a:ext cx="1784276" cy="313189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Registers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F0543D13-A204-EB40-BFE5-BDF253B7DC5A}"/>
              </a:ext>
            </a:extLst>
          </p:cNvPr>
          <p:cNvSpPr/>
          <p:nvPr/>
        </p:nvSpPr>
        <p:spPr>
          <a:xfrm>
            <a:off x="1342481" y="2776638"/>
            <a:ext cx="892138" cy="559925"/>
          </a:xfrm>
          <a:prstGeom prst="rect">
            <a:avLst/>
          </a:prstGeom>
          <a:solidFill>
            <a:schemeClr val="accent5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Shared Memory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0506305-2488-C84A-B09D-3BA3D1D0FCC1}"/>
              </a:ext>
            </a:extLst>
          </p:cNvPr>
          <p:cNvSpPr/>
          <p:nvPr/>
        </p:nvSpPr>
        <p:spPr>
          <a:xfrm>
            <a:off x="2290623" y="2783059"/>
            <a:ext cx="892138" cy="559925"/>
          </a:xfrm>
          <a:prstGeom prst="rect">
            <a:avLst/>
          </a:prstGeom>
          <a:solidFill>
            <a:schemeClr val="accent5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L1 Cache</a:t>
            </a:r>
          </a:p>
        </p:txBody>
      </p:sp>
      <p:sp>
        <p:nvSpPr>
          <p:cNvPr id="79" name="TextBox 54">
            <a:extLst>
              <a:ext uri="{FF2B5EF4-FFF2-40B4-BE49-F238E27FC236}">
                <a16:creationId xmlns:a16="http://schemas.microsoft.com/office/drawing/2014/main" id="{FCDD5EC2-8E3E-DA42-98AC-56AD1DF199F7}"/>
              </a:ext>
            </a:extLst>
          </p:cNvPr>
          <p:cNvSpPr txBox="1"/>
          <p:nvPr/>
        </p:nvSpPr>
        <p:spPr>
          <a:xfrm>
            <a:off x="431212" y="2766021"/>
            <a:ext cx="7469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≈5 cycles</a:t>
            </a:r>
          </a:p>
        </p:txBody>
      </p:sp>
      <p:sp>
        <p:nvSpPr>
          <p:cNvPr id="80" name="TextBox 57">
            <a:extLst>
              <a:ext uri="{FF2B5EF4-FFF2-40B4-BE49-F238E27FC236}">
                <a16:creationId xmlns:a16="http://schemas.microsoft.com/office/drawing/2014/main" id="{0B56DF3A-8EA3-C140-A39E-FD178D829132}"/>
              </a:ext>
            </a:extLst>
          </p:cNvPr>
          <p:cNvSpPr txBox="1"/>
          <p:nvPr/>
        </p:nvSpPr>
        <p:spPr>
          <a:xfrm>
            <a:off x="431212" y="3286910"/>
            <a:ext cx="7469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≈5 cycles</a:t>
            </a:r>
          </a:p>
        </p:txBody>
      </p:sp>
      <p:sp>
        <p:nvSpPr>
          <p:cNvPr id="81" name="TextBox 59">
            <a:extLst>
              <a:ext uri="{FF2B5EF4-FFF2-40B4-BE49-F238E27FC236}">
                <a16:creationId xmlns:a16="http://schemas.microsoft.com/office/drawing/2014/main" id="{CD32767B-F403-8949-95B4-697EEA6DA7DE}"/>
              </a:ext>
            </a:extLst>
          </p:cNvPr>
          <p:cNvSpPr txBox="1"/>
          <p:nvPr/>
        </p:nvSpPr>
        <p:spPr>
          <a:xfrm>
            <a:off x="271243" y="4398068"/>
            <a:ext cx="9040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≈500 cycles</a:t>
            </a:r>
          </a:p>
        </p:txBody>
      </p:sp>
      <p:sp>
        <p:nvSpPr>
          <p:cNvPr id="113" name="TextBox 610">
            <a:extLst>
              <a:ext uri="{FF2B5EF4-FFF2-40B4-BE49-F238E27FC236}">
                <a16:creationId xmlns:a16="http://schemas.microsoft.com/office/drawing/2014/main" id="{0E2A1C3B-17D5-E044-9B34-2953CD19DD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6541584"/>
            <a:ext cx="156164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Slide credit: Izzat El Hajj</a:t>
            </a:r>
          </a:p>
        </p:txBody>
      </p:sp>
      <p:sp>
        <p:nvSpPr>
          <p:cNvPr id="117" name="Rectangle 82">
            <a:extLst>
              <a:ext uri="{FF2B5EF4-FFF2-40B4-BE49-F238E27FC236}">
                <a16:creationId xmlns:a16="http://schemas.microsoft.com/office/drawing/2014/main" id="{89AD76BA-9D7D-487A-AEFE-20137E65AFFF}"/>
              </a:ext>
            </a:extLst>
          </p:cNvPr>
          <p:cNvSpPr/>
          <p:nvPr/>
        </p:nvSpPr>
        <p:spPr>
          <a:xfrm>
            <a:off x="3699673" y="990600"/>
            <a:ext cx="1979133" cy="2432174"/>
          </a:xfrm>
          <a:prstGeom prst="rect">
            <a:avLst/>
          </a:prstGeom>
          <a:solidFill>
            <a:srgbClr val="9DC3E6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SM</a:t>
            </a:r>
          </a:p>
        </p:txBody>
      </p:sp>
      <p:sp>
        <p:nvSpPr>
          <p:cNvPr id="118" name="Rectangle 83">
            <a:extLst>
              <a:ext uri="{FF2B5EF4-FFF2-40B4-BE49-F238E27FC236}">
                <a16:creationId xmlns:a16="http://schemas.microsoft.com/office/drawing/2014/main" id="{D6A2252C-5577-4CDE-B39A-945A176900BC}"/>
              </a:ext>
            </a:extLst>
          </p:cNvPr>
          <p:cNvSpPr/>
          <p:nvPr/>
        </p:nvSpPr>
        <p:spPr>
          <a:xfrm>
            <a:off x="3782523" y="1793799"/>
            <a:ext cx="392637" cy="39263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Core</a:t>
            </a:r>
          </a:p>
        </p:txBody>
      </p:sp>
      <p:sp>
        <p:nvSpPr>
          <p:cNvPr id="123" name="Rectangle 85">
            <a:extLst>
              <a:ext uri="{FF2B5EF4-FFF2-40B4-BE49-F238E27FC236}">
                <a16:creationId xmlns:a16="http://schemas.microsoft.com/office/drawing/2014/main" id="{F81C575D-2C4E-40B4-87DC-FBC334D889C7}"/>
              </a:ext>
            </a:extLst>
          </p:cNvPr>
          <p:cNvSpPr/>
          <p:nvPr/>
        </p:nvSpPr>
        <p:spPr>
          <a:xfrm>
            <a:off x="4240599" y="1793799"/>
            <a:ext cx="392637" cy="39263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Core</a:t>
            </a:r>
          </a:p>
        </p:txBody>
      </p:sp>
      <p:sp>
        <p:nvSpPr>
          <p:cNvPr id="124" name="Rectangle 86">
            <a:extLst>
              <a:ext uri="{FF2B5EF4-FFF2-40B4-BE49-F238E27FC236}">
                <a16:creationId xmlns:a16="http://schemas.microsoft.com/office/drawing/2014/main" id="{B60D696D-21DC-415E-9659-017832DDD9D6}"/>
              </a:ext>
            </a:extLst>
          </p:cNvPr>
          <p:cNvSpPr/>
          <p:nvPr/>
        </p:nvSpPr>
        <p:spPr>
          <a:xfrm>
            <a:off x="3782523" y="2270766"/>
            <a:ext cx="392637" cy="39263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Core</a:t>
            </a:r>
          </a:p>
        </p:txBody>
      </p:sp>
      <p:sp>
        <p:nvSpPr>
          <p:cNvPr id="125" name="Rectangle 87">
            <a:extLst>
              <a:ext uri="{FF2B5EF4-FFF2-40B4-BE49-F238E27FC236}">
                <a16:creationId xmlns:a16="http://schemas.microsoft.com/office/drawing/2014/main" id="{A3ABFDFB-777B-48D2-8E08-2CFADEAF8BBE}"/>
              </a:ext>
            </a:extLst>
          </p:cNvPr>
          <p:cNvSpPr/>
          <p:nvPr/>
        </p:nvSpPr>
        <p:spPr>
          <a:xfrm>
            <a:off x="4240599" y="2270766"/>
            <a:ext cx="392637" cy="39263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Core</a:t>
            </a:r>
          </a:p>
        </p:txBody>
      </p:sp>
      <p:sp>
        <p:nvSpPr>
          <p:cNvPr id="126" name="Rectangle 88">
            <a:extLst>
              <a:ext uri="{FF2B5EF4-FFF2-40B4-BE49-F238E27FC236}">
                <a16:creationId xmlns:a16="http://schemas.microsoft.com/office/drawing/2014/main" id="{8233E863-767A-4676-A20B-9FEBF8D0B5BD}"/>
              </a:ext>
            </a:extLst>
          </p:cNvPr>
          <p:cNvSpPr/>
          <p:nvPr/>
        </p:nvSpPr>
        <p:spPr>
          <a:xfrm>
            <a:off x="4716086" y="1793799"/>
            <a:ext cx="392637" cy="39263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Core</a:t>
            </a:r>
          </a:p>
        </p:txBody>
      </p:sp>
      <p:sp>
        <p:nvSpPr>
          <p:cNvPr id="127" name="Rectangle 89">
            <a:extLst>
              <a:ext uri="{FF2B5EF4-FFF2-40B4-BE49-F238E27FC236}">
                <a16:creationId xmlns:a16="http://schemas.microsoft.com/office/drawing/2014/main" id="{2EAD4A23-5A58-4FC7-9678-E653D50E6843}"/>
              </a:ext>
            </a:extLst>
          </p:cNvPr>
          <p:cNvSpPr/>
          <p:nvPr/>
        </p:nvSpPr>
        <p:spPr>
          <a:xfrm>
            <a:off x="5174162" y="1793799"/>
            <a:ext cx="392637" cy="39263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Core</a:t>
            </a:r>
          </a:p>
        </p:txBody>
      </p:sp>
      <p:sp>
        <p:nvSpPr>
          <p:cNvPr id="128" name="Rectangle 90">
            <a:extLst>
              <a:ext uri="{FF2B5EF4-FFF2-40B4-BE49-F238E27FC236}">
                <a16:creationId xmlns:a16="http://schemas.microsoft.com/office/drawing/2014/main" id="{D7E0F72E-AC6E-48C4-A948-D3338FE6480F}"/>
              </a:ext>
            </a:extLst>
          </p:cNvPr>
          <p:cNvSpPr/>
          <p:nvPr/>
        </p:nvSpPr>
        <p:spPr>
          <a:xfrm>
            <a:off x="4716086" y="2270766"/>
            <a:ext cx="392637" cy="39263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Core</a:t>
            </a:r>
          </a:p>
        </p:txBody>
      </p:sp>
      <p:sp>
        <p:nvSpPr>
          <p:cNvPr id="129" name="Rectangle 91">
            <a:extLst>
              <a:ext uri="{FF2B5EF4-FFF2-40B4-BE49-F238E27FC236}">
                <a16:creationId xmlns:a16="http://schemas.microsoft.com/office/drawing/2014/main" id="{2EDC8FE1-F3E8-41C9-9262-4DC22C894586}"/>
              </a:ext>
            </a:extLst>
          </p:cNvPr>
          <p:cNvSpPr/>
          <p:nvPr/>
        </p:nvSpPr>
        <p:spPr>
          <a:xfrm>
            <a:off x="5174162" y="2270766"/>
            <a:ext cx="392637" cy="39263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Core</a:t>
            </a:r>
          </a:p>
        </p:txBody>
      </p:sp>
      <p:sp>
        <p:nvSpPr>
          <p:cNvPr id="130" name="Rectangle 65">
            <a:extLst>
              <a:ext uri="{FF2B5EF4-FFF2-40B4-BE49-F238E27FC236}">
                <a16:creationId xmlns:a16="http://schemas.microsoft.com/office/drawing/2014/main" id="{22BB9FA1-98E5-4C12-90BD-20A75D574EB7}"/>
              </a:ext>
            </a:extLst>
          </p:cNvPr>
          <p:cNvSpPr/>
          <p:nvPr/>
        </p:nvSpPr>
        <p:spPr>
          <a:xfrm>
            <a:off x="3782522" y="1392766"/>
            <a:ext cx="1784276" cy="313189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Registers</a:t>
            </a:r>
          </a:p>
        </p:txBody>
      </p:sp>
      <p:sp>
        <p:nvSpPr>
          <p:cNvPr id="131" name="Rectangle 66">
            <a:extLst>
              <a:ext uri="{FF2B5EF4-FFF2-40B4-BE49-F238E27FC236}">
                <a16:creationId xmlns:a16="http://schemas.microsoft.com/office/drawing/2014/main" id="{05FFE995-F58F-4BD7-9D59-914992B7C972}"/>
              </a:ext>
            </a:extLst>
          </p:cNvPr>
          <p:cNvSpPr/>
          <p:nvPr/>
        </p:nvSpPr>
        <p:spPr>
          <a:xfrm>
            <a:off x="3782522" y="2775803"/>
            <a:ext cx="892138" cy="559925"/>
          </a:xfrm>
          <a:prstGeom prst="rect">
            <a:avLst/>
          </a:prstGeom>
          <a:solidFill>
            <a:schemeClr val="accent5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Shared Memory</a:t>
            </a:r>
          </a:p>
        </p:txBody>
      </p:sp>
      <p:sp>
        <p:nvSpPr>
          <p:cNvPr id="132" name="Rectangle 67">
            <a:extLst>
              <a:ext uri="{FF2B5EF4-FFF2-40B4-BE49-F238E27FC236}">
                <a16:creationId xmlns:a16="http://schemas.microsoft.com/office/drawing/2014/main" id="{482D6D5F-CCD3-4AEA-B098-476ED3488A5B}"/>
              </a:ext>
            </a:extLst>
          </p:cNvPr>
          <p:cNvSpPr/>
          <p:nvPr/>
        </p:nvSpPr>
        <p:spPr>
          <a:xfrm>
            <a:off x="4730664" y="2782224"/>
            <a:ext cx="892138" cy="559925"/>
          </a:xfrm>
          <a:prstGeom prst="rect">
            <a:avLst/>
          </a:prstGeom>
          <a:solidFill>
            <a:schemeClr val="accent5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L1 Cache</a:t>
            </a:r>
          </a:p>
        </p:txBody>
      </p:sp>
      <p:sp>
        <p:nvSpPr>
          <p:cNvPr id="133" name="Rectangle 82">
            <a:extLst>
              <a:ext uri="{FF2B5EF4-FFF2-40B4-BE49-F238E27FC236}">
                <a16:creationId xmlns:a16="http://schemas.microsoft.com/office/drawing/2014/main" id="{2EDD7BAA-90EE-474F-99D0-BE1CDBB2FD69}"/>
              </a:ext>
            </a:extLst>
          </p:cNvPr>
          <p:cNvSpPr/>
          <p:nvPr/>
        </p:nvSpPr>
        <p:spPr>
          <a:xfrm>
            <a:off x="6398366" y="990600"/>
            <a:ext cx="1979133" cy="2432174"/>
          </a:xfrm>
          <a:prstGeom prst="rect">
            <a:avLst/>
          </a:prstGeom>
          <a:solidFill>
            <a:srgbClr val="9DC3E6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SM</a:t>
            </a:r>
          </a:p>
        </p:txBody>
      </p:sp>
      <p:sp>
        <p:nvSpPr>
          <p:cNvPr id="134" name="Rectangle 83">
            <a:extLst>
              <a:ext uri="{FF2B5EF4-FFF2-40B4-BE49-F238E27FC236}">
                <a16:creationId xmlns:a16="http://schemas.microsoft.com/office/drawing/2014/main" id="{2254D199-BE3D-4BD0-B62F-2DB85A376270}"/>
              </a:ext>
            </a:extLst>
          </p:cNvPr>
          <p:cNvSpPr/>
          <p:nvPr/>
        </p:nvSpPr>
        <p:spPr>
          <a:xfrm>
            <a:off x="6481216" y="1793799"/>
            <a:ext cx="392637" cy="39263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Core</a:t>
            </a:r>
          </a:p>
        </p:txBody>
      </p:sp>
      <p:sp>
        <p:nvSpPr>
          <p:cNvPr id="135" name="Rectangle 85">
            <a:extLst>
              <a:ext uri="{FF2B5EF4-FFF2-40B4-BE49-F238E27FC236}">
                <a16:creationId xmlns:a16="http://schemas.microsoft.com/office/drawing/2014/main" id="{E6704954-36CA-4B77-AEDD-6DE1DFBCFEA2}"/>
              </a:ext>
            </a:extLst>
          </p:cNvPr>
          <p:cNvSpPr/>
          <p:nvPr/>
        </p:nvSpPr>
        <p:spPr>
          <a:xfrm>
            <a:off x="6939292" y="1793799"/>
            <a:ext cx="392637" cy="39263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Core</a:t>
            </a:r>
          </a:p>
        </p:txBody>
      </p:sp>
      <p:sp>
        <p:nvSpPr>
          <p:cNvPr id="136" name="Rectangle 86">
            <a:extLst>
              <a:ext uri="{FF2B5EF4-FFF2-40B4-BE49-F238E27FC236}">
                <a16:creationId xmlns:a16="http://schemas.microsoft.com/office/drawing/2014/main" id="{254CC453-A08C-4552-AD60-A5F77673650F}"/>
              </a:ext>
            </a:extLst>
          </p:cNvPr>
          <p:cNvSpPr/>
          <p:nvPr/>
        </p:nvSpPr>
        <p:spPr>
          <a:xfrm>
            <a:off x="6481216" y="2270766"/>
            <a:ext cx="392637" cy="39263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Core</a:t>
            </a:r>
          </a:p>
        </p:txBody>
      </p:sp>
      <p:sp>
        <p:nvSpPr>
          <p:cNvPr id="137" name="Rectangle 87">
            <a:extLst>
              <a:ext uri="{FF2B5EF4-FFF2-40B4-BE49-F238E27FC236}">
                <a16:creationId xmlns:a16="http://schemas.microsoft.com/office/drawing/2014/main" id="{A09B3257-7EFB-449A-B510-DEF905489CFF}"/>
              </a:ext>
            </a:extLst>
          </p:cNvPr>
          <p:cNvSpPr/>
          <p:nvPr/>
        </p:nvSpPr>
        <p:spPr>
          <a:xfrm>
            <a:off x="6939292" y="2270766"/>
            <a:ext cx="392637" cy="39263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Core</a:t>
            </a:r>
          </a:p>
        </p:txBody>
      </p:sp>
      <p:sp>
        <p:nvSpPr>
          <p:cNvPr id="138" name="Rectangle 88">
            <a:extLst>
              <a:ext uri="{FF2B5EF4-FFF2-40B4-BE49-F238E27FC236}">
                <a16:creationId xmlns:a16="http://schemas.microsoft.com/office/drawing/2014/main" id="{AACB36A5-5BAB-4C4E-8678-209E93A35FC9}"/>
              </a:ext>
            </a:extLst>
          </p:cNvPr>
          <p:cNvSpPr/>
          <p:nvPr/>
        </p:nvSpPr>
        <p:spPr>
          <a:xfrm>
            <a:off x="7414779" y="1793799"/>
            <a:ext cx="392637" cy="39263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Core</a:t>
            </a:r>
          </a:p>
        </p:txBody>
      </p:sp>
      <p:sp>
        <p:nvSpPr>
          <p:cNvPr id="139" name="Rectangle 89">
            <a:extLst>
              <a:ext uri="{FF2B5EF4-FFF2-40B4-BE49-F238E27FC236}">
                <a16:creationId xmlns:a16="http://schemas.microsoft.com/office/drawing/2014/main" id="{64F5E070-56AE-48F6-9945-CE0ADE22895E}"/>
              </a:ext>
            </a:extLst>
          </p:cNvPr>
          <p:cNvSpPr/>
          <p:nvPr/>
        </p:nvSpPr>
        <p:spPr>
          <a:xfrm>
            <a:off x="7872855" y="1793799"/>
            <a:ext cx="392637" cy="39263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Core</a:t>
            </a:r>
          </a:p>
        </p:txBody>
      </p:sp>
      <p:sp>
        <p:nvSpPr>
          <p:cNvPr id="140" name="Rectangle 90">
            <a:extLst>
              <a:ext uri="{FF2B5EF4-FFF2-40B4-BE49-F238E27FC236}">
                <a16:creationId xmlns:a16="http://schemas.microsoft.com/office/drawing/2014/main" id="{E48E2997-5D05-403D-B2FB-FDD38BE4B4B6}"/>
              </a:ext>
            </a:extLst>
          </p:cNvPr>
          <p:cNvSpPr/>
          <p:nvPr/>
        </p:nvSpPr>
        <p:spPr>
          <a:xfrm>
            <a:off x="7414779" y="2270766"/>
            <a:ext cx="392637" cy="39263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Core</a:t>
            </a:r>
          </a:p>
        </p:txBody>
      </p:sp>
      <p:sp>
        <p:nvSpPr>
          <p:cNvPr id="141" name="Rectangle 91">
            <a:extLst>
              <a:ext uri="{FF2B5EF4-FFF2-40B4-BE49-F238E27FC236}">
                <a16:creationId xmlns:a16="http://schemas.microsoft.com/office/drawing/2014/main" id="{9C9AEBB0-8067-4477-BB26-FD4D84822FCF}"/>
              </a:ext>
            </a:extLst>
          </p:cNvPr>
          <p:cNvSpPr/>
          <p:nvPr/>
        </p:nvSpPr>
        <p:spPr>
          <a:xfrm>
            <a:off x="7872855" y="2270766"/>
            <a:ext cx="392637" cy="39263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Core</a:t>
            </a:r>
          </a:p>
        </p:txBody>
      </p:sp>
      <p:sp>
        <p:nvSpPr>
          <p:cNvPr id="142" name="Rectangle 65">
            <a:extLst>
              <a:ext uri="{FF2B5EF4-FFF2-40B4-BE49-F238E27FC236}">
                <a16:creationId xmlns:a16="http://schemas.microsoft.com/office/drawing/2014/main" id="{89E8678D-ADBE-43C9-B151-2F1BF93A0687}"/>
              </a:ext>
            </a:extLst>
          </p:cNvPr>
          <p:cNvSpPr/>
          <p:nvPr/>
        </p:nvSpPr>
        <p:spPr>
          <a:xfrm>
            <a:off x="6481215" y="1392766"/>
            <a:ext cx="1784276" cy="313189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Registers</a:t>
            </a:r>
          </a:p>
        </p:txBody>
      </p:sp>
      <p:sp>
        <p:nvSpPr>
          <p:cNvPr id="143" name="Rectangle 66">
            <a:extLst>
              <a:ext uri="{FF2B5EF4-FFF2-40B4-BE49-F238E27FC236}">
                <a16:creationId xmlns:a16="http://schemas.microsoft.com/office/drawing/2014/main" id="{7FB142CC-43A7-4412-95C8-21143B7C781D}"/>
              </a:ext>
            </a:extLst>
          </p:cNvPr>
          <p:cNvSpPr/>
          <p:nvPr/>
        </p:nvSpPr>
        <p:spPr>
          <a:xfrm>
            <a:off x="6481215" y="2775803"/>
            <a:ext cx="892138" cy="559925"/>
          </a:xfrm>
          <a:prstGeom prst="rect">
            <a:avLst/>
          </a:prstGeom>
          <a:solidFill>
            <a:schemeClr val="accent5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Shared Memory</a:t>
            </a:r>
          </a:p>
        </p:txBody>
      </p:sp>
      <p:sp>
        <p:nvSpPr>
          <p:cNvPr id="144" name="Rectangle 67">
            <a:extLst>
              <a:ext uri="{FF2B5EF4-FFF2-40B4-BE49-F238E27FC236}">
                <a16:creationId xmlns:a16="http://schemas.microsoft.com/office/drawing/2014/main" id="{2B633958-C602-4B10-9CC5-1DC588E01575}"/>
              </a:ext>
            </a:extLst>
          </p:cNvPr>
          <p:cNvSpPr/>
          <p:nvPr/>
        </p:nvSpPr>
        <p:spPr>
          <a:xfrm>
            <a:off x="7429357" y="2782224"/>
            <a:ext cx="892138" cy="559925"/>
          </a:xfrm>
          <a:prstGeom prst="rect">
            <a:avLst/>
          </a:prstGeom>
          <a:solidFill>
            <a:schemeClr val="accent5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L1 Cache</a:t>
            </a:r>
          </a:p>
        </p:txBody>
      </p:sp>
      <p:sp>
        <p:nvSpPr>
          <p:cNvPr id="145" name="Content Placeholder 2">
            <a:extLst>
              <a:ext uri="{FF2B5EF4-FFF2-40B4-BE49-F238E27FC236}">
                <a16:creationId xmlns:a16="http://schemas.microsoft.com/office/drawing/2014/main" id="{C7A99570-AF62-4B4F-951C-64A79F69DD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846759"/>
            <a:ext cx="9296400" cy="1501446"/>
          </a:xfrm>
        </p:spPr>
        <p:txBody>
          <a:bodyPr/>
          <a:lstStyle/>
          <a:p>
            <a:r>
              <a:rPr lang="en-US" altLang="en-US" dirty="0">
                <a:ea typeface="ＭＳ Ｐゴシック" charset="-128"/>
              </a:rPr>
              <a:t>Cache Consistency Issue</a:t>
            </a:r>
          </a:p>
          <a:p>
            <a:pPr lvl="1"/>
            <a:r>
              <a:rPr lang="en-US" altLang="en-US" dirty="0">
                <a:ea typeface="ＭＳ Ｐゴシック" charset="-128"/>
              </a:rPr>
              <a:t>Each SM writes data to its L1 cache, which does not affect shared L2 cache immediately. </a:t>
            </a:r>
          </a:p>
          <a:p>
            <a:pPr lvl="1"/>
            <a:r>
              <a:rPr lang="en-US" altLang="en-US">
                <a:ea typeface="ＭＳ Ｐゴシック" charset="-128"/>
              </a:rPr>
              <a:t>Manually </a:t>
            </a:r>
            <a:r>
              <a:rPr lang="en-US" altLang="en-US" dirty="0">
                <a:ea typeface="ＭＳ Ｐゴシック" charset="-128"/>
              </a:rPr>
              <a:t>use PTX instructions to write data to L2 or global memory.</a:t>
            </a:r>
          </a:p>
          <a:p>
            <a:pPr lvl="1"/>
            <a:endParaRPr lang="en-US" altLang="en-US" dirty="0"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2621192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6015A-F9DB-1C48-A087-8967E9E70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Recall: </a:t>
            </a:r>
            <a:r>
              <a:rPr lang="en-US" dirty="0"/>
              <a:t>Cache Hierarchy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C52A8E-156B-734C-B5D7-CA6A598003D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CD3246B-4504-6A44-A3C6-3AD1B220008A}" type="slidenum">
              <a:rPr lang="en-US" altLang="en-US" smtClean="0"/>
              <a:pPr>
                <a:defRPr/>
              </a:pPr>
              <a:t>64</a:t>
            </a:fld>
            <a:endParaRPr lang="en-US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C79151-B78D-2A49-8F61-16C7157EEB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52463"/>
            <a:ext cx="9144000" cy="380533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F8DE12A-B88D-7A46-949F-A6114F155527}"/>
              </a:ext>
            </a:extLst>
          </p:cNvPr>
          <p:cNvSpPr txBox="1"/>
          <p:nvPr/>
        </p:nvSpPr>
        <p:spPr>
          <a:xfrm>
            <a:off x="308344" y="5860471"/>
            <a:ext cx="8183651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1" algn="ctr"/>
            <a:r>
              <a:rPr lang="en-US" altLang="en-US" dirty="0"/>
              <a:t>Kim &amp; Mutlu, “Memory Systems,” Computing Handbook, 2014</a:t>
            </a:r>
          </a:p>
          <a:p>
            <a:pPr lvl="1" algn="ctr"/>
            <a:r>
              <a:rPr lang="en-US" altLang="en-US" sz="1400" dirty="0"/>
              <a:t>https://</a:t>
            </a:r>
            <a:r>
              <a:rPr lang="en-US" altLang="en-US" sz="1400" dirty="0" err="1"/>
              <a:t>people.inf.ethz.ch</a:t>
            </a:r>
            <a:r>
              <a:rPr lang="en-US" altLang="en-US" sz="1400" dirty="0"/>
              <a:t>/</a:t>
            </a:r>
            <a:r>
              <a:rPr lang="en-US" altLang="en-US" sz="1400" dirty="0" err="1"/>
              <a:t>omutlu</a:t>
            </a:r>
            <a:r>
              <a:rPr lang="en-US" altLang="en-US" sz="1400" dirty="0"/>
              <a:t>/pub/memory-systems-introduction_computing-handbook14.pdf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9004214"/>
      </p:ext>
    </p:extLst>
  </p:cSld>
  <p:clrMapOvr>
    <a:masterClrMapping/>
  </p:clrMapOvr>
  <p:transition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73" name="Title 1">
            <a:extLst>
              <a:ext uri="{FF2B5EF4-FFF2-40B4-BE49-F238E27FC236}">
                <a16:creationId xmlns:a16="http://schemas.microsoft.com/office/drawing/2014/main" id="{087C6547-ACEF-C146-9355-9054D05A92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Multi-level Caching in a Pipelined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6513A7-41E6-A343-86B8-EBC17964845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914400"/>
            <a:ext cx="8915400" cy="5562600"/>
          </a:xfrm>
        </p:spPr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First-level caches (instruction and data)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Decisions very much affected by cycle time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Small, lower associativity; latency is critical</a:t>
            </a:r>
          </a:p>
          <a:p>
            <a:pPr lvl="1"/>
            <a:r>
              <a:rPr lang="en-US" altLang="en-US" dirty="0">
                <a:solidFill>
                  <a:srgbClr val="0000FF"/>
                </a:solidFill>
                <a:ea typeface="ＭＳ Ｐゴシック" panose="020B0600070205080204" pitchFamily="34" charset="-128"/>
              </a:rPr>
              <a:t>Tag store and data store usually accessed in parallel</a:t>
            </a:r>
          </a:p>
          <a:p>
            <a:r>
              <a:rPr lang="en-US" altLang="en-US" dirty="0">
                <a:ea typeface="ＭＳ Ｐゴシック" panose="020B0600070205080204" pitchFamily="34" charset="-128"/>
              </a:rPr>
              <a:t>Second-level caches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Decisions need to balance hit rate and access latency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Usually large and highly associative; latency not as important</a:t>
            </a:r>
          </a:p>
          <a:p>
            <a:pPr lvl="1"/>
            <a:r>
              <a:rPr lang="en-US" altLang="en-US" dirty="0">
                <a:solidFill>
                  <a:srgbClr val="0000FF"/>
                </a:solidFill>
                <a:ea typeface="ＭＳ Ｐゴシック" panose="020B0600070205080204" pitchFamily="34" charset="-128"/>
              </a:rPr>
              <a:t>Tag store and data store can be accessed serially</a:t>
            </a:r>
          </a:p>
          <a:p>
            <a:pPr lvl="1"/>
            <a:endParaRPr lang="en-US" altLang="en-US" sz="1800" dirty="0">
              <a:ea typeface="ＭＳ Ｐゴシック" panose="020B0600070205080204" pitchFamily="34" charset="-128"/>
            </a:endParaRPr>
          </a:p>
          <a:p>
            <a:r>
              <a:rPr lang="en-US" altLang="en-US" dirty="0">
                <a:ea typeface="ＭＳ Ｐゴシック" panose="020B0600070205080204" pitchFamily="34" charset="-128"/>
              </a:rPr>
              <a:t>Serial vs. Parallel access of levels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Serial: Second level cache accessed only if first-level misses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Second level does not see the same accesses as the first</a:t>
            </a:r>
            <a:endParaRPr lang="en-US" altLang="en-US" dirty="0">
              <a:solidFill>
                <a:srgbClr val="0033CC"/>
              </a:solidFill>
              <a:ea typeface="ＭＳ Ｐゴシック" panose="020B0600070205080204" pitchFamily="34" charset="-128"/>
            </a:endParaRPr>
          </a:p>
          <a:p>
            <a:pPr lvl="2"/>
            <a:r>
              <a:rPr lang="en-US" altLang="en-US" dirty="0">
                <a:solidFill>
                  <a:srgbClr val="0432FF"/>
                </a:solidFill>
                <a:ea typeface="ＭＳ Ｐゴシック" panose="020B0600070205080204" pitchFamily="34" charset="-128"/>
              </a:rPr>
              <a:t>First level acts as a filter (filters some temporal and spatial locality)</a:t>
            </a:r>
          </a:p>
          <a:p>
            <a:pPr lvl="2"/>
            <a:r>
              <a:rPr lang="en-US" altLang="en-US" dirty="0">
                <a:solidFill>
                  <a:srgbClr val="0432FF"/>
                </a:solidFill>
                <a:ea typeface="ＭＳ Ｐゴシック" panose="020B0600070205080204" pitchFamily="34" charset="-128"/>
              </a:rPr>
              <a:t>Management policies are therefore different</a:t>
            </a:r>
          </a:p>
          <a:p>
            <a:pPr lvl="1"/>
            <a:endParaRPr lang="en-US" altLang="en-US" dirty="0">
              <a:ea typeface="ＭＳ Ｐゴシック" panose="020B0600070205080204" pitchFamily="34" charset="-128"/>
            </a:endParaRPr>
          </a:p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233475" name="Slide Number Placeholder 3">
            <a:extLst>
              <a:ext uri="{FF2B5EF4-FFF2-40B4-BE49-F238E27FC236}">
                <a16:creationId xmlns:a16="http://schemas.microsoft.com/office/drawing/2014/main" id="{A8F013D7-B3CF-5247-88B6-2AED2DFD7F0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9CF8124-930C-4142-BB6C-191414A37799}" type="slidenum"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panose="02020404030301010803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65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panose="02020404030301010803" pitchFamily="18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9773414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8763000" cy="1066800"/>
          </a:xfrm>
        </p:spPr>
        <p:txBody>
          <a:bodyPr/>
          <a:lstStyle/>
          <a:p>
            <a:r>
              <a:rPr lang="en-US" dirty="0"/>
              <a:t>Deeper and Larger Cache Hierarchies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96CF17A-3047-224B-BC46-DD606BE3B229}" type="slidenum"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charset="0"/>
                <a:ea typeface="ＭＳ Ｐゴシック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66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charset="0"/>
              <a:ea typeface="ＭＳ Ｐゴシック" charset="-128"/>
              <a:cs typeface="+mn-cs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81" y="1399401"/>
            <a:ext cx="6722200" cy="443332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92974" y="6520190"/>
            <a:ext cx="8493826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https://wccftech.com/amd-ryzen-5000-zen-3-vermeer-undressed-high-res-die-shots-close-ups-pictured-detailed/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3702" y="6047457"/>
            <a:ext cx="32582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AMD Ryzen 5000, 2020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86600" y="1432441"/>
            <a:ext cx="2499952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Core Count: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8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cores/16 threads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L1 Caches: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32 KB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per core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L2 Caches: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512 KB per core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L3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Cache: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32 MB shared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0" name="Rectangle 39">
            <a:extLst>
              <a:ext uri="{FF2B5EF4-FFF2-40B4-BE49-F238E27FC236}">
                <a16:creationId xmlns:a16="http://schemas.microsoft.com/office/drawing/2014/main" id="{E43B13E5-F680-354D-8F66-3B88FCFE528C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1543157" y="1924098"/>
            <a:ext cx="3711767" cy="4022321"/>
          </a:xfrm>
          <a:prstGeom prst="rect">
            <a:avLst/>
          </a:prstGeom>
          <a:noFill/>
          <a:ln w="5080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7870631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6A72A-7A5D-D742-AA80-43A4ED0F6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52400"/>
            <a:ext cx="8991600" cy="1066800"/>
          </a:xfrm>
        </p:spPr>
        <p:txBody>
          <a:bodyPr/>
          <a:lstStyle/>
          <a:p>
            <a:r>
              <a:rPr lang="en-US" dirty="0"/>
              <a:t>Deeper and Larger Cache Hierarchies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6B463F-D9A5-F246-AEBF-B6E35DCE8C6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CD3246B-4504-6A44-A3C6-3AD1B220008A}" type="slidenum">
              <a:rPr kumimoji="0" lang="en-US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aramond" charset="0"/>
                <a:ea typeface="ＭＳ Ｐゴシック" charset="-128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67</a:t>
            </a:fld>
            <a:endParaRPr kumimoji="0" lang="en-US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aramond" charset="0"/>
              <a:ea typeface="ＭＳ Ｐゴシック" charset="-128"/>
              <a:cs typeface="+mn-cs"/>
            </a:endParaRPr>
          </a:p>
        </p:txBody>
      </p:sp>
      <p:pic>
        <p:nvPicPr>
          <p:cNvPr id="5" name="Picture 2" descr="Logical structure of the IBM POWER10 processor">
            <a:extLst>
              <a:ext uri="{FF2B5EF4-FFF2-40B4-BE49-F238E27FC236}">
                <a16:creationId xmlns:a16="http://schemas.microsoft.com/office/drawing/2014/main" id="{6ADD481E-19DE-9A41-BC9C-3EE0A79F12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990600"/>
            <a:ext cx="5679107" cy="5471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55642F6-54C9-E34D-85DE-D198E153BB67}"/>
              </a:ext>
            </a:extLst>
          </p:cNvPr>
          <p:cNvSpPr txBox="1"/>
          <p:nvPr/>
        </p:nvSpPr>
        <p:spPr>
          <a:xfrm>
            <a:off x="738673" y="6498451"/>
            <a:ext cx="72438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https://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www.it-techblog.de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/ibm-power10-prozessor-mehr-speicher-mehr-tempo-mehr-sicherheit/09/2020/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78BC4D-1A2D-3F42-9A30-04C1B7FB7A52}"/>
              </a:ext>
            </a:extLst>
          </p:cNvPr>
          <p:cNvSpPr txBox="1"/>
          <p:nvPr/>
        </p:nvSpPr>
        <p:spPr>
          <a:xfrm>
            <a:off x="7304291" y="1065539"/>
            <a:ext cx="19159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IBM POWER10,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2020</a:t>
            </a:r>
          </a:p>
        </p:txBody>
      </p:sp>
      <p:sp>
        <p:nvSpPr>
          <p:cNvPr id="8" name="Rectangle 39">
            <a:extLst>
              <a:ext uri="{FF2B5EF4-FFF2-40B4-BE49-F238E27FC236}">
                <a16:creationId xmlns:a16="http://schemas.microsoft.com/office/drawing/2014/main" id="{354C51D2-A9DE-7B4B-8BF6-162BD3236CB0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581398" y="2895601"/>
            <a:ext cx="1371602" cy="3657600"/>
          </a:xfrm>
          <a:prstGeom prst="rect">
            <a:avLst/>
          </a:prstGeom>
          <a:noFill/>
          <a:ln w="5080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9" name="Rectangle 39">
            <a:extLst>
              <a:ext uri="{FF2B5EF4-FFF2-40B4-BE49-F238E27FC236}">
                <a16:creationId xmlns:a16="http://schemas.microsoft.com/office/drawing/2014/main" id="{9F37681C-67D9-8347-A15E-41A123016402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601552" y="568871"/>
            <a:ext cx="1371602" cy="3657600"/>
          </a:xfrm>
          <a:prstGeom prst="rect">
            <a:avLst/>
          </a:prstGeom>
          <a:noFill/>
          <a:ln w="5080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DAAC93-B839-BF47-AAD1-4D6898B3644F}"/>
              </a:ext>
            </a:extLst>
          </p:cNvPr>
          <p:cNvSpPr txBox="1"/>
          <p:nvPr/>
        </p:nvSpPr>
        <p:spPr>
          <a:xfrm>
            <a:off x="7239000" y="2166640"/>
            <a:ext cx="249995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Cores: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15-16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cores,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8 threads/core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L2 Caches: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 MB per core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L3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Cache: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120 MB shared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4843767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Deeper and Larger Cache Hierarchies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96CF17A-3047-224B-BC46-DD606BE3B229}" type="slidenum">
              <a:rPr lang="en-US" altLang="en-US" smtClean="0"/>
              <a:pPr>
                <a:defRPr/>
              </a:pPr>
              <a:t>68</a:t>
            </a:fld>
            <a:endParaRPr lang="en-US" altLang="en-US"/>
          </a:p>
        </p:txBody>
      </p:sp>
      <p:sp>
        <p:nvSpPr>
          <p:cNvPr id="10" name="Rectangle 9"/>
          <p:cNvSpPr/>
          <p:nvPr/>
        </p:nvSpPr>
        <p:spPr>
          <a:xfrm>
            <a:off x="305504" y="6498451"/>
            <a:ext cx="845679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accent1"/>
                </a:solidFill>
              </a:rPr>
              <a:t>https://www.tomshardware.com/news/infrared-photographer-photos-nvidia-ga102-ampere-silicon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65500" y="5991195"/>
            <a:ext cx="2895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err="1">
                <a:solidFill>
                  <a:srgbClr val="0432FF"/>
                </a:solidFill>
              </a:rPr>
              <a:t>Nvidia</a:t>
            </a:r>
            <a:r>
              <a:rPr lang="en-US" sz="2000" dirty="0">
                <a:solidFill>
                  <a:srgbClr val="0432FF"/>
                </a:solidFill>
              </a:rPr>
              <a:t> Ampere, 2020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249" y="940949"/>
            <a:ext cx="4436103" cy="507885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380" y="1405760"/>
            <a:ext cx="3504496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Cores:</a:t>
            </a:r>
          </a:p>
          <a:p>
            <a:r>
              <a:rPr lang="en-US" sz="2000" dirty="0"/>
              <a:t>128</a:t>
            </a:r>
            <a:r>
              <a:rPr lang="en-US" dirty="0"/>
              <a:t> Streaming Multiprocessors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sz="2400" dirty="0">
                <a:solidFill>
                  <a:srgbClr val="0070C0"/>
                </a:solidFill>
              </a:rPr>
              <a:t>L1 Cache or Scratchpad: </a:t>
            </a:r>
          </a:p>
          <a:p>
            <a:r>
              <a:rPr lang="en-US" sz="2000" dirty="0" err="1"/>
              <a:t>192KB</a:t>
            </a:r>
            <a:r>
              <a:rPr lang="en-US" dirty="0"/>
              <a:t> per SM </a:t>
            </a:r>
          </a:p>
          <a:p>
            <a:r>
              <a:rPr lang="en-US" dirty="0"/>
              <a:t>Can be used as L1 Cache and/or Scratchpad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2400" dirty="0" err="1">
                <a:solidFill>
                  <a:srgbClr val="0070C0"/>
                </a:solidFill>
              </a:rPr>
              <a:t>L2</a:t>
            </a:r>
            <a:r>
              <a:rPr lang="en-US" sz="2400" dirty="0">
                <a:solidFill>
                  <a:srgbClr val="0070C0"/>
                </a:solidFill>
              </a:rPr>
              <a:t> Cache:</a:t>
            </a:r>
          </a:p>
          <a:p>
            <a:r>
              <a:rPr lang="en-US" sz="2000" dirty="0"/>
              <a:t>40 MB</a:t>
            </a:r>
            <a:r>
              <a:rPr lang="en-US" dirty="0"/>
              <a:t> shared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3209042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7_Edge">
  <a:themeElements>
    <a:clrScheme name="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Edge">
      <a:majorFont>
        <a:latin typeface="Garamond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C0C0C0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C0C0C0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8_Edge">
  <a:themeElements>
    <a:clrScheme name="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Edge">
      <a:majorFont>
        <a:latin typeface="Garamond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C0C0C0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C0C0C0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67_Edge">
  <a:themeElements>
    <a:clrScheme name="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Edge">
      <a:majorFont>
        <a:latin typeface="Garamond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C0C0C0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C0C0C0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71_Edge">
  <a:themeElements>
    <a:clrScheme name="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Edge">
      <a:majorFont>
        <a:latin typeface="Garamond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C0C0C0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C0C0C0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1_Edge">
  <a:themeElements>
    <a:clrScheme name="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Edge">
      <a:majorFont>
        <a:latin typeface="Garamond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13_Edge">
  <a:themeElements>
    <a:clrScheme name="1_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1_Edge">
      <a:majorFont>
        <a:latin typeface="Garamond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1_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82371</TotalTime>
  <Words>5775</Words>
  <Application>Microsoft Macintosh PowerPoint</Application>
  <PresentationFormat>On-screen Show (4:3)</PresentationFormat>
  <Paragraphs>1145</Paragraphs>
  <Slides>68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68</vt:i4>
      </vt:variant>
    </vt:vector>
  </HeadingPairs>
  <TitlesOfParts>
    <vt:vector size="83" baseType="lpstr">
      <vt:lpstr>ＭＳ Ｐゴシック</vt:lpstr>
      <vt:lpstr>Arial</vt:lpstr>
      <vt:lpstr>Arial Narrow</vt:lpstr>
      <vt:lpstr>Calibri</vt:lpstr>
      <vt:lpstr>Garamond</vt:lpstr>
      <vt:lpstr>Imprint MT Shadow</vt:lpstr>
      <vt:lpstr>Tahoma</vt:lpstr>
      <vt:lpstr>Times New Roman</vt:lpstr>
      <vt:lpstr>Wingdings</vt:lpstr>
      <vt:lpstr>7_Edge</vt:lpstr>
      <vt:lpstr>8_Edge</vt:lpstr>
      <vt:lpstr>67_Edge</vt:lpstr>
      <vt:lpstr>71_Edge</vt:lpstr>
      <vt:lpstr>1_Edge</vt:lpstr>
      <vt:lpstr>13_Edge</vt:lpstr>
      <vt:lpstr> Computer Arch. &amp; AI Chip  Lecture 10: Cache Coherence and Cache Consistency</vt:lpstr>
      <vt:lpstr>Where Are We?</vt:lpstr>
      <vt:lpstr>Recall: One Implementation of LRU</vt:lpstr>
      <vt:lpstr>Recall: Cache Replacement Policy</vt:lpstr>
      <vt:lpstr>Recall: Cache Policies: Memory Write</vt:lpstr>
      <vt:lpstr>Recall: Instruction vs. Data Caches</vt:lpstr>
      <vt:lpstr>Recall: Classification of Cache Misses</vt:lpstr>
      <vt:lpstr>Recall: How to Reduce Each Miss Type</vt:lpstr>
      <vt:lpstr>Recall: Block Size</vt:lpstr>
      <vt:lpstr>Recall: Associativity</vt:lpstr>
      <vt:lpstr>Memory Consistency vs. Cache Coherence</vt:lpstr>
      <vt:lpstr>Cache Coherence</vt:lpstr>
      <vt:lpstr>Features of Cache Coherence </vt:lpstr>
      <vt:lpstr>Recall: Hardware Arch. for Cache Coherence </vt:lpstr>
      <vt:lpstr>Recall: Cache Coherence: Cache Tags</vt:lpstr>
      <vt:lpstr>Cache Coherence: Cache Tags</vt:lpstr>
      <vt:lpstr>Recall: Single Core’s Cache</vt:lpstr>
      <vt:lpstr>State Diagrams for CPU and Bus Requests</vt:lpstr>
      <vt:lpstr>Recall: The Problem with MSI</vt:lpstr>
      <vt:lpstr>Recall: MESI Protocol</vt:lpstr>
      <vt:lpstr>Recall: MESI over MSI</vt:lpstr>
      <vt:lpstr>Cache Coherence Protocols</vt:lpstr>
      <vt:lpstr>Snoop-Based Cache Coherence</vt:lpstr>
      <vt:lpstr>Cache Snoop Protocol</vt:lpstr>
      <vt:lpstr>Example: How Snoop/Direct Works? </vt:lpstr>
      <vt:lpstr>How Snoop Works? (C1: X = 888)</vt:lpstr>
      <vt:lpstr>How Bus Works? (C3 reads X)</vt:lpstr>
      <vt:lpstr>Why Needing a Bus?</vt:lpstr>
      <vt:lpstr>Cache Coherence Protocols</vt:lpstr>
      <vt:lpstr>Directory-Based Cache Coherence</vt:lpstr>
      <vt:lpstr>Directory Based Coherence: Goal and Idea</vt:lpstr>
      <vt:lpstr>Directory: Node Definition</vt:lpstr>
      <vt:lpstr>Directory: Basic Operations</vt:lpstr>
      <vt:lpstr>Directory for Each Cache Line</vt:lpstr>
      <vt:lpstr>How Directory Works? </vt:lpstr>
      <vt:lpstr>How Directory Works? (C1: X = 888)</vt:lpstr>
      <vt:lpstr>How Directory Works? (C3 reads X)</vt:lpstr>
      <vt:lpstr>Memory Consistency vs. Cache Coherence</vt:lpstr>
      <vt:lpstr>Cache Consistency</vt:lpstr>
      <vt:lpstr>Ordering of Operations</vt:lpstr>
      <vt:lpstr>Memory Ordering in a Single Processor</vt:lpstr>
      <vt:lpstr>Memory Ordering in a MIMD Processor</vt:lpstr>
      <vt:lpstr>Example of Multi-threaded Program</vt:lpstr>
      <vt:lpstr>The Challenge</vt:lpstr>
      <vt:lpstr>Four Types of Memory Barrier</vt:lpstr>
      <vt:lpstr>Four Memory Barriers vs. Consistence Model</vt:lpstr>
      <vt:lpstr>Sequential Consistency</vt:lpstr>
      <vt:lpstr>Sequential Consistency</vt:lpstr>
      <vt:lpstr>Example under Sequential Consistency</vt:lpstr>
      <vt:lpstr>Problem of Sequential Consistency</vt:lpstr>
      <vt:lpstr>Four Memory Barriers vs. Consistence Model</vt:lpstr>
      <vt:lpstr>Total Store Order</vt:lpstr>
      <vt:lpstr>Store Buffer</vt:lpstr>
      <vt:lpstr>Example under Total Store Order</vt:lpstr>
      <vt:lpstr>Four Memory Barriers vs. Consistence Model</vt:lpstr>
      <vt:lpstr>Partial Store Order</vt:lpstr>
      <vt:lpstr>Intuitive Example of Write Coalescing</vt:lpstr>
      <vt:lpstr>Example under Partial Store Order</vt:lpstr>
      <vt:lpstr>Why Cache Consistency Even Matter?</vt:lpstr>
      <vt:lpstr>When Could Order Affect Correctness?</vt:lpstr>
      <vt:lpstr>Protecting Shared Data</vt:lpstr>
      <vt:lpstr>Supporting Mutual Exclusion</vt:lpstr>
      <vt:lpstr>Memory Model  in the GPU Architecture</vt:lpstr>
      <vt:lpstr>Recall: Cache Hierarchy</vt:lpstr>
      <vt:lpstr>Multi-level Caching in a Pipelined Design</vt:lpstr>
      <vt:lpstr>Deeper and Larger Cache Hierarchies</vt:lpstr>
      <vt:lpstr>Deeper and Larger Cache Hierarchies</vt:lpstr>
      <vt:lpstr>Deeper and Larger Cache Hierarchies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18-741  Advanced Computer Architecture Lecture 1: Intro and Basics</dc:title>
  <dc:creator>Onur Mutlu</dc:creator>
  <cp:lastModifiedBy>Zeke Wang</cp:lastModifiedBy>
  <cp:revision>1540</cp:revision>
  <cp:lastPrinted>2017-09-21T09:40:56Z</cp:lastPrinted>
  <dcterms:created xsi:type="dcterms:W3CDTF">2010-09-08T00:51:32Z</dcterms:created>
  <dcterms:modified xsi:type="dcterms:W3CDTF">2026-05-07T01:54:42Z</dcterms:modified>
</cp:coreProperties>
</file>